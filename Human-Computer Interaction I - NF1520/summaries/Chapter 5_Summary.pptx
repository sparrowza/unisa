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A90A7-326D-4D74-B9E1-7DB41F9A38E7}" type="datetimeFigureOut">
              <a:rPr lang="en-ZA" smtClean="0"/>
              <a:t>2021/07/20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CECA6-B94A-4BA5-B14A-A7B2A1C6E6D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581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BA62-65F4-45CF-BA97-2C69AA6BB317}" type="datetime1">
              <a:rPr lang="en-ZA" smtClean="0"/>
              <a:t>2021/07/20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92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7B9F-2E19-497B-A04A-AED71DEF1E5F}" type="datetime1">
              <a:rPr lang="en-ZA" smtClean="0"/>
              <a:t>2021/07/20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325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2466-056C-4B0D-8FFF-557E2DC5D823}" type="datetime1">
              <a:rPr lang="en-ZA" smtClean="0"/>
              <a:t>2021/07/20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365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08A0-259D-44C7-868F-57F9E0CECCDD}" type="datetime1">
              <a:rPr lang="en-ZA" smtClean="0"/>
              <a:t>2021/07/20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798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88CF-41BF-42A1-82C6-32359E4650E6}" type="datetime1">
              <a:rPr lang="en-ZA" smtClean="0"/>
              <a:t>2021/07/20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7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3B2FA-8719-4508-97AA-16537FD3BDA9}" type="datetime1">
              <a:rPr lang="en-ZA" smtClean="0"/>
              <a:t>2021/07/20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008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0D64-14D2-4FD9-AB1C-FB0D2109037B}" type="datetime1">
              <a:rPr lang="en-ZA" smtClean="0"/>
              <a:t>2021/07/20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388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EBCF-78E6-4074-829A-A1CB3DAEE872}" type="datetime1">
              <a:rPr lang="en-ZA" smtClean="0"/>
              <a:t>2021/07/20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032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3AD-C28C-4AC2-8768-0AD05410E84D}" type="datetime1">
              <a:rPr lang="en-ZA" smtClean="0"/>
              <a:t>2021/07/20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392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44B5-F818-4D94-9B1D-3E4B6780D1A1}" type="datetime1">
              <a:rPr lang="en-ZA" smtClean="0"/>
              <a:t>2021/07/20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707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D684-EF02-4471-850E-134BC0E3D615}" type="datetime1">
              <a:rPr lang="en-ZA" smtClean="0"/>
              <a:t>2021/07/20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356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BBE3A-7353-4156-B19C-B3CE57CC8530}" type="datetime1">
              <a:rPr lang="en-ZA" smtClean="0"/>
              <a:t>2021/07/20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C4920-6622-44E1-80B4-4F1D1EB4E2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386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881"/>
            <a:ext cx="10515600" cy="940526"/>
          </a:xfrm>
        </p:spPr>
        <p:txBody>
          <a:bodyPr>
            <a:normAutofit fontScale="90000"/>
          </a:bodyPr>
          <a:lstStyle/>
          <a:p>
            <a:r>
              <a:rPr lang="en-ZA" dirty="0"/>
              <a:t/>
            </a:r>
            <a:br>
              <a:rPr lang="en-ZA" dirty="0"/>
            </a:br>
            <a:r>
              <a:rPr lang="en-ZA" sz="3600" dirty="0">
                <a:latin typeface="Arial Narrow" panose="020B0606020202030204" pitchFamily="34" charset="0"/>
              </a:rPr>
              <a:t> </a:t>
            </a:r>
            <a:r>
              <a:rPr lang="en-ZA" sz="3600" b="1" dirty="0">
                <a:latin typeface="Arial Narrow" panose="020B0606020202030204" pitchFamily="34" charset="0"/>
              </a:rPr>
              <a:t>Lesson Tool 5</a:t>
            </a:r>
            <a:r>
              <a:rPr lang="en-ZA" sz="3600" b="1" dirty="0" smtClean="0">
                <a:latin typeface="Arial Narrow" panose="020B0606020202030204" pitchFamily="34" charset="0"/>
              </a:rPr>
              <a:t>: </a:t>
            </a:r>
            <a:r>
              <a:rPr lang="en-ZA" sz="3600" b="1" dirty="0">
                <a:latin typeface="Arial Narrow" panose="020B0606020202030204" pitchFamily="34" charset="0"/>
              </a:rPr>
              <a:t>Social Aspects of Computer Use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297577"/>
            <a:ext cx="5667104" cy="487938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ZA" sz="1800" b="1" dirty="0" smtClean="0">
                <a:latin typeface="Arial Narrow" panose="020B0606020202030204" pitchFamily="34" charset="0"/>
              </a:rPr>
              <a:t> </a:t>
            </a:r>
            <a:r>
              <a:rPr lang="en-US" sz="1800" b="1" dirty="0">
                <a:latin typeface="Arial Narrow" panose="020B0606020202030204" pitchFamily="34" charset="0"/>
              </a:rPr>
              <a:t>After studying this lesson tool, you should: </a:t>
            </a: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Understand </a:t>
            </a:r>
            <a:r>
              <a:rPr lang="en-ZA" sz="1800" dirty="0">
                <a:latin typeface="Arial Narrow" panose="020B0606020202030204" pitchFamily="34" charset="0"/>
              </a:rPr>
              <a:t>the impact of computer technologies on society and on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E-commerce </a:t>
            </a:r>
            <a:r>
              <a:rPr lang="en-ZA" sz="1800" dirty="0">
                <a:latin typeface="Arial Narrow" panose="020B0606020202030204" pitchFamily="34" charset="0"/>
              </a:rPr>
              <a:t>and business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Our </a:t>
            </a:r>
            <a:r>
              <a:rPr lang="en-ZA" sz="1800" dirty="0">
                <a:latin typeface="Arial Narrow" panose="020B0606020202030204" pitchFamily="34" charset="0"/>
              </a:rPr>
              <a:t>working lives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Education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Information </a:t>
            </a:r>
            <a:r>
              <a:rPr lang="en-ZA" sz="1800" dirty="0">
                <a:latin typeface="Arial Narrow" panose="020B0606020202030204" pitchFamily="34" charset="0"/>
              </a:rPr>
              <a:t>processing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Privacy </a:t>
            </a:r>
            <a:r>
              <a:rPr lang="en-ZA" sz="1800" dirty="0">
                <a:latin typeface="Arial Narrow" panose="020B0606020202030204" pitchFamily="34" charset="0"/>
              </a:rPr>
              <a:t>and security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Be </a:t>
            </a:r>
            <a:r>
              <a:rPr lang="en-ZA" sz="1800" dirty="0">
                <a:latin typeface="Arial Narrow" panose="020B0606020202030204" pitchFamily="34" charset="0"/>
              </a:rPr>
              <a:t>able to identify the social problems associated with advanced computer technology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Be </a:t>
            </a:r>
            <a:r>
              <a:rPr lang="en-ZA" sz="1800" dirty="0">
                <a:latin typeface="Arial Narrow" panose="020B0606020202030204" pitchFamily="34" charset="0"/>
              </a:rPr>
              <a:t>able to demonstrate a comprehensive understanding of the impact of social network websites – their advantages and disadvantages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Be </a:t>
            </a:r>
            <a:r>
              <a:rPr lang="en-ZA" sz="1800" dirty="0">
                <a:latin typeface="Arial Narrow" panose="020B0606020202030204" pitchFamily="34" charset="0"/>
              </a:rPr>
              <a:t>able to define the term “digital divide” and describe its causes and how it can be addressed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1" y="1297577"/>
            <a:ext cx="5277394" cy="4781006"/>
          </a:xfrm>
        </p:spPr>
      </p:pic>
    </p:spTree>
    <p:extLst>
      <p:ext uri="{BB962C8B-B14F-4D97-AF65-F5344CB8AC3E}">
        <p14:creationId xmlns:p14="http://schemas.microsoft.com/office/powerpoint/2010/main" val="264353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5391" y="344032"/>
            <a:ext cx="5590644" cy="5832931"/>
          </a:xfrm>
        </p:spPr>
        <p:txBody>
          <a:bodyPr>
            <a:normAutofit lnSpcReduction="10000"/>
          </a:bodyPr>
          <a:lstStyle/>
          <a:p>
            <a:r>
              <a:rPr lang="en-ZA" sz="2000" dirty="0" smtClean="0">
                <a:latin typeface="Arial Narrow" panose="020B0606020202030204" pitchFamily="34" charset="0"/>
              </a:rPr>
              <a:t>Our </a:t>
            </a:r>
            <a:r>
              <a:rPr lang="en-ZA" sz="2000" dirty="0">
                <a:latin typeface="Arial Narrow" panose="020B0606020202030204" pitchFamily="34" charset="0"/>
              </a:rPr>
              <a:t>world and all aspects of life have become </a:t>
            </a:r>
            <a:r>
              <a:rPr lang="en-ZA" sz="2000" dirty="0" smtClean="0">
                <a:latin typeface="Arial Narrow" panose="020B0606020202030204" pitchFamily="34" charset="0"/>
              </a:rPr>
              <a:t>overwhelmed with </a:t>
            </a:r>
            <a:r>
              <a:rPr lang="en-ZA" sz="2000" dirty="0">
                <a:latin typeface="Arial Narrow" panose="020B0606020202030204" pitchFamily="34" charset="0"/>
              </a:rPr>
              <a:t>computer </a:t>
            </a:r>
            <a:r>
              <a:rPr lang="en-ZA" sz="2000" dirty="0" smtClean="0">
                <a:latin typeface="Arial Narrow" panose="020B0606020202030204" pitchFamily="34" charset="0"/>
              </a:rPr>
              <a:t>technologies.</a:t>
            </a:r>
          </a:p>
          <a:p>
            <a:r>
              <a:rPr lang="en-ZA" sz="2000" dirty="0" smtClean="0">
                <a:latin typeface="Arial Narrow" panose="020B0606020202030204" pitchFamily="34" charset="0"/>
              </a:rPr>
              <a:t>We </a:t>
            </a:r>
            <a:r>
              <a:rPr lang="en-ZA" sz="2000" dirty="0">
                <a:latin typeface="Arial Narrow" panose="020B0606020202030204" pitchFamily="34" charset="0"/>
              </a:rPr>
              <a:t>are empowered by these technologies and they have improved our quality of life</a:t>
            </a:r>
            <a:r>
              <a:rPr lang="en-ZA" sz="2000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ZA" sz="2000" dirty="0" smtClean="0">
                <a:latin typeface="Arial Narrow" panose="020B0606020202030204" pitchFamily="34" charset="0"/>
              </a:rPr>
              <a:t>Meanwhile, </a:t>
            </a:r>
            <a:r>
              <a:rPr lang="en-ZA" sz="2000" dirty="0">
                <a:latin typeface="Arial Narrow" panose="020B0606020202030204" pitchFamily="34" charset="0"/>
              </a:rPr>
              <a:t>they invade our privacy and widen the gap between the rich and the poor.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r>
              <a:rPr lang="en-ZA" sz="2000" dirty="0" smtClean="0">
                <a:latin typeface="Arial Narrow" panose="020B0606020202030204" pitchFamily="34" charset="0"/>
              </a:rPr>
              <a:t>The last chapter of </a:t>
            </a:r>
            <a:r>
              <a:rPr lang="en-ZA" sz="2000" dirty="0">
                <a:latin typeface="Arial Narrow" panose="020B0606020202030204" pitchFamily="34" charset="0"/>
              </a:rPr>
              <a:t>the study guide introduces students to the wider social implications of computer technology</a:t>
            </a:r>
            <a:r>
              <a:rPr lang="en-ZA" sz="2000" dirty="0" smtClean="0">
                <a:latin typeface="Arial Narrow" panose="020B0606020202030204" pitchFamily="34" charset="0"/>
              </a:rPr>
              <a:t>.</a:t>
            </a:r>
          </a:p>
          <a:p>
            <a:pPr marL="0" indent="0">
              <a:buNone/>
            </a:pPr>
            <a:r>
              <a:rPr lang="en-ZA" sz="2000" b="1" dirty="0">
                <a:latin typeface="Arial Narrow" panose="020B0606020202030204" pitchFamily="34" charset="0"/>
              </a:rPr>
              <a:t>THE IMPACT OF INFORMATION TECHNOLOGY ON </a:t>
            </a:r>
            <a:r>
              <a:rPr lang="en-ZA" sz="2000" b="1" dirty="0" smtClean="0">
                <a:latin typeface="Arial Narrow" panose="020B0606020202030204" pitchFamily="34" charset="0"/>
              </a:rPr>
              <a:t>SOCIETY</a:t>
            </a:r>
          </a:p>
          <a:p>
            <a:pPr marL="0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This chapter will </a:t>
            </a:r>
            <a:r>
              <a:rPr lang="en-ZA" sz="2000" dirty="0">
                <a:latin typeface="Arial Narrow" panose="020B0606020202030204" pitchFamily="34" charset="0"/>
              </a:rPr>
              <a:t>focus on the following aspects: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• E-commerce </a:t>
            </a:r>
            <a:r>
              <a:rPr lang="en-ZA" sz="2000" dirty="0">
                <a:latin typeface="Arial Narrow" panose="020B0606020202030204" pitchFamily="34" charset="0"/>
              </a:rPr>
              <a:t>and business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• Our </a:t>
            </a:r>
            <a:r>
              <a:rPr lang="en-ZA" sz="2000" dirty="0">
                <a:latin typeface="Arial Narrow" panose="020B0606020202030204" pitchFamily="34" charset="0"/>
              </a:rPr>
              <a:t>working lives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• Education </a:t>
            </a:r>
          </a:p>
          <a:p>
            <a:pPr marL="457200" lvl="1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• Information </a:t>
            </a:r>
            <a:r>
              <a:rPr lang="en-ZA" sz="2000" dirty="0">
                <a:latin typeface="Arial Narrow" panose="020B0606020202030204" pitchFamily="34" charset="0"/>
              </a:rPr>
              <a:t>processing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•Problems </a:t>
            </a:r>
            <a:r>
              <a:rPr lang="en-ZA" sz="2000" dirty="0">
                <a:latin typeface="Arial Narrow" panose="020B0606020202030204" pitchFamily="34" charset="0"/>
              </a:rPr>
              <a:t>associated with advanced computer technology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5703" y="344032"/>
            <a:ext cx="6072977" cy="5832931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ZA" sz="2000" b="1" dirty="0" smtClean="0">
                <a:latin typeface="Arial Narrow" panose="020B0606020202030204" pitchFamily="34" charset="0"/>
              </a:rPr>
              <a:t>E-commerce </a:t>
            </a:r>
            <a:r>
              <a:rPr lang="en-ZA" sz="2000" b="1" dirty="0">
                <a:latin typeface="Arial Narrow" panose="020B0606020202030204" pitchFamily="34" charset="0"/>
              </a:rPr>
              <a:t>and </a:t>
            </a:r>
            <a:r>
              <a:rPr lang="en-ZA" sz="2000" b="1" dirty="0" smtClean="0">
                <a:latin typeface="Arial Narrow" panose="020B0606020202030204" pitchFamily="34" charset="0"/>
              </a:rPr>
              <a:t>Business</a:t>
            </a:r>
          </a:p>
          <a:p>
            <a:pPr marL="0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Technology have </a:t>
            </a:r>
            <a:r>
              <a:rPr lang="en-ZA" sz="2000" dirty="0">
                <a:latin typeface="Arial Narrow" panose="020B0606020202030204" pitchFamily="34" charset="0"/>
              </a:rPr>
              <a:t>completely changed the way commercial companies do business and banks function</a:t>
            </a:r>
            <a:r>
              <a:rPr lang="en-ZA" sz="2000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ZA" sz="2000" dirty="0" smtClean="0">
                <a:latin typeface="Arial Narrow" panose="020B0606020202030204" pitchFamily="34" charset="0"/>
              </a:rPr>
              <a:t> </a:t>
            </a:r>
            <a:r>
              <a:rPr lang="en-ZA" sz="2000" dirty="0">
                <a:latin typeface="Arial Narrow" panose="020B0606020202030204" pitchFamily="34" charset="0"/>
              </a:rPr>
              <a:t>Physical distance no longer puts a restriction on the way businesses are structured.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r>
              <a:rPr lang="en-ZA" sz="2000" dirty="0" smtClean="0">
                <a:latin typeface="Arial Narrow" panose="020B0606020202030204" pitchFamily="34" charset="0"/>
              </a:rPr>
              <a:t> </a:t>
            </a:r>
            <a:r>
              <a:rPr lang="en-ZA" sz="2000" dirty="0">
                <a:latin typeface="Arial Narrow" panose="020B0606020202030204" pitchFamily="34" charset="0"/>
              </a:rPr>
              <a:t>Network infrastructure and online availability of services and information have made sales clerks, stock brokers and travel agents redundant.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r>
              <a:rPr lang="en-ZA" sz="2000" dirty="0" smtClean="0">
                <a:latin typeface="Arial Narrow" panose="020B0606020202030204" pitchFamily="34" charset="0"/>
              </a:rPr>
              <a:t> </a:t>
            </a:r>
            <a:r>
              <a:rPr lang="en-ZA" sz="2000" dirty="0">
                <a:latin typeface="Arial Narrow" panose="020B0606020202030204" pitchFamily="34" charset="0"/>
              </a:rPr>
              <a:t>The fact that products such as software and music can be ‘shipped’ electronically has reduced the need for distribution and shipping companies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r>
              <a:rPr lang="en-ZA" sz="2000" dirty="0" smtClean="0">
                <a:latin typeface="Arial Narrow" panose="020B0606020202030204" pitchFamily="34" charset="0"/>
              </a:rPr>
              <a:t> </a:t>
            </a:r>
            <a:r>
              <a:rPr lang="en-ZA" sz="2000" dirty="0">
                <a:latin typeface="Arial Narrow" panose="020B0606020202030204" pitchFamily="34" charset="0"/>
              </a:rPr>
              <a:t>Reduces costs</a:t>
            </a:r>
            <a:r>
              <a:rPr lang="en-ZA" sz="2000" dirty="0" smtClean="0">
                <a:latin typeface="Arial Narrow" panose="020B060602020203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No </a:t>
            </a:r>
            <a:r>
              <a:rPr lang="en-ZA" sz="2000" dirty="0">
                <a:latin typeface="Arial Narrow" panose="020B0606020202030204" pitchFamily="34" charset="0"/>
              </a:rPr>
              <a:t>physical store needs to be set up and maintained.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Simplification </a:t>
            </a:r>
            <a:r>
              <a:rPr lang="en-ZA" sz="2000" dirty="0">
                <a:latin typeface="Arial Narrow" panose="020B0606020202030204" pitchFamily="34" charset="0"/>
              </a:rPr>
              <a:t>of order placement and execution.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Providing </a:t>
            </a:r>
            <a:r>
              <a:rPr lang="en-ZA" sz="2000" dirty="0">
                <a:latin typeface="Arial Narrow" panose="020B0606020202030204" pitchFamily="34" charset="0"/>
              </a:rPr>
              <a:t>24 hour customer support.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Staffing </a:t>
            </a:r>
            <a:r>
              <a:rPr lang="en-ZA" sz="2000" dirty="0">
                <a:latin typeface="Arial Narrow" panose="020B0606020202030204" pitchFamily="34" charset="0"/>
              </a:rPr>
              <a:t>requirements are reduced.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A </a:t>
            </a:r>
            <a:r>
              <a:rPr lang="en-ZA" sz="2000" dirty="0">
                <a:latin typeface="Arial Narrow" panose="020B0606020202030204" pitchFamily="34" charset="0"/>
              </a:rPr>
              <a:t>retail business does not need to carry the inventory of a physical store.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No </a:t>
            </a:r>
            <a:r>
              <a:rPr lang="en-ZA" sz="2000" dirty="0">
                <a:latin typeface="Arial Narrow" panose="020B0606020202030204" pitchFamily="34" charset="0"/>
              </a:rPr>
              <a:t>restriction on retail hours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847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0657" y="271604"/>
            <a:ext cx="5739143" cy="59053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Challenges:</a:t>
            </a:r>
          </a:p>
          <a:p>
            <a:r>
              <a:rPr lang="en-ZA" sz="2000" dirty="0" smtClean="0">
                <a:latin typeface="Arial Narrow" panose="020B0606020202030204" pitchFamily="34" charset="0"/>
              </a:rPr>
              <a:t>Setting </a:t>
            </a:r>
            <a:r>
              <a:rPr lang="en-ZA" sz="2000" dirty="0">
                <a:latin typeface="Arial Narrow" panose="020B0606020202030204" pitchFamily="34" charset="0"/>
              </a:rPr>
              <a:t>up and maintenance of a store website can be expensive, although spending on the usability and appearance of the site is </a:t>
            </a:r>
            <a:r>
              <a:rPr lang="en-ZA" sz="2000" dirty="0" smtClean="0">
                <a:latin typeface="Arial Narrow" panose="020B0606020202030204" pitchFamily="34" charset="0"/>
              </a:rPr>
              <a:t>justifiable. </a:t>
            </a:r>
          </a:p>
          <a:p>
            <a:r>
              <a:rPr lang="en-ZA" sz="2000" dirty="0" smtClean="0">
                <a:latin typeface="Arial Narrow" panose="020B0606020202030204" pitchFamily="34" charset="0"/>
              </a:rPr>
              <a:t>Shipping of products can be costly </a:t>
            </a:r>
          </a:p>
          <a:p>
            <a:r>
              <a:rPr lang="en-ZA" sz="2000" dirty="0" smtClean="0">
                <a:latin typeface="Arial Narrow" panose="020B0606020202030204" pitchFamily="34" charset="0"/>
              </a:rPr>
              <a:t> E-commerce </a:t>
            </a:r>
            <a:r>
              <a:rPr lang="en-ZA" sz="2000" dirty="0">
                <a:latin typeface="Arial Narrow" panose="020B0606020202030204" pitchFamily="34" charset="0"/>
              </a:rPr>
              <a:t>creates opportunities for fraud and theft – can mean added </a:t>
            </a:r>
            <a:r>
              <a:rPr lang="en-ZA" sz="2000" dirty="0" smtClean="0">
                <a:latin typeface="Arial Narrow" panose="020B0606020202030204" pitchFamily="34" charset="0"/>
              </a:rPr>
              <a:t>costs. </a:t>
            </a:r>
          </a:p>
          <a:p>
            <a:r>
              <a:rPr lang="en-ZA" sz="2000" dirty="0" smtClean="0">
                <a:latin typeface="Arial Narrow" panose="020B0606020202030204" pitchFamily="34" charset="0"/>
              </a:rPr>
              <a:t>Quite </a:t>
            </a:r>
            <a:r>
              <a:rPr lang="en-ZA" sz="2000" dirty="0">
                <a:latin typeface="Arial Narrow" panose="020B0606020202030204" pitchFamily="34" charset="0"/>
              </a:rPr>
              <a:t>easy to get unlawful access to digital </a:t>
            </a:r>
            <a:r>
              <a:rPr lang="en-ZA" sz="2000" dirty="0" smtClean="0">
                <a:latin typeface="Arial Narrow" panose="020B0606020202030204" pitchFamily="34" charset="0"/>
              </a:rPr>
              <a:t>music or movies </a:t>
            </a:r>
            <a:r>
              <a:rPr lang="en-ZA" sz="2000" dirty="0">
                <a:latin typeface="Arial Narrow" panose="020B0606020202030204" pitchFamily="34" charset="0"/>
              </a:rPr>
              <a:t>on the </a:t>
            </a:r>
            <a:r>
              <a:rPr lang="en-ZA" sz="2000" dirty="0" smtClean="0">
                <a:latin typeface="Arial Narrow" panose="020B0606020202030204" pitchFamily="34" charset="0"/>
              </a:rPr>
              <a:t>Internet.</a:t>
            </a:r>
          </a:p>
          <a:p>
            <a:endParaRPr lang="en-ZA" sz="20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ZA" sz="2000" b="1" dirty="0" smtClean="0">
                <a:latin typeface="Arial Narrow" panose="020B0606020202030204" pitchFamily="34" charset="0"/>
              </a:rPr>
              <a:t>Our </a:t>
            </a:r>
            <a:r>
              <a:rPr lang="en-ZA" sz="2000" b="1" dirty="0">
                <a:latin typeface="Arial Narrow" panose="020B0606020202030204" pitchFamily="34" charset="0"/>
              </a:rPr>
              <a:t>Working </a:t>
            </a:r>
            <a:r>
              <a:rPr lang="en-ZA" sz="2000" b="1" dirty="0" smtClean="0">
                <a:latin typeface="Arial Narrow" panose="020B0606020202030204" pitchFamily="34" charset="0"/>
              </a:rPr>
              <a:t>Lives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000" dirty="0">
                <a:latin typeface="Arial Narrow" panose="020B0606020202030204" pitchFamily="34" charset="0"/>
              </a:rPr>
              <a:t>Communication and </a:t>
            </a:r>
            <a:r>
              <a:rPr lang="en-ZA" sz="2000" dirty="0" smtClean="0">
                <a:latin typeface="Arial Narrow" panose="020B0606020202030204" pitchFamily="34" charset="0"/>
              </a:rPr>
              <a:t>Groupware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Technology brought electronic </a:t>
            </a:r>
            <a:r>
              <a:rPr lang="en-ZA" sz="2000" dirty="0">
                <a:latin typeface="Arial Narrow" panose="020B0606020202030204" pitchFamily="34" charset="0"/>
              </a:rPr>
              <a:t>mechanisms for communication such as e-mail and Skype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2"/>
            <a:r>
              <a:rPr lang="en-ZA" dirty="0" smtClean="0">
                <a:latin typeface="Arial Narrow" panose="020B0606020202030204" pitchFamily="34" charset="0"/>
              </a:rPr>
              <a:t>Which allows </a:t>
            </a:r>
            <a:r>
              <a:rPr lang="en-ZA" dirty="0">
                <a:latin typeface="Arial Narrow" panose="020B0606020202030204" pitchFamily="34" charset="0"/>
              </a:rPr>
              <a:t>workers to correspond cheaply and instantly over long distances </a:t>
            </a:r>
            <a:endParaRPr lang="en-ZA" dirty="0" smtClean="0">
              <a:latin typeface="Arial Narrow" panose="020B0606020202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>
                <a:latin typeface="Arial Narrow" panose="020B0606020202030204" pitchFamily="34" charset="0"/>
              </a:rPr>
              <a:t>Web 2.0 technology is commonly used by organisations to support collaborative work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>
                <a:latin typeface="Arial Narrow" panose="020B0606020202030204" pitchFamily="34" charset="0"/>
              </a:rPr>
              <a:t>Collaboration through computer technology </a:t>
            </a:r>
            <a:r>
              <a:rPr lang="en-ZA" sz="2000" dirty="0" smtClean="0">
                <a:latin typeface="Arial Narrow" panose="020B0606020202030204" pitchFamily="34" charset="0"/>
              </a:rPr>
              <a:t>is historically known as </a:t>
            </a:r>
            <a:r>
              <a:rPr lang="en-ZA" sz="2000" b="1" dirty="0">
                <a:latin typeface="Arial Narrow" panose="020B0606020202030204" pitchFamily="34" charset="0"/>
              </a:rPr>
              <a:t>Computer Supported Cooperative </a:t>
            </a:r>
            <a:r>
              <a:rPr lang="en-ZA" sz="2000" b="1" dirty="0" smtClean="0">
                <a:latin typeface="Arial Narrow" panose="020B0606020202030204" pitchFamily="34" charset="0"/>
              </a:rPr>
              <a:t>Work (CSCW),  </a:t>
            </a:r>
            <a:r>
              <a:rPr lang="en-ZA" sz="2000" dirty="0" smtClean="0">
                <a:latin typeface="Arial Narrow" panose="020B0606020202030204" pitchFamily="34" charset="0"/>
              </a:rPr>
              <a:t>which is concerned </a:t>
            </a:r>
            <a:r>
              <a:rPr lang="en-ZA" sz="2000" dirty="0">
                <a:latin typeface="Arial Narrow" panose="020B0606020202030204" pitchFamily="34" charset="0"/>
              </a:rPr>
              <a:t>with principles according to which computer technology support communication and group </a:t>
            </a:r>
            <a:r>
              <a:rPr lang="en-ZA" sz="2000" dirty="0" smtClean="0">
                <a:latin typeface="Arial Narrow" panose="020B0606020202030204" pitchFamily="34" charset="0"/>
              </a:rPr>
              <a:t>work. </a:t>
            </a:r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71604"/>
            <a:ext cx="5769321" cy="5905359"/>
          </a:xfrm>
        </p:spPr>
        <p:txBody>
          <a:bodyPr>
            <a:normAutofit fontScale="92500" lnSpcReduction="20000"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physical </a:t>
            </a:r>
            <a:r>
              <a:rPr lang="en-ZA" sz="2000" dirty="0">
                <a:latin typeface="Arial Narrow" panose="020B0606020202030204" pitchFamily="34" charset="0"/>
              </a:rPr>
              <a:t>systems through which CSCW manifests </a:t>
            </a:r>
            <a:r>
              <a:rPr lang="en-ZA" sz="2000" dirty="0" smtClean="0">
                <a:latin typeface="Arial Narrow" panose="020B0606020202030204" pitchFamily="34" charset="0"/>
              </a:rPr>
              <a:t>are called </a:t>
            </a:r>
            <a:r>
              <a:rPr lang="en-ZA" sz="2000" dirty="0">
                <a:latin typeface="Arial Narrow" panose="020B0606020202030204" pitchFamily="34" charset="0"/>
              </a:rPr>
              <a:t>Groupware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2000" b="1" u="sng" dirty="0" smtClean="0">
                <a:latin typeface="Arial Narrow" panose="020B0606020202030204" pitchFamily="34" charset="0"/>
              </a:rPr>
              <a:t>Problems</a:t>
            </a:r>
            <a:r>
              <a:rPr lang="en-ZA" sz="2000" b="1" u="sng" dirty="0">
                <a:latin typeface="Arial Narrow" panose="020B0606020202030204" pitchFamily="34" charset="0"/>
              </a:rPr>
              <a:t>: </a:t>
            </a:r>
            <a:endParaRPr lang="en-ZA" sz="2000" b="1" u="sng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Synchronous </a:t>
            </a:r>
            <a:r>
              <a:rPr lang="en-ZA" sz="2000" dirty="0" smtClean="0">
                <a:latin typeface="Arial Narrow" panose="020B0606020202030204" pitchFamily="34" charset="0"/>
              </a:rPr>
              <a:t>and </a:t>
            </a:r>
            <a:r>
              <a:rPr lang="en-ZA" sz="2000" dirty="0">
                <a:latin typeface="Arial Narrow" panose="020B0606020202030204" pitchFamily="34" charset="0"/>
              </a:rPr>
              <a:t>asynchronous systems : </a:t>
            </a:r>
            <a:r>
              <a:rPr lang="en-ZA" sz="2000" dirty="0" smtClean="0">
                <a:latin typeface="Arial Narrow" panose="020B0606020202030204" pitchFamily="34" charset="0"/>
              </a:rPr>
              <a:t>It </a:t>
            </a:r>
            <a:r>
              <a:rPr lang="en-ZA" sz="2000" dirty="0">
                <a:latin typeface="Arial Narrow" panose="020B0606020202030204" pitchFamily="34" charset="0"/>
              </a:rPr>
              <a:t>may be difficult for users to know exactly who else is using the system.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lvl="1"/>
            <a:r>
              <a:rPr lang="en-ZA" sz="2000" dirty="0" smtClean="0">
                <a:latin typeface="Arial Narrow" panose="020B0606020202030204" pitchFamily="34" charset="0"/>
              </a:rPr>
              <a:t>Synchronous </a:t>
            </a:r>
            <a:r>
              <a:rPr lang="en-ZA" sz="2000" dirty="0">
                <a:latin typeface="Arial Narrow" panose="020B0606020202030204" pitchFamily="34" charset="0"/>
              </a:rPr>
              <a:t>means “at the same time”. Asynchronous means “at different times” or independent.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Contention: when </a:t>
            </a:r>
            <a:r>
              <a:rPr lang="en-ZA" sz="2000" dirty="0">
                <a:latin typeface="Arial Narrow" panose="020B0606020202030204" pitchFamily="34" charset="0"/>
              </a:rPr>
              <a:t>two or more users want to gain access to a resource that cannot be shared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Interference : This arises when one user frustrates another by getting in their way</a:t>
            </a:r>
            <a:r>
              <a:rPr lang="en-ZA" sz="2000" dirty="0" smtClean="0">
                <a:latin typeface="Arial Narrow" panose="020B0606020202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000" dirty="0" smtClean="0">
                <a:latin typeface="Arial Narrow" panose="020B0606020202030204" pitchFamily="34" charset="0"/>
              </a:rPr>
              <a:t>Access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Arial Narrow" panose="020B0606020202030204" pitchFamily="34" charset="0"/>
              </a:rPr>
              <a:t>Easy access has an impact on the work environment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>
                <a:latin typeface="Arial Narrow" panose="020B0606020202030204" pitchFamily="34" charset="0"/>
              </a:rPr>
              <a:t>Electronic availability of company reports and policies on internal networks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E-mail </a:t>
            </a:r>
            <a:r>
              <a:rPr lang="en-ZA" sz="2000" dirty="0">
                <a:latin typeface="Arial Narrow" panose="020B0606020202030204" pitchFamily="34" charset="0"/>
              </a:rPr>
              <a:t>- easier for employees at lower levels to communicate with their superiors - managers have become more accessible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ZA" sz="2000" dirty="0">
                <a:latin typeface="Arial Narrow" panose="020B0606020202030204" pitchFamily="34" charset="0"/>
              </a:rPr>
              <a:t>Office Hours and </a:t>
            </a:r>
            <a:r>
              <a:rPr lang="en-ZA" sz="2000" dirty="0" smtClean="0">
                <a:latin typeface="Arial Narrow" panose="020B0606020202030204" pitchFamily="34" charset="0"/>
              </a:rPr>
              <a:t>Location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>
                <a:latin typeface="Arial Narrow" panose="020B0606020202030204" pitchFamily="34" charset="0"/>
              </a:rPr>
              <a:t>Mobile technology allows people to do their work anywhere, any time and a centralised office may not be important any longer</a:t>
            </a:r>
            <a:endParaRPr lang="en-US" sz="2000" dirty="0" smtClean="0">
              <a:latin typeface="Arial Narrow" panose="020B06060202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574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2016" y="353085"/>
            <a:ext cx="5967527" cy="623930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Benefits companies -Cut </a:t>
            </a:r>
            <a:r>
              <a:rPr lang="en-ZA" sz="1800" dirty="0">
                <a:latin typeface="Arial Narrow" panose="020B0606020202030204" pitchFamily="34" charset="0"/>
              </a:rPr>
              <a:t>down on office space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Advantageous </a:t>
            </a:r>
            <a:r>
              <a:rPr lang="en-ZA" sz="1800" dirty="0">
                <a:latin typeface="Arial Narrow" panose="020B0606020202030204" pitchFamily="34" charset="0"/>
              </a:rPr>
              <a:t>to employees who will have more flexible work hours </a:t>
            </a:r>
            <a:r>
              <a:rPr lang="en-ZA" sz="1800" dirty="0" smtClean="0">
                <a:latin typeface="Arial Narrow" panose="020B0606020202030204" pitchFamily="34" charset="0"/>
              </a:rPr>
              <a:t>– no need to live closer to 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>
                <a:latin typeface="Arial Narrow" panose="020B0606020202030204" pitchFamily="34" charset="0"/>
              </a:rPr>
              <a:t>D</a:t>
            </a:r>
            <a:r>
              <a:rPr lang="en-ZA" sz="1800" dirty="0" smtClean="0">
                <a:latin typeface="Arial Narrow" panose="020B0606020202030204" pitchFamily="34" charset="0"/>
              </a:rPr>
              <a:t>ownside- being </a:t>
            </a:r>
            <a:r>
              <a:rPr lang="en-ZA" sz="1800" dirty="0">
                <a:latin typeface="Arial Narrow" panose="020B0606020202030204" pitchFamily="34" charset="0"/>
              </a:rPr>
              <a:t>connected at all times heightens the need for skills such as prioritising, focusing and working without </a:t>
            </a:r>
            <a:r>
              <a:rPr lang="en-ZA" sz="1800" dirty="0" smtClean="0">
                <a:latin typeface="Arial Narrow" panose="020B0606020202030204" pitchFamily="34" charset="0"/>
              </a:rPr>
              <a:t>interruption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ZA" sz="1800" b="1" dirty="0">
                <a:latin typeface="Arial Narrow" panose="020B0606020202030204" pitchFamily="34" charset="0"/>
              </a:rPr>
              <a:t>Education </a:t>
            </a:r>
            <a:endParaRPr lang="en-ZA" sz="1800" b="1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Unisa students - attest how technology has influenced learning</a:t>
            </a:r>
          </a:p>
          <a:p>
            <a:pPr marL="0" indent="0">
              <a:buNone/>
            </a:pPr>
            <a:r>
              <a:rPr lang="en-ZA" sz="1800" dirty="0" err="1" smtClean="0">
                <a:latin typeface="Arial Narrow" panose="020B0606020202030204" pitchFamily="34" charset="0"/>
              </a:rPr>
              <a:t>Eg</a:t>
            </a:r>
            <a:r>
              <a:rPr lang="en-ZA" sz="1800" dirty="0" smtClean="0">
                <a:latin typeface="Arial Narrow" panose="020B0606020202030204" pitchFamily="34" charset="0"/>
              </a:rPr>
              <a:t> </a:t>
            </a:r>
            <a:r>
              <a:rPr lang="en-ZA" sz="1800" dirty="0">
                <a:latin typeface="Arial Narrow" panose="020B0606020202030204" pitchFamily="34" charset="0"/>
              </a:rPr>
              <a:t>MyUnisa – possible for students to communicate with their </a:t>
            </a:r>
            <a:r>
              <a:rPr lang="en-ZA" sz="1800" dirty="0" smtClean="0">
                <a:latin typeface="Arial Narrow" panose="020B0606020202030204" pitchFamily="34" charset="0"/>
              </a:rPr>
              <a:t>lecturers, access materials, assignments and examinations.</a:t>
            </a: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Vast amount of educational resources available on the Internet.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U</a:t>
            </a:r>
            <a:r>
              <a:rPr lang="en-ZA" sz="1800" dirty="0" smtClean="0">
                <a:latin typeface="Arial Narrow" panose="020B0606020202030204" pitchFamily="34" charset="0"/>
              </a:rPr>
              <a:t>nfortunately: More </a:t>
            </a:r>
            <a:r>
              <a:rPr lang="en-ZA" sz="1800" dirty="0">
                <a:latin typeface="Arial Narrow" panose="020B0606020202030204" pitchFamily="34" charset="0"/>
              </a:rPr>
              <a:t>low quality, unreliable information than there are trustworthy academic </a:t>
            </a:r>
            <a:r>
              <a:rPr lang="en-ZA" sz="1800" dirty="0" smtClean="0">
                <a:latin typeface="Arial Narrow" panose="020B0606020202030204" pitchFamily="34" charset="0"/>
              </a:rPr>
              <a:t>sources. (Kids should be taught about it).</a:t>
            </a: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 </a:t>
            </a:r>
            <a:r>
              <a:rPr lang="en-ZA" sz="1800" dirty="0">
                <a:latin typeface="Arial Narrow" panose="020B0606020202030204" pitchFamily="34" charset="0"/>
              </a:rPr>
              <a:t>▪ </a:t>
            </a:r>
            <a:r>
              <a:rPr lang="en-ZA" sz="1800" dirty="0" smtClean="0">
                <a:latin typeface="Arial Narrow" panose="020B0606020202030204" pitchFamily="34" charset="0"/>
              </a:rPr>
              <a:t>Hot HCI topic: m-learning </a:t>
            </a:r>
            <a:r>
              <a:rPr lang="en-ZA" sz="1800" dirty="0">
                <a:latin typeface="Arial Narrow" panose="020B0606020202030204" pitchFamily="34" charset="0"/>
              </a:rPr>
              <a:t>(mobile learning) -</a:t>
            </a:r>
            <a:r>
              <a:rPr lang="en-ZA" sz="1800" dirty="0" smtClean="0">
                <a:latin typeface="Arial Narrow" panose="020B0606020202030204" pitchFamily="34" charset="0"/>
              </a:rPr>
              <a:t>The use of mobile devices to deliver learning. Cell </a:t>
            </a:r>
            <a:r>
              <a:rPr lang="en-ZA" sz="1800" dirty="0">
                <a:latin typeface="Arial Narrow" panose="020B0606020202030204" pitchFamily="34" charset="0"/>
              </a:rPr>
              <a:t>phones are an ideal platform to distribute learning material to students, however, challenge to present learning material on a small screen</a:t>
            </a:r>
            <a:r>
              <a:rPr lang="en-ZA" sz="1800" dirty="0" smtClean="0">
                <a:latin typeface="Arial Narrow" panose="020B0606020202030204" pitchFamily="34" charset="0"/>
              </a:rPr>
              <a:t>. Digital divide is another issue and connectivity problems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ZA" sz="1800" b="1" dirty="0">
                <a:latin typeface="Arial Narrow" panose="020B0606020202030204" pitchFamily="34" charset="0"/>
              </a:rPr>
              <a:t>Information Processing </a:t>
            </a:r>
          </a:p>
          <a:p>
            <a:pPr marL="0" indent="0" algn="just">
              <a:buNone/>
            </a:pPr>
            <a:r>
              <a:rPr lang="en-ZA" sz="1800" dirty="0">
                <a:latin typeface="Arial Narrow" panose="020B0606020202030204" pitchFamily="34" charset="0"/>
              </a:rPr>
              <a:t>▪ Supercomputers - process huge amounts of data in relatively short periods of time </a:t>
            </a:r>
          </a:p>
          <a:p>
            <a:pPr marL="0" indent="0">
              <a:buNone/>
            </a:pPr>
            <a:endParaRPr lang="en-ZA" sz="22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ZA" sz="22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9543" y="353084"/>
            <a:ext cx="5856299" cy="600326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Possible to develop computer models of complex </a:t>
            </a:r>
            <a:r>
              <a:rPr lang="en-ZA" sz="1800" dirty="0" smtClean="0">
                <a:latin typeface="Arial Narrow" panose="020B0606020202030204" pitchFamily="34" charset="0"/>
              </a:rPr>
              <a:t>systems, i.e. </a:t>
            </a:r>
            <a:r>
              <a:rPr lang="en-ZA" sz="1800" dirty="0">
                <a:latin typeface="Arial Narrow" panose="020B0606020202030204" pitchFamily="34" charset="0"/>
              </a:rPr>
              <a:t>C</a:t>
            </a:r>
            <a:r>
              <a:rPr lang="en-ZA" sz="1800" dirty="0" smtClean="0">
                <a:latin typeface="Arial Narrow" panose="020B0606020202030204" pitchFamily="34" charset="0"/>
              </a:rPr>
              <a:t>limate modelling</a:t>
            </a: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Involves projects such as : </a:t>
            </a:r>
          </a:p>
          <a:p>
            <a:pPr lvl="1" algn="just"/>
            <a:r>
              <a:rPr lang="en-ZA" sz="1800" dirty="0" smtClean="0">
                <a:latin typeface="Arial Narrow" panose="020B0606020202030204" pitchFamily="34" charset="0"/>
              </a:rPr>
              <a:t>Climate system- calculating or predicting </a:t>
            </a:r>
            <a:r>
              <a:rPr lang="en-ZA" sz="1800" dirty="0">
                <a:latin typeface="Arial Narrow" panose="020B0606020202030204" pitchFamily="34" charset="0"/>
              </a:rPr>
              <a:t>weather forecasts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lvl="1" algn="just"/>
            <a:r>
              <a:rPr lang="en-ZA" sz="1800" dirty="0" smtClean="0">
                <a:latin typeface="Arial Narrow" panose="020B0606020202030204" pitchFamily="34" charset="0"/>
              </a:rPr>
              <a:t>Human </a:t>
            </a:r>
            <a:r>
              <a:rPr lang="en-ZA" sz="1800" dirty="0">
                <a:latin typeface="Arial Narrow" panose="020B0606020202030204" pitchFamily="34" charset="0"/>
              </a:rPr>
              <a:t>genome project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914400" lvl="2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Without this capacity the aim of establishing a human DNA sequence could not have been reached</a:t>
            </a:r>
            <a:r>
              <a:rPr lang="en-ZA" sz="1800" dirty="0" smtClean="0">
                <a:latin typeface="Arial Narrow" panose="020B0606020202030204" pitchFamily="34" charset="0"/>
              </a:rPr>
              <a:t>.</a:t>
            </a:r>
          </a:p>
          <a:p>
            <a:pPr lvl="1" algn="just"/>
            <a:r>
              <a:rPr lang="en-ZA" sz="1900" dirty="0" smtClean="0">
                <a:latin typeface="Arial Narrow" panose="020B0606020202030204" pitchFamily="34" charset="0"/>
              </a:rPr>
              <a:t>Google earth- enables visit to foreign places.</a:t>
            </a:r>
          </a:p>
          <a:p>
            <a:pPr marL="0" indent="0" algn="just">
              <a:buNone/>
            </a:pPr>
            <a:r>
              <a:rPr lang="en-ZA" sz="1800" b="1" u="sng" dirty="0">
                <a:latin typeface="Arial Narrow" panose="020B0606020202030204" pitchFamily="34" charset="0"/>
              </a:rPr>
              <a:t>Social advantages of being able to model complex systems include a better: </a:t>
            </a:r>
            <a:endParaRPr lang="en-ZA" sz="1800" b="1" u="sng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Improved the understanding of pandemics, contagion and global health trends.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Better prediction of the impact of climate change on the environment, the economy and on humans in general.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Better prediction of natural disasters and their impact so that effective response plans can be set up.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ZA" sz="1800" dirty="0" smtClean="0">
                <a:latin typeface="Arial Narrow" panose="020B0606020202030204" pitchFamily="34" charset="0"/>
              </a:rPr>
              <a:t> </a:t>
            </a:r>
            <a:r>
              <a:rPr lang="en-ZA" sz="1800" b="1" dirty="0">
                <a:latin typeface="Arial Narrow" panose="020B0606020202030204" pitchFamily="34" charset="0"/>
              </a:rPr>
              <a:t>Problems associated with </a:t>
            </a:r>
            <a:r>
              <a:rPr lang="en-ZA" sz="1800" b="1" dirty="0" smtClean="0">
                <a:latin typeface="Arial Narrow" panose="020B0606020202030204" pitchFamily="34" charset="0"/>
              </a:rPr>
              <a:t>the </a:t>
            </a:r>
            <a:r>
              <a:rPr lang="en-ZA" sz="1800" b="1" dirty="0">
                <a:latin typeface="Arial Narrow" panose="020B0606020202030204" pitchFamily="34" charset="0"/>
              </a:rPr>
              <a:t>“Information Age” </a:t>
            </a:r>
            <a:endParaRPr lang="en-ZA" sz="1800" b="1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ZA" sz="1800" dirty="0" smtClean="0">
                <a:latin typeface="Arial Narrow" panose="020B0606020202030204" pitchFamily="34" charset="0"/>
              </a:rPr>
              <a:t>Privacy </a:t>
            </a:r>
            <a:r>
              <a:rPr lang="en-ZA" sz="1800" dirty="0">
                <a:latin typeface="Arial Narrow" panose="020B0606020202030204" pitchFamily="34" charset="0"/>
              </a:rPr>
              <a:t>and Security Issues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>
                <a:latin typeface="Arial Narrow" panose="020B0606020202030204" pitchFamily="34" charset="0"/>
              </a:rPr>
              <a:t>▪ Public and private sectors </a:t>
            </a:r>
            <a:r>
              <a:rPr lang="en-ZA" sz="1800" dirty="0" smtClean="0">
                <a:latin typeface="Arial Narrow" panose="020B0606020202030204" pitchFamily="34" charset="0"/>
              </a:rPr>
              <a:t>– store client’s info digitally and </a:t>
            </a:r>
            <a:r>
              <a:rPr lang="en-ZA" sz="1800" dirty="0">
                <a:latin typeface="Arial Narrow" panose="020B0606020202030204" pitchFamily="34" charset="0"/>
              </a:rPr>
              <a:t>info </a:t>
            </a:r>
            <a:r>
              <a:rPr lang="en-ZA" sz="1800" dirty="0" smtClean="0">
                <a:latin typeface="Arial Narrow" panose="020B0606020202030204" pitchFamily="34" charset="0"/>
              </a:rPr>
              <a:t>could be freely or easily accessible </a:t>
            </a:r>
            <a:r>
              <a:rPr lang="en-ZA" sz="1800" dirty="0">
                <a:latin typeface="Arial Narrow" panose="020B0606020202030204" pitchFamily="34" charset="0"/>
              </a:rPr>
              <a:t>– not always secure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lvl="1" algn="just"/>
            <a:r>
              <a:rPr lang="en-ZA" sz="1900" dirty="0" smtClean="0">
                <a:latin typeface="Arial Narrow" panose="020B0606020202030204" pitchFamily="34" charset="0"/>
              </a:rPr>
              <a:t>Difference </a:t>
            </a:r>
            <a:r>
              <a:rPr lang="en-ZA" sz="1900" dirty="0">
                <a:latin typeface="Arial Narrow" panose="020B0606020202030204" pitchFamily="34" charset="0"/>
              </a:rPr>
              <a:t>between digital and physical sources of information is that it is far easier to copy and forge digital data. </a:t>
            </a:r>
            <a:endParaRPr lang="en-ZA" sz="1900" dirty="0" smtClean="0">
              <a:latin typeface="Arial Narrow" panose="020B0606020202030204" pitchFamily="34" charset="0"/>
            </a:endParaRPr>
          </a:p>
          <a:p>
            <a:pPr lvl="1" algn="just"/>
            <a:r>
              <a:rPr lang="en-ZA" sz="1900" dirty="0" smtClean="0">
                <a:latin typeface="Arial Narrow" panose="020B0606020202030204" pitchFamily="34" charset="0"/>
              </a:rPr>
              <a:t>Easy </a:t>
            </a:r>
            <a:r>
              <a:rPr lang="en-ZA" sz="1900" dirty="0">
                <a:latin typeface="Arial Narrow" panose="020B0606020202030204" pitchFamily="34" charset="0"/>
              </a:rPr>
              <a:t>to find information that users do not protect</a:t>
            </a:r>
            <a:r>
              <a:rPr lang="en-ZA" sz="17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92388"/>
            <a:ext cx="4114800" cy="265611"/>
          </a:xfrm>
        </p:spPr>
        <p:txBody>
          <a:bodyPr/>
          <a:lstStyle/>
          <a:p>
            <a:r>
              <a:rPr lang="en-ZA" dirty="0" smtClean="0"/>
              <a:t>Prepared by </a:t>
            </a:r>
            <a:r>
              <a:rPr lang="en-ZA" dirty="0" err="1" smtClean="0"/>
              <a:t>Zwelo</a:t>
            </a:r>
            <a:r>
              <a:rPr lang="en-ZA" dirty="0" smtClean="0"/>
              <a:t> </a:t>
            </a:r>
            <a:r>
              <a:rPr lang="en-ZA" dirty="0" err="1" smtClean="0"/>
              <a:t>Makama</a:t>
            </a:r>
            <a:r>
              <a:rPr lang="en-ZA" dirty="0" smtClean="0"/>
              <a:t> -INF1520 </a:t>
            </a:r>
            <a:r>
              <a:rPr lang="en-ZA" dirty="0" err="1" smtClean="0"/>
              <a:t>eTutor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6209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801" y="316870"/>
            <a:ext cx="6291125" cy="624068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>
                <a:latin typeface="Arial Narrow" panose="020B0606020202030204" pitchFamily="34" charset="0"/>
              </a:rPr>
              <a:t>Spam – unsolicited mass mail that is sent to millions of users daily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Increasing </a:t>
            </a:r>
            <a:r>
              <a:rPr lang="en-ZA" sz="1800" dirty="0">
                <a:latin typeface="Arial Narrow" panose="020B0606020202030204" pitchFamily="34" charset="0"/>
              </a:rPr>
              <a:t>value of the information being stored and transferred across the world’s computer networks is also increasing the importance of security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Most </a:t>
            </a:r>
            <a:r>
              <a:rPr lang="en-ZA" sz="1800" dirty="0">
                <a:latin typeface="Arial Narrow" panose="020B0606020202030204" pitchFamily="34" charset="0"/>
              </a:rPr>
              <a:t>security violations in large organisations come from within </a:t>
            </a:r>
            <a:r>
              <a:rPr lang="en-ZA" sz="1800" dirty="0" smtClean="0">
                <a:latin typeface="Arial Narrow" panose="020B0606020202030204" pitchFamily="34" charset="0"/>
              </a:rPr>
              <a:t>and </a:t>
            </a:r>
            <a:r>
              <a:rPr lang="en-ZA" sz="1800" dirty="0">
                <a:latin typeface="Arial Narrow" panose="020B0606020202030204" pitchFamily="34" charset="0"/>
              </a:rPr>
              <a:t>are the result of either malicious actions or carelessness. </a:t>
            </a:r>
            <a:r>
              <a:rPr lang="en-ZA" sz="1800" dirty="0" smtClean="0">
                <a:latin typeface="Arial Narrow" panose="020B0606020202030204" pitchFamily="34" charset="0"/>
              </a:rPr>
              <a:t> </a:t>
            </a:r>
            <a:r>
              <a:rPr lang="en-ZA" sz="1800" dirty="0" err="1" smtClean="0">
                <a:latin typeface="Arial Narrow" panose="020B0606020202030204" pitchFamily="34" charset="0"/>
              </a:rPr>
              <a:t>i.e</a:t>
            </a:r>
            <a:r>
              <a:rPr lang="en-ZA" sz="1800" dirty="0" smtClean="0">
                <a:latin typeface="Arial Narrow" panose="020B0606020202030204" pitchFamily="34" charset="0"/>
              </a:rPr>
              <a:t> commercial systems  ( EFT’s, and commercial emails are the threats)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People have abilities and ways of beating the system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Malware –Software </a:t>
            </a:r>
            <a:r>
              <a:rPr lang="en-ZA" sz="1800" dirty="0">
                <a:latin typeface="Arial Narrow" panose="020B0606020202030204" pitchFamily="34" charset="0"/>
              </a:rPr>
              <a:t>developed for the sole purpose of doing harm or gaining unlawful access to information, produced by </a:t>
            </a:r>
            <a:r>
              <a:rPr lang="en-ZA" sz="1800" dirty="0" smtClean="0">
                <a:latin typeface="Arial Narrow" panose="020B0606020202030204" pitchFamily="34" charset="0"/>
              </a:rPr>
              <a:t>“</a:t>
            </a:r>
            <a:r>
              <a:rPr lang="en-ZA" sz="1800" dirty="0">
                <a:latin typeface="Arial Narrow" panose="020B0606020202030204" pitchFamily="34" charset="0"/>
              </a:rPr>
              <a:t>hackers” or “crackers</a:t>
            </a:r>
            <a:r>
              <a:rPr lang="en-ZA" sz="1800" dirty="0" smtClean="0">
                <a:latin typeface="Arial Narrow" panose="020B0606020202030204" pitchFamily="34" charset="0"/>
              </a:rPr>
              <a:t>”.</a:t>
            </a:r>
          </a:p>
          <a:p>
            <a:pPr marL="0" indent="0" algn="just">
              <a:buNone/>
            </a:pPr>
            <a:r>
              <a:rPr lang="en-ZA" sz="1800" b="1" dirty="0">
                <a:latin typeface="Arial Narrow" panose="020B0606020202030204" pitchFamily="34" charset="0"/>
              </a:rPr>
              <a:t>Types of Malware: </a:t>
            </a:r>
            <a:endParaRPr lang="en-ZA" sz="1800" b="1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ZA" sz="1800" dirty="0" smtClean="0">
                <a:latin typeface="Arial Narrow" panose="020B0606020202030204" pitchFamily="34" charset="0"/>
              </a:rPr>
              <a:t>Trojan </a:t>
            </a:r>
            <a:r>
              <a:rPr lang="en-ZA" sz="1800" dirty="0">
                <a:latin typeface="Arial Narrow" panose="020B0606020202030204" pitchFamily="34" charset="0"/>
              </a:rPr>
              <a:t>horses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Malicious </a:t>
            </a:r>
            <a:r>
              <a:rPr lang="en-ZA" sz="1800" dirty="0">
                <a:latin typeface="Arial Narrow" panose="020B0606020202030204" pitchFamily="34" charset="0"/>
              </a:rPr>
              <a:t>piece of code is hidden inside a program that appears to offer other </a:t>
            </a:r>
            <a:r>
              <a:rPr lang="en-ZA" sz="1800" dirty="0" smtClean="0">
                <a:latin typeface="Arial Narrow" panose="020B0606020202030204" pitchFamily="34" charset="0"/>
              </a:rPr>
              <a:t>facilities.  </a:t>
            </a:r>
            <a:r>
              <a:rPr lang="en-ZA" sz="1800" dirty="0" err="1" smtClean="0">
                <a:latin typeface="Arial Narrow" panose="020B0606020202030204" pitchFamily="34" charset="0"/>
              </a:rPr>
              <a:t>i.e</a:t>
            </a:r>
            <a:r>
              <a:rPr lang="en-ZA" sz="1800" dirty="0" smtClean="0">
                <a:latin typeface="Arial Narrow" panose="020B0606020202030204" pitchFamily="34" charset="0"/>
              </a:rPr>
              <a:t> programs used to access your password.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ZA" sz="1800" dirty="0" smtClean="0">
                <a:latin typeface="Arial Narrow" panose="020B0606020202030204" pitchFamily="34" charset="0"/>
              </a:rPr>
              <a:t>Time </a:t>
            </a:r>
            <a:r>
              <a:rPr lang="en-ZA" sz="1800" dirty="0">
                <a:latin typeface="Arial Narrow" panose="020B0606020202030204" pitchFamily="34" charset="0"/>
              </a:rPr>
              <a:t>bombs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Piece </a:t>
            </a:r>
            <a:r>
              <a:rPr lang="en-ZA" sz="1800" dirty="0">
                <a:latin typeface="Arial Narrow" panose="020B0606020202030204" pitchFamily="34" charset="0"/>
              </a:rPr>
              <a:t>of hidden program code designed to run at some time in the future, causing damage to, or loss of, the computer system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Planted </a:t>
            </a:r>
            <a:r>
              <a:rPr lang="en-ZA" sz="1800" dirty="0">
                <a:latin typeface="Arial Narrow" panose="020B0606020202030204" pitchFamily="34" charset="0"/>
              </a:rPr>
              <a:t>as a means of retaliation by dismissed </a:t>
            </a:r>
            <a:r>
              <a:rPr lang="en-ZA" sz="1800" dirty="0" smtClean="0">
                <a:latin typeface="Arial Narrow" panose="020B0606020202030204" pitchFamily="34" charset="0"/>
              </a:rPr>
              <a:t> employees. Less severe than Trojan</a:t>
            </a:r>
            <a:endParaRPr lang="en-ZA" sz="18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6927" y="316871"/>
            <a:ext cx="5577968" cy="603947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ZA" sz="1800" dirty="0">
                <a:latin typeface="Arial Narrow" panose="020B0606020202030204" pitchFamily="34" charset="0"/>
              </a:rPr>
              <a:t>Worms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Self-replicating </a:t>
            </a:r>
            <a:r>
              <a:rPr lang="en-ZA" sz="1800" dirty="0">
                <a:latin typeface="Arial Narrow" panose="020B0606020202030204" pitchFamily="34" charset="0"/>
              </a:rPr>
              <a:t>programs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>
                <a:latin typeface="Arial Narrow" panose="020B0606020202030204" pitchFamily="34" charset="0"/>
              </a:rPr>
              <a:t>S</a:t>
            </a:r>
            <a:r>
              <a:rPr lang="en-ZA" sz="1800" dirty="0" smtClean="0">
                <a:latin typeface="Arial Narrow" panose="020B0606020202030204" pitchFamily="34" charset="0"/>
              </a:rPr>
              <a:t>lowly </a:t>
            </a:r>
            <a:r>
              <a:rPr lang="en-ZA" sz="1800" dirty="0">
                <a:latin typeface="Arial Narrow" panose="020B0606020202030204" pitchFamily="34" charset="0"/>
              </a:rPr>
              <a:t>grind </a:t>
            </a:r>
            <a:r>
              <a:rPr lang="en-ZA" sz="1800" dirty="0" smtClean="0">
                <a:latin typeface="Arial Narrow" panose="020B0606020202030204" pitchFamily="34" charset="0"/>
              </a:rPr>
              <a:t>a </a:t>
            </a:r>
            <a:r>
              <a:rPr lang="en-ZA" sz="1800" dirty="0">
                <a:latin typeface="Arial Narrow" panose="020B0606020202030204" pitchFamily="34" charset="0"/>
              </a:rPr>
              <a:t>system </a:t>
            </a:r>
            <a:r>
              <a:rPr lang="en-ZA" sz="1800" dirty="0" smtClean="0">
                <a:latin typeface="Arial Narrow" panose="020B0606020202030204" pitchFamily="34" charset="0"/>
              </a:rPr>
              <a:t>to </a:t>
            </a:r>
            <a:r>
              <a:rPr lang="en-ZA" sz="1800" dirty="0">
                <a:latin typeface="Arial Narrow" panose="020B0606020202030204" pitchFamily="34" charset="0"/>
              </a:rPr>
              <a:t>a halt and all useful work will be squeezed out.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1800" dirty="0" smtClean="0">
                <a:latin typeface="Arial Narrow" panose="020B0606020202030204" pitchFamily="34" charset="0"/>
              </a:rPr>
              <a:t>Unlike </a:t>
            </a:r>
            <a:r>
              <a:rPr lang="en-ZA" sz="1800" dirty="0">
                <a:latin typeface="Arial Narrow" panose="020B0606020202030204" pitchFamily="34" charset="0"/>
              </a:rPr>
              <a:t>a virus, a worm does not need a host to cause harm.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Assumption- security </a:t>
            </a:r>
            <a:r>
              <a:rPr lang="en-ZA" sz="1800" dirty="0">
                <a:latin typeface="Arial Narrow" panose="020B0606020202030204" pitchFamily="34" charset="0"/>
              </a:rPr>
              <a:t>violations in large organisations come from within due to malicious actions or carelessness.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ZA" sz="1800" dirty="0" smtClean="0">
                <a:latin typeface="Arial Narrow" panose="020B0606020202030204" pitchFamily="34" charset="0"/>
              </a:rPr>
              <a:t>Information </a:t>
            </a:r>
            <a:r>
              <a:rPr lang="en-ZA" sz="1800" dirty="0">
                <a:latin typeface="Arial Narrow" panose="020B0606020202030204" pitchFamily="34" charset="0"/>
              </a:rPr>
              <a:t>Overload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New information leads to new invention, and contributes to the evolution of </a:t>
            </a:r>
            <a:r>
              <a:rPr lang="en-ZA" sz="1800" dirty="0" smtClean="0">
                <a:latin typeface="Arial Narrow" panose="020B0606020202030204" pitchFamily="34" charset="0"/>
              </a:rPr>
              <a:t>humankind – we depended on knowledge</a:t>
            </a: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 </a:t>
            </a:r>
            <a:r>
              <a:rPr lang="en-ZA" sz="1800" dirty="0">
                <a:latin typeface="Arial Narrow" panose="020B0606020202030204" pitchFamily="34" charset="0"/>
              </a:rPr>
              <a:t>▪ Spending large amounts of time searching through and taking in irrelevant or useless information just because it is there – most is incomplete, unsubstantiated and incorrect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Access to harmful information such as building dangerous objects, genomes of viruses, political propaganda and violent or pornographic material. </a:t>
            </a:r>
            <a:r>
              <a:rPr lang="en-ZA" sz="1800" dirty="0" smtClean="0">
                <a:latin typeface="Arial Narrow" panose="020B0606020202030204" pitchFamily="34" charset="0"/>
              </a:rPr>
              <a:t>NB filtering information skill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1800" dirty="0" smtClean="0">
                <a:latin typeface="Arial Narrow" panose="020B0606020202030204" pitchFamily="34" charset="0"/>
              </a:rPr>
              <a:t>Dependence </a:t>
            </a:r>
            <a:r>
              <a:rPr lang="en-ZA" sz="1800" dirty="0">
                <a:latin typeface="Arial Narrow" panose="020B0606020202030204" pitchFamily="34" charset="0"/>
              </a:rPr>
              <a:t>on Technology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Modern society is almost entirely supported by information technology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 err="1" smtClean="0">
                <a:latin typeface="Arial Narrow" panose="020B0606020202030204" pitchFamily="34" charset="0"/>
              </a:rPr>
              <a:t>Risk:breakdown</a:t>
            </a:r>
            <a:r>
              <a:rPr lang="en-ZA" sz="1800" dirty="0" smtClean="0">
                <a:latin typeface="Arial Narrow" panose="020B0606020202030204" pitchFamily="34" charset="0"/>
              </a:rPr>
              <a:t> </a:t>
            </a:r>
            <a:r>
              <a:rPr lang="en-ZA" sz="1800" dirty="0">
                <a:latin typeface="Arial Narrow" panose="020B0606020202030204" pitchFamily="34" charset="0"/>
              </a:rPr>
              <a:t>of technological infrastructure will lead to serious disruption of economic and social systems</a:t>
            </a:r>
            <a:endParaRPr lang="en-ZA" sz="1800" b="1" dirty="0">
              <a:latin typeface="Arial Narrow" panose="020B06060202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852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7" y="235390"/>
            <a:ext cx="5812323" cy="61209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ZA" sz="2000" b="1" dirty="0" smtClean="0">
                <a:latin typeface="Arial Narrow" panose="020B0606020202030204" pitchFamily="34" charset="0"/>
              </a:rPr>
              <a:t> </a:t>
            </a:r>
            <a:r>
              <a:rPr lang="en-ZA" sz="2300" dirty="0">
                <a:latin typeface="Arial Narrow" panose="020B0606020202030204" pitchFamily="34" charset="0"/>
              </a:rPr>
              <a:t>We cannot live without mobile phone technology, credit data systems, electronic money transfer systems, and the like.</a:t>
            </a:r>
            <a:r>
              <a:rPr lang="en-ZA" sz="2300" b="1" dirty="0" smtClean="0">
                <a:latin typeface="Arial Narrow" panose="020B0606020202030204" pitchFamily="34" charset="0"/>
              </a:rPr>
              <a:t>  </a:t>
            </a:r>
          </a:p>
          <a:p>
            <a:pPr marL="0" indent="0">
              <a:buNone/>
            </a:pPr>
            <a:endParaRPr lang="en-ZA" sz="2300" b="1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2300" b="1" dirty="0" smtClean="0">
                <a:latin typeface="Arial Narrow" panose="020B0606020202030204" pitchFamily="34" charset="0"/>
              </a:rPr>
              <a:t>SOCIAL </a:t>
            </a:r>
            <a:r>
              <a:rPr lang="en-ZA" sz="2300" b="1" dirty="0">
                <a:latin typeface="Arial Narrow" panose="020B0606020202030204" pitchFamily="34" charset="0"/>
              </a:rPr>
              <a:t>NETWORKING TECHNOLOGIES </a:t>
            </a:r>
            <a:endParaRPr lang="en-ZA" sz="2300" b="1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ZA" sz="2300" b="1" u="sng" dirty="0" smtClean="0">
                <a:latin typeface="Arial Narrow" panose="020B0606020202030204" pitchFamily="34" charset="0"/>
              </a:rPr>
              <a:t>Types include: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300" dirty="0" smtClean="0">
                <a:latin typeface="Arial Narrow" panose="020B0606020202030204" pitchFamily="34" charset="0"/>
              </a:rPr>
              <a:t>Chat </a:t>
            </a:r>
            <a:r>
              <a:rPr lang="en-ZA" sz="2300" dirty="0">
                <a:latin typeface="Arial Narrow" panose="020B0606020202030204" pitchFamily="34" charset="0"/>
              </a:rPr>
              <a:t>Rooms </a:t>
            </a:r>
            <a:endParaRPr lang="en-ZA" sz="23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300" dirty="0" smtClean="0">
                <a:latin typeface="Arial Narrow" panose="020B0606020202030204" pitchFamily="34" charset="0"/>
              </a:rPr>
              <a:t>Locations </a:t>
            </a:r>
            <a:r>
              <a:rPr lang="en-ZA" sz="2300" dirty="0">
                <a:latin typeface="Arial Narrow" panose="020B0606020202030204" pitchFamily="34" charset="0"/>
              </a:rPr>
              <a:t>on the Internet where people meet to have online conversations in real time – open for anyone to join, discuss specific topics </a:t>
            </a:r>
            <a:endParaRPr lang="en-ZA" sz="23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ZA" sz="2300" dirty="0" smtClean="0">
                <a:latin typeface="Arial Narrow" panose="020B0606020202030204" pitchFamily="34" charset="0"/>
              </a:rPr>
              <a:t>Instant </a:t>
            </a:r>
            <a:r>
              <a:rPr lang="en-ZA" sz="2300" dirty="0">
                <a:latin typeface="Arial Narrow" panose="020B0606020202030204" pitchFamily="34" charset="0"/>
              </a:rPr>
              <a:t>Messaging (IM) </a:t>
            </a:r>
            <a:endParaRPr lang="en-ZA" sz="23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300" dirty="0" smtClean="0">
                <a:latin typeface="Arial Narrow" panose="020B0606020202030204" pitchFamily="34" charset="0"/>
              </a:rPr>
              <a:t>Real-time </a:t>
            </a:r>
            <a:r>
              <a:rPr lang="en-ZA" sz="2300" dirty="0">
                <a:latin typeface="Arial Narrow" panose="020B0606020202030204" pitchFamily="34" charset="0"/>
              </a:rPr>
              <a:t>communication tool that allows two or more users who are connected to the system to interact with each other synchronously. </a:t>
            </a:r>
            <a:endParaRPr lang="en-ZA" sz="23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300" dirty="0" smtClean="0">
                <a:latin typeface="Arial Narrow" panose="020B0606020202030204" pitchFamily="34" charset="0"/>
              </a:rPr>
              <a:t>Sender </a:t>
            </a:r>
            <a:r>
              <a:rPr lang="en-ZA" sz="2300" dirty="0">
                <a:latin typeface="Arial Narrow" panose="020B0606020202030204" pitchFamily="34" charset="0"/>
              </a:rPr>
              <a:t>must know the user name of the recipient to send a message </a:t>
            </a:r>
            <a:endParaRPr lang="en-ZA" sz="23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300" dirty="0" smtClean="0">
                <a:latin typeface="Arial Narrow" panose="020B0606020202030204" pitchFamily="34" charset="0"/>
              </a:rPr>
              <a:t>Privacy </a:t>
            </a:r>
            <a:r>
              <a:rPr lang="en-ZA" sz="2300" dirty="0">
                <a:latin typeface="Arial Narrow" panose="020B0606020202030204" pitchFamily="34" charset="0"/>
              </a:rPr>
              <a:t>settings make it possible to block out messages from unknown users or messages from specific individuals </a:t>
            </a:r>
            <a:endParaRPr lang="en-ZA" sz="23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300" dirty="0" smtClean="0">
                <a:latin typeface="Arial Narrow" panose="020B0606020202030204" pitchFamily="34" charset="0"/>
              </a:rPr>
              <a:t>E.g</a:t>
            </a:r>
            <a:r>
              <a:rPr lang="en-ZA" sz="2300" dirty="0">
                <a:latin typeface="Arial Narrow" panose="020B0606020202030204" pitchFamily="34" charset="0"/>
              </a:rPr>
              <a:t>. </a:t>
            </a:r>
            <a:r>
              <a:rPr lang="en-ZA" sz="2300" dirty="0" err="1">
                <a:latin typeface="Arial Narrow" panose="020B0606020202030204" pitchFamily="34" charset="0"/>
              </a:rPr>
              <a:t>MXit</a:t>
            </a:r>
            <a:r>
              <a:rPr lang="en-ZA" sz="2300" dirty="0">
                <a:latin typeface="Arial Narrow" panose="020B0606020202030204" pitchFamily="34" charset="0"/>
              </a:rPr>
              <a:t> </a:t>
            </a:r>
            <a:r>
              <a:rPr lang="en-ZA" sz="2300" dirty="0" smtClean="0">
                <a:latin typeface="Arial Narrow" panose="020B0606020202030204" pitchFamily="34" charset="0"/>
              </a:rPr>
              <a:t>, Whatsapp, BBM, Telegram, Snapchat, FB messenger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300" dirty="0" smtClean="0">
                <a:latin typeface="Arial Narrow" panose="020B0606020202030204" pitchFamily="34" charset="0"/>
              </a:rPr>
              <a:t>Blogs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300" dirty="0" smtClean="0">
                <a:latin typeface="Arial Narrow" panose="020B0606020202030204" pitchFamily="34" charset="0"/>
              </a:rPr>
              <a:t>Online </a:t>
            </a:r>
            <a:r>
              <a:rPr lang="en-ZA" sz="2300" dirty="0">
                <a:latin typeface="Arial Narrow" panose="020B0606020202030204" pitchFamily="34" charset="0"/>
              </a:rPr>
              <a:t>journals </a:t>
            </a:r>
            <a:endParaRPr lang="en-ZA" sz="23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300" dirty="0" smtClean="0">
                <a:latin typeface="Arial Narrow" panose="020B0606020202030204" pitchFamily="34" charset="0"/>
              </a:rPr>
              <a:t>Individuals </a:t>
            </a:r>
            <a:r>
              <a:rPr lang="en-ZA" sz="2300" dirty="0">
                <a:latin typeface="Arial Narrow" panose="020B0606020202030204" pitchFamily="34" charset="0"/>
              </a:rPr>
              <a:t>use them as diaries or to comment on specific topics</a:t>
            </a:r>
            <a:endParaRPr lang="en-ZA" sz="2300" b="1" dirty="0" smtClean="0">
              <a:latin typeface="Arial Narrow" panose="020B0606020202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325925"/>
            <a:ext cx="5832695" cy="5961664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ZA" sz="2000" dirty="0">
                <a:latin typeface="Arial Narrow" panose="020B0606020202030204" pitchFamily="34" charset="0"/>
              </a:rPr>
              <a:t>Social Networking Sites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2000" dirty="0">
                <a:latin typeface="Arial Narrow" panose="020B0606020202030204" pitchFamily="34" charset="0"/>
              </a:rPr>
              <a:t>W</a:t>
            </a:r>
            <a:r>
              <a:rPr lang="en-ZA" sz="2000" dirty="0" smtClean="0">
                <a:latin typeface="Arial Narrow" panose="020B0606020202030204" pitchFamily="34" charset="0"/>
              </a:rPr>
              <a:t>eb </a:t>
            </a:r>
            <a:r>
              <a:rPr lang="en-ZA" sz="2000" dirty="0">
                <a:latin typeface="Arial Narrow" panose="020B0606020202030204" pitchFamily="34" charset="0"/>
              </a:rPr>
              <a:t>communities or </a:t>
            </a:r>
            <a:r>
              <a:rPr lang="en-ZA" sz="2000" dirty="0" smtClean="0">
                <a:latin typeface="Arial Narrow" panose="020B0606020202030204" pitchFamily="34" charset="0"/>
              </a:rPr>
              <a:t>online </a:t>
            </a:r>
            <a:r>
              <a:rPr lang="en-ZA" sz="2000" dirty="0">
                <a:latin typeface="Arial Narrow" panose="020B0606020202030204" pitchFamily="34" charset="0"/>
              </a:rPr>
              <a:t>communities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Users create profiles, including photographs- privacy to profile can be limited through settings. Facebook, Twitter, LinkedIn, Instagram…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100" dirty="0">
                <a:latin typeface="Arial Narrow" panose="020B0606020202030204" pitchFamily="34" charset="0"/>
              </a:rPr>
              <a:t>Communication can be synchronous (like “chatting”) or asynchronous (like blogs or e-mails</a:t>
            </a:r>
            <a:r>
              <a:rPr lang="en-ZA" sz="2100" dirty="0" smtClean="0">
                <a:latin typeface="Arial Narrow" panose="020B0606020202030204" pitchFamily="34" charset="0"/>
              </a:rPr>
              <a:t>).</a:t>
            </a:r>
          </a:p>
          <a:p>
            <a:pPr marL="0" indent="0" algn="just">
              <a:buNone/>
            </a:pPr>
            <a:r>
              <a:rPr lang="en-ZA" sz="2000" b="1" dirty="0" smtClean="0">
                <a:latin typeface="Arial Narrow" panose="020B0606020202030204" pitchFamily="34" charset="0"/>
              </a:rPr>
              <a:t>Advantages</a:t>
            </a:r>
            <a:r>
              <a:rPr lang="en-ZA" sz="2000" dirty="0" smtClean="0">
                <a:latin typeface="Arial Narrow" panose="020B0606020202030204" pitchFamily="34" charset="0"/>
              </a:rPr>
              <a:t> </a:t>
            </a:r>
            <a:r>
              <a:rPr lang="en-ZA" sz="2000" b="1" dirty="0" smtClean="0">
                <a:latin typeface="Arial Narrow" panose="020B0606020202030204" pitchFamily="34" charset="0"/>
              </a:rPr>
              <a:t>of social networks</a:t>
            </a: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Low cost of creating a web presence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Making personal </a:t>
            </a:r>
            <a:r>
              <a:rPr lang="en-ZA" sz="2000" dirty="0" smtClean="0">
                <a:latin typeface="Arial Narrow" panose="020B0606020202030204" pitchFamily="34" charset="0"/>
              </a:rPr>
              <a:t>connections</a:t>
            </a: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Connecting families (stay far apart or in different countries)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Making connections for career purposes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Businesses - additional information on someone before employing them.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b="1" dirty="0" smtClean="0">
                <a:latin typeface="Arial Narrow" panose="020B0606020202030204" pitchFamily="34" charset="0"/>
              </a:rPr>
              <a:t>Disadvantages</a:t>
            </a:r>
            <a:r>
              <a:rPr lang="en-ZA" sz="2000" dirty="0" smtClean="0">
                <a:latin typeface="Arial Narrow" panose="020B0606020202030204" pitchFamily="34" charset="0"/>
              </a:rPr>
              <a:t> </a:t>
            </a:r>
            <a:r>
              <a:rPr lang="en-ZA" sz="2000" b="1" dirty="0" smtClean="0">
                <a:latin typeface="Arial Narrow" panose="020B0606020202030204" pitchFamily="34" charset="0"/>
              </a:rPr>
              <a:t>of social networks</a:t>
            </a: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Lack of anonymity or privacy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Identity theft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Loss of working time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Mining of users' data for advertising purposes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Cyberbullying </a:t>
            </a:r>
            <a:r>
              <a:rPr lang="en-ZA" sz="2000" dirty="0" smtClean="0">
                <a:latin typeface="Arial Narrow" panose="020B0606020202030204" pitchFamily="34" charset="0"/>
              </a:rPr>
              <a:t>	</a:t>
            </a: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Cyberstalking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Inappropriate content such as political propaganda</a:t>
            </a:r>
            <a:endParaRPr lang="en-US" sz="2000" dirty="0" smtClean="0">
              <a:latin typeface="Arial Narrow" panose="020B06060202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 smtClean="0"/>
              <a:t>Prepared by </a:t>
            </a:r>
            <a:r>
              <a:rPr lang="en-ZA" dirty="0" err="1" smtClean="0"/>
              <a:t>Zwelo</a:t>
            </a:r>
            <a:r>
              <a:rPr lang="en-ZA" dirty="0" smtClean="0"/>
              <a:t> </a:t>
            </a:r>
            <a:r>
              <a:rPr lang="en-ZA" dirty="0" err="1" smtClean="0"/>
              <a:t>Makama</a:t>
            </a:r>
            <a:r>
              <a:rPr lang="en-ZA" dirty="0" smtClean="0"/>
              <a:t> -INF1520 </a:t>
            </a:r>
            <a:r>
              <a:rPr lang="en-ZA" dirty="0" err="1" smtClean="0"/>
              <a:t>eTutor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9311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3498" y="162962"/>
            <a:ext cx="5287224" cy="60140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ZA" sz="1800" b="1" dirty="0">
                <a:latin typeface="Arial Narrow" panose="020B0606020202030204" pitchFamily="34" charset="0"/>
              </a:rPr>
              <a:t>THE DIGITAL </a:t>
            </a:r>
            <a:r>
              <a:rPr lang="en-ZA" sz="1800" b="1" dirty="0" smtClean="0">
                <a:latin typeface="Arial Narrow" panose="020B0606020202030204" pitchFamily="34" charset="0"/>
              </a:rPr>
              <a:t>DIVIDE</a:t>
            </a:r>
          </a:p>
          <a:p>
            <a:pPr marL="0" indent="0" algn="just">
              <a:buNone/>
            </a:pPr>
            <a:r>
              <a:rPr lang="en-ZA" sz="1800" dirty="0">
                <a:latin typeface="Arial Narrow" panose="020B0606020202030204" pitchFamily="34" charset="0"/>
              </a:rPr>
              <a:t>• Refers to unequal access to technology that subdivide people into those who have it and those who do not.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</a:t>
            </a:r>
            <a:r>
              <a:rPr lang="en-ZA" sz="1800" dirty="0">
                <a:latin typeface="Arial Narrow" panose="020B0606020202030204" pitchFamily="34" charset="0"/>
              </a:rPr>
              <a:t>Not only a reflection of separation between developed and developing economies.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algn="just"/>
            <a:r>
              <a:rPr lang="en-ZA" sz="1800" dirty="0" smtClean="0">
                <a:latin typeface="Arial Narrow" panose="020B0606020202030204" pitchFamily="34" charset="0"/>
              </a:rPr>
              <a:t>Also </a:t>
            </a:r>
            <a:r>
              <a:rPr lang="en-ZA" sz="1800" dirty="0">
                <a:latin typeface="Arial Narrow" panose="020B0606020202030204" pitchFamily="34" charset="0"/>
              </a:rPr>
              <a:t>exists among population groups within the same nation. Some contributing factors to the digital divide: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</a:t>
            </a:r>
            <a:r>
              <a:rPr lang="en-ZA" sz="1800" dirty="0">
                <a:latin typeface="Arial Narrow" panose="020B0606020202030204" pitchFamily="34" charset="0"/>
              </a:rPr>
              <a:t>Financial constraints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</a:t>
            </a:r>
            <a:r>
              <a:rPr lang="en-ZA" sz="1800" dirty="0">
                <a:latin typeface="Arial Narrow" panose="020B0606020202030204" pitchFamily="34" charset="0"/>
              </a:rPr>
              <a:t>The lack of skills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</a:t>
            </a:r>
            <a:r>
              <a:rPr lang="en-ZA" sz="1800" dirty="0">
                <a:latin typeface="Arial Narrow" panose="020B0606020202030204" pitchFamily="34" charset="0"/>
              </a:rPr>
              <a:t>Unavailability of basic infrastructure (</a:t>
            </a:r>
            <a:r>
              <a:rPr lang="en-ZA" sz="1800" dirty="0" err="1">
                <a:latin typeface="Arial Narrow" panose="020B0606020202030204" pitchFamily="34" charset="0"/>
              </a:rPr>
              <a:t>eg</a:t>
            </a:r>
            <a:r>
              <a:rPr lang="en-ZA" sz="1800" dirty="0">
                <a:latin typeface="Arial Narrow" panose="020B0606020202030204" pitchFamily="34" charset="0"/>
              </a:rPr>
              <a:t> electricity)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</a:t>
            </a:r>
            <a:r>
              <a:rPr lang="en-ZA" sz="1800" dirty="0">
                <a:latin typeface="Arial Narrow" panose="020B0606020202030204" pitchFamily="34" charset="0"/>
              </a:rPr>
              <a:t>Carelessly designed systems.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</a:t>
            </a:r>
            <a:r>
              <a:rPr lang="en-ZA" sz="1800" dirty="0">
                <a:latin typeface="Arial Narrow" panose="020B0606020202030204" pitchFamily="34" charset="0"/>
              </a:rPr>
              <a:t>Literacy levels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• </a:t>
            </a:r>
            <a:r>
              <a:rPr lang="en-ZA" sz="1800" dirty="0">
                <a:latin typeface="Arial Narrow" panose="020B0606020202030204" pitchFamily="34" charset="0"/>
              </a:rPr>
              <a:t>Lack of cognitive resources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 Interacting with computers requires basic skills to: </a:t>
            </a: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Recognise need for information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Find information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▪Process </a:t>
            </a:r>
            <a:r>
              <a:rPr lang="en-ZA" sz="1800" dirty="0">
                <a:latin typeface="Arial Narrow" panose="020B0606020202030204" pitchFamily="34" charset="0"/>
              </a:rPr>
              <a:t>and evaluate information for its appropriateness, and </a:t>
            </a:r>
            <a:endParaRPr lang="en-ZA" sz="1800" dirty="0" smtClean="0">
              <a:latin typeface="Arial Narrow" panose="020B0606020202030204" pitchFamily="34" charset="0"/>
            </a:endParaRPr>
          </a:p>
          <a:p>
            <a:pPr marL="457200" lvl="1" indent="0" algn="just">
              <a:buNone/>
            </a:pPr>
            <a:r>
              <a:rPr lang="en-ZA" sz="1800" dirty="0" smtClean="0">
                <a:latin typeface="Arial Narrow" panose="020B0606020202030204" pitchFamily="34" charset="0"/>
              </a:rPr>
              <a:t>▪ </a:t>
            </a:r>
            <a:r>
              <a:rPr lang="en-ZA" sz="1800" dirty="0">
                <a:latin typeface="Arial Narrow" panose="020B0606020202030204" pitchFamily="34" charset="0"/>
              </a:rPr>
              <a:t>Apply it in a meaningful way.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58004" y="162962"/>
            <a:ext cx="6237838" cy="62813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2000" b="1" dirty="0">
                <a:latin typeface="Arial Narrow" panose="020B0606020202030204" pitchFamily="34" charset="0"/>
              </a:rPr>
              <a:t>Attempts to Bridge the </a:t>
            </a:r>
            <a:r>
              <a:rPr lang="en-ZA" sz="2000" b="1" dirty="0" smtClean="0">
                <a:latin typeface="Arial Narrow" panose="020B0606020202030204" pitchFamily="34" charset="0"/>
              </a:rPr>
              <a:t>Divide</a:t>
            </a:r>
          </a:p>
          <a:p>
            <a:pPr marL="0" indent="0">
              <a:buNone/>
            </a:pPr>
            <a:r>
              <a:rPr lang="en-ZA" sz="2000" b="1" dirty="0" smtClean="0">
                <a:latin typeface="Arial Narrow" panose="020B0606020202030204" pitchFamily="34" charset="0"/>
              </a:rPr>
              <a:t>Projects include:</a:t>
            </a:r>
            <a:r>
              <a:rPr lang="en-ZA" sz="2000" dirty="0" smtClean="0">
                <a:latin typeface="Arial Narrow" panose="020B060602020203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MIT’s </a:t>
            </a:r>
            <a:r>
              <a:rPr lang="en-ZA" sz="2000" dirty="0">
                <a:latin typeface="Arial Narrow" panose="020B0606020202030204" pitchFamily="34" charset="0"/>
              </a:rPr>
              <a:t>One Laptop Per Child project (MIT, Accessed 23 Oct 2007</a:t>
            </a:r>
            <a:r>
              <a:rPr lang="en-ZA" sz="2000" dirty="0" smtClean="0">
                <a:latin typeface="Arial Narrow" panose="020B060602020203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 Hole-in-the-Wall </a:t>
            </a:r>
            <a:r>
              <a:rPr lang="en-ZA" sz="2000" dirty="0">
                <a:latin typeface="Arial Narrow" panose="020B0606020202030204" pitchFamily="34" charset="0"/>
              </a:rPr>
              <a:t>project in India (</a:t>
            </a:r>
            <a:r>
              <a:rPr lang="en-ZA" sz="2000" dirty="0" err="1">
                <a:latin typeface="Arial Narrow" panose="020B0606020202030204" pitchFamily="34" charset="0"/>
              </a:rPr>
              <a:t>Mitra</a:t>
            </a:r>
            <a:r>
              <a:rPr lang="en-ZA" sz="2000" dirty="0">
                <a:latin typeface="Arial Narrow" panose="020B0606020202030204" pitchFamily="34" charset="0"/>
              </a:rPr>
              <a:t>, 2003</a:t>
            </a:r>
            <a:r>
              <a:rPr lang="en-ZA" sz="2000" dirty="0" smtClean="0">
                <a:latin typeface="Arial Narrow" panose="020B0606020202030204" pitchFamily="34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Digital </a:t>
            </a:r>
            <a:r>
              <a:rPr lang="en-ZA" sz="2000" dirty="0">
                <a:latin typeface="Arial Narrow" panose="020B0606020202030204" pitchFamily="34" charset="0"/>
              </a:rPr>
              <a:t>Doorway Project (Meraka Institute, accessed 23 Oct 2007</a:t>
            </a:r>
            <a:r>
              <a:rPr lang="en-ZA" sz="2000" dirty="0" smtClean="0">
                <a:latin typeface="Arial Narrow" panose="020B0606020202030204" pitchFamily="34" charset="0"/>
              </a:rPr>
              <a:t>). Initiative </a:t>
            </a:r>
            <a:r>
              <a:rPr lang="en-ZA" sz="2000" dirty="0">
                <a:latin typeface="Arial Narrow" panose="020B0606020202030204" pitchFamily="34" charset="0"/>
              </a:rPr>
              <a:t>by the Department of Science and Technology and the Meraka Institute of the </a:t>
            </a:r>
            <a:r>
              <a:rPr lang="en-ZA" sz="2000" dirty="0" smtClean="0">
                <a:latin typeface="Arial Narrow" panose="020B0606020202030204" pitchFamily="34" charset="0"/>
              </a:rPr>
              <a:t>CSIR.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Focuses </a:t>
            </a:r>
            <a:r>
              <a:rPr lang="en-ZA" sz="2000" dirty="0">
                <a:latin typeface="Arial Narrow" panose="020B0606020202030204" pitchFamily="34" charset="0"/>
              </a:rPr>
              <a:t>on providing computers in underprivileged communities in South Africa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Digital </a:t>
            </a:r>
            <a:r>
              <a:rPr lang="en-ZA" sz="2000" dirty="0">
                <a:latin typeface="Arial Narrow" panose="020B0606020202030204" pitchFamily="34" charset="0"/>
              </a:rPr>
              <a:t>Doorways: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Non-standard computer systems housed in rugged, custom-designed kiosks with multiple terminals that can be accessed simultaneously by users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r>
              <a:rPr lang="en-ZA" sz="2000" dirty="0" smtClean="0">
                <a:latin typeface="Arial Narrow" panose="020B0606020202030204" pitchFamily="34" charset="0"/>
              </a:rPr>
              <a:t>▪ </a:t>
            </a:r>
            <a:r>
              <a:rPr lang="en-ZA" sz="2000" dirty="0">
                <a:latin typeface="Arial Narrow" panose="020B0606020202030204" pitchFamily="34" charset="0"/>
              </a:rPr>
              <a:t>Robust housing and metal keyboard protect the system against vandalism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ZA" sz="2000" dirty="0" smtClean="0">
                <a:latin typeface="Arial Narrow" panose="020B0606020202030204" pitchFamily="34" charset="0"/>
              </a:rPr>
              <a:t>Aim </a:t>
            </a:r>
            <a:r>
              <a:rPr lang="en-ZA" sz="2000" dirty="0">
                <a:latin typeface="Arial Narrow" panose="020B0606020202030204" pitchFamily="34" charset="0"/>
              </a:rPr>
              <a:t>is to promote computer literacy through unassisted learning by installing the computers at schools, police stations and community centres in underprivileged communities. </a:t>
            </a:r>
            <a:endParaRPr lang="en-ZA" sz="2000" dirty="0" smtClean="0">
              <a:latin typeface="Arial Narrow" panose="020B06060202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4173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Prepared by Zwelo Makama -INF1520 eTutor</a:t>
            </a:r>
            <a:endParaRPr lang="en-ZA"/>
          </a:p>
        </p:txBody>
      </p:sp>
      <p:sp>
        <p:nvSpPr>
          <p:cNvPr id="2" name="Rectangle 1"/>
          <p:cNvSpPr/>
          <p:nvPr/>
        </p:nvSpPr>
        <p:spPr>
          <a:xfrm>
            <a:off x="566057" y="666900"/>
            <a:ext cx="758734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b="1" dirty="0">
                <a:latin typeface="Arial Narrow" panose="020B0606020202030204" pitchFamily="34" charset="0"/>
              </a:rPr>
              <a:t>Conclusion </a:t>
            </a:r>
            <a:endParaRPr lang="en-ZA" sz="2000" b="1" dirty="0" smtClean="0">
              <a:latin typeface="Arial Narrow" panose="020B0606020202030204" pitchFamily="34" charset="0"/>
            </a:endParaRPr>
          </a:p>
          <a:p>
            <a:endParaRPr lang="en-ZA" sz="2000" b="1" dirty="0" smtClean="0">
              <a:latin typeface="Arial Narrow" panose="020B0606020202030204" pitchFamily="34" charset="0"/>
            </a:endParaRPr>
          </a:p>
          <a:p>
            <a:pPr algn="just"/>
            <a:r>
              <a:rPr lang="en-ZA" sz="2000" dirty="0" smtClean="0">
                <a:latin typeface="Arial Narrow" panose="020B0606020202030204" pitchFamily="34" charset="0"/>
              </a:rPr>
              <a:t>Many </a:t>
            </a:r>
            <a:r>
              <a:rPr lang="en-ZA" sz="2000" dirty="0">
                <a:latin typeface="Arial Narrow" panose="020B0606020202030204" pitchFamily="34" charset="0"/>
              </a:rPr>
              <a:t>books have been written on social issues in human-computer interaction and the impact of technology on society. So, it is difficult to reduce these topics to a discussion in one lesson tool of a study guide.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algn="just"/>
            <a:r>
              <a:rPr lang="en-ZA" sz="2000" dirty="0" smtClean="0">
                <a:latin typeface="Arial Narrow" panose="020B0606020202030204" pitchFamily="34" charset="0"/>
              </a:rPr>
              <a:t>The aim </a:t>
            </a:r>
            <a:r>
              <a:rPr lang="en-ZA" sz="2000" dirty="0">
                <a:latin typeface="Arial Narrow" panose="020B0606020202030204" pitchFamily="34" charset="0"/>
              </a:rPr>
              <a:t>was to give you an idea of the profound effects of technological advancement on society.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algn="just"/>
            <a:r>
              <a:rPr lang="en-ZA" sz="2000" dirty="0" smtClean="0">
                <a:latin typeface="Arial Narrow" panose="020B0606020202030204" pitchFamily="34" charset="0"/>
              </a:rPr>
              <a:t>Chapter only </a:t>
            </a:r>
            <a:r>
              <a:rPr lang="en-ZA" sz="2000" dirty="0">
                <a:latin typeface="Arial Narrow" panose="020B0606020202030204" pitchFamily="34" charset="0"/>
              </a:rPr>
              <a:t>touched on aspects such as privacy and security and did not even mention other important issues such as ethics and intellectual property. </a:t>
            </a:r>
            <a:endParaRPr lang="en-ZA" sz="2000" dirty="0" smtClean="0">
              <a:latin typeface="Arial Narrow" panose="020B0606020202030204" pitchFamily="34" charset="0"/>
            </a:endParaRPr>
          </a:p>
          <a:p>
            <a:pPr algn="just"/>
            <a:endParaRPr lang="en-ZA" sz="2000" dirty="0">
              <a:latin typeface="Arial Narrow" panose="020B0606020202030204" pitchFamily="34" charset="0"/>
            </a:endParaRPr>
          </a:p>
          <a:p>
            <a:pPr algn="just"/>
            <a:r>
              <a:rPr lang="en-ZA" sz="2000" dirty="0" smtClean="0">
                <a:latin typeface="Arial Narrow" panose="020B0606020202030204" pitchFamily="34" charset="0"/>
              </a:rPr>
              <a:t>Hopefully this have stirred your </a:t>
            </a:r>
            <a:r>
              <a:rPr lang="en-ZA" sz="2000" dirty="0">
                <a:latin typeface="Arial Narrow" panose="020B0606020202030204" pitchFamily="34" charset="0"/>
              </a:rPr>
              <a:t>interest and that you will, as future designers or IT managers, keep yourself informed of the pervasive impact that computers have on our world.</a:t>
            </a:r>
          </a:p>
        </p:txBody>
      </p:sp>
    </p:spTree>
    <p:extLst>
      <p:ext uri="{BB962C8B-B14F-4D97-AF65-F5344CB8AC3E}">
        <p14:creationId xmlns:p14="http://schemas.microsoft.com/office/powerpoint/2010/main" val="3487424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5111</TotalTime>
  <Words>2006</Words>
  <Application>Microsoft Office PowerPoint</Application>
  <PresentationFormat>Widescreen</PresentationFormat>
  <Paragraphs>179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Narrow</vt:lpstr>
      <vt:lpstr>Calibri</vt:lpstr>
      <vt:lpstr>Calibri Light</vt:lpstr>
      <vt:lpstr>Wingdings</vt:lpstr>
      <vt:lpstr>Office Theme</vt:lpstr>
      <vt:lpstr>  Lesson Tool 5: Social Aspects of Computer Use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INF1520:Human Computer Interaction Summary</dc:title>
  <dc:creator>Nonzwelo Makama</dc:creator>
  <cp:lastModifiedBy>Nonzwelo Makama</cp:lastModifiedBy>
  <cp:revision>141</cp:revision>
  <dcterms:created xsi:type="dcterms:W3CDTF">2021-05-05T17:16:46Z</dcterms:created>
  <dcterms:modified xsi:type="dcterms:W3CDTF">2021-07-20T18:03:33Z</dcterms:modified>
</cp:coreProperties>
</file>