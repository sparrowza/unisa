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2"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44"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A90A7-326D-4D74-B9E1-7DB41F9A38E7}" type="datetimeFigureOut">
              <a:rPr lang="en-ZA" smtClean="0"/>
              <a:t>2022/06/28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CECA6-B94A-4BA5-B14A-A7B2A1C6E6DC}" type="slidenum">
              <a:rPr lang="en-ZA" smtClean="0"/>
              <a:t>‹#›</a:t>
            </a:fld>
            <a:endParaRPr lang="en-ZA"/>
          </a:p>
        </p:txBody>
      </p:sp>
    </p:spTree>
    <p:extLst>
      <p:ext uri="{BB962C8B-B14F-4D97-AF65-F5344CB8AC3E}">
        <p14:creationId xmlns:p14="http://schemas.microsoft.com/office/powerpoint/2010/main" val="128581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4FC0BA62-65F4-45CF-BA97-2C69AA6BB317}" type="datetime1">
              <a:rPr lang="en-ZA" smtClean="0"/>
              <a:t>2022/06/28</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23927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63E7B9F-2E19-497B-A04A-AED71DEF1E5F}" type="datetime1">
              <a:rPr lang="en-ZA" smtClean="0"/>
              <a:t>2022/06/28</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2433253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032466-056C-4B0D-8FFF-557E2DC5D823}" type="datetime1">
              <a:rPr lang="en-ZA" smtClean="0"/>
              <a:t>2022/06/28</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6365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95008A0-259D-44C7-868F-57F9E0CECCDD}" type="datetime1">
              <a:rPr lang="en-ZA" smtClean="0"/>
              <a:t>2022/06/28</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56798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8B0188CF-41BF-42A1-82C6-32359E4650E6}" type="datetime1">
              <a:rPr lang="en-ZA" smtClean="0"/>
              <a:t>2022/06/28</a:t>
            </a:fld>
            <a:endParaRPr lang="en-ZA"/>
          </a:p>
        </p:txBody>
      </p:sp>
      <p:sp>
        <p:nvSpPr>
          <p:cNvPr id="8" name="Footer Placeholder 7"/>
          <p:cNvSpPr>
            <a:spLocks noGrp="1"/>
          </p:cNvSpPr>
          <p:nvPr>
            <p:ph type="ftr" sz="quarter" idx="11"/>
          </p:nvPr>
        </p:nvSpPr>
        <p:spPr/>
        <p:txBody>
          <a:bodyPr/>
          <a:lstStyle/>
          <a:p>
            <a:r>
              <a:rPr lang="en-ZA" smtClean="0"/>
              <a:t>Prepared by Zwelo Makama -INF1520 eTutor</a:t>
            </a:r>
            <a:endParaRPr lang="en-ZA"/>
          </a:p>
        </p:txBody>
      </p:sp>
      <p:sp>
        <p:nvSpPr>
          <p:cNvPr id="9" name="Slide Number Placeholder 8"/>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657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8DA3B2FA-8719-4508-97AA-16537FD3BDA9}" type="datetime1">
              <a:rPr lang="en-ZA" smtClean="0"/>
              <a:t>2022/06/28</a:t>
            </a:fld>
            <a:endParaRPr lang="en-ZA"/>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
        <p:nvSpPr>
          <p:cNvPr id="5" name="Slide Number Placeholder 4"/>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750086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B0D64-14D2-4FD9-AB1C-FB0D2109037B}" type="datetime1">
              <a:rPr lang="en-ZA" smtClean="0"/>
              <a:t>2022/06/28</a:t>
            </a:fld>
            <a:endParaRPr lang="en-ZA"/>
          </a:p>
        </p:txBody>
      </p:sp>
      <p:sp>
        <p:nvSpPr>
          <p:cNvPr id="3" name="Footer Placeholder 2"/>
          <p:cNvSpPr>
            <a:spLocks noGrp="1"/>
          </p:cNvSpPr>
          <p:nvPr>
            <p:ph type="ftr" sz="quarter" idx="11"/>
          </p:nvPr>
        </p:nvSpPr>
        <p:spPr/>
        <p:txBody>
          <a:bodyPr/>
          <a:lstStyle/>
          <a:p>
            <a:r>
              <a:rPr lang="en-ZA" smtClean="0"/>
              <a:t>Prepared by Zwelo Makama -INF1520 eTutor</a:t>
            </a:r>
            <a:endParaRPr lang="en-ZA"/>
          </a:p>
        </p:txBody>
      </p:sp>
      <p:sp>
        <p:nvSpPr>
          <p:cNvPr id="4" name="Slide Number Placeholder 3"/>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838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7EBCF-78E6-4074-829A-A1CB3DAEE872}" type="datetime1">
              <a:rPr lang="en-ZA" smtClean="0"/>
              <a:t>2022/06/28</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09032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A3B3AD-C28C-4AC2-8768-0AD05410E84D}" type="datetime1">
              <a:rPr lang="en-ZA" smtClean="0"/>
              <a:t>2022/06/28</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92392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D6B544B5-F818-4D94-9B1D-3E4B6780D1A1}" type="datetime1">
              <a:rPr lang="en-ZA" smtClean="0"/>
              <a:t>2022/06/28</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68707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B3BD684-EF02-4471-850E-134BC0E3D615}" type="datetime1">
              <a:rPr lang="en-ZA" smtClean="0"/>
              <a:t>2022/06/28</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1323568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BBE3A-7353-4156-B19C-B3CE57CC8530}" type="datetime1">
              <a:rPr lang="en-ZA" smtClean="0"/>
              <a:t>2022/06/28</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ZA" smtClean="0"/>
              <a:t>Prepared by Zwelo Makama -INF1520 eTutor</a:t>
            </a:r>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8C4920-6622-44E1-80B4-4F1D1EB4E200}" type="slidenum">
              <a:rPr lang="en-ZA" smtClean="0"/>
              <a:t>‹#›</a:t>
            </a:fld>
            <a:endParaRPr lang="en-ZA"/>
          </a:p>
        </p:txBody>
      </p:sp>
    </p:spTree>
    <p:extLst>
      <p:ext uri="{BB962C8B-B14F-4D97-AF65-F5344CB8AC3E}">
        <p14:creationId xmlns:p14="http://schemas.microsoft.com/office/powerpoint/2010/main" val="4183869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0200"/>
          </a:xfrm>
        </p:spPr>
        <p:txBody>
          <a:bodyPr>
            <a:normAutofit fontScale="90000"/>
          </a:bodyPr>
          <a:lstStyle/>
          <a:p>
            <a:r>
              <a:rPr lang="en-ZA" dirty="0"/>
              <a:t/>
            </a:r>
            <a:br>
              <a:rPr lang="en-ZA" dirty="0"/>
            </a:br>
            <a:r>
              <a:rPr lang="en-ZA" sz="3600" dirty="0">
                <a:latin typeface="Arial Narrow" panose="020B0606020202030204" pitchFamily="34" charset="0"/>
              </a:rPr>
              <a:t> </a:t>
            </a:r>
            <a:r>
              <a:rPr lang="en-ZA" sz="3600" b="1" dirty="0" smtClean="0">
                <a:latin typeface="Arial Narrow" panose="020B0606020202030204" pitchFamily="34" charset="0"/>
              </a:rPr>
              <a:t>Lesson </a:t>
            </a:r>
            <a:r>
              <a:rPr lang="en-ZA" sz="3600" b="1" dirty="0">
                <a:latin typeface="Arial Narrow" panose="020B0606020202030204" pitchFamily="34" charset="0"/>
              </a:rPr>
              <a:t>Tool </a:t>
            </a:r>
            <a:r>
              <a:rPr lang="en-ZA" sz="3600" b="1" dirty="0" smtClean="0">
                <a:latin typeface="Arial Narrow" panose="020B0606020202030204" pitchFamily="34" charset="0"/>
              </a:rPr>
              <a:t>4: Interaction Design</a:t>
            </a:r>
            <a:endParaRPr lang="en-ZA" sz="3600" b="1" dirty="0">
              <a:latin typeface="Arial Narrow" panose="020B0606020202030204" pitchFamily="34" charset="0"/>
            </a:endParaRPr>
          </a:p>
        </p:txBody>
      </p:sp>
      <p:sp>
        <p:nvSpPr>
          <p:cNvPr id="3" name="Content Placeholder 2"/>
          <p:cNvSpPr>
            <a:spLocks noGrp="1"/>
          </p:cNvSpPr>
          <p:nvPr>
            <p:ph sz="half" idx="1"/>
          </p:nvPr>
        </p:nvSpPr>
        <p:spPr>
          <a:xfrm>
            <a:off x="838200" y="1245325"/>
            <a:ext cx="5780314" cy="5172891"/>
          </a:xfrm>
        </p:spPr>
        <p:txBody>
          <a:bodyPr>
            <a:noAutofit/>
          </a:bodyPr>
          <a:lstStyle/>
          <a:p>
            <a:pPr marL="0" indent="0" algn="just">
              <a:buNone/>
            </a:pPr>
            <a:r>
              <a:rPr lang="en-ZA" sz="1800" b="1" dirty="0" smtClean="0">
                <a:latin typeface="Arial Narrow" panose="020B0606020202030204" pitchFamily="34" charset="0"/>
              </a:rPr>
              <a:t> </a:t>
            </a:r>
          </a:p>
          <a:p>
            <a:pPr marL="0" indent="0" algn="just">
              <a:buNone/>
            </a:pPr>
            <a:r>
              <a:rPr lang="en-US" sz="1800" b="1" dirty="0" smtClean="0">
                <a:latin typeface="Arial Narrow" panose="020B0606020202030204" pitchFamily="34" charset="0"/>
              </a:rPr>
              <a:t>After studying this lesson tool, you should: </a:t>
            </a:r>
            <a:endParaRPr lang="en-ZA" sz="1800" dirty="0">
              <a:latin typeface="Arial Narrow" panose="020B0606020202030204" pitchFamily="34" charset="0"/>
            </a:endParaRPr>
          </a:p>
          <a:p>
            <a:pPr>
              <a:buFont typeface="Wingdings" panose="05000000000000000000" pitchFamily="2" charset="2"/>
              <a:buChar char="§"/>
            </a:pPr>
            <a:r>
              <a:rPr lang="en-ZA" sz="1800" dirty="0" smtClean="0">
                <a:latin typeface="Arial Narrow" panose="020B0606020202030204" pitchFamily="34" charset="0"/>
              </a:rPr>
              <a:t>Know </a:t>
            </a:r>
            <a:r>
              <a:rPr lang="en-ZA" sz="1800" dirty="0">
                <a:latin typeface="Arial Narrow" panose="020B0606020202030204" pitchFamily="34" charset="0"/>
              </a:rPr>
              <a:t>and be able to describe the different interface types that current computer systems </a:t>
            </a:r>
            <a:r>
              <a:rPr lang="en-ZA" sz="1800" dirty="0" smtClean="0">
                <a:latin typeface="Arial Narrow" panose="020B0606020202030204" pitchFamily="34" charset="0"/>
              </a:rPr>
              <a:t>have</a:t>
            </a:r>
          </a:p>
          <a:p>
            <a:pPr>
              <a:buFont typeface="Wingdings" panose="05000000000000000000" pitchFamily="2" charset="2"/>
              <a:buChar char="§"/>
            </a:pPr>
            <a:r>
              <a:rPr lang="en-ZA" sz="1800" dirty="0">
                <a:latin typeface="Arial Narrow" panose="020B0606020202030204" pitchFamily="34" charset="0"/>
              </a:rPr>
              <a:t>understand and be able to give examples of specific interaction design techniques, </a:t>
            </a:r>
            <a:r>
              <a:rPr lang="en-ZA" sz="1800" dirty="0" smtClean="0">
                <a:latin typeface="Arial Narrow" panose="020B0606020202030204" pitchFamily="34" charset="0"/>
              </a:rPr>
              <a:t>namely:</a:t>
            </a:r>
          </a:p>
          <a:p>
            <a:pPr lvl="2">
              <a:buFont typeface="Wingdings" panose="05000000000000000000" pitchFamily="2" charset="2"/>
              <a:buChar char="§"/>
            </a:pPr>
            <a:r>
              <a:rPr lang="en-ZA" sz="1800" dirty="0">
                <a:latin typeface="Arial Narrow" panose="020B0606020202030204" pitchFamily="34" charset="0"/>
              </a:rPr>
              <a:t>low-fidelity prototyping </a:t>
            </a:r>
            <a:r>
              <a:rPr lang="en-ZA" sz="1800" dirty="0" smtClean="0">
                <a:latin typeface="Arial Narrow" panose="020B0606020202030204" pitchFamily="34" charset="0"/>
              </a:rPr>
              <a:t> </a:t>
            </a:r>
          </a:p>
          <a:p>
            <a:pPr lvl="2">
              <a:buFont typeface="Wingdings" panose="05000000000000000000" pitchFamily="2" charset="2"/>
              <a:buChar char="§"/>
            </a:pPr>
            <a:r>
              <a:rPr lang="en-ZA" sz="1800" dirty="0" smtClean="0">
                <a:latin typeface="Arial Narrow" panose="020B0606020202030204" pitchFamily="34" charset="0"/>
              </a:rPr>
              <a:t>high-fidelity </a:t>
            </a:r>
            <a:r>
              <a:rPr lang="en-ZA" sz="1800" dirty="0">
                <a:latin typeface="Arial Narrow" panose="020B0606020202030204" pitchFamily="34" charset="0"/>
              </a:rPr>
              <a:t>prototyping </a:t>
            </a:r>
            <a:r>
              <a:rPr lang="en-ZA" sz="1800" dirty="0" smtClean="0">
                <a:latin typeface="Arial Narrow" panose="020B0606020202030204" pitchFamily="34" charset="0"/>
              </a:rPr>
              <a:t>o</a:t>
            </a:r>
          </a:p>
          <a:p>
            <a:pPr lvl="2">
              <a:buFont typeface="Wingdings" panose="05000000000000000000" pitchFamily="2" charset="2"/>
              <a:buChar char="§"/>
            </a:pPr>
            <a:r>
              <a:rPr lang="en-ZA" sz="1800" dirty="0" smtClean="0">
                <a:latin typeface="Arial Narrow" panose="020B0606020202030204" pitchFamily="34" charset="0"/>
              </a:rPr>
              <a:t>conceptual </a:t>
            </a:r>
            <a:r>
              <a:rPr lang="en-ZA" sz="1800" dirty="0">
                <a:latin typeface="Arial Narrow" panose="020B0606020202030204" pitchFamily="34" charset="0"/>
              </a:rPr>
              <a:t>design including interface metaphor	</a:t>
            </a:r>
            <a:endParaRPr lang="en-ZA" sz="1800" dirty="0" smtClean="0">
              <a:latin typeface="Arial Narrow" panose="020B0606020202030204" pitchFamily="34" charset="0"/>
            </a:endParaRPr>
          </a:p>
          <a:p>
            <a:pPr marL="0" indent="0">
              <a:buNone/>
            </a:pPr>
            <a:r>
              <a:rPr lang="en-ZA" sz="1800" dirty="0">
                <a:latin typeface="Arial Narrow" panose="020B0606020202030204" pitchFamily="34" charset="0"/>
              </a:rPr>
              <a:t>In this lesson tool, we discuss a small selection of topics that are associated with interaction design. INF3720 – the third-level module on HCI – covers the topic of interaction design in detail. Here we look at the following: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a:latin typeface="Arial Narrow" panose="020B0606020202030204" pitchFamily="34" charset="0"/>
              </a:rPr>
              <a:t>T</a:t>
            </a:r>
            <a:r>
              <a:rPr lang="en-ZA" sz="1800" dirty="0" smtClean="0">
                <a:latin typeface="Arial Narrow" panose="020B0606020202030204" pitchFamily="34" charset="0"/>
              </a:rPr>
              <a:t>he </a:t>
            </a:r>
            <a:r>
              <a:rPr lang="en-ZA" sz="1800" dirty="0">
                <a:latin typeface="Arial Narrow" panose="020B0606020202030204" pitchFamily="34" charset="0"/>
              </a:rPr>
              <a:t>different forms that interfaces of interactive systems can take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a:latin typeface="Arial Narrow" panose="020B0606020202030204" pitchFamily="34" charset="0"/>
              </a:rPr>
              <a:t>S</a:t>
            </a:r>
            <a:r>
              <a:rPr lang="en-ZA" sz="1800" dirty="0" smtClean="0">
                <a:latin typeface="Arial Narrow" panose="020B0606020202030204" pitchFamily="34" charset="0"/>
              </a:rPr>
              <a:t>ome </a:t>
            </a:r>
            <a:r>
              <a:rPr lang="en-ZA" sz="1800" dirty="0">
                <a:latin typeface="Arial Narrow" panose="020B0606020202030204" pitchFamily="34" charset="0"/>
              </a:rPr>
              <a:t>specific interaction design techniques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An </a:t>
            </a:r>
            <a:r>
              <a:rPr lang="en-ZA" sz="1800" dirty="0">
                <a:latin typeface="Arial Narrow" panose="020B0606020202030204" pitchFamily="34" charset="0"/>
              </a:rPr>
              <a:t>overview of the evaluation of interactive systems </a:t>
            </a:r>
          </a:p>
          <a:p>
            <a:pPr marL="914400" lvl="2" indent="0">
              <a:buNone/>
            </a:pPr>
            <a:r>
              <a:rPr lang="en-ZA" sz="1800" dirty="0">
                <a:latin typeface="Arial Narrow" panose="020B0606020202030204" pitchFamily="34" charset="0"/>
              </a:rPr>
              <a:t>	</a:t>
            </a:r>
          </a:p>
          <a:p>
            <a:endParaRPr lang="en-US" sz="18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40433" y="1690689"/>
            <a:ext cx="4824549" cy="4486274"/>
          </a:xfrm>
        </p:spPr>
      </p:pic>
    </p:spTree>
    <p:extLst>
      <p:ext uri="{BB962C8B-B14F-4D97-AF65-F5344CB8AC3E}">
        <p14:creationId xmlns:p14="http://schemas.microsoft.com/office/powerpoint/2010/main" val="264353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839788" y="1681163"/>
            <a:ext cx="5157787" cy="4508500"/>
          </a:xfrm>
        </p:spPr>
        <p:txBody>
          <a:bodyPr>
            <a:normAutofit/>
          </a:bodyPr>
          <a:lstStyle/>
          <a:p>
            <a:pPr marL="0" indent="0">
              <a:buNone/>
            </a:pPr>
            <a:endParaRPr lang="en-ZA" sz="3000" dirty="0">
              <a:latin typeface="Arial Narrow" panose="020B0606020202030204" pitchFamily="34" charset="0"/>
            </a:endParaRPr>
          </a:p>
          <a:p>
            <a:endParaRPr lang="en-ZA" sz="3000" dirty="0">
              <a:latin typeface="Arial Narrow" panose="020B0606020202030204" pitchFamily="34" charset="0"/>
            </a:endParaRPr>
          </a:p>
        </p:txBody>
      </p:sp>
      <p:sp>
        <p:nvSpPr>
          <p:cNvPr id="4" name="Content Placeholder 3"/>
          <p:cNvSpPr>
            <a:spLocks noGrp="1"/>
          </p:cNvSpPr>
          <p:nvPr>
            <p:ph sz="half" idx="2"/>
          </p:nvPr>
        </p:nvSpPr>
        <p:spPr>
          <a:xfrm>
            <a:off x="191589" y="330926"/>
            <a:ext cx="5980609" cy="6098750"/>
          </a:xfrm>
        </p:spPr>
        <p:txBody>
          <a:bodyPr>
            <a:normAutofit fontScale="85000" lnSpcReduction="20000"/>
          </a:bodyPr>
          <a:lstStyle/>
          <a:p>
            <a:pPr marL="0" indent="0">
              <a:buNone/>
            </a:pPr>
            <a:r>
              <a:rPr lang="en-ZA" sz="2000" b="1" u="sng" dirty="0">
                <a:latin typeface="Arial Narrow" panose="020B0606020202030204" pitchFamily="34" charset="0"/>
              </a:rPr>
              <a:t>Interface Types </a:t>
            </a:r>
            <a:endParaRPr lang="en-ZA" sz="2000" b="1" u="sng" dirty="0" smtClean="0">
              <a:latin typeface="Arial Narrow" panose="020B0606020202030204" pitchFamily="34" charset="0"/>
            </a:endParaRPr>
          </a:p>
          <a:p>
            <a:pPr marL="0" indent="0">
              <a:buNone/>
            </a:pPr>
            <a:r>
              <a:rPr lang="en-ZA" sz="2000" dirty="0">
                <a:latin typeface="Arial Narrow" panose="020B0606020202030204" pitchFamily="34" charset="0"/>
                <a:cs typeface="Arial" panose="020B0604020202020204" pitchFamily="34" charset="0"/>
              </a:rPr>
              <a:t>An </a:t>
            </a:r>
            <a:r>
              <a:rPr lang="en-ZA" sz="2000" b="1" dirty="0">
                <a:latin typeface="Arial Narrow" panose="020B0606020202030204" pitchFamily="34" charset="0"/>
                <a:cs typeface="Arial" panose="020B0604020202020204" pitchFamily="34" charset="0"/>
              </a:rPr>
              <a:t>Interface</a:t>
            </a:r>
            <a:r>
              <a:rPr lang="en-ZA" sz="2000" dirty="0">
                <a:latin typeface="Arial Narrow" panose="020B0606020202030204" pitchFamily="34" charset="0"/>
                <a:cs typeface="Arial" panose="020B0604020202020204" pitchFamily="34" charset="0"/>
              </a:rPr>
              <a:t>: in general its a device or </a:t>
            </a:r>
            <a:r>
              <a:rPr lang="en-ZA" sz="2000" dirty="0" smtClean="0">
                <a:latin typeface="Arial Narrow" panose="020B0606020202030204" pitchFamily="34" charset="0"/>
                <a:cs typeface="Arial" panose="020B0604020202020204" pitchFamily="34" charset="0"/>
              </a:rPr>
              <a:t>system. An interaction of two or more entities, where information is exchanged.</a:t>
            </a:r>
            <a:endParaRPr lang="en-ZA" sz="2000" b="1" u="sng" dirty="0" smtClean="0">
              <a:latin typeface="Arial Narrow" panose="020B0606020202030204" pitchFamily="34" charset="0"/>
            </a:endParaRPr>
          </a:p>
          <a:p>
            <a:r>
              <a:rPr lang="en-ZA" sz="2000" dirty="0">
                <a:latin typeface="Arial Narrow" panose="020B0606020202030204" pitchFamily="34" charset="0"/>
              </a:rPr>
              <a:t>Based on </a:t>
            </a:r>
            <a:r>
              <a:rPr lang="en-ZA" sz="2000" dirty="0" err="1">
                <a:latin typeface="Arial Narrow" panose="020B0606020202030204" pitchFamily="34" charset="0"/>
              </a:rPr>
              <a:t>Preece</a:t>
            </a:r>
            <a:r>
              <a:rPr lang="en-ZA" sz="2000" dirty="0">
                <a:latin typeface="Arial Narrow" panose="020B0606020202030204" pitchFamily="34" charset="0"/>
              </a:rPr>
              <a:t> et al (2019</a:t>
            </a:r>
            <a:r>
              <a:rPr lang="en-ZA" sz="2000" dirty="0" smtClean="0">
                <a:latin typeface="Arial Narrow" panose="020B0606020202030204" pitchFamily="34" charset="0"/>
              </a:rPr>
              <a:t>),It </a:t>
            </a:r>
            <a:r>
              <a:rPr lang="en-ZA" sz="2000" dirty="0">
                <a:latin typeface="Arial Narrow" panose="020B0606020202030204" pitchFamily="34" charset="0"/>
              </a:rPr>
              <a:t>is important to consider the interface type to be used at the conceptual design phase </a:t>
            </a:r>
          </a:p>
          <a:p>
            <a:pPr lvl="1">
              <a:buFont typeface="Wingdings" panose="05000000000000000000" pitchFamily="2" charset="2"/>
              <a:buChar char="§"/>
            </a:pPr>
            <a:r>
              <a:rPr lang="en-ZA" sz="2000" dirty="0" smtClean="0">
                <a:latin typeface="Arial Narrow" panose="020B0606020202030204" pitchFamily="34" charset="0"/>
              </a:rPr>
              <a:t>It </a:t>
            </a:r>
            <a:r>
              <a:rPr lang="en-ZA" sz="2000" dirty="0">
                <a:latin typeface="Arial Narrow" panose="020B0606020202030204" pitchFamily="34" charset="0"/>
              </a:rPr>
              <a:t>is done for both design and practical purposes. </a:t>
            </a:r>
            <a:endParaRPr lang="en-ZA" sz="2000" dirty="0" smtClean="0">
              <a:latin typeface="Arial Narrow" panose="020B0606020202030204" pitchFamily="34" charset="0"/>
            </a:endParaRPr>
          </a:p>
          <a:p>
            <a:r>
              <a:rPr lang="en-ZA" sz="2000" dirty="0" err="1">
                <a:latin typeface="Arial Narrow" panose="020B0606020202030204" pitchFamily="34" charset="0"/>
              </a:rPr>
              <a:t>Preece</a:t>
            </a:r>
            <a:r>
              <a:rPr lang="en-ZA" sz="2000" dirty="0">
                <a:latin typeface="Arial Narrow" panose="020B0606020202030204" pitchFamily="34" charset="0"/>
              </a:rPr>
              <a:t> et al (2007, 2014, 2019) </a:t>
            </a:r>
            <a:r>
              <a:rPr lang="en-ZA" sz="2000" dirty="0" smtClean="0">
                <a:latin typeface="Arial Narrow" panose="020B0606020202030204" pitchFamily="34" charset="0"/>
              </a:rPr>
              <a:t>list the </a:t>
            </a:r>
            <a:r>
              <a:rPr lang="en-ZA" sz="2000" dirty="0">
                <a:latin typeface="Arial Narrow" panose="020B0606020202030204" pitchFamily="34" charset="0"/>
              </a:rPr>
              <a:t>different types of interfaces. </a:t>
            </a:r>
          </a:p>
          <a:p>
            <a:pPr>
              <a:buFont typeface="Wingdings" panose="05000000000000000000" pitchFamily="2" charset="2"/>
              <a:buChar char="Ø"/>
            </a:pPr>
            <a:r>
              <a:rPr lang="en-ZA" sz="2000" b="1" dirty="0">
                <a:latin typeface="Arial Narrow" panose="020B0606020202030204" pitchFamily="34" charset="0"/>
              </a:rPr>
              <a:t>Command-Based Interfaces </a:t>
            </a:r>
            <a:r>
              <a:rPr lang="en-ZA" sz="2000" b="1" dirty="0" smtClean="0">
                <a:latin typeface="Arial Narrow" panose="020B0606020202030204" pitchFamily="34" charset="0"/>
              </a:rPr>
              <a:t>( Cobol, Python, </a:t>
            </a:r>
            <a:r>
              <a:rPr lang="en-ZA" sz="2000" b="1" dirty="0" err="1" smtClean="0">
                <a:latin typeface="Arial Narrow" panose="020B0606020202030204" pitchFamily="34" charset="0"/>
              </a:rPr>
              <a:t>Ms-dos</a:t>
            </a:r>
            <a:r>
              <a:rPr lang="en-ZA" sz="2000" b="1" dirty="0" smtClean="0">
                <a:latin typeface="Arial Narrow" panose="020B0606020202030204" pitchFamily="34" charset="0"/>
              </a:rPr>
              <a:t>, shell script)</a:t>
            </a:r>
            <a:endParaRPr lang="en-ZA" sz="2000" b="1" dirty="0" smtClean="0">
              <a:latin typeface="Arial Narrow" panose="020B0606020202030204" pitchFamily="34" charset="0"/>
            </a:endParaRPr>
          </a:p>
          <a:p>
            <a:r>
              <a:rPr lang="en-ZA" sz="2000" dirty="0" smtClean="0">
                <a:latin typeface="Arial Narrow" panose="020B0606020202030204" pitchFamily="34" charset="0"/>
              </a:rPr>
              <a:t>These were mostly </a:t>
            </a:r>
            <a:r>
              <a:rPr lang="en-ZA" sz="2000" dirty="0">
                <a:latin typeface="Arial Narrow" panose="020B0606020202030204" pitchFamily="34" charset="0"/>
              </a:rPr>
              <a:t>commonly used in earlier interfaces.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User </a:t>
            </a:r>
            <a:r>
              <a:rPr lang="en-ZA" sz="2000" dirty="0">
                <a:latin typeface="Arial Narrow" panose="020B0606020202030204" pitchFamily="34" charset="0"/>
              </a:rPr>
              <a:t>had to respond to a prompt symbol appearing on the computer display to which the system responded to.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Another characteristic: by pressing </a:t>
            </a:r>
            <a:r>
              <a:rPr lang="en-ZA" sz="2000" dirty="0">
                <a:latin typeface="Arial Narrow" panose="020B0606020202030204" pitchFamily="34" charset="0"/>
              </a:rPr>
              <a:t>a combination of keys </a:t>
            </a:r>
            <a:r>
              <a:rPr lang="en-ZA" sz="2000" dirty="0" smtClean="0">
                <a:latin typeface="Arial Narrow" panose="020B0606020202030204" pitchFamily="34" charset="0"/>
              </a:rPr>
              <a:t>(e.g. </a:t>
            </a:r>
            <a:r>
              <a:rPr lang="en-ZA" sz="2000" b="1" dirty="0" smtClean="0">
                <a:latin typeface="Arial Narrow" panose="020B0606020202030204" pitchFamily="34" charset="0"/>
              </a:rPr>
              <a:t>Alt + Control + Delete</a:t>
            </a:r>
            <a:r>
              <a:rPr lang="en-ZA" sz="2000" dirty="0">
                <a:latin typeface="Arial Narrow" panose="020B0606020202030204" pitchFamily="34" charset="0"/>
              </a:rPr>
              <a:t>).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Some </a:t>
            </a:r>
            <a:r>
              <a:rPr lang="en-ZA" sz="2000" dirty="0">
                <a:latin typeface="Arial Narrow" panose="020B0606020202030204" pitchFamily="34" charset="0"/>
              </a:rPr>
              <a:t>commands </a:t>
            </a:r>
            <a:r>
              <a:rPr lang="en-ZA" sz="2000" dirty="0" smtClean="0">
                <a:latin typeface="Arial Narrow" panose="020B0606020202030204" pitchFamily="34" charset="0"/>
              </a:rPr>
              <a:t>included part </a:t>
            </a:r>
            <a:r>
              <a:rPr lang="en-ZA" sz="2000" dirty="0">
                <a:latin typeface="Arial Narrow" panose="020B0606020202030204" pitchFamily="34" charset="0"/>
              </a:rPr>
              <a:t>of the keyboard such as Enter, Delete and Undo, together with function keys (</a:t>
            </a:r>
            <a:r>
              <a:rPr lang="en-ZA" sz="2000" b="1" dirty="0">
                <a:latin typeface="Arial Narrow" panose="020B0606020202030204" pitchFamily="34" charset="0"/>
              </a:rPr>
              <a:t>F5 to display a Power Point presentation</a:t>
            </a:r>
            <a:r>
              <a:rPr lang="en-ZA" sz="2000" dirty="0">
                <a:latin typeface="Arial Narrow" panose="020B0606020202030204" pitchFamily="34" charset="0"/>
              </a:rPr>
              <a:t>).</a:t>
            </a:r>
            <a:endParaRPr lang="en-ZA" sz="2000" dirty="0" smtClean="0">
              <a:latin typeface="Arial Narrow" panose="020B0606020202030204" pitchFamily="34" charset="0"/>
            </a:endParaRPr>
          </a:p>
          <a:p>
            <a:pPr marL="0" indent="0">
              <a:buNone/>
            </a:pPr>
            <a:r>
              <a:rPr lang="en-ZA" sz="2000" dirty="0" smtClean="0">
                <a:latin typeface="Arial Narrow" panose="020B0606020202030204" pitchFamily="34" charset="0"/>
              </a:rPr>
              <a:t>• This interface been superseded </a:t>
            </a:r>
            <a:r>
              <a:rPr lang="en-ZA" sz="2000" dirty="0">
                <a:latin typeface="Arial Narrow" panose="020B0606020202030204" pitchFamily="34" charset="0"/>
              </a:rPr>
              <a:t>by graphic interfaces with commands such as menus, icons, keyboard shortcuts or pop-ups</a:t>
            </a:r>
            <a:r>
              <a:rPr lang="en-ZA" sz="2000" dirty="0" smtClean="0">
                <a:latin typeface="Arial Narrow" panose="020B0606020202030204" pitchFamily="34" charset="0"/>
              </a:rPr>
              <a:t>.</a:t>
            </a:r>
          </a:p>
          <a:p>
            <a:pPr marL="0" indent="0">
              <a:buNone/>
            </a:pPr>
            <a:r>
              <a:rPr lang="en-ZA" sz="2000" b="1" u="sng" dirty="0" smtClean="0">
                <a:latin typeface="Arial Narrow" panose="020B0606020202030204" pitchFamily="34" charset="0"/>
              </a:rPr>
              <a:t>Advantages of Command-Based Interfaces</a:t>
            </a:r>
          </a:p>
          <a:p>
            <a:r>
              <a:rPr lang="en-ZA" sz="2000" dirty="0" smtClean="0">
                <a:latin typeface="Arial Narrow" panose="020B0606020202030204" pitchFamily="34" charset="0"/>
              </a:rPr>
              <a:t>Users find them easier and faster to use than equivalent menu-based systems when performing certain operations as part of a complex software package.</a:t>
            </a:r>
          </a:p>
          <a:p>
            <a:r>
              <a:rPr lang="en-ZA" sz="2000" dirty="0" smtClean="0">
                <a:latin typeface="Arial Narrow" panose="020B0606020202030204" pitchFamily="34" charset="0"/>
              </a:rPr>
              <a:t> Been developed for impaired people to enable them to interact in virtual worlds. </a:t>
            </a:r>
          </a:p>
          <a:p>
            <a:endParaRPr lang="en-ZA" sz="2600" dirty="0">
              <a:latin typeface="Arial Narrow" panose="020B0606020202030204" pitchFamily="34" charset="0"/>
            </a:endParaRPr>
          </a:p>
          <a:p>
            <a:endParaRPr lang="en-ZA" dirty="0"/>
          </a:p>
          <a:p>
            <a:pPr marL="0" indent="0" algn="just">
              <a:buNone/>
            </a:pPr>
            <a:endParaRPr lang="en-US" sz="2900" dirty="0">
              <a:latin typeface="Arial Narrow" panose="020B0606020202030204" pitchFamily="34" charset="0"/>
            </a:endParaRPr>
          </a:p>
        </p:txBody>
      </p:sp>
      <p:sp>
        <p:nvSpPr>
          <p:cNvPr id="9" name="Content Placeholder 8"/>
          <p:cNvSpPr>
            <a:spLocks noGrp="1"/>
          </p:cNvSpPr>
          <p:nvPr>
            <p:ph sz="quarter" idx="4"/>
          </p:nvPr>
        </p:nvSpPr>
        <p:spPr>
          <a:xfrm>
            <a:off x="6172199" y="330926"/>
            <a:ext cx="5732417" cy="6025424"/>
          </a:xfrm>
        </p:spPr>
        <p:txBody>
          <a:bodyPr>
            <a:normAutofit fontScale="62500" lnSpcReduction="20000"/>
          </a:bodyPr>
          <a:lstStyle/>
          <a:p>
            <a:pPr algn="just">
              <a:buFont typeface="Wingdings" panose="05000000000000000000" pitchFamily="2" charset="2"/>
              <a:buChar char="Ø"/>
            </a:pPr>
            <a:r>
              <a:rPr lang="en-ZA" b="1" dirty="0">
                <a:latin typeface="Arial Narrow" panose="020B0606020202030204" pitchFamily="34" charset="0"/>
              </a:rPr>
              <a:t>Advanced Graphical </a:t>
            </a:r>
            <a:r>
              <a:rPr lang="en-ZA" b="1" dirty="0" smtClean="0">
                <a:latin typeface="Arial Narrow" panose="020B0606020202030204" pitchFamily="34" charset="0"/>
              </a:rPr>
              <a:t>Interfaces</a:t>
            </a:r>
          </a:p>
          <a:p>
            <a:pPr algn="just"/>
            <a:r>
              <a:rPr lang="en-ZA" sz="2600" dirty="0">
                <a:latin typeface="Arial Narrow" panose="020B0606020202030204" pitchFamily="34" charset="0"/>
              </a:rPr>
              <a:t>Graphical user interface (GUI) refers to any interactive system that uses pictures or images to communicate information </a:t>
            </a:r>
            <a:endParaRPr lang="en-ZA" sz="2600" dirty="0" smtClean="0">
              <a:latin typeface="Arial Narrow" panose="020B0606020202030204" pitchFamily="34" charset="0"/>
            </a:endParaRPr>
          </a:p>
          <a:p>
            <a:pPr lvl="1" algn="just">
              <a:buFont typeface="Wingdings" panose="05000000000000000000" pitchFamily="2" charset="2"/>
              <a:buChar char="§"/>
            </a:pPr>
            <a:r>
              <a:rPr lang="en-ZA" sz="2600" dirty="0" smtClean="0">
                <a:latin typeface="Arial Narrow" panose="020B0606020202030204" pitchFamily="34" charset="0"/>
              </a:rPr>
              <a:t>Includes </a:t>
            </a:r>
            <a:r>
              <a:rPr lang="en-ZA" sz="2600" dirty="0">
                <a:latin typeface="Arial Narrow" panose="020B0606020202030204" pitchFamily="34" charset="0"/>
              </a:rPr>
              <a:t>keyboard-based systems that only use graphics to present data. </a:t>
            </a:r>
            <a:endParaRPr lang="en-ZA" sz="2600" dirty="0" smtClean="0">
              <a:latin typeface="Arial Narrow" panose="020B0606020202030204" pitchFamily="34" charset="0"/>
            </a:endParaRPr>
          </a:p>
          <a:p>
            <a:pPr lvl="1" algn="just">
              <a:buFont typeface="Wingdings" panose="05000000000000000000" pitchFamily="2" charset="2"/>
              <a:buChar char="§"/>
            </a:pPr>
            <a:r>
              <a:rPr lang="en-ZA" sz="2600" dirty="0" smtClean="0">
                <a:latin typeface="Arial Narrow" panose="020B0606020202030204" pitchFamily="34" charset="0"/>
              </a:rPr>
              <a:t>Comprises </a:t>
            </a:r>
            <a:r>
              <a:rPr lang="en-ZA" sz="2600" dirty="0">
                <a:latin typeface="Arial Narrow" panose="020B0606020202030204" pitchFamily="34" charset="0"/>
              </a:rPr>
              <a:t>walk-up and use systems where users interact by selecting portions of a graphical image. </a:t>
            </a:r>
            <a:endParaRPr lang="en-ZA" sz="2600" dirty="0" smtClean="0">
              <a:latin typeface="Arial Narrow" panose="020B0606020202030204" pitchFamily="34" charset="0"/>
            </a:endParaRPr>
          </a:p>
          <a:p>
            <a:pPr marL="0" indent="0" algn="just">
              <a:buNone/>
            </a:pPr>
            <a:r>
              <a:rPr lang="en-ZA" sz="2900" b="1" u="sng" dirty="0">
                <a:latin typeface="Arial Narrow" panose="020B0606020202030204" pitchFamily="34" charset="0"/>
              </a:rPr>
              <a:t>Advantages </a:t>
            </a:r>
            <a:r>
              <a:rPr lang="en-ZA" sz="2900" b="1" u="sng" dirty="0" smtClean="0">
                <a:latin typeface="Arial Narrow" panose="020B0606020202030204" pitchFamily="34" charset="0"/>
              </a:rPr>
              <a:t>of Advanced Graphical User Interfaces</a:t>
            </a:r>
          </a:p>
          <a:p>
            <a:pPr algn="just"/>
            <a:r>
              <a:rPr lang="en-ZA" sz="2900" dirty="0" smtClean="0">
                <a:latin typeface="Arial Narrow" panose="020B0606020202030204" pitchFamily="34" charset="0"/>
              </a:rPr>
              <a:t>Visibility</a:t>
            </a:r>
            <a:r>
              <a:rPr lang="en-ZA" sz="2900" dirty="0">
                <a:latin typeface="Arial Narrow" panose="020B0606020202030204" pitchFamily="34" charset="0"/>
              </a:rPr>
              <a:t>: </a:t>
            </a:r>
            <a:endParaRPr lang="en-ZA" sz="2900" dirty="0" smtClean="0">
              <a:latin typeface="Arial Narrow" panose="020B0606020202030204" pitchFamily="34" charset="0"/>
            </a:endParaRPr>
          </a:p>
          <a:p>
            <a:pPr lvl="1" algn="just"/>
            <a:r>
              <a:rPr lang="en-ZA" sz="2900" dirty="0" smtClean="0">
                <a:latin typeface="Arial Narrow" panose="020B0606020202030204" pitchFamily="34" charset="0"/>
              </a:rPr>
              <a:t>Graphical </a:t>
            </a:r>
            <a:r>
              <a:rPr lang="en-ZA" sz="2900" dirty="0">
                <a:latin typeface="Arial Narrow" panose="020B0606020202030204" pitchFamily="34" charset="0"/>
              </a:rPr>
              <a:t>displays can be used to represent complex relationships in data sets that otherwise would not have been apparent </a:t>
            </a:r>
            <a:r>
              <a:rPr lang="en-ZA" sz="2900" dirty="0" smtClean="0">
                <a:latin typeface="Arial Narrow" panose="020B0606020202030204" pitchFamily="34" charset="0"/>
              </a:rPr>
              <a:t>– illustrated through bar </a:t>
            </a:r>
            <a:r>
              <a:rPr lang="en-ZA" sz="2900" dirty="0">
                <a:latin typeface="Arial Narrow" panose="020B0606020202030204" pitchFamily="34" charset="0"/>
              </a:rPr>
              <a:t>charts and graphs </a:t>
            </a:r>
            <a:endParaRPr lang="en-ZA" sz="2900" dirty="0" smtClean="0">
              <a:latin typeface="Arial Narrow" panose="020B0606020202030204" pitchFamily="34" charset="0"/>
            </a:endParaRPr>
          </a:p>
          <a:p>
            <a:pPr algn="just"/>
            <a:r>
              <a:rPr lang="en-ZA" sz="2900" dirty="0" smtClean="0">
                <a:latin typeface="Arial Narrow" panose="020B0606020202030204" pitchFamily="34" charset="0"/>
              </a:rPr>
              <a:t>Cross-cultural </a:t>
            </a:r>
            <a:r>
              <a:rPr lang="en-ZA" sz="2900" dirty="0">
                <a:latin typeface="Arial Narrow" panose="020B0606020202030204" pitchFamily="34" charset="0"/>
              </a:rPr>
              <a:t>communication: </a:t>
            </a:r>
            <a:endParaRPr lang="en-ZA" sz="2900" dirty="0" smtClean="0">
              <a:latin typeface="Arial Narrow" panose="020B0606020202030204" pitchFamily="34" charset="0"/>
            </a:endParaRPr>
          </a:p>
          <a:p>
            <a:pPr lvl="1" algn="just"/>
            <a:r>
              <a:rPr lang="en-ZA" sz="2900" dirty="0" smtClean="0">
                <a:latin typeface="Arial Narrow" panose="020B0606020202030204" pitchFamily="34" charset="0"/>
              </a:rPr>
              <a:t>Text-based </a:t>
            </a:r>
            <a:r>
              <a:rPr lang="en-ZA" sz="2900" dirty="0">
                <a:latin typeface="Arial Narrow" panose="020B0606020202030204" pitchFamily="34" charset="0"/>
              </a:rPr>
              <a:t>interfaces have severe limitations in the world market. </a:t>
            </a:r>
            <a:endParaRPr lang="en-ZA" sz="2900" dirty="0" smtClean="0">
              <a:latin typeface="Arial Narrow" panose="020B0606020202030204" pitchFamily="34" charset="0"/>
            </a:endParaRPr>
          </a:p>
          <a:p>
            <a:pPr lvl="1" algn="just"/>
            <a:r>
              <a:rPr lang="en-ZA" sz="2900" dirty="0" smtClean="0">
                <a:latin typeface="Arial Narrow" panose="020B0606020202030204" pitchFamily="34" charset="0"/>
              </a:rPr>
              <a:t>Graphical </a:t>
            </a:r>
            <a:r>
              <a:rPr lang="en-ZA" sz="2900" dirty="0">
                <a:latin typeface="Arial Narrow" panose="020B0606020202030204" pitchFamily="34" charset="0"/>
              </a:rPr>
              <a:t>interaction techniques are less limited. </a:t>
            </a:r>
            <a:endParaRPr lang="en-ZA" sz="2900" dirty="0" smtClean="0">
              <a:latin typeface="Arial Narrow" panose="020B0606020202030204" pitchFamily="34" charset="0"/>
            </a:endParaRPr>
          </a:p>
          <a:p>
            <a:pPr lvl="1" algn="just"/>
            <a:r>
              <a:rPr lang="en-ZA" sz="2900" dirty="0" smtClean="0">
                <a:latin typeface="Arial Narrow" panose="020B0606020202030204" pitchFamily="34" charset="0"/>
              </a:rPr>
              <a:t>ISO </a:t>
            </a:r>
            <a:r>
              <a:rPr lang="en-ZA" sz="2900" dirty="0">
                <a:latin typeface="Arial Narrow" panose="020B0606020202030204" pitchFamily="34" charset="0"/>
              </a:rPr>
              <a:t>standards for icons provide an international graphics language </a:t>
            </a:r>
            <a:endParaRPr lang="en-ZA" sz="2900" dirty="0" smtClean="0">
              <a:latin typeface="Arial Narrow" panose="020B0606020202030204" pitchFamily="34" charset="0"/>
            </a:endParaRPr>
          </a:p>
          <a:p>
            <a:pPr algn="just"/>
            <a:r>
              <a:rPr lang="en-ZA" sz="2900" dirty="0" smtClean="0">
                <a:latin typeface="Arial Narrow" panose="020B0606020202030204" pitchFamily="34" charset="0"/>
              </a:rPr>
              <a:t>Impact </a:t>
            </a:r>
            <a:r>
              <a:rPr lang="en-ZA" sz="2900" dirty="0">
                <a:latin typeface="Arial Narrow" panose="020B0606020202030204" pitchFamily="34" charset="0"/>
              </a:rPr>
              <a:t>and animation: </a:t>
            </a:r>
            <a:endParaRPr lang="en-ZA" sz="2900" dirty="0" smtClean="0">
              <a:latin typeface="Arial Narrow" panose="020B0606020202030204" pitchFamily="34" charset="0"/>
            </a:endParaRPr>
          </a:p>
          <a:p>
            <a:pPr lvl="1" algn="just">
              <a:buFont typeface="Wingdings" panose="05000000000000000000" pitchFamily="2" charset="2"/>
              <a:buChar char="§"/>
            </a:pPr>
            <a:r>
              <a:rPr lang="en-ZA" sz="2900" dirty="0" smtClean="0">
                <a:latin typeface="Arial Narrow" panose="020B0606020202030204" pitchFamily="34" charset="0"/>
              </a:rPr>
              <a:t>Graphical </a:t>
            </a:r>
            <a:r>
              <a:rPr lang="en-ZA" sz="2900" dirty="0">
                <a:latin typeface="Arial Narrow" panose="020B0606020202030204" pitchFamily="34" charset="0"/>
              </a:rPr>
              <a:t>images have a greater intuitive appeal than text-based interfaces, especially if they are animated. </a:t>
            </a:r>
            <a:endParaRPr lang="en-ZA" sz="2900" dirty="0" smtClean="0">
              <a:latin typeface="Arial Narrow" panose="020B0606020202030204" pitchFamily="34" charset="0"/>
            </a:endParaRPr>
          </a:p>
          <a:p>
            <a:pPr lvl="1" algn="just">
              <a:buFont typeface="Wingdings" panose="05000000000000000000" pitchFamily="2" charset="2"/>
              <a:buChar char="§"/>
            </a:pPr>
            <a:r>
              <a:rPr lang="en-ZA" sz="2900" dirty="0" smtClean="0">
                <a:latin typeface="Arial Narrow" panose="020B0606020202030204" pitchFamily="34" charset="0"/>
              </a:rPr>
              <a:t>The </a:t>
            </a:r>
            <a:r>
              <a:rPr lang="en-ZA" sz="2900" dirty="0">
                <a:latin typeface="Arial Narrow" panose="020B0606020202030204" pitchFamily="34" charset="0"/>
              </a:rPr>
              <a:t>use of such techniques may be beneficial in terms of the quality and quantity of information conveyed. </a:t>
            </a:r>
            <a:endParaRPr lang="en-ZA" sz="2900" dirty="0" smtClean="0">
              <a:latin typeface="Arial Narrow" panose="020B0606020202030204" pitchFamily="34" charset="0"/>
            </a:endParaRPr>
          </a:p>
          <a:p>
            <a:pPr lvl="1" algn="just">
              <a:buFont typeface="Wingdings" panose="05000000000000000000" pitchFamily="2" charset="2"/>
              <a:buChar char="§"/>
            </a:pPr>
            <a:r>
              <a:rPr lang="en-ZA" sz="2900" dirty="0" smtClean="0">
                <a:latin typeface="Arial Narrow" panose="020B0606020202030204" pitchFamily="34" charset="0"/>
              </a:rPr>
              <a:t>It </a:t>
            </a:r>
            <a:r>
              <a:rPr lang="en-ZA" sz="2900" dirty="0">
                <a:latin typeface="Arial Narrow" panose="020B0606020202030204" pitchFamily="34" charset="0"/>
              </a:rPr>
              <a:t>may also be beneficial in improving user reactions to the system itself</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55847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0657" y="165464"/>
            <a:ext cx="5891541" cy="6011500"/>
          </a:xfrm>
        </p:spPr>
        <p:txBody>
          <a:bodyPr>
            <a:noAutofit/>
          </a:bodyPr>
          <a:lstStyle/>
          <a:p>
            <a:pPr marL="0" indent="0">
              <a:buNone/>
            </a:pPr>
            <a:r>
              <a:rPr lang="en-ZA" sz="1600" b="1" u="sng" dirty="0">
                <a:latin typeface="Arial Narrow" panose="020B0606020202030204" pitchFamily="34" charset="0"/>
              </a:rPr>
              <a:t>Disadvantages of Advanced Graphical </a:t>
            </a:r>
            <a:r>
              <a:rPr lang="en-ZA" sz="1600" b="1" u="sng" dirty="0" smtClean="0">
                <a:latin typeface="Arial Narrow" panose="020B0606020202030204" pitchFamily="34" charset="0"/>
              </a:rPr>
              <a:t>User Interfaces (GUI)</a:t>
            </a:r>
          </a:p>
          <a:p>
            <a:r>
              <a:rPr lang="en-ZA" sz="1600" dirty="0" smtClean="0">
                <a:latin typeface="Arial Narrow" panose="020B0606020202030204" pitchFamily="34" charset="0"/>
              </a:rPr>
              <a:t>Clutter </a:t>
            </a:r>
          </a:p>
          <a:p>
            <a:pPr lvl="1" algn="just">
              <a:buFont typeface="Wingdings" panose="05000000000000000000" pitchFamily="2" charset="2"/>
              <a:buChar char="§"/>
            </a:pPr>
            <a:r>
              <a:rPr lang="en-ZA" sz="1600" dirty="0" smtClean="0">
                <a:latin typeface="Arial Narrow" panose="020B0606020202030204" pitchFamily="34" charset="0"/>
              </a:rPr>
              <a:t>Tendency </a:t>
            </a:r>
            <a:r>
              <a:rPr lang="en-ZA" sz="1600" dirty="0">
                <a:latin typeface="Arial Narrow" panose="020B0606020202030204" pitchFamily="34" charset="0"/>
              </a:rPr>
              <a:t>to clutter graphical displays with a vast array of symbols and colours. ▪ </a:t>
            </a:r>
            <a:r>
              <a:rPr lang="en-ZA" sz="1600" dirty="0" smtClean="0">
                <a:latin typeface="Arial Narrow" panose="020B0606020202030204" pitchFamily="34" charset="0"/>
              </a:rPr>
              <a:t>Which creates </a:t>
            </a:r>
            <a:r>
              <a:rPr lang="en-ZA" sz="1600" dirty="0">
                <a:latin typeface="Arial Narrow" panose="020B0606020202030204" pitchFamily="34" charset="0"/>
              </a:rPr>
              <a:t>perceptual problems ▪ </a:t>
            </a:r>
            <a:r>
              <a:rPr lang="en-ZA" sz="1600" dirty="0" smtClean="0">
                <a:latin typeface="Arial Narrow" panose="020B0606020202030204" pitchFamily="34" charset="0"/>
              </a:rPr>
              <a:t>Making </a:t>
            </a:r>
            <a:r>
              <a:rPr lang="en-ZA" sz="1600" dirty="0">
                <a:latin typeface="Arial Narrow" panose="020B0606020202030204" pitchFamily="34" charset="0"/>
              </a:rPr>
              <a:t>it difficult for users to extract the necessary information. </a:t>
            </a:r>
            <a:endParaRPr lang="en-ZA" sz="1600" dirty="0" smtClean="0">
              <a:latin typeface="Arial Narrow" panose="020B0606020202030204" pitchFamily="34" charset="0"/>
            </a:endParaRPr>
          </a:p>
          <a:p>
            <a:pPr algn="just"/>
            <a:r>
              <a:rPr lang="en-ZA" sz="1600" dirty="0" smtClean="0">
                <a:latin typeface="Arial Narrow" panose="020B0606020202030204" pitchFamily="34" charset="0"/>
              </a:rPr>
              <a:t>Ambiguity </a:t>
            </a:r>
          </a:p>
          <a:p>
            <a:pPr lvl="1" algn="just">
              <a:buFont typeface="Wingdings" panose="05000000000000000000" pitchFamily="2" charset="2"/>
              <a:buChar char="§"/>
            </a:pPr>
            <a:r>
              <a:rPr lang="en-ZA" sz="1600" dirty="0" smtClean="0">
                <a:latin typeface="Arial Narrow" panose="020B0606020202030204" pitchFamily="34" charset="0"/>
              </a:rPr>
              <a:t>Graphical </a:t>
            </a:r>
            <a:r>
              <a:rPr lang="en-ZA" sz="1600" dirty="0">
                <a:latin typeface="Arial Narrow" panose="020B0606020202030204" pitchFamily="34" charset="0"/>
              </a:rPr>
              <a:t>user interfaces depend on the fact that users are able to associate some semantic information with the image. </a:t>
            </a:r>
            <a:endParaRPr lang="en-ZA" sz="1600" dirty="0" smtClean="0">
              <a:latin typeface="Arial Narrow" panose="020B0606020202030204" pitchFamily="34" charset="0"/>
            </a:endParaRPr>
          </a:p>
          <a:p>
            <a:pPr algn="just"/>
            <a:r>
              <a:rPr lang="en-ZA" sz="1600" dirty="0" smtClean="0">
                <a:latin typeface="Arial Narrow" panose="020B0606020202030204" pitchFamily="34" charset="0"/>
              </a:rPr>
              <a:t>Imprecision </a:t>
            </a:r>
          </a:p>
          <a:p>
            <a:pPr lvl="1" algn="just">
              <a:buFont typeface="Wingdings" panose="05000000000000000000" pitchFamily="2" charset="2"/>
              <a:buChar char="§"/>
            </a:pPr>
            <a:r>
              <a:rPr lang="en-ZA" sz="1600" dirty="0" smtClean="0">
                <a:latin typeface="Arial Narrow" panose="020B0606020202030204" pitchFamily="34" charset="0"/>
              </a:rPr>
              <a:t>Where </a:t>
            </a:r>
            <a:r>
              <a:rPr lang="en-ZA" sz="1600" dirty="0">
                <a:latin typeface="Arial Narrow" panose="020B0606020202030204" pitchFamily="34" charset="0"/>
              </a:rPr>
              <a:t>GUI cannot convey enough information without textual annotation. </a:t>
            </a:r>
            <a:endParaRPr lang="en-ZA" sz="1600" dirty="0" smtClean="0">
              <a:latin typeface="Arial Narrow" panose="020B0606020202030204" pitchFamily="34" charset="0"/>
            </a:endParaRPr>
          </a:p>
          <a:p>
            <a:pPr algn="just"/>
            <a:r>
              <a:rPr lang="en-ZA" sz="1600" dirty="0" smtClean="0">
                <a:latin typeface="Arial Narrow" panose="020B0606020202030204" pitchFamily="34" charset="0"/>
              </a:rPr>
              <a:t>Slow </a:t>
            </a:r>
            <a:r>
              <a:rPr lang="en-ZA" sz="1600" dirty="0">
                <a:latin typeface="Arial Narrow" panose="020B0606020202030204" pitchFamily="34" charset="0"/>
              </a:rPr>
              <a:t>speed </a:t>
            </a:r>
            <a:endParaRPr lang="en-ZA" sz="1600" dirty="0" smtClean="0">
              <a:latin typeface="Arial Narrow" panose="020B0606020202030204" pitchFamily="34" charset="0"/>
            </a:endParaRPr>
          </a:p>
          <a:p>
            <a:pPr lvl="1" algn="just">
              <a:buFont typeface="Wingdings" panose="05000000000000000000" pitchFamily="2" charset="2"/>
              <a:buChar char="§"/>
            </a:pPr>
            <a:r>
              <a:rPr lang="en-ZA" sz="1600" dirty="0" smtClean="0">
                <a:latin typeface="Arial Narrow" panose="020B0606020202030204" pitchFamily="34" charset="0"/>
              </a:rPr>
              <a:t>Graphical </a:t>
            </a:r>
            <a:r>
              <a:rPr lang="en-ZA" sz="1600" dirty="0">
                <a:latin typeface="Arial Narrow" panose="020B0606020202030204" pitchFamily="34" charset="0"/>
              </a:rPr>
              <a:t>presentation techniques are unsuitable if there are :</a:t>
            </a:r>
            <a:r>
              <a:rPr lang="en-ZA" sz="1600" dirty="0" smtClean="0">
                <a:latin typeface="Arial Narrow" panose="020B0606020202030204" pitchFamily="34" charset="0"/>
              </a:rPr>
              <a:t> </a:t>
            </a:r>
            <a:r>
              <a:rPr lang="en-ZA" sz="1600" dirty="0">
                <a:latin typeface="Arial Narrow" panose="020B0606020202030204" pitchFamily="34" charset="0"/>
              </a:rPr>
              <a:t>Relatively low-bandwidth communication facilities, or </a:t>
            </a:r>
            <a:r>
              <a:rPr lang="en-ZA" sz="1600" dirty="0" smtClean="0">
                <a:latin typeface="Arial Narrow" panose="020B0606020202030204" pitchFamily="34" charset="0"/>
              </a:rPr>
              <a:t>Low-quality </a:t>
            </a:r>
            <a:r>
              <a:rPr lang="en-ZA" sz="1600" dirty="0">
                <a:latin typeface="Arial Narrow" panose="020B0606020202030204" pitchFamily="34" charset="0"/>
              </a:rPr>
              <a:t>presentation devices</a:t>
            </a:r>
            <a:r>
              <a:rPr lang="en-ZA" sz="1600" dirty="0" smtClean="0">
                <a:latin typeface="Arial Narrow" panose="020B0606020202030204" pitchFamily="34" charset="0"/>
              </a:rPr>
              <a:t>.</a:t>
            </a:r>
          </a:p>
          <a:p>
            <a:pPr lvl="1" algn="just">
              <a:buFont typeface="Wingdings" panose="05000000000000000000" pitchFamily="2" charset="2"/>
              <a:buChar char="§"/>
            </a:pPr>
            <a:r>
              <a:rPr lang="en-ZA" sz="1600" dirty="0" smtClean="0">
                <a:latin typeface="Arial Narrow" panose="020B0606020202030204" pitchFamily="34" charset="0"/>
              </a:rPr>
              <a:t> The </a:t>
            </a:r>
            <a:r>
              <a:rPr lang="en-ZA" sz="1600" dirty="0">
                <a:latin typeface="Arial Narrow" panose="020B0606020202030204" pitchFamily="34" charset="0"/>
              </a:rPr>
              <a:t>performance problems need not relate directly to graphical processing. </a:t>
            </a:r>
          </a:p>
          <a:p>
            <a:pPr lvl="2" algn="just"/>
            <a:r>
              <a:rPr lang="en-ZA" sz="1600" dirty="0" smtClean="0">
                <a:latin typeface="Arial Narrow" panose="020B0606020202030204" pitchFamily="34" charset="0"/>
              </a:rPr>
              <a:t>Network </a:t>
            </a:r>
            <a:r>
              <a:rPr lang="en-ZA" sz="1600" dirty="0">
                <a:latin typeface="Arial Narrow" panose="020B0606020202030204" pitchFamily="34" charset="0"/>
              </a:rPr>
              <a:t>delays may delay the presentation of </a:t>
            </a:r>
            <a:r>
              <a:rPr lang="en-ZA" sz="1600" dirty="0" smtClean="0">
                <a:latin typeface="Arial Narrow" panose="020B0606020202030204" pitchFamily="34" charset="0"/>
              </a:rPr>
              <a:t>results: Violates </a:t>
            </a:r>
            <a:r>
              <a:rPr lang="en-ZA" sz="1600" dirty="0">
                <a:latin typeface="Arial Narrow" panose="020B0606020202030204" pitchFamily="34" charset="0"/>
              </a:rPr>
              <a:t>the rapid criteria for direct manipulation. </a:t>
            </a:r>
            <a:endParaRPr lang="en-ZA" sz="1600" dirty="0" smtClean="0">
              <a:latin typeface="Arial Narrow" panose="020B0606020202030204" pitchFamily="34" charset="0"/>
            </a:endParaRPr>
          </a:p>
          <a:p>
            <a:pPr algn="just"/>
            <a:r>
              <a:rPr lang="en-ZA" sz="1600" dirty="0" smtClean="0">
                <a:latin typeface="Arial Narrow" panose="020B0606020202030204" pitchFamily="34" charset="0"/>
              </a:rPr>
              <a:t>Difficulty </a:t>
            </a:r>
            <a:r>
              <a:rPr lang="en-ZA" sz="1600" dirty="0">
                <a:latin typeface="Arial Narrow" panose="020B0606020202030204" pitchFamily="34" charset="0"/>
              </a:rPr>
              <a:t>finding specific </a:t>
            </a:r>
            <a:r>
              <a:rPr lang="en-ZA" sz="1600" dirty="0" smtClean="0">
                <a:latin typeface="Arial Narrow" panose="020B0606020202030204" pitchFamily="34" charset="0"/>
              </a:rPr>
              <a:t>windows </a:t>
            </a:r>
          </a:p>
          <a:p>
            <a:pPr lvl="1" algn="just">
              <a:buFont typeface="Wingdings" panose="05000000000000000000" pitchFamily="2" charset="2"/>
              <a:buChar char="§"/>
            </a:pPr>
            <a:r>
              <a:rPr lang="en-ZA" sz="1600" dirty="0" smtClean="0">
                <a:latin typeface="Arial Narrow" panose="020B0606020202030204" pitchFamily="34" charset="0"/>
              </a:rPr>
              <a:t>Too </a:t>
            </a:r>
            <a:r>
              <a:rPr lang="en-ZA" sz="1600" dirty="0">
                <a:latin typeface="Arial Narrow" panose="020B0606020202030204" pitchFamily="34" charset="0"/>
              </a:rPr>
              <a:t>many windows are open - can be difficult for users to find a specific window. </a:t>
            </a:r>
          </a:p>
        </p:txBody>
      </p:sp>
      <p:sp>
        <p:nvSpPr>
          <p:cNvPr id="4" name="Content Placeholder 3"/>
          <p:cNvSpPr>
            <a:spLocks noGrp="1"/>
          </p:cNvSpPr>
          <p:nvPr>
            <p:ph sz="half" idx="2"/>
          </p:nvPr>
        </p:nvSpPr>
        <p:spPr>
          <a:xfrm>
            <a:off x="6172199" y="271604"/>
            <a:ext cx="5769321" cy="5905359"/>
          </a:xfrm>
        </p:spPr>
        <p:txBody>
          <a:bodyPr>
            <a:normAutofit fontScale="92500" lnSpcReduction="10000"/>
          </a:bodyPr>
          <a:lstStyle/>
          <a:p>
            <a:pPr marL="0" indent="0" algn="just">
              <a:buNone/>
            </a:pPr>
            <a:r>
              <a:rPr lang="en-ZA" sz="2200" b="1" u="sng" dirty="0">
                <a:latin typeface="Arial Narrow" panose="020B0606020202030204" pitchFamily="34" charset="0"/>
              </a:rPr>
              <a:t>Advanced graphical interfaces </a:t>
            </a:r>
            <a:endParaRPr lang="en-ZA" sz="2200" b="1" u="sng" dirty="0" smtClean="0">
              <a:latin typeface="Arial Narrow" panose="020B0606020202030204" pitchFamily="34" charset="0"/>
            </a:endParaRPr>
          </a:p>
          <a:p>
            <a:pPr marL="0" indent="0" algn="just">
              <a:buNone/>
            </a:pPr>
            <a:r>
              <a:rPr lang="en-ZA" sz="1900" dirty="0" smtClean="0">
                <a:latin typeface="Arial Narrow" panose="020B0606020202030204" pitchFamily="34" charset="0"/>
              </a:rPr>
              <a:t>Involve </a:t>
            </a:r>
            <a:r>
              <a:rPr lang="en-ZA" sz="1900" dirty="0">
                <a:latin typeface="Arial Narrow" panose="020B0606020202030204" pitchFamily="34" charset="0"/>
              </a:rPr>
              <a:t>interactive animations, multimedia, virtual environments, and visualisations. </a:t>
            </a:r>
            <a:endParaRPr lang="en-ZA" sz="1900" dirty="0" smtClean="0">
              <a:latin typeface="Arial Narrow" panose="020B0606020202030204" pitchFamily="34" charset="0"/>
            </a:endParaRPr>
          </a:p>
          <a:p>
            <a:pPr algn="just"/>
            <a:r>
              <a:rPr lang="en-ZA" sz="1900" dirty="0" smtClean="0">
                <a:latin typeface="Arial Narrow" panose="020B0606020202030204" pitchFamily="34" charset="0"/>
              </a:rPr>
              <a:t>Multimedia </a:t>
            </a: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Includes graphics, text, video, sound and animations that the user can interact with. </a:t>
            </a:r>
            <a:endParaRPr lang="en-ZA" sz="1900" dirty="0" smtClean="0">
              <a:latin typeface="Arial Narrow" panose="020B0606020202030204" pitchFamily="34" charset="0"/>
            </a:endParaRP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It supports quick access to multiple representations of information and is well suited for training, education and entertainment. </a:t>
            </a:r>
            <a:endParaRPr lang="en-ZA" sz="1900" dirty="0" smtClean="0">
              <a:latin typeface="Arial Narrow" panose="020B0606020202030204" pitchFamily="34" charset="0"/>
            </a:endParaRP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Problem: users tend to favour animations and video clips and ignore accompanying text and static diagrams. </a:t>
            </a:r>
            <a:endParaRPr lang="en-ZA" sz="1900" dirty="0" smtClean="0">
              <a:latin typeface="Arial Narrow" panose="020B0606020202030204" pitchFamily="34" charset="0"/>
            </a:endParaRPr>
          </a:p>
          <a:p>
            <a:pPr algn="just"/>
            <a:r>
              <a:rPr lang="en-ZA" sz="1900" dirty="0" smtClean="0">
                <a:latin typeface="Arial Narrow" panose="020B0606020202030204" pitchFamily="34" charset="0"/>
              </a:rPr>
              <a:t>Virtual </a:t>
            </a:r>
            <a:r>
              <a:rPr lang="en-ZA" sz="1900" dirty="0">
                <a:latin typeface="Arial Narrow" panose="020B0606020202030204" pitchFamily="34" charset="0"/>
              </a:rPr>
              <a:t>reality and virtual environments </a:t>
            </a:r>
            <a:endParaRPr lang="en-ZA" sz="1900" dirty="0" smtClean="0">
              <a:latin typeface="Arial Narrow" panose="020B0606020202030204" pitchFamily="34" charset="0"/>
            </a:endParaRP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Graphical simulations that create the illusion that the user is part of the environment - gives users the experience of operating in 3D environments </a:t>
            </a:r>
            <a:endParaRPr lang="en-ZA" sz="1900" dirty="0" smtClean="0">
              <a:latin typeface="Arial Narrow" panose="020B0606020202030204" pitchFamily="34" charset="0"/>
            </a:endParaRP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Virtual objects can be very true to life. </a:t>
            </a:r>
            <a:endParaRPr lang="en-ZA" sz="1900" dirty="0" smtClean="0">
              <a:latin typeface="Arial Narrow" panose="020B0606020202030204" pitchFamily="34" charset="0"/>
            </a:endParaRPr>
          </a:p>
          <a:p>
            <a:pPr marL="457200" lvl="1"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Users in a virtual environment have either a </a:t>
            </a:r>
            <a:endParaRPr lang="en-ZA" sz="1900" dirty="0" smtClean="0">
              <a:latin typeface="Arial Narrow" panose="020B0606020202030204" pitchFamily="34" charset="0"/>
            </a:endParaRPr>
          </a:p>
          <a:p>
            <a:pPr marL="914400" lvl="2"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First-person perspective - see environment through own eyes </a:t>
            </a:r>
            <a:endParaRPr lang="en-ZA" sz="1900" dirty="0" smtClean="0">
              <a:latin typeface="Arial Narrow" panose="020B0606020202030204" pitchFamily="34" charset="0"/>
            </a:endParaRPr>
          </a:p>
          <a:p>
            <a:pPr marL="914400" lvl="2"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Third-person perspective - see environment through eyes of an avatar, an artificial representation of a real person</a:t>
            </a:r>
          </a:p>
          <a:p>
            <a:endParaRPr lang="en-ZA" dirty="0"/>
          </a:p>
          <a:p>
            <a:pPr marL="0" indent="0">
              <a:buNone/>
            </a:pPr>
            <a:endParaRPr lang="en-ZA" dirty="0"/>
          </a:p>
          <a:p>
            <a:pPr marL="0" indent="0" algn="just">
              <a:buNone/>
            </a:pPr>
            <a:endParaRPr lang="en-US" sz="22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145740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72016" y="353085"/>
            <a:ext cx="6098155" cy="6102036"/>
          </a:xfrm>
        </p:spPr>
        <p:txBody>
          <a:bodyPr>
            <a:noAutofit/>
          </a:bodyPr>
          <a:lstStyle/>
          <a:p>
            <a:pPr algn="just">
              <a:buFont typeface="Wingdings" panose="05000000000000000000" pitchFamily="2" charset="2"/>
              <a:buChar char="Ø"/>
            </a:pPr>
            <a:r>
              <a:rPr lang="en-ZA" sz="1800" b="1" dirty="0">
                <a:latin typeface="Arial Narrow" panose="020B0606020202030204" pitchFamily="34" charset="0"/>
              </a:rPr>
              <a:t>Web-Based Interfaces </a:t>
            </a:r>
            <a:endParaRPr lang="en-ZA" sz="1800" b="1" dirty="0" smtClean="0">
              <a:latin typeface="Arial Narrow" panose="020B0606020202030204" pitchFamily="34" charset="0"/>
            </a:endParaRPr>
          </a:p>
          <a:p>
            <a:pPr algn="just"/>
            <a:r>
              <a:rPr lang="en-ZA" sz="1800" dirty="0" smtClean="0">
                <a:latin typeface="Arial Narrow" panose="020B0606020202030204" pitchFamily="34" charset="0"/>
              </a:rPr>
              <a:t>Graphical </a:t>
            </a:r>
            <a:r>
              <a:rPr lang="en-ZA" sz="1800" dirty="0">
                <a:latin typeface="Arial Narrow" panose="020B0606020202030204" pitchFamily="34" charset="0"/>
              </a:rPr>
              <a:t>interfaces that are located on servers connected to the internet and are accessed by users through web browsers.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Web </a:t>
            </a:r>
            <a:r>
              <a:rPr lang="en-ZA" sz="1800" dirty="0">
                <a:latin typeface="Arial Narrow" panose="020B0606020202030204" pitchFamily="34" charset="0"/>
              </a:rPr>
              <a:t>design is restricted by the available bandwidth and the associated download time and still relies heavily on the use of text</a:t>
            </a:r>
            <a:r>
              <a:rPr lang="en-ZA" sz="1800" dirty="0" smtClean="0">
                <a:latin typeface="Arial Narrow" panose="020B0606020202030204" pitchFamily="34" charset="0"/>
              </a:rPr>
              <a:t>.</a:t>
            </a:r>
          </a:p>
          <a:p>
            <a:pPr marL="0" indent="0" algn="just">
              <a:buNone/>
            </a:pPr>
            <a:r>
              <a:rPr lang="en-ZA" sz="1800" b="1" u="sng" dirty="0" smtClean="0">
                <a:latin typeface="Arial Narrow" panose="020B0606020202030204" pitchFamily="34" charset="0"/>
              </a:rPr>
              <a:t>Advantages of </a:t>
            </a:r>
            <a:r>
              <a:rPr lang="en-ZA" sz="1800" b="1" u="sng" dirty="0">
                <a:latin typeface="Arial Narrow" panose="020B0606020202030204" pitchFamily="34" charset="0"/>
              </a:rPr>
              <a:t>Web-Based Interfaces </a:t>
            </a:r>
          </a:p>
          <a:p>
            <a:pPr algn="just"/>
            <a:r>
              <a:rPr lang="en-ZA" sz="1800" dirty="0" smtClean="0">
                <a:latin typeface="Arial Narrow" panose="020B0606020202030204" pitchFamily="34" charset="0"/>
              </a:rPr>
              <a:t>Provides </a:t>
            </a:r>
            <a:r>
              <a:rPr lang="en-ZA" sz="1800" dirty="0">
                <a:latin typeface="Arial Narrow" panose="020B0606020202030204" pitchFamily="34" charset="0"/>
              </a:rPr>
              <a:t>users with access to large volumes of information at the click of a </a:t>
            </a:r>
            <a:r>
              <a:rPr lang="en-ZA" sz="1800" dirty="0" smtClean="0">
                <a:latin typeface="Arial Narrow" panose="020B0606020202030204" pitchFamily="34" charset="0"/>
              </a:rPr>
              <a:t>button</a:t>
            </a:r>
            <a:r>
              <a:rPr lang="en-ZA" sz="1800" dirty="0">
                <a:latin typeface="Arial Narrow" panose="020B0606020202030204" pitchFamily="34" charset="0"/>
              </a:rPr>
              <a:t> </a:t>
            </a:r>
            <a:r>
              <a:rPr lang="en-ZA" sz="1800" dirty="0" smtClean="0">
                <a:latin typeface="Arial Narrow" panose="020B0606020202030204" pitchFamily="34" charset="0"/>
              </a:rPr>
              <a:t>(Sophisticated </a:t>
            </a:r>
            <a:r>
              <a:rPr lang="en-ZA" sz="1800" dirty="0">
                <a:latin typeface="Arial Narrow" panose="020B0606020202030204" pitchFamily="34" charset="0"/>
              </a:rPr>
              <a:t>search engines such as Google, makes it easy to search for information on specific </a:t>
            </a:r>
            <a:r>
              <a:rPr lang="en-ZA" sz="1800" dirty="0" smtClean="0">
                <a:latin typeface="Arial Narrow" panose="020B0606020202030204" pitchFamily="34" charset="0"/>
              </a:rPr>
              <a:t>topics).</a:t>
            </a:r>
          </a:p>
          <a:p>
            <a:pPr lvl="1" algn="just"/>
            <a:r>
              <a:rPr lang="en-ZA" sz="1800" dirty="0" smtClean="0">
                <a:latin typeface="Arial Narrow" panose="020B0606020202030204" pitchFamily="34" charset="0"/>
              </a:rPr>
              <a:t>However there’s issues:</a:t>
            </a:r>
          </a:p>
          <a:p>
            <a:pPr lvl="2" algn="just">
              <a:buFont typeface="Wingdings" panose="05000000000000000000" pitchFamily="2" charset="2"/>
              <a:buChar char="§"/>
            </a:pPr>
            <a:r>
              <a:rPr lang="en-ZA" sz="1800" dirty="0" smtClean="0">
                <a:latin typeface="Arial Narrow" panose="020B0606020202030204" pitchFamily="34" charset="0"/>
              </a:rPr>
              <a:t> </a:t>
            </a:r>
            <a:r>
              <a:rPr lang="en-ZA" sz="1800" dirty="0">
                <a:latin typeface="Arial Narrow" panose="020B0606020202030204" pitchFamily="34" charset="0"/>
              </a:rPr>
              <a:t>Large amounts of irrelevant information to search through </a:t>
            </a:r>
            <a:endParaRPr lang="en-ZA" sz="1800" dirty="0" smtClean="0">
              <a:latin typeface="Arial Narrow" panose="020B0606020202030204" pitchFamily="34" charset="0"/>
            </a:endParaRPr>
          </a:p>
          <a:p>
            <a:pPr lvl="2" algn="just">
              <a:buFont typeface="Wingdings" panose="05000000000000000000" pitchFamily="2" charset="2"/>
              <a:buChar char="§"/>
            </a:pPr>
            <a:r>
              <a:rPr lang="en-ZA" sz="1800" dirty="0" smtClean="0">
                <a:latin typeface="Arial Narrow" panose="020B0606020202030204" pitchFamily="34" charset="0"/>
              </a:rPr>
              <a:t>Many </a:t>
            </a:r>
            <a:r>
              <a:rPr lang="en-ZA" sz="1800" dirty="0">
                <a:latin typeface="Arial Narrow" panose="020B0606020202030204" pitchFamily="34" charset="0"/>
              </a:rPr>
              <a:t>sources are not trustworthy</a:t>
            </a:r>
            <a:r>
              <a:rPr lang="en-ZA" sz="1800" dirty="0" smtClean="0">
                <a:latin typeface="Arial Narrow" panose="020B0606020202030204" pitchFamily="34" charset="0"/>
              </a:rPr>
              <a:t>.</a:t>
            </a:r>
          </a:p>
          <a:p>
            <a:pPr algn="just"/>
            <a:r>
              <a:rPr lang="en-ZA" sz="1800" dirty="0">
                <a:latin typeface="Arial Narrow" panose="020B0606020202030204" pitchFamily="34" charset="0"/>
              </a:rPr>
              <a:t>Social Aspect :</a:t>
            </a:r>
            <a:r>
              <a:rPr lang="en-ZA" sz="1800" dirty="0" smtClean="0">
                <a:latin typeface="Arial Narrow" panose="020B0606020202030204" pitchFamily="34" charset="0"/>
              </a:rPr>
              <a:t>Allows </a:t>
            </a:r>
            <a:r>
              <a:rPr lang="en-ZA" sz="1800" dirty="0">
                <a:latin typeface="Arial Narrow" panose="020B0606020202030204" pitchFamily="34" charset="0"/>
              </a:rPr>
              <a:t>people to connect quite easily with anybody anywhere in the world</a:t>
            </a:r>
            <a:r>
              <a:rPr lang="en-ZA" sz="1800" dirty="0" smtClean="0">
                <a:latin typeface="Arial Narrow" panose="020B0606020202030204" pitchFamily="34" charset="0"/>
              </a:rPr>
              <a:t>.</a:t>
            </a:r>
          </a:p>
          <a:p>
            <a:pPr algn="just">
              <a:buFont typeface="Wingdings" panose="05000000000000000000" pitchFamily="2" charset="2"/>
              <a:buChar char="Ø"/>
            </a:pPr>
            <a:r>
              <a:rPr lang="en-ZA" sz="1800" b="1" dirty="0">
                <a:latin typeface="Arial Narrow" panose="020B0606020202030204" pitchFamily="34" charset="0"/>
              </a:rPr>
              <a:t>Speech Interfaces </a:t>
            </a:r>
            <a:endParaRPr lang="en-ZA" sz="1800" b="1" dirty="0" smtClean="0">
              <a:latin typeface="Arial Narrow" panose="020B0606020202030204" pitchFamily="34" charset="0"/>
            </a:endParaRPr>
          </a:p>
          <a:p>
            <a:pPr algn="just"/>
            <a:r>
              <a:rPr lang="en-ZA" sz="1800" dirty="0" smtClean="0">
                <a:latin typeface="Arial Narrow" panose="020B0606020202030204" pitchFamily="34" charset="0"/>
              </a:rPr>
              <a:t>Allows </a:t>
            </a:r>
            <a:r>
              <a:rPr lang="en-ZA" sz="1800" dirty="0">
                <a:latin typeface="Arial Narrow" panose="020B0606020202030204" pitchFamily="34" charset="0"/>
              </a:rPr>
              <a:t>the user to talk to a system that has the capacity to interpret spoken </a:t>
            </a:r>
            <a:r>
              <a:rPr lang="en-ZA" sz="1800" dirty="0" smtClean="0">
                <a:latin typeface="Arial Narrow" panose="020B0606020202030204" pitchFamily="34" charset="0"/>
              </a:rPr>
              <a:t>language. Commonly </a:t>
            </a:r>
            <a:r>
              <a:rPr lang="en-ZA" sz="1800" dirty="0">
                <a:latin typeface="Arial Narrow" panose="020B0606020202030204" pitchFamily="34" charset="0"/>
              </a:rPr>
              <a:t>used in systems that provide specific information or perform a specific transaction</a:t>
            </a:r>
          </a:p>
          <a:p>
            <a:endParaRPr lang="en-ZA" sz="2000" dirty="0">
              <a:latin typeface="Arial Narrow" panose="020B0606020202030204" pitchFamily="34" charset="0"/>
            </a:endParaRPr>
          </a:p>
        </p:txBody>
      </p:sp>
      <p:sp>
        <p:nvSpPr>
          <p:cNvPr id="4" name="Content Placeholder 3"/>
          <p:cNvSpPr>
            <a:spLocks noGrp="1"/>
          </p:cNvSpPr>
          <p:nvPr>
            <p:ph sz="half" idx="2"/>
          </p:nvPr>
        </p:nvSpPr>
        <p:spPr>
          <a:xfrm>
            <a:off x="6383383" y="353085"/>
            <a:ext cx="5612459" cy="6169635"/>
          </a:xfrm>
        </p:spPr>
        <p:txBody>
          <a:bodyPr>
            <a:normAutofit fontScale="92500" lnSpcReduction="20000"/>
          </a:bodyPr>
          <a:lstStyle/>
          <a:p>
            <a:pPr marL="0" indent="0">
              <a:buNone/>
            </a:pPr>
            <a:r>
              <a:rPr lang="en-ZA" sz="2000" b="1" u="sng" dirty="0">
                <a:latin typeface="Arial Narrow" panose="020B0606020202030204" pitchFamily="34" charset="0"/>
              </a:rPr>
              <a:t>Advantages </a:t>
            </a:r>
            <a:r>
              <a:rPr lang="en-ZA" sz="2000" b="1" u="sng" dirty="0" smtClean="0">
                <a:latin typeface="Arial Narrow" panose="020B0606020202030204" pitchFamily="34" charset="0"/>
              </a:rPr>
              <a:t>of Speech Interfaces</a:t>
            </a:r>
          </a:p>
          <a:p>
            <a:r>
              <a:rPr lang="en-ZA" sz="2200" dirty="0" smtClean="0">
                <a:latin typeface="Arial Narrow" panose="020B0606020202030204" pitchFamily="34" charset="0"/>
              </a:rPr>
              <a:t>Useful </a:t>
            </a:r>
            <a:r>
              <a:rPr lang="en-ZA" sz="2200" dirty="0">
                <a:latin typeface="Arial Narrow" panose="020B0606020202030204" pitchFamily="34" charset="0"/>
              </a:rPr>
              <a:t>to people with disabilities. </a:t>
            </a:r>
            <a:endParaRPr lang="en-ZA" sz="2200" dirty="0" smtClean="0">
              <a:latin typeface="Arial Narrow" panose="020B0606020202030204" pitchFamily="34" charset="0"/>
            </a:endParaRPr>
          </a:p>
          <a:p>
            <a:r>
              <a:rPr lang="en-ZA" sz="2200" dirty="0" smtClean="0">
                <a:latin typeface="Arial Narrow" panose="020B0606020202030204" pitchFamily="34" charset="0"/>
              </a:rPr>
              <a:t>Current </a:t>
            </a:r>
            <a:r>
              <a:rPr lang="en-ZA" sz="2200" dirty="0">
                <a:latin typeface="Arial Narrow" panose="020B0606020202030204" pitchFamily="34" charset="0"/>
              </a:rPr>
              <a:t>technology allows more natural-sounding speech than early synthesised speech. </a:t>
            </a:r>
            <a:endParaRPr lang="en-ZA" sz="2200" dirty="0" smtClean="0">
              <a:latin typeface="Arial Narrow" panose="020B0606020202030204" pitchFamily="34" charset="0"/>
            </a:endParaRPr>
          </a:p>
          <a:p>
            <a:r>
              <a:rPr lang="en-ZA" sz="2200" dirty="0" smtClean="0">
                <a:latin typeface="Arial Narrow" panose="020B0606020202030204" pitchFamily="34" charset="0"/>
              </a:rPr>
              <a:t>Expands </a:t>
            </a:r>
            <a:r>
              <a:rPr lang="en-ZA" sz="2200" dirty="0">
                <a:latin typeface="Arial Narrow" panose="020B0606020202030204" pitchFamily="34" charset="0"/>
              </a:rPr>
              <a:t>the possibilities technology offers for children who cannot yet read. </a:t>
            </a:r>
            <a:endParaRPr lang="en-ZA" sz="2200" dirty="0" smtClean="0">
              <a:latin typeface="Arial Narrow" panose="020B0606020202030204" pitchFamily="34" charset="0"/>
            </a:endParaRPr>
          </a:p>
          <a:p>
            <a:r>
              <a:rPr lang="en-ZA" sz="2200" dirty="0" smtClean="0">
                <a:latin typeface="Arial Narrow" panose="020B0606020202030204" pitchFamily="34" charset="0"/>
              </a:rPr>
              <a:t>Popular </a:t>
            </a:r>
            <a:r>
              <a:rPr lang="en-ZA" sz="2200" dirty="0">
                <a:latin typeface="Arial Narrow" panose="020B0606020202030204" pitchFamily="34" charset="0"/>
              </a:rPr>
              <a:t>speech technology - routing. Companies use automated speech system to enable users to reach one their services with the use of caller-led speech</a:t>
            </a:r>
            <a:r>
              <a:rPr lang="en-ZA" sz="2200" dirty="0" smtClean="0">
                <a:latin typeface="Arial Narrow" panose="020B0606020202030204" pitchFamily="34" charset="0"/>
              </a:rPr>
              <a:t>.</a:t>
            </a:r>
          </a:p>
          <a:p>
            <a:r>
              <a:rPr lang="en-ZA" sz="2200" dirty="0" smtClean="0">
                <a:latin typeface="Arial Narrow" panose="020B0606020202030204" pitchFamily="34" charset="0"/>
              </a:rPr>
              <a:t>Users </a:t>
            </a:r>
            <a:r>
              <a:rPr lang="en-ZA" sz="2200" dirty="0">
                <a:latin typeface="Arial Narrow" panose="020B0606020202030204" pitchFamily="34" charset="0"/>
              </a:rPr>
              <a:t>can articulate queries by using Google Voice or Apple Siri. </a:t>
            </a:r>
            <a:endParaRPr lang="en-ZA" sz="2200" dirty="0" smtClean="0">
              <a:latin typeface="Arial Narrow" panose="020B0606020202030204" pitchFamily="34" charset="0"/>
            </a:endParaRPr>
          </a:p>
          <a:p>
            <a:r>
              <a:rPr lang="en-ZA" sz="2200" dirty="0" smtClean="0">
                <a:latin typeface="Arial Narrow" panose="020B0606020202030204" pitchFamily="34" charset="0"/>
              </a:rPr>
              <a:t>Speech-based </a:t>
            </a:r>
            <a:r>
              <a:rPr lang="en-ZA" sz="2200" dirty="0">
                <a:latin typeface="Arial Narrow" panose="020B0606020202030204" pitchFamily="34" charset="0"/>
              </a:rPr>
              <a:t>apps enable people to use them with their mobile devices, which makes it more convenient than any text-based entry. </a:t>
            </a:r>
            <a:endParaRPr lang="en-ZA" sz="2200" dirty="0" smtClean="0">
              <a:latin typeface="Arial Narrow" panose="020B0606020202030204" pitchFamily="34" charset="0"/>
            </a:endParaRPr>
          </a:p>
          <a:p>
            <a:pPr marL="0" indent="0">
              <a:buNone/>
            </a:pPr>
            <a:r>
              <a:rPr lang="en-ZA" sz="2200" b="1" u="sng" dirty="0" smtClean="0">
                <a:latin typeface="Arial Narrow" panose="020B0606020202030204" pitchFamily="34" charset="0"/>
              </a:rPr>
              <a:t>Disadvantages </a:t>
            </a:r>
            <a:r>
              <a:rPr lang="en-ZA" sz="2200" b="1" u="sng" dirty="0">
                <a:latin typeface="Arial Narrow" panose="020B0606020202030204" pitchFamily="34" charset="0"/>
              </a:rPr>
              <a:t>of Speech Interfaces</a:t>
            </a:r>
          </a:p>
          <a:p>
            <a:r>
              <a:rPr lang="en-ZA" sz="2200" dirty="0" smtClean="0">
                <a:latin typeface="Arial Narrow" panose="020B0606020202030204" pitchFamily="34" charset="0"/>
              </a:rPr>
              <a:t>Relatively </a:t>
            </a:r>
            <a:r>
              <a:rPr lang="en-ZA" sz="2200" dirty="0">
                <a:latin typeface="Arial Narrow" panose="020B0606020202030204" pitchFamily="34" charset="0"/>
              </a:rPr>
              <a:t>difficult to develop. </a:t>
            </a:r>
            <a:endParaRPr lang="en-ZA" sz="2200" dirty="0" smtClean="0">
              <a:latin typeface="Arial Narrow" panose="020B0606020202030204" pitchFamily="34" charset="0"/>
            </a:endParaRPr>
          </a:p>
          <a:p>
            <a:r>
              <a:rPr lang="en-ZA" sz="2200" dirty="0" smtClean="0">
                <a:latin typeface="Arial Narrow" panose="020B0606020202030204" pitchFamily="34" charset="0"/>
              </a:rPr>
              <a:t>May </a:t>
            </a:r>
            <a:r>
              <a:rPr lang="en-ZA" sz="2200" dirty="0">
                <a:latin typeface="Arial Narrow" panose="020B0606020202030204" pitchFamily="34" charset="0"/>
              </a:rPr>
              <a:t>not be adaptable to different accents, voice pitches and speech defects (lisping). </a:t>
            </a:r>
            <a:endParaRPr lang="en-ZA" sz="2200" dirty="0" smtClean="0">
              <a:latin typeface="Arial Narrow" panose="020B0606020202030204" pitchFamily="34" charset="0"/>
            </a:endParaRPr>
          </a:p>
          <a:p>
            <a:r>
              <a:rPr lang="en-ZA" sz="2200" dirty="0" smtClean="0">
                <a:latin typeface="Arial Narrow" panose="020B0606020202030204" pitchFamily="34" charset="0"/>
              </a:rPr>
              <a:t>They </a:t>
            </a:r>
            <a:r>
              <a:rPr lang="en-ZA" sz="2200" dirty="0">
                <a:latin typeface="Arial Narrow" panose="020B0606020202030204" pitchFamily="34" charset="0"/>
              </a:rPr>
              <a:t>may misinterpret what the user says. </a:t>
            </a:r>
            <a:endParaRPr lang="en-ZA" sz="2200" dirty="0" smtClean="0">
              <a:latin typeface="Arial Narrow" panose="020B0606020202030204" pitchFamily="34" charset="0"/>
            </a:endParaRPr>
          </a:p>
          <a:p>
            <a:r>
              <a:rPr lang="en-ZA" sz="2200" dirty="0" smtClean="0">
                <a:latin typeface="Arial Narrow" panose="020B0606020202030204" pitchFamily="34" charset="0"/>
              </a:rPr>
              <a:t>The </a:t>
            </a:r>
            <a:r>
              <a:rPr lang="en-ZA" sz="2200" dirty="0">
                <a:latin typeface="Arial Narrow" panose="020B0606020202030204" pitchFamily="34" charset="0"/>
              </a:rPr>
              <a:t>voice response may sound unnatural.</a:t>
            </a: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66209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5801" y="316871"/>
            <a:ext cx="6665593" cy="5860092"/>
          </a:xfrm>
        </p:spPr>
        <p:txBody>
          <a:bodyPr>
            <a:normAutofit fontScale="85000" lnSpcReduction="20000"/>
          </a:bodyPr>
          <a:lstStyle/>
          <a:p>
            <a:pPr>
              <a:buFont typeface="Wingdings" panose="05000000000000000000" pitchFamily="2" charset="2"/>
              <a:buChar char="Ø"/>
            </a:pPr>
            <a:r>
              <a:rPr lang="en-ZA" sz="2000" b="1" dirty="0">
                <a:latin typeface="Arial Narrow" panose="020B0606020202030204" pitchFamily="34" charset="0"/>
              </a:rPr>
              <a:t>Pen, Gesture and Touchscreen Interfaces </a:t>
            </a:r>
            <a:endParaRPr lang="en-ZA" sz="2000" b="1" dirty="0" smtClean="0">
              <a:latin typeface="Arial Narrow" panose="020B0606020202030204" pitchFamily="34" charset="0"/>
            </a:endParaRPr>
          </a:p>
          <a:p>
            <a:pPr algn="just">
              <a:buFont typeface="Wingdings" panose="05000000000000000000" pitchFamily="2" charset="2"/>
              <a:buChar char="Ø"/>
            </a:pPr>
            <a:r>
              <a:rPr lang="en-ZA" sz="2100" dirty="0">
                <a:latin typeface="Arial Narrow" panose="020B0606020202030204" pitchFamily="34" charset="0"/>
              </a:rPr>
              <a:t>Personal digital assistants (PDAs) come with a pen for making on-screen selections, writing notes or making freehand sketches. Objects can also be manipulated by making swiping or stroking gestures.</a:t>
            </a:r>
            <a:endParaRPr lang="en-ZA" sz="2100" b="1" dirty="0" smtClean="0">
              <a:latin typeface="Arial Narrow" panose="020B0606020202030204" pitchFamily="34" charset="0"/>
            </a:endParaRPr>
          </a:p>
          <a:p>
            <a:r>
              <a:rPr lang="en-ZA" sz="2000" dirty="0" smtClean="0">
                <a:latin typeface="Arial Narrow" panose="020B0606020202030204" pitchFamily="34" charset="0"/>
              </a:rPr>
              <a:t>Pen-based </a:t>
            </a:r>
            <a:r>
              <a:rPr lang="en-ZA" sz="2000" dirty="0">
                <a:latin typeface="Arial Narrow" panose="020B0606020202030204" pitchFamily="34" charset="0"/>
              </a:rPr>
              <a:t>interfaces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Suitable </a:t>
            </a:r>
            <a:r>
              <a:rPr lang="en-ZA" sz="2000" dirty="0">
                <a:latin typeface="Arial Narrow" panose="020B0606020202030204" pitchFamily="34" charset="0"/>
              </a:rPr>
              <a:t>for large displays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Personal </a:t>
            </a:r>
            <a:r>
              <a:rPr lang="en-ZA" sz="2000" dirty="0">
                <a:latin typeface="Arial Narrow" panose="020B0606020202030204" pitchFamily="34" charset="0"/>
              </a:rPr>
              <a:t>digital assistants (PDAs) </a:t>
            </a:r>
            <a:endParaRPr lang="en-ZA" sz="2000" dirty="0" smtClean="0">
              <a:latin typeface="Arial Narrow" panose="020B0606020202030204" pitchFamily="34" charset="0"/>
            </a:endParaRPr>
          </a:p>
          <a:p>
            <a:pPr marL="914400" lvl="2" indent="0">
              <a:buNone/>
            </a:pPr>
            <a:r>
              <a:rPr lang="en-ZA" dirty="0" smtClean="0">
                <a:latin typeface="Arial Narrow" panose="020B0606020202030204" pitchFamily="34" charset="0"/>
              </a:rPr>
              <a:t>▪ </a:t>
            </a:r>
            <a:r>
              <a:rPr lang="en-ZA" dirty="0">
                <a:latin typeface="Arial Narrow" panose="020B0606020202030204" pitchFamily="34" charset="0"/>
              </a:rPr>
              <a:t>Pen for making on-screen selections, writing notes or making sketches. </a:t>
            </a:r>
            <a:endParaRPr lang="en-ZA" dirty="0" smtClean="0">
              <a:latin typeface="Arial Narrow" panose="020B0606020202030204" pitchFamily="34" charset="0"/>
            </a:endParaRPr>
          </a:p>
          <a:p>
            <a:pPr marL="914400" lvl="2" indent="0">
              <a:buNone/>
            </a:pPr>
            <a:r>
              <a:rPr lang="en-ZA" dirty="0" smtClean="0">
                <a:latin typeface="Arial Narrow" panose="020B0606020202030204" pitchFamily="34" charset="0"/>
              </a:rPr>
              <a:t>▪ </a:t>
            </a:r>
            <a:r>
              <a:rPr lang="en-ZA" dirty="0">
                <a:latin typeface="Arial Narrow" panose="020B0606020202030204" pitchFamily="34" charset="0"/>
              </a:rPr>
              <a:t>Objects can also be manipulated by making swiping or stroking gestures. </a:t>
            </a:r>
            <a:endParaRPr lang="en-ZA"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Digital </a:t>
            </a:r>
            <a:r>
              <a:rPr lang="en-ZA" sz="2000" dirty="0">
                <a:latin typeface="Arial Narrow" panose="020B0606020202030204" pitchFamily="34" charset="0"/>
              </a:rPr>
              <a:t>ink </a:t>
            </a:r>
            <a:endParaRPr lang="en-ZA" sz="2000" dirty="0" smtClean="0">
              <a:latin typeface="Arial Narrow" panose="020B0606020202030204" pitchFamily="34" charset="0"/>
            </a:endParaRPr>
          </a:p>
          <a:p>
            <a:pPr marL="914400" lvl="2" indent="0">
              <a:buNone/>
            </a:pPr>
            <a:r>
              <a:rPr lang="en-ZA" dirty="0" smtClean="0">
                <a:latin typeface="Arial Narrow" panose="020B0606020202030204" pitchFamily="34" charset="0"/>
              </a:rPr>
              <a:t>▪ </a:t>
            </a:r>
            <a:r>
              <a:rPr lang="en-ZA" dirty="0">
                <a:latin typeface="Arial Narrow" panose="020B0606020202030204" pitchFamily="34" charset="0"/>
              </a:rPr>
              <a:t>Convert text written on PDA screen or tablet into digital </a:t>
            </a:r>
            <a:r>
              <a:rPr lang="en-ZA" dirty="0" smtClean="0">
                <a:latin typeface="Arial Narrow" panose="020B0606020202030204" pitchFamily="34" charset="0"/>
              </a:rPr>
              <a:t>text. </a:t>
            </a:r>
          </a:p>
          <a:p>
            <a:r>
              <a:rPr lang="en-ZA" sz="2000" dirty="0">
                <a:latin typeface="Arial Narrow" panose="020B0606020202030204" pitchFamily="34" charset="0"/>
              </a:rPr>
              <a:t>Gesture-based input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Involves </a:t>
            </a:r>
            <a:r>
              <a:rPr lang="en-ZA" sz="2000" dirty="0">
                <a:latin typeface="Arial Narrow" panose="020B0606020202030204" pitchFamily="34" charset="0"/>
              </a:rPr>
              <a:t>camera capture and computer vision to detect arm and hand gestures.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Makes </a:t>
            </a:r>
            <a:r>
              <a:rPr lang="en-ZA" sz="2000" dirty="0">
                <a:latin typeface="Arial Narrow" panose="020B0606020202030204" pitchFamily="34" charset="0"/>
              </a:rPr>
              <a:t>sign language interpreting systems possible</a:t>
            </a:r>
            <a:r>
              <a:rPr lang="en-ZA" sz="2000" dirty="0" smtClean="0">
                <a:latin typeface="Arial Narrow" panose="020B0606020202030204" pitchFamily="34" charset="0"/>
              </a:rPr>
              <a:t>.</a:t>
            </a:r>
          </a:p>
          <a:p>
            <a:pPr lvl="1">
              <a:buFont typeface="Wingdings" panose="05000000000000000000" pitchFamily="2" charset="2"/>
              <a:buChar char="§"/>
            </a:pPr>
            <a:r>
              <a:rPr lang="en-ZA" sz="2000" dirty="0" smtClean="0">
                <a:latin typeface="Arial Narrow" panose="020B0606020202030204" pitchFamily="34" charset="0"/>
              </a:rPr>
              <a:t>Latest </a:t>
            </a:r>
            <a:r>
              <a:rPr lang="en-ZA" sz="2000" dirty="0">
                <a:latin typeface="Arial Narrow" panose="020B0606020202030204" pitchFamily="34" charset="0"/>
              </a:rPr>
              <a:t>systems use sensor technologies to detect touch, bend and speed </a:t>
            </a:r>
          </a:p>
          <a:p>
            <a:r>
              <a:rPr lang="en-ZA" sz="2100" dirty="0">
                <a:latin typeface="Arial Narrow" panose="020B0606020202030204" pitchFamily="34" charset="0"/>
              </a:rPr>
              <a:t>Touchscreens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Allow </a:t>
            </a:r>
            <a:r>
              <a:rPr lang="en-ZA" sz="2100" dirty="0">
                <a:latin typeface="Arial Narrow" panose="020B0606020202030204" pitchFamily="34" charset="0"/>
              </a:rPr>
              <a:t>users to manipulate screen objects with their fingers.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Function </a:t>
            </a:r>
            <a:r>
              <a:rPr lang="en-ZA" sz="2100" dirty="0">
                <a:latin typeface="Arial Narrow" panose="020B0606020202030204" pitchFamily="34" charset="0"/>
              </a:rPr>
              <a:t>by detecting presence and location of human touch and react on finger tapping, swiping, flicking, pinching and pushing </a:t>
            </a:r>
            <a:endParaRPr lang="en-ZA" sz="2100" dirty="0" smtClean="0">
              <a:latin typeface="Arial Narrow" panose="020B0606020202030204" pitchFamily="34" charset="0"/>
            </a:endParaRPr>
          </a:p>
        </p:txBody>
      </p:sp>
      <p:sp>
        <p:nvSpPr>
          <p:cNvPr id="4" name="Content Placeholder 3"/>
          <p:cNvSpPr>
            <a:spLocks noGrp="1"/>
          </p:cNvSpPr>
          <p:nvPr>
            <p:ph sz="half" idx="2"/>
          </p:nvPr>
        </p:nvSpPr>
        <p:spPr>
          <a:xfrm>
            <a:off x="6966857" y="316871"/>
            <a:ext cx="5038037" cy="5860092"/>
          </a:xfrm>
        </p:spPr>
        <p:txBody>
          <a:bodyPr>
            <a:normAutofit fontScale="85000" lnSpcReduction="20000"/>
          </a:bodyPr>
          <a:lstStyle/>
          <a:p>
            <a:pPr marL="0" indent="0">
              <a:buNone/>
            </a:pPr>
            <a:r>
              <a:rPr lang="en-ZA" sz="2400" b="1" u="sng" dirty="0">
                <a:latin typeface="Arial Narrow" panose="020B0606020202030204" pitchFamily="34" charset="0"/>
              </a:rPr>
              <a:t>Advantages </a:t>
            </a:r>
            <a:r>
              <a:rPr lang="en-ZA" sz="2400" b="1" u="sng" dirty="0" smtClean="0">
                <a:latin typeface="Arial Narrow" panose="020B0606020202030204" pitchFamily="34" charset="0"/>
              </a:rPr>
              <a:t>of </a:t>
            </a:r>
            <a:r>
              <a:rPr lang="en-ZA" sz="2400" b="1" u="sng" dirty="0">
                <a:latin typeface="Arial Narrow" panose="020B0606020202030204" pitchFamily="34" charset="0"/>
              </a:rPr>
              <a:t>Pen, Gesture and Touchscreen Interfaces </a:t>
            </a:r>
          </a:p>
          <a:p>
            <a:r>
              <a:rPr lang="en-ZA" sz="2400" dirty="0" smtClean="0">
                <a:latin typeface="Arial Narrow" panose="020B0606020202030204" pitchFamily="34" charset="0"/>
              </a:rPr>
              <a:t>Increase </a:t>
            </a:r>
            <a:r>
              <a:rPr lang="en-ZA" sz="2400" dirty="0">
                <a:latin typeface="Arial Narrow" panose="020B0606020202030204" pitchFamily="34" charset="0"/>
              </a:rPr>
              <a:t>speed and accuracy of input</a:t>
            </a:r>
            <a:r>
              <a:rPr lang="en-ZA" sz="2400" dirty="0" smtClean="0">
                <a:latin typeface="Arial Narrow" panose="020B0606020202030204" pitchFamily="34" charset="0"/>
              </a:rPr>
              <a:t>.</a:t>
            </a:r>
          </a:p>
          <a:p>
            <a:r>
              <a:rPr lang="en-ZA" sz="2400" dirty="0" smtClean="0">
                <a:latin typeface="Arial Narrow" panose="020B0606020202030204" pitchFamily="34" charset="0"/>
              </a:rPr>
              <a:t>Users </a:t>
            </a:r>
            <a:r>
              <a:rPr lang="en-ZA" sz="2400" dirty="0">
                <a:latin typeface="Arial Narrow" panose="020B0606020202030204" pitchFamily="34" charset="0"/>
              </a:rPr>
              <a:t>use natural gestures to interact. </a:t>
            </a:r>
            <a:endParaRPr lang="en-ZA" sz="2400" dirty="0" smtClean="0">
              <a:latin typeface="Arial Narrow" panose="020B0606020202030204" pitchFamily="34" charset="0"/>
            </a:endParaRPr>
          </a:p>
          <a:p>
            <a:r>
              <a:rPr lang="en-ZA" sz="2400" dirty="0" smtClean="0">
                <a:latin typeface="Arial Narrow" panose="020B0606020202030204" pitchFamily="34" charset="0"/>
              </a:rPr>
              <a:t>Provide </a:t>
            </a:r>
            <a:r>
              <a:rPr lang="en-ZA" sz="2400" dirty="0">
                <a:latin typeface="Arial Narrow" panose="020B0606020202030204" pitchFamily="34" charset="0"/>
              </a:rPr>
              <a:t>options for users who may have difficulty using the mouse and keyboard</a:t>
            </a:r>
            <a:r>
              <a:rPr lang="en-ZA" sz="2400" dirty="0" smtClean="0">
                <a:latin typeface="Arial Narrow" panose="020B0606020202030204" pitchFamily="34" charset="0"/>
              </a:rPr>
              <a:t>.</a:t>
            </a:r>
          </a:p>
          <a:p>
            <a:r>
              <a:rPr lang="en-ZA" sz="2400" dirty="0" smtClean="0">
                <a:latin typeface="Arial Narrow" panose="020B0606020202030204" pitchFamily="34" charset="0"/>
              </a:rPr>
              <a:t>Pens </a:t>
            </a:r>
            <a:r>
              <a:rPr lang="en-ZA" sz="2400" dirty="0">
                <a:latin typeface="Arial Narrow" panose="020B0606020202030204" pitchFamily="34" charset="0"/>
              </a:rPr>
              <a:t>allows users to easily and quickly annotate existing documents. </a:t>
            </a:r>
            <a:endParaRPr lang="en-ZA" sz="2400" dirty="0" smtClean="0">
              <a:latin typeface="Arial Narrow" panose="020B0606020202030204" pitchFamily="34" charset="0"/>
            </a:endParaRPr>
          </a:p>
          <a:p>
            <a:r>
              <a:rPr lang="en-ZA" sz="2400" dirty="0" smtClean="0">
                <a:latin typeface="Arial Narrow" panose="020B0606020202030204" pitchFamily="34" charset="0"/>
              </a:rPr>
              <a:t>Children </a:t>
            </a:r>
            <a:r>
              <a:rPr lang="en-ZA" sz="2400" dirty="0">
                <a:latin typeface="Arial Narrow" panose="020B0606020202030204" pitchFamily="34" charset="0"/>
              </a:rPr>
              <a:t>can write with a stylus on a tablet PC without making too many spelling errors </a:t>
            </a:r>
            <a:endParaRPr lang="en-ZA" sz="2400" dirty="0" smtClean="0">
              <a:latin typeface="Arial Narrow" panose="020B0606020202030204" pitchFamily="34" charset="0"/>
            </a:endParaRPr>
          </a:p>
          <a:p>
            <a:pPr marL="0" indent="0">
              <a:buNone/>
            </a:pPr>
            <a:r>
              <a:rPr lang="en-ZA" sz="2400" b="1" u="sng" dirty="0" smtClean="0">
                <a:latin typeface="Arial Narrow" panose="020B0606020202030204" pitchFamily="34" charset="0"/>
              </a:rPr>
              <a:t>Disadvantages </a:t>
            </a:r>
            <a:r>
              <a:rPr lang="en-ZA" sz="2400" b="1" u="sng" dirty="0">
                <a:latin typeface="Arial Narrow" panose="020B0606020202030204" pitchFamily="34" charset="0"/>
              </a:rPr>
              <a:t>of Pen, Gesture and Touchscreen Interfaces </a:t>
            </a:r>
          </a:p>
          <a:p>
            <a:r>
              <a:rPr lang="en-ZA" sz="2400" dirty="0" smtClean="0">
                <a:latin typeface="Arial Narrow" panose="020B0606020202030204" pitchFamily="34" charset="0"/>
              </a:rPr>
              <a:t>The </a:t>
            </a:r>
            <a:r>
              <a:rPr lang="en-ZA" sz="2400" dirty="0">
                <a:latin typeface="Arial Narrow" panose="020B0606020202030204" pitchFamily="34" charset="0"/>
              </a:rPr>
              <a:t>flow of interaction may be interrupted </a:t>
            </a:r>
            <a:endParaRPr lang="en-ZA" sz="2400" dirty="0" smtClean="0">
              <a:latin typeface="Arial Narrow" panose="020B0606020202030204" pitchFamily="34" charset="0"/>
            </a:endParaRPr>
          </a:p>
          <a:p>
            <a:r>
              <a:rPr lang="en-ZA" sz="2400" dirty="0" smtClean="0">
                <a:latin typeface="Arial Narrow" panose="020B0606020202030204" pitchFamily="34" charset="0"/>
              </a:rPr>
              <a:t>Incorrect </a:t>
            </a:r>
            <a:r>
              <a:rPr lang="en-ZA" sz="2400" dirty="0">
                <a:latin typeface="Arial Narrow" panose="020B0606020202030204" pitchFamily="34" charset="0"/>
              </a:rPr>
              <a:t>options may accidentally be chosen </a:t>
            </a:r>
            <a:endParaRPr lang="en-ZA" sz="2400" dirty="0" smtClean="0">
              <a:latin typeface="Arial Narrow" panose="020B0606020202030204" pitchFamily="34" charset="0"/>
            </a:endParaRPr>
          </a:p>
          <a:p>
            <a:r>
              <a:rPr lang="en-ZA" sz="2400" dirty="0" smtClean="0">
                <a:latin typeface="Arial Narrow" panose="020B0606020202030204" pitchFamily="34" charset="0"/>
              </a:rPr>
              <a:t>Movement </a:t>
            </a:r>
            <a:r>
              <a:rPr lang="en-ZA" sz="2400" dirty="0">
                <a:latin typeface="Arial Narrow" panose="020B0606020202030204" pitchFamily="34" charset="0"/>
              </a:rPr>
              <a:t>and handwriting may be misinterpreted. </a:t>
            </a:r>
            <a:endParaRPr lang="en-ZA" sz="2400" dirty="0" smtClean="0">
              <a:latin typeface="Arial Narrow" panose="020B0606020202030204" pitchFamily="34" charset="0"/>
            </a:endParaRPr>
          </a:p>
          <a:p>
            <a:r>
              <a:rPr lang="en-ZA" sz="2400" dirty="0" smtClean="0">
                <a:latin typeface="Arial Narrow" panose="020B0606020202030204" pitchFamily="34" charset="0"/>
              </a:rPr>
              <a:t>On </a:t>
            </a:r>
            <a:r>
              <a:rPr lang="en-ZA" sz="2400" dirty="0">
                <a:latin typeface="Arial Narrow" panose="020B0606020202030204" pitchFamily="34" charset="0"/>
              </a:rPr>
              <a:t>small screens such as a PDA, is that handwritten notes can also be converted and saved as standard typeface text using a pen-based device</a:t>
            </a:r>
            <a:r>
              <a:rPr lang="en-ZA" sz="2400" dirty="0" smtClean="0">
                <a:latin typeface="Arial Narrow" panose="020B0606020202030204" pitchFamily="34" charset="0"/>
              </a:rPr>
              <a:t>.</a:t>
            </a:r>
            <a:endParaRPr lang="en-ZA" sz="2400" b="1"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34852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4502" y="235390"/>
            <a:ext cx="6357258" cy="6120960"/>
          </a:xfrm>
        </p:spPr>
        <p:txBody>
          <a:bodyPr>
            <a:noAutofit/>
          </a:bodyPr>
          <a:lstStyle/>
          <a:p>
            <a:pPr>
              <a:buFont typeface="Wingdings" panose="05000000000000000000" pitchFamily="2" charset="2"/>
              <a:buChar char="Ø"/>
            </a:pPr>
            <a:r>
              <a:rPr lang="en-ZA" sz="1800" b="1" dirty="0" smtClean="0">
                <a:latin typeface="Arial Narrow" panose="020B0606020202030204" pitchFamily="34" charset="0"/>
              </a:rPr>
              <a:t>Mobile </a:t>
            </a:r>
            <a:r>
              <a:rPr lang="en-ZA" sz="1800" b="1" dirty="0">
                <a:latin typeface="Arial Narrow" panose="020B0606020202030204" pitchFamily="34" charset="0"/>
              </a:rPr>
              <a:t>Interfaces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Designed for handheld devices (cellphones) that are intended for use on the move.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The space limitations compel designers to use buttons for multiple </a:t>
            </a:r>
            <a:r>
              <a:rPr lang="en-ZA" sz="1800" dirty="0" smtClean="0">
                <a:latin typeface="Arial Narrow" panose="020B0606020202030204" pitchFamily="34" charset="0"/>
              </a:rPr>
              <a:t>purposes</a:t>
            </a:r>
          </a:p>
          <a:p>
            <a:pPr lvl="1">
              <a:buFont typeface="Wingdings" panose="05000000000000000000" pitchFamily="2" charset="2"/>
              <a:buChar char="§"/>
            </a:pPr>
            <a:r>
              <a:rPr lang="en-ZA" sz="1800" dirty="0" smtClean="0">
                <a:latin typeface="Arial Narrow" panose="020B0606020202030204" pitchFamily="34" charset="0"/>
              </a:rPr>
              <a:t>E.g</a:t>
            </a:r>
            <a:r>
              <a:rPr lang="en-ZA" sz="1800" dirty="0">
                <a:latin typeface="Arial Narrow" panose="020B0606020202030204" pitchFamily="34" charset="0"/>
              </a:rPr>
              <a:t>. single cellphone key can represent up to five characters and is associated with a predefined number of presses of the key.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Elderly </a:t>
            </a:r>
            <a:r>
              <a:rPr lang="en-ZA" sz="1800" dirty="0">
                <a:latin typeface="Arial Narrow" panose="020B0606020202030204" pitchFamily="34" charset="0"/>
              </a:rPr>
              <a:t>users find this particularly hard to </a:t>
            </a:r>
            <a:r>
              <a:rPr lang="en-ZA" sz="1800" dirty="0" smtClean="0">
                <a:latin typeface="Arial Narrow" panose="020B0606020202030204" pitchFamily="34" charset="0"/>
              </a:rPr>
              <a:t>use: Cellphones have been designed </a:t>
            </a:r>
            <a:r>
              <a:rPr lang="en-ZA" sz="1800" dirty="0">
                <a:latin typeface="Arial Narrow" panose="020B0606020202030204" pitchFamily="34" charset="0"/>
              </a:rPr>
              <a:t>for </a:t>
            </a:r>
            <a:r>
              <a:rPr lang="en-ZA" sz="1800" dirty="0" smtClean="0">
                <a:latin typeface="Arial Narrow" panose="020B0606020202030204" pitchFamily="34" charset="0"/>
              </a:rPr>
              <a:t>elderly, they have </a:t>
            </a:r>
            <a:r>
              <a:rPr lang="en-ZA" sz="1800" dirty="0">
                <a:latin typeface="Arial Narrow" panose="020B0606020202030204" pitchFamily="34" charset="0"/>
              </a:rPr>
              <a:t>bigger </a:t>
            </a:r>
            <a:r>
              <a:rPr lang="en-ZA" sz="1800" dirty="0" smtClean="0">
                <a:latin typeface="Arial Narrow" panose="020B0606020202030204" pitchFamily="34" charset="0"/>
              </a:rPr>
              <a:t>buttons and </a:t>
            </a:r>
            <a:r>
              <a:rPr lang="en-ZA" sz="1800" dirty="0">
                <a:latin typeface="Arial Narrow" panose="020B0606020202030204" pitchFamily="34" charset="0"/>
              </a:rPr>
              <a:t>text, </a:t>
            </a:r>
            <a:r>
              <a:rPr lang="en-ZA" sz="1800" dirty="0" smtClean="0">
                <a:latin typeface="Arial Narrow" panose="020B0606020202030204" pitchFamily="34" charset="0"/>
              </a:rPr>
              <a:t>larger displays </a:t>
            </a:r>
            <a:r>
              <a:rPr lang="en-ZA" sz="1800" dirty="0">
                <a:latin typeface="Arial Narrow" panose="020B0606020202030204" pitchFamily="34" charset="0"/>
              </a:rPr>
              <a:t>and </a:t>
            </a:r>
            <a:r>
              <a:rPr lang="en-ZA" sz="1800" dirty="0" smtClean="0">
                <a:latin typeface="Arial Narrow" panose="020B0606020202030204" pitchFamily="34" charset="0"/>
              </a:rPr>
              <a:t>big font </a:t>
            </a:r>
            <a:r>
              <a:rPr lang="en-ZA" sz="1800" dirty="0">
                <a:latin typeface="Arial Narrow" panose="020B0606020202030204" pitchFamily="34" charset="0"/>
              </a:rPr>
              <a:t>sizes </a:t>
            </a:r>
            <a:endParaRPr lang="en-ZA" sz="1800" dirty="0" smtClean="0">
              <a:latin typeface="Arial Narrow" panose="020B0606020202030204" pitchFamily="34" charset="0"/>
            </a:endParaRPr>
          </a:p>
          <a:p>
            <a:r>
              <a:rPr lang="en-ZA" sz="1800" dirty="0" smtClean="0">
                <a:latin typeface="Arial Narrow" panose="020B0606020202030204" pitchFamily="34" charset="0"/>
              </a:rPr>
              <a:t>A </a:t>
            </a:r>
            <a:r>
              <a:rPr lang="en-ZA" sz="1800" dirty="0">
                <a:latin typeface="Arial Narrow" panose="020B0606020202030204" pitchFamily="34" charset="0"/>
              </a:rPr>
              <a:t>small screen size restricts the font size and the amount of information that can be displayed on the </a:t>
            </a:r>
            <a:r>
              <a:rPr lang="en-ZA" sz="1800" dirty="0" smtClean="0">
                <a:latin typeface="Arial Narrow" panose="020B0606020202030204" pitchFamily="34" charset="0"/>
              </a:rPr>
              <a:t>screen</a:t>
            </a:r>
          </a:p>
          <a:p>
            <a:r>
              <a:rPr lang="en-ZA" sz="1800" dirty="0">
                <a:latin typeface="Arial Narrow" panose="020B0606020202030204" pitchFamily="34" charset="0"/>
              </a:rPr>
              <a:t>Handheld devices (smartphones and iPads) </a:t>
            </a:r>
            <a:r>
              <a:rPr lang="en-ZA" sz="1800" dirty="0" smtClean="0">
                <a:latin typeface="Arial Narrow" panose="020B0606020202030204" pitchFamily="34" charset="0"/>
              </a:rPr>
              <a:t>: differ </a:t>
            </a:r>
            <a:r>
              <a:rPr lang="en-ZA" sz="1800" dirty="0">
                <a:latin typeface="Arial Narrow" panose="020B0606020202030204" pitchFamily="34" charset="0"/>
              </a:rPr>
              <a:t>from PCs and laptops in terms of size, portability and interaction style.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Early </a:t>
            </a:r>
            <a:r>
              <a:rPr lang="en-ZA" sz="1800" dirty="0">
                <a:latin typeface="Arial Narrow" panose="020B0606020202030204" pitchFamily="34" charset="0"/>
              </a:rPr>
              <a:t>cellphones equipped with hard-wired, small and physical keyboards.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Most </a:t>
            </a:r>
            <a:r>
              <a:rPr lang="en-ZA" sz="1800" dirty="0">
                <a:latin typeface="Arial Narrow" panose="020B0606020202030204" pitchFamily="34" charset="0"/>
              </a:rPr>
              <a:t>modern smartphones are touch based with virtual pop-up keyboards and are interacted with by finger tapping.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Tablets </a:t>
            </a:r>
            <a:r>
              <a:rPr lang="en-ZA" sz="1800" dirty="0">
                <a:latin typeface="Arial Narrow" panose="020B0606020202030204" pitchFamily="34" charset="0"/>
              </a:rPr>
              <a:t>and smartphones are also increasingly used in classrooms</a:t>
            </a:r>
          </a:p>
          <a:p>
            <a:pPr marL="0" indent="0">
              <a:buNone/>
            </a:pPr>
            <a:endParaRPr lang="en-ZA" sz="18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
        <p:nvSpPr>
          <p:cNvPr id="4" name="Content Placeholder 3"/>
          <p:cNvSpPr>
            <a:spLocks noGrp="1"/>
          </p:cNvSpPr>
          <p:nvPr>
            <p:ph sz="half" idx="2"/>
          </p:nvPr>
        </p:nvSpPr>
        <p:spPr>
          <a:xfrm>
            <a:off x="6461760" y="235390"/>
            <a:ext cx="5538650" cy="5941573"/>
          </a:xfrm>
        </p:spPr>
        <p:txBody>
          <a:bodyPr>
            <a:normAutofit/>
          </a:bodyPr>
          <a:lstStyle/>
          <a:p>
            <a:pPr algn="just">
              <a:buFont typeface="Wingdings" panose="05000000000000000000" pitchFamily="2" charset="2"/>
              <a:buChar char="Ø"/>
            </a:pPr>
            <a:r>
              <a:rPr lang="en-ZA" sz="1800" b="1" dirty="0">
                <a:latin typeface="Arial Narrow" panose="020B0606020202030204" pitchFamily="34" charset="0"/>
              </a:rPr>
              <a:t>Multimodal Interfaces </a:t>
            </a:r>
            <a:endParaRPr lang="en-ZA" sz="1800" b="1" dirty="0" smtClean="0">
              <a:latin typeface="Arial Narrow" panose="020B0606020202030204" pitchFamily="34" charset="0"/>
            </a:endParaRPr>
          </a:p>
          <a:p>
            <a:pPr algn="just"/>
            <a:r>
              <a:rPr lang="en-ZA" sz="1800" dirty="0" smtClean="0">
                <a:latin typeface="Arial Narrow" panose="020B0606020202030204" pitchFamily="34" charset="0"/>
              </a:rPr>
              <a:t>Different </a:t>
            </a:r>
            <a:r>
              <a:rPr lang="en-ZA" sz="1800" dirty="0">
                <a:latin typeface="Arial Narrow" panose="020B0606020202030204" pitchFamily="34" charset="0"/>
              </a:rPr>
              <a:t>ways of interacting – including touch, sight, sound and speech – are combined so that users can experience or control information in various ways.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Different </a:t>
            </a:r>
            <a:r>
              <a:rPr lang="en-ZA" sz="1800" dirty="0">
                <a:latin typeface="Arial Narrow" panose="020B0606020202030204" pitchFamily="34" charset="0"/>
              </a:rPr>
              <a:t>input or output methods are used simultaneously o E.g. speech and gesture, or eye-gaze and gesture. </a:t>
            </a:r>
          </a:p>
          <a:p>
            <a:pPr marL="0" indent="0" algn="just">
              <a:buNone/>
            </a:pPr>
            <a:r>
              <a:rPr lang="en-ZA" sz="1800" b="1" u="sng" dirty="0" smtClean="0">
                <a:latin typeface="Arial Narrow" panose="020B0606020202030204" pitchFamily="34" charset="0"/>
              </a:rPr>
              <a:t>Advantages of </a:t>
            </a:r>
            <a:r>
              <a:rPr lang="en-ZA" sz="1800" b="1" u="sng" dirty="0">
                <a:latin typeface="Arial Narrow" panose="020B0606020202030204" pitchFamily="34" charset="0"/>
              </a:rPr>
              <a:t>Multimodal Interfaces </a:t>
            </a:r>
          </a:p>
          <a:p>
            <a:pPr algn="just"/>
            <a:r>
              <a:rPr lang="en-ZA" sz="1800" dirty="0" smtClean="0">
                <a:latin typeface="Arial Narrow" panose="020B0606020202030204" pitchFamily="34" charset="0"/>
              </a:rPr>
              <a:t>Allow </a:t>
            </a:r>
            <a:r>
              <a:rPr lang="en-ZA" sz="1800" dirty="0">
                <a:latin typeface="Arial Narrow" panose="020B0606020202030204" pitchFamily="34" charset="0"/>
              </a:rPr>
              <a:t>more flexible interaction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Can </a:t>
            </a:r>
            <a:r>
              <a:rPr lang="en-ZA" sz="1800" dirty="0">
                <a:latin typeface="Arial Narrow" panose="020B0606020202030204" pitchFamily="34" charset="0"/>
              </a:rPr>
              <a:t>support users with disabilities or very young users </a:t>
            </a:r>
            <a:endParaRPr lang="en-ZA" sz="1800" dirty="0" smtClean="0">
              <a:latin typeface="Arial Narrow" panose="020B0606020202030204" pitchFamily="34" charset="0"/>
            </a:endParaRPr>
          </a:p>
          <a:p>
            <a:pPr marL="0" indent="0" algn="just">
              <a:buNone/>
            </a:pPr>
            <a:r>
              <a:rPr lang="en-ZA" sz="1800" b="1" u="sng" dirty="0" smtClean="0">
                <a:latin typeface="Arial Narrow" panose="020B0606020202030204" pitchFamily="34" charset="0"/>
              </a:rPr>
              <a:t>Disadvantages of </a:t>
            </a:r>
            <a:r>
              <a:rPr lang="en-ZA" sz="1800" b="1" u="sng" dirty="0">
                <a:latin typeface="Arial Narrow" panose="020B0606020202030204" pitchFamily="34" charset="0"/>
              </a:rPr>
              <a:t>Multimodal Interfaces </a:t>
            </a:r>
            <a:endParaRPr lang="en-ZA" sz="1800" b="1" u="sng" dirty="0" smtClean="0">
              <a:latin typeface="Arial Narrow" panose="020B0606020202030204" pitchFamily="34" charset="0"/>
            </a:endParaRPr>
          </a:p>
          <a:p>
            <a:pPr algn="just"/>
            <a:r>
              <a:rPr lang="en-ZA" sz="1800" dirty="0" smtClean="0">
                <a:latin typeface="Arial Narrow" panose="020B0606020202030204" pitchFamily="34" charset="0"/>
              </a:rPr>
              <a:t>Input </a:t>
            </a:r>
            <a:r>
              <a:rPr lang="en-ZA" sz="1800" dirty="0">
                <a:latin typeface="Arial Narrow" panose="020B0606020202030204" pitchFamily="34" charset="0"/>
              </a:rPr>
              <a:t>needs to be calibrated for accurate interpretation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They </a:t>
            </a:r>
            <a:r>
              <a:rPr lang="en-ZA" sz="1800" dirty="0">
                <a:latin typeface="Arial Narrow" panose="020B0606020202030204" pitchFamily="34" charset="0"/>
              </a:rPr>
              <a:t>are complex and difficult to implement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Expensive</a:t>
            </a:r>
          </a:p>
          <a:p>
            <a:pPr algn="just">
              <a:buFont typeface="Wingdings" panose="05000000000000000000" pitchFamily="2" charset="2"/>
              <a:buChar char="Ø"/>
            </a:pPr>
            <a:r>
              <a:rPr lang="en-ZA" sz="1800" b="1" dirty="0">
                <a:latin typeface="Arial Narrow" panose="020B0606020202030204" pitchFamily="34" charset="0"/>
              </a:rPr>
              <a:t>Shareable Interfaces </a:t>
            </a:r>
            <a:endParaRPr lang="en-ZA" sz="1800" b="1"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Allow more than one user to interact with the system by providing multiple or simultaneous inputs. </a:t>
            </a:r>
            <a:endParaRPr lang="en-ZA" sz="1800" dirty="0" smtClean="0">
              <a:latin typeface="Arial Narrow" panose="020B0606020202030204" pitchFamily="34" charset="0"/>
            </a:endParaRPr>
          </a:p>
        </p:txBody>
      </p:sp>
    </p:spTree>
    <p:extLst>
      <p:ext uri="{BB962C8B-B14F-4D97-AF65-F5344CB8AC3E}">
        <p14:creationId xmlns:p14="http://schemas.microsoft.com/office/powerpoint/2010/main" val="1393119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3497" y="162962"/>
            <a:ext cx="5224193" cy="6272672"/>
          </a:xfrm>
        </p:spPr>
        <p:txBody>
          <a:bodyPr>
            <a:normAutofit fontScale="77500" lnSpcReduction="20000"/>
          </a:bodyPr>
          <a:lstStyle/>
          <a:p>
            <a:pPr marL="0" indent="0">
              <a:buNone/>
            </a:pPr>
            <a:r>
              <a:rPr lang="en-ZA" sz="2000" dirty="0">
                <a:latin typeface="Arial Narrow" panose="020B0606020202030204" pitchFamily="34" charset="0"/>
              </a:rPr>
              <a:t>• </a:t>
            </a:r>
            <a:r>
              <a:rPr lang="en-ZA" sz="2400" dirty="0" err="1">
                <a:latin typeface="Arial Narrow" panose="020B0606020202030204" pitchFamily="34" charset="0"/>
              </a:rPr>
              <a:t>Tabletop</a:t>
            </a:r>
            <a:r>
              <a:rPr lang="en-ZA" sz="2400" dirty="0">
                <a:latin typeface="Arial Narrow" panose="020B0606020202030204" pitchFamily="34" charset="0"/>
              </a:rPr>
              <a:t> environments detects touch input from multiple users at the same time: </a:t>
            </a:r>
            <a:endParaRPr lang="en-ZA" sz="2400"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Use </a:t>
            </a:r>
            <a:r>
              <a:rPr lang="en-ZA" dirty="0">
                <a:latin typeface="Arial Narrow" panose="020B0606020202030204" pitchFamily="34" charset="0"/>
              </a:rPr>
              <a:t>an array of embedded antennae that each transmits a unique signal.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The </a:t>
            </a:r>
            <a:r>
              <a:rPr lang="en-ZA" dirty="0">
                <a:latin typeface="Arial Narrow" panose="020B0606020202030204" pitchFamily="34" charset="0"/>
              </a:rPr>
              <a:t>users each sit on their own chair or mat which has a receiver installed.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Through </a:t>
            </a:r>
            <a:r>
              <a:rPr lang="en-ZA" dirty="0">
                <a:latin typeface="Arial Narrow" panose="020B0606020202030204" pitchFamily="34" charset="0"/>
              </a:rPr>
              <a:t>the user’s body, a signal goes from the </a:t>
            </a:r>
            <a:r>
              <a:rPr lang="en-ZA" dirty="0" err="1">
                <a:latin typeface="Arial Narrow" panose="020B0606020202030204" pitchFamily="34" charset="0"/>
              </a:rPr>
              <a:t>tabletop</a:t>
            </a:r>
            <a:r>
              <a:rPr lang="en-ZA" dirty="0">
                <a:latin typeface="Arial Narrow" panose="020B0606020202030204" pitchFamily="34" charset="0"/>
              </a:rPr>
              <a:t> to the receiver and tells the computer which antenna was touched. </a:t>
            </a:r>
            <a:endParaRPr lang="en-ZA" dirty="0" smtClean="0">
              <a:latin typeface="Arial Narrow" panose="020B0606020202030204" pitchFamily="34" charset="0"/>
            </a:endParaRPr>
          </a:p>
          <a:p>
            <a:pPr marL="0" indent="0">
              <a:buNone/>
            </a:pPr>
            <a:r>
              <a:rPr lang="en-ZA" sz="2400" dirty="0" smtClean="0">
                <a:latin typeface="Arial Narrow" panose="020B0606020202030204" pitchFamily="34" charset="0"/>
              </a:rPr>
              <a:t>• </a:t>
            </a:r>
            <a:r>
              <a:rPr lang="en-ZA" sz="2400" dirty="0">
                <a:latin typeface="Arial Narrow" panose="020B0606020202030204" pitchFamily="34" charset="0"/>
              </a:rPr>
              <a:t>E.g. </a:t>
            </a:r>
            <a:r>
              <a:rPr lang="en-ZA" sz="2400" dirty="0" err="1">
                <a:latin typeface="Arial Narrow" panose="020B0606020202030204" pitchFamily="34" charset="0"/>
              </a:rPr>
              <a:t>Roomware</a:t>
            </a:r>
            <a:r>
              <a:rPr lang="en-ZA" sz="2400" dirty="0">
                <a:latin typeface="Arial Narrow" panose="020B0606020202030204" pitchFamily="34" charset="0"/>
              </a:rPr>
              <a:t> </a:t>
            </a:r>
            <a:endParaRPr lang="en-ZA" sz="2400"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S</a:t>
            </a:r>
            <a:r>
              <a:rPr lang="en-US" dirty="0" err="1" smtClean="0">
                <a:latin typeface="Arial Narrow" panose="020B0606020202030204" pitchFamily="34" charset="0"/>
              </a:rPr>
              <a:t>oftware</a:t>
            </a:r>
            <a:r>
              <a:rPr lang="en-US" dirty="0" smtClean="0">
                <a:latin typeface="Arial Narrow" panose="020B0606020202030204" pitchFamily="34" charset="0"/>
              </a:rPr>
              <a:t> </a:t>
            </a:r>
            <a:r>
              <a:rPr lang="en-US" dirty="0">
                <a:latin typeface="Arial Narrow" panose="020B0606020202030204" pitchFamily="34" charset="0"/>
              </a:rPr>
              <a:t>that enables a room to interact with </a:t>
            </a:r>
            <a:r>
              <a:rPr lang="en-US" dirty="0" smtClean="0">
                <a:latin typeface="Arial Narrow" panose="020B0606020202030204" pitchFamily="34" charset="0"/>
              </a:rPr>
              <a:t>people, using </a:t>
            </a:r>
            <a:r>
              <a:rPr lang="en-US" dirty="0">
                <a:latin typeface="Arial Narrow" panose="020B0606020202030204" pitchFamily="34" charset="0"/>
              </a:rPr>
              <a:t>Bluetooth and Wi-Fi </a:t>
            </a:r>
            <a:r>
              <a:rPr lang="en-US" dirty="0" smtClean="0">
                <a:latin typeface="Arial Narrow" panose="020B0606020202030204" pitchFamily="34" charset="0"/>
              </a:rPr>
              <a:t> to share.</a:t>
            </a:r>
            <a:endParaRPr lang="en-US" dirty="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Designed </a:t>
            </a:r>
            <a:r>
              <a:rPr lang="en-ZA" dirty="0">
                <a:latin typeface="Arial Narrow" panose="020B0606020202030204" pitchFamily="34" charset="0"/>
              </a:rPr>
              <a:t>to integrate interactive furniture pieces, walls, table and chairs. </a:t>
            </a:r>
            <a:endParaRPr lang="en-ZA" dirty="0" smtClean="0">
              <a:latin typeface="Arial Narrow" panose="020B0606020202030204" pitchFamily="34" charset="0"/>
            </a:endParaRPr>
          </a:p>
          <a:p>
            <a:pPr marL="0" indent="0">
              <a:buNone/>
            </a:pPr>
            <a:r>
              <a:rPr lang="en-ZA" sz="2400" b="1" u="sng" dirty="0">
                <a:latin typeface="Arial Narrow" panose="020B0606020202030204" pitchFamily="34" charset="0"/>
              </a:rPr>
              <a:t>Advantages </a:t>
            </a:r>
            <a:r>
              <a:rPr lang="en-ZA" sz="2400" b="1" u="sng" dirty="0" smtClean="0">
                <a:latin typeface="Arial Narrow" panose="020B0606020202030204" pitchFamily="34" charset="0"/>
              </a:rPr>
              <a:t>of </a:t>
            </a:r>
            <a:r>
              <a:rPr lang="en-ZA" sz="2400" b="1" u="sng" dirty="0">
                <a:latin typeface="Arial Narrow" panose="020B0606020202030204" pitchFamily="34" charset="0"/>
              </a:rPr>
              <a:t>Shareable Interfaces </a:t>
            </a:r>
          </a:p>
          <a:p>
            <a:pPr marL="0" indent="0">
              <a:buNone/>
            </a:pPr>
            <a:r>
              <a:rPr lang="en-ZA" sz="2400" dirty="0" smtClean="0">
                <a:latin typeface="Arial Narrow" panose="020B0606020202030204" pitchFamily="34" charset="0"/>
              </a:rPr>
              <a:t>• </a:t>
            </a:r>
            <a:r>
              <a:rPr lang="en-ZA" sz="2400" dirty="0">
                <a:latin typeface="Arial Narrow" panose="020B0606020202030204" pitchFamily="34" charset="0"/>
              </a:rPr>
              <a:t>Provide a large interactional space </a:t>
            </a:r>
            <a:endParaRPr lang="en-ZA" sz="2400" dirty="0" smtClean="0">
              <a:latin typeface="Arial Narrow" panose="020B0606020202030204" pitchFamily="34" charset="0"/>
            </a:endParaRPr>
          </a:p>
          <a:p>
            <a:pPr marL="0" indent="0">
              <a:buNone/>
            </a:pPr>
            <a:r>
              <a:rPr lang="en-ZA" sz="2400" dirty="0" smtClean="0">
                <a:latin typeface="Arial Narrow" panose="020B0606020202030204" pitchFamily="34" charset="0"/>
              </a:rPr>
              <a:t>• </a:t>
            </a:r>
            <a:r>
              <a:rPr lang="en-ZA" sz="2400" dirty="0">
                <a:latin typeface="Arial Narrow" panose="020B0606020202030204" pitchFamily="34" charset="0"/>
              </a:rPr>
              <a:t>Supports flexible group work and sharing of information </a:t>
            </a:r>
            <a:endParaRPr lang="en-ZA" sz="2400" dirty="0" smtClean="0">
              <a:latin typeface="Arial Narrow" panose="020B0606020202030204" pitchFamily="34" charset="0"/>
            </a:endParaRPr>
          </a:p>
          <a:p>
            <a:pPr lvl="1">
              <a:buFont typeface="Wingdings" panose="05000000000000000000" pitchFamily="2" charset="2"/>
              <a:buChar char="§"/>
            </a:pPr>
            <a:r>
              <a:rPr lang="en-ZA" sz="2300" dirty="0" smtClean="0">
                <a:latin typeface="Arial Narrow" panose="020B0606020202030204" pitchFamily="34" charset="0"/>
              </a:rPr>
              <a:t>Enables </a:t>
            </a:r>
            <a:r>
              <a:rPr lang="en-ZA" sz="2300" dirty="0">
                <a:latin typeface="Arial Narrow" panose="020B0606020202030204" pitchFamily="34" charset="0"/>
              </a:rPr>
              <a:t>group members to jointly create content at the same time. </a:t>
            </a:r>
            <a:endParaRPr lang="en-ZA" sz="2300" dirty="0" smtClean="0">
              <a:latin typeface="Arial Narrow" panose="020B0606020202030204" pitchFamily="34" charset="0"/>
            </a:endParaRPr>
          </a:p>
          <a:p>
            <a:pPr marL="0" indent="0">
              <a:buNone/>
            </a:pPr>
            <a:r>
              <a:rPr lang="en-ZA" sz="2400" b="1" u="sng" dirty="0" smtClean="0">
                <a:latin typeface="Arial Narrow" panose="020B0606020202030204" pitchFamily="34" charset="0"/>
              </a:rPr>
              <a:t>Disadvantages of </a:t>
            </a:r>
            <a:r>
              <a:rPr lang="en-ZA" sz="2400" b="1" u="sng" dirty="0">
                <a:latin typeface="Arial Narrow" panose="020B0606020202030204" pitchFamily="34" charset="0"/>
              </a:rPr>
              <a:t>Shareable Interfaces </a:t>
            </a:r>
          </a:p>
          <a:p>
            <a:pPr marL="0" indent="0">
              <a:buNone/>
            </a:pPr>
            <a:r>
              <a:rPr lang="en-ZA" sz="2400" dirty="0" smtClean="0">
                <a:latin typeface="Arial Narrow" panose="020B0606020202030204" pitchFamily="34" charset="0"/>
              </a:rPr>
              <a:t>• </a:t>
            </a:r>
            <a:r>
              <a:rPr lang="en-ZA" sz="2400" dirty="0">
                <a:latin typeface="Arial Narrow" panose="020B0606020202030204" pitchFamily="34" charset="0"/>
              </a:rPr>
              <a:t>Separating personal and shared workspaces requires specialised hardware and software and correct positioning at the interface. </a:t>
            </a:r>
            <a:endParaRPr lang="en-ZA" sz="2400" dirty="0" smtClean="0">
              <a:latin typeface="Arial Narrow" panose="020B0606020202030204" pitchFamily="34" charset="0"/>
            </a:endParaRPr>
          </a:p>
          <a:p>
            <a:pPr marL="0" indent="0">
              <a:buNone/>
            </a:pPr>
            <a:r>
              <a:rPr lang="en-ZA" sz="2400" dirty="0" smtClean="0">
                <a:latin typeface="Arial Narrow" panose="020B0606020202030204" pitchFamily="34" charset="0"/>
              </a:rPr>
              <a:t>• </a:t>
            </a:r>
            <a:r>
              <a:rPr lang="en-ZA" sz="2400" dirty="0">
                <a:latin typeface="Arial Narrow" panose="020B0606020202030204" pitchFamily="34" charset="0"/>
              </a:rPr>
              <a:t>Expensive to develop</a:t>
            </a:r>
          </a:p>
        </p:txBody>
      </p:sp>
      <p:sp>
        <p:nvSpPr>
          <p:cNvPr id="4" name="Content Placeholder 3"/>
          <p:cNvSpPr>
            <a:spLocks noGrp="1"/>
          </p:cNvSpPr>
          <p:nvPr>
            <p:ph sz="half" idx="2"/>
          </p:nvPr>
        </p:nvSpPr>
        <p:spPr>
          <a:xfrm>
            <a:off x="5477690" y="162962"/>
            <a:ext cx="6518151" cy="6272672"/>
          </a:xfrm>
        </p:spPr>
        <p:txBody>
          <a:bodyPr>
            <a:noAutofit/>
          </a:bodyPr>
          <a:lstStyle/>
          <a:p>
            <a:pPr>
              <a:buFont typeface="Wingdings" panose="05000000000000000000" pitchFamily="2" charset="2"/>
              <a:buChar char="Ø"/>
            </a:pPr>
            <a:r>
              <a:rPr lang="en-ZA" sz="1800" b="1" dirty="0">
                <a:latin typeface="Arial Narrow" panose="020B0606020202030204" pitchFamily="34" charset="0"/>
              </a:rPr>
              <a:t>Tangible Interfaces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Described by </a:t>
            </a:r>
            <a:r>
              <a:rPr lang="en-ZA" sz="1800" dirty="0" err="1">
                <a:latin typeface="Arial Narrow" panose="020B0606020202030204" pitchFamily="34" charset="0"/>
              </a:rPr>
              <a:t>Hornecker</a:t>
            </a:r>
            <a:r>
              <a:rPr lang="en-ZA" sz="1800" dirty="0">
                <a:latin typeface="Arial Narrow" panose="020B0606020202030204" pitchFamily="34" charset="0"/>
              </a:rPr>
              <a:t> and </a:t>
            </a:r>
            <a:r>
              <a:rPr lang="en-ZA" sz="1800" dirty="0" err="1">
                <a:latin typeface="Arial Narrow" panose="020B0606020202030204" pitchFamily="34" charset="0"/>
              </a:rPr>
              <a:t>Buur</a:t>
            </a:r>
            <a:r>
              <a:rPr lang="en-ZA" sz="1800" dirty="0">
                <a:latin typeface="Arial Narrow" panose="020B0606020202030204" pitchFamily="34" charset="0"/>
              </a:rPr>
              <a:t> as “a broad range of systems and interfaces relying on embodied interaction, tangible manipulation and physical representation (of data), embeddedness in real space and digitally augmenting physical spaces”.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Use sensor-based interaction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Usually </a:t>
            </a:r>
            <a:r>
              <a:rPr lang="en-ZA" sz="1800" dirty="0">
                <a:latin typeface="Arial Narrow" panose="020B0606020202030204" pitchFamily="34" charset="0"/>
              </a:rPr>
              <a:t>RFID tags - stickers, cards or disks that store and retrieve data through a wireless connection with a RFID transceiver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Physical </a:t>
            </a:r>
            <a:r>
              <a:rPr lang="en-ZA" sz="1800" dirty="0">
                <a:latin typeface="Arial Narrow" panose="020B0606020202030204" pitchFamily="34" charset="0"/>
              </a:rPr>
              <a:t>objects that contain sensors react to user input which can be in the form of speech, touch or the manipulation of the object.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The </a:t>
            </a:r>
            <a:r>
              <a:rPr lang="en-ZA" sz="1800" dirty="0">
                <a:latin typeface="Arial Narrow" panose="020B0606020202030204" pitchFamily="34" charset="0"/>
              </a:rPr>
              <a:t>effect can take place in the physical object (</a:t>
            </a:r>
            <a:r>
              <a:rPr lang="en-ZA" sz="1800" dirty="0" smtClean="0">
                <a:latin typeface="Arial Narrow" panose="020B0606020202030204" pitchFamily="34" charset="0"/>
              </a:rPr>
              <a:t>e.g. </a:t>
            </a:r>
            <a:r>
              <a:rPr lang="en-ZA" sz="1800" dirty="0">
                <a:latin typeface="Arial Narrow" panose="020B0606020202030204" pitchFamily="34" charset="0"/>
              </a:rPr>
              <a:t>toy that reacts to spoken commands) or in some other place (</a:t>
            </a:r>
            <a:r>
              <a:rPr lang="en-ZA" sz="1800" dirty="0" smtClean="0">
                <a:latin typeface="Arial Narrow" panose="020B0606020202030204" pitchFamily="34" charset="0"/>
              </a:rPr>
              <a:t>e.g. </a:t>
            </a:r>
            <a:r>
              <a:rPr lang="en-ZA" sz="1800" dirty="0">
                <a:latin typeface="Arial Narrow" panose="020B0606020202030204" pitchFamily="34" charset="0"/>
              </a:rPr>
              <a:t>on a computer screen).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Used for urban planning and storytelling </a:t>
            </a:r>
            <a:r>
              <a:rPr lang="en-ZA" sz="1800" dirty="0" smtClean="0">
                <a:latin typeface="Arial Narrow" panose="020B0606020202030204" pitchFamily="34" charset="0"/>
              </a:rPr>
              <a:t>technologies</a:t>
            </a:r>
          </a:p>
          <a:p>
            <a:pPr marL="0" indent="0">
              <a:buNone/>
            </a:pPr>
            <a:r>
              <a:rPr lang="en-ZA" sz="1800" b="1" u="sng" dirty="0">
                <a:latin typeface="Arial Narrow" panose="020B0606020202030204" pitchFamily="34" charset="0"/>
              </a:rPr>
              <a:t>Advantages </a:t>
            </a:r>
            <a:r>
              <a:rPr lang="en-ZA" sz="1800" b="1" u="sng" dirty="0" smtClean="0">
                <a:latin typeface="Arial Narrow" panose="020B0606020202030204" pitchFamily="34" charset="0"/>
              </a:rPr>
              <a:t>of </a:t>
            </a:r>
            <a:r>
              <a:rPr lang="en-ZA" sz="1800" b="1" u="sng" dirty="0">
                <a:latin typeface="Arial Narrow" panose="020B0606020202030204" pitchFamily="34" charset="0"/>
              </a:rPr>
              <a:t>Tangible Interfaces </a:t>
            </a:r>
          </a:p>
          <a:p>
            <a:r>
              <a:rPr lang="en-ZA" sz="1800" dirty="0" smtClean="0">
                <a:latin typeface="Arial Narrow" panose="020B0606020202030204" pitchFamily="34" charset="0"/>
              </a:rPr>
              <a:t>Generally </a:t>
            </a:r>
            <a:r>
              <a:rPr lang="en-ZA" sz="1800" dirty="0">
                <a:latin typeface="Arial Narrow" panose="020B0606020202030204" pitchFamily="34" charset="0"/>
              </a:rPr>
              <a:t>good for learning, design and collaboration. </a:t>
            </a:r>
            <a:endParaRPr lang="en-ZA" sz="1800" dirty="0" smtClean="0">
              <a:latin typeface="Arial Narrow" panose="020B0606020202030204" pitchFamily="34" charset="0"/>
            </a:endParaRPr>
          </a:p>
          <a:p>
            <a:r>
              <a:rPr lang="en-ZA" sz="1800" dirty="0" smtClean="0">
                <a:latin typeface="Arial Narrow" panose="020B0606020202030204" pitchFamily="34" charset="0"/>
              </a:rPr>
              <a:t>Physical </a:t>
            </a:r>
            <a:r>
              <a:rPr lang="en-ZA" sz="1800" dirty="0">
                <a:latin typeface="Arial Narrow" panose="020B0606020202030204" pitchFamily="34" charset="0"/>
              </a:rPr>
              <a:t>representations of real-life, </a:t>
            </a:r>
            <a:r>
              <a:rPr lang="en-ZA" sz="1800" dirty="0" err="1">
                <a:latin typeface="Arial Narrow" panose="020B0606020202030204" pitchFamily="34" charset="0"/>
              </a:rPr>
              <a:t>manipulatable</a:t>
            </a:r>
            <a:r>
              <a:rPr lang="en-ZA" sz="1800" dirty="0">
                <a:latin typeface="Arial Narrow" panose="020B0606020202030204" pitchFamily="34" charset="0"/>
              </a:rPr>
              <a:t> objects enable visualisation of complex plans</a:t>
            </a:r>
            <a:r>
              <a:rPr lang="en-ZA" sz="1800" dirty="0" smtClean="0">
                <a:latin typeface="Arial Narrow" panose="020B0606020202030204" pitchFamily="34" charset="0"/>
              </a:rPr>
              <a:t>.</a:t>
            </a:r>
          </a:p>
          <a:p>
            <a:r>
              <a:rPr lang="en-ZA" sz="1800" dirty="0">
                <a:latin typeface="Arial Narrow" panose="020B0606020202030204" pitchFamily="34" charset="0"/>
              </a:rPr>
              <a:t>Physical objects and digital representations can be positioned, combined, and explored in dynamic and creative ways, and can be held with both hands.</a:t>
            </a:r>
            <a:endParaRPr lang="en-ZA" sz="1800" b="1" u="sng"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16417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37244" cy="6122335"/>
          </a:xfrm>
        </p:spPr>
        <p:txBody>
          <a:bodyPr>
            <a:normAutofit fontScale="92500" lnSpcReduction="20000"/>
          </a:bodyPr>
          <a:lstStyle/>
          <a:p>
            <a:r>
              <a:rPr lang="en-ZA" sz="1800" dirty="0">
                <a:latin typeface="Arial Narrow" panose="020B0606020202030204" pitchFamily="34" charset="0"/>
              </a:rPr>
              <a:t>Suitable for young children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Can </a:t>
            </a:r>
            <a:r>
              <a:rPr lang="en-ZA" sz="1800" dirty="0">
                <a:latin typeface="Arial Narrow" panose="020B0606020202030204" pitchFamily="34" charset="0"/>
              </a:rPr>
              <a:t>assist with developing sensory awareness and general cognitive development and to help understand abstract concepts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E.g</a:t>
            </a:r>
            <a:r>
              <a:rPr lang="en-ZA" sz="1800" dirty="0">
                <a:latin typeface="Arial Narrow" panose="020B0606020202030204" pitchFamily="34" charset="0"/>
              </a:rPr>
              <a:t>. PETS (Personal Electronic Teller of Stories) is a tangible storytelling system that allows children to create their own interface – a soft, robotic toy. </a:t>
            </a:r>
          </a:p>
          <a:p>
            <a:r>
              <a:rPr lang="en-ZA" sz="1800" dirty="0" smtClean="0">
                <a:latin typeface="Arial Narrow" panose="020B0606020202030204" pitchFamily="34" charset="0"/>
              </a:rPr>
              <a:t>More </a:t>
            </a:r>
            <a:r>
              <a:rPr lang="en-ZA" sz="1800" dirty="0">
                <a:latin typeface="Arial Narrow" panose="020B0606020202030204" pitchFamily="34" charset="0"/>
              </a:rPr>
              <a:t>than one person can explore the interface together and objects can be placed on top of, beside and inside each other.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Encourage </a:t>
            </a:r>
            <a:r>
              <a:rPr lang="en-ZA" sz="1800" dirty="0">
                <a:latin typeface="Arial Narrow" panose="020B0606020202030204" pitchFamily="34" charset="0"/>
              </a:rPr>
              <a:t>different ways of representing and exploring a problems space</a:t>
            </a:r>
            <a:r>
              <a:rPr lang="en-ZA" sz="1800" dirty="0" smtClean="0">
                <a:latin typeface="Arial Narrow" panose="020B0606020202030204" pitchFamily="34" charset="0"/>
              </a:rPr>
              <a:t>.</a:t>
            </a:r>
          </a:p>
          <a:p>
            <a:pPr marL="0" indent="0">
              <a:buNone/>
            </a:pPr>
            <a:r>
              <a:rPr lang="en-ZA" sz="1800" b="1" u="sng" dirty="0" smtClean="0">
                <a:latin typeface="Arial Narrow" panose="020B0606020202030204" pitchFamily="34" charset="0"/>
              </a:rPr>
              <a:t>Disadvantages </a:t>
            </a:r>
            <a:r>
              <a:rPr lang="en-ZA" sz="1800" b="1" u="sng" dirty="0">
                <a:latin typeface="Arial Narrow" panose="020B0606020202030204" pitchFamily="34" charset="0"/>
              </a:rPr>
              <a:t>of Tangible Interfaces </a:t>
            </a: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Development costs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Inaccurate mapping between actions and their effects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Incorrect placement of digital </a:t>
            </a:r>
            <a:r>
              <a:rPr lang="en-ZA" sz="1800" dirty="0" smtClean="0">
                <a:latin typeface="Arial Narrow" panose="020B0606020202030204" pitchFamily="34" charset="0"/>
              </a:rPr>
              <a:t>feedback</a:t>
            </a:r>
          </a:p>
          <a:p>
            <a:pPr marL="0" indent="0">
              <a:buNone/>
            </a:pPr>
            <a:endParaRPr lang="en-ZA" sz="1800" dirty="0" smtClean="0">
              <a:latin typeface="Arial Narrow" panose="020B0606020202030204" pitchFamily="34" charset="0"/>
            </a:endParaRPr>
          </a:p>
          <a:p>
            <a:pPr marL="0" indent="0">
              <a:buNone/>
            </a:pPr>
            <a:r>
              <a:rPr lang="en-ZA" sz="1800" b="1" u="sng" dirty="0">
                <a:latin typeface="Arial Narrow" panose="020B0606020202030204" pitchFamily="34" charset="0"/>
              </a:rPr>
              <a:t>Augmented and Mixed-Reality Interfaces </a:t>
            </a:r>
            <a:endParaRPr lang="en-ZA" sz="1800" b="1" u="sng" dirty="0" smtClean="0">
              <a:latin typeface="Arial Narrow" panose="020B0606020202030204" pitchFamily="34" charset="0"/>
            </a:endParaRPr>
          </a:p>
          <a:p>
            <a:r>
              <a:rPr lang="en-ZA" sz="1800" dirty="0">
                <a:latin typeface="Arial Narrow" panose="020B0606020202030204" pitchFamily="34" charset="0"/>
              </a:rPr>
              <a:t>Virtual representations = superimposed on physical devices and objects </a:t>
            </a:r>
            <a:endParaRPr lang="en-ZA" sz="1800" dirty="0" smtClean="0">
              <a:latin typeface="Arial Narrow" panose="020B0606020202030204" pitchFamily="34" charset="0"/>
            </a:endParaRPr>
          </a:p>
          <a:p>
            <a:r>
              <a:rPr lang="en-ZA" sz="1800" dirty="0" smtClean="0">
                <a:latin typeface="Arial Narrow" panose="020B0606020202030204" pitchFamily="34" charset="0"/>
              </a:rPr>
              <a:t>Mixed-reality </a:t>
            </a:r>
            <a:r>
              <a:rPr lang="en-ZA" sz="1800" dirty="0">
                <a:latin typeface="Arial Narrow" panose="020B0606020202030204" pitchFamily="34" charset="0"/>
              </a:rPr>
              <a:t>environment = views of the real world are combined with views of a virtual environment. </a:t>
            </a:r>
            <a:endParaRPr lang="en-ZA" sz="1800" b="1"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122335"/>
          </a:xfrm>
        </p:spPr>
        <p:txBody>
          <a:bodyPr>
            <a:normAutofit fontScale="92500" lnSpcReduction="20000"/>
          </a:bodyPr>
          <a:lstStyle/>
          <a:p>
            <a:pPr>
              <a:buFont typeface="Wingdings" panose="05000000000000000000" pitchFamily="2" charset="2"/>
              <a:buChar char="§"/>
            </a:pPr>
            <a:r>
              <a:rPr lang="en-ZA" sz="1800" dirty="0" smtClean="0">
                <a:latin typeface="Arial Narrow" panose="020B0606020202030204" pitchFamily="34" charset="0"/>
              </a:rPr>
              <a:t>Used </a:t>
            </a:r>
            <a:r>
              <a:rPr lang="en-ZA" sz="1800" dirty="0">
                <a:latin typeface="Arial Narrow" panose="020B0606020202030204" pitchFamily="34" charset="0"/>
              </a:rPr>
              <a:t>for medical applications – such as </a:t>
            </a:r>
            <a:endParaRPr lang="en-ZA" sz="1800" dirty="0" smtClean="0">
              <a:latin typeface="Arial Narrow" panose="020B0606020202030204" pitchFamily="34" charset="0"/>
            </a:endParaRPr>
          </a:p>
          <a:p>
            <a:pPr marL="457200" lvl="1" indent="0">
              <a:buNone/>
            </a:pPr>
            <a:r>
              <a:rPr lang="en-ZA" sz="1700" dirty="0" smtClean="0">
                <a:latin typeface="Arial Narrow" panose="020B0606020202030204" pitchFamily="34" charset="0"/>
              </a:rPr>
              <a:t>▪ </a:t>
            </a:r>
            <a:r>
              <a:rPr lang="en-ZA" sz="1700" dirty="0">
                <a:latin typeface="Arial Narrow" panose="020B0606020202030204" pitchFamily="34" charset="0"/>
              </a:rPr>
              <a:t>A scanned image of organs or unborn baby is projected onto body of patient to help doctors to see what goes on inside someone’s body. </a:t>
            </a:r>
            <a:endParaRPr lang="en-ZA" sz="1700" dirty="0" smtClean="0">
              <a:latin typeface="Arial Narrow" panose="020B0606020202030204" pitchFamily="34" charset="0"/>
            </a:endParaRPr>
          </a:p>
          <a:p>
            <a:pPr marL="457200" lvl="1" indent="0">
              <a:buNone/>
            </a:pPr>
            <a:r>
              <a:rPr lang="en-ZA" sz="1700" dirty="0" smtClean="0">
                <a:latin typeface="Arial Narrow" panose="020B0606020202030204" pitchFamily="34" charset="0"/>
              </a:rPr>
              <a:t>▪ </a:t>
            </a:r>
            <a:r>
              <a:rPr lang="en-ZA" sz="1700" dirty="0">
                <a:latin typeface="Arial Narrow" panose="020B0606020202030204" pitchFamily="34" charset="0"/>
              </a:rPr>
              <a:t>Aviation - show the real plane landing, taking off, and taxiing, and for poor weather </a:t>
            </a:r>
            <a:r>
              <a:rPr lang="en-ZA" sz="1700" dirty="0" smtClean="0">
                <a:latin typeface="Arial Narrow" panose="020B0606020202030204" pitchFamily="34" charset="0"/>
              </a:rPr>
              <a:t>conditions</a:t>
            </a:r>
            <a:endParaRPr lang="en-ZA" sz="1700" b="1" u="sng" dirty="0">
              <a:latin typeface="Arial Narrow" panose="020B0606020202030204" pitchFamily="34" charset="0"/>
            </a:endParaRPr>
          </a:p>
          <a:p>
            <a:pPr marL="0" indent="0">
              <a:buNone/>
            </a:pPr>
            <a:r>
              <a:rPr lang="en-ZA" sz="1800" b="1" u="sng" dirty="0">
                <a:latin typeface="Arial Narrow" panose="020B0606020202030204" pitchFamily="34" charset="0"/>
              </a:rPr>
              <a:t>Advantages Augmented and Mixed-Reality Interfaces </a:t>
            </a: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Enhance perception of the real world &amp; support training and education (simulators).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Everyday graphical representations such as maps, can be overlaid with additional dynamic information, such as with: </a:t>
            </a:r>
            <a:endParaRPr lang="en-ZA" sz="1800" dirty="0" smtClean="0">
              <a:latin typeface="Arial Narrow" panose="020B0606020202030204" pitchFamily="34" charset="0"/>
            </a:endParaRPr>
          </a:p>
          <a:p>
            <a:pPr lvl="1">
              <a:buFont typeface="Wingdings" panose="05000000000000000000" pitchFamily="2" charset="2"/>
              <a:buChar char="§"/>
            </a:pPr>
            <a:r>
              <a:rPr lang="en-ZA" sz="1900" dirty="0" smtClean="0">
                <a:latin typeface="Arial Narrow" panose="020B0606020202030204" pitchFamily="34" charset="0"/>
              </a:rPr>
              <a:t>Fish </a:t>
            </a:r>
            <a:r>
              <a:rPr lang="en-ZA" sz="1900" dirty="0">
                <a:latin typeface="Arial Narrow" panose="020B0606020202030204" pitchFamily="34" charset="0"/>
              </a:rPr>
              <a:t>finders </a:t>
            </a:r>
            <a:endParaRPr lang="en-ZA" sz="1900" dirty="0" smtClean="0">
              <a:latin typeface="Arial Narrow" panose="020B0606020202030204" pitchFamily="34" charset="0"/>
            </a:endParaRPr>
          </a:p>
          <a:p>
            <a:pPr lvl="1">
              <a:buFont typeface="Wingdings" panose="05000000000000000000" pitchFamily="2" charset="2"/>
              <a:buChar char="§"/>
            </a:pPr>
            <a:r>
              <a:rPr lang="en-ZA" sz="1900" dirty="0" smtClean="0">
                <a:latin typeface="Arial Narrow" panose="020B0606020202030204" pitchFamily="34" charset="0"/>
              </a:rPr>
              <a:t>AR </a:t>
            </a:r>
            <a:r>
              <a:rPr lang="en-ZA" sz="1900" dirty="0">
                <a:latin typeface="Arial Narrow" panose="020B0606020202030204" pitchFamily="34" charset="0"/>
              </a:rPr>
              <a:t>apps can guide a person holding a phone while walking. </a:t>
            </a:r>
            <a:endParaRPr lang="en-ZA" sz="1900" dirty="0" smtClean="0">
              <a:latin typeface="Arial Narrow" panose="020B0606020202030204" pitchFamily="34" charset="0"/>
            </a:endParaRPr>
          </a:p>
          <a:p>
            <a:pPr marL="0" indent="0">
              <a:buNone/>
            </a:pPr>
            <a:r>
              <a:rPr lang="en-ZA" sz="1800" b="1" u="sng" dirty="0" smtClean="0">
                <a:latin typeface="Arial Narrow" panose="020B0606020202030204" pitchFamily="34" charset="0"/>
              </a:rPr>
              <a:t>Disadvantages </a:t>
            </a:r>
            <a:r>
              <a:rPr lang="en-ZA" sz="1800" b="1" u="sng" dirty="0">
                <a:latin typeface="Arial Narrow" panose="020B0606020202030204" pitchFamily="34" charset="0"/>
              </a:rPr>
              <a:t>Augmented and Mixed-Reality Interfaces </a:t>
            </a: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The added information could become distracting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Users may have difficulty to distinguish between the real and the virtual world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Expensive systems </a:t>
            </a:r>
            <a:endParaRPr lang="en-ZA" sz="1800" dirty="0" smtClean="0">
              <a:latin typeface="Arial Narrow" panose="020B0606020202030204" pitchFamily="34" charset="0"/>
            </a:endParaRPr>
          </a:p>
          <a:p>
            <a:pPr>
              <a:buFont typeface="Wingdings" panose="05000000000000000000" pitchFamily="2" charset="2"/>
              <a:buChar char="Ø"/>
            </a:pPr>
            <a:r>
              <a:rPr lang="en-ZA" sz="1900" b="1" dirty="0">
                <a:latin typeface="Arial Narrow" panose="020B0606020202030204" pitchFamily="34" charset="0"/>
              </a:rPr>
              <a:t>Wearable Interfaces </a:t>
            </a:r>
            <a:r>
              <a:rPr lang="en-US" sz="1700" dirty="0">
                <a:latin typeface="Arial Narrow" panose="020B0606020202030204" pitchFamily="34" charset="0"/>
              </a:rPr>
              <a:t>As the name suggests, </a:t>
            </a:r>
            <a:r>
              <a:rPr lang="en-US" sz="1700" b="1" dirty="0">
                <a:latin typeface="Arial Narrow" panose="020B0606020202030204" pitchFamily="34" charset="0"/>
              </a:rPr>
              <a:t>wearable</a:t>
            </a:r>
            <a:r>
              <a:rPr lang="en-US" sz="1700" dirty="0">
                <a:latin typeface="Arial Narrow" panose="020B0606020202030204" pitchFamily="34" charset="0"/>
              </a:rPr>
              <a:t> are electronic devices which you can wear on you like an accessory or apparel</a:t>
            </a:r>
            <a:r>
              <a:rPr lang="en-US" sz="1700" dirty="0" smtClean="0">
                <a:latin typeface="Arial Narrow" panose="020B0606020202030204" pitchFamily="34" charset="0"/>
              </a:rPr>
              <a:t>. (</a:t>
            </a:r>
            <a:r>
              <a:rPr lang="en-US" sz="1700" dirty="0" err="1" smtClean="0">
                <a:latin typeface="Arial Narrow" panose="020B0606020202030204" pitchFamily="34" charset="0"/>
              </a:rPr>
              <a:t>e.g</a:t>
            </a:r>
            <a:r>
              <a:rPr lang="en-US" sz="1700" dirty="0" smtClean="0">
                <a:latin typeface="Arial Narrow" panose="020B0606020202030204" pitchFamily="34" charset="0"/>
              </a:rPr>
              <a:t> smart watches).</a:t>
            </a:r>
            <a:endParaRPr lang="en-ZA" sz="1700" b="1" dirty="0" smtClean="0">
              <a:latin typeface="Arial Narrow" panose="020B0606020202030204" pitchFamily="34" charset="0"/>
            </a:endParaRPr>
          </a:p>
          <a:p>
            <a:r>
              <a:rPr lang="en-ZA" sz="1800" dirty="0" smtClean="0">
                <a:latin typeface="Arial Narrow" panose="020B0606020202030204" pitchFamily="34" charset="0"/>
              </a:rPr>
              <a:t>Involve </a:t>
            </a:r>
            <a:r>
              <a:rPr lang="en-ZA" sz="1800" dirty="0">
                <a:latin typeface="Arial Narrow" panose="020B0606020202030204" pitchFamily="34" charset="0"/>
              </a:rPr>
              <a:t>input and output devices that are integrated with normal apparel such as headgear or goggles. </a:t>
            </a:r>
            <a:endParaRPr lang="en-ZA" sz="1800" dirty="0" smtClean="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48742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62962"/>
            <a:ext cx="5856838" cy="6129196"/>
          </a:xfrm>
        </p:spPr>
        <p:txBody>
          <a:bodyPr>
            <a:noAutofit/>
          </a:bodyPr>
          <a:lstStyle/>
          <a:p>
            <a:pPr marL="0" indent="0" algn="just">
              <a:buNone/>
            </a:pPr>
            <a:r>
              <a:rPr lang="en-ZA" sz="1600" b="1" u="sng" dirty="0">
                <a:latin typeface="Arial Narrow" panose="020B0606020202030204" pitchFamily="34" charset="0"/>
              </a:rPr>
              <a:t>Advantages </a:t>
            </a:r>
            <a:r>
              <a:rPr lang="en-ZA" sz="1600" b="1" u="sng" dirty="0" smtClean="0">
                <a:latin typeface="Arial Narrow" panose="020B0606020202030204" pitchFamily="34" charset="0"/>
              </a:rPr>
              <a:t>of </a:t>
            </a:r>
            <a:r>
              <a:rPr lang="en-ZA" sz="1600" b="1" u="sng" dirty="0">
                <a:latin typeface="Arial Narrow" panose="020B0606020202030204" pitchFamily="34" charset="0"/>
              </a:rPr>
              <a:t>Wearable Interfaces </a:t>
            </a: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Mobile and less restrictive than desk-based technologies or even mobile technologies. </a:t>
            </a:r>
            <a:endParaRPr lang="en-ZA" sz="1600"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Create a sense of realism </a:t>
            </a:r>
            <a:endParaRPr lang="en-ZA" sz="1600"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Provide immediate feedback </a:t>
            </a:r>
            <a:endParaRPr lang="en-ZA" sz="1600" dirty="0" smtClean="0">
              <a:latin typeface="Arial Narrow" panose="020B0606020202030204" pitchFamily="34" charset="0"/>
            </a:endParaRPr>
          </a:p>
          <a:p>
            <a:pPr lvl="1" algn="just">
              <a:buFont typeface="Wingdings" panose="05000000000000000000" pitchFamily="2" charset="2"/>
              <a:buChar char="§"/>
            </a:pPr>
            <a:r>
              <a:rPr lang="en-ZA" sz="1600" dirty="0" smtClean="0">
                <a:latin typeface="Arial Narrow" panose="020B0606020202030204" pitchFamily="34" charset="0"/>
              </a:rPr>
              <a:t> </a:t>
            </a:r>
            <a:r>
              <a:rPr lang="en-ZA" sz="1600" dirty="0">
                <a:latin typeface="Arial Narrow" panose="020B0606020202030204" pitchFamily="34" charset="0"/>
              </a:rPr>
              <a:t>Helpful in the detection of medical conditions </a:t>
            </a:r>
            <a:endParaRPr lang="en-ZA" sz="1600"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E.g. A sensor built into running shoes so their progress during a race can be monitored </a:t>
            </a:r>
            <a:endParaRPr lang="en-ZA" sz="1600" dirty="0" smtClean="0">
              <a:latin typeface="Arial Narrow" panose="020B0606020202030204" pitchFamily="34" charset="0"/>
            </a:endParaRPr>
          </a:p>
          <a:p>
            <a:pPr marL="0" indent="0" algn="just">
              <a:buNone/>
            </a:pPr>
            <a:r>
              <a:rPr lang="en-ZA" sz="1600" b="1" u="sng" dirty="0" smtClean="0">
                <a:latin typeface="Arial Narrow" panose="020B0606020202030204" pitchFamily="34" charset="0"/>
              </a:rPr>
              <a:t>Disadvantages </a:t>
            </a:r>
            <a:r>
              <a:rPr lang="en-ZA" sz="1600" b="1" u="sng" dirty="0">
                <a:latin typeface="Arial Narrow" panose="020B0606020202030204" pitchFamily="34" charset="0"/>
              </a:rPr>
              <a:t>of Wearable Interfaces </a:t>
            </a: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Uncomfortable because of their size and weight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Restricted battery </a:t>
            </a:r>
            <a:r>
              <a:rPr lang="en-ZA" sz="1800" dirty="0" smtClean="0">
                <a:latin typeface="Arial Narrow" panose="020B0606020202030204" pitchFamily="34" charset="0"/>
              </a:rPr>
              <a:t>life</a:t>
            </a:r>
          </a:p>
          <a:p>
            <a:pPr algn="just">
              <a:buFont typeface="Wingdings" panose="05000000000000000000" pitchFamily="2" charset="2"/>
              <a:buChar char="Ø"/>
            </a:pPr>
            <a:r>
              <a:rPr lang="en-ZA" sz="1800" b="1" dirty="0">
                <a:latin typeface="Arial Narrow" panose="020B0606020202030204" pitchFamily="34" charset="0"/>
              </a:rPr>
              <a:t>Multimedia Interfaces </a:t>
            </a:r>
            <a:endParaRPr lang="en-ZA" sz="1800" b="1"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Implies the use of a combination of different media within a single interface, namely graphics, text, video, sound and animation. </a:t>
            </a:r>
            <a:endParaRPr lang="en-ZA" sz="1600"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Link the different combinations of media with other forms of interactivity. o E.g. users can click on hotspot or link in an image or text that leads to another part of programme where user might find a video or animation. </a:t>
            </a:r>
            <a:endParaRPr lang="en-ZA" sz="1600" dirty="0" smtClean="0">
              <a:latin typeface="Arial Narrow" panose="020B0606020202030204" pitchFamily="34" charset="0"/>
            </a:endParaRPr>
          </a:p>
          <a:p>
            <a:pPr marL="0" indent="0" algn="just">
              <a:buNone/>
            </a:pPr>
            <a:r>
              <a:rPr lang="en-ZA" sz="1600" dirty="0" smtClean="0">
                <a:latin typeface="Arial Narrow" panose="020B0606020202030204" pitchFamily="34" charset="0"/>
              </a:rPr>
              <a:t>• </a:t>
            </a:r>
            <a:r>
              <a:rPr lang="en-ZA" sz="1600" dirty="0">
                <a:latin typeface="Arial Narrow" panose="020B0606020202030204" pitchFamily="34" charset="0"/>
              </a:rPr>
              <a:t>Combining media and interactivity provides better ways of presenting information and of doing it in different formats. </a:t>
            </a:r>
            <a:endParaRPr lang="en-ZA" sz="1600" b="1" u="sng" dirty="0">
              <a:latin typeface="Arial Narrow" panose="020B0606020202030204" pitchFamily="34" charset="0"/>
            </a:endParaRPr>
          </a:p>
        </p:txBody>
      </p:sp>
      <p:sp>
        <p:nvSpPr>
          <p:cNvPr id="4" name="Content Placeholder 3"/>
          <p:cNvSpPr>
            <a:spLocks noGrp="1"/>
          </p:cNvSpPr>
          <p:nvPr>
            <p:ph sz="half" idx="2"/>
          </p:nvPr>
        </p:nvSpPr>
        <p:spPr>
          <a:xfrm>
            <a:off x="6172199" y="162962"/>
            <a:ext cx="5841749" cy="6193388"/>
          </a:xfrm>
        </p:spPr>
        <p:txBody>
          <a:bodyPr>
            <a:normAutofit/>
          </a:bodyPr>
          <a:lstStyle/>
          <a:p>
            <a:r>
              <a:rPr lang="en-ZA" sz="1800" dirty="0" smtClean="0">
                <a:latin typeface="Arial Narrow" panose="020B0606020202030204" pitchFamily="34" charset="0"/>
              </a:rPr>
              <a:t>Designed </a:t>
            </a:r>
            <a:r>
              <a:rPr lang="en-ZA" sz="1800" dirty="0">
                <a:latin typeface="Arial Narrow" panose="020B0606020202030204" pitchFamily="34" charset="0"/>
              </a:rPr>
              <a:t>to be used with games that encourage users to explore different parts of a game or story by clicking on different parts of the screen. </a:t>
            </a:r>
            <a:endParaRPr lang="en-ZA" sz="1800" dirty="0" smtClean="0">
              <a:latin typeface="Arial Narrow" panose="020B0606020202030204" pitchFamily="34" charset="0"/>
            </a:endParaRPr>
          </a:p>
          <a:p>
            <a:r>
              <a:rPr lang="en-ZA" sz="1800" dirty="0" smtClean="0">
                <a:latin typeface="Arial Narrow" panose="020B0606020202030204" pitchFamily="34" charset="0"/>
              </a:rPr>
              <a:t>Developed </a:t>
            </a:r>
            <a:r>
              <a:rPr lang="en-ZA" sz="1800" dirty="0">
                <a:latin typeface="Arial Narrow" panose="020B0606020202030204" pitchFamily="34" charset="0"/>
              </a:rPr>
              <a:t>for mostly training, educational and entertainment purposes. </a:t>
            </a:r>
            <a:endParaRPr lang="en-ZA" sz="1800" dirty="0" smtClean="0">
              <a:latin typeface="Arial Narrow" panose="020B0606020202030204" pitchFamily="34" charset="0"/>
            </a:endParaRPr>
          </a:p>
          <a:p>
            <a:r>
              <a:rPr lang="en-ZA" sz="1800" dirty="0" smtClean="0">
                <a:latin typeface="Arial Narrow" panose="020B0606020202030204" pitchFamily="34" charset="0"/>
              </a:rPr>
              <a:t>Hands-on </a:t>
            </a:r>
            <a:r>
              <a:rPr lang="en-ZA" sz="1800" dirty="0">
                <a:latin typeface="Arial Narrow" panose="020B0606020202030204" pitchFamily="34" charset="0"/>
              </a:rPr>
              <a:t>interactive simulations have also been incorporated as part of multimedia learning </a:t>
            </a:r>
            <a:r>
              <a:rPr lang="en-ZA" sz="1800" dirty="0" smtClean="0">
                <a:latin typeface="Arial Narrow" panose="020B0606020202030204" pitchFamily="34" charset="0"/>
              </a:rPr>
              <a:t>environments.</a:t>
            </a:r>
          </a:p>
          <a:p>
            <a:pPr marL="0" indent="0">
              <a:buNone/>
            </a:pPr>
            <a:r>
              <a:rPr lang="en-ZA" sz="1800" b="1" u="sng" dirty="0">
                <a:latin typeface="Arial Narrow" panose="020B0606020202030204" pitchFamily="34" charset="0"/>
              </a:rPr>
              <a:t>Advantages </a:t>
            </a:r>
            <a:r>
              <a:rPr lang="en-ZA" sz="1800" b="1" u="sng" dirty="0" smtClean="0">
                <a:latin typeface="Arial Narrow" panose="020B0606020202030204" pitchFamily="34" charset="0"/>
              </a:rPr>
              <a:t>of Multimedia Interface</a:t>
            </a:r>
          </a:p>
          <a:p>
            <a:r>
              <a:rPr lang="en-ZA" sz="1800" dirty="0" smtClean="0">
                <a:latin typeface="Arial Narrow" panose="020B0606020202030204" pitchFamily="34" charset="0"/>
              </a:rPr>
              <a:t>Ability </a:t>
            </a:r>
            <a:r>
              <a:rPr lang="en-ZA" sz="1800" dirty="0">
                <a:latin typeface="Arial Narrow" panose="020B0606020202030204" pitchFamily="34" charset="0"/>
              </a:rPr>
              <a:t>to facilitate rapid access to multiple representations of information.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Work </a:t>
            </a:r>
            <a:r>
              <a:rPr lang="en-ZA" sz="1800" dirty="0">
                <a:latin typeface="Arial Narrow" panose="020B0606020202030204" pitchFamily="34" charset="0"/>
              </a:rPr>
              <a:t>well in digital libraries because they provide an assortment of audio and visual materials on a certain topic. </a:t>
            </a:r>
            <a:endParaRPr lang="en-ZA" sz="1800" dirty="0" smtClean="0">
              <a:latin typeface="Arial Narrow" panose="020B0606020202030204" pitchFamily="34" charset="0"/>
            </a:endParaRPr>
          </a:p>
          <a:p>
            <a:pPr>
              <a:buFont typeface="Wingdings" panose="05000000000000000000" pitchFamily="2" charset="2"/>
              <a:buChar char="Ø"/>
            </a:pPr>
            <a:r>
              <a:rPr lang="en-ZA" sz="1800" b="1" dirty="0">
                <a:latin typeface="Arial Narrow" panose="020B0606020202030204" pitchFamily="34" charset="0"/>
              </a:rPr>
              <a:t>Virtual Reality (VR)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Uses computer-generated graphical simulations to create the illusion of participation in a synthetic environment.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Refers to the experience of interacting with an artificial environment.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Widely used in retail and property sectors.</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91931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62962" y="135802"/>
            <a:ext cx="5323438" cy="6041161"/>
          </a:xfrm>
        </p:spPr>
        <p:txBody>
          <a:bodyPr>
            <a:normAutofit lnSpcReduction="10000"/>
          </a:bodyPr>
          <a:lstStyle/>
          <a:p>
            <a:pPr marL="0" indent="0">
              <a:buNone/>
            </a:pPr>
            <a:r>
              <a:rPr lang="en-ZA" sz="1800" b="1" u="sng" dirty="0">
                <a:latin typeface="Arial Narrow" panose="020B0606020202030204" pitchFamily="34" charset="0"/>
              </a:rPr>
              <a:t>Disadvantages </a:t>
            </a:r>
            <a:r>
              <a:rPr lang="en-ZA" sz="1800" b="1" u="sng" dirty="0" smtClean="0">
                <a:latin typeface="Arial Narrow" panose="020B0606020202030204" pitchFamily="34" charset="0"/>
              </a:rPr>
              <a:t>of VR</a:t>
            </a:r>
            <a:r>
              <a:rPr lang="en-ZA" sz="1800" b="1" u="sng" dirty="0">
                <a:latin typeface="Arial Narrow" panose="020B0606020202030204" pitchFamily="34" charset="0"/>
              </a:rPr>
              <a:t>: </a:t>
            </a:r>
            <a:endParaRPr lang="en-ZA" sz="1800" b="1" u="sng"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smtClean="0">
                <a:latin typeface="Arial Narrow" panose="020B0606020202030204" pitchFamily="34" charset="0"/>
              </a:rPr>
              <a:t>Users </a:t>
            </a:r>
            <a:r>
              <a:rPr lang="en-ZA" sz="1800" dirty="0">
                <a:latin typeface="Arial Narrow" panose="020B0606020202030204" pitchFamily="34" charset="0"/>
              </a:rPr>
              <a:t>found head-mounted displays difficult to use and uncomfortable to wear.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Caused motion sickness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Too expensive</a:t>
            </a:r>
            <a:r>
              <a:rPr lang="en-ZA" sz="1800" dirty="0" smtClean="0">
                <a:latin typeface="Arial Narrow" panose="020B0606020202030204" pitchFamily="34" charset="0"/>
              </a:rPr>
              <a:t>.</a:t>
            </a:r>
          </a:p>
          <a:p>
            <a:pPr marL="0" indent="0">
              <a:buNone/>
            </a:pPr>
            <a:r>
              <a:rPr lang="en-ZA" sz="1800" dirty="0" smtClean="0">
                <a:latin typeface="Arial Narrow" panose="020B0606020202030204" pitchFamily="34" charset="0"/>
              </a:rPr>
              <a:t>However, VR </a:t>
            </a:r>
            <a:r>
              <a:rPr lang="en-ZA" sz="1800" dirty="0">
                <a:latin typeface="Arial Narrow" panose="020B0606020202030204" pitchFamily="34" charset="0"/>
              </a:rPr>
              <a:t>headsets are now more affordable and more accurate head tracking allows developers to create compelling games, movies, and virtual environments. </a:t>
            </a:r>
            <a:endParaRPr lang="en-ZA" sz="1800" dirty="0" smtClean="0">
              <a:latin typeface="Arial Narrow" panose="020B0606020202030204" pitchFamily="34" charset="0"/>
            </a:endParaRPr>
          </a:p>
          <a:p>
            <a:pPr marL="0" indent="0">
              <a:buNone/>
            </a:pPr>
            <a:r>
              <a:rPr lang="en-ZA" sz="1800" b="1" u="sng" dirty="0" smtClean="0">
                <a:latin typeface="Arial Narrow" panose="020B0606020202030204" pitchFamily="34" charset="0"/>
              </a:rPr>
              <a:t>Advantage of Virtual Reality</a:t>
            </a: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Provide opportunities for new kinds of immersive experience by enabling users to interact with objects and navigation in 3D space.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3D </a:t>
            </a:r>
            <a:r>
              <a:rPr lang="en-ZA" sz="1800" dirty="0">
                <a:latin typeface="Arial Narrow" panose="020B0606020202030204" pitchFamily="34" charset="0"/>
              </a:rPr>
              <a:t>software toolkits make the programming of a virtual environment easier.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High fidelity of simulations of the real world compared to other forms of graphic interfaces such as multimedia. </a:t>
            </a:r>
            <a:endParaRPr lang="en-ZA" sz="1800" dirty="0" smtClean="0">
              <a:latin typeface="Arial Narrow" panose="020B0606020202030204" pitchFamily="34" charset="0"/>
            </a:endParaRPr>
          </a:p>
          <a:p>
            <a:pPr>
              <a:buFont typeface="Wingdings" panose="05000000000000000000" pitchFamily="2" charset="2"/>
              <a:buChar char="Ø"/>
            </a:pPr>
            <a:r>
              <a:rPr lang="en-ZA" sz="1800" b="1" dirty="0">
                <a:latin typeface="Arial Narrow" panose="020B0606020202030204" pitchFamily="34" charset="0"/>
              </a:rPr>
              <a:t>Robotic and Drone Interfaces </a:t>
            </a:r>
            <a:endParaRPr lang="en-ZA" sz="1800" b="1" dirty="0" smtClean="0">
              <a:latin typeface="Arial Narrow" panose="020B0606020202030204" pitchFamily="34" charset="0"/>
            </a:endParaRPr>
          </a:p>
          <a:p>
            <a:r>
              <a:rPr lang="en-ZA" sz="1800" dirty="0" smtClean="0">
                <a:latin typeface="Arial Narrow" panose="020B0606020202030204" pitchFamily="34" charset="0"/>
              </a:rPr>
              <a:t>Enable </a:t>
            </a:r>
            <a:r>
              <a:rPr lang="en-ZA" sz="1800" dirty="0">
                <a:latin typeface="Arial Narrow" panose="020B0606020202030204" pitchFamily="34" charset="0"/>
              </a:rPr>
              <a:t>users to move and steer a remote robot. </a:t>
            </a:r>
            <a:endParaRPr lang="en-US" sz="1800" dirty="0">
              <a:latin typeface="Arial Narrow" panose="020B0606020202030204" pitchFamily="34" charset="0"/>
            </a:endParaRPr>
          </a:p>
        </p:txBody>
      </p:sp>
      <p:sp>
        <p:nvSpPr>
          <p:cNvPr id="4" name="Content Placeholder 3"/>
          <p:cNvSpPr>
            <a:spLocks noGrp="1"/>
          </p:cNvSpPr>
          <p:nvPr>
            <p:ph sz="half" idx="2"/>
          </p:nvPr>
        </p:nvSpPr>
        <p:spPr>
          <a:xfrm>
            <a:off x="5634445" y="135802"/>
            <a:ext cx="6343289" cy="6059268"/>
          </a:xfrm>
        </p:spPr>
        <p:txBody>
          <a:bodyPr>
            <a:normAutofit lnSpcReduction="10000"/>
          </a:bodyPr>
          <a:lstStyle/>
          <a:p>
            <a:r>
              <a:rPr lang="en-ZA" sz="1800" dirty="0">
                <a:latin typeface="Arial Narrow" panose="020B0606020202030204" pitchFamily="34" charset="0"/>
              </a:rPr>
              <a:t>Robots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Computational </a:t>
            </a:r>
            <a:r>
              <a:rPr lang="en-ZA" sz="1800" dirty="0">
                <a:latin typeface="Arial Narrow" panose="020B0606020202030204" pitchFamily="34" charset="0"/>
              </a:rPr>
              <a:t>devices that have the physical appearance and behaviour of humans or animals.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Can </a:t>
            </a:r>
            <a:r>
              <a:rPr lang="en-ZA" sz="1800" dirty="0">
                <a:latin typeface="Arial Narrow" panose="020B0606020202030204" pitchFamily="34" charset="0"/>
              </a:rPr>
              <a:t>go into small or dangerous places or do manual repetitive tasks.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Domestic </a:t>
            </a:r>
            <a:r>
              <a:rPr lang="en-ZA" sz="1800" dirty="0">
                <a:latin typeface="Arial Narrow" panose="020B0606020202030204" pitchFamily="34" charset="0"/>
              </a:rPr>
              <a:t>robots can help in the house, and assist the disabled / elderly to pick up objects from the floor or to cook meals.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Pet-like </a:t>
            </a:r>
            <a:r>
              <a:rPr lang="en-ZA" sz="1800" dirty="0">
                <a:latin typeface="Arial Narrow" panose="020B0606020202030204" pitchFamily="34" charset="0"/>
              </a:rPr>
              <a:t>robots - developed to host events </a:t>
            </a:r>
            <a:r>
              <a:rPr lang="en-ZA" sz="1800" dirty="0" smtClean="0">
                <a:latin typeface="Arial Narrow" panose="020B0606020202030204" pitchFamily="34" charset="0"/>
              </a:rPr>
              <a:t>or act as a companion</a:t>
            </a:r>
          </a:p>
          <a:p>
            <a:r>
              <a:rPr lang="en-ZA" sz="1800" dirty="0">
                <a:latin typeface="Arial Narrow" panose="020B0606020202030204" pitchFamily="34" charset="0"/>
              </a:rPr>
              <a:t>Drones </a:t>
            </a:r>
          </a:p>
          <a:p>
            <a:pPr lvl="1">
              <a:buFont typeface="Wingdings" panose="05000000000000000000" pitchFamily="2" charset="2"/>
              <a:buChar char="§"/>
            </a:pPr>
            <a:r>
              <a:rPr lang="en-ZA" sz="1800" dirty="0" smtClean="0">
                <a:latin typeface="Arial Narrow" panose="020B0606020202030204" pitchFamily="34" charset="0"/>
              </a:rPr>
              <a:t>Unmanned </a:t>
            </a:r>
            <a:r>
              <a:rPr lang="en-ZA" sz="1800" dirty="0">
                <a:latin typeface="Arial Narrow" panose="020B0606020202030204" pitchFamily="34" charset="0"/>
              </a:rPr>
              <a:t>aircraft controlled remotely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Have </a:t>
            </a:r>
            <a:r>
              <a:rPr lang="en-ZA" sz="1800" dirty="0">
                <a:latin typeface="Arial Narrow" panose="020B0606020202030204" pitchFamily="34" charset="0"/>
              </a:rPr>
              <a:t>become more affordable, accessible and easier to fly.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Used</a:t>
            </a:r>
            <a:r>
              <a:rPr lang="en-ZA" sz="1800" dirty="0">
                <a:latin typeface="Arial Narrow" panose="020B0606020202030204" pitchFamily="34" charset="0"/>
              </a:rPr>
              <a:t>: </a:t>
            </a:r>
            <a:endParaRPr lang="en-ZA" sz="1800" dirty="0" smtClean="0">
              <a:latin typeface="Arial Narrow" panose="020B0606020202030204" pitchFamily="34" charset="0"/>
            </a:endParaRPr>
          </a:p>
          <a:p>
            <a:pPr marL="914400" lvl="2" indent="0">
              <a:buNone/>
            </a:pPr>
            <a:r>
              <a:rPr lang="en-ZA" sz="1800" dirty="0" smtClean="0">
                <a:latin typeface="Arial Narrow" panose="020B0606020202030204" pitchFamily="34" charset="0"/>
              </a:rPr>
              <a:t>▪ </a:t>
            </a:r>
            <a:r>
              <a:rPr lang="en-ZA" sz="1800" dirty="0">
                <a:latin typeface="Arial Narrow" panose="020B0606020202030204" pitchFamily="34" charset="0"/>
              </a:rPr>
              <a:t>Entertainment industry to carry drinks and food around </a:t>
            </a:r>
            <a:endParaRPr lang="en-ZA" sz="1800" dirty="0" smtClean="0">
              <a:latin typeface="Arial Narrow" panose="020B0606020202030204" pitchFamily="34" charset="0"/>
            </a:endParaRPr>
          </a:p>
          <a:p>
            <a:pPr marL="914400" lvl="2" indent="0">
              <a:buNone/>
            </a:pPr>
            <a:r>
              <a:rPr lang="en-ZA" sz="1800" dirty="0" smtClean="0">
                <a:latin typeface="Arial Narrow" panose="020B0606020202030204" pitchFamily="34" charset="0"/>
              </a:rPr>
              <a:t>▪ </a:t>
            </a:r>
            <a:r>
              <a:rPr lang="en-ZA" sz="1800" dirty="0">
                <a:latin typeface="Arial Narrow" panose="020B0606020202030204" pitchFamily="34" charset="0"/>
              </a:rPr>
              <a:t>Agriculture to fly over farm lands and vineyards to collect data, </a:t>
            </a:r>
          </a:p>
          <a:p>
            <a:pPr lvl="1">
              <a:buFont typeface="Wingdings" panose="05000000000000000000" pitchFamily="2" charset="2"/>
              <a:buChar char="§"/>
            </a:pPr>
            <a:r>
              <a:rPr lang="en-ZA" sz="1800" dirty="0" smtClean="0">
                <a:latin typeface="Arial Narrow" panose="020B0606020202030204" pitchFamily="34" charset="0"/>
              </a:rPr>
              <a:t>Can </a:t>
            </a:r>
            <a:r>
              <a:rPr lang="en-ZA" sz="1800" dirty="0">
                <a:latin typeface="Arial Narrow" panose="020B0606020202030204" pitchFamily="34" charset="0"/>
              </a:rPr>
              <a:t>fly very low and stream photos to a ground station where images are stitched onto maps and then used to assist decision making. </a:t>
            </a:r>
            <a:endParaRPr lang="en-ZA" sz="1800" dirty="0" smtClean="0">
              <a:latin typeface="Arial Narrow" panose="020B0606020202030204" pitchFamily="34" charset="0"/>
            </a:endParaRPr>
          </a:p>
          <a:p>
            <a:pPr>
              <a:buFont typeface="Wingdings" panose="05000000000000000000" pitchFamily="2" charset="2"/>
              <a:buChar char="Ø"/>
            </a:pPr>
            <a:r>
              <a:rPr lang="en-ZA" sz="1800" b="1" dirty="0">
                <a:latin typeface="Arial Narrow" panose="020B0606020202030204" pitchFamily="34" charset="0"/>
              </a:rPr>
              <a:t>Information Visualisation and Dashboard Interfaces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Information </a:t>
            </a:r>
            <a:r>
              <a:rPr lang="en-ZA" sz="1800" dirty="0">
                <a:latin typeface="Arial Narrow" panose="020B0606020202030204" pitchFamily="34" charset="0"/>
              </a:rPr>
              <a:t>visualisation (</a:t>
            </a:r>
            <a:r>
              <a:rPr lang="en-ZA" sz="1800" dirty="0" err="1">
                <a:latin typeface="Arial Narrow" panose="020B0606020202030204" pitchFamily="34" charset="0"/>
              </a:rPr>
              <a:t>infoviz</a:t>
            </a:r>
            <a:r>
              <a:rPr lang="en-ZA" sz="1800" dirty="0" smtClean="0">
                <a:latin typeface="Arial Narrow" panose="020B0606020202030204" pitchFamily="34" charset="0"/>
              </a:rPr>
              <a:t>) : Computer- generated </a:t>
            </a:r>
            <a:r>
              <a:rPr lang="en-ZA" sz="1800" dirty="0">
                <a:latin typeface="Arial Narrow" panose="020B0606020202030204" pitchFamily="34" charset="0"/>
              </a:rPr>
              <a:t>graphics of complex data which are interactive and dynamic. </a:t>
            </a:r>
            <a:endParaRPr lang="en-ZA" sz="1800" b="1" u="sng"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949973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a:bodyPr>
          <a:lstStyle/>
          <a:p>
            <a:pPr marL="0" indent="0">
              <a:buNone/>
            </a:pPr>
            <a:endParaRPr lang="en-ZA" dirty="0">
              <a:latin typeface="Arial Narrow" panose="020B0606020202030204" pitchFamily="34" charset="0"/>
            </a:endParaRPr>
          </a:p>
          <a:p>
            <a:endParaRPr lang="en-ZA" sz="2000" dirty="0">
              <a:latin typeface="Arial Narrow" panose="020B0606020202030204" pitchFamily="34" charset="0"/>
            </a:endParaRPr>
          </a:p>
          <a:p>
            <a:endParaRPr lang="en-ZA" sz="2000" dirty="0">
              <a:latin typeface="Arial Narrow" panose="020B0606020202030204" pitchFamily="34" charset="0"/>
            </a:endParaRPr>
          </a:p>
          <a:p>
            <a:pPr marL="0" indent="0">
              <a:buNone/>
            </a:pPr>
            <a:endParaRPr lang="en-ZA" dirty="0"/>
          </a:p>
        </p:txBody>
      </p:sp>
      <p:sp>
        <p:nvSpPr>
          <p:cNvPr id="8" name="Content Placeholder 7"/>
          <p:cNvSpPr>
            <a:spLocks noGrp="1"/>
          </p:cNvSpPr>
          <p:nvPr>
            <p:ph sz="half" idx="2"/>
          </p:nvPr>
        </p:nvSpPr>
        <p:spPr>
          <a:xfrm>
            <a:off x="296092" y="182880"/>
            <a:ext cx="5701484" cy="6006783"/>
          </a:xfrm>
        </p:spPr>
        <p:txBody>
          <a:bodyPr>
            <a:normAutofit lnSpcReduction="10000"/>
          </a:bodyPr>
          <a:lstStyle/>
          <a:p>
            <a:pPr marL="0" indent="0">
              <a:buNone/>
            </a:pPr>
            <a:r>
              <a:rPr lang="en-ZA" sz="1900" b="1" u="sng" dirty="0">
                <a:latin typeface="Arial Narrow" panose="020B0606020202030204" pitchFamily="34" charset="0"/>
              </a:rPr>
              <a:t>Examples </a:t>
            </a:r>
            <a:endParaRPr lang="en-ZA" sz="1900" b="1" u="sng" dirty="0" smtClean="0">
              <a:latin typeface="Arial Narrow" panose="020B0606020202030204" pitchFamily="34" charset="0"/>
            </a:endParaRPr>
          </a:p>
          <a:p>
            <a:r>
              <a:rPr lang="en-ZA" sz="1900" dirty="0" smtClean="0">
                <a:latin typeface="Arial Narrow" panose="020B0606020202030204" pitchFamily="34" charset="0"/>
              </a:rPr>
              <a:t>Tree </a:t>
            </a:r>
            <a:r>
              <a:rPr lang="en-ZA" sz="1900" dirty="0">
                <a:latin typeface="Arial Narrow" panose="020B0606020202030204" pitchFamily="34" charset="0"/>
              </a:rPr>
              <a:t>maps to visualise file systems to enable users to understand why they are running out of disk space or realise how much space different applications take up </a:t>
            </a:r>
            <a:endParaRPr lang="en-ZA" sz="1900" dirty="0" smtClean="0">
              <a:latin typeface="Arial Narrow" panose="020B0606020202030204" pitchFamily="34" charset="0"/>
            </a:endParaRPr>
          </a:p>
          <a:p>
            <a:r>
              <a:rPr lang="en-ZA" sz="1900" dirty="0" smtClean="0">
                <a:latin typeface="Arial Narrow" panose="020B0606020202030204" pitchFamily="34" charset="0"/>
              </a:rPr>
              <a:t>Represent </a:t>
            </a:r>
            <a:r>
              <a:rPr lang="en-ZA" sz="1900" dirty="0">
                <a:latin typeface="Arial Narrow" panose="020B0606020202030204" pitchFamily="34" charset="0"/>
              </a:rPr>
              <a:t>changes in stock prices and shares over time </a:t>
            </a:r>
            <a:endParaRPr lang="en-ZA" sz="1900" dirty="0" smtClean="0">
              <a:latin typeface="Arial Narrow" panose="020B0606020202030204" pitchFamily="34" charset="0"/>
            </a:endParaRPr>
          </a:p>
          <a:p>
            <a:pPr marL="0" indent="0">
              <a:buNone/>
            </a:pPr>
            <a:r>
              <a:rPr lang="en-ZA" sz="1800" b="1" u="sng" dirty="0" smtClean="0">
                <a:latin typeface="Arial Narrow" panose="020B0606020202030204" pitchFamily="34" charset="0"/>
              </a:rPr>
              <a:t>Aim </a:t>
            </a:r>
            <a:r>
              <a:rPr lang="en-ZA" sz="1800" b="1" u="sng" dirty="0">
                <a:latin typeface="Arial Narrow" panose="020B0606020202030204" pitchFamily="34" charset="0"/>
              </a:rPr>
              <a:t>of information visualisation interfaces: </a:t>
            </a:r>
            <a:endParaRPr lang="en-ZA" sz="1800" b="1" u="sng"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Amplify human cognition by enabling users to see patterns, trends and anomalies in the visualisation and to gain insight from it.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Facilitate discovery, decision-making and the explanation of phenomena</a:t>
            </a:r>
            <a:r>
              <a:rPr lang="en-ZA" sz="1800" dirty="0" smtClean="0">
                <a:latin typeface="Arial Narrow" panose="020B0606020202030204" pitchFamily="34" charset="0"/>
              </a:rPr>
              <a:t>.</a:t>
            </a:r>
          </a:p>
          <a:p>
            <a:pPr marL="0" indent="0">
              <a:buNone/>
            </a:pPr>
            <a:r>
              <a:rPr lang="en-ZA" sz="1800" b="1" dirty="0">
                <a:latin typeface="Arial Narrow" panose="020B0606020202030204" pitchFamily="34" charset="0"/>
              </a:rPr>
              <a:t>Dashboards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Popular form of visualising information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Show screenshots of data updated over periods of time to be read at a glance.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More interactive and slices of data depict the current state of a system or process</a:t>
            </a:r>
            <a:r>
              <a:rPr lang="en-ZA" sz="1800" dirty="0" smtClean="0">
                <a:latin typeface="Arial Narrow" panose="020B0606020202030204" pitchFamily="34" charset="0"/>
              </a:rPr>
              <a:t>.</a:t>
            </a:r>
          </a:p>
          <a:p>
            <a:pPr marL="0" indent="0">
              <a:buNone/>
            </a:pPr>
            <a:r>
              <a:rPr lang="en-ZA" sz="1800" b="1" u="sng" dirty="0">
                <a:latin typeface="Arial Narrow" panose="020B0606020202030204" pitchFamily="34" charset="0"/>
              </a:rPr>
              <a:t>Disadvantage of dashboards </a:t>
            </a:r>
            <a:endParaRPr lang="en-ZA" sz="1800" b="1" u="sng"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Poor visual design of dashboards by software vendors. </a:t>
            </a:r>
          </a:p>
        </p:txBody>
      </p:sp>
      <p:sp>
        <p:nvSpPr>
          <p:cNvPr id="10" name="Content Placeholder 9"/>
          <p:cNvSpPr>
            <a:spLocks noGrp="1"/>
          </p:cNvSpPr>
          <p:nvPr>
            <p:ph sz="quarter" idx="4"/>
          </p:nvPr>
        </p:nvSpPr>
        <p:spPr>
          <a:xfrm>
            <a:off x="6172199" y="182880"/>
            <a:ext cx="5732417" cy="6006783"/>
          </a:xfrm>
        </p:spPr>
        <p:txBody>
          <a:bodyPr>
            <a:normAutofit fontScale="92500" lnSpcReduction="10000"/>
          </a:bodyPr>
          <a:lstStyle/>
          <a:p>
            <a:pPr>
              <a:buFont typeface="Wingdings" panose="05000000000000000000" pitchFamily="2" charset="2"/>
              <a:buChar char="Ø"/>
            </a:pPr>
            <a:r>
              <a:rPr lang="en-ZA" sz="1900" b="1" dirty="0">
                <a:latin typeface="Arial Narrow" panose="020B0606020202030204" pitchFamily="34" charset="0"/>
              </a:rPr>
              <a:t>Consumer Electronics and Appliances </a:t>
            </a:r>
            <a:r>
              <a:rPr lang="en-ZA" sz="1900" dirty="0">
                <a:latin typeface="Arial Narrow" panose="020B0606020202030204" pitchFamily="34" charset="0"/>
              </a:rPr>
              <a:t>– includes: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Machines for everyday use in public, at home or in a car. </a:t>
            </a:r>
            <a:endParaRPr lang="en-ZA" sz="1900" dirty="0" smtClean="0">
              <a:latin typeface="Arial Narrow" panose="020B0606020202030204" pitchFamily="34" charset="0"/>
            </a:endParaRPr>
          </a:p>
          <a:p>
            <a:pPr lvl="1">
              <a:buFont typeface="Wingdings" panose="05000000000000000000" pitchFamily="2" charset="2"/>
              <a:buChar char="§"/>
            </a:pPr>
            <a:r>
              <a:rPr lang="en-ZA" sz="1900" dirty="0" smtClean="0">
                <a:latin typeface="Arial Narrow" panose="020B0606020202030204" pitchFamily="34" charset="0"/>
              </a:rPr>
              <a:t>Washing </a:t>
            </a:r>
            <a:r>
              <a:rPr lang="en-ZA" sz="1900" dirty="0">
                <a:latin typeface="Arial Narrow" panose="020B0606020202030204" pitchFamily="34" charset="0"/>
              </a:rPr>
              <a:t>machines, microwaves, dish washers, DVD players, navigation systems.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Personal devices </a:t>
            </a:r>
            <a:endParaRPr lang="en-ZA" sz="1900" dirty="0" smtClean="0">
              <a:latin typeface="Arial Narrow" panose="020B0606020202030204" pitchFamily="34" charset="0"/>
            </a:endParaRPr>
          </a:p>
          <a:p>
            <a:pPr lvl="1">
              <a:buFont typeface="Wingdings" panose="05000000000000000000" pitchFamily="2" charset="2"/>
              <a:buChar char="§"/>
            </a:pPr>
            <a:r>
              <a:rPr lang="en-ZA" sz="1900" dirty="0" smtClean="0">
                <a:latin typeface="Arial Narrow" panose="020B0606020202030204" pitchFamily="34" charset="0"/>
              </a:rPr>
              <a:t>MP3 players</a:t>
            </a:r>
            <a:r>
              <a:rPr lang="en-ZA" sz="1900" dirty="0">
                <a:latin typeface="Arial Narrow" panose="020B0606020202030204" pitchFamily="34" charset="0"/>
              </a:rPr>
              <a:t>, digital clocks and digital cameras</a:t>
            </a:r>
            <a:r>
              <a:rPr lang="en-ZA" sz="1900" dirty="0" smtClean="0">
                <a:latin typeface="Arial Narrow" panose="020B0606020202030204" pitchFamily="34" charset="0"/>
              </a:rPr>
              <a:t>.</a:t>
            </a:r>
          </a:p>
          <a:p>
            <a:pPr marL="0" indent="0">
              <a:buNone/>
            </a:pPr>
            <a:r>
              <a:rPr lang="en-ZA" sz="1900" b="1" dirty="0">
                <a:latin typeface="Arial Narrow" panose="020B0606020202030204" pitchFamily="34" charset="0"/>
              </a:rPr>
              <a:t>What does the use of consumer electronic appliances have in common with personal devices? </a:t>
            </a:r>
            <a:endParaRPr lang="en-ZA" sz="1900" b="1" dirty="0" smtClean="0">
              <a:latin typeface="Arial Narrow" panose="020B0606020202030204" pitchFamily="34" charset="0"/>
            </a:endParaRPr>
          </a:p>
          <a:p>
            <a:r>
              <a:rPr lang="en-ZA" sz="1900" dirty="0" smtClean="0">
                <a:latin typeface="Arial Narrow" panose="020B0606020202030204" pitchFamily="34" charset="0"/>
              </a:rPr>
              <a:t>Users </a:t>
            </a:r>
            <a:r>
              <a:rPr lang="en-ZA" sz="1900" dirty="0">
                <a:latin typeface="Arial Narrow" panose="020B0606020202030204" pitchFamily="34" charset="0"/>
              </a:rPr>
              <a:t>try to get something done in the shortest period of time. E.g. switching on washing machine, watching a TV programme, buying a ticket, setting the time, or taking a snapshot. </a:t>
            </a:r>
            <a:endParaRPr lang="en-ZA" sz="1900" dirty="0" smtClean="0">
              <a:latin typeface="Arial Narrow" panose="020B0606020202030204" pitchFamily="34" charset="0"/>
            </a:endParaRPr>
          </a:p>
          <a:p>
            <a:r>
              <a:rPr lang="en-ZA" sz="1900" dirty="0" smtClean="0">
                <a:latin typeface="Arial Narrow" panose="020B0606020202030204" pitchFamily="34" charset="0"/>
              </a:rPr>
              <a:t>Consumers </a:t>
            </a:r>
            <a:r>
              <a:rPr lang="en-ZA" sz="1900" dirty="0">
                <a:latin typeface="Arial Narrow" panose="020B0606020202030204" pitchFamily="34" charset="0"/>
              </a:rPr>
              <a:t>are unlikely to read a manual to see how they are supposed to use the </a:t>
            </a:r>
            <a:r>
              <a:rPr lang="en-ZA" sz="1900" dirty="0" smtClean="0">
                <a:latin typeface="Arial Narrow" panose="020B0606020202030204" pitchFamily="34" charset="0"/>
              </a:rPr>
              <a:t>appliance.</a:t>
            </a:r>
          </a:p>
          <a:p>
            <a:pPr marL="0" indent="0">
              <a:buNone/>
            </a:pPr>
            <a:r>
              <a:rPr lang="en-ZA" sz="1900" b="1" dirty="0">
                <a:solidFill>
                  <a:schemeClr val="bg2"/>
                </a:solidFill>
                <a:latin typeface="Arial Narrow" panose="020B0606020202030204" pitchFamily="34" charset="0"/>
              </a:rPr>
              <a:t>INTERACTION DESIGN TECHNIQUES </a:t>
            </a:r>
            <a:endParaRPr lang="en-ZA" sz="1900" b="1" dirty="0" smtClean="0">
              <a:solidFill>
                <a:schemeClr val="bg2"/>
              </a:solidFill>
              <a:latin typeface="Arial Narrow" panose="020B0606020202030204" pitchFamily="34" charset="0"/>
            </a:endParaRPr>
          </a:p>
          <a:p>
            <a:pPr marL="0" indent="0">
              <a:buNone/>
            </a:pPr>
            <a:r>
              <a:rPr lang="en-ZA" sz="1900" dirty="0" smtClean="0">
                <a:solidFill>
                  <a:schemeClr val="bg2"/>
                </a:solidFill>
                <a:latin typeface="Arial Narrow" panose="020B0606020202030204" pitchFamily="34" charset="0"/>
              </a:rPr>
              <a:t>The </a:t>
            </a:r>
            <a:r>
              <a:rPr lang="en-ZA" sz="1900" dirty="0">
                <a:solidFill>
                  <a:schemeClr val="bg2"/>
                </a:solidFill>
                <a:latin typeface="Arial Narrow" panose="020B0606020202030204" pitchFamily="34" charset="0"/>
              </a:rPr>
              <a:t>iterative interaction design process involves: </a:t>
            </a:r>
            <a:endParaRPr lang="en-ZA" sz="1900" dirty="0" smtClean="0">
              <a:solidFill>
                <a:schemeClr val="bg2"/>
              </a:solidFill>
              <a:latin typeface="Arial Narrow" panose="020B0606020202030204" pitchFamily="34" charset="0"/>
            </a:endParaRPr>
          </a:p>
          <a:p>
            <a:pPr marL="342900" indent="-342900">
              <a:buAutoNum type="arabicPeriod"/>
            </a:pPr>
            <a:r>
              <a:rPr lang="en-ZA" sz="1900" dirty="0" smtClean="0">
                <a:solidFill>
                  <a:schemeClr val="bg2"/>
                </a:solidFill>
                <a:latin typeface="Arial Narrow" panose="020B0606020202030204" pitchFamily="34" charset="0"/>
              </a:rPr>
              <a:t>Identify </a:t>
            </a:r>
            <a:r>
              <a:rPr lang="en-ZA" sz="1900" dirty="0">
                <a:solidFill>
                  <a:schemeClr val="bg2"/>
                </a:solidFill>
                <a:latin typeface="Arial Narrow" panose="020B0606020202030204" pitchFamily="34" charset="0"/>
              </a:rPr>
              <a:t>users’ needs and requirements </a:t>
            </a:r>
            <a:endParaRPr lang="en-ZA" sz="1900" dirty="0" smtClean="0">
              <a:solidFill>
                <a:schemeClr val="bg2"/>
              </a:solidFill>
              <a:latin typeface="Arial Narrow" panose="020B0606020202030204" pitchFamily="34" charset="0"/>
            </a:endParaRPr>
          </a:p>
          <a:p>
            <a:pPr marL="342900" indent="-342900">
              <a:buAutoNum type="arabicPeriod"/>
            </a:pPr>
            <a:r>
              <a:rPr lang="en-ZA" sz="1900" dirty="0" smtClean="0">
                <a:solidFill>
                  <a:schemeClr val="bg2"/>
                </a:solidFill>
                <a:latin typeface="Arial Narrow" panose="020B0606020202030204" pitchFamily="34" charset="0"/>
              </a:rPr>
              <a:t>Develop </a:t>
            </a:r>
            <a:r>
              <a:rPr lang="en-ZA" sz="1900" dirty="0">
                <a:solidFill>
                  <a:schemeClr val="bg2"/>
                </a:solidFill>
                <a:latin typeface="Arial Narrow" panose="020B0606020202030204" pitchFamily="34" charset="0"/>
              </a:rPr>
              <a:t>alternative designs according to those requirements </a:t>
            </a:r>
            <a:endParaRPr lang="en-ZA" sz="1900" dirty="0" smtClean="0">
              <a:solidFill>
                <a:schemeClr val="bg2"/>
              </a:solidFill>
              <a:latin typeface="Arial Narrow" panose="020B0606020202030204" pitchFamily="34" charset="0"/>
            </a:endParaRPr>
          </a:p>
          <a:p>
            <a:pPr marL="342900" indent="-342900">
              <a:buAutoNum type="arabicPeriod"/>
            </a:pPr>
            <a:r>
              <a:rPr lang="en-ZA" sz="1900" dirty="0" smtClean="0">
                <a:solidFill>
                  <a:schemeClr val="bg2"/>
                </a:solidFill>
                <a:latin typeface="Arial Narrow" panose="020B0606020202030204" pitchFamily="34" charset="0"/>
              </a:rPr>
              <a:t>Build </a:t>
            </a:r>
            <a:r>
              <a:rPr lang="en-ZA" sz="1900" dirty="0">
                <a:solidFill>
                  <a:schemeClr val="bg2"/>
                </a:solidFill>
                <a:latin typeface="Arial Narrow" panose="020B0606020202030204" pitchFamily="34" charset="0"/>
              </a:rPr>
              <a:t>interactive versions (prototypes) of those designs </a:t>
            </a:r>
            <a:endParaRPr lang="en-ZA" sz="1900" dirty="0" smtClean="0">
              <a:solidFill>
                <a:schemeClr val="bg2"/>
              </a:solidFill>
              <a:latin typeface="Arial Narrow" panose="020B0606020202030204" pitchFamily="34" charset="0"/>
            </a:endParaRPr>
          </a:p>
          <a:p>
            <a:pPr marL="342900" indent="-342900">
              <a:buAutoNum type="arabicPeriod"/>
            </a:pPr>
            <a:r>
              <a:rPr lang="en-ZA" sz="1900" dirty="0" smtClean="0">
                <a:solidFill>
                  <a:schemeClr val="bg2"/>
                </a:solidFill>
                <a:latin typeface="Arial Narrow" panose="020B0606020202030204" pitchFamily="34" charset="0"/>
              </a:rPr>
              <a:t>Evaluate </a:t>
            </a:r>
            <a:r>
              <a:rPr lang="en-ZA" sz="1900" dirty="0">
                <a:solidFill>
                  <a:schemeClr val="bg2"/>
                </a:solidFill>
                <a:latin typeface="Arial Narrow" panose="020B0606020202030204" pitchFamily="34" charset="0"/>
              </a:rPr>
              <a:t>the users’ experience of the product</a:t>
            </a:r>
            <a:r>
              <a:rPr lang="en-ZA" sz="1900" dirty="0">
                <a:latin typeface="Arial Narrow" panose="020B0606020202030204" pitchFamily="34" charset="0"/>
              </a:rPr>
              <a:t>. </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839555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09006" y="90534"/>
            <a:ext cx="5608320" cy="6265815"/>
          </a:xfrm>
        </p:spPr>
        <p:txBody>
          <a:bodyPr>
            <a:normAutofit/>
          </a:bodyPr>
          <a:lstStyle/>
          <a:p>
            <a:r>
              <a:rPr lang="en-ZA" sz="1800" dirty="0">
                <a:latin typeface="Arial Narrow" panose="020B0606020202030204" pitchFamily="34" charset="0"/>
              </a:rPr>
              <a:t>Good interaction design is the philosophy of user-centred design, which means that users are involved throughout the development. </a:t>
            </a:r>
            <a:endParaRPr lang="en-ZA" sz="1800" dirty="0" smtClean="0">
              <a:latin typeface="Arial Narrow" panose="020B0606020202030204" pitchFamily="34" charset="0"/>
            </a:endParaRPr>
          </a:p>
          <a:p>
            <a:pPr marL="0" indent="0">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061167" y="90535"/>
            <a:ext cx="5878284" cy="6265814"/>
          </a:xfrm>
        </p:spPr>
        <p:txBody>
          <a:bodyPr>
            <a:normAutofit/>
          </a:bodyPr>
          <a:lstStyle/>
          <a:p>
            <a:pPr marL="0" indent="0" algn="just">
              <a:buNone/>
            </a:pPr>
            <a:r>
              <a:rPr lang="en-ZA" sz="2000" b="1" u="sng" dirty="0">
                <a:latin typeface="Arial Narrow" panose="020B0606020202030204" pitchFamily="34" charset="0"/>
              </a:rPr>
              <a:t>Prototypes</a:t>
            </a:r>
            <a:r>
              <a:rPr lang="en-ZA" sz="2000" u="sng" dirty="0">
                <a:latin typeface="Arial Narrow" panose="020B0606020202030204" pitchFamily="34" charset="0"/>
              </a:rPr>
              <a:t> </a:t>
            </a:r>
            <a:endParaRPr lang="en-ZA" sz="2000" u="sng" dirty="0" smtClean="0">
              <a:latin typeface="Arial Narrow" panose="020B0606020202030204" pitchFamily="34" charset="0"/>
            </a:endParaRPr>
          </a:p>
          <a:p>
            <a:pPr algn="just"/>
            <a:r>
              <a:rPr lang="en-ZA" sz="1800" dirty="0" smtClean="0">
                <a:latin typeface="Arial Narrow" panose="020B0606020202030204" pitchFamily="34" charset="0"/>
              </a:rPr>
              <a:t>Limited </a:t>
            </a:r>
            <a:r>
              <a:rPr lang="en-ZA" sz="1800" dirty="0">
                <a:latin typeface="Arial Narrow" panose="020B0606020202030204" pitchFamily="34" charset="0"/>
              </a:rPr>
              <a:t>representation of a design that allows users to interact and to explore usability.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Can </a:t>
            </a:r>
            <a:r>
              <a:rPr lang="en-ZA" sz="1800" dirty="0">
                <a:latin typeface="Arial Narrow" panose="020B0606020202030204" pitchFamily="34" charset="0"/>
              </a:rPr>
              <a:t>range from a simple, paper-based storyboard of the interface screens to a </a:t>
            </a:r>
            <a:r>
              <a:rPr lang="en-ZA" sz="1800" dirty="0" smtClean="0">
                <a:latin typeface="Arial Narrow" panose="020B0606020202030204" pitchFamily="34" charset="0"/>
              </a:rPr>
              <a:t>computer-based</a:t>
            </a:r>
            <a:r>
              <a:rPr lang="en-ZA" sz="1800" dirty="0">
                <a:latin typeface="Arial Narrow" panose="020B0606020202030204" pitchFamily="34" charset="0"/>
              </a:rPr>
              <a:t>, functionally reduced version of the actual system.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Advanced </a:t>
            </a:r>
            <a:r>
              <a:rPr lang="en-ZA" sz="1800" dirty="0">
                <a:latin typeface="Arial Narrow" panose="020B0606020202030204" pitchFamily="34" charset="0"/>
              </a:rPr>
              <a:t>into 3D printing technology. </a:t>
            </a:r>
            <a:endParaRPr lang="en-ZA" sz="1800" dirty="0" smtClean="0">
              <a:latin typeface="Arial Narrow" panose="020B0606020202030204" pitchFamily="34" charset="0"/>
            </a:endParaRPr>
          </a:p>
          <a:p>
            <a:pPr marL="0" indent="0" algn="just">
              <a:buNone/>
            </a:pPr>
            <a:r>
              <a:rPr lang="en-ZA" sz="2000" b="1" u="sng" dirty="0">
                <a:latin typeface="Arial Narrow" panose="020B0606020202030204" pitchFamily="34" charset="0"/>
              </a:rPr>
              <a:t>Prototypes have several functions: </a:t>
            </a:r>
            <a:endParaRPr lang="en-ZA" sz="2000" b="1" u="sng" dirty="0" smtClean="0">
              <a:latin typeface="Arial Narrow" panose="020B0606020202030204" pitchFamily="34" charset="0"/>
            </a:endParaRPr>
          </a:p>
          <a:p>
            <a:pPr marL="457200" indent="-457200" algn="just">
              <a:buAutoNum type="arabicPeriod"/>
            </a:pPr>
            <a:r>
              <a:rPr lang="en-ZA" sz="1800" dirty="0" smtClean="0">
                <a:latin typeface="Arial Narrow" panose="020B0606020202030204" pitchFamily="34" charset="0"/>
              </a:rPr>
              <a:t>Provide </a:t>
            </a:r>
            <a:r>
              <a:rPr lang="en-ZA" sz="1800" dirty="0">
                <a:latin typeface="Arial Narrow" panose="020B0606020202030204" pitchFamily="34" charset="0"/>
              </a:rPr>
              <a:t>a way to test different design ideas, especially during the evaluation of ideas. </a:t>
            </a:r>
            <a:endParaRPr lang="en-ZA" sz="1800" dirty="0" smtClean="0">
              <a:latin typeface="Arial Narrow" panose="020B0606020202030204" pitchFamily="34" charset="0"/>
            </a:endParaRPr>
          </a:p>
          <a:p>
            <a:pPr marL="457200" indent="-457200" algn="just">
              <a:buAutoNum type="arabicPeriod"/>
            </a:pPr>
            <a:r>
              <a:rPr lang="en-ZA" sz="1800" dirty="0" smtClean="0">
                <a:latin typeface="Arial Narrow" panose="020B0606020202030204" pitchFamily="34" charset="0"/>
              </a:rPr>
              <a:t>Act </a:t>
            </a:r>
            <a:r>
              <a:rPr lang="en-ZA" sz="1800" dirty="0">
                <a:latin typeface="Arial Narrow" panose="020B0606020202030204" pitchFamily="34" charset="0"/>
              </a:rPr>
              <a:t>as a communication medium within the design team </a:t>
            </a:r>
            <a:endParaRPr lang="en-ZA" sz="1800" dirty="0" smtClean="0">
              <a:latin typeface="Arial Narrow" panose="020B0606020202030204" pitchFamily="34" charset="0"/>
            </a:endParaRPr>
          </a:p>
          <a:p>
            <a:pPr marL="457200" lvl="1"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Members test their ideas on the prototype and the team discusses their ideas. </a:t>
            </a:r>
            <a:endParaRPr lang="en-ZA" sz="1800" dirty="0" smtClean="0">
              <a:latin typeface="Arial Narrow" panose="020B0606020202030204" pitchFamily="34" charset="0"/>
            </a:endParaRPr>
          </a:p>
          <a:p>
            <a:pPr marL="457200" indent="-457200" algn="just">
              <a:buAutoNum type="arabicPeriod"/>
            </a:pPr>
            <a:r>
              <a:rPr lang="en-ZA" sz="1800" dirty="0" smtClean="0">
                <a:latin typeface="Arial Narrow" panose="020B0606020202030204" pitchFamily="34" charset="0"/>
              </a:rPr>
              <a:t> </a:t>
            </a:r>
            <a:r>
              <a:rPr lang="en-ZA" sz="1800" dirty="0">
                <a:latin typeface="Arial Narrow" panose="020B0606020202030204" pitchFamily="34" charset="0"/>
              </a:rPr>
              <a:t>Act as a communication medium between designers and users or clients. </a:t>
            </a:r>
            <a:endParaRPr lang="en-ZA" sz="1800" dirty="0" smtClean="0">
              <a:latin typeface="Arial Narrow" panose="020B0606020202030204" pitchFamily="34" charset="0"/>
            </a:endParaRPr>
          </a:p>
          <a:p>
            <a:pPr marL="457200" lvl="1"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Designers can explain to users and clients their own understanding of what the system should look like and what it should be able to do and get feedback. </a:t>
            </a:r>
            <a:endParaRPr lang="en-ZA" sz="1800" dirty="0" smtClean="0">
              <a:latin typeface="Arial Narrow" panose="020B0606020202030204" pitchFamily="34" charset="0"/>
            </a:endParaRPr>
          </a:p>
          <a:p>
            <a:pPr marL="457200" indent="-457200" algn="just">
              <a:buAutoNum type="arabicPeriod"/>
            </a:pPr>
            <a:r>
              <a:rPr lang="en-ZA" sz="1800" dirty="0" smtClean="0">
                <a:latin typeface="Arial Narrow" panose="020B0606020202030204" pitchFamily="34" charset="0"/>
              </a:rPr>
              <a:t>Help </a:t>
            </a:r>
            <a:r>
              <a:rPr lang="en-ZA" sz="1800" dirty="0">
                <a:latin typeface="Arial Narrow" panose="020B0606020202030204" pitchFamily="34" charset="0"/>
              </a:rPr>
              <a:t>designers to choose between alternative designs. </a:t>
            </a:r>
          </a:p>
        </p:txBody>
      </p:sp>
      <p:sp>
        <p:nvSpPr>
          <p:cNvPr id="5" name="Footer Placeholder 4"/>
          <p:cNvSpPr>
            <a:spLocks noGrp="1"/>
          </p:cNvSpPr>
          <p:nvPr>
            <p:ph type="ftr" sz="quarter" idx="11"/>
          </p:nvPr>
        </p:nvSpPr>
        <p:spPr/>
        <p:txBody>
          <a:bodyPr/>
          <a:lstStyle/>
          <a:p>
            <a:r>
              <a:rPr lang="en-ZA" dirty="0" smtClean="0"/>
              <a:t>Prepared by Zwelo Makama -INF1520 eTutor</a:t>
            </a:r>
            <a:endParaRPr lang="en-ZA" dirty="0"/>
          </a:p>
        </p:txBody>
      </p:sp>
      <p:pic>
        <p:nvPicPr>
          <p:cNvPr id="2" name="Picture 1"/>
          <p:cNvPicPr>
            <a:picLocks noChangeAspect="1"/>
          </p:cNvPicPr>
          <p:nvPr/>
        </p:nvPicPr>
        <p:blipFill>
          <a:blip r:embed="rId2"/>
          <a:stretch>
            <a:fillRect/>
          </a:stretch>
        </p:blipFill>
        <p:spPr>
          <a:xfrm>
            <a:off x="209005" y="867864"/>
            <a:ext cx="5468983" cy="3875314"/>
          </a:xfrm>
          <a:prstGeom prst="rect">
            <a:avLst/>
          </a:prstGeom>
        </p:spPr>
      </p:pic>
      <p:sp>
        <p:nvSpPr>
          <p:cNvPr id="6" name="Rectangle 5"/>
          <p:cNvSpPr/>
          <p:nvPr/>
        </p:nvSpPr>
        <p:spPr>
          <a:xfrm>
            <a:off x="209005" y="4699635"/>
            <a:ext cx="5608321" cy="1754326"/>
          </a:xfrm>
          <a:prstGeom prst="rect">
            <a:avLst/>
          </a:prstGeom>
        </p:spPr>
        <p:txBody>
          <a:bodyPr wrap="square">
            <a:spAutoFit/>
          </a:bodyPr>
          <a:lstStyle/>
          <a:p>
            <a:r>
              <a:rPr lang="en-ZA" b="1" u="sng" dirty="0" err="1">
                <a:latin typeface="Arial Narrow" panose="020B0606020202030204" pitchFamily="34" charset="0"/>
              </a:rPr>
              <a:t>Williges</a:t>
            </a:r>
            <a:r>
              <a:rPr lang="en-ZA" b="1" u="sng" dirty="0">
                <a:latin typeface="Arial Narrow" panose="020B0606020202030204" pitchFamily="34" charset="0"/>
              </a:rPr>
              <a:t> and </a:t>
            </a:r>
            <a:r>
              <a:rPr lang="en-ZA" b="1" u="sng" dirty="0" err="1">
                <a:latin typeface="Arial Narrow" panose="020B0606020202030204" pitchFamily="34" charset="0"/>
              </a:rPr>
              <a:t>Williges</a:t>
            </a:r>
            <a:r>
              <a:rPr lang="en-ZA" b="1" u="sng" dirty="0">
                <a:latin typeface="Arial Narrow" panose="020B0606020202030204" pitchFamily="34" charset="0"/>
              </a:rPr>
              <a:t> </a:t>
            </a:r>
            <a:endParaRPr lang="en-ZA" b="1" u="sng" dirty="0" smtClean="0">
              <a:latin typeface="Arial Narrow" panose="020B0606020202030204" pitchFamily="34" charset="0"/>
            </a:endParaRPr>
          </a:p>
          <a:p>
            <a:r>
              <a:rPr lang="en-ZA" dirty="0" smtClean="0">
                <a:latin typeface="Arial Narrow" panose="020B0606020202030204" pitchFamily="34" charset="0"/>
              </a:rPr>
              <a:t>• </a:t>
            </a:r>
            <a:r>
              <a:rPr lang="en-ZA" dirty="0">
                <a:latin typeface="Arial Narrow" panose="020B0606020202030204" pitchFamily="34" charset="0"/>
              </a:rPr>
              <a:t>Classic model of software development - interface design drives overall design process. </a:t>
            </a:r>
            <a:endParaRPr lang="en-ZA" dirty="0" smtClean="0">
              <a:latin typeface="Arial Narrow" panose="020B0606020202030204" pitchFamily="34" charset="0"/>
            </a:endParaRPr>
          </a:p>
          <a:p>
            <a:r>
              <a:rPr lang="en-ZA" dirty="0" smtClean="0">
                <a:latin typeface="Arial Narrow" panose="020B0606020202030204" pitchFamily="34" charset="0"/>
              </a:rPr>
              <a:t>• </a:t>
            </a:r>
            <a:r>
              <a:rPr lang="en-ZA" dirty="0">
                <a:latin typeface="Arial Narrow" panose="020B0606020202030204" pitchFamily="34" charset="0"/>
              </a:rPr>
              <a:t>Idea = by identifying user requirements early on in the software development process, code generation and modification effort will be reduced.</a:t>
            </a:r>
          </a:p>
        </p:txBody>
      </p:sp>
    </p:spTree>
    <p:extLst>
      <p:ext uri="{BB962C8B-B14F-4D97-AF65-F5344CB8AC3E}">
        <p14:creationId xmlns:p14="http://schemas.microsoft.com/office/powerpoint/2010/main" val="194025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3909" y="117694"/>
            <a:ext cx="5158319" cy="6238656"/>
          </a:xfrm>
        </p:spPr>
        <p:txBody>
          <a:bodyPr>
            <a:normAutofit/>
          </a:bodyPr>
          <a:lstStyle/>
          <a:p>
            <a:pPr marL="0" indent="0" algn="just">
              <a:buNone/>
            </a:pPr>
            <a:r>
              <a:rPr lang="en-ZA" sz="1800" b="1" dirty="0">
                <a:latin typeface="Arial Narrow" panose="020B0606020202030204" pitchFamily="34" charset="0"/>
              </a:rPr>
              <a:t>Low-Fidelity Prototypes </a:t>
            </a:r>
            <a:endParaRPr lang="en-ZA" sz="1800" b="1" dirty="0" smtClean="0">
              <a:latin typeface="Arial Narrow" panose="020B0606020202030204" pitchFamily="34" charset="0"/>
            </a:endParaRPr>
          </a:p>
          <a:p>
            <a:pPr algn="just"/>
            <a:r>
              <a:rPr lang="en-ZA" sz="1800" dirty="0">
                <a:latin typeface="Arial Narrow" panose="020B0606020202030204" pitchFamily="34" charset="0"/>
              </a:rPr>
              <a:t>A cheap mock-up of a system.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Does </a:t>
            </a:r>
            <a:r>
              <a:rPr lang="en-ZA" sz="1800" dirty="0">
                <a:latin typeface="Arial Narrow" panose="020B0606020202030204" pitchFamily="34" charset="0"/>
              </a:rPr>
              <a:t>not use the material that the final product will be made of, and it may not even look like the intended system.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Conveys </a:t>
            </a:r>
            <a:r>
              <a:rPr lang="en-ZA" sz="1800" dirty="0">
                <a:latin typeface="Arial Narrow" panose="020B0606020202030204" pitchFamily="34" charset="0"/>
              </a:rPr>
              <a:t>basic components and functionality of the system and can fulfil the purpose</a:t>
            </a:r>
            <a:r>
              <a:rPr lang="en-ZA" sz="1800" dirty="0" smtClean="0">
                <a:latin typeface="Arial Narrow" panose="020B0606020202030204" pitchFamily="34" charset="0"/>
              </a:rPr>
              <a:t>.</a:t>
            </a:r>
          </a:p>
          <a:p>
            <a:pPr algn="just"/>
            <a:r>
              <a:rPr lang="en-ZA" sz="1800" dirty="0">
                <a:latin typeface="Arial Narrow" panose="020B0606020202030204" pitchFamily="34" charset="0"/>
              </a:rPr>
              <a:t>A prototype will use materials such as paper and cardboard rather than electronic screen material with limited functionality, or only represent the functions but not perform any</a:t>
            </a:r>
            <a:r>
              <a:rPr lang="en-ZA" sz="1800" dirty="0" smtClean="0">
                <a:latin typeface="Arial Narrow" panose="020B0606020202030204" pitchFamily="34" charset="0"/>
              </a:rPr>
              <a:t>.</a:t>
            </a:r>
          </a:p>
          <a:p>
            <a:pPr marL="0" indent="0" algn="just">
              <a:buNone/>
            </a:pPr>
            <a:r>
              <a:rPr lang="en-ZA" sz="1800" b="1" u="sng" dirty="0">
                <a:latin typeface="Arial Narrow" panose="020B0606020202030204" pitchFamily="34" charset="0"/>
              </a:rPr>
              <a:t>Advantages </a:t>
            </a:r>
            <a:r>
              <a:rPr lang="en-ZA" sz="1800" b="1" u="sng" dirty="0" smtClean="0">
                <a:latin typeface="Arial Narrow" panose="020B0606020202030204" pitchFamily="34" charset="0"/>
              </a:rPr>
              <a:t>of </a:t>
            </a:r>
            <a:r>
              <a:rPr lang="en-ZA" sz="1800" b="1" u="sng" dirty="0">
                <a:latin typeface="Arial Narrow" panose="020B0606020202030204" pitchFamily="34" charset="0"/>
              </a:rPr>
              <a:t>Low-Fidelity Prototypes </a:t>
            </a:r>
          </a:p>
          <a:p>
            <a:pPr lvl="1" algn="just">
              <a:buFont typeface="Wingdings" panose="05000000000000000000" pitchFamily="2" charset="2"/>
              <a:buChar char="§"/>
            </a:pPr>
            <a:r>
              <a:rPr lang="en-ZA" sz="1800" dirty="0" smtClean="0">
                <a:latin typeface="Arial Narrow" panose="020B0606020202030204" pitchFamily="34" charset="0"/>
              </a:rPr>
              <a:t>Cheap </a:t>
            </a:r>
            <a:r>
              <a:rPr lang="en-ZA" sz="1800" dirty="0">
                <a:latin typeface="Arial Narrow" panose="020B0606020202030204" pitchFamily="34" charset="0"/>
              </a:rPr>
              <a:t>and simple, and can be produced or adapted very quickly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Useful </a:t>
            </a:r>
            <a:r>
              <a:rPr lang="en-ZA" sz="1800" dirty="0">
                <a:latin typeface="Arial Narrow" panose="020B0606020202030204" pitchFamily="34" charset="0"/>
              </a:rPr>
              <a:t>if designers have just begun and still need to explore different ideas. </a:t>
            </a:r>
            <a:endParaRPr lang="en-ZA" sz="1800" dirty="0" smtClean="0">
              <a:latin typeface="Arial Narrow" panose="020B0606020202030204" pitchFamily="34" charset="0"/>
            </a:endParaRPr>
          </a:p>
          <a:p>
            <a:pPr algn="just"/>
            <a:r>
              <a:rPr lang="en-ZA" sz="1800" dirty="0" smtClean="0">
                <a:latin typeface="Arial Narrow" panose="020B0606020202030204" pitchFamily="34" charset="0"/>
              </a:rPr>
              <a:t>Low-fidelity </a:t>
            </a:r>
            <a:r>
              <a:rPr lang="en-ZA" sz="1800" dirty="0">
                <a:latin typeface="Arial Narrow" panose="020B0606020202030204" pitchFamily="34" charset="0"/>
              </a:rPr>
              <a:t>prototypes are not meant to become part of the real system – they are usually thrown away when they have served their purpose (or are kept for sentimental reasons).</a:t>
            </a:r>
          </a:p>
        </p:txBody>
      </p:sp>
      <p:sp>
        <p:nvSpPr>
          <p:cNvPr id="4" name="Content Placeholder 3"/>
          <p:cNvSpPr>
            <a:spLocks noGrp="1"/>
          </p:cNvSpPr>
          <p:nvPr>
            <p:ph sz="half" idx="2"/>
          </p:nvPr>
        </p:nvSpPr>
        <p:spPr>
          <a:xfrm>
            <a:off x="5408023" y="117693"/>
            <a:ext cx="6479178" cy="6238657"/>
          </a:xfrm>
        </p:spPr>
        <p:txBody>
          <a:bodyPr>
            <a:noAutofit/>
          </a:bodyPr>
          <a:lstStyle/>
          <a:p>
            <a:pPr marL="0" indent="0">
              <a:buNone/>
            </a:pPr>
            <a:r>
              <a:rPr lang="en-ZA" sz="1800" b="1" u="sng" dirty="0">
                <a:latin typeface="Arial Narrow" panose="020B0606020202030204" pitchFamily="34" charset="0"/>
              </a:rPr>
              <a:t>Examples of low-fidelity prototyping are:</a:t>
            </a:r>
            <a:r>
              <a:rPr lang="en-ZA" sz="1800" u="sng" dirty="0">
                <a:latin typeface="Arial Narrow" panose="020B0606020202030204" pitchFamily="34" charset="0"/>
              </a:rPr>
              <a:t> </a:t>
            </a:r>
            <a:endParaRPr lang="en-ZA" sz="1800" u="sng"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Storyboards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A </a:t>
            </a:r>
            <a:r>
              <a:rPr lang="en-ZA" sz="1800" dirty="0">
                <a:latin typeface="Arial Narrow" panose="020B0606020202030204" pitchFamily="34" charset="0"/>
              </a:rPr>
              <a:t>series of simple images representing the screens show how the user will progress through an application.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Used </a:t>
            </a:r>
            <a:r>
              <a:rPr lang="en-ZA" sz="1800" dirty="0">
                <a:latin typeface="Arial Narrow" panose="020B0606020202030204" pitchFamily="34" charset="0"/>
              </a:rPr>
              <a:t>to demonstrate to consumers how they need to navigate through a task.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Sketching o More detailed sketches of the interface, including what the icons will look like.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Requires </a:t>
            </a:r>
            <a:r>
              <a:rPr lang="en-ZA" sz="1800" dirty="0">
                <a:latin typeface="Arial Narrow" panose="020B0606020202030204" pitchFamily="34" charset="0"/>
              </a:rPr>
              <a:t>better drawing abilities than storyboards.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Index cards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Each </a:t>
            </a:r>
            <a:r>
              <a:rPr lang="en-ZA" sz="1800" dirty="0">
                <a:latin typeface="Arial Narrow" panose="020B0606020202030204" pitchFamily="34" charset="0"/>
              </a:rPr>
              <a:t>card represents a screen or an element of a task, and the user can be taken through different sequences of these.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Wizard of Oz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A </a:t>
            </a:r>
            <a:r>
              <a:rPr lang="en-ZA" sz="1800" dirty="0">
                <a:latin typeface="Arial Narrow" panose="020B0606020202030204" pitchFamily="34" charset="0"/>
              </a:rPr>
              <a:t>basic software-based prototype, but it still lacks functionality.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User </a:t>
            </a:r>
            <a:r>
              <a:rPr lang="en-ZA" sz="1800" dirty="0">
                <a:latin typeface="Arial Narrow" panose="020B0606020202030204" pitchFamily="34" charset="0"/>
              </a:rPr>
              <a:t>uses it as if it had all the functionality - feedback provided by someone in a different room at a computer connected to the user’s computer</a:t>
            </a:r>
            <a:r>
              <a:rPr lang="en-ZA" sz="1800" dirty="0" smtClean="0">
                <a:latin typeface="Arial Narrow" panose="020B0606020202030204" pitchFamily="34" charset="0"/>
              </a:rPr>
              <a:t>.</a:t>
            </a:r>
          </a:p>
          <a:p>
            <a:pPr marL="0" indent="0">
              <a:buNone/>
            </a:pPr>
            <a:r>
              <a:rPr lang="en-ZA" sz="1800" b="1" dirty="0">
                <a:latin typeface="Arial Narrow" panose="020B0606020202030204" pitchFamily="34" charset="0"/>
              </a:rPr>
              <a:t>High-Fidelity </a:t>
            </a:r>
            <a:r>
              <a:rPr lang="en-ZA" sz="1800" b="1" dirty="0" smtClean="0">
                <a:latin typeface="Arial Narrow" panose="020B0606020202030204" pitchFamily="34" charset="0"/>
              </a:rPr>
              <a:t>Prototypes</a:t>
            </a:r>
          </a:p>
          <a:p>
            <a:r>
              <a:rPr lang="en-ZA" sz="1800" dirty="0">
                <a:latin typeface="Arial Narrow" panose="020B0606020202030204" pitchFamily="34" charset="0"/>
              </a:rPr>
              <a:t>Resemble the final system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Usually use same materials that would be used in the final product. </a:t>
            </a:r>
          </a:p>
        </p:txBody>
      </p:sp>
      <p:sp>
        <p:nvSpPr>
          <p:cNvPr id="5" name="Footer Placeholder 4"/>
          <p:cNvSpPr>
            <a:spLocks noGrp="1"/>
          </p:cNvSpPr>
          <p:nvPr>
            <p:ph type="ftr" sz="quarter" idx="11"/>
          </p:nvPr>
        </p:nvSpPr>
        <p:spPr/>
        <p:txBody>
          <a:bodyPr/>
          <a:lstStyle/>
          <a:p>
            <a:r>
              <a:rPr lang="en-ZA" dirty="0" smtClean="0"/>
              <a:t>Prepared by </a:t>
            </a:r>
            <a:r>
              <a:rPr lang="en-ZA" dirty="0" err="1" smtClean="0"/>
              <a:t>Zwelo</a:t>
            </a:r>
            <a:r>
              <a:rPr lang="en-ZA" dirty="0" smtClean="0"/>
              <a:t> </a:t>
            </a:r>
            <a:r>
              <a:rPr lang="en-ZA" dirty="0" err="1" smtClean="0"/>
              <a:t>Makama</a:t>
            </a:r>
            <a:r>
              <a:rPr lang="en-ZA" dirty="0" smtClean="0"/>
              <a:t> -INF1520 </a:t>
            </a:r>
            <a:r>
              <a:rPr lang="en-ZA" dirty="0" err="1" smtClean="0"/>
              <a:t>eTutor</a:t>
            </a:r>
            <a:endParaRPr lang="en-ZA" dirty="0"/>
          </a:p>
        </p:txBody>
      </p:sp>
    </p:spTree>
    <p:extLst>
      <p:ext uri="{BB962C8B-B14F-4D97-AF65-F5344CB8AC3E}">
        <p14:creationId xmlns:p14="http://schemas.microsoft.com/office/powerpoint/2010/main" val="1505523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6675" y="217714"/>
            <a:ext cx="5953125" cy="5959249"/>
          </a:xfrm>
        </p:spPr>
        <p:txBody>
          <a:bodyPr>
            <a:normAutofit fontScale="92500" lnSpcReduction="10000"/>
          </a:bodyPr>
          <a:lstStyle/>
          <a:p>
            <a:pPr marL="0" indent="0" algn="just">
              <a:buNone/>
            </a:pPr>
            <a:r>
              <a:rPr lang="en-ZA" sz="1800" dirty="0">
                <a:latin typeface="Arial Narrow" panose="020B0606020202030204" pitchFamily="34" charset="0"/>
              </a:rPr>
              <a:t>• Developed by modifying and integrating existing components – hardware and software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Requires </a:t>
            </a:r>
            <a:r>
              <a:rPr lang="en-ZA" sz="1800" dirty="0">
                <a:latin typeface="Arial Narrow" panose="020B0606020202030204" pitchFamily="34" charset="0"/>
              </a:rPr>
              <a:t>software tools and programming skills.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Windows </a:t>
            </a:r>
            <a:r>
              <a:rPr lang="en-ZA" sz="1800" dirty="0">
                <a:latin typeface="Arial Narrow" panose="020B0606020202030204" pitchFamily="34" charset="0"/>
              </a:rPr>
              <a:t>programming languages, like Delphi and Visual Basic, are powerful prototyping tools and can be used by someone with basic programming skills.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Can gradually develop into the final product = evolutionary </a:t>
            </a:r>
            <a:r>
              <a:rPr lang="en-ZA" sz="1800" dirty="0" smtClean="0">
                <a:latin typeface="Arial Narrow" panose="020B0606020202030204" pitchFamily="34" charset="0"/>
              </a:rPr>
              <a:t>prototyping</a:t>
            </a:r>
          </a:p>
          <a:p>
            <a:pPr marL="0" indent="0" algn="just">
              <a:buNone/>
            </a:pPr>
            <a:endParaRPr lang="en-ZA" sz="1800" dirty="0">
              <a:latin typeface="Arial Narrow" panose="020B0606020202030204" pitchFamily="34" charset="0"/>
            </a:endParaRPr>
          </a:p>
        </p:txBody>
      </p:sp>
      <p:sp>
        <p:nvSpPr>
          <p:cNvPr id="4" name="Content Placeholder 3"/>
          <p:cNvSpPr>
            <a:spLocks noGrp="1"/>
          </p:cNvSpPr>
          <p:nvPr>
            <p:ph sz="half" idx="2"/>
          </p:nvPr>
        </p:nvSpPr>
        <p:spPr>
          <a:xfrm>
            <a:off x="6172199" y="217714"/>
            <a:ext cx="5732417" cy="5959249"/>
          </a:xfrm>
        </p:spPr>
        <p:txBody>
          <a:bodyPr>
            <a:normAutofit fontScale="92500" lnSpcReduction="10000"/>
          </a:bodyPr>
          <a:lstStyle/>
          <a:p>
            <a:pPr marL="0" indent="0" algn="just">
              <a:buNone/>
            </a:pPr>
            <a:r>
              <a:rPr lang="en-ZA" sz="2000" b="1" u="sng" dirty="0">
                <a:latin typeface="Arial Narrow" panose="020B0606020202030204" pitchFamily="34" charset="0"/>
              </a:rPr>
              <a:t>Conceptual Design </a:t>
            </a:r>
            <a:endParaRPr lang="en-ZA" sz="2000" b="1" u="sng"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Involves turning users’ needs and requirements into a conceptual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Conceptual model, according to </a:t>
            </a:r>
            <a:r>
              <a:rPr lang="en-ZA" sz="1800" dirty="0" err="1">
                <a:latin typeface="Arial Narrow" panose="020B0606020202030204" pitchFamily="34" charset="0"/>
              </a:rPr>
              <a:t>Preece</a:t>
            </a:r>
            <a:r>
              <a:rPr lang="en-ZA" sz="1800" dirty="0">
                <a:latin typeface="Arial Narrow" panose="020B0606020202030204" pitchFamily="34" charset="0"/>
              </a:rPr>
              <a:t>: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A </a:t>
            </a:r>
            <a:r>
              <a:rPr lang="en-ZA" sz="1800" dirty="0">
                <a:latin typeface="Arial Narrow" panose="020B0606020202030204" pitchFamily="34" charset="0"/>
              </a:rPr>
              <a:t>“high-level description of how a system is organised and operates”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Described by </a:t>
            </a:r>
            <a:r>
              <a:rPr lang="en-ZA" sz="1800" dirty="0" err="1">
                <a:latin typeface="Arial Narrow" panose="020B0606020202030204" pitchFamily="34" charset="0"/>
              </a:rPr>
              <a:t>Shneiderman</a:t>
            </a:r>
            <a:r>
              <a:rPr lang="en-ZA" sz="1800" dirty="0">
                <a:latin typeface="Arial Narrow" panose="020B0606020202030204" pitchFamily="34" charset="0"/>
              </a:rPr>
              <a:t> as: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“transforming </a:t>
            </a:r>
            <a:r>
              <a:rPr lang="en-ZA" sz="1800" dirty="0">
                <a:latin typeface="Arial Narrow" panose="020B0606020202030204" pitchFamily="34" charset="0"/>
              </a:rPr>
              <a:t>requirements into a conceptual model.”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It is not a description of the interface but it gives an idea of what users can do with a system and what concepts they need to be familiar with in order to use it. </a:t>
            </a:r>
          </a:p>
          <a:p>
            <a:pPr lvl="1" algn="just">
              <a:buFont typeface="Wingdings" panose="05000000000000000000" pitchFamily="2" charset="2"/>
              <a:buChar char="§"/>
            </a:pPr>
            <a:r>
              <a:rPr lang="en-ZA" sz="1800" dirty="0" smtClean="0">
                <a:latin typeface="Arial Narrow" panose="020B0606020202030204" pitchFamily="34" charset="0"/>
              </a:rPr>
              <a:t>Prototypes </a:t>
            </a:r>
            <a:r>
              <a:rPr lang="en-ZA" sz="1800" dirty="0">
                <a:latin typeface="Arial Narrow" panose="020B0606020202030204" pitchFamily="34" charset="0"/>
              </a:rPr>
              <a:t>is a way of getting the conceptual model of the intended system right</a:t>
            </a:r>
            <a:r>
              <a:rPr lang="en-ZA" sz="1800" dirty="0" smtClean="0">
                <a:latin typeface="Arial Narrow" panose="020B0606020202030204" pitchFamily="34" charset="0"/>
              </a:rPr>
              <a:t>.</a:t>
            </a:r>
          </a:p>
          <a:p>
            <a:pPr marL="0" indent="0" algn="just">
              <a:buNone/>
            </a:pPr>
            <a:r>
              <a:rPr lang="en-ZA" sz="1900" b="1" dirty="0">
                <a:latin typeface="Arial Narrow" panose="020B0606020202030204" pitchFamily="34" charset="0"/>
              </a:rPr>
              <a:t>Principles by </a:t>
            </a:r>
            <a:r>
              <a:rPr lang="en-ZA" sz="1900" b="1" dirty="0" err="1">
                <a:latin typeface="Arial Narrow" panose="020B0606020202030204" pitchFamily="34" charset="0"/>
              </a:rPr>
              <a:t>Preece</a:t>
            </a:r>
            <a:r>
              <a:rPr lang="en-ZA" sz="1900" b="1" dirty="0">
                <a:latin typeface="Arial Narrow" panose="020B0606020202030204" pitchFamily="34" charset="0"/>
              </a:rPr>
              <a:t> to follow when doing the conceptual design: </a:t>
            </a:r>
            <a:endParaRPr lang="en-ZA" sz="1900" b="1" dirty="0" smtClean="0">
              <a:latin typeface="Arial Narrow" panose="020B0606020202030204" pitchFamily="34" charset="0"/>
            </a:endParaRPr>
          </a:p>
          <a:p>
            <a:pPr marL="0"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Keep an open mind but always think of the users and their context. </a:t>
            </a:r>
            <a:endParaRPr lang="en-ZA" sz="1900" dirty="0" smtClean="0">
              <a:latin typeface="Arial Narrow" panose="020B0606020202030204" pitchFamily="34" charset="0"/>
            </a:endParaRPr>
          </a:p>
          <a:p>
            <a:pPr marL="0"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Discuss the design ideas with all stakeholders as often as possible. </a:t>
            </a:r>
            <a:endParaRPr lang="en-ZA" sz="1900" dirty="0" smtClean="0">
              <a:latin typeface="Arial Narrow" panose="020B0606020202030204" pitchFamily="34" charset="0"/>
            </a:endParaRPr>
          </a:p>
          <a:p>
            <a:pPr marL="0"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Use low-fidelity prototyping to get quick feedback. </a:t>
            </a:r>
            <a:endParaRPr lang="en-ZA" sz="1900" dirty="0" smtClean="0">
              <a:latin typeface="Arial Narrow" panose="020B0606020202030204" pitchFamily="34" charset="0"/>
            </a:endParaRPr>
          </a:p>
          <a:p>
            <a:pPr marL="0" indent="0" algn="just">
              <a:buNone/>
            </a:pPr>
            <a:r>
              <a:rPr lang="en-ZA" sz="1900" dirty="0" smtClean="0">
                <a:latin typeface="Arial Narrow" panose="020B0606020202030204" pitchFamily="34" charset="0"/>
              </a:rPr>
              <a:t>• </a:t>
            </a:r>
            <a:r>
              <a:rPr lang="en-ZA" sz="1900" dirty="0">
                <a:latin typeface="Arial Narrow" panose="020B0606020202030204" pitchFamily="34" charset="0"/>
              </a:rPr>
              <a:t>Iterate and repeat the above until have the correct conceptual design.</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6" name="Picture 5"/>
          <p:cNvPicPr>
            <a:picLocks noChangeAspect="1"/>
          </p:cNvPicPr>
          <p:nvPr/>
        </p:nvPicPr>
        <p:blipFill>
          <a:blip r:embed="rId2"/>
          <a:stretch>
            <a:fillRect/>
          </a:stretch>
        </p:blipFill>
        <p:spPr>
          <a:xfrm>
            <a:off x="66675" y="2151017"/>
            <a:ext cx="5953125" cy="4025946"/>
          </a:xfrm>
          <a:prstGeom prst="rect">
            <a:avLst/>
          </a:prstGeom>
        </p:spPr>
      </p:pic>
    </p:spTree>
    <p:extLst>
      <p:ext uri="{BB962C8B-B14F-4D97-AF65-F5344CB8AC3E}">
        <p14:creationId xmlns:p14="http://schemas.microsoft.com/office/powerpoint/2010/main" val="1551350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209006" y="287383"/>
            <a:ext cx="5810794" cy="5889580"/>
          </a:xfrm>
        </p:spPr>
        <p:txBody>
          <a:bodyPr>
            <a:normAutofit lnSpcReduction="10000"/>
          </a:bodyPr>
          <a:lstStyle/>
          <a:p>
            <a:pPr marL="0" indent="0">
              <a:buNone/>
            </a:pPr>
            <a:r>
              <a:rPr lang="en-ZA" sz="1800" b="1" dirty="0">
                <a:latin typeface="Arial Narrow" panose="020B0606020202030204" pitchFamily="34" charset="0"/>
              </a:rPr>
              <a:t>The conceptual-design process requires the designer to determine: </a:t>
            </a:r>
            <a:endParaRPr lang="en-ZA" sz="1800" b="1"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How </a:t>
            </a:r>
            <a:r>
              <a:rPr lang="en-ZA" sz="1800" dirty="0">
                <a:latin typeface="Arial Narrow" panose="020B0606020202030204" pitchFamily="34" charset="0"/>
              </a:rPr>
              <a:t>the functions to be performed will be divided between the system and the users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How </a:t>
            </a:r>
            <a:r>
              <a:rPr lang="en-ZA" sz="1800" dirty="0">
                <a:latin typeface="Arial Narrow" panose="020B0606020202030204" pitchFamily="34" charset="0"/>
              </a:rPr>
              <a:t>these functions relate to each other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What </a:t>
            </a:r>
            <a:r>
              <a:rPr lang="en-ZA" sz="1800" dirty="0">
                <a:latin typeface="Arial Narrow" panose="020B0606020202030204" pitchFamily="34" charset="0"/>
              </a:rPr>
              <a:t>information should be available to perform these functions</a:t>
            </a:r>
            <a:r>
              <a:rPr lang="en-ZA" sz="1800" dirty="0" smtClean="0">
                <a:latin typeface="Arial Narrow" panose="020B0606020202030204" pitchFamily="34" charset="0"/>
              </a:rPr>
              <a:t>. </a:t>
            </a:r>
          </a:p>
          <a:p>
            <a:pPr marL="0" indent="0">
              <a:buNone/>
            </a:pPr>
            <a:r>
              <a:rPr lang="en-ZA" sz="1800" dirty="0" smtClean="0">
                <a:latin typeface="Arial Narrow" panose="020B0606020202030204" pitchFamily="34" charset="0"/>
              </a:rPr>
              <a:t>With </a:t>
            </a:r>
            <a:r>
              <a:rPr lang="en-ZA" sz="1800" dirty="0">
                <a:latin typeface="Arial Narrow" panose="020B0606020202030204" pitchFamily="34" charset="0"/>
              </a:rPr>
              <a:t>the conceptual model, it is important to understand how people will interact with the product - Interaction with product requirements will emerge </a:t>
            </a:r>
            <a:r>
              <a:rPr lang="en-ZA" sz="1800" dirty="0" smtClean="0">
                <a:latin typeface="Arial Narrow" panose="020B0606020202030204" pitchFamily="34" charset="0"/>
              </a:rPr>
              <a:t>from </a:t>
            </a:r>
            <a:r>
              <a:rPr lang="en-ZA" sz="1800" dirty="0">
                <a:latin typeface="Arial Narrow" panose="020B0606020202030204" pitchFamily="34" charset="0"/>
              </a:rPr>
              <a:t>functionality requirements</a:t>
            </a:r>
            <a:r>
              <a:rPr lang="en-ZA" sz="1800" dirty="0" smtClean="0">
                <a:latin typeface="Arial Narrow" panose="020B0606020202030204" pitchFamily="34" charset="0"/>
              </a:rPr>
              <a:t>.</a:t>
            </a:r>
          </a:p>
          <a:p>
            <a:pPr marL="0" indent="0">
              <a:buNone/>
            </a:pPr>
            <a:r>
              <a:rPr lang="en-ZA" sz="1800" b="1" dirty="0" err="1">
                <a:latin typeface="Arial Narrow" panose="020B0606020202030204" pitchFamily="34" charset="0"/>
              </a:rPr>
              <a:t>Preece</a:t>
            </a:r>
            <a:r>
              <a:rPr lang="en-ZA" sz="1800" b="1" dirty="0">
                <a:latin typeface="Arial Narrow" panose="020B0606020202030204" pitchFamily="34" charset="0"/>
              </a:rPr>
              <a:t> identified a variety of issues which concept designers should understand. </a:t>
            </a:r>
            <a:r>
              <a:rPr lang="en-ZA" sz="1800" dirty="0">
                <a:latin typeface="Arial Narrow" panose="020B0606020202030204" pitchFamily="34" charset="0"/>
              </a:rPr>
              <a:t>They relate to how to interact with a product: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Who </a:t>
            </a:r>
            <a:r>
              <a:rPr lang="en-ZA" sz="1800" dirty="0">
                <a:latin typeface="Arial Narrow" panose="020B0606020202030204" pitchFamily="34" charset="0"/>
              </a:rPr>
              <a:t>will the user be?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What </a:t>
            </a:r>
            <a:r>
              <a:rPr lang="en-ZA" sz="1800" dirty="0">
                <a:latin typeface="Arial Narrow" panose="020B0606020202030204" pitchFamily="34" charset="0"/>
              </a:rPr>
              <a:t>kind of interaction will be used?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What </a:t>
            </a:r>
            <a:r>
              <a:rPr lang="en-ZA" sz="1800" dirty="0">
                <a:latin typeface="Arial Narrow" panose="020B0606020202030204" pitchFamily="34" charset="0"/>
              </a:rPr>
              <a:t>kind of interface will be used?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Terminology</a:t>
            </a:r>
            <a:r>
              <a:rPr lang="en-ZA" sz="1800" dirty="0">
                <a:latin typeface="Arial Narrow" panose="020B0606020202030204" pitchFamily="34" charset="0"/>
              </a:rPr>
              <a:t>, metaphors, and the application domain need to be understood.</a:t>
            </a:r>
          </a:p>
        </p:txBody>
      </p:sp>
      <p:sp>
        <p:nvSpPr>
          <p:cNvPr id="8" name="Content Placeholder 7"/>
          <p:cNvSpPr>
            <a:spLocks noGrp="1"/>
          </p:cNvSpPr>
          <p:nvPr>
            <p:ph sz="half" idx="2"/>
          </p:nvPr>
        </p:nvSpPr>
        <p:spPr>
          <a:xfrm>
            <a:off x="6172199" y="287383"/>
            <a:ext cx="5706291" cy="5889580"/>
          </a:xfrm>
        </p:spPr>
        <p:txBody>
          <a:bodyPr>
            <a:normAutofit lnSpcReduction="10000"/>
          </a:bodyPr>
          <a:lstStyle/>
          <a:p>
            <a:pPr marL="0" indent="0" algn="just">
              <a:buNone/>
            </a:pPr>
            <a:r>
              <a:rPr lang="en-ZA" sz="1800" dirty="0">
                <a:latin typeface="Arial Narrow" panose="020B0606020202030204" pitchFamily="34" charset="0"/>
              </a:rPr>
              <a:t>Two important factors in </a:t>
            </a:r>
            <a:r>
              <a:rPr lang="en-ZA" sz="1800" dirty="0" smtClean="0">
                <a:latin typeface="Arial Narrow" panose="020B0606020202030204" pitchFamily="34" charset="0"/>
              </a:rPr>
              <a:t>conceptual design are </a:t>
            </a:r>
            <a:r>
              <a:rPr lang="en-ZA" sz="1800" b="1" dirty="0">
                <a:latin typeface="Arial Narrow" panose="020B0606020202030204" pitchFamily="34" charset="0"/>
              </a:rPr>
              <a:t>interface metaphors</a:t>
            </a:r>
            <a:r>
              <a:rPr lang="en-ZA" sz="1800" dirty="0">
                <a:latin typeface="Arial Narrow" panose="020B0606020202030204" pitchFamily="34" charset="0"/>
              </a:rPr>
              <a:t> and the </a:t>
            </a:r>
            <a:r>
              <a:rPr lang="en-ZA" sz="1800" b="1" dirty="0">
                <a:latin typeface="Arial Narrow" panose="020B0606020202030204" pitchFamily="34" charset="0"/>
              </a:rPr>
              <a:t>interface type</a:t>
            </a:r>
            <a:r>
              <a:rPr lang="en-ZA" sz="1800" dirty="0">
                <a:latin typeface="Arial Narrow" panose="020B0606020202030204" pitchFamily="34" charset="0"/>
              </a:rPr>
              <a:t>. </a:t>
            </a:r>
            <a:endParaRPr lang="en-ZA" sz="1800" dirty="0" smtClean="0">
              <a:latin typeface="Arial Narrow" panose="020B0606020202030204" pitchFamily="34" charset="0"/>
            </a:endParaRPr>
          </a:p>
          <a:p>
            <a:pPr marL="0" indent="0" algn="just">
              <a:buNone/>
            </a:pPr>
            <a:r>
              <a:rPr lang="en-ZA" sz="1800" b="1" u="sng" dirty="0" smtClean="0">
                <a:latin typeface="Arial Narrow" panose="020B0606020202030204" pitchFamily="34" charset="0"/>
              </a:rPr>
              <a:t>Interface </a:t>
            </a:r>
            <a:r>
              <a:rPr lang="en-ZA" sz="1800" b="1" u="sng" dirty="0">
                <a:latin typeface="Arial Narrow" panose="020B0606020202030204" pitchFamily="34" charset="0"/>
              </a:rPr>
              <a:t>Metaphors </a:t>
            </a:r>
            <a:endParaRPr lang="en-ZA" sz="1800" b="1" u="sng"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Important component of any conceptual model.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Provides a structure that is similar to some aspects of a familiar entity, but it also has its own behaviours and properties.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Used to explain something that is hard to grasp by comparing it with something that is familiar and easy to grasp.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E.g. Windows desktop–computer screen is like a desktop and folders and applications are like things we could in real-life have on top of a desk.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Metaphor chosen for an interface must fit the task and be suitable for intended users. </a:t>
            </a:r>
            <a:endParaRPr lang="en-ZA" sz="1800" dirty="0" smtClean="0">
              <a:latin typeface="Arial Narrow" panose="020B0606020202030204" pitchFamily="34" charset="0"/>
            </a:endParaRPr>
          </a:p>
          <a:p>
            <a:pPr lvl="1" algn="just">
              <a:buFont typeface="Wingdings" panose="05000000000000000000" pitchFamily="2" charset="2"/>
              <a:buChar char="§"/>
            </a:pPr>
            <a:r>
              <a:rPr lang="en-ZA" sz="1800" dirty="0" smtClean="0">
                <a:latin typeface="Arial Narrow" panose="020B0606020202030204" pitchFamily="34" charset="0"/>
              </a:rPr>
              <a:t>Metaphors </a:t>
            </a:r>
            <a:r>
              <a:rPr lang="en-ZA" sz="1800" dirty="0">
                <a:latin typeface="Arial Narrow" panose="020B0606020202030204" pitchFamily="34" charset="0"/>
              </a:rPr>
              <a:t>that appeal to adults may have no meaning for children.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Can also be used to turn something that is potentially boring into an engaging experience – E.g. learning multiplication - </a:t>
            </a:r>
            <a:r>
              <a:rPr lang="en-ZA" sz="1800" dirty="0" err="1">
                <a:latin typeface="Arial Narrow" panose="020B0606020202030204" pitchFamily="34" charset="0"/>
              </a:rPr>
              <a:t>Timez</a:t>
            </a:r>
            <a:r>
              <a:rPr lang="en-ZA" sz="1800" dirty="0">
                <a:latin typeface="Arial Narrow" panose="020B0606020202030204" pitchFamily="34" charset="0"/>
              </a:rPr>
              <a:t> Attack children’s game </a:t>
            </a:r>
            <a:endParaRPr lang="en-ZA" sz="1800" dirty="0" smtClean="0">
              <a:latin typeface="Arial Narrow" panose="020B0606020202030204" pitchFamily="34" charset="0"/>
            </a:endParaRPr>
          </a:p>
          <a:p>
            <a:pPr marL="0" indent="0" algn="just">
              <a:buNone/>
            </a:pPr>
            <a:r>
              <a:rPr lang="en-ZA" sz="1800" dirty="0" smtClean="0">
                <a:latin typeface="Arial Narrow" panose="020B0606020202030204" pitchFamily="34" charset="0"/>
              </a:rPr>
              <a:t>• </a:t>
            </a:r>
            <a:r>
              <a:rPr lang="en-ZA" sz="1800" dirty="0">
                <a:latin typeface="Arial Narrow" panose="020B0606020202030204" pitchFamily="34" charset="0"/>
              </a:rPr>
              <a:t>Purpose of a metaphor is to provide a familiar structure for interaction.</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848614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35132" y="269966"/>
            <a:ext cx="4841966" cy="5906997"/>
          </a:xfrm>
        </p:spPr>
        <p:txBody>
          <a:bodyPr>
            <a:normAutofit fontScale="92500" lnSpcReduction="20000"/>
          </a:bodyPr>
          <a:lstStyle/>
          <a:p>
            <a:pPr marL="0" indent="0">
              <a:buNone/>
            </a:pPr>
            <a:r>
              <a:rPr lang="en-ZA" sz="1800" b="1" dirty="0">
                <a:latin typeface="Arial Narrow" panose="020B0606020202030204" pitchFamily="34" charset="0"/>
              </a:rPr>
              <a:t>Interface Types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When doing the conceptual design: </a:t>
            </a:r>
            <a:endParaRPr lang="en-ZA" sz="1800" dirty="0" smtClean="0">
              <a:latin typeface="Arial Narrow" panose="020B0606020202030204" pitchFamily="34" charset="0"/>
            </a:endParaRPr>
          </a:p>
          <a:p>
            <a:pPr marL="457200" lvl="1" indent="0">
              <a:buNone/>
            </a:pPr>
            <a:r>
              <a:rPr lang="en-ZA" sz="1800" dirty="0" smtClean="0">
                <a:latin typeface="Arial Narrow" panose="020B0606020202030204" pitchFamily="34" charset="0"/>
              </a:rPr>
              <a:t>• </a:t>
            </a:r>
            <a:r>
              <a:rPr lang="en-ZA" sz="1800" dirty="0">
                <a:latin typeface="Arial Narrow" panose="020B0606020202030204" pitchFamily="34" charset="0"/>
              </a:rPr>
              <a:t>Designers should not be influenced by a specific predetermined interface type. </a:t>
            </a:r>
            <a:endParaRPr lang="en-ZA" sz="1800" dirty="0" smtClean="0">
              <a:latin typeface="Arial Narrow" panose="020B0606020202030204" pitchFamily="34" charset="0"/>
            </a:endParaRPr>
          </a:p>
          <a:p>
            <a:pPr marL="914400" lvl="2" indent="0">
              <a:buNone/>
            </a:pPr>
            <a:r>
              <a:rPr lang="en-ZA" sz="1800" dirty="0" smtClean="0">
                <a:latin typeface="Arial Narrow" panose="020B0606020202030204" pitchFamily="34" charset="0"/>
              </a:rPr>
              <a:t>▪ </a:t>
            </a:r>
            <a:r>
              <a:rPr lang="en-ZA" sz="1800" dirty="0">
                <a:latin typeface="Arial Narrow" panose="020B0606020202030204" pitchFamily="34" charset="0"/>
              </a:rPr>
              <a:t>May stifle design process and cause good solutions to be overlooked. </a:t>
            </a:r>
            <a:endParaRPr lang="en-ZA" sz="1800" dirty="0" smtClean="0">
              <a:latin typeface="Arial Narrow" panose="020B0606020202030204" pitchFamily="34" charset="0"/>
            </a:endParaRPr>
          </a:p>
          <a:p>
            <a:pPr marL="457200" lvl="1" indent="0">
              <a:buNone/>
            </a:pPr>
            <a:r>
              <a:rPr lang="en-ZA" sz="1800" dirty="0" smtClean="0">
                <a:latin typeface="Arial Narrow" panose="020B0606020202030204" pitchFamily="34" charset="0"/>
              </a:rPr>
              <a:t>• </a:t>
            </a:r>
            <a:r>
              <a:rPr lang="en-ZA" sz="1800" dirty="0">
                <a:latin typeface="Arial Narrow" panose="020B0606020202030204" pitchFamily="34" charset="0"/>
              </a:rPr>
              <a:t>Reinterpret an initial conceptual design for all the different types of interfaces and consider the effect that the change in interface type has on the design</a:t>
            </a:r>
            <a:r>
              <a:rPr lang="en-ZA" sz="1800" dirty="0" smtClean="0">
                <a:latin typeface="Arial Narrow" panose="020B0606020202030204" pitchFamily="34" charset="0"/>
              </a:rPr>
              <a:t>.</a:t>
            </a:r>
          </a:p>
          <a:p>
            <a:pPr marL="0" indent="0">
              <a:buNone/>
            </a:pPr>
            <a:r>
              <a:rPr lang="en-ZA" sz="1800" b="1" u="sng" dirty="0" err="1" smtClean="0">
                <a:latin typeface="Arial Narrow" panose="020B0606020202030204" pitchFamily="34" charset="0"/>
              </a:rPr>
              <a:t>Preece</a:t>
            </a:r>
            <a:r>
              <a:rPr lang="en-ZA" sz="1800" b="1" u="sng" dirty="0" smtClean="0">
                <a:latin typeface="Arial Narrow" panose="020B0606020202030204" pitchFamily="34" charset="0"/>
              </a:rPr>
              <a:t> </a:t>
            </a:r>
            <a:r>
              <a:rPr lang="en-ZA" sz="1800" b="1" u="sng" dirty="0">
                <a:latin typeface="Arial Narrow" panose="020B0606020202030204" pitchFamily="34" charset="0"/>
              </a:rPr>
              <a:t>identified 4 different types of interaction: </a:t>
            </a:r>
            <a:endParaRPr lang="en-ZA" sz="1800" b="1" u="sng" dirty="0" smtClean="0">
              <a:latin typeface="Arial Narrow" panose="020B0606020202030204" pitchFamily="34" charset="0"/>
            </a:endParaRPr>
          </a:p>
          <a:p>
            <a:pPr marL="342900" indent="-342900">
              <a:buAutoNum type="arabicPeriod"/>
            </a:pPr>
            <a:r>
              <a:rPr lang="en-ZA" sz="1800" dirty="0" smtClean="0">
                <a:latin typeface="Arial Narrow" panose="020B0606020202030204" pitchFamily="34" charset="0"/>
              </a:rPr>
              <a:t>Instructing </a:t>
            </a:r>
          </a:p>
          <a:p>
            <a:pPr marL="342900" indent="-342900">
              <a:buAutoNum type="arabicPeriod"/>
            </a:pPr>
            <a:r>
              <a:rPr lang="en-ZA" sz="1800" dirty="0" smtClean="0">
                <a:latin typeface="Arial Narrow" panose="020B0606020202030204" pitchFamily="34" charset="0"/>
              </a:rPr>
              <a:t>Conversing </a:t>
            </a:r>
          </a:p>
          <a:p>
            <a:pPr marL="342900" indent="-342900">
              <a:buAutoNum type="arabicPeriod"/>
            </a:pPr>
            <a:r>
              <a:rPr lang="en-ZA" sz="1800" dirty="0" smtClean="0">
                <a:latin typeface="Arial Narrow" panose="020B0606020202030204" pitchFamily="34" charset="0"/>
              </a:rPr>
              <a:t>Manipulating </a:t>
            </a:r>
            <a:r>
              <a:rPr lang="en-ZA" sz="1800" dirty="0">
                <a:latin typeface="Arial Narrow" panose="020B0606020202030204" pitchFamily="34" charset="0"/>
              </a:rPr>
              <a:t>and </a:t>
            </a:r>
            <a:endParaRPr lang="en-ZA" sz="1800" dirty="0" smtClean="0">
              <a:latin typeface="Arial Narrow" panose="020B0606020202030204" pitchFamily="34" charset="0"/>
            </a:endParaRPr>
          </a:p>
          <a:p>
            <a:pPr marL="342900" indent="-342900">
              <a:buAutoNum type="arabicPeriod"/>
            </a:pPr>
            <a:r>
              <a:rPr lang="en-ZA" sz="1800" dirty="0" smtClean="0">
                <a:latin typeface="Arial Narrow" panose="020B0606020202030204" pitchFamily="34" charset="0"/>
              </a:rPr>
              <a:t>Exploring </a:t>
            </a:r>
          </a:p>
          <a:p>
            <a:pPr marL="0" indent="0">
              <a:buNone/>
            </a:pPr>
            <a:endParaRPr lang="en-ZA" sz="1800" b="1" dirty="0" smtClean="0">
              <a:latin typeface="Arial Narrow" panose="020B0606020202030204" pitchFamily="34" charset="0"/>
            </a:endParaRPr>
          </a:p>
          <a:p>
            <a:pPr marL="0" indent="0">
              <a:buNone/>
            </a:pPr>
            <a:r>
              <a:rPr lang="en-ZA" sz="1800" b="1" u="sng" dirty="0" smtClean="0">
                <a:latin typeface="Arial Narrow" panose="020B0606020202030204" pitchFamily="34" charset="0"/>
              </a:rPr>
              <a:t>These </a:t>
            </a:r>
            <a:r>
              <a:rPr lang="en-ZA" sz="1800" b="1" u="sng" dirty="0">
                <a:latin typeface="Arial Narrow" panose="020B0606020202030204" pitchFamily="34" charset="0"/>
              </a:rPr>
              <a:t>interaction types will depend on: </a:t>
            </a:r>
            <a:endParaRPr lang="en-ZA" sz="1800" b="1" u="sng"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The application domain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The kind of product being developed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If it would be suited to the current design. </a:t>
            </a:r>
            <a:endParaRPr lang="en-ZA" sz="1800" dirty="0" smtClean="0">
              <a:latin typeface="Arial Narrow" panose="020B0606020202030204" pitchFamily="34" charset="0"/>
            </a:endParaRPr>
          </a:p>
          <a:p>
            <a:pPr marL="0" indent="0">
              <a:buNone/>
            </a:pPr>
            <a:r>
              <a:rPr lang="en-ZA" sz="1900" dirty="0">
                <a:latin typeface="Arial Narrow" panose="020B0606020202030204" pitchFamily="34" charset="0"/>
              </a:rPr>
              <a:t>Any system comes with constraints on the type of interface that can be used.</a:t>
            </a:r>
          </a:p>
        </p:txBody>
      </p:sp>
      <p:sp>
        <p:nvSpPr>
          <p:cNvPr id="4" name="Content Placeholder 3"/>
          <p:cNvSpPr>
            <a:spLocks noGrp="1"/>
          </p:cNvSpPr>
          <p:nvPr>
            <p:ph sz="half" idx="2"/>
          </p:nvPr>
        </p:nvSpPr>
        <p:spPr>
          <a:xfrm>
            <a:off x="5164184" y="330926"/>
            <a:ext cx="6862353" cy="6025424"/>
          </a:xfrm>
        </p:spPr>
        <p:txBody>
          <a:bodyPr>
            <a:normAutofit fontScale="92500" lnSpcReduction="20000"/>
          </a:bodyPr>
          <a:lstStyle/>
          <a:p>
            <a:pPr marL="0" indent="0">
              <a:buNone/>
            </a:pPr>
            <a:r>
              <a:rPr lang="en-ZA" sz="1800" dirty="0" smtClean="0">
                <a:latin typeface="Arial Narrow" panose="020B0606020202030204" pitchFamily="34" charset="0"/>
              </a:rPr>
              <a:t>Evaluation of interactive systems - </a:t>
            </a:r>
            <a:r>
              <a:rPr lang="en-ZA" sz="1800" dirty="0">
                <a:latin typeface="Arial Narrow" panose="020B0606020202030204" pitchFamily="34" charset="0"/>
              </a:rPr>
              <a:t>key aspect of HCI </a:t>
            </a:r>
            <a:r>
              <a:rPr lang="en-ZA" sz="1800" dirty="0" smtClean="0">
                <a:latin typeface="Arial Narrow" panose="020B0606020202030204" pitchFamily="34" charset="0"/>
              </a:rPr>
              <a:t>(Interaction </a:t>
            </a:r>
            <a:r>
              <a:rPr lang="en-ZA" sz="1800" dirty="0">
                <a:latin typeface="Arial Narrow" panose="020B0606020202030204" pitchFamily="34" charset="0"/>
              </a:rPr>
              <a:t>design in </a:t>
            </a:r>
            <a:r>
              <a:rPr lang="en-ZA" sz="1800" dirty="0" smtClean="0">
                <a:latin typeface="Arial Narrow" panose="020B0606020202030204" pitchFamily="34" charset="0"/>
              </a:rPr>
              <a:t>particular) </a:t>
            </a: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Evaluation refers to validation of an interactive system against HCI requirements.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Any design should be assessed and all systems should be tested to ensure that they meet the user requirements.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Not a single phase that comes at end of the design process, but activity repeated throughout design process to provide feedback on the design right from the beginning. </a:t>
            </a:r>
            <a:endParaRPr lang="en-ZA" sz="1800" dirty="0" smtClean="0">
              <a:latin typeface="Arial Narrow" panose="020B0606020202030204" pitchFamily="34" charset="0"/>
            </a:endParaRPr>
          </a:p>
          <a:p>
            <a:pPr marL="0" indent="0">
              <a:buNone/>
            </a:pPr>
            <a:r>
              <a:rPr lang="en-ZA" sz="1800" b="1" u="sng" dirty="0" smtClean="0">
                <a:latin typeface="Arial Narrow" panose="020B0606020202030204" pitchFamily="34" charset="0"/>
              </a:rPr>
              <a:t>3 </a:t>
            </a:r>
            <a:r>
              <a:rPr lang="en-ZA" sz="1800" b="1" u="sng" dirty="0">
                <a:latin typeface="Arial Narrow" panose="020B0606020202030204" pitchFamily="34" charset="0"/>
              </a:rPr>
              <a:t>main goals of evaluation </a:t>
            </a:r>
            <a:endParaRPr lang="en-ZA" sz="1800" b="1" u="sng" dirty="0" smtClean="0">
              <a:latin typeface="Arial Narrow" panose="020B0606020202030204" pitchFamily="34" charset="0"/>
            </a:endParaRPr>
          </a:p>
          <a:p>
            <a:r>
              <a:rPr lang="en-ZA" sz="1800" dirty="0" smtClean="0">
                <a:latin typeface="Arial Narrow" panose="020B0606020202030204" pitchFamily="34" charset="0"/>
              </a:rPr>
              <a:t>To </a:t>
            </a:r>
            <a:r>
              <a:rPr lang="en-ZA" sz="1800" dirty="0">
                <a:latin typeface="Arial Narrow" panose="020B0606020202030204" pitchFamily="34" charset="0"/>
              </a:rPr>
              <a:t>assess the extent of the system’s functionality </a:t>
            </a:r>
            <a:endParaRPr lang="en-ZA" sz="1800" dirty="0" smtClean="0">
              <a:latin typeface="Arial Narrow" panose="020B0606020202030204" pitchFamily="34" charset="0"/>
            </a:endParaRPr>
          </a:p>
          <a:p>
            <a:r>
              <a:rPr lang="en-ZA" sz="1800" dirty="0" smtClean="0">
                <a:latin typeface="Arial Narrow" panose="020B0606020202030204" pitchFamily="34" charset="0"/>
              </a:rPr>
              <a:t>To </a:t>
            </a:r>
            <a:r>
              <a:rPr lang="en-ZA" sz="1800" dirty="0">
                <a:latin typeface="Arial Narrow" panose="020B0606020202030204" pitchFamily="34" charset="0"/>
              </a:rPr>
              <a:t>assess the effect of the interface on the user </a:t>
            </a:r>
            <a:endParaRPr lang="en-ZA" sz="1800" dirty="0" smtClean="0">
              <a:latin typeface="Arial Narrow" panose="020B0606020202030204" pitchFamily="34" charset="0"/>
            </a:endParaRPr>
          </a:p>
          <a:p>
            <a:r>
              <a:rPr lang="en-ZA" sz="1800" dirty="0" smtClean="0">
                <a:latin typeface="Arial Narrow" panose="020B0606020202030204" pitchFamily="34" charset="0"/>
              </a:rPr>
              <a:t>To </a:t>
            </a:r>
            <a:r>
              <a:rPr lang="en-ZA" sz="1800" dirty="0">
                <a:latin typeface="Arial Narrow" panose="020B0606020202030204" pitchFamily="34" charset="0"/>
              </a:rPr>
              <a:t>identify specific problems with the </a:t>
            </a:r>
            <a:r>
              <a:rPr lang="en-ZA" sz="1800" dirty="0" smtClean="0">
                <a:latin typeface="Arial Narrow" panose="020B0606020202030204" pitchFamily="34" charset="0"/>
              </a:rPr>
              <a:t>system</a:t>
            </a:r>
          </a:p>
          <a:p>
            <a:pPr marL="0" indent="0">
              <a:buNone/>
            </a:pPr>
            <a:r>
              <a:rPr lang="en-ZA" sz="1800" b="1" dirty="0"/>
              <a:t>Dix and </a:t>
            </a:r>
            <a:r>
              <a:rPr lang="en-ZA" sz="1800" b="1" dirty="0" err="1"/>
              <a:t>Williges</a:t>
            </a:r>
            <a:r>
              <a:rPr lang="en-ZA" sz="1800" b="1" dirty="0"/>
              <a:t> and </a:t>
            </a:r>
            <a:r>
              <a:rPr lang="en-ZA" sz="1800" b="1" dirty="0" err="1"/>
              <a:t>Williges</a:t>
            </a:r>
            <a:r>
              <a:rPr lang="en-ZA" sz="1800" b="1" dirty="0"/>
              <a:t> (1984) distinguish between formative and summative evaluation.</a:t>
            </a:r>
            <a:endParaRPr lang="en-ZA" sz="1800" b="1" dirty="0">
              <a:latin typeface="Arial Narrow" panose="020B0606020202030204" pitchFamily="34" charset="0"/>
            </a:endParaRPr>
          </a:p>
          <a:p>
            <a:endParaRPr lang="en-ZA" sz="18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pic>
        <p:nvPicPr>
          <p:cNvPr id="6" name="Picture 5"/>
          <p:cNvPicPr>
            <a:picLocks noChangeAspect="1"/>
          </p:cNvPicPr>
          <p:nvPr/>
        </p:nvPicPr>
        <p:blipFill>
          <a:blip r:embed="rId2"/>
          <a:stretch>
            <a:fillRect/>
          </a:stretch>
        </p:blipFill>
        <p:spPr>
          <a:xfrm>
            <a:off x="5164184" y="3988525"/>
            <a:ext cx="6775267" cy="2525485"/>
          </a:xfrm>
          <a:prstGeom prst="rect">
            <a:avLst/>
          </a:prstGeom>
        </p:spPr>
      </p:pic>
    </p:spTree>
    <p:extLst>
      <p:ext uri="{BB962C8B-B14F-4D97-AF65-F5344CB8AC3E}">
        <p14:creationId xmlns:p14="http://schemas.microsoft.com/office/powerpoint/2010/main" val="1063067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30926" y="409303"/>
            <a:ext cx="5688874" cy="5767660"/>
          </a:xfrm>
        </p:spPr>
        <p:txBody>
          <a:bodyPr>
            <a:normAutofit fontScale="92500" lnSpcReduction="20000"/>
          </a:bodyPr>
          <a:lstStyle/>
          <a:p>
            <a:pPr marL="0" indent="0">
              <a:buNone/>
            </a:pPr>
            <a:r>
              <a:rPr lang="en-ZA" sz="1800" b="1" dirty="0">
                <a:latin typeface="Arial Narrow" panose="020B0606020202030204" pitchFamily="34" charset="0"/>
              </a:rPr>
              <a:t>We can summarise how evaluation fits into the design life cycle as follows: </a:t>
            </a:r>
            <a:endParaRPr lang="en-ZA" sz="1800" b="1"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During the early design stages, evaluation is done to: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Predict </a:t>
            </a:r>
            <a:r>
              <a:rPr lang="en-ZA" sz="1800" dirty="0">
                <a:latin typeface="Arial Narrow" panose="020B0606020202030204" pitchFamily="34" charset="0"/>
              </a:rPr>
              <a:t>the usability of a product or an aspect of it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Check </a:t>
            </a:r>
            <a:r>
              <a:rPr lang="en-ZA" sz="1800" dirty="0">
                <a:latin typeface="Arial Narrow" panose="020B0606020202030204" pitchFamily="34" charset="0"/>
              </a:rPr>
              <a:t>if design team understands user requirements by evaluating how an existing system is being used in the field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Test </a:t>
            </a:r>
            <a:r>
              <a:rPr lang="en-ZA" sz="1800" dirty="0">
                <a:latin typeface="Arial Narrow" panose="020B0606020202030204" pitchFamily="34" charset="0"/>
              </a:rPr>
              <a:t>ideas quickly and informally as part of envisioning a possible design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 </a:t>
            </a:r>
            <a:r>
              <a:rPr lang="en-ZA" sz="1800" dirty="0">
                <a:latin typeface="Arial Narrow" panose="020B0606020202030204" pitchFamily="34" charset="0"/>
              </a:rPr>
              <a:t>Later in the design process, the focus shifts to: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Identifying </a:t>
            </a:r>
            <a:r>
              <a:rPr lang="en-ZA" sz="1800" dirty="0">
                <a:latin typeface="Arial Narrow" panose="020B0606020202030204" pitchFamily="34" charset="0"/>
              </a:rPr>
              <a:t>user difficulties so the product can be fine-tuned to meet their needs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Improving </a:t>
            </a:r>
            <a:r>
              <a:rPr lang="en-ZA" sz="1800" dirty="0">
                <a:latin typeface="Arial Narrow" panose="020B0606020202030204" pitchFamily="34" charset="0"/>
              </a:rPr>
              <a:t>an upgrade of the product </a:t>
            </a:r>
            <a:endParaRPr lang="en-ZA" sz="1800" dirty="0" smtClean="0">
              <a:latin typeface="Arial Narrow" panose="020B0606020202030204" pitchFamily="34" charset="0"/>
            </a:endParaRPr>
          </a:p>
          <a:p>
            <a:pPr marL="0" indent="0">
              <a:buNone/>
            </a:pPr>
            <a:r>
              <a:rPr lang="en-ZA" sz="1800" dirty="0" smtClean="0">
                <a:latin typeface="Arial Narrow" panose="020B0606020202030204" pitchFamily="34" charset="0"/>
              </a:rPr>
              <a:t>Evaluation </a:t>
            </a:r>
            <a:r>
              <a:rPr lang="en-ZA" sz="1800" dirty="0">
                <a:latin typeface="Arial Narrow" panose="020B0606020202030204" pitchFamily="34" charset="0"/>
              </a:rPr>
              <a:t>plays a major role in interaction design. Without some form of evaluation, it is impossible to know if the system satisfies the needs of the users and to determine how well it fits the physical, social and organisational context in which it will be used. </a:t>
            </a:r>
            <a:endParaRPr lang="en-ZA" sz="1800" dirty="0" smtClean="0">
              <a:latin typeface="Arial Narrow" panose="020B0606020202030204" pitchFamily="34" charset="0"/>
            </a:endParaRPr>
          </a:p>
          <a:p>
            <a:pPr marL="0" indent="0">
              <a:buNone/>
            </a:pPr>
            <a:r>
              <a:rPr lang="en-ZA" sz="1900" b="1" u="sng" dirty="0">
                <a:latin typeface="Arial Narrow" panose="020B0606020202030204" pitchFamily="34" charset="0"/>
              </a:rPr>
              <a:t>How to Evaluate </a:t>
            </a:r>
            <a:endParaRPr lang="en-ZA" sz="1900" b="1" u="sng"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Can be done in laboratories or in the real-life environment where system will be used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Evaluation methods and the evaluation setting are closely linked.</a:t>
            </a:r>
          </a:p>
        </p:txBody>
      </p:sp>
      <p:sp>
        <p:nvSpPr>
          <p:cNvPr id="4" name="Content Placeholder 3"/>
          <p:cNvSpPr>
            <a:spLocks noGrp="1"/>
          </p:cNvSpPr>
          <p:nvPr>
            <p:ph sz="half" idx="2"/>
          </p:nvPr>
        </p:nvSpPr>
        <p:spPr>
          <a:xfrm>
            <a:off x="6172199" y="409303"/>
            <a:ext cx="5697583" cy="5767660"/>
          </a:xfrm>
        </p:spPr>
        <p:txBody>
          <a:bodyPr>
            <a:normAutofit fontScale="92500" lnSpcReduction="20000"/>
          </a:bodyPr>
          <a:lstStyle/>
          <a:p>
            <a:pPr marL="0" indent="0">
              <a:buNone/>
            </a:pPr>
            <a:r>
              <a:rPr lang="en-ZA" sz="1800" b="1" u="sng" dirty="0">
                <a:latin typeface="Arial Narrow" panose="020B0606020202030204" pitchFamily="34" charset="0"/>
              </a:rPr>
              <a:t>3 Main Evaluation </a:t>
            </a:r>
            <a:r>
              <a:rPr lang="en-ZA" sz="1800" b="1" u="sng" dirty="0" smtClean="0">
                <a:latin typeface="Arial Narrow" panose="020B0606020202030204" pitchFamily="34" charset="0"/>
              </a:rPr>
              <a:t>Approaches</a:t>
            </a:r>
          </a:p>
          <a:p>
            <a:pPr marL="0" indent="0">
              <a:buNone/>
            </a:pPr>
            <a:r>
              <a:rPr lang="en-ZA" sz="1900" b="1" u="sng" dirty="0">
                <a:latin typeface="Arial Narrow" panose="020B0606020202030204" pitchFamily="34" charset="0"/>
              </a:rPr>
              <a:t>Usability Testing </a:t>
            </a:r>
            <a:endParaRPr lang="en-ZA" sz="1900" b="1" u="sng"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Usability laboratories with audio &amp; video recording facilities, and specialised hardware &amp; software to record and analyse users behaviour when using a system.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Gives evaluator control over conditions of the study but removes the natural context which may be important in the use of the system.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During usability testing,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Typical users perform selected tasks while their actions are recorded.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The evaluator: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Analyses data collected to judge performance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Identifies errors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Explains user behaviour.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Should not directly interact with user in a way that can skew results. </a:t>
            </a:r>
            <a:endParaRPr lang="en-ZA" sz="1900" dirty="0" smtClean="0">
              <a:latin typeface="Arial Narrow" panose="020B0606020202030204" pitchFamily="34" charset="0"/>
            </a:endParaRPr>
          </a:p>
          <a:p>
            <a:pPr marL="457200" lvl="1" indent="0">
              <a:buNone/>
            </a:pPr>
            <a:r>
              <a:rPr lang="en-ZA" sz="1900" dirty="0" smtClean="0">
                <a:latin typeface="Arial Narrow" panose="020B0606020202030204" pitchFamily="34" charset="0"/>
              </a:rPr>
              <a:t>▪ </a:t>
            </a:r>
            <a:r>
              <a:rPr lang="en-ZA" sz="1900" dirty="0">
                <a:latin typeface="Arial Narrow" panose="020B0606020202030204" pitchFamily="34" charset="0"/>
              </a:rPr>
              <a:t>Idea = derive some measurable observations that can be analysed using statistical techniques - requires specialist skills in HCI. </a:t>
            </a:r>
            <a:endParaRPr lang="en-ZA" sz="1900" dirty="0" smtClean="0">
              <a:latin typeface="Arial Narrow" panose="020B0606020202030204" pitchFamily="34" charset="0"/>
            </a:endParaRPr>
          </a:p>
          <a:p>
            <a:pPr marL="0" indent="0">
              <a:buNone/>
            </a:pPr>
            <a:r>
              <a:rPr lang="en-ZA" sz="1900" dirty="0" smtClean="0">
                <a:latin typeface="Arial Narrow" panose="020B0606020202030204" pitchFamily="34" charset="0"/>
              </a:rPr>
              <a:t>• </a:t>
            </a:r>
            <a:r>
              <a:rPr lang="en-ZA" sz="1900" dirty="0">
                <a:latin typeface="Arial Narrow" panose="020B0606020202030204" pitchFamily="34" charset="0"/>
              </a:rPr>
              <a:t>Usually supplemented with interviews and satisfaction questionnaires.</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984200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261257" y="418011"/>
            <a:ext cx="5373189" cy="5758952"/>
          </a:xfrm>
        </p:spPr>
        <p:txBody>
          <a:bodyPr>
            <a:normAutofit fontScale="77500" lnSpcReduction="20000"/>
          </a:bodyPr>
          <a:lstStyle/>
          <a:p>
            <a:pPr marL="0" indent="0">
              <a:buNone/>
            </a:pPr>
            <a:r>
              <a:rPr lang="en-ZA" sz="2000" b="1" u="sng" dirty="0">
                <a:latin typeface="Arial Narrow" panose="020B0606020202030204" pitchFamily="34" charset="0"/>
              </a:rPr>
              <a:t>Field Studies </a:t>
            </a:r>
            <a:endParaRPr lang="en-ZA" sz="2000" b="1" u="sng"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Evaluation done in natural settings / real environment – difficult to set up. </a:t>
            </a:r>
            <a:endParaRPr lang="en-ZA" sz="2000"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Aim is to understand what users do naturally and to examine how the technology affects them in the real-life environment. </a:t>
            </a:r>
            <a:endParaRPr lang="en-ZA" sz="2000"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The evaluator can be an: </a:t>
            </a:r>
            <a:endParaRPr lang="en-ZA" sz="2000" dirty="0" smtClean="0">
              <a:latin typeface="Arial Narrow" panose="020B0606020202030204" pitchFamily="34" charset="0"/>
            </a:endParaRPr>
          </a:p>
          <a:p>
            <a:pPr marL="457200" lvl="1" indent="0">
              <a:buNone/>
            </a:pPr>
            <a:r>
              <a:rPr lang="en-ZA" sz="1800" dirty="0" smtClean="0">
                <a:latin typeface="Arial Narrow" panose="020B0606020202030204" pitchFamily="34" charset="0"/>
              </a:rPr>
              <a:t>▪ </a:t>
            </a:r>
            <a:r>
              <a:rPr lang="en-ZA" sz="1900" dirty="0">
                <a:latin typeface="Arial Narrow" panose="020B0606020202030204" pitchFamily="34" charset="0"/>
              </a:rPr>
              <a:t>Outsider that observes and records what is happening, or ▪ Insider or participant to experience impact of the technology first-hand. </a:t>
            </a:r>
            <a:endParaRPr lang="en-ZA" sz="1900"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Subjects can be influenced by presence of researchers in working environment. </a:t>
            </a:r>
            <a:endParaRPr lang="en-ZA" sz="2000"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Avoids irritation that can be created by use of interviews and questionnaires. </a:t>
            </a:r>
            <a:endParaRPr lang="en-ZA" sz="2000" dirty="0" smtClean="0">
              <a:latin typeface="Arial Narrow" panose="020B0606020202030204" pitchFamily="34" charset="0"/>
            </a:endParaRPr>
          </a:p>
          <a:p>
            <a:pPr marL="0" indent="0">
              <a:buNone/>
            </a:pPr>
            <a:r>
              <a:rPr lang="en-ZA" sz="2000" dirty="0" smtClean="0">
                <a:latin typeface="Arial Narrow" panose="020B0606020202030204" pitchFamily="34" charset="0"/>
              </a:rPr>
              <a:t>• </a:t>
            </a:r>
            <a:r>
              <a:rPr lang="en-ZA" sz="2000" dirty="0">
                <a:latin typeface="Arial Narrow" panose="020B0606020202030204" pitchFamily="34" charset="0"/>
              </a:rPr>
              <a:t>Requires a considerable amount of </a:t>
            </a:r>
            <a:r>
              <a:rPr lang="en-ZA" sz="2000" dirty="0" smtClean="0">
                <a:latin typeface="Arial Narrow" panose="020B0606020202030204" pitchFamily="34" charset="0"/>
              </a:rPr>
              <a:t>skill</a:t>
            </a:r>
          </a:p>
          <a:p>
            <a:pPr marL="0" indent="0">
              <a:buNone/>
            </a:pPr>
            <a:r>
              <a:rPr lang="en-ZA" sz="1900" b="1" dirty="0">
                <a:latin typeface="Arial Narrow" panose="020B0606020202030204" pitchFamily="34" charset="0"/>
              </a:rPr>
              <a:t>Analytical </a:t>
            </a:r>
            <a:r>
              <a:rPr lang="en-ZA" sz="1900" b="1" dirty="0" smtClean="0">
                <a:latin typeface="Arial Narrow" panose="020B0606020202030204" pitchFamily="34" charset="0"/>
              </a:rPr>
              <a:t>Evaluation</a:t>
            </a:r>
          </a:p>
          <a:p>
            <a:r>
              <a:rPr lang="en-ZA" sz="1900" dirty="0">
                <a:latin typeface="Arial Narrow" panose="020B0606020202030204" pitchFamily="34" charset="0"/>
              </a:rPr>
              <a:t>A heuristic evaluation that involves experts who use heuristics and knowledge of typical users to predict usability problems, OR, </a:t>
            </a:r>
            <a:endParaRPr lang="en-ZA" sz="1900" dirty="0" smtClean="0">
              <a:latin typeface="Arial Narrow" panose="020B0606020202030204" pitchFamily="34" charset="0"/>
            </a:endParaRPr>
          </a:p>
          <a:p>
            <a:r>
              <a:rPr lang="en-ZA" sz="1900" dirty="0" smtClean="0">
                <a:latin typeface="Arial Narrow" panose="020B0606020202030204" pitchFamily="34" charset="0"/>
              </a:rPr>
              <a:t>Walk-throughs </a:t>
            </a:r>
            <a:r>
              <a:rPr lang="en-ZA" sz="1900" dirty="0">
                <a:latin typeface="Arial Narrow" panose="020B0606020202030204" pitchFamily="34" charset="0"/>
              </a:rPr>
              <a:t>where experts “walk through” typical tasks. </a:t>
            </a:r>
            <a:endParaRPr lang="en-ZA" sz="1900" dirty="0" smtClean="0">
              <a:latin typeface="Arial Narrow" panose="020B0606020202030204" pitchFamily="34" charset="0"/>
            </a:endParaRPr>
          </a:p>
          <a:p>
            <a:r>
              <a:rPr lang="en-ZA" sz="1900" dirty="0" smtClean="0">
                <a:latin typeface="Arial Narrow" panose="020B0606020202030204" pitchFamily="34" charset="0"/>
              </a:rPr>
              <a:t>Users </a:t>
            </a:r>
            <a:r>
              <a:rPr lang="en-ZA" sz="1900" dirty="0">
                <a:latin typeface="Arial Narrow" panose="020B0606020202030204" pitchFamily="34" charset="0"/>
              </a:rPr>
              <a:t>need not be present, and prototypes can be used in the evaluation. </a:t>
            </a:r>
            <a:endParaRPr lang="en-ZA" sz="1900" dirty="0" smtClean="0">
              <a:latin typeface="Arial Narrow" panose="020B0606020202030204" pitchFamily="34" charset="0"/>
            </a:endParaRPr>
          </a:p>
          <a:p>
            <a:r>
              <a:rPr lang="en-ZA" sz="1900" dirty="0" smtClean="0">
                <a:latin typeface="Arial Narrow" panose="020B0606020202030204" pitchFamily="34" charset="0"/>
              </a:rPr>
              <a:t>Popular </a:t>
            </a:r>
            <a:r>
              <a:rPr lang="en-ZA" sz="1900" dirty="0">
                <a:latin typeface="Arial Narrow" panose="020B0606020202030204" pitchFamily="34" charset="0"/>
              </a:rPr>
              <a:t>heuristics were designed for screen-based applications and are inappropriate for technologies like mobiles and computerised toys. </a:t>
            </a:r>
          </a:p>
        </p:txBody>
      </p:sp>
      <p:sp>
        <p:nvSpPr>
          <p:cNvPr id="8" name="Content Placeholder 7"/>
          <p:cNvSpPr>
            <a:spLocks noGrp="1"/>
          </p:cNvSpPr>
          <p:nvPr>
            <p:ph sz="half" idx="2"/>
          </p:nvPr>
        </p:nvSpPr>
        <p:spPr>
          <a:xfrm>
            <a:off x="5634446" y="418011"/>
            <a:ext cx="6252754" cy="5758952"/>
          </a:xfrm>
        </p:spPr>
        <p:txBody>
          <a:bodyPr>
            <a:normAutofit fontScale="77500" lnSpcReduction="20000"/>
          </a:bodyPr>
          <a:lstStyle/>
          <a:p>
            <a:pPr marL="0" indent="0">
              <a:buNone/>
            </a:pPr>
            <a:r>
              <a:rPr lang="en-ZA" sz="2000" dirty="0">
                <a:latin typeface="Arial Narrow" panose="020B0606020202030204" pitchFamily="34" charset="0"/>
              </a:rPr>
              <a:t>Other evaluation techniques that can be combined with 3 main methods, or performed as part of these methods are cooperative and scenario-based evaluation techniques</a:t>
            </a:r>
            <a:r>
              <a:rPr lang="en-ZA" sz="2000" dirty="0" smtClean="0">
                <a:latin typeface="Arial Narrow" panose="020B0606020202030204" pitchFamily="34" charset="0"/>
              </a:rPr>
              <a:t>.</a:t>
            </a:r>
          </a:p>
          <a:p>
            <a:pPr marL="0" indent="0">
              <a:buNone/>
            </a:pPr>
            <a:r>
              <a:rPr lang="en-ZA" sz="2100" b="1" dirty="0">
                <a:latin typeface="Arial Narrow" panose="020B0606020202030204" pitchFamily="34" charset="0"/>
              </a:rPr>
              <a:t>Cooperative Evaluation Techniques </a:t>
            </a:r>
            <a:endParaRPr lang="en-ZA" sz="2100" b="1" dirty="0" smtClean="0">
              <a:latin typeface="Arial Narrow" panose="020B0606020202030204" pitchFamily="34" charset="0"/>
            </a:endParaRPr>
          </a:p>
          <a:p>
            <a:pPr marL="0" indent="0">
              <a:buNone/>
            </a:pPr>
            <a:r>
              <a:rPr lang="en-ZA" sz="2100" dirty="0" smtClean="0">
                <a:latin typeface="Arial Narrow" panose="020B0606020202030204" pitchFamily="34" charset="0"/>
              </a:rPr>
              <a:t>▪ </a:t>
            </a:r>
            <a:r>
              <a:rPr lang="en-ZA" sz="2100" dirty="0">
                <a:latin typeface="Arial Narrow" panose="020B0606020202030204" pitchFamily="34" charset="0"/>
              </a:rPr>
              <a:t>Useful during the formative stages of design. </a:t>
            </a:r>
            <a:endParaRPr lang="en-ZA" sz="2100" dirty="0" smtClean="0">
              <a:latin typeface="Arial Narrow" panose="020B0606020202030204" pitchFamily="34" charset="0"/>
            </a:endParaRPr>
          </a:p>
          <a:p>
            <a:pPr marL="0" indent="0">
              <a:buNone/>
            </a:pPr>
            <a:r>
              <a:rPr lang="en-ZA" sz="2100" dirty="0" smtClean="0">
                <a:latin typeface="Arial Narrow" panose="020B0606020202030204" pitchFamily="34" charset="0"/>
              </a:rPr>
              <a:t>▪ </a:t>
            </a:r>
            <a:r>
              <a:rPr lang="en-ZA" sz="2100" dirty="0">
                <a:latin typeface="Arial Narrow" panose="020B0606020202030204" pitchFamily="34" charset="0"/>
              </a:rPr>
              <a:t>Less hypothesis-driven </a:t>
            </a:r>
            <a:r>
              <a:rPr lang="en-ZA" sz="2100" dirty="0" smtClean="0">
                <a:latin typeface="Arial Narrow" panose="020B0606020202030204" pitchFamily="34" charset="0"/>
              </a:rPr>
              <a:t>&amp; good </a:t>
            </a:r>
            <a:r>
              <a:rPr lang="en-ZA" sz="2100" dirty="0">
                <a:latin typeface="Arial Narrow" panose="020B0606020202030204" pitchFamily="34" charset="0"/>
              </a:rPr>
              <a:t>way of getting user feedback on partial implementations. </a:t>
            </a:r>
            <a:endParaRPr lang="en-ZA" sz="2100" dirty="0" smtClean="0">
              <a:latin typeface="Arial Narrow" panose="020B0606020202030204" pitchFamily="34" charset="0"/>
            </a:endParaRPr>
          </a:p>
          <a:p>
            <a:pPr marL="0" indent="0">
              <a:buNone/>
            </a:pPr>
            <a:r>
              <a:rPr lang="en-ZA" sz="2100" dirty="0" smtClean="0">
                <a:latin typeface="Arial Narrow" panose="020B0606020202030204" pitchFamily="34" charset="0"/>
              </a:rPr>
              <a:t>▪ </a:t>
            </a:r>
            <a:r>
              <a:rPr lang="en-ZA" sz="2100" dirty="0">
                <a:latin typeface="Arial Narrow" panose="020B0606020202030204" pitchFamily="34" charset="0"/>
              </a:rPr>
              <a:t>The approach is extremely simple: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 </a:t>
            </a:r>
            <a:r>
              <a:rPr lang="en-ZA" sz="2100" dirty="0">
                <a:latin typeface="Arial Narrow" panose="020B0606020202030204" pitchFamily="34" charset="0"/>
              </a:rPr>
              <a:t>Evaluators sit with users while they work their way through a series of tasks. </a:t>
            </a:r>
            <a:endParaRPr lang="en-ZA" sz="2100" dirty="0" smtClean="0">
              <a:latin typeface="Arial Narrow" panose="020B0606020202030204" pitchFamily="34" charset="0"/>
            </a:endParaRPr>
          </a:p>
          <a:p>
            <a:pPr marL="914400" lvl="2" indent="0">
              <a:buNone/>
            </a:pPr>
            <a:r>
              <a:rPr lang="en-ZA" sz="2100" dirty="0" smtClean="0">
                <a:latin typeface="Arial Narrow" panose="020B0606020202030204" pitchFamily="34" charset="0"/>
              </a:rPr>
              <a:t>▪ </a:t>
            </a:r>
            <a:r>
              <a:rPr lang="en-ZA" sz="2100" dirty="0">
                <a:latin typeface="Arial Narrow" panose="020B0606020202030204" pitchFamily="34" charset="0"/>
              </a:rPr>
              <a:t>Occur in the working context or a quiet room away from shop floor.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Designers </a:t>
            </a:r>
            <a:r>
              <a:rPr lang="en-ZA" sz="2100" dirty="0">
                <a:latin typeface="Arial Narrow" panose="020B0606020202030204" pitchFamily="34" charset="0"/>
              </a:rPr>
              <a:t>use low-fidelity prototyping or partial implementations of final interface.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Evaluators </a:t>
            </a:r>
            <a:r>
              <a:rPr lang="en-ZA" sz="2100" dirty="0">
                <a:latin typeface="Arial Narrow" panose="020B0606020202030204" pitchFamily="34" charset="0"/>
              </a:rPr>
              <a:t>free to talk to users as they perform their tasks, but not distract </a:t>
            </a:r>
            <a:r>
              <a:rPr lang="en-ZA" sz="2100" dirty="0" smtClean="0">
                <a:latin typeface="Arial Narrow" panose="020B0606020202030204" pitchFamily="34" charset="0"/>
              </a:rPr>
              <a:t>them.</a:t>
            </a:r>
          </a:p>
          <a:p>
            <a:pPr lvl="1">
              <a:buFont typeface="Wingdings" panose="05000000000000000000" pitchFamily="2" charset="2"/>
              <a:buChar char="§"/>
            </a:pPr>
            <a:r>
              <a:rPr lang="en-ZA" sz="2100" dirty="0" smtClean="0">
                <a:latin typeface="Arial Narrow" panose="020B0606020202030204" pitchFamily="34" charset="0"/>
              </a:rPr>
              <a:t>If </a:t>
            </a:r>
            <a:r>
              <a:rPr lang="en-ZA" sz="2100" dirty="0">
                <a:latin typeface="Arial Narrow" panose="020B0606020202030204" pitchFamily="34" charset="0"/>
              </a:rPr>
              <a:t>user requires help, designer should offer it and note down problems context </a:t>
            </a:r>
            <a:endParaRPr lang="en-ZA" sz="2100" dirty="0" smtClean="0">
              <a:latin typeface="Arial Narrow" panose="020B0606020202030204" pitchFamily="34" charset="0"/>
            </a:endParaRPr>
          </a:p>
          <a:p>
            <a:pPr lvl="1">
              <a:buFont typeface="Wingdings" panose="05000000000000000000" pitchFamily="2" charset="2"/>
              <a:buChar char="§"/>
            </a:pPr>
            <a:r>
              <a:rPr lang="en-ZA" sz="2100" dirty="0" smtClean="0">
                <a:latin typeface="Arial Narrow" panose="020B0606020202030204" pitchFamily="34" charset="0"/>
              </a:rPr>
              <a:t>Main </a:t>
            </a:r>
            <a:r>
              <a:rPr lang="en-ZA" sz="2100" dirty="0">
                <a:latin typeface="Arial Narrow" panose="020B0606020202030204" pitchFamily="34" charset="0"/>
              </a:rPr>
              <a:t>point is that subjects should vocalise thoughts as they work with the </a:t>
            </a:r>
            <a:r>
              <a:rPr lang="en-ZA" sz="2100" dirty="0" smtClean="0">
                <a:latin typeface="Arial Narrow" panose="020B0606020202030204" pitchFamily="34" charset="0"/>
              </a:rPr>
              <a:t>system.</a:t>
            </a:r>
          </a:p>
          <a:p>
            <a:pPr lvl="1">
              <a:buFont typeface="Wingdings" panose="05000000000000000000" pitchFamily="2" charset="2"/>
              <a:buChar char="§"/>
            </a:pPr>
            <a:r>
              <a:rPr lang="en-ZA" sz="2100" dirty="0" smtClean="0">
                <a:latin typeface="Arial Narrow" panose="020B0606020202030204" pitchFamily="34" charset="0"/>
              </a:rPr>
              <a:t>Records </a:t>
            </a:r>
            <a:r>
              <a:rPr lang="en-ZA" sz="2100" dirty="0">
                <a:latin typeface="Arial Narrow" panose="020B0606020202030204" pitchFamily="34" charset="0"/>
              </a:rPr>
              <a:t>of observations must be kept for analysis - notes or record </a:t>
            </a:r>
            <a:r>
              <a:rPr lang="en-ZA" sz="2100" dirty="0" smtClean="0">
                <a:latin typeface="Arial Narrow" panose="020B0606020202030204" pitchFamily="34" charset="0"/>
              </a:rPr>
              <a:t>sessions.</a:t>
            </a:r>
          </a:p>
          <a:p>
            <a:pPr marL="0" indent="0">
              <a:buNone/>
            </a:pPr>
            <a:r>
              <a:rPr lang="en-ZA" sz="2100" b="1" u="sng" dirty="0">
                <a:latin typeface="Arial Narrow" panose="020B0606020202030204" pitchFamily="34" charset="0"/>
              </a:rPr>
              <a:t>Advantages </a:t>
            </a:r>
            <a:endParaRPr lang="en-ZA" sz="2100" b="1" u="sng" dirty="0" smtClean="0">
              <a:latin typeface="Arial Narrow" panose="020B0606020202030204" pitchFamily="34" charset="0"/>
            </a:endParaRPr>
          </a:p>
          <a:p>
            <a:pPr marL="0" indent="0">
              <a:buNone/>
            </a:pPr>
            <a:r>
              <a:rPr lang="en-ZA" sz="2100" dirty="0" smtClean="0">
                <a:latin typeface="Arial Narrow" panose="020B0606020202030204" pitchFamily="34" charset="0"/>
              </a:rPr>
              <a:t>▪ </a:t>
            </a:r>
            <a:r>
              <a:rPr lang="en-ZA" sz="2100" dirty="0">
                <a:latin typeface="Arial Narrow" panose="020B0606020202030204" pitchFamily="34" charset="0"/>
              </a:rPr>
              <a:t>Low-cost technique that is very effective for providing rough-and-ready feedback. ▪ Users feel directly involved in the development </a:t>
            </a:r>
            <a:r>
              <a:rPr lang="en-ZA" sz="2100" dirty="0" smtClean="0">
                <a:latin typeface="Arial Narrow" panose="020B0606020202030204" pitchFamily="34" charset="0"/>
              </a:rPr>
              <a:t>process - Contrast with experimental approaches - users feel constrained by rules of testing</a:t>
            </a:r>
            <a:endParaRPr lang="en-ZA" sz="21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113476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322217" y="426720"/>
            <a:ext cx="5697583" cy="5750243"/>
          </a:xfrm>
        </p:spPr>
        <p:txBody>
          <a:bodyPr>
            <a:normAutofit fontScale="92500" lnSpcReduction="20000"/>
          </a:bodyPr>
          <a:lstStyle/>
          <a:p>
            <a:pPr marL="0" indent="0">
              <a:buNone/>
            </a:pPr>
            <a:r>
              <a:rPr lang="en-ZA" sz="2000" b="1" dirty="0">
                <a:latin typeface="Arial Narrow" panose="020B0606020202030204" pitchFamily="34" charset="0"/>
              </a:rPr>
              <a:t>Disadvantages: </a:t>
            </a:r>
            <a:endParaRPr lang="en-ZA" sz="2000" b="1" dirty="0" smtClean="0">
              <a:latin typeface="Arial Narrow" panose="020B0606020202030204" pitchFamily="34" charset="0"/>
            </a:endParaRPr>
          </a:p>
          <a:p>
            <a:r>
              <a:rPr lang="en-ZA" sz="2000" dirty="0" smtClean="0">
                <a:latin typeface="Arial Narrow" panose="020B0606020202030204" pitchFamily="34" charset="0"/>
              </a:rPr>
              <a:t>Provides </a:t>
            </a:r>
            <a:r>
              <a:rPr lang="en-ZA" sz="2000" dirty="0">
                <a:latin typeface="Arial Narrow" panose="020B0606020202030204" pitchFamily="34" charset="0"/>
              </a:rPr>
              <a:t>qualitative feedback and not measurable results. </a:t>
            </a:r>
            <a:endParaRPr lang="en-ZA" sz="2000" dirty="0" smtClean="0">
              <a:latin typeface="Arial Narrow" panose="020B0606020202030204" pitchFamily="34" charset="0"/>
            </a:endParaRPr>
          </a:p>
          <a:p>
            <a:pPr lvl="1">
              <a:buFont typeface="Wingdings" panose="05000000000000000000" pitchFamily="2" charset="2"/>
              <a:buChar char="§"/>
            </a:pPr>
            <a:r>
              <a:rPr lang="en-ZA" sz="2000" dirty="0" smtClean="0">
                <a:latin typeface="Arial Narrow" panose="020B0606020202030204" pitchFamily="34" charset="0"/>
              </a:rPr>
              <a:t>Process </a:t>
            </a:r>
            <a:r>
              <a:rPr lang="en-ZA" sz="2000" dirty="0">
                <a:latin typeface="Arial Narrow" panose="020B0606020202030204" pitchFamily="34" charset="0"/>
              </a:rPr>
              <a:t>produces opinions and not numbers. </a:t>
            </a:r>
            <a:endParaRPr lang="en-ZA" sz="2000" dirty="0" smtClean="0">
              <a:latin typeface="Arial Narrow" panose="020B0606020202030204" pitchFamily="34" charset="0"/>
            </a:endParaRPr>
          </a:p>
          <a:p>
            <a:r>
              <a:rPr lang="en-ZA" sz="2000" dirty="0" smtClean="0">
                <a:latin typeface="Arial Narrow" panose="020B0606020202030204" pitchFamily="34" charset="0"/>
              </a:rPr>
              <a:t>Ineffective </a:t>
            </a:r>
            <a:r>
              <a:rPr lang="en-ZA" sz="2000" dirty="0">
                <a:latin typeface="Arial Narrow" panose="020B0606020202030204" pitchFamily="34" charset="0"/>
              </a:rPr>
              <a:t>if designers are unaware of the political and other pressures that might bias a user’s responses (influence them either positively or negatively</a:t>
            </a:r>
            <a:r>
              <a:rPr lang="en-ZA" sz="2000" dirty="0" smtClean="0">
                <a:latin typeface="Arial Narrow" panose="020B0606020202030204" pitchFamily="34" charset="0"/>
              </a:rPr>
              <a:t>).</a:t>
            </a:r>
          </a:p>
          <a:p>
            <a:pPr marL="0" indent="0" algn="just">
              <a:buNone/>
            </a:pPr>
            <a:r>
              <a:rPr lang="en-ZA" sz="2000" b="1" dirty="0">
                <a:latin typeface="Arial Narrow" panose="020B0606020202030204" pitchFamily="34" charset="0"/>
              </a:rPr>
              <a:t>Scenario-Based Evaluation </a:t>
            </a:r>
            <a:endParaRPr lang="en-ZA" sz="2000" b="1" dirty="0" smtClean="0">
              <a:latin typeface="Arial Narrow" panose="020B0606020202030204" pitchFamily="34" charset="0"/>
            </a:endParaRPr>
          </a:p>
          <a:p>
            <a:pPr algn="just"/>
            <a:r>
              <a:rPr lang="en-ZA" sz="2000" dirty="0" smtClean="0">
                <a:latin typeface="Arial Narrow" panose="020B0606020202030204" pitchFamily="34" charset="0"/>
              </a:rPr>
              <a:t>Scenarios </a:t>
            </a:r>
            <a:r>
              <a:rPr lang="en-ZA" sz="2000" dirty="0">
                <a:latin typeface="Arial Narrow" panose="020B0606020202030204" pitchFamily="34" charset="0"/>
              </a:rPr>
              <a:t>are informal narrative descriptions of possible situations.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In </a:t>
            </a:r>
            <a:r>
              <a:rPr lang="en-ZA" sz="2000" dirty="0">
                <a:latin typeface="Arial Narrow" panose="020B0606020202030204" pitchFamily="34" charset="0"/>
              </a:rPr>
              <a:t>interface design, it is a sample trace of interaction.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Forces </a:t>
            </a:r>
            <a:r>
              <a:rPr lang="en-ZA" sz="2000" dirty="0">
                <a:latin typeface="Arial Narrow" panose="020B0606020202030204" pitchFamily="34" charset="0"/>
              </a:rPr>
              <a:t>designers to identify key tasks in the requirements gathering stage of design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As </a:t>
            </a:r>
            <a:r>
              <a:rPr lang="en-ZA" sz="2000" dirty="0">
                <a:latin typeface="Arial Narrow" panose="020B0606020202030204" pitchFamily="34" charset="0"/>
              </a:rPr>
              <a:t>design progresses, these tasks are used to form a case book (containing standard tests) against which any potential interface is assessed.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Evaluation </a:t>
            </a:r>
            <a:r>
              <a:rPr lang="en-ZA" sz="2000" dirty="0">
                <a:latin typeface="Arial Narrow" panose="020B0606020202030204" pitchFamily="34" charset="0"/>
              </a:rPr>
              <a:t>continues by showing the user what it would be like to complete these standard tests using each of the interfaces.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Typically</a:t>
            </a:r>
            <a:r>
              <a:rPr lang="en-ZA" sz="2000" dirty="0">
                <a:latin typeface="Arial Narrow" panose="020B0606020202030204" pitchFamily="34" charset="0"/>
              </a:rPr>
              <a:t>, users are asked to comment on the proposed design in an informal way. </a:t>
            </a:r>
            <a:endParaRPr lang="en-ZA" sz="2000" dirty="0" smtClean="0">
              <a:latin typeface="Arial Narrow" panose="020B0606020202030204" pitchFamily="34" charset="0"/>
            </a:endParaRPr>
          </a:p>
          <a:p>
            <a:pPr lvl="1" algn="just">
              <a:buFont typeface="Wingdings" panose="05000000000000000000" pitchFamily="2" charset="2"/>
              <a:buChar char="§"/>
            </a:pPr>
            <a:r>
              <a:rPr lang="en-ZA" sz="1600" dirty="0" smtClean="0">
                <a:latin typeface="Arial Narrow" panose="020B0606020202030204" pitchFamily="34" charset="0"/>
              </a:rPr>
              <a:t>Done </a:t>
            </a:r>
            <a:r>
              <a:rPr lang="en-ZA" sz="1600" dirty="0">
                <a:latin typeface="Arial Narrow" panose="020B0606020202030204" pitchFamily="34" charset="0"/>
              </a:rPr>
              <a:t>by presenting them with sketches or simple mock-ups of the final system.</a:t>
            </a:r>
          </a:p>
        </p:txBody>
      </p:sp>
      <p:sp>
        <p:nvSpPr>
          <p:cNvPr id="8" name="Content Placeholder 7"/>
          <p:cNvSpPr>
            <a:spLocks noGrp="1"/>
          </p:cNvSpPr>
          <p:nvPr>
            <p:ph sz="half" idx="2"/>
          </p:nvPr>
        </p:nvSpPr>
        <p:spPr>
          <a:xfrm>
            <a:off x="6019800" y="426719"/>
            <a:ext cx="5928360" cy="5750243"/>
          </a:xfrm>
        </p:spPr>
        <p:txBody>
          <a:bodyPr>
            <a:noAutofit/>
          </a:bodyPr>
          <a:lstStyle/>
          <a:p>
            <a:pPr marL="0" indent="0">
              <a:buNone/>
            </a:pPr>
            <a:r>
              <a:rPr lang="en-ZA" sz="1800" b="1" dirty="0">
                <a:latin typeface="Arial Narrow" panose="020B0606020202030204" pitchFamily="34" charset="0"/>
              </a:rPr>
              <a:t>Advantages Scenario-Based Evaluation </a:t>
            </a:r>
          </a:p>
          <a:p>
            <a:r>
              <a:rPr lang="en-ZA" sz="1800" dirty="0" smtClean="0">
                <a:latin typeface="Arial Narrow" panose="020B0606020202030204" pitchFamily="34" charset="0"/>
              </a:rPr>
              <a:t>Different </a:t>
            </a:r>
            <a:r>
              <a:rPr lang="en-ZA" sz="1800" dirty="0">
                <a:latin typeface="Arial Narrow" panose="020B0606020202030204" pitchFamily="34" charset="0"/>
              </a:rPr>
              <a:t>design options can be evaluated against a common test suite.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Users </a:t>
            </a:r>
            <a:r>
              <a:rPr lang="en-ZA" sz="1800" dirty="0">
                <a:latin typeface="Arial Narrow" panose="020B0606020202030204" pitchFamily="34" charset="0"/>
              </a:rPr>
              <a:t>can provide focussed feedback about system to perform critical tasks.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Direct </a:t>
            </a:r>
            <a:r>
              <a:rPr lang="en-ZA" sz="1800" dirty="0">
                <a:latin typeface="Arial Narrow" panose="020B0606020202030204" pitchFamily="34" charset="0"/>
              </a:rPr>
              <a:t>comparisons can be made between the alternative designs. </a:t>
            </a:r>
            <a:endParaRPr lang="en-ZA" sz="1800" dirty="0" smtClean="0">
              <a:latin typeface="Arial Narrow" panose="020B0606020202030204" pitchFamily="34" charset="0"/>
            </a:endParaRPr>
          </a:p>
          <a:p>
            <a:r>
              <a:rPr lang="en-ZA" sz="1800" dirty="0" smtClean="0">
                <a:latin typeface="Arial Narrow" panose="020B0606020202030204" pitchFamily="34" charset="0"/>
              </a:rPr>
              <a:t>Scenarios </a:t>
            </a:r>
            <a:r>
              <a:rPr lang="en-ZA" sz="1800" dirty="0">
                <a:latin typeface="Arial Narrow" panose="020B0606020202030204" pitchFamily="34" charset="0"/>
              </a:rPr>
              <a:t>help to identify and test design ideas early on. </a:t>
            </a:r>
            <a:endParaRPr lang="en-ZA" sz="1800" dirty="0" smtClean="0">
              <a:latin typeface="Arial Narrow" panose="020B0606020202030204" pitchFamily="34" charset="0"/>
            </a:endParaRPr>
          </a:p>
          <a:p>
            <a:pPr marL="0" indent="0">
              <a:buNone/>
            </a:pPr>
            <a:r>
              <a:rPr lang="en-ZA" sz="1800" b="1" dirty="0" smtClean="0">
                <a:latin typeface="Arial Narrow" panose="020B0606020202030204" pitchFamily="34" charset="0"/>
              </a:rPr>
              <a:t>Disadvantages</a:t>
            </a:r>
            <a:r>
              <a:rPr lang="en-ZA" sz="1800" dirty="0" smtClean="0">
                <a:latin typeface="Arial Narrow" panose="020B0606020202030204" pitchFamily="34" charset="0"/>
              </a:rPr>
              <a:t> </a:t>
            </a:r>
            <a:r>
              <a:rPr lang="en-ZA" sz="1800" b="1" dirty="0">
                <a:latin typeface="Arial Narrow" panose="020B0606020202030204" pitchFamily="34" charset="0"/>
              </a:rPr>
              <a:t>Scenario-Based Evaluation </a:t>
            </a:r>
          </a:p>
          <a:p>
            <a:r>
              <a:rPr lang="en-ZA" sz="1800" dirty="0" smtClean="0">
                <a:latin typeface="Arial Narrow" panose="020B0606020202030204" pitchFamily="34" charset="0"/>
              </a:rPr>
              <a:t>Can </a:t>
            </a:r>
            <a:r>
              <a:rPr lang="en-ZA" sz="1800" dirty="0">
                <a:latin typeface="Arial Narrow" panose="020B0606020202030204" pitchFamily="34" charset="0"/>
              </a:rPr>
              <a:t>focus designers’ attention upon a small selection of tasks.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Some </a:t>
            </a:r>
            <a:r>
              <a:rPr lang="en-ZA" sz="1800" dirty="0">
                <a:latin typeface="Arial Narrow" panose="020B0606020202030204" pitchFamily="34" charset="0"/>
              </a:rPr>
              <a:t>functionality remains untested, and users become familiar with small set of examples. </a:t>
            </a:r>
            <a:endParaRPr lang="en-ZA" sz="1800" dirty="0" smtClean="0">
              <a:latin typeface="Arial Narrow" panose="020B0606020202030204" pitchFamily="34" charset="0"/>
            </a:endParaRPr>
          </a:p>
          <a:p>
            <a:r>
              <a:rPr lang="en-ZA" sz="1800" dirty="0" smtClean="0">
                <a:latin typeface="Arial Narrow" panose="020B0606020202030204" pitchFamily="34" charset="0"/>
              </a:rPr>
              <a:t>Difficult </a:t>
            </a:r>
            <a:r>
              <a:rPr lang="en-ZA" sz="1800" dirty="0">
                <a:latin typeface="Arial Narrow" panose="020B0606020202030204" pitchFamily="34" charset="0"/>
              </a:rPr>
              <a:t>to derive measurable data from the use of scenario-based techniques.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Must </a:t>
            </a:r>
            <a:r>
              <a:rPr lang="en-ZA" sz="1800" dirty="0">
                <a:latin typeface="Arial Narrow" panose="020B0606020202030204" pitchFamily="34" charset="0"/>
              </a:rPr>
              <a:t>be used in conjunction with other approaches such as usability testing</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667853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43840" y="304800"/>
            <a:ext cx="5775960" cy="6051550"/>
          </a:xfrm>
        </p:spPr>
        <p:txBody>
          <a:bodyPr>
            <a:noAutofit/>
          </a:bodyPr>
          <a:lstStyle/>
          <a:p>
            <a:pPr marL="0" indent="0">
              <a:buNone/>
            </a:pPr>
            <a:r>
              <a:rPr lang="en-ZA" sz="1800" b="1" u="sng" dirty="0">
                <a:latin typeface="Arial Narrow" panose="020B0606020202030204" pitchFamily="34" charset="0"/>
              </a:rPr>
              <a:t>Query techniques </a:t>
            </a:r>
            <a:endParaRPr lang="en-ZA" sz="1800" b="1" u="sng" dirty="0" smtClean="0">
              <a:latin typeface="Arial Narrow" panose="020B0606020202030204" pitchFamily="34" charset="0"/>
            </a:endParaRPr>
          </a:p>
          <a:p>
            <a:pPr marL="0" indent="0">
              <a:buNone/>
            </a:pPr>
            <a:r>
              <a:rPr lang="en-ZA" sz="1800" dirty="0" smtClean="0">
                <a:latin typeface="Arial Narrow" panose="020B0606020202030204" pitchFamily="34" charset="0"/>
              </a:rPr>
              <a:t>The </a:t>
            </a:r>
            <a:r>
              <a:rPr lang="en-ZA" sz="1800" dirty="0">
                <a:latin typeface="Arial Narrow" panose="020B0606020202030204" pitchFamily="34" charset="0"/>
              </a:rPr>
              <a:t>two main types of query techniques are interviews and questionnaires. </a:t>
            </a:r>
            <a:endParaRPr lang="en-ZA" sz="1800" dirty="0" smtClean="0">
              <a:latin typeface="Arial Narrow" panose="020B0606020202030204" pitchFamily="34" charset="0"/>
            </a:endParaRPr>
          </a:p>
          <a:p>
            <a:pPr>
              <a:buFont typeface="Wingdings" panose="05000000000000000000" pitchFamily="2" charset="2"/>
              <a:buChar char="Ø"/>
            </a:pPr>
            <a:r>
              <a:rPr lang="en-ZA" sz="1800" b="1" dirty="0" smtClean="0">
                <a:latin typeface="Arial Narrow" panose="020B0606020202030204" pitchFamily="34" charset="0"/>
              </a:rPr>
              <a:t>Interviews </a:t>
            </a:r>
          </a:p>
          <a:p>
            <a:r>
              <a:rPr lang="en-ZA" sz="1800" dirty="0" smtClean="0">
                <a:latin typeface="Arial Narrow" panose="020B0606020202030204" pitchFamily="34" charset="0"/>
              </a:rPr>
              <a:t>Involves </a:t>
            </a:r>
            <a:r>
              <a:rPr lang="en-ZA" sz="1800" dirty="0">
                <a:latin typeface="Arial Narrow" panose="020B0606020202030204" pitchFamily="34" charset="0"/>
              </a:rPr>
              <a:t>asking users questions about their experiences with the system under evaluation. For an interview to be effective: </a:t>
            </a:r>
            <a:endParaRPr lang="en-ZA" sz="1800" dirty="0" smtClean="0">
              <a:latin typeface="Arial Narrow" panose="020B0606020202030204" pitchFamily="34" charset="0"/>
            </a:endParaRPr>
          </a:p>
          <a:p>
            <a:r>
              <a:rPr lang="en-ZA" sz="1800" dirty="0" smtClean="0">
                <a:latin typeface="Arial Narrow" panose="020B0606020202030204" pitchFamily="34" charset="0"/>
              </a:rPr>
              <a:t>Interviewer </a:t>
            </a:r>
            <a:r>
              <a:rPr lang="en-ZA" sz="1800" dirty="0">
                <a:latin typeface="Arial Narrow" panose="020B0606020202030204" pitchFamily="34" charset="0"/>
              </a:rPr>
              <a:t>must plan it carefully by preparing specific questions or making a list of topics to address. </a:t>
            </a:r>
          </a:p>
          <a:p>
            <a:pPr lvl="1">
              <a:buFont typeface="Wingdings" panose="05000000000000000000" pitchFamily="2" charset="2"/>
              <a:buChar char="§"/>
            </a:pPr>
            <a:r>
              <a:rPr lang="en-ZA" sz="1800" dirty="0" smtClean="0">
                <a:latin typeface="Arial Narrow" panose="020B0606020202030204" pitchFamily="34" charset="0"/>
              </a:rPr>
              <a:t>Help </a:t>
            </a:r>
            <a:r>
              <a:rPr lang="en-ZA" sz="1800" dirty="0">
                <a:latin typeface="Arial Narrow" panose="020B0606020202030204" pitchFamily="34" charset="0"/>
              </a:rPr>
              <a:t>to focus interview and to keep issues discussed with different users consistent. </a:t>
            </a:r>
            <a:endParaRPr lang="en-ZA" sz="1800" dirty="0" smtClean="0">
              <a:latin typeface="Arial Narrow" panose="020B0606020202030204" pitchFamily="34" charset="0"/>
            </a:endParaRPr>
          </a:p>
          <a:p>
            <a:r>
              <a:rPr lang="en-ZA" sz="1800" dirty="0" smtClean="0">
                <a:latin typeface="Arial Narrow" panose="020B0606020202030204" pitchFamily="34" charset="0"/>
              </a:rPr>
              <a:t>Should </a:t>
            </a:r>
            <a:r>
              <a:rPr lang="en-ZA" sz="1800" dirty="0">
                <a:latin typeface="Arial Narrow" panose="020B0606020202030204" pitchFamily="34" charset="0"/>
              </a:rPr>
              <a:t>not be overly structured so interviewer can easily adapt questioning to suit users. </a:t>
            </a:r>
            <a:endParaRPr lang="en-ZA" sz="1800" dirty="0" smtClean="0">
              <a:latin typeface="Arial Narrow" panose="020B0606020202030204" pitchFamily="34" charset="0"/>
            </a:endParaRPr>
          </a:p>
          <a:p>
            <a:r>
              <a:rPr lang="en-ZA" sz="1800" dirty="0" smtClean="0">
                <a:latin typeface="Arial Narrow" panose="020B0606020202030204" pitchFamily="34" charset="0"/>
              </a:rPr>
              <a:t>Structured </a:t>
            </a:r>
            <a:r>
              <a:rPr lang="en-ZA" sz="1800" dirty="0">
                <a:latin typeface="Arial Narrow" panose="020B0606020202030204" pitchFamily="34" charset="0"/>
              </a:rPr>
              <a:t>interviews are easier to conduct and analyse than flexible interviews. </a:t>
            </a:r>
            <a:endParaRPr lang="en-ZA" sz="1800" dirty="0" smtClean="0">
              <a:latin typeface="Arial Narrow" panose="020B0606020202030204" pitchFamily="34" charset="0"/>
            </a:endParaRPr>
          </a:p>
          <a:p>
            <a:pPr lvl="1">
              <a:buFont typeface="Wingdings" panose="05000000000000000000" pitchFamily="2" charset="2"/>
              <a:buChar char="§"/>
            </a:pPr>
            <a:r>
              <a:rPr lang="en-ZA" sz="1800" dirty="0" smtClean="0">
                <a:latin typeface="Arial Narrow" panose="020B0606020202030204" pitchFamily="34" charset="0"/>
              </a:rPr>
              <a:t>May </a:t>
            </a:r>
            <a:r>
              <a:rPr lang="en-ZA" sz="1800" dirty="0">
                <a:latin typeface="Arial Narrow" panose="020B0606020202030204" pitchFamily="34" charset="0"/>
              </a:rPr>
              <a:t>miss important details relating to the user’s experience which a more flexible interview would have picked up. </a:t>
            </a:r>
            <a:endParaRPr lang="en-ZA" sz="1800" dirty="0" smtClean="0">
              <a:latin typeface="Arial Narrow" panose="020B0606020202030204" pitchFamily="34" charset="0"/>
            </a:endParaRPr>
          </a:p>
          <a:p>
            <a:r>
              <a:rPr lang="en-ZA" sz="1800" dirty="0" smtClean="0">
                <a:latin typeface="Arial Narrow" panose="020B0606020202030204" pitchFamily="34" charset="0"/>
              </a:rPr>
              <a:t>A </a:t>
            </a:r>
            <a:r>
              <a:rPr lang="en-ZA" sz="1800" dirty="0">
                <a:latin typeface="Arial Narrow" panose="020B0606020202030204" pitchFamily="34" charset="0"/>
              </a:rPr>
              <a:t>good compromise is a semi-structured interview which is based on leading questions but has the flexibility to investigate promising or unanticipated directions. </a:t>
            </a:r>
          </a:p>
        </p:txBody>
      </p:sp>
      <p:sp>
        <p:nvSpPr>
          <p:cNvPr id="4" name="Content Placeholder 3"/>
          <p:cNvSpPr>
            <a:spLocks noGrp="1"/>
          </p:cNvSpPr>
          <p:nvPr>
            <p:ph sz="half" idx="2"/>
          </p:nvPr>
        </p:nvSpPr>
        <p:spPr>
          <a:xfrm>
            <a:off x="5913121" y="304800"/>
            <a:ext cx="6078582" cy="6051550"/>
          </a:xfrm>
        </p:spPr>
        <p:txBody>
          <a:bodyPr>
            <a:normAutofit fontScale="62500" lnSpcReduction="20000"/>
          </a:bodyPr>
          <a:lstStyle/>
          <a:p>
            <a:pPr marL="0" indent="0">
              <a:buNone/>
            </a:pPr>
            <a:r>
              <a:rPr lang="en-ZA" b="1" dirty="0">
                <a:latin typeface="Arial Narrow" panose="020B0606020202030204" pitchFamily="34" charset="0"/>
              </a:rPr>
              <a:t>Advantages </a:t>
            </a:r>
            <a:r>
              <a:rPr lang="en-ZA" b="1" dirty="0" smtClean="0">
                <a:latin typeface="Arial Narrow" panose="020B0606020202030204" pitchFamily="34" charset="0"/>
              </a:rPr>
              <a:t>Interviews</a:t>
            </a:r>
          </a:p>
          <a:p>
            <a:r>
              <a:rPr lang="en-ZA" dirty="0" smtClean="0">
                <a:latin typeface="Arial Narrow" panose="020B0606020202030204" pitchFamily="34" charset="0"/>
              </a:rPr>
              <a:t>Evaluator </a:t>
            </a:r>
            <a:r>
              <a:rPr lang="en-ZA" dirty="0">
                <a:latin typeface="Arial Narrow" panose="020B0606020202030204" pitchFamily="34" charset="0"/>
              </a:rPr>
              <a:t>can: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Vary </a:t>
            </a:r>
            <a:r>
              <a:rPr lang="en-ZA" dirty="0">
                <a:latin typeface="Arial Narrow" panose="020B0606020202030204" pitchFamily="34" charset="0"/>
              </a:rPr>
              <a:t>the level of questioning to suit the context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Probe </a:t>
            </a:r>
            <a:r>
              <a:rPr lang="en-ZA" dirty="0">
                <a:latin typeface="Arial Narrow" panose="020B0606020202030204" pitchFamily="34" charset="0"/>
              </a:rPr>
              <a:t>user for more information on relevant issues which arise spontaneously </a:t>
            </a:r>
            <a:endParaRPr lang="en-ZA" dirty="0" smtClean="0">
              <a:latin typeface="Arial Narrow" panose="020B0606020202030204" pitchFamily="34" charset="0"/>
            </a:endParaRPr>
          </a:p>
          <a:p>
            <a:pPr>
              <a:buFont typeface="Wingdings" panose="05000000000000000000" pitchFamily="2" charset="2"/>
              <a:buChar char="Ø"/>
            </a:pPr>
            <a:r>
              <a:rPr lang="en-ZA" b="1" dirty="0" smtClean="0">
                <a:latin typeface="Arial Narrow" panose="020B0606020202030204" pitchFamily="34" charset="0"/>
              </a:rPr>
              <a:t>Questionnaires </a:t>
            </a:r>
          </a:p>
          <a:p>
            <a:r>
              <a:rPr lang="en-ZA" dirty="0" smtClean="0">
                <a:latin typeface="Arial Narrow" panose="020B0606020202030204" pitchFamily="34" charset="0"/>
              </a:rPr>
              <a:t>Consists </a:t>
            </a:r>
            <a:r>
              <a:rPr lang="en-ZA" dirty="0">
                <a:latin typeface="Arial Narrow" panose="020B0606020202030204" pitchFamily="34" charset="0"/>
              </a:rPr>
              <a:t>of fixed questions relating to interaction with the system being evaluated</a:t>
            </a:r>
            <a:r>
              <a:rPr lang="en-ZA" dirty="0" smtClean="0">
                <a:latin typeface="Arial Narrow" panose="020B0606020202030204" pitchFamily="34" charset="0"/>
              </a:rPr>
              <a:t>.</a:t>
            </a:r>
          </a:p>
          <a:p>
            <a:r>
              <a:rPr lang="en-ZA" dirty="0" smtClean="0">
                <a:latin typeface="Arial Narrow" panose="020B0606020202030204" pitchFamily="34" charset="0"/>
              </a:rPr>
              <a:t> When </a:t>
            </a:r>
            <a:r>
              <a:rPr lang="en-ZA" dirty="0">
                <a:latin typeface="Arial Narrow" panose="020B0606020202030204" pitchFamily="34" charset="0"/>
              </a:rPr>
              <a:t>used for the purpose of evaluation, users complete the questionnaire after completing a given task or set of tasks</a:t>
            </a:r>
            <a:r>
              <a:rPr lang="en-ZA" dirty="0" smtClean="0">
                <a:latin typeface="Arial Narrow" panose="020B0606020202030204" pitchFamily="34" charset="0"/>
              </a:rPr>
              <a:t>.</a:t>
            </a:r>
          </a:p>
          <a:p>
            <a:r>
              <a:rPr lang="en-ZA" dirty="0" smtClean="0">
                <a:latin typeface="Arial Narrow" panose="020B0606020202030204" pitchFamily="34" charset="0"/>
              </a:rPr>
              <a:t> Less </a:t>
            </a:r>
            <a:r>
              <a:rPr lang="en-ZA" dirty="0">
                <a:latin typeface="Arial Narrow" panose="020B0606020202030204" pitchFamily="34" charset="0"/>
              </a:rPr>
              <a:t>flexible than interviews, but has several advantages: </a:t>
            </a:r>
            <a:endParaRPr lang="en-ZA" dirty="0" smtClean="0">
              <a:latin typeface="Arial Narrow" panose="020B0606020202030204" pitchFamily="34" charset="0"/>
            </a:endParaRPr>
          </a:p>
          <a:p>
            <a:pPr marL="0" indent="0">
              <a:buNone/>
            </a:pPr>
            <a:r>
              <a:rPr lang="en-ZA" b="1" dirty="0" smtClean="0">
                <a:latin typeface="Arial Narrow" panose="020B0606020202030204" pitchFamily="34" charset="0"/>
              </a:rPr>
              <a:t>Advantages</a:t>
            </a:r>
            <a:r>
              <a:rPr lang="en-ZA" dirty="0" smtClean="0">
                <a:latin typeface="Arial Narrow" panose="020B0606020202030204" pitchFamily="34" charset="0"/>
              </a:rPr>
              <a:t> </a:t>
            </a:r>
            <a:r>
              <a:rPr lang="en-ZA" b="1" dirty="0" smtClean="0">
                <a:latin typeface="Arial Narrow" panose="020B0606020202030204" pitchFamily="34" charset="0"/>
              </a:rPr>
              <a:t>Questionnaires</a:t>
            </a:r>
          </a:p>
          <a:p>
            <a:r>
              <a:rPr lang="en-ZA" dirty="0" smtClean="0">
                <a:latin typeface="Arial Narrow" panose="020B0606020202030204" pitchFamily="34" charset="0"/>
              </a:rPr>
              <a:t>Larger </a:t>
            </a:r>
            <a:r>
              <a:rPr lang="en-ZA" dirty="0">
                <a:latin typeface="Arial Narrow" panose="020B0606020202030204" pitchFamily="34" charset="0"/>
              </a:rPr>
              <a:t>number of users can be included in the evaluation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     Less </a:t>
            </a:r>
            <a:r>
              <a:rPr lang="en-ZA" dirty="0">
                <a:latin typeface="Arial Narrow" panose="020B0606020202030204" pitchFamily="34" charset="0"/>
              </a:rPr>
              <a:t>time-consuming </a:t>
            </a:r>
            <a:endParaRPr lang="en-ZA" dirty="0" smtClean="0">
              <a:latin typeface="Arial Narrow" panose="020B0606020202030204" pitchFamily="34" charset="0"/>
            </a:endParaRPr>
          </a:p>
          <a:p>
            <a:pPr lvl="1">
              <a:buFont typeface="Wingdings" panose="05000000000000000000" pitchFamily="2" charset="2"/>
              <a:buChar char="§"/>
            </a:pPr>
            <a:r>
              <a:rPr lang="en-ZA" dirty="0">
                <a:latin typeface="Arial Narrow" panose="020B0606020202030204" pitchFamily="34" charset="0"/>
              </a:rPr>
              <a:t> </a:t>
            </a:r>
            <a:r>
              <a:rPr lang="en-ZA" dirty="0" smtClean="0">
                <a:latin typeface="Arial Narrow" panose="020B0606020202030204" pitchFamily="34" charset="0"/>
              </a:rPr>
              <a:t>    Less </a:t>
            </a:r>
            <a:r>
              <a:rPr lang="en-ZA" dirty="0">
                <a:latin typeface="Arial Narrow" panose="020B0606020202030204" pitchFamily="34" charset="0"/>
              </a:rPr>
              <a:t>Labour intensive </a:t>
            </a:r>
            <a:endParaRPr lang="en-ZA" dirty="0" smtClean="0">
              <a:latin typeface="Arial Narrow" panose="020B0606020202030204" pitchFamily="34" charset="0"/>
            </a:endParaRPr>
          </a:p>
          <a:p>
            <a:r>
              <a:rPr lang="en-ZA" dirty="0" smtClean="0">
                <a:latin typeface="Arial Narrow" panose="020B0606020202030204" pitchFamily="34" charset="0"/>
              </a:rPr>
              <a:t>Results </a:t>
            </a:r>
            <a:r>
              <a:rPr lang="en-ZA" dirty="0">
                <a:latin typeface="Arial Narrow" panose="020B0606020202030204" pitchFamily="34" charset="0"/>
              </a:rPr>
              <a:t>can be analysed more rigorously </a:t>
            </a:r>
            <a:endParaRPr lang="en-ZA" dirty="0" smtClean="0">
              <a:latin typeface="Arial Narrow" panose="020B0606020202030204" pitchFamily="34" charset="0"/>
            </a:endParaRPr>
          </a:p>
          <a:p>
            <a:r>
              <a:rPr lang="en-ZA" dirty="0" smtClean="0">
                <a:latin typeface="Arial Narrow" panose="020B0606020202030204" pitchFamily="34" charset="0"/>
              </a:rPr>
              <a:t>Different </a:t>
            </a:r>
            <a:r>
              <a:rPr lang="en-ZA" dirty="0">
                <a:latin typeface="Arial Narrow" panose="020B0606020202030204" pitchFamily="34" charset="0"/>
              </a:rPr>
              <a:t>styles of questions can be used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Open-ended </a:t>
            </a:r>
            <a:r>
              <a:rPr lang="en-ZA" dirty="0">
                <a:latin typeface="Arial Narrow" panose="020B0606020202030204" pitchFamily="34" charset="0"/>
              </a:rPr>
              <a:t>questions - allows user to freely give his or her opinion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Closed </a:t>
            </a:r>
            <a:r>
              <a:rPr lang="en-ZA" dirty="0">
                <a:latin typeface="Arial Narrow" panose="020B0606020202030204" pitchFamily="34" charset="0"/>
              </a:rPr>
              <a:t>questions - multiple-choice or ranked questions. </a:t>
            </a:r>
            <a:endParaRPr lang="en-ZA" dirty="0" smtClean="0">
              <a:latin typeface="Arial Narrow" panose="020B0606020202030204" pitchFamily="34" charset="0"/>
            </a:endParaRPr>
          </a:p>
          <a:p>
            <a:r>
              <a:rPr lang="en-ZA" dirty="0" smtClean="0">
                <a:latin typeface="Arial Narrow" panose="020B0606020202030204" pitchFamily="34" charset="0"/>
              </a:rPr>
              <a:t>Can </a:t>
            </a:r>
            <a:r>
              <a:rPr lang="en-ZA" dirty="0">
                <a:latin typeface="Arial Narrow" panose="020B0606020202030204" pitchFamily="34" charset="0"/>
              </a:rPr>
              <a:t>be completed in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Fixed </a:t>
            </a:r>
            <a:r>
              <a:rPr lang="en-ZA" dirty="0">
                <a:latin typeface="Arial Narrow" panose="020B0606020202030204" pitchFamily="34" charset="0"/>
              </a:rPr>
              <a:t>sessions or , </a:t>
            </a:r>
            <a:endParaRPr lang="en-ZA" dirty="0" smtClean="0">
              <a:latin typeface="Arial Narrow" panose="020B0606020202030204" pitchFamily="34" charset="0"/>
            </a:endParaRPr>
          </a:p>
          <a:p>
            <a:pPr lvl="1">
              <a:buFont typeface="Wingdings" panose="05000000000000000000" pitchFamily="2" charset="2"/>
              <a:buChar char="§"/>
            </a:pPr>
            <a:r>
              <a:rPr lang="en-ZA" dirty="0" smtClean="0">
                <a:latin typeface="Arial Narrow" panose="020B0606020202030204" pitchFamily="34" charset="0"/>
              </a:rPr>
              <a:t>Administered </a:t>
            </a:r>
            <a:r>
              <a:rPr lang="en-ZA" dirty="0">
                <a:latin typeface="Arial Narrow" panose="020B0606020202030204" pitchFamily="34" charset="0"/>
              </a:rPr>
              <a:t>independent of time and place, and without an evaluator</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617748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306976" y="231957"/>
            <a:ext cx="5571309" cy="5945006"/>
          </a:xfrm>
        </p:spPr>
        <p:txBody>
          <a:bodyPr>
            <a:noAutofit/>
          </a:bodyPr>
          <a:lstStyle/>
          <a:p>
            <a:pPr marL="0" indent="0">
              <a:buNone/>
            </a:pPr>
            <a:r>
              <a:rPr lang="en-ZA" sz="1800" b="1" dirty="0">
                <a:latin typeface="Arial Narrow" panose="020B0606020202030204" pitchFamily="34" charset="0"/>
              </a:rPr>
              <a:t>Heuristic Evaluation </a:t>
            </a:r>
            <a:endParaRPr lang="en-ZA" sz="1800" b="1" dirty="0" smtClean="0">
              <a:latin typeface="Arial Narrow" panose="020B0606020202030204" pitchFamily="34" charset="0"/>
            </a:endParaRPr>
          </a:p>
          <a:p>
            <a:r>
              <a:rPr lang="en-ZA" sz="1800" dirty="0" smtClean="0">
                <a:latin typeface="Arial Narrow" panose="020B0606020202030204" pitchFamily="34" charset="0"/>
              </a:rPr>
              <a:t>Developed </a:t>
            </a:r>
            <a:r>
              <a:rPr lang="en-ZA" sz="1800" dirty="0">
                <a:latin typeface="Arial Narrow" panose="020B0606020202030204" pitchFamily="34" charset="0"/>
              </a:rPr>
              <a:t>by </a:t>
            </a:r>
            <a:r>
              <a:rPr lang="en-ZA" sz="1800" dirty="0" err="1">
                <a:latin typeface="Arial Narrow" panose="020B0606020202030204" pitchFamily="34" charset="0"/>
              </a:rPr>
              <a:t>Jakob</a:t>
            </a:r>
            <a:r>
              <a:rPr lang="en-ZA" sz="1800" dirty="0">
                <a:latin typeface="Arial Narrow" panose="020B0606020202030204" pitchFamily="34" charset="0"/>
              </a:rPr>
              <a:t> Nielsen and his colleagues (Nielsen 1994). </a:t>
            </a:r>
            <a:endParaRPr lang="en-ZA" sz="1800" dirty="0" smtClean="0">
              <a:latin typeface="Arial Narrow" panose="020B0606020202030204" pitchFamily="34" charset="0"/>
            </a:endParaRPr>
          </a:p>
          <a:p>
            <a:r>
              <a:rPr lang="en-ZA" sz="1800" dirty="0" smtClean="0">
                <a:latin typeface="Arial Narrow" panose="020B0606020202030204" pitchFamily="34" charset="0"/>
              </a:rPr>
              <a:t>User </a:t>
            </a:r>
            <a:r>
              <a:rPr lang="en-ZA" sz="1800" dirty="0">
                <a:latin typeface="Arial Narrow" panose="020B0606020202030204" pitchFamily="34" charset="0"/>
              </a:rPr>
              <a:t>interface design experts evaluate the user interface according to usability principles known as heuristics. </a:t>
            </a:r>
            <a:endParaRPr lang="en-ZA" sz="1800" dirty="0" smtClean="0">
              <a:latin typeface="Arial Narrow" panose="020B0606020202030204" pitchFamily="34" charset="0"/>
            </a:endParaRPr>
          </a:p>
          <a:p>
            <a:pPr marL="0" indent="0">
              <a:buNone/>
            </a:pPr>
            <a:r>
              <a:rPr lang="en-ZA" sz="1800" b="1" dirty="0" smtClean="0">
                <a:latin typeface="Arial Narrow" panose="020B0606020202030204" pitchFamily="34" charset="0"/>
              </a:rPr>
              <a:t>The </a:t>
            </a:r>
            <a:r>
              <a:rPr lang="en-ZA" sz="1800" b="1" dirty="0">
                <a:latin typeface="Arial Narrow" panose="020B0606020202030204" pitchFamily="34" charset="0"/>
              </a:rPr>
              <a:t>process of heuristic evaluation involves 3 steps: </a:t>
            </a:r>
            <a:endParaRPr lang="en-ZA" sz="1800" b="1" dirty="0" smtClean="0">
              <a:latin typeface="Arial Narrow" panose="020B0606020202030204" pitchFamily="34" charset="0"/>
            </a:endParaRPr>
          </a:p>
          <a:p>
            <a:pPr marL="514350" indent="-514350">
              <a:buAutoNum type="arabicPeriod"/>
            </a:pPr>
            <a:r>
              <a:rPr lang="en-ZA" sz="1800" dirty="0" smtClean="0">
                <a:latin typeface="Arial Narrow" panose="020B0606020202030204" pitchFamily="34" charset="0"/>
              </a:rPr>
              <a:t>Briefing: Experts </a:t>
            </a:r>
            <a:r>
              <a:rPr lang="en-ZA" sz="1800" dirty="0">
                <a:latin typeface="Arial Narrow" panose="020B0606020202030204" pitchFamily="34" charset="0"/>
              </a:rPr>
              <a:t>are told what to do. </a:t>
            </a:r>
            <a:endParaRPr lang="en-ZA" sz="1800" dirty="0" smtClean="0">
              <a:latin typeface="Arial Narrow" panose="020B0606020202030204" pitchFamily="34" charset="0"/>
            </a:endParaRPr>
          </a:p>
          <a:p>
            <a:pPr marL="514350" indent="-514350">
              <a:buAutoNum type="arabicPeriod"/>
            </a:pPr>
            <a:r>
              <a:rPr lang="en-ZA" sz="1800" dirty="0" smtClean="0">
                <a:latin typeface="Arial Narrow" panose="020B0606020202030204" pitchFamily="34" charset="0"/>
              </a:rPr>
              <a:t>Evaluation: Each </a:t>
            </a:r>
            <a:r>
              <a:rPr lang="en-ZA" sz="1800" dirty="0">
                <a:latin typeface="Arial Narrow" panose="020B0606020202030204" pitchFamily="34" charset="0"/>
              </a:rPr>
              <a:t>expert spends a few hours taking at least two passes through the interface, using the heuristics to identify problems. </a:t>
            </a:r>
            <a:endParaRPr lang="en-ZA" sz="1800" dirty="0" smtClean="0">
              <a:latin typeface="Arial Narrow" panose="020B0606020202030204" pitchFamily="34" charset="0"/>
            </a:endParaRPr>
          </a:p>
          <a:p>
            <a:pPr marL="514350" indent="-514350">
              <a:buAutoNum type="arabicPeriod"/>
            </a:pPr>
            <a:r>
              <a:rPr lang="en-ZA" sz="1800" dirty="0" smtClean="0">
                <a:latin typeface="Arial Narrow" panose="020B0606020202030204" pitchFamily="34" charset="0"/>
              </a:rPr>
              <a:t>Debriefing: Experts </a:t>
            </a:r>
            <a:r>
              <a:rPr lang="en-ZA" sz="1800" dirty="0">
                <a:latin typeface="Arial Narrow" panose="020B0606020202030204" pitchFamily="34" charset="0"/>
              </a:rPr>
              <a:t>meet to discuss their evaluations, prioritize problems and suggest solutions. </a:t>
            </a:r>
            <a:endParaRPr lang="en-ZA" sz="1800" dirty="0" smtClean="0">
              <a:latin typeface="Arial Narrow" panose="020B0606020202030204" pitchFamily="34" charset="0"/>
            </a:endParaRPr>
          </a:p>
          <a:p>
            <a:pPr marL="0" indent="0">
              <a:buNone/>
            </a:pPr>
            <a:r>
              <a:rPr lang="en-ZA" sz="1800" b="1" dirty="0" smtClean="0">
                <a:latin typeface="Arial Narrow" panose="020B0606020202030204" pitchFamily="34" charset="0"/>
              </a:rPr>
              <a:t>Advantage </a:t>
            </a:r>
          </a:p>
          <a:p>
            <a:r>
              <a:rPr lang="en-ZA" sz="1800" dirty="0" smtClean="0">
                <a:latin typeface="Arial Narrow" panose="020B0606020202030204" pitchFamily="34" charset="0"/>
              </a:rPr>
              <a:t>Fewer </a:t>
            </a:r>
            <a:r>
              <a:rPr lang="en-ZA" sz="1800" dirty="0">
                <a:latin typeface="Arial Narrow" panose="020B0606020202030204" pitchFamily="34" charset="0"/>
              </a:rPr>
              <a:t>practical and ethical issues to take into account as users are not involved</a:t>
            </a:r>
            <a:r>
              <a:rPr lang="en-ZA" sz="1800" dirty="0" smtClean="0">
                <a:latin typeface="Arial Narrow" panose="020B0606020202030204" pitchFamily="34" charset="0"/>
              </a:rPr>
              <a:t>.</a:t>
            </a:r>
          </a:p>
          <a:p>
            <a:pPr marL="0" indent="0">
              <a:buNone/>
            </a:pPr>
            <a:r>
              <a:rPr lang="en-ZA" sz="1800" b="1" dirty="0">
                <a:latin typeface="Arial Narrow" panose="020B0606020202030204" pitchFamily="34" charset="0"/>
              </a:rPr>
              <a:t>Disadvantage </a:t>
            </a:r>
            <a:endParaRPr lang="en-ZA" sz="1800" b="1" dirty="0" smtClean="0">
              <a:latin typeface="Arial Narrow" panose="020B0606020202030204" pitchFamily="34" charset="0"/>
            </a:endParaRPr>
          </a:p>
          <a:p>
            <a:r>
              <a:rPr lang="en-ZA" sz="1800" dirty="0" smtClean="0">
                <a:latin typeface="Arial Narrow" panose="020B0606020202030204" pitchFamily="34" charset="0"/>
              </a:rPr>
              <a:t>Experts </a:t>
            </a:r>
            <a:r>
              <a:rPr lang="en-ZA" sz="1800" dirty="0">
                <a:latin typeface="Arial Narrow" panose="020B0606020202030204" pitchFamily="34" charset="0"/>
              </a:rPr>
              <a:t>often identify problems that aren’t really problems. o Suggests that </a:t>
            </a:r>
            <a:endParaRPr lang="en-ZA" sz="1800" dirty="0" smtClean="0">
              <a:latin typeface="Arial Narrow" panose="020B0606020202030204" pitchFamily="34" charset="0"/>
            </a:endParaRPr>
          </a:p>
        </p:txBody>
      </p:sp>
      <p:sp>
        <p:nvSpPr>
          <p:cNvPr id="8" name="Content Placeholder 7"/>
          <p:cNvSpPr>
            <a:spLocks noGrp="1"/>
          </p:cNvSpPr>
          <p:nvPr>
            <p:ph sz="half" idx="2"/>
          </p:nvPr>
        </p:nvSpPr>
        <p:spPr>
          <a:xfrm>
            <a:off x="5878285" y="231957"/>
            <a:ext cx="6069875" cy="5945006"/>
          </a:xfrm>
        </p:spPr>
        <p:txBody>
          <a:bodyPr>
            <a:noAutofit/>
          </a:bodyPr>
          <a:lstStyle/>
          <a:p>
            <a:r>
              <a:rPr lang="en-ZA" sz="1800" dirty="0">
                <a:latin typeface="Arial Narrow" panose="020B0606020202030204" pitchFamily="34" charset="0"/>
              </a:rPr>
              <a:t>Heuristic evaluation should be used along with other techniques </a:t>
            </a:r>
          </a:p>
          <a:p>
            <a:r>
              <a:rPr lang="en-ZA" sz="1800" dirty="0">
                <a:latin typeface="Arial Narrow" panose="020B0606020202030204" pitchFamily="34" charset="0"/>
              </a:rPr>
              <a:t>Several evaluators should take part in the evaluation</a:t>
            </a:r>
          </a:p>
          <a:p>
            <a:pPr marL="0" indent="0">
              <a:buNone/>
            </a:pPr>
            <a:r>
              <a:rPr lang="en-ZA" sz="1800" b="1" dirty="0">
                <a:latin typeface="Arial Narrow" panose="020B0606020202030204" pitchFamily="34" charset="0"/>
              </a:rPr>
              <a:t>List of Nielsen’s evaluation heuristics formulated as questions: </a:t>
            </a:r>
            <a:endParaRPr lang="en-ZA" sz="1800" b="1"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How </a:t>
            </a:r>
            <a:r>
              <a:rPr lang="en-ZA" sz="1800" dirty="0">
                <a:latin typeface="Arial Narrow" panose="020B0606020202030204" pitchFamily="34" charset="0"/>
              </a:rPr>
              <a:t>good is the visibility of system status?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Is </a:t>
            </a:r>
            <a:r>
              <a:rPr lang="en-ZA" sz="1800" dirty="0">
                <a:latin typeface="Arial Narrow" panose="020B0606020202030204" pitchFamily="34" charset="0"/>
              </a:rPr>
              <a:t>there a clear match between the system and the real world?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Do </a:t>
            </a:r>
            <a:r>
              <a:rPr lang="en-ZA" sz="1800" dirty="0">
                <a:latin typeface="Arial Narrow" panose="020B0606020202030204" pitchFamily="34" charset="0"/>
              </a:rPr>
              <a:t>users have control when needed and are they free to explore when necessary?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Does </a:t>
            </a:r>
            <a:r>
              <a:rPr lang="en-ZA" sz="1800" dirty="0">
                <a:latin typeface="Arial Narrow" panose="020B0606020202030204" pitchFamily="34" charset="0"/>
              </a:rPr>
              <a:t>the user interface display consistency and adherence to standards?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Does </a:t>
            </a:r>
            <a:r>
              <a:rPr lang="en-ZA" sz="1800" dirty="0">
                <a:latin typeface="Arial Narrow" panose="020B0606020202030204" pitchFamily="34" charset="0"/>
              </a:rPr>
              <a:t>interface help users to recognise and diagnose errors, and to recover from them? </a:t>
            </a:r>
          </a:p>
          <a:p>
            <a:pPr marL="457200" indent="-457200">
              <a:buAutoNum type="arabicPeriod"/>
            </a:pPr>
            <a:r>
              <a:rPr lang="en-ZA" sz="1800" dirty="0" smtClean="0">
                <a:latin typeface="Arial Narrow" panose="020B0606020202030204" pitchFamily="34" charset="0"/>
              </a:rPr>
              <a:t>How </a:t>
            </a:r>
            <a:r>
              <a:rPr lang="en-ZA" sz="1800" dirty="0">
                <a:latin typeface="Arial Narrow" panose="020B0606020202030204" pitchFamily="34" charset="0"/>
              </a:rPr>
              <a:t>good is the error prevention?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Does </a:t>
            </a:r>
            <a:r>
              <a:rPr lang="en-ZA" sz="1800" dirty="0">
                <a:latin typeface="Arial Narrow" panose="020B0606020202030204" pitchFamily="34" charset="0"/>
              </a:rPr>
              <a:t>the interface rely on recognition rather than on recall?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How </a:t>
            </a:r>
            <a:r>
              <a:rPr lang="en-ZA" sz="1800" dirty="0">
                <a:latin typeface="Arial Narrow" panose="020B0606020202030204" pitchFamily="34" charset="0"/>
              </a:rPr>
              <a:t>flexible and efficient is it to use?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How </a:t>
            </a:r>
            <a:r>
              <a:rPr lang="en-ZA" sz="1800" dirty="0">
                <a:latin typeface="Arial Narrow" panose="020B0606020202030204" pitchFamily="34" charset="0"/>
              </a:rPr>
              <a:t>good is the interface in terms of aesthetics and minimalist (clear &amp; simple) design? </a:t>
            </a:r>
            <a:endParaRPr lang="en-ZA" sz="1800" dirty="0" smtClean="0">
              <a:latin typeface="Arial Narrow" panose="020B0606020202030204" pitchFamily="34" charset="0"/>
            </a:endParaRPr>
          </a:p>
          <a:p>
            <a:pPr marL="457200" indent="-457200">
              <a:buAutoNum type="arabicPeriod"/>
            </a:pPr>
            <a:r>
              <a:rPr lang="en-ZA" sz="1800" dirty="0" smtClean="0">
                <a:latin typeface="Arial Narrow" panose="020B0606020202030204" pitchFamily="34" charset="0"/>
              </a:rPr>
              <a:t>Is </a:t>
            </a:r>
            <a:r>
              <a:rPr lang="en-ZA" sz="1800" dirty="0">
                <a:latin typeface="Arial Narrow" panose="020B0606020202030204" pitchFamily="34" charset="0"/>
              </a:rPr>
              <a:t>adequate help and documentation available</a:t>
            </a: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035621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5542</TotalTime>
  <Words>5932</Words>
  <Application>Microsoft Office PowerPoint</Application>
  <PresentationFormat>Widescreen</PresentationFormat>
  <Paragraphs>517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Narrow</vt:lpstr>
      <vt:lpstr>Calibri</vt:lpstr>
      <vt:lpstr>Calibri Light</vt:lpstr>
      <vt:lpstr>Wingdings</vt:lpstr>
      <vt:lpstr>Office Theme</vt:lpstr>
      <vt:lpstr>  Lesson Tool 4: Interaction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SAPS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INF1520:Human Computer Interaction Summary</dc:title>
  <dc:creator>Nonzwelo Makama</dc:creator>
  <cp:lastModifiedBy>Nozwelo</cp:lastModifiedBy>
  <cp:revision>220</cp:revision>
  <dcterms:created xsi:type="dcterms:W3CDTF">2021-05-05T17:16:46Z</dcterms:created>
  <dcterms:modified xsi:type="dcterms:W3CDTF">2022-06-28T21:43:48Z</dcterms:modified>
</cp:coreProperties>
</file>