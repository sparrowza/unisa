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A90A7-326D-4D74-B9E1-7DB41F9A38E7}" type="datetimeFigureOut">
              <a:rPr lang="en-ZA" smtClean="0"/>
              <a:t>2021/06/03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CECA6-B94A-4BA5-B14A-A7B2A1C6E6DC}" type="slidenum">
              <a:rPr lang="en-ZA" smtClean="0"/>
              <a:t>‹#›</a:t>
            </a:fld>
            <a:endParaRPr lang="en-ZA"/>
          </a:p>
        </p:txBody>
      </p:sp>
    </p:spTree>
    <p:extLst>
      <p:ext uri="{BB962C8B-B14F-4D97-AF65-F5344CB8AC3E}">
        <p14:creationId xmlns:p14="http://schemas.microsoft.com/office/powerpoint/2010/main" val="128581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4FC0BA62-65F4-45CF-BA97-2C69AA6BB317}" type="datetime1">
              <a:rPr lang="en-ZA" smtClean="0"/>
              <a:t>2021/06/03</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23927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63E7B9F-2E19-497B-A04A-AED71DEF1E5F}" type="datetime1">
              <a:rPr lang="en-ZA" smtClean="0"/>
              <a:t>2021/06/03</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2433253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032466-056C-4B0D-8FFF-557E2DC5D823}" type="datetime1">
              <a:rPr lang="en-ZA" smtClean="0"/>
              <a:t>2021/06/03</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6365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95008A0-259D-44C7-868F-57F9E0CECCDD}" type="datetime1">
              <a:rPr lang="en-ZA" smtClean="0"/>
              <a:t>2021/06/03</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56798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8B0188CF-41BF-42A1-82C6-32359E4650E6}" type="datetime1">
              <a:rPr lang="en-ZA" smtClean="0"/>
              <a:t>2021/06/03</a:t>
            </a:fld>
            <a:endParaRPr lang="en-ZA"/>
          </a:p>
        </p:txBody>
      </p:sp>
      <p:sp>
        <p:nvSpPr>
          <p:cNvPr id="8" name="Footer Placeholder 7"/>
          <p:cNvSpPr>
            <a:spLocks noGrp="1"/>
          </p:cNvSpPr>
          <p:nvPr>
            <p:ph type="ftr" sz="quarter" idx="11"/>
          </p:nvPr>
        </p:nvSpPr>
        <p:spPr/>
        <p:txBody>
          <a:bodyPr/>
          <a:lstStyle/>
          <a:p>
            <a:r>
              <a:rPr lang="en-ZA" smtClean="0"/>
              <a:t>Prepared by Zwelo Makama -INF1520 eTutor</a:t>
            </a:r>
            <a:endParaRPr lang="en-ZA"/>
          </a:p>
        </p:txBody>
      </p:sp>
      <p:sp>
        <p:nvSpPr>
          <p:cNvPr id="9" name="Slide Number Placeholder 8"/>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657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8DA3B2FA-8719-4508-97AA-16537FD3BDA9}" type="datetime1">
              <a:rPr lang="en-ZA" smtClean="0"/>
              <a:t>2021/06/03</a:t>
            </a:fld>
            <a:endParaRPr lang="en-ZA"/>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
        <p:nvSpPr>
          <p:cNvPr id="5" name="Slide Number Placeholder 4"/>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750086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B0D64-14D2-4FD9-AB1C-FB0D2109037B}" type="datetime1">
              <a:rPr lang="en-ZA" smtClean="0"/>
              <a:t>2021/06/03</a:t>
            </a:fld>
            <a:endParaRPr lang="en-ZA"/>
          </a:p>
        </p:txBody>
      </p:sp>
      <p:sp>
        <p:nvSpPr>
          <p:cNvPr id="3" name="Footer Placeholder 2"/>
          <p:cNvSpPr>
            <a:spLocks noGrp="1"/>
          </p:cNvSpPr>
          <p:nvPr>
            <p:ph type="ftr" sz="quarter" idx="11"/>
          </p:nvPr>
        </p:nvSpPr>
        <p:spPr/>
        <p:txBody>
          <a:bodyPr/>
          <a:lstStyle/>
          <a:p>
            <a:r>
              <a:rPr lang="en-ZA" smtClean="0"/>
              <a:t>Prepared by Zwelo Makama -INF1520 eTutor</a:t>
            </a:r>
            <a:endParaRPr lang="en-ZA"/>
          </a:p>
        </p:txBody>
      </p:sp>
      <p:sp>
        <p:nvSpPr>
          <p:cNvPr id="4" name="Slide Number Placeholder 3"/>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838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7EBCF-78E6-4074-829A-A1CB3DAEE872}" type="datetime1">
              <a:rPr lang="en-ZA" smtClean="0"/>
              <a:t>2021/06/03</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09032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A3B3AD-C28C-4AC2-8768-0AD05410E84D}" type="datetime1">
              <a:rPr lang="en-ZA" smtClean="0"/>
              <a:t>2021/06/03</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92392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D6B544B5-F818-4D94-9B1D-3E4B6780D1A1}" type="datetime1">
              <a:rPr lang="en-ZA" smtClean="0"/>
              <a:t>2021/06/03</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68707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B3BD684-EF02-4471-850E-134BC0E3D615}" type="datetime1">
              <a:rPr lang="en-ZA" smtClean="0"/>
              <a:t>2021/06/03</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1323568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BBE3A-7353-4156-B19C-B3CE57CC8530}" type="datetime1">
              <a:rPr lang="en-ZA" smtClean="0"/>
              <a:t>2021/06/03</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ZA" smtClean="0"/>
              <a:t>Prepared by Zwelo Makama -INF1520 eTutor</a:t>
            </a:r>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8C4920-6622-44E1-80B4-4F1D1EB4E200}" type="slidenum">
              <a:rPr lang="en-ZA" smtClean="0"/>
              <a:t>‹#›</a:t>
            </a:fld>
            <a:endParaRPr lang="en-ZA"/>
          </a:p>
        </p:txBody>
      </p:sp>
    </p:spTree>
    <p:extLst>
      <p:ext uri="{BB962C8B-B14F-4D97-AF65-F5344CB8AC3E}">
        <p14:creationId xmlns:p14="http://schemas.microsoft.com/office/powerpoint/2010/main" val="4183869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6176"/>
          </a:xfrm>
        </p:spPr>
        <p:txBody>
          <a:bodyPr>
            <a:normAutofit fontScale="90000"/>
          </a:bodyPr>
          <a:lstStyle/>
          <a:p>
            <a:r>
              <a:rPr lang="en-ZA" dirty="0"/>
              <a:t/>
            </a:r>
            <a:br>
              <a:rPr lang="en-ZA" dirty="0"/>
            </a:br>
            <a:r>
              <a:rPr lang="en-ZA" sz="3600" dirty="0">
                <a:latin typeface="Arial Narrow" panose="020B0606020202030204" pitchFamily="34" charset="0"/>
              </a:rPr>
              <a:t> </a:t>
            </a:r>
            <a:r>
              <a:rPr lang="en-ZA" sz="3600" b="1" dirty="0">
                <a:latin typeface="Arial Narrow" panose="020B0606020202030204" pitchFamily="34" charset="0"/>
              </a:rPr>
              <a:t>Lesson Tool 3</a:t>
            </a:r>
            <a:r>
              <a:rPr lang="en-ZA" sz="3600" b="1" dirty="0" smtClean="0">
                <a:latin typeface="Arial Narrow" panose="020B0606020202030204" pitchFamily="34" charset="0"/>
              </a:rPr>
              <a:t>: Design problems and solution</a:t>
            </a:r>
            <a:endParaRPr lang="en-ZA" sz="3600" b="1" dirty="0">
              <a:latin typeface="Arial Narrow" panose="020B0606020202030204" pitchFamily="34" charset="0"/>
            </a:endParaRPr>
          </a:p>
        </p:txBody>
      </p:sp>
      <p:sp>
        <p:nvSpPr>
          <p:cNvPr id="3" name="Content Placeholder 2"/>
          <p:cNvSpPr>
            <a:spLocks noGrp="1"/>
          </p:cNvSpPr>
          <p:nvPr>
            <p:ph sz="half" idx="1"/>
          </p:nvPr>
        </p:nvSpPr>
        <p:spPr/>
        <p:txBody>
          <a:bodyPr>
            <a:normAutofit fontScale="32500" lnSpcReduction="20000"/>
          </a:bodyPr>
          <a:lstStyle/>
          <a:p>
            <a:pPr marL="0" indent="0" algn="just">
              <a:buNone/>
            </a:pPr>
            <a:r>
              <a:rPr lang="en-ZA" sz="3600" b="1" dirty="0" smtClean="0">
                <a:latin typeface="Arial Narrow" panose="020B0606020202030204" pitchFamily="34" charset="0"/>
              </a:rPr>
              <a:t> </a:t>
            </a:r>
          </a:p>
          <a:p>
            <a:pPr marL="0" indent="0" algn="just">
              <a:buNone/>
            </a:pPr>
            <a:r>
              <a:rPr lang="en-US" sz="5500" b="1" dirty="0" smtClean="0">
                <a:latin typeface="Arial Narrow" panose="020B0606020202030204" pitchFamily="34" charset="0"/>
              </a:rPr>
              <a:t>After studying this lesson tool, you should: </a:t>
            </a:r>
            <a:endParaRPr lang="en-ZA" sz="5500" dirty="0">
              <a:latin typeface="Arial Narrow" panose="020B0606020202030204" pitchFamily="34" charset="0"/>
            </a:endParaRPr>
          </a:p>
          <a:p>
            <a:pPr>
              <a:buFont typeface="Wingdings" panose="05000000000000000000" pitchFamily="2" charset="2"/>
              <a:buChar char="§"/>
            </a:pPr>
            <a:r>
              <a:rPr lang="en-ZA" sz="5500" dirty="0">
                <a:latin typeface="Arial Narrow" panose="020B0606020202030204" pitchFamily="34" charset="0"/>
              </a:rPr>
              <a:t>U</a:t>
            </a:r>
            <a:r>
              <a:rPr lang="en-ZA" sz="5500" dirty="0" smtClean="0">
                <a:latin typeface="Arial Narrow" panose="020B0606020202030204" pitchFamily="34" charset="0"/>
              </a:rPr>
              <a:t>nderstand </a:t>
            </a:r>
            <a:r>
              <a:rPr lang="en-ZA" sz="5500" dirty="0">
                <a:latin typeface="Arial Narrow" panose="020B0606020202030204" pitchFamily="34" charset="0"/>
              </a:rPr>
              <a:t>the problems of designing an interactive system and specifically: </a:t>
            </a:r>
          </a:p>
          <a:p>
            <a:pPr lvl="1">
              <a:buFont typeface="Courier New" panose="02070309020205020404" pitchFamily="49" charset="0"/>
              <a:buChar char="o"/>
            </a:pPr>
            <a:r>
              <a:rPr lang="en-ZA" sz="5500" dirty="0">
                <a:latin typeface="Arial Narrow" panose="020B0606020202030204" pitchFamily="34" charset="0"/>
              </a:rPr>
              <a:t>H</a:t>
            </a:r>
            <a:r>
              <a:rPr lang="en-ZA" sz="5500" dirty="0" smtClean="0">
                <a:latin typeface="Arial Narrow" panose="020B0606020202030204" pitchFamily="34" charset="0"/>
              </a:rPr>
              <a:t>ow </a:t>
            </a:r>
            <a:r>
              <a:rPr lang="en-ZA" sz="5500" dirty="0">
                <a:latin typeface="Arial Narrow" panose="020B0606020202030204" pitchFamily="34" charset="0"/>
              </a:rPr>
              <a:t>the natural evolution of design is obstructed </a:t>
            </a:r>
          </a:p>
          <a:p>
            <a:pPr lvl="1">
              <a:buFont typeface="Courier New" panose="02070309020205020404" pitchFamily="49" charset="0"/>
              <a:buChar char="o"/>
            </a:pPr>
            <a:r>
              <a:rPr lang="en-ZA" sz="5500" dirty="0" smtClean="0">
                <a:latin typeface="Arial Narrow" panose="020B0606020202030204" pitchFamily="34" charset="0"/>
              </a:rPr>
              <a:t>Common </a:t>
            </a:r>
            <a:r>
              <a:rPr lang="en-ZA" sz="5500" dirty="0">
                <a:latin typeface="Arial Narrow" panose="020B0606020202030204" pitchFamily="34" charset="0"/>
              </a:rPr>
              <a:t>mistakes designers make </a:t>
            </a:r>
          </a:p>
          <a:p>
            <a:pPr>
              <a:buFont typeface="Wingdings" panose="05000000000000000000" pitchFamily="2" charset="2"/>
              <a:buChar char="§"/>
            </a:pPr>
            <a:r>
              <a:rPr lang="en-ZA" sz="5500" dirty="0">
                <a:latin typeface="Arial Narrow" panose="020B0606020202030204" pitchFamily="34" charset="0"/>
              </a:rPr>
              <a:t>U</a:t>
            </a:r>
            <a:r>
              <a:rPr lang="en-ZA" sz="5500" dirty="0" smtClean="0">
                <a:latin typeface="Arial Narrow" panose="020B0606020202030204" pitchFamily="34" charset="0"/>
              </a:rPr>
              <a:t>nderstand </a:t>
            </a:r>
            <a:r>
              <a:rPr lang="en-ZA" sz="5500" dirty="0">
                <a:latin typeface="Arial Narrow" panose="020B0606020202030204" pitchFamily="34" charset="0"/>
              </a:rPr>
              <a:t>and be able to apply the design practices and tools to avoid the problems with the design of interactive systems, namely: </a:t>
            </a:r>
          </a:p>
          <a:p>
            <a:pPr lvl="1">
              <a:buFont typeface="Courier New" panose="02070309020205020404" pitchFamily="49" charset="0"/>
              <a:buChar char="o"/>
            </a:pPr>
            <a:r>
              <a:rPr lang="en-ZA" sz="5500" dirty="0">
                <a:latin typeface="Arial Narrow" panose="020B0606020202030204" pitchFamily="34" charset="0"/>
              </a:rPr>
              <a:t>M</a:t>
            </a:r>
            <a:r>
              <a:rPr lang="en-ZA" sz="5500" dirty="0" smtClean="0">
                <a:latin typeface="Arial Narrow" panose="020B0606020202030204" pitchFamily="34" charset="0"/>
              </a:rPr>
              <a:t>echanisms </a:t>
            </a:r>
            <a:r>
              <a:rPr lang="en-ZA" sz="5500" dirty="0">
                <a:latin typeface="Arial Narrow" panose="020B0606020202030204" pitchFamily="34" charset="0"/>
              </a:rPr>
              <a:t>such as affordance, constraints, mapping, visibility and feedback </a:t>
            </a:r>
          </a:p>
          <a:p>
            <a:pPr lvl="1">
              <a:buFont typeface="Courier New" panose="02070309020205020404" pitchFamily="49" charset="0"/>
              <a:buChar char="o"/>
            </a:pPr>
            <a:r>
              <a:rPr lang="en-ZA" sz="5500" dirty="0">
                <a:latin typeface="Arial Narrow" panose="020B0606020202030204" pitchFamily="34" charset="0"/>
              </a:rPr>
              <a:t>D</a:t>
            </a:r>
            <a:r>
              <a:rPr lang="en-ZA" sz="5500" dirty="0" smtClean="0">
                <a:latin typeface="Arial Narrow" panose="020B0606020202030204" pitchFamily="34" charset="0"/>
              </a:rPr>
              <a:t>esign </a:t>
            </a:r>
            <a:r>
              <a:rPr lang="en-ZA" sz="5500" dirty="0">
                <a:latin typeface="Arial Narrow" panose="020B0606020202030204" pitchFamily="34" charset="0"/>
              </a:rPr>
              <a:t>guidelines, principles and </a:t>
            </a:r>
            <a:r>
              <a:rPr lang="en-ZA" sz="5500" dirty="0" smtClean="0">
                <a:latin typeface="Arial Narrow" panose="020B0606020202030204" pitchFamily="34" charset="0"/>
              </a:rPr>
              <a:t>standards</a:t>
            </a:r>
          </a:p>
          <a:p>
            <a:pPr marL="0" indent="0">
              <a:buNone/>
            </a:pPr>
            <a:r>
              <a:rPr lang="en-ZA" sz="5500" dirty="0">
                <a:latin typeface="Arial Narrow" panose="020B0606020202030204" pitchFamily="34" charset="0"/>
              </a:rPr>
              <a:t>A substantial part of this lesson tool is based on the work of Don Norman presented in his most important book </a:t>
            </a:r>
            <a:r>
              <a:rPr lang="en-ZA" sz="5500" dirty="0" smtClean="0">
                <a:latin typeface="Arial Narrow" panose="020B0606020202030204" pitchFamily="34" charset="0"/>
              </a:rPr>
              <a:t>“</a:t>
            </a:r>
            <a:r>
              <a:rPr lang="en-ZA" sz="5500" i="1" dirty="0" smtClean="0">
                <a:latin typeface="Arial Narrow" panose="020B0606020202030204" pitchFamily="34" charset="0"/>
              </a:rPr>
              <a:t>The </a:t>
            </a:r>
            <a:r>
              <a:rPr lang="en-ZA" sz="5500" i="1" dirty="0">
                <a:latin typeface="Arial Narrow" panose="020B0606020202030204" pitchFamily="34" charset="0"/>
              </a:rPr>
              <a:t>Design of </a:t>
            </a:r>
            <a:r>
              <a:rPr lang="en-ZA" sz="5500" i="1" dirty="0" smtClean="0">
                <a:latin typeface="Arial Narrow" panose="020B0606020202030204" pitchFamily="34" charset="0"/>
              </a:rPr>
              <a:t>Everyday” </a:t>
            </a:r>
            <a:r>
              <a:rPr lang="en-ZA" sz="5500" i="1" dirty="0">
                <a:latin typeface="Arial Narrow" panose="020B0606020202030204" pitchFamily="34" charset="0"/>
              </a:rPr>
              <a:t>Things</a:t>
            </a:r>
            <a:r>
              <a:rPr lang="en-ZA" sz="5500" dirty="0">
                <a:latin typeface="Arial Narrow" panose="020B0606020202030204" pitchFamily="34" charset="0"/>
              </a:rPr>
              <a:t>. </a:t>
            </a:r>
            <a:r>
              <a:rPr lang="en-ZA" sz="5500" dirty="0" smtClean="0">
                <a:latin typeface="Arial Narrow" panose="020B0606020202030204" pitchFamily="34" charset="0"/>
              </a:rPr>
              <a:t> </a:t>
            </a:r>
            <a:endParaRPr lang="en-ZA" sz="5500" dirty="0">
              <a:latin typeface="Arial Narrow" panose="020B0606020202030204" pitchFamily="34" charset="0"/>
            </a:endParaRPr>
          </a:p>
          <a:p>
            <a:pPr marL="457200" lvl="1" indent="0">
              <a:buNone/>
            </a:pPr>
            <a:r>
              <a:rPr lang="en-ZA" sz="3300" dirty="0"/>
              <a:t>	</a:t>
            </a:r>
          </a:p>
          <a:p>
            <a:pPr marL="0" indent="0">
              <a:buNone/>
            </a:pPr>
            <a:r>
              <a:rPr lang="en-ZA" dirty="0"/>
              <a:t>	</a:t>
            </a:r>
          </a:p>
          <a:p>
            <a:pPr marL="0" indent="0">
              <a:buNone/>
            </a:pPr>
            <a:r>
              <a:rPr lang="en-ZA" dirty="0"/>
              <a:t>	</a:t>
            </a:r>
          </a:p>
          <a:p>
            <a:endParaRPr lang="en-US" sz="19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44046" y="1825625"/>
            <a:ext cx="4580708" cy="3890169"/>
          </a:xfrm>
        </p:spPr>
      </p:pic>
    </p:spTree>
    <p:extLst>
      <p:ext uri="{BB962C8B-B14F-4D97-AF65-F5344CB8AC3E}">
        <p14:creationId xmlns:p14="http://schemas.microsoft.com/office/powerpoint/2010/main" val="264353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5390" y="344032"/>
            <a:ext cx="5416473" cy="5832931"/>
          </a:xfrm>
        </p:spPr>
        <p:txBody>
          <a:bodyPr>
            <a:normAutofit fontScale="62500" lnSpcReduction="20000"/>
          </a:bodyPr>
          <a:lstStyle/>
          <a:p>
            <a:pPr lvl="1">
              <a:buFont typeface="Wingdings" panose="05000000000000000000" pitchFamily="2" charset="2"/>
              <a:buChar char="q"/>
            </a:pPr>
            <a:r>
              <a:rPr lang="en-ZA" sz="3200" b="1" dirty="0">
                <a:latin typeface="Arial Narrow" panose="020B0606020202030204" pitchFamily="34" charset="0"/>
              </a:rPr>
              <a:t>Design Problems </a:t>
            </a:r>
            <a:endParaRPr lang="en-ZA" sz="3200" b="1" dirty="0" smtClean="0">
              <a:latin typeface="Arial Narrow" panose="020B0606020202030204" pitchFamily="34" charset="0"/>
            </a:endParaRPr>
          </a:p>
          <a:p>
            <a:pPr>
              <a:buFont typeface="Wingdings" panose="05000000000000000000" pitchFamily="2" charset="2"/>
              <a:buChar char="§"/>
            </a:pPr>
            <a:r>
              <a:rPr lang="en-ZA" sz="3200" dirty="0">
                <a:latin typeface="Arial Narrow" panose="020B0606020202030204" pitchFamily="34" charset="0"/>
              </a:rPr>
              <a:t>There are, potentially, many mistakes that designers can make. </a:t>
            </a:r>
          </a:p>
          <a:p>
            <a:pPr>
              <a:buFont typeface="Wingdings" panose="05000000000000000000" pitchFamily="2" charset="2"/>
              <a:buChar char="§"/>
            </a:pPr>
            <a:r>
              <a:rPr lang="en-ZA" sz="3200" dirty="0">
                <a:latin typeface="Arial Narrow" panose="020B0606020202030204" pitchFamily="34" charset="0"/>
              </a:rPr>
              <a:t>Norman (1999) points out the following as being the most problematic: </a:t>
            </a:r>
            <a:endParaRPr lang="en-ZA" sz="3200" dirty="0" smtClean="0">
              <a:latin typeface="Arial Narrow" panose="020B0606020202030204" pitchFamily="34" charset="0"/>
            </a:endParaRPr>
          </a:p>
          <a:p>
            <a:pPr lvl="1">
              <a:buFont typeface="Wingdings" panose="05000000000000000000" pitchFamily="2" charset="2"/>
              <a:buChar char="§"/>
            </a:pPr>
            <a:r>
              <a:rPr lang="en-ZA" sz="3200" dirty="0" smtClean="0">
                <a:latin typeface="Arial Narrow" panose="020B0606020202030204" pitchFamily="34" charset="0"/>
              </a:rPr>
              <a:t>The </a:t>
            </a:r>
            <a:r>
              <a:rPr lang="en-ZA" sz="3200" dirty="0">
                <a:latin typeface="Arial Narrow" panose="020B0606020202030204" pitchFamily="34" charset="0"/>
              </a:rPr>
              <a:t>forces that work against evolutionary design, </a:t>
            </a:r>
          </a:p>
          <a:p>
            <a:pPr lvl="1">
              <a:buFont typeface="Wingdings" panose="05000000000000000000" pitchFamily="2" charset="2"/>
              <a:buChar char="§"/>
            </a:pPr>
            <a:r>
              <a:rPr lang="en-ZA" sz="3200" dirty="0" smtClean="0">
                <a:latin typeface="Arial Narrow" panose="020B0606020202030204" pitchFamily="34" charset="0"/>
              </a:rPr>
              <a:t>Putting </a:t>
            </a:r>
            <a:r>
              <a:rPr lang="en-ZA" sz="3200" dirty="0">
                <a:latin typeface="Arial Narrow" panose="020B0606020202030204" pitchFamily="34" charset="0"/>
              </a:rPr>
              <a:t>aesthetics first (form over function) and </a:t>
            </a:r>
          </a:p>
          <a:p>
            <a:pPr lvl="1">
              <a:buFont typeface="Wingdings" panose="05000000000000000000" pitchFamily="2" charset="2"/>
              <a:buChar char="§"/>
            </a:pPr>
            <a:r>
              <a:rPr lang="en-ZA" sz="3200" dirty="0" smtClean="0">
                <a:latin typeface="Arial Narrow" panose="020B0606020202030204" pitchFamily="34" charset="0"/>
              </a:rPr>
              <a:t>Designers </a:t>
            </a:r>
            <a:r>
              <a:rPr lang="en-ZA" sz="3200" dirty="0">
                <a:latin typeface="Arial Narrow" panose="020B0606020202030204" pitchFamily="34" charset="0"/>
              </a:rPr>
              <a:t>regarding themselves as typical users. </a:t>
            </a:r>
            <a:endParaRPr lang="en-ZA" sz="3200" dirty="0" smtClean="0">
              <a:latin typeface="Arial Narrow" panose="020B0606020202030204" pitchFamily="34" charset="0"/>
            </a:endParaRPr>
          </a:p>
          <a:p>
            <a:pPr marL="0" indent="0">
              <a:buNone/>
            </a:pPr>
            <a:r>
              <a:rPr lang="en-ZA" sz="3200" b="1" dirty="0">
                <a:latin typeface="Arial Narrow" panose="020B0606020202030204" pitchFamily="34" charset="0"/>
              </a:rPr>
              <a:t>HAMPERING THE NATURAL EVOLUTION OF DESIGN </a:t>
            </a:r>
            <a:endParaRPr lang="en-ZA" sz="3200" dirty="0">
              <a:latin typeface="Arial Narrow" panose="020B0606020202030204" pitchFamily="34" charset="0"/>
            </a:endParaRPr>
          </a:p>
          <a:p>
            <a:pPr>
              <a:buFont typeface="Wingdings" panose="05000000000000000000" pitchFamily="2" charset="2"/>
              <a:buChar char="§"/>
            </a:pPr>
            <a:r>
              <a:rPr lang="en-ZA" sz="3200" dirty="0">
                <a:latin typeface="Arial Narrow" panose="020B0606020202030204" pitchFamily="34" charset="0"/>
              </a:rPr>
              <a:t>Norman (1999) coined term “</a:t>
            </a:r>
            <a:r>
              <a:rPr lang="en-ZA" sz="3200" b="1" dirty="0">
                <a:latin typeface="Arial Narrow" panose="020B0606020202030204" pitchFamily="34" charset="0"/>
              </a:rPr>
              <a:t>evolutionary design</a:t>
            </a:r>
            <a:r>
              <a:rPr lang="en-ZA" sz="3200" dirty="0">
                <a:latin typeface="Arial Narrow" panose="020B0606020202030204" pitchFamily="34" charset="0"/>
              </a:rPr>
              <a:t>”. </a:t>
            </a:r>
          </a:p>
          <a:p>
            <a:pPr lvl="1"/>
            <a:r>
              <a:rPr lang="en-ZA" sz="3200" dirty="0" smtClean="0">
                <a:latin typeface="Arial Narrow" panose="020B0606020202030204" pitchFamily="34" charset="0"/>
              </a:rPr>
              <a:t>Refers to the </a:t>
            </a:r>
            <a:r>
              <a:rPr lang="en-ZA" sz="3200" dirty="0">
                <a:latin typeface="Arial Narrow" panose="020B0606020202030204" pitchFamily="34" charset="0"/>
              </a:rPr>
              <a:t>process whereby a product is gradually improved over time </a:t>
            </a:r>
          </a:p>
          <a:p>
            <a:pPr lvl="1"/>
            <a:r>
              <a:rPr lang="en-ZA" sz="3200" dirty="0" smtClean="0">
                <a:latin typeface="Arial Narrow" panose="020B0606020202030204" pitchFamily="34" charset="0"/>
              </a:rPr>
              <a:t>Occurs </a:t>
            </a:r>
            <a:r>
              <a:rPr lang="en-ZA" sz="3200" dirty="0">
                <a:latin typeface="Arial Narrow" panose="020B0606020202030204" pitchFamily="34" charset="0"/>
              </a:rPr>
              <a:t>when a design evolves through a cycle of testing, identifying problems, modification, redesign, retesting and </a:t>
            </a:r>
            <a:r>
              <a:rPr lang="en-ZA" sz="3200" dirty="0" err="1" smtClean="0">
                <a:latin typeface="Arial Narrow" panose="020B0606020202030204" pitchFamily="34" charset="0"/>
              </a:rPr>
              <a:t>remodification</a:t>
            </a:r>
            <a:r>
              <a:rPr lang="en-ZA" sz="3200" dirty="0" smtClean="0">
                <a:latin typeface="Arial Narrow" panose="020B0606020202030204" pitchFamily="34" charset="0"/>
              </a:rPr>
              <a:t> </a:t>
            </a:r>
            <a:r>
              <a:rPr lang="en-ZA" sz="3200" dirty="0">
                <a:latin typeface="Arial Narrow" panose="020B0606020202030204" pitchFamily="34" charset="0"/>
              </a:rPr>
              <a:t>until a functional, aesthetically pleasing object is achieved. </a:t>
            </a:r>
          </a:p>
          <a:p>
            <a:pPr marL="914400" lvl="2" indent="0">
              <a:buNone/>
            </a:pPr>
            <a:r>
              <a:rPr lang="en-ZA" sz="3200" dirty="0" smtClean="0">
                <a:latin typeface="Arial Narrow" panose="020B0606020202030204" pitchFamily="34" charset="0"/>
              </a:rPr>
              <a:t>▪ </a:t>
            </a:r>
            <a:r>
              <a:rPr lang="en-ZA" sz="3200" dirty="0">
                <a:latin typeface="Arial Narrow" panose="020B0606020202030204" pitchFamily="34" charset="0"/>
              </a:rPr>
              <a:t>Good features kept, bad features replaced with improved ones. </a:t>
            </a:r>
          </a:p>
          <a:p>
            <a:endParaRPr lang="en-ZA" dirty="0"/>
          </a:p>
          <a:p>
            <a:endParaRPr lang="en-ZA" dirty="0"/>
          </a:p>
          <a:p>
            <a:pPr marL="0" indent="0">
              <a:buNone/>
            </a:pPr>
            <a:endParaRPr lang="en-ZA" sz="3000" dirty="0">
              <a:latin typeface="Arial Narrow" panose="020B0606020202030204" pitchFamily="34" charset="0"/>
            </a:endParaRPr>
          </a:p>
          <a:p>
            <a:endParaRPr lang="en-ZA" sz="3000" dirty="0">
              <a:latin typeface="Arial Narrow" panose="020B0606020202030204" pitchFamily="34" charset="0"/>
            </a:endParaRPr>
          </a:p>
        </p:txBody>
      </p:sp>
      <p:sp>
        <p:nvSpPr>
          <p:cNvPr id="4" name="Content Placeholder 3"/>
          <p:cNvSpPr>
            <a:spLocks noGrp="1"/>
          </p:cNvSpPr>
          <p:nvPr>
            <p:ph sz="half" idx="2"/>
          </p:nvPr>
        </p:nvSpPr>
        <p:spPr>
          <a:xfrm>
            <a:off x="5808617" y="344032"/>
            <a:ext cx="6160064" cy="6012318"/>
          </a:xfrm>
        </p:spPr>
        <p:txBody>
          <a:bodyPr>
            <a:normAutofit fontScale="62500" lnSpcReduction="20000"/>
          </a:bodyPr>
          <a:lstStyle/>
          <a:p>
            <a:pPr marL="0" indent="0" algn="just">
              <a:buNone/>
            </a:pPr>
            <a:r>
              <a:rPr lang="en-ZA" sz="3200" b="1" dirty="0" smtClean="0">
                <a:latin typeface="Arial Narrow" panose="020B0606020202030204" pitchFamily="34" charset="0"/>
              </a:rPr>
              <a:t>Three </a:t>
            </a:r>
            <a:r>
              <a:rPr lang="en-ZA" sz="3200" b="1" dirty="0">
                <a:latin typeface="Arial Narrow" panose="020B0606020202030204" pitchFamily="34" charset="0"/>
              </a:rPr>
              <a:t>forces work against evolutionary design: </a:t>
            </a:r>
            <a:endParaRPr lang="en-ZA" sz="3200" b="1" dirty="0" smtClean="0">
              <a:latin typeface="Arial Narrow" panose="020B0606020202030204" pitchFamily="34" charset="0"/>
            </a:endParaRPr>
          </a:p>
          <a:p>
            <a:pPr>
              <a:buFont typeface="Wingdings" panose="05000000000000000000" pitchFamily="2" charset="2"/>
              <a:buChar char="Ø"/>
            </a:pPr>
            <a:r>
              <a:rPr lang="en-ZA" sz="3200" b="1" dirty="0" smtClean="0">
                <a:latin typeface="Arial Narrow" panose="020B0606020202030204" pitchFamily="34" charset="0"/>
              </a:rPr>
              <a:t>The </a:t>
            </a:r>
            <a:r>
              <a:rPr lang="en-ZA" sz="3200" b="1" dirty="0">
                <a:latin typeface="Arial Narrow" panose="020B0606020202030204" pitchFamily="34" charset="0"/>
              </a:rPr>
              <a:t>demands of time </a:t>
            </a:r>
            <a:endParaRPr lang="en-ZA" sz="3200" b="1" dirty="0" smtClean="0">
              <a:latin typeface="Arial Narrow" panose="020B0606020202030204" pitchFamily="34" charset="0"/>
            </a:endParaRPr>
          </a:p>
          <a:p>
            <a:pPr lvl="1">
              <a:buFont typeface="Wingdings" panose="05000000000000000000" pitchFamily="2" charset="2"/>
              <a:buChar char="§"/>
            </a:pPr>
            <a:r>
              <a:rPr lang="en-ZA" sz="3200" dirty="0" smtClean="0">
                <a:latin typeface="Arial Narrow" panose="020B0606020202030204" pitchFamily="34" charset="0"/>
              </a:rPr>
              <a:t>New </a:t>
            </a:r>
            <a:r>
              <a:rPr lang="en-ZA" sz="3200" dirty="0">
                <a:latin typeface="Arial Narrow" panose="020B0606020202030204" pitchFamily="34" charset="0"/>
              </a:rPr>
              <a:t>version of object often released before old one has been updated. </a:t>
            </a:r>
          </a:p>
          <a:p>
            <a:pPr lvl="1">
              <a:buFont typeface="Wingdings" panose="05000000000000000000" pitchFamily="2" charset="2"/>
              <a:buChar char="§"/>
            </a:pPr>
            <a:r>
              <a:rPr lang="en-ZA" sz="3200" dirty="0" smtClean="0">
                <a:latin typeface="Arial Narrow" panose="020B0606020202030204" pitchFamily="34" charset="0"/>
              </a:rPr>
              <a:t>The release of a newer </a:t>
            </a:r>
            <a:r>
              <a:rPr lang="en-ZA" sz="3200" dirty="0">
                <a:latin typeface="Arial Narrow" panose="020B0606020202030204" pitchFamily="34" charset="0"/>
              </a:rPr>
              <a:t>version with bugs - releasing on promised date is more important than providing a bug-free application </a:t>
            </a:r>
            <a:r>
              <a:rPr lang="en-ZA" sz="3200" dirty="0" smtClean="0">
                <a:latin typeface="Arial Narrow" panose="020B0606020202030204" pitchFamily="34" charset="0"/>
              </a:rPr>
              <a:t>- need </a:t>
            </a:r>
            <a:r>
              <a:rPr lang="en-ZA" sz="3200" dirty="0">
                <a:latin typeface="Arial Narrow" panose="020B0606020202030204" pitchFamily="34" charset="0"/>
              </a:rPr>
              <a:t>for “service packs” and “hot fixes”. </a:t>
            </a:r>
          </a:p>
          <a:p>
            <a:pPr>
              <a:buFont typeface="Wingdings" panose="05000000000000000000" pitchFamily="2" charset="2"/>
              <a:buChar char="Ø"/>
            </a:pPr>
            <a:r>
              <a:rPr lang="en-ZA" sz="3200" b="1" dirty="0" smtClean="0">
                <a:latin typeface="Arial Narrow" panose="020B0606020202030204" pitchFamily="34" charset="0"/>
              </a:rPr>
              <a:t>Pressure </a:t>
            </a:r>
            <a:r>
              <a:rPr lang="en-ZA" sz="3200" b="1" dirty="0">
                <a:latin typeface="Arial Narrow" panose="020B0606020202030204" pitchFamily="34" charset="0"/>
              </a:rPr>
              <a:t>to be distinctive </a:t>
            </a:r>
            <a:endParaRPr lang="en-ZA" sz="3200" b="1" dirty="0" smtClean="0">
              <a:latin typeface="Arial Narrow" panose="020B0606020202030204" pitchFamily="34" charset="0"/>
            </a:endParaRPr>
          </a:p>
          <a:p>
            <a:pPr lvl="1">
              <a:buFont typeface="Wingdings" panose="05000000000000000000" pitchFamily="2" charset="2"/>
              <a:buChar char="§"/>
            </a:pPr>
            <a:r>
              <a:rPr lang="en-ZA" sz="3200" dirty="0" smtClean="0">
                <a:latin typeface="Arial Narrow" panose="020B0606020202030204" pitchFamily="34" charset="0"/>
              </a:rPr>
              <a:t>Each </a:t>
            </a:r>
            <a:r>
              <a:rPr lang="en-ZA" sz="3200" dirty="0">
                <a:latin typeface="Arial Narrow" panose="020B0606020202030204" pitchFamily="34" charset="0"/>
              </a:rPr>
              <a:t>design must have features to distinguish it from previous versions to lure consumers </a:t>
            </a:r>
          </a:p>
          <a:p>
            <a:pPr lvl="1">
              <a:buFont typeface="Wingdings" panose="05000000000000000000" pitchFamily="2" charset="2"/>
              <a:buChar char="§"/>
            </a:pPr>
            <a:r>
              <a:rPr lang="en-ZA" sz="3200" dirty="0" smtClean="0">
                <a:latin typeface="Arial Narrow" panose="020B0606020202030204" pitchFamily="34" charset="0"/>
              </a:rPr>
              <a:t>New </a:t>
            </a:r>
            <a:r>
              <a:rPr lang="en-ZA" sz="3200" dirty="0">
                <a:latin typeface="Arial Narrow" panose="020B0606020202030204" pitchFamily="34" charset="0"/>
              </a:rPr>
              <a:t>model often doesn’t include the good qualities of its </a:t>
            </a:r>
            <a:r>
              <a:rPr lang="en-ZA" sz="3200" dirty="0" smtClean="0">
                <a:latin typeface="Arial Narrow" panose="020B0606020202030204" pitchFamily="34" charset="0"/>
              </a:rPr>
              <a:t>former version. </a:t>
            </a:r>
            <a:endParaRPr lang="en-ZA" sz="3200" dirty="0">
              <a:latin typeface="Arial Narrow" panose="020B0606020202030204" pitchFamily="34" charset="0"/>
            </a:endParaRPr>
          </a:p>
          <a:p>
            <a:pPr>
              <a:buFont typeface="Wingdings" panose="05000000000000000000" pitchFamily="2" charset="2"/>
              <a:buChar char="Ø"/>
            </a:pPr>
            <a:r>
              <a:rPr lang="en-ZA" sz="3200" b="1" dirty="0" smtClean="0">
                <a:latin typeface="Arial Narrow" panose="020B0606020202030204" pitchFamily="34" charset="0"/>
              </a:rPr>
              <a:t>The </a:t>
            </a:r>
            <a:r>
              <a:rPr lang="en-ZA" sz="3200" b="1" dirty="0">
                <a:latin typeface="Arial Narrow" panose="020B0606020202030204" pitchFamily="34" charset="0"/>
              </a:rPr>
              <a:t>curse of individuality and market differentiation </a:t>
            </a:r>
            <a:endParaRPr lang="en-ZA" sz="3200" b="1" dirty="0" smtClean="0">
              <a:latin typeface="Arial Narrow" panose="020B0606020202030204" pitchFamily="34" charset="0"/>
            </a:endParaRPr>
          </a:p>
          <a:p>
            <a:pPr lvl="1">
              <a:buFont typeface="Wingdings" panose="05000000000000000000" pitchFamily="2" charset="2"/>
              <a:buChar char="§"/>
            </a:pPr>
            <a:r>
              <a:rPr lang="en-ZA" sz="3200" dirty="0" smtClean="0">
                <a:latin typeface="Arial Narrow" panose="020B0606020202030204" pitchFamily="34" charset="0"/>
              </a:rPr>
              <a:t>Companies </a:t>
            </a:r>
            <a:r>
              <a:rPr lang="en-ZA" sz="3200" dirty="0">
                <a:latin typeface="Arial Narrow" panose="020B0606020202030204" pitchFamily="34" charset="0"/>
              </a:rPr>
              <a:t>that manufacture the same type of product have to come up with a unique design which carries their signature. </a:t>
            </a:r>
          </a:p>
          <a:p>
            <a:pPr lvl="1">
              <a:buFont typeface="Wingdings" panose="05000000000000000000" pitchFamily="2" charset="2"/>
              <a:buChar char="§"/>
            </a:pPr>
            <a:r>
              <a:rPr lang="en-ZA" sz="3200" dirty="0" smtClean="0">
                <a:latin typeface="Arial Narrow" panose="020B0606020202030204" pitchFamily="34" charset="0"/>
              </a:rPr>
              <a:t>If </a:t>
            </a:r>
            <a:r>
              <a:rPr lang="en-ZA" sz="3200" dirty="0">
                <a:latin typeface="Arial Narrow" panose="020B0606020202030204" pitchFamily="34" charset="0"/>
              </a:rPr>
              <a:t>a company perfects a product, other companies manufacturing same product often make an inferior product in the name of individuality. </a:t>
            </a:r>
          </a:p>
          <a:p>
            <a:pPr lvl="1">
              <a:buFont typeface="Wingdings" panose="05000000000000000000" pitchFamily="2" charset="2"/>
              <a:buChar char="§"/>
            </a:pPr>
            <a:r>
              <a:rPr lang="en-ZA" sz="3200" dirty="0" smtClean="0">
                <a:latin typeface="Arial Narrow" panose="020B0606020202030204" pitchFamily="34" charset="0"/>
              </a:rPr>
              <a:t>Quest </a:t>
            </a:r>
            <a:r>
              <a:rPr lang="en-ZA" sz="3200" dirty="0">
                <a:latin typeface="Arial Narrow" panose="020B0606020202030204" pitchFamily="34" charset="0"/>
              </a:rPr>
              <a:t>for individuality can lead to innovative solutions to real problems </a:t>
            </a:r>
          </a:p>
          <a:p>
            <a:pPr lvl="2"/>
            <a:r>
              <a:rPr lang="en-ZA" sz="3200" dirty="0" smtClean="0">
                <a:latin typeface="Arial Narrow" panose="020B0606020202030204" pitchFamily="34" charset="0"/>
              </a:rPr>
              <a:t>Main goal </a:t>
            </a:r>
            <a:r>
              <a:rPr lang="en-ZA" sz="3200" dirty="0">
                <a:latin typeface="Arial Narrow" panose="020B0606020202030204" pitchFamily="34" charset="0"/>
              </a:rPr>
              <a:t>should be to improve product or solve the problem, not just stand out </a:t>
            </a:r>
          </a:p>
          <a:p>
            <a:endParaRPr lang="en-ZA" dirty="0"/>
          </a:p>
          <a:p>
            <a:endParaRPr lang="en-ZA" dirty="0"/>
          </a:p>
          <a:p>
            <a:pPr>
              <a:buFont typeface="Wingdings" panose="05000000000000000000" pitchFamily="2" charset="2"/>
              <a:buChar char="§"/>
            </a:pPr>
            <a:endParaRPr lang="en-ZA" sz="2600" dirty="0">
              <a:latin typeface="Arial Narrow" panose="020B0606020202030204" pitchFamily="34" charset="0"/>
            </a:endParaRPr>
          </a:p>
          <a:p>
            <a:endParaRPr lang="en-ZA" dirty="0"/>
          </a:p>
          <a:p>
            <a:pPr marL="0" indent="0" algn="just">
              <a:buNone/>
            </a:pPr>
            <a:endParaRPr lang="en-US" sz="29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55847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0657" y="165464"/>
            <a:ext cx="5739143" cy="6011500"/>
          </a:xfrm>
        </p:spPr>
        <p:txBody>
          <a:bodyPr>
            <a:normAutofit fontScale="47500" lnSpcReduction="20000"/>
          </a:bodyPr>
          <a:lstStyle/>
          <a:p>
            <a:pPr algn="just">
              <a:buFont typeface="Wingdings" panose="05000000000000000000" pitchFamily="2" charset="2"/>
              <a:buChar char="q"/>
            </a:pPr>
            <a:r>
              <a:rPr lang="en-ZA" sz="3800" b="1" dirty="0">
                <a:latin typeface="Arial Narrow" panose="020B0606020202030204" pitchFamily="34" charset="0"/>
              </a:rPr>
              <a:t>COMMON DESIGN MISTAKES </a:t>
            </a:r>
            <a:endParaRPr lang="en-ZA" sz="3800" b="1" dirty="0" smtClean="0">
              <a:latin typeface="Arial Narrow" panose="020B0606020202030204" pitchFamily="34" charset="0"/>
            </a:endParaRPr>
          </a:p>
          <a:p>
            <a:pPr marL="0" indent="0">
              <a:buNone/>
            </a:pPr>
            <a:r>
              <a:rPr lang="en-ZA" sz="3800" dirty="0">
                <a:latin typeface="Arial Narrow" panose="020B0606020202030204" pitchFamily="34" charset="0"/>
              </a:rPr>
              <a:t>Lesson tool 2 addressed general mistake of designing for the typical user. Further issues: </a:t>
            </a:r>
            <a:r>
              <a:rPr lang="en-ZA" sz="3800" dirty="0" smtClean="0">
                <a:latin typeface="Arial Narrow" panose="020B0606020202030204" pitchFamily="34" charset="0"/>
              </a:rPr>
              <a:t>Overestimating importance of aesthetic (artistic) </a:t>
            </a:r>
            <a:r>
              <a:rPr lang="en-ZA" sz="3800" dirty="0">
                <a:latin typeface="Arial Narrow" panose="020B0606020202030204" pitchFamily="34" charset="0"/>
              </a:rPr>
              <a:t>,</a:t>
            </a:r>
            <a:r>
              <a:rPr lang="en-ZA" sz="3800" dirty="0" smtClean="0">
                <a:latin typeface="Arial Narrow" panose="020B0606020202030204" pitchFamily="34" charset="0"/>
              </a:rPr>
              <a:t>designers being considered typical users and problem with cluttered interfaces.</a:t>
            </a:r>
            <a:endParaRPr lang="en-ZA" sz="3800" dirty="0">
              <a:latin typeface="Arial Narrow" panose="020B0606020202030204" pitchFamily="34" charset="0"/>
            </a:endParaRPr>
          </a:p>
          <a:p>
            <a:pPr>
              <a:buFont typeface="Wingdings" panose="05000000000000000000" pitchFamily="2" charset="2"/>
              <a:buChar char="Ø"/>
            </a:pPr>
            <a:r>
              <a:rPr lang="en-ZA" sz="3800" b="1" dirty="0">
                <a:latin typeface="Arial Narrow" panose="020B0606020202030204" pitchFamily="34" charset="0"/>
              </a:rPr>
              <a:t>Putting Aesthetics above Usability </a:t>
            </a:r>
            <a:endParaRPr lang="en-ZA" sz="3800" dirty="0">
              <a:latin typeface="Arial Narrow" panose="020B0606020202030204" pitchFamily="34" charset="0"/>
            </a:endParaRPr>
          </a:p>
          <a:p>
            <a:pPr>
              <a:buFont typeface="Wingdings" panose="05000000000000000000" pitchFamily="2" charset="2"/>
              <a:buChar char="§"/>
            </a:pPr>
            <a:r>
              <a:rPr lang="en-ZA" sz="3800" dirty="0" smtClean="0">
                <a:latin typeface="Arial Narrow" panose="020B0606020202030204" pitchFamily="34" charset="0"/>
              </a:rPr>
              <a:t>Apple </a:t>
            </a:r>
            <a:r>
              <a:rPr lang="en-ZA" sz="3800" dirty="0">
                <a:latin typeface="Arial Narrow" panose="020B0606020202030204" pitchFamily="34" charset="0"/>
              </a:rPr>
              <a:t>paid special attention to the aesthetics of their products. </a:t>
            </a:r>
          </a:p>
          <a:p>
            <a:pPr>
              <a:buFont typeface="Wingdings" panose="05000000000000000000" pitchFamily="2" charset="2"/>
              <a:buChar char="§"/>
            </a:pPr>
            <a:r>
              <a:rPr lang="en-ZA" sz="3800" dirty="0" smtClean="0">
                <a:latin typeface="Arial Narrow" panose="020B0606020202030204" pitchFamily="34" charset="0"/>
              </a:rPr>
              <a:t>Aesthetics </a:t>
            </a:r>
            <a:r>
              <a:rPr lang="en-ZA" sz="3800" dirty="0">
                <a:latin typeface="Arial Narrow" panose="020B0606020202030204" pitchFamily="34" charset="0"/>
              </a:rPr>
              <a:t>should not take precedence over usability </a:t>
            </a:r>
          </a:p>
          <a:p>
            <a:pPr>
              <a:buFont typeface="Wingdings" panose="05000000000000000000" pitchFamily="2" charset="2"/>
              <a:buChar char="§"/>
            </a:pPr>
            <a:r>
              <a:rPr lang="en-ZA" sz="3800" dirty="0" smtClean="0">
                <a:latin typeface="Arial Narrow" panose="020B0606020202030204" pitchFamily="34" charset="0"/>
              </a:rPr>
              <a:t>An </a:t>
            </a:r>
            <a:r>
              <a:rPr lang="en-ZA" sz="3800" dirty="0">
                <a:latin typeface="Arial Narrow" panose="020B0606020202030204" pitchFamily="34" charset="0"/>
              </a:rPr>
              <a:t>interface need not be an artwork to be aesthetically pleasing. </a:t>
            </a:r>
            <a:endParaRPr lang="en-ZA" sz="3800" dirty="0" smtClean="0">
              <a:latin typeface="Arial Narrow" panose="020B0606020202030204" pitchFamily="34" charset="0"/>
            </a:endParaRPr>
          </a:p>
          <a:p>
            <a:pPr marL="457200" lvl="1" indent="0">
              <a:buNone/>
            </a:pPr>
            <a:r>
              <a:rPr lang="en-ZA" sz="3800" dirty="0" smtClean="0">
                <a:latin typeface="Arial Narrow" panose="020B0606020202030204" pitchFamily="34" charset="0"/>
              </a:rPr>
              <a:t>• </a:t>
            </a:r>
            <a:r>
              <a:rPr lang="en-ZA" sz="3800" dirty="0">
                <a:latin typeface="Arial Narrow" panose="020B0606020202030204" pitchFamily="34" charset="0"/>
              </a:rPr>
              <a:t>One that is free of clutter, interface elements organised in logical and balanced way, and uses colour tastefully can provide visual pleasure to users </a:t>
            </a:r>
            <a:endParaRPr lang="en-ZA" sz="3800" dirty="0" smtClean="0">
              <a:latin typeface="Arial Narrow" panose="020B0606020202030204" pitchFamily="34" charset="0"/>
            </a:endParaRPr>
          </a:p>
          <a:p>
            <a:pPr marL="457200" lvl="1" indent="0">
              <a:buNone/>
            </a:pPr>
            <a:r>
              <a:rPr lang="en-ZA" sz="3800" dirty="0" smtClean="0">
                <a:latin typeface="Arial Narrow" panose="020B0606020202030204" pitchFamily="34" charset="0"/>
              </a:rPr>
              <a:t>• The target user group should be considered – adults vs young children </a:t>
            </a:r>
          </a:p>
          <a:p>
            <a:pPr marL="457200" lvl="1" indent="0">
              <a:buNone/>
            </a:pPr>
            <a:r>
              <a:rPr lang="en-ZA" sz="3800" dirty="0" smtClean="0">
                <a:latin typeface="Arial Narrow" panose="020B0606020202030204" pitchFamily="34" charset="0"/>
              </a:rPr>
              <a:t>• </a:t>
            </a:r>
            <a:r>
              <a:rPr lang="en-ZA" sz="3800" dirty="0">
                <a:latin typeface="Arial Narrow" panose="020B0606020202030204" pitchFamily="34" charset="0"/>
              </a:rPr>
              <a:t>Culture may also determine what the user finds aesthetically pleasing. </a:t>
            </a:r>
          </a:p>
          <a:p>
            <a:pPr>
              <a:buFont typeface="Wingdings" panose="05000000000000000000" pitchFamily="2" charset="2"/>
              <a:buChar char="§"/>
            </a:pPr>
            <a:r>
              <a:rPr lang="en-ZA" sz="3800" dirty="0" smtClean="0">
                <a:latin typeface="Arial Narrow" panose="020B0606020202030204" pitchFamily="34" charset="0"/>
              </a:rPr>
              <a:t>Google.com</a:t>
            </a:r>
            <a:r>
              <a:rPr lang="en-ZA" sz="3800" dirty="0">
                <a:latin typeface="Arial Narrow" panose="020B0606020202030204" pitchFamily="34" charset="0"/>
              </a:rPr>
              <a:t>: Proof that a beautiful interface is not a prerequisite for a successful system. </a:t>
            </a:r>
          </a:p>
          <a:p>
            <a:pPr>
              <a:buFont typeface="Wingdings" panose="05000000000000000000" pitchFamily="2" charset="2"/>
              <a:buChar char="Ø"/>
            </a:pPr>
            <a:r>
              <a:rPr lang="en-ZA" sz="3800" b="1" dirty="0">
                <a:latin typeface="Arial Narrow" panose="020B0606020202030204" pitchFamily="34" charset="0"/>
              </a:rPr>
              <a:t>Thinking for the User </a:t>
            </a:r>
            <a:endParaRPr lang="en-ZA" sz="3800" dirty="0">
              <a:latin typeface="Arial Narrow" panose="020B0606020202030204" pitchFamily="34" charset="0"/>
            </a:endParaRPr>
          </a:p>
          <a:p>
            <a:pPr>
              <a:buFont typeface="Wingdings" panose="05000000000000000000" pitchFamily="2" charset="2"/>
              <a:buChar char="§"/>
            </a:pPr>
            <a:r>
              <a:rPr lang="en-ZA" sz="3800" dirty="0" smtClean="0">
                <a:latin typeface="Arial Narrow" panose="020B0606020202030204" pitchFamily="34" charset="0"/>
              </a:rPr>
              <a:t>Common </a:t>
            </a:r>
            <a:r>
              <a:rPr lang="en-ZA" sz="3800" dirty="0">
                <a:latin typeface="Arial Narrow" panose="020B0606020202030204" pitchFamily="34" charset="0"/>
              </a:rPr>
              <a:t>Errors: </a:t>
            </a:r>
          </a:p>
          <a:p>
            <a:pPr lvl="1">
              <a:buFont typeface="Wingdings" panose="05000000000000000000" pitchFamily="2" charset="2"/>
              <a:buChar char="§"/>
            </a:pPr>
            <a:r>
              <a:rPr lang="en-ZA" sz="3800" dirty="0" smtClean="0">
                <a:latin typeface="Arial Narrow" panose="020B0606020202030204" pitchFamily="34" charset="0"/>
              </a:rPr>
              <a:t>Designers </a:t>
            </a:r>
            <a:r>
              <a:rPr lang="en-ZA" sz="3800" dirty="0">
                <a:latin typeface="Arial Narrow" panose="020B0606020202030204" pitchFamily="34" charset="0"/>
              </a:rPr>
              <a:t>subconsciously build interfaces according to their own preferences &amp; knowledge. </a:t>
            </a:r>
            <a:r>
              <a:rPr lang="en-ZA" sz="3800" dirty="0" smtClean="0">
                <a:latin typeface="Arial Narrow" panose="020B0606020202030204" pitchFamily="34" charset="0"/>
              </a:rPr>
              <a:t>They believe they know what users want</a:t>
            </a:r>
          </a:p>
          <a:p>
            <a:endParaRPr lang="en-ZA" dirty="0"/>
          </a:p>
          <a:p>
            <a:pPr marL="0" indent="0" algn="just">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199" y="271604"/>
            <a:ext cx="5769321" cy="5905359"/>
          </a:xfrm>
        </p:spPr>
        <p:txBody>
          <a:bodyPr>
            <a:normAutofit fontScale="47500" lnSpcReduction="20000"/>
          </a:bodyPr>
          <a:lstStyle/>
          <a:p>
            <a:pPr>
              <a:buFont typeface="Wingdings" panose="05000000000000000000" pitchFamily="2" charset="2"/>
              <a:buChar char="§"/>
            </a:pPr>
            <a:r>
              <a:rPr lang="en-ZA" sz="3800" dirty="0" smtClean="0">
                <a:latin typeface="Arial Narrow" panose="020B0606020202030204" pitchFamily="34" charset="0"/>
              </a:rPr>
              <a:t>By time a system is complete, designers know it so well that they can’t view it from perspective of someone who encounters it for the first time. </a:t>
            </a:r>
          </a:p>
          <a:p>
            <a:pPr>
              <a:buFont typeface="Wingdings" panose="05000000000000000000" pitchFamily="2" charset="2"/>
              <a:buChar char="§"/>
            </a:pPr>
            <a:r>
              <a:rPr lang="en-ZA" sz="3800" dirty="0" smtClean="0">
                <a:latin typeface="Arial Narrow" panose="020B0606020202030204" pitchFamily="34" charset="0"/>
              </a:rPr>
              <a:t>Happens </a:t>
            </a:r>
            <a:r>
              <a:rPr lang="en-ZA" sz="3800" dirty="0">
                <a:latin typeface="Arial Narrow" panose="020B0606020202030204" pitchFamily="34" charset="0"/>
              </a:rPr>
              <a:t>if designers do not involve real users in the design process </a:t>
            </a:r>
          </a:p>
          <a:p>
            <a:pPr lvl="1"/>
            <a:r>
              <a:rPr lang="en-ZA" sz="3800" dirty="0" smtClean="0">
                <a:latin typeface="Arial Narrow" panose="020B0606020202030204" pitchFamily="34" charset="0"/>
              </a:rPr>
              <a:t>To </a:t>
            </a:r>
            <a:r>
              <a:rPr lang="en-ZA" sz="3800" dirty="0">
                <a:latin typeface="Arial Narrow" panose="020B0606020202030204" pitchFamily="34" charset="0"/>
              </a:rPr>
              <a:t>mistake the client for the end user and base the designs on the requirements specified by the client. </a:t>
            </a:r>
            <a:endParaRPr lang="en-ZA" sz="3800" dirty="0" smtClean="0">
              <a:latin typeface="Arial Narrow" panose="020B0606020202030204" pitchFamily="34" charset="0"/>
            </a:endParaRPr>
          </a:p>
          <a:p>
            <a:pPr>
              <a:buFont typeface="Wingdings" panose="05000000000000000000" pitchFamily="2" charset="2"/>
              <a:buChar char="Ø"/>
            </a:pPr>
            <a:r>
              <a:rPr lang="en-ZA" sz="3800" b="1" dirty="0">
                <a:latin typeface="Arial Narrow" panose="020B0606020202030204" pitchFamily="34" charset="0"/>
              </a:rPr>
              <a:t>Cluttering the Interface </a:t>
            </a:r>
            <a:endParaRPr lang="en-ZA" sz="3800" dirty="0">
              <a:latin typeface="Arial Narrow" panose="020B0606020202030204" pitchFamily="34" charset="0"/>
            </a:endParaRPr>
          </a:p>
          <a:p>
            <a:pPr>
              <a:buFont typeface="Wingdings" panose="05000000000000000000" pitchFamily="2" charset="2"/>
              <a:buChar char="§"/>
            </a:pPr>
            <a:r>
              <a:rPr lang="en-ZA" sz="3800" dirty="0" smtClean="0">
                <a:latin typeface="Arial Narrow" panose="020B0606020202030204" pitchFamily="34" charset="0"/>
              </a:rPr>
              <a:t>Interfaces </a:t>
            </a:r>
            <a:r>
              <a:rPr lang="en-ZA" sz="3800" dirty="0">
                <a:latin typeface="Arial Narrow" panose="020B0606020202030204" pitchFamily="34" charset="0"/>
              </a:rPr>
              <a:t>should provide users with enough information to allow them to perform their required task successfully. </a:t>
            </a:r>
          </a:p>
          <a:p>
            <a:pPr>
              <a:buFont typeface="Wingdings" panose="05000000000000000000" pitchFamily="2" charset="2"/>
              <a:buChar char="§"/>
            </a:pPr>
            <a:r>
              <a:rPr lang="en-ZA" sz="3800" dirty="0" smtClean="0">
                <a:latin typeface="Arial Narrow" panose="020B0606020202030204" pitchFamily="34" charset="0"/>
              </a:rPr>
              <a:t>They </a:t>
            </a:r>
            <a:r>
              <a:rPr lang="en-ZA" sz="3800" dirty="0">
                <a:latin typeface="Arial Narrow" panose="020B0606020202030204" pitchFamily="34" charset="0"/>
              </a:rPr>
              <a:t>should, however, avoid screen clutter</a:t>
            </a:r>
            <a:r>
              <a:rPr lang="en-ZA" sz="3800" dirty="0" smtClean="0">
                <a:latin typeface="Arial Narrow" panose="020B0606020202030204" pitchFamily="34" charset="0"/>
              </a:rPr>
              <a:t>:</a:t>
            </a:r>
          </a:p>
          <a:p>
            <a:pPr lvl="1"/>
            <a:r>
              <a:rPr lang="en-ZA" sz="3800" dirty="0" smtClean="0">
                <a:latin typeface="Arial Narrow" panose="020B0606020202030204" pitchFamily="34" charset="0"/>
              </a:rPr>
              <a:t> Affects </a:t>
            </a:r>
            <a:r>
              <a:rPr lang="en-ZA" sz="3800" dirty="0">
                <a:latin typeface="Arial Narrow" panose="020B0606020202030204" pitchFamily="34" charset="0"/>
              </a:rPr>
              <a:t>aesthetics of the design </a:t>
            </a:r>
          </a:p>
          <a:p>
            <a:pPr lvl="1"/>
            <a:r>
              <a:rPr lang="en-ZA" sz="3800" dirty="0">
                <a:latin typeface="Arial Narrow" panose="020B0606020202030204" pitchFamily="34" charset="0"/>
              </a:rPr>
              <a:t> </a:t>
            </a:r>
            <a:r>
              <a:rPr lang="en-ZA" sz="3800" dirty="0" smtClean="0">
                <a:latin typeface="Arial Narrow" panose="020B0606020202030204" pitchFamily="34" charset="0"/>
              </a:rPr>
              <a:t>Difficult </a:t>
            </a:r>
            <a:r>
              <a:rPr lang="en-ZA" sz="3800" dirty="0">
                <a:latin typeface="Arial Narrow" panose="020B0606020202030204" pitchFamily="34" charset="0"/>
              </a:rPr>
              <a:t>for users to take in and understand the </a:t>
            </a:r>
            <a:r>
              <a:rPr lang="en-ZA" sz="3800" dirty="0" smtClean="0">
                <a:latin typeface="Arial Narrow" panose="020B0606020202030204" pitchFamily="34" charset="0"/>
              </a:rPr>
              <a:t>profusion(flooding) </a:t>
            </a:r>
            <a:r>
              <a:rPr lang="en-ZA" sz="3800" dirty="0">
                <a:latin typeface="Arial Narrow" panose="020B0606020202030204" pitchFamily="34" charset="0"/>
              </a:rPr>
              <a:t>of objects on the screen </a:t>
            </a:r>
          </a:p>
          <a:p>
            <a:pPr lvl="1"/>
            <a:r>
              <a:rPr lang="en-ZA" sz="3800" dirty="0" smtClean="0">
                <a:latin typeface="Arial Narrow" panose="020B0606020202030204" pitchFamily="34" charset="0"/>
              </a:rPr>
              <a:t>The </a:t>
            </a:r>
            <a:r>
              <a:rPr lang="en-ZA" sz="3800" dirty="0">
                <a:latin typeface="Arial Narrow" panose="020B0606020202030204" pitchFamily="34" charset="0"/>
              </a:rPr>
              <a:t>more objects on the screen: </a:t>
            </a:r>
            <a:endParaRPr lang="en-ZA" sz="3800" dirty="0" smtClean="0">
              <a:latin typeface="Arial Narrow" panose="020B0606020202030204" pitchFamily="34" charset="0"/>
            </a:endParaRPr>
          </a:p>
          <a:p>
            <a:pPr marL="914400" lvl="2" indent="0">
              <a:buNone/>
            </a:pPr>
            <a:r>
              <a:rPr lang="en-ZA" sz="3800" dirty="0" smtClean="0">
                <a:latin typeface="Arial Narrow" panose="020B0606020202030204" pitchFamily="34" charset="0"/>
              </a:rPr>
              <a:t>▪ </a:t>
            </a:r>
            <a:r>
              <a:rPr lang="en-ZA" sz="3800" dirty="0">
                <a:latin typeface="Arial Narrow" panose="020B0606020202030204" pitchFamily="34" charset="0"/>
              </a:rPr>
              <a:t>More meanings users will have to unravel </a:t>
            </a:r>
            <a:r>
              <a:rPr lang="en-ZA" sz="3800" dirty="0" smtClean="0">
                <a:latin typeface="Arial Narrow" panose="020B0606020202030204" pitchFamily="34" charset="0"/>
              </a:rPr>
              <a:t>(understand)</a:t>
            </a:r>
            <a:endParaRPr lang="en-ZA" sz="3800" dirty="0">
              <a:latin typeface="Arial Narrow" panose="020B0606020202030204" pitchFamily="34" charset="0"/>
            </a:endParaRPr>
          </a:p>
          <a:p>
            <a:pPr marL="914400" lvl="2" indent="0">
              <a:buNone/>
            </a:pPr>
            <a:r>
              <a:rPr lang="en-ZA" sz="3800" dirty="0">
                <a:latin typeface="Arial Narrow" panose="020B0606020202030204" pitchFamily="34" charset="0"/>
              </a:rPr>
              <a:t>▪ Harder for users to find the ones that they really need. </a:t>
            </a:r>
          </a:p>
          <a:p>
            <a:pPr marL="914400" lvl="2" indent="0">
              <a:buNone/>
            </a:pPr>
            <a:r>
              <a:rPr lang="en-ZA" sz="3800" dirty="0" smtClean="0">
                <a:latin typeface="Arial Narrow" panose="020B0606020202030204" pitchFamily="34" charset="0"/>
              </a:rPr>
              <a:t>▪ </a:t>
            </a:r>
            <a:r>
              <a:rPr lang="en-ZA" sz="3800" dirty="0">
                <a:latin typeface="Arial Narrow" panose="020B0606020202030204" pitchFamily="34" charset="0"/>
              </a:rPr>
              <a:t>The smaller the average size of each object </a:t>
            </a:r>
          </a:p>
          <a:p>
            <a:pPr marL="0" indent="0">
              <a:buNone/>
            </a:pPr>
            <a:r>
              <a:rPr lang="en-ZA" sz="3800" b="1" dirty="0" smtClean="0">
                <a:latin typeface="Arial Narrow" panose="020B0606020202030204" pitchFamily="34" charset="0"/>
              </a:rPr>
              <a:t>Design </a:t>
            </a:r>
            <a:r>
              <a:rPr lang="en-ZA" sz="3800" b="1" dirty="0">
                <a:latin typeface="Arial Narrow" panose="020B0606020202030204" pitchFamily="34" charset="0"/>
              </a:rPr>
              <a:t>Solutions </a:t>
            </a:r>
          </a:p>
          <a:p>
            <a:pPr>
              <a:buFont typeface="Wingdings" panose="05000000000000000000" pitchFamily="2" charset="2"/>
              <a:buChar char="§"/>
            </a:pPr>
            <a:r>
              <a:rPr lang="en-ZA" sz="3800" dirty="0">
                <a:latin typeface="Arial Narrow" panose="020B0606020202030204" pitchFamily="34" charset="0"/>
              </a:rPr>
              <a:t>Most basic principles for </a:t>
            </a:r>
            <a:r>
              <a:rPr lang="en-ZA" sz="3800" b="1" dirty="0">
                <a:latin typeface="Arial Narrow" panose="020B0606020202030204" pitchFamily="34" charset="0"/>
              </a:rPr>
              <a:t>good interface design </a:t>
            </a:r>
            <a:r>
              <a:rPr lang="en-ZA" sz="3800" dirty="0">
                <a:latin typeface="Arial Narrow" panose="020B0606020202030204" pitchFamily="34" charset="0"/>
              </a:rPr>
              <a:t>can be derived from Norman’s (1999) good principles for the design of everyday things. </a:t>
            </a:r>
          </a:p>
          <a:p>
            <a:endParaRPr lang="en-ZA" dirty="0"/>
          </a:p>
          <a:p>
            <a:endParaRPr lang="en-ZA" dirty="0"/>
          </a:p>
          <a:p>
            <a:pPr marL="0" indent="0">
              <a:buNone/>
            </a:pPr>
            <a:endParaRPr lang="en-ZA" dirty="0"/>
          </a:p>
          <a:p>
            <a:pPr marL="0" indent="0" algn="just">
              <a:buNone/>
            </a:pPr>
            <a:endParaRPr lang="en-US" sz="22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14574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2016" y="353085"/>
            <a:ext cx="5847784" cy="6102036"/>
          </a:xfrm>
        </p:spPr>
        <p:txBody>
          <a:bodyPr>
            <a:noAutofit/>
          </a:bodyPr>
          <a:lstStyle/>
          <a:p>
            <a:pPr marL="0" indent="0">
              <a:buNone/>
            </a:pPr>
            <a:r>
              <a:rPr lang="en-ZA" sz="1800" dirty="0">
                <a:latin typeface="Arial Narrow" panose="020B0606020202030204" pitchFamily="34" charset="0"/>
              </a:rPr>
              <a:t>Below describes his well-known and widely accepted design concepts: </a:t>
            </a:r>
          </a:p>
          <a:p>
            <a:pPr>
              <a:buFont typeface="Wingdings" panose="05000000000000000000" pitchFamily="2" charset="2"/>
              <a:buChar char="Ø"/>
            </a:pPr>
            <a:r>
              <a:rPr lang="en-ZA" sz="1800" b="1" dirty="0" smtClean="0">
                <a:latin typeface="Arial Narrow" panose="020B0606020202030204" pitchFamily="34" charset="0"/>
              </a:rPr>
              <a:t>Affordance </a:t>
            </a:r>
            <a:endParaRPr lang="en-ZA" sz="1800" dirty="0">
              <a:latin typeface="Arial Narrow" panose="020B0606020202030204" pitchFamily="34" charset="0"/>
            </a:endParaRPr>
          </a:p>
          <a:p>
            <a:pPr>
              <a:buFont typeface="Wingdings" panose="05000000000000000000" pitchFamily="2" charset="2"/>
              <a:buChar char="§"/>
            </a:pPr>
            <a:r>
              <a:rPr lang="en-ZA" sz="1800" dirty="0" smtClean="0">
                <a:latin typeface="Arial Narrow" panose="020B0606020202030204" pitchFamily="34" charset="0"/>
              </a:rPr>
              <a:t>The </a:t>
            </a:r>
            <a:r>
              <a:rPr lang="en-ZA" sz="1800" dirty="0">
                <a:latin typeface="Arial Narrow" panose="020B0606020202030204" pitchFamily="34" charset="0"/>
              </a:rPr>
              <a:t>affordance of an object or interface refers to the perceived and actual properties that tell an observer or user how the object or interface can be used. E.g. Scissors </a:t>
            </a:r>
          </a:p>
          <a:p>
            <a:pPr>
              <a:buFont typeface="Wingdings" panose="05000000000000000000" pitchFamily="2" charset="2"/>
              <a:buChar char="§"/>
            </a:pPr>
            <a:r>
              <a:rPr lang="en-ZA" sz="1800" dirty="0" smtClean="0">
                <a:latin typeface="Arial Narrow" panose="020B0606020202030204" pitchFamily="34" charset="0"/>
              </a:rPr>
              <a:t>The </a:t>
            </a:r>
            <a:r>
              <a:rPr lang="en-ZA" sz="1800" dirty="0">
                <a:latin typeface="Arial Narrow" panose="020B0606020202030204" pitchFamily="34" charset="0"/>
              </a:rPr>
              <a:t>stronger the clues provided by the affordances, the better user will know what to do. </a:t>
            </a:r>
            <a:endParaRPr lang="en-ZA" sz="1800" dirty="0" smtClean="0">
              <a:latin typeface="Arial Narrow" panose="020B0606020202030204" pitchFamily="34" charset="0"/>
            </a:endParaRPr>
          </a:p>
          <a:p>
            <a:pPr>
              <a:buFont typeface="Wingdings" panose="05000000000000000000" pitchFamily="2" charset="2"/>
              <a:buChar char="Ø"/>
            </a:pPr>
            <a:r>
              <a:rPr lang="en-ZA" sz="1800" b="1" dirty="0">
                <a:latin typeface="Arial Narrow" panose="020B0606020202030204" pitchFamily="34" charset="0"/>
              </a:rPr>
              <a:t>Constraints </a:t>
            </a:r>
            <a:r>
              <a:rPr lang="en-ZA" sz="1800" b="1" dirty="0" smtClean="0">
                <a:latin typeface="Arial Narrow" panose="020B0606020202030204" pitchFamily="34" charset="0"/>
              </a:rPr>
              <a:t>- </a:t>
            </a:r>
            <a:r>
              <a:rPr lang="en-ZA" sz="1800" dirty="0" smtClean="0">
                <a:latin typeface="Arial Narrow" panose="020B0606020202030204" pitchFamily="34" charset="0"/>
              </a:rPr>
              <a:t>A </a:t>
            </a:r>
            <a:r>
              <a:rPr lang="en-ZA" sz="1800" dirty="0">
                <a:latin typeface="Arial Narrow" panose="020B0606020202030204" pitchFamily="34" charset="0"/>
              </a:rPr>
              <a:t>constraint is a mechanism that restricts the allowed behaviour of a user when interacting with a computer system. </a:t>
            </a:r>
            <a:endParaRPr lang="en-ZA" sz="1800" dirty="0" smtClean="0">
              <a:latin typeface="Arial Narrow" panose="020B0606020202030204" pitchFamily="34" charset="0"/>
            </a:endParaRPr>
          </a:p>
          <a:p>
            <a:pPr>
              <a:buFont typeface="Wingdings" panose="05000000000000000000" pitchFamily="2" charset="2"/>
              <a:buChar char="§"/>
            </a:pPr>
            <a:r>
              <a:rPr lang="en-ZA" sz="1800" b="1" dirty="0">
                <a:latin typeface="Arial Narrow" panose="020B0606020202030204" pitchFamily="34" charset="0"/>
              </a:rPr>
              <a:t>Physical</a:t>
            </a:r>
            <a:r>
              <a:rPr lang="en-ZA" sz="1800" dirty="0">
                <a:latin typeface="Arial Narrow" panose="020B0606020202030204" pitchFamily="34" charset="0"/>
              </a:rPr>
              <a:t> – relies on properties of the physical world for its use, e.g. ATM </a:t>
            </a:r>
            <a:r>
              <a:rPr lang="en-ZA" sz="1800" dirty="0" smtClean="0">
                <a:latin typeface="Arial Narrow" panose="020B0606020202030204" pitchFamily="34" charset="0"/>
              </a:rPr>
              <a:t>– card slot</a:t>
            </a:r>
          </a:p>
          <a:p>
            <a:pPr marL="457200" lvl="1" indent="0">
              <a:buNone/>
            </a:pPr>
            <a:r>
              <a:rPr lang="en-ZA" sz="2200" dirty="0" smtClean="0">
                <a:latin typeface="Arial Narrow" panose="020B0606020202030204" pitchFamily="34" charset="0"/>
              </a:rPr>
              <a:t>▪ </a:t>
            </a:r>
            <a:r>
              <a:rPr lang="en-ZA" sz="1800" dirty="0">
                <a:latin typeface="Arial Narrow" panose="020B0606020202030204" pitchFamily="34" charset="0"/>
              </a:rPr>
              <a:t>Forcing function - type of physical constraint </a:t>
            </a:r>
            <a:endParaRPr lang="en-ZA" sz="1800" dirty="0" smtClean="0">
              <a:latin typeface="Arial Narrow" panose="020B0606020202030204" pitchFamily="34" charset="0"/>
            </a:endParaRPr>
          </a:p>
          <a:p>
            <a:pPr marL="1371600" lvl="3" indent="0">
              <a:buNone/>
            </a:pPr>
            <a:r>
              <a:rPr lang="en-ZA" dirty="0" smtClean="0">
                <a:latin typeface="Arial Narrow" panose="020B0606020202030204" pitchFamily="34" charset="0"/>
              </a:rPr>
              <a:t>• </a:t>
            </a:r>
            <a:r>
              <a:rPr lang="en-ZA" dirty="0">
                <a:latin typeface="Arial Narrow" panose="020B0606020202030204" pitchFamily="34" charset="0"/>
              </a:rPr>
              <a:t>Requires one action before a next can take place </a:t>
            </a:r>
          </a:p>
          <a:p>
            <a:pPr>
              <a:buFont typeface="Wingdings" panose="05000000000000000000" pitchFamily="2" charset="2"/>
              <a:buChar char="§"/>
            </a:pPr>
            <a:r>
              <a:rPr lang="en-ZA" sz="1800" b="1" dirty="0">
                <a:latin typeface="Arial Narrow" panose="020B0606020202030204" pitchFamily="34" charset="0"/>
              </a:rPr>
              <a:t>Sematic</a:t>
            </a:r>
            <a:r>
              <a:rPr lang="en-ZA" sz="1800" dirty="0">
                <a:latin typeface="Arial Narrow" panose="020B0606020202030204" pitchFamily="34" charset="0"/>
              </a:rPr>
              <a:t> - rely on the meaning of the situation, e.g. </a:t>
            </a:r>
            <a:r>
              <a:rPr lang="en-ZA" sz="1800" dirty="0" smtClean="0">
                <a:latin typeface="Arial Narrow" panose="020B0606020202030204" pitchFamily="34" charset="0"/>
              </a:rPr>
              <a:t>Red robot </a:t>
            </a:r>
            <a:endParaRPr lang="en-ZA" sz="1800" dirty="0">
              <a:latin typeface="Arial Narrow" panose="020B0606020202030204" pitchFamily="34" charset="0"/>
            </a:endParaRPr>
          </a:p>
          <a:p>
            <a:pPr>
              <a:buFont typeface="Wingdings" panose="05000000000000000000" pitchFamily="2" charset="2"/>
              <a:buChar char="§"/>
            </a:pPr>
            <a:r>
              <a:rPr lang="en-ZA" sz="1800" b="1" dirty="0" smtClean="0">
                <a:latin typeface="Arial Narrow" panose="020B0606020202030204" pitchFamily="34" charset="0"/>
              </a:rPr>
              <a:t>Cultural</a:t>
            </a:r>
            <a:r>
              <a:rPr lang="en-ZA" sz="1800" dirty="0" smtClean="0">
                <a:latin typeface="Arial Narrow" panose="020B0606020202030204" pitchFamily="34" charset="0"/>
              </a:rPr>
              <a:t> </a:t>
            </a:r>
            <a:r>
              <a:rPr lang="en-ZA" sz="1800" dirty="0">
                <a:latin typeface="Arial Narrow" panose="020B0606020202030204" pitchFamily="34" charset="0"/>
              </a:rPr>
              <a:t>– rely on accepted cultural conventions, e.g. green button (OK | Go) </a:t>
            </a:r>
          </a:p>
          <a:p>
            <a:pPr>
              <a:buFont typeface="Wingdings" panose="05000000000000000000" pitchFamily="2" charset="2"/>
              <a:buChar char="§"/>
            </a:pPr>
            <a:r>
              <a:rPr lang="en-ZA" sz="1800" b="1" dirty="0" smtClean="0">
                <a:latin typeface="Arial Narrow" panose="020B0606020202030204" pitchFamily="34" charset="0"/>
              </a:rPr>
              <a:t>Logical</a:t>
            </a:r>
            <a:r>
              <a:rPr lang="en-ZA" sz="1800" dirty="0" smtClean="0">
                <a:latin typeface="Arial Narrow" panose="020B0606020202030204" pitchFamily="34" charset="0"/>
              </a:rPr>
              <a:t> </a:t>
            </a:r>
            <a:r>
              <a:rPr lang="en-ZA" sz="1800" dirty="0">
                <a:latin typeface="Arial Narrow" panose="020B0606020202030204" pitchFamily="34" charset="0"/>
              </a:rPr>
              <a:t>- rely on logical relationships between functional and spatial aspects of a situation, e.g. natural mappings </a:t>
            </a:r>
          </a:p>
          <a:p>
            <a:endParaRPr lang="en-ZA" sz="1800" dirty="0">
              <a:latin typeface="Arial Narrow" panose="020B0606020202030204" pitchFamily="34" charset="0"/>
            </a:endParaRPr>
          </a:p>
          <a:p>
            <a:pPr marL="0" indent="0">
              <a:buNone/>
            </a:pPr>
            <a:endParaRPr lang="en-ZA" sz="1800" dirty="0">
              <a:latin typeface="Arial Narrow" panose="020B0606020202030204" pitchFamily="34" charset="0"/>
            </a:endParaRPr>
          </a:p>
          <a:p>
            <a:pPr lvl="1"/>
            <a:endParaRPr lang="en-ZA" dirty="0"/>
          </a:p>
          <a:p>
            <a:pPr lvl="1"/>
            <a:endParaRPr lang="en-ZA" dirty="0"/>
          </a:p>
          <a:p>
            <a:pPr lvl="1"/>
            <a:endParaRPr lang="en-ZA" dirty="0"/>
          </a:p>
          <a:p>
            <a:pPr marL="0" indent="0">
              <a:buNone/>
            </a:pPr>
            <a:endParaRPr lang="en-ZA" dirty="0"/>
          </a:p>
          <a:p>
            <a:pPr>
              <a:buFont typeface="Wingdings" panose="05000000000000000000" pitchFamily="2" charset="2"/>
              <a:buChar char="§"/>
            </a:pPr>
            <a:endParaRPr lang="en-ZA" sz="2000" dirty="0">
              <a:latin typeface="Arial Narrow" panose="020B0606020202030204" pitchFamily="34" charset="0"/>
            </a:endParaRPr>
          </a:p>
          <a:p>
            <a:pPr marL="0" indent="0">
              <a:buNone/>
            </a:pPr>
            <a:endParaRPr lang="en-ZA" sz="1800" dirty="0">
              <a:latin typeface="Arial Narrow" panose="020B0606020202030204" pitchFamily="34" charset="0"/>
            </a:endParaRPr>
          </a:p>
        </p:txBody>
      </p:sp>
      <p:sp>
        <p:nvSpPr>
          <p:cNvPr id="4" name="Content Placeholder 3"/>
          <p:cNvSpPr>
            <a:spLocks noGrp="1"/>
          </p:cNvSpPr>
          <p:nvPr>
            <p:ph sz="half" idx="2"/>
          </p:nvPr>
        </p:nvSpPr>
        <p:spPr>
          <a:xfrm>
            <a:off x="6172200" y="353085"/>
            <a:ext cx="5823642" cy="6169635"/>
          </a:xfrm>
        </p:spPr>
        <p:txBody>
          <a:bodyPr>
            <a:normAutofit fontScale="92500" lnSpcReduction="10000"/>
          </a:bodyPr>
          <a:lstStyle/>
          <a:p>
            <a:pPr>
              <a:buFont typeface="Wingdings" panose="05000000000000000000" pitchFamily="2" charset="2"/>
              <a:buChar char="Ø"/>
            </a:pPr>
            <a:r>
              <a:rPr lang="en-ZA" sz="2000" b="1" dirty="0">
                <a:latin typeface="Arial Narrow" panose="020B0606020202030204" pitchFamily="34" charset="0"/>
              </a:rPr>
              <a:t>Mapping </a:t>
            </a:r>
            <a:endParaRPr lang="en-ZA" sz="2000" dirty="0">
              <a:latin typeface="Arial Narrow" panose="020B0606020202030204" pitchFamily="34" charset="0"/>
            </a:endParaRPr>
          </a:p>
          <a:p>
            <a:pPr>
              <a:buFont typeface="Wingdings" panose="05000000000000000000" pitchFamily="2" charset="2"/>
              <a:buChar char="§"/>
            </a:pPr>
            <a:r>
              <a:rPr lang="en-ZA" sz="2000" dirty="0" smtClean="0">
                <a:latin typeface="Arial Narrow" panose="020B0606020202030204" pitchFamily="34" charset="0"/>
              </a:rPr>
              <a:t>Mapping </a:t>
            </a:r>
            <a:r>
              <a:rPr lang="en-ZA" sz="2000" dirty="0">
                <a:latin typeface="Arial Narrow" panose="020B0606020202030204" pitchFamily="34" charset="0"/>
              </a:rPr>
              <a:t>refers to the relationship between two things o E.g. relationship between a device’s controls and their movements, and the results of the actual use of these controls. </a:t>
            </a:r>
          </a:p>
          <a:p>
            <a:pPr>
              <a:buFont typeface="Wingdings" panose="05000000000000000000" pitchFamily="2" charset="2"/>
              <a:buChar char="§"/>
            </a:pPr>
            <a:r>
              <a:rPr lang="en-ZA" sz="2000" dirty="0" smtClean="0">
                <a:latin typeface="Arial Narrow" panose="020B0606020202030204" pitchFamily="34" charset="0"/>
              </a:rPr>
              <a:t>A </a:t>
            </a:r>
            <a:r>
              <a:rPr lang="en-ZA" sz="2000" dirty="0">
                <a:latin typeface="Arial Narrow" panose="020B0606020202030204" pitchFamily="34" charset="0"/>
              </a:rPr>
              <a:t>good mapping enables users to determine the relationships between possible actions and their respective results. </a:t>
            </a:r>
          </a:p>
          <a:p>
            <a:pPr>
              <a:buFont typeface="Wingdings" panose="05000000000000000000" pitchFamily="2" charset="2"/>
              <a:buChar char="§"/>
            </a:pPr>
            <a:r>
              <a:rPr lang="en-ZA" sz="2000" dirty="0" smtClean="0">
                <a:latin typeface="Arial Narrow" panose="020B0606020202030204" pitchFamily="34" charset="0"/>
              </a:rPr>
              <a:t>Natural </a:t>
            </a:r>
            <a:r>
              <a:rPr lang="en-ZA" sz="2000" dirty="0">
                <a:latin typeface="Arial Narrow" panose="020B0606020202030204" pitchFamily="34" charset="0"/>
              </a:rPr>
              <a:t>mappings use physical analogy and cultural standards to support interpretation. </a:t>
            </a:r>
            <a:endParaRPr lang="en-ZA" sz="2000" dirty="0" smtClean="0">
              <a:latin typeface="Arial Narrow" panose="020B0606020202030204" pitchFamily="34" charset="0"/>
            </a:endParaRPr>
          </a:p>
          <a:p>
            <a:pPr>
              <a:buFont typeface="Wingdings" panose="05000000000000000000" pitchFamily="2" charset="2"/>
              <a:buChar char="Ø"/>
            </a:pPr>
            <a:r>
              <a:rPr lang="en-ZA" sz="2100" b="1" dirty="0">
                <a:latin typeface="Arial Narrow" panose="020B0606020202030204" pitchFamily="34" charset="0"/>
              </a:rPr>
              <a:t>Visibility </a:t>
            </a:r>
            <a:endParaRPr lang="en-ZA" sz="2100" dirty="0">
              <a:latin typeface="Arial Narrow" panose="020B0606020202030204" pitchFamily="34" charset="0"/>
            </a:endParaRPr>
          </a:p>
          <a:p>
            <a:pPr>
              <a:buFont typeface="Wingdings" panose="05000000000000000000" pitchFamily="2" charset="2"/>
              <a:buChar char="§"/>
            </a:pPr>
            <a:r>
              <a:rPr lang="en-ZA" sz="2100" dirty="0" smtClean="0">
                <a:latin typeface="Arial Narrow" panose="020B0606020202030204" pitchFamily="34" charset="0"/>
              </a:rPr>
              <a:t>The </a:t>
            </a:r>
            <a:r>
              <a:rPr lang="en-ZA" sz="2100" dirty="0">
                <a:latin typeface="Arial Narrow" panose="020B0606020202030204" pitchFamily="34" charset="0"/>
              </a:rPr>
              <a:t>parts of a system that are essential for its use must be visible. </a:t>
            </a:r>
          </a:p>
          <a:p>
            <a:pPr>
              <a:buFont typeface="Wingdings" panose="05000000000000000000" pitchFamily="2" charset="2"/>
              <a:buChar char="§"/>
            </a:pPr>
            <a:r>
              <a:rPr lang="en-ZA" sz="2100" dirty="0" smtClean="0">
                <a:latin typeface="Arial Narrow" panose="020B0606020202030204" pitchFamily="34" charset="0"/>
              </a:rPr>
              <a:t>Visible </a:t>
            </a:r>
            <a:r>
              <a:rPr lang="en-ZA" sz="2100" dirty="0">
                <a:latin typeface="Arial Narrow" panose="020B0606020202030204" pitchFamily="34" charset="0"/>
              </a:rPr>
              <a:t>structure of well-designed objects gives user clues about how to operate them. </a:t>
            </a:r>
            <a:endParaRPr lang="en-ZA" sz="2100" dirty="0" smtClean="0">
              <a:latin typeface="Arial Narrow" panose="020B0606020202030204" pitchFamily="34" charset="0"/>
            </a:endParaRPr>
          </a:p>
          <a:p>
            <a:pPr lvl="1"/>
            <a:r>
              <a:rPr lang="en-ZA" sz="2100" dirty="0" smtClean="0">
                <a:latin typeface="Arial Narrow" panose="020B0606020202030204" pitchFamily="34" charset="0"/>
              </a:rPr>
              <a:t>Clues </a:t>
            </a:r>
            <a:r>
              <a:rPr lang="en-ZA" sz="2100" dirty="0">
                <a:latin typeface="Arial Narrow" panose="020B0606020202030204" pitchFamily="34" charset="0"/>
              </a:rPr>
              <a:t>take the form of affordances, constraints and mappings. </a:t>
            </a:r>
          </a:p>
          <a:p>
            <a:pPr lvl="1"/>
            <a:r>
              <a:rPr lang="en-ZA" sz="2100" dirty="0" smtClean="0">
                <a:latin typeface="Arial Narrow" panose="020B0606020202030204" pitchFamily="34" charset="0"/>
              </a:rPr>
              <a:t>Visible </a:t>
            </a:r>
            <a:r>
              <a:rPr lang="en-ZA" sz="2100" dirty="0">
                <a:latin typeface="Arial Narrow" panose="020B0606020202030204" pitchFamily="34" charset="0"/>
              </a:rPr>
              <a:t>signs (like letters or the colour) </a:t>
            </a:r>
          </a:p>
          <a:p>
            <a:pPr>
              <a:buFont typeface="Wingdings" panose="05000000000000000000" pitchFamily="2" charset="2"/>
              <a:buChar char="§"/>
            </a:pPr>
            <a:r>
              <a:rPr lang="en-ZA" sz="2100" dirty="0" smtClean="0">
                <a:latin typeface="Arial Narrow" panose="020B0606020202030204" pitchFamily="34" charset="0"/>
              </a:rPr>
              <a:t>Absence </a:t>
            </a:r>
            <a:r>
              <a:rPr lang="en-ZA" sz="2100" dirty="0">
                <a:latin typeface="Arial Narrow" panose="020B0606020202030204" pitchFamily="34" charset="0"/>
              </a:rPr>
              <a:t>of text labels to icons makes it difficult for users to interpret them. </a:t>
            </a:r>
          </a:p>
          <a:p>
            <a:pPr>
              <a:buFont typeface="Wingdings" panose="05000000000000000000" pitchFamily="2" charset="2"/>
              <a:buChar char="§"/>
            </a:pPr>
            <a:r>
              <a:rPr lang="en-ZA" sz="2100" dirty="0" smtClean="0">
                <a:latin typeface="Arial Narrow" panose="020B0606020202030204" pitchFamily="34" charset="0"/>
              </a:rPr>
              <a:t>Sound </a:t>
            </a:r>
            <a:r>
              <a:rPr lang="en-ZA" sz="2100" dirty="0">
                <a:latin typeface="Arial Narrow" panose="020B0606020202030204" pitchFamily="34" charset="0"/>
              </a:rPr>
              <a:t>can also be used to make interface elements more visible – </a:t>
            </a:r>
            <a:r>
              <a:rPr lang="en-ZA" sz="2100" dirty="0" smtClean="0">
                <a:latin typeface="Arial Narrow" panose="020B0606020202030204" pitchFamily="34" charset="0"/>
              </a:rPr>
              <a:t>beep on error </a:t>
            </a:r>
            <a:r>
              <a:rPr lang="en-ZA" sz="2100" dirty="0">
                <a:latin typeface="Arial Narrow" panose="020B0606020202030204" pitchFamily="34" charset="0"/>
              </a:rPr>
              <a:t>messages </a:t>
            </a:r>
          </a:p>
          <a:p>
            <a:pPr marL="0" indent="0">
              <a:buNone/>
            </a:pPr>
            <a:endParaRPr lang="en-ZA" sz="2000" dirty="0">
              <a:latin typeface="Arial Narrow" panose="020B0606020202030204" pitchFamily="34" charset="0"/>
            </a:endParaRPr>
          </a:p>
          <a:p>
            <a:pPr marL="0" indent="0" algn="just">
              <a:buNone/>
            </a:pPr>
            <a:endParaRPr lang="en-ZA" sz="21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66209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5802" y="316871"/>
            <a:ext cx="5455101" cy="5860092"/>
          </a:xfrm>
        </p:spPr>
        <p:txBody>
          <a:bodyPr>
            <a:normAutofit fontScale="70000" lnSpcReduction="20000"/>
          </a:bodyPr>
          <a:lstStyle/>
          <a:p>
            <a:pPr>
              <a:buFont typeface="Wingdings" panose="05000000000000000000" pitchFamily="2" charset="2"/>
              <a:buChar char="Ø"/>
            </a:pPr>
            <a:r>
              <a:rPr lang="en-ZA" sz="2600" b="1" dirty="0">
                <a:latin typeface="Arial Narrow" panose="020B0606020202030204" pitchFamily="34" charset="0"/>
              </a:rPr>
              <a:t>Feedback </a:t>
            </a:r>
            <a:endParaRPr lang="en-ZA" sz="2600" dirty="0">
              <a:latin typeface="Arial Narrow" panose="020B0606020202030204" pitchFamily="34" charset="0"/>
            </a:endParaRPr>
          </a:p>
          <a:p>
            <a:pPr>
              <a:buFont typeface="Wingdings" panose="05000000000000000000" pitchFamily="2" charset="2"/>
              <a:buChar char="§"/>
            </a:pPr>
            <a:r>
              <a:rPr lang="en-ZA" sz="2600" dirty="0" smtClean="0">
                <a:latin typeface="Arial Narrow" panose="020B0606020202030204" pitchFamily="34" charset="0"/>
              </a:rPr>
              <a:t>Feedback </a:t>
            </a:r>
            <a:r>
              <a:rPr lang="en-ZA" sz="2600" dirty="0">
                <a:latin typeface="Arial Narrow" panose="020B0606020202030204" pitchFamily="34" charset="0"/>
              </a:rPr>
              <a:t>is information that is sent back to the user about what action has actually been performed, and what the result of that action is. </a:t>
            </a:r>
          </a:p>
          <a:p>
            <a:pPr>
              <a:buFont typeface="Wingdings" panose="05000000000000000000" pitchFamily="2" charset="2"/>
              <a:buChar char="§"/>
            </a:pPr>
            <a:r>
              <a:rPr lang="en-ZA" sz="2600" dirty="0" smtClean="0">
                <a:latin typeface="Arial Narrow" panose="020B0606020202030204" pitchFamily="34" charset="0"/>
              </a:rPr>
              <a:t>Operations </a:t>
            </a:r>
            <a:r>
              <a:rPr lang="en-ZA" sz="2600" dirty="0">
                <a:latin typeface="Arial Narrow" panose="020B0606020202030204" pitchFamily="34" charset="0"/>
              </a:rPr>
              <a:t>that take time are often indicated by a progress bar or a message. </a:t>
            </a:r>
          </a:p>
          <a:p>
            <a:pPr>
              <a:buFont typeface="Wingdings" panose="05000000000000000000" pitchFamily="2" charset="2"/>
              <a:buChar char="§"/>
            </a:pPr>
            <a:r>
              <a:rPr lang="en-ZA" sz="2600" dirty="0" smtClean="0">
                <a:latin typeface="Arial Narrow" panose="020B0606020202030204" pitchFamily="34" charset="0"/>
              </a:rPr>
              <a:t>Without </a:t>
            </a:r>
            <a:r>
              <a:rPr lang="en-ZA" sz="2600" dirty="0">
                <a:latin typeface="Arial Narrow" panose="020B0606020202030204" pitchFamily="34" charset="0"/>
              </a:rPr>
              <a:t>constant feedback, the interaction process will be very unsatisfactory. </a:t>
            </a:r>
          </a:p>
          <a:p>
            <a:pPr>
              <a:buFont typeface="Wingdings" panose="05000000000000000000" pitchFamily="2" charset="2"/>
              <a:buChar char="§"/>
            </a:pPr>
            <a:r>
              <a:rPr lang="en-ZA" sz="2600" dirty="0" smtClean="0">
                <a:latin typeface="Arial Narrow" panose="020B0606020202030204" pitchFamily="34" charset="0"/>
              </a:rPr>
              <a:t>Novices </a:t>
            </a:r>
            <a:r>
              <a:rPr lang="en-ZA" sz="2600" dirty="0">
                <a:latin typeface="Arial Narrow" panose="020B0606020202030204" pitchFamily="34" charset="0"/>
              </a:rPr>
              <a:t>want informative feedback. Frequent users want less distracting feedback. </a:t>
            </a:r>
          </a:p>
          <a:p>
            <a:pPr>
              <a:buFont typeface="Wingdings" panose="05000000000000000000" pitchFamily="2" charset="2"/>
              <a:buChar char="§"/>
            </a:pPr>
            <a:r>
              <a:rPr lang="en-ZA" sz="2600" dirty="0" smtClean="0">
                <a:latin typeface="Arial Narrow" panose="020B0606020202030204" pitchFamily="34" charset="0"/>
              </a:rPr>
              <a:t>Important </a:t>
            </a:r>
            <a:r>
              <a:rPr lang="en-ZA" sz="2600" dirty="0">
                <a:latin typeface="Arial Narrow" panose="020B0606020202030204" pitchFamily="34" charset="0"/>
              </a:rPr>
              <a:t>Feedback Mechanisms: </a:t>
            </a:r>
            <a:endParaRPr lang="en-ZA" sz="2600" dirty="0" smtClean="0">
              <a:latin typeface="Arial Narrow" panose="020B0606020202030204" pitchFamily="34" charset="0"/>
            </a:endParaRPr>
          </a:p>
          <a:p>
            <a:pPr lvl="1"/>
            <a:r>
              <a:rPr lang="en-ZA" sz="2600" dirty="0" smtClean="0">
                <a:latin typeface="Arial Narrow" panose="020B0606020202030204" pitchFamily="34" charset="0"/>
              </a:rPr>
              <a:t> </a:t>
            </a:r>
            <a:r>
              <a:rPr lang="en-ZA" sz="2600" b="1" dirty="0">
                <a:latin typeface="Arial Narrow" panose="020B0606020202030204" pitchFamily="34" charset="0"/>
              </a:rPr>
              <a:t>Sound </a:t>
            </a:r>
            <a:r>
              <a:rPr lang="en-ZA" sz="2600" dirty="0">
                <a:latin typeface="Arial Narrow" panose="020B0606020202030204" pitchFamily="34" charset="0"/>
              </a:rPr>
              <a:t>– E.g. cars – beeping (fasten belt or petrol </a:t>
            </a:r>
            <a:r>
              <a:rPr lang="en-ZA" sz="2600" dirty="0" smtClean="0">
                <a:latin typeface="Arial Narrow" panose="020B0606020202030204" pitchFamily="34" charset="0"/>
              </a:rPr>
              <a:t>empty)</a:t>
            </a:r>
            <a:endParaRPr lang="en-ZA" sz="2600" dirty="0">
              <a:latin typeface="Arial Narrow" panose="020B0606020202030204" pitchFamily="34" charset="0"/>
            </a:endParaRPr>
          </a:p>
          <a:p>
            <a:pPr lvl="1"/>
            <a:r>
              <a:rPr lang="en-ZA" sz="2600" b="1" dirty="0" smtClean="0">
                <a:latin typeface="Arial Narrow" panose="020B0606020202030204" pitchFamily="34" charset="0"/>
              </a:rPr>
              <a:t>Absence </a:t>
            </a:r>
            <a:r>
              <a:rPr lang="en-ZA" sz="2600" b="1" dirty="0">
                <a:latin typeface="Arial Narrow" panose="020B0606020202030204" pitchFamily="34" charset="0"/>
              </a:rPr>
              <a:t>of sound </a:t>
            </a:r>
            <a:r>
              <a:rPr lang="en-ZA" sz="2600" dirty="0">
                <a:latin typeface="Arial Narrow" panose="020B0606020202030204" pitchFamily="34" charset="0"/>
              </a:rPr>
              <a:t>– e.g. kettle, no sound means it’s not working </a:t>
            </a:r>
            <a:endParaRPr lang="en-ZA" sz="2600" dirty="0" smtClean="0">
              <a:latin typeface="Arial Narrow" panose="020B0606020202030204" pitchFamily="34" charset="0"/>
            </a:endParaRPr>
          </a:p>
          <a:p>
            <a:pPr marL="0" indent="0">
              <a:buNone/>
            </a:pPr>
            <a:r>
              <a:rPr lang="en-ZA" sz="2600" b="1" u="sng" dirty="0">
                <a:latin typeface="Arial Narrow" panose="020B0606020202030204" pitchFamily="34" charset="0"/>
              </a:rPr>
              <a:t>GUIDELINES, PRINCIPLES AND STANDARDS </a:t>
            </a:r>
          </a:p>
          <a:p>
            <a:pPr>
              <a:buFont typeface="Wingdings" panose="05000000000000000000" pitchFamily="2" charset="2"/>
              <a:buChar char="§"/>
            </a:pPr>
            <a:r>
              <a:rPr lang="en-ZA" sz="2600" dirty="0" smtClean="0">
                <a:latin typeface="Arial Narrow" panose="020B0606020202030204" pitchFamily="34" charset="0"/>
              </a:rPr>
              <a:t>The </a:t>
            </a:r>
            <a:r>
              <a:rPr lang="en-ZA" sz="2600" dirty="0">
                <a:latin typeface="Arial Narrow" panose="020B0606020202030204" pitchFamily="34" charset="0"/>
              </a:rPr>
              <a:t>aim with design guidelines, standards and design principles </a:t>
            </a:r>
          </a:p>
          <a:p>
            <a:pPr lvl="1"/>
            <a:r>
              <a:rPr lang="en-ZA" sz="2600" dirty="0">
                <a:latin typeface="Arial Narrow" panose="020B0606020202030204" pitchFamily="34" charset="0"/>
              </a:rPr>
              <a:t>To help designers to improve the usability of their products by giving them rules</a:t>
            </a:r>
            <a:r>
              <a:rPr lang="en-ZA" sz="2600" b="1" dirty="0">
                <a:latin typeface="Arial Narrow" panose="020B0606020202030204" pitchFamily="34" charset="0"/>
              </a:rPr>
              <a:t> </a:t>
            </a:r>
            <a:r>
              <a:rPr lang="en-ZA" sz="2600" dirty="0">
                <a:latin typeface="Arial Narrow" panose="020B0606020202030204" pitchFamily="34" charset="0"/>
              </a:rPr>
              <a:t>according to which they can make design decisions </a:t>
            </a:r>
            <a:endParaRPr lang="en-ZA" sz="2600" dirty="0" smtClean="0">
              <a:latin typeface="Arial Narrow" panose="020B0606020202030204" pitchFamily="34" charset="0"/>
            </a:endParaRPr>
          </a:p>
          <a:p>
            <a:pPr marL="914400" lvl="2" indent="0">
              <a:buNone/>
            </a:pPr>
            <a:r>
              <a:rPr lang="en-ZA" sz="2600" dirty="0" smtClean="0">
                <a:latin typeface="Arial Narrow" panose="020B0606020202030204" pitchFamily="34" charset="0"/>
              </a:rPr>
              <a:t>▪ </a:t>
            </a:r>
            <a:r>
              <a:rPr lang="en-ZA" sz="2600" dirty="0">
                <a:latin typeface="Arial Narrow" panose="020B0606020202030204" pitchFamily="34" charset="0"/>
              </a:rPr>
              <a:t>Such rules restrict range of design options and prevent designer from making choices likely to harm </a:t>
            </a:r>
            <a:r>
              <a:rPr lang="en-ZA" sz="2600" dirty="0" smtClean="0">
                <a:latin typeface="Arial Narrow" panose="020B0606020202030204" pitchFamily="34" charset="0"/>
              </a:rPr>
              <a:t>usability </a:t>
            </a:r>
            <a:r>
              <a:rPr lang="en-ZA" sz="2600" dirty="0">
                <a:latin typeface="Arial Narrow" panose="020B0606020202030204" pitchFamily="34" charset="0"/>
              </a:rPr>
              <a:t>of the </a:t>
            </a:r>
            <a:r>
              <a:rPr lang="en-ZA" sz="2600" dirty="0" smtClean="0">
                <a:latin typeface="Arial Narrow" panose="020B0606020202030204" pitchFamily="34" charset="0"/>
              </a:rPr>
              <a:t>product</a:t>
            </a:r>
            <a:endParaRPr lang="en-ZA" sz="2600" dirty="0">
              <a:latin typeface="Arial Narrow" panose="020B0606020202030204" pitchFamily="34" charset="0"/>
            </a:endParaRPr>
          </a:p>
          <a:p>
            <a:endParaRPr lang="en-ZA" dirty="0"/>
          </a:p>
          <a:p>
            <a:endParaRPr lang="en-ZA" sz="2200" dirty="0">
              <a:latin typeface="Arial Narrow" panose="020B0606020202030204" pitchFamily="34" charset="0"/>
            </a:endParaRPr>
          </a:p>
          <a:p>
            <a:endParaRPr lang="en-ZA" dirty="0"/>
          </a:p>
          <a:p>
            <a:pPr>
              <a:buFont typeface="Wingdings" panose="05000000000000000000" pitchFamily="2" charset="2"/>
              <a:buChar char="§"/>
            </a:pPr>
            <a:endParaRPr lang="en-ZA" sz="2000" dirty="0">
              <a:latin typeface="Arial Narrow" panose="020B0606020202030204" pitchFamily="34" charset="0"/>
            </a:endParaRPr>
          </a:p>
          <a:p>
            <a:endParaRPr lang="en-ZA" sz="2400" dirty="0">
              <a:latin typeface="Arial Narrow" panose="020B0606020202030204" pitchFamily="34" charset="0"/>
            </a:endParaRPr>
          </a:p>
          <a:p>
            <a:endParaRPr lang="en-ZA" dirty="0"/>
          </a:p>
          <a:p>
            <a:pPr marL="0" indent="0" algn="just">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5686697" y="316871"/>
            <a:ext cx="6318198" cy="5860092"/>
          </a:xfrm>
        </p:spPr>
        <p:txBody>
          <a:bodyPr>
            <a:normAutofit fontScale="70000" lnSpcReduction="20000"/>
          </a:bodyPr>
          <a:lstStyle/>
          <a:p>
            <a:r>
              <a:rPr lang="en-ZA" sz="2600" dirty="0" smtClean="0">
                <a:latin typeface="Arial Narrow" panose="020B0606020202030204" pitchFamily="34" charset="0"/>
              </a:rPr>
              <a:t>Design rules  are classified as </a:t>
            </a:r>
            <a:r>
              <a:rPr lang="en-ZA" sz="2600" dirty="0">
                <a:latin typeface="Arial Narrow" panose="020B0606020202030204" pitchFamily="34" charset="0"/>
              </a:rPr>
              <a:t>standards or guidelines. </a:t>
            </a:r>
            <a:endParaRPr lang="en-ZA" sz="2600" dirty="0" smtClean="0">
              <a:latin typeface="Arial Narrow" panose="020B0606020202030204" pitchFamily="34" charset="0"/>
            </a:endParaRPr>
          </a:p>
          <a:p>
            <a:pPr marL="0" indent="0">
              <a:buNone/>
            </a:pPr>
            <a:r>
              <a:rPr lang="en-ZA" sz="2600" b="1" dirty="0" smtClean="0">
                <a:latin typeface="Arial Narrow" panose="020B0606020202030204" pitchFamily="34" charset="0"/>
              </a:rPr>
              <a:t>Standards </a:t>
            </a:r>
            <a:r>
              <a:rPr lang="en-ZA" sz="2600" dirty="0">
                <a:latin typeface="Arial Narrow" panose="020B0606020202030204" pitchFamily="34" charset="0"/>
              </a:rPr>
              <a:t>- </a:t>
            </a:r>
            <a:r>
              <a:rPr lang="en-ZA" sz="2600" dirty="0" smtClean="0">
                <a:latin typeface="Arial Narrow" panose="020B0606020202030204" pitchFamily="34" charset="0"/>
              </a:rPr>
              <a:t>usually </a:t>
            </a:r>
            <a:r>
              <a:rPr lang="en-ZA" sz="2600" dirty="0">
                <a:latin typeface="Arial Narrow" panose="020B0606020202030204" pitchFamily="34" charset="0"/>
              </a:rPr>
              <a:t>set by national or international bodies and are authoritative and limited in application. </a:t>
            </a:r>
            <a:endParaRPr lang="en-ZA" sz="2600" dirty="0" smtClean="0">
              <a:latin typeface="Arial Narrow" panose="020B0606020202030204" pitchFamily="34" charset="0"/>
            </a:endParaRPr>
          </a:p>
          <a:p>
            <a:pPr marL="0" indent="0">
              <a:buNone/>
            </a:pPr>
            <a:r>
              <a:rPr lang="en-ZA" sz="2600" b="1" dirty="0" smtClean="0">
                <a:latin typeface="Arial Narrow" panose="020B0606020202030204" pitchFamily="34" charset="0"/>
              </a:rPr>
              <a:t>Guidelines </a:t>
            </a:r>
            <a:r>
              <a:rPr lang="en-ZA" sz="2600" dirty="0">
                <a:latin typeface="Arial Narrow" panose="020B0606020202030204" pitchFamily="34" charset="0"/>
              </a:rPr>
              <a:t>- more general in application. </a:t>
            </a:r>
          </a:p>
          <a:p>
            <a:pPr marL="0" indent="0">
              <a:buNone/>
            </a:pPr>
            <a:r>
              <a:rPr lang="en-ZA" sz="2600" b="1" u="sng" dirty="0">
                <a:latin typeface="Arial Narrow" panose="020B0606020202030204" pitchFamily="34" charset="0"/>
              </a:rPr>
              <a:t>There are 2 types of design guidelines: </a:t>
            </a:r>
          </a:p>
          <a:p>
            <a:pPr>
              <a:buFont typeface="Wingdings" panose="05000000000000000000" pitchFamily="2" charset="2"/>
              <a:buChar char="§"/>
            </a:pPr>
            <a:r>
              <a:rPr lang="en-ZA" sz="2600" dirty="0" smtClean="0">
                <a:latin typeface="Arial Narrow" panose="020B0606020202030204" pitchFamily="34" charset="0"/>
              </a:rPr>
              <a:t>Low-level </a:t>
            </a:r>
            <a:r>
              <a:rPr lang="en-ZA" sz="2600" dirty="0">
                <a:latin typeface="Arial Narrow" panose="020B0606020202030204" pitchFamily="34" charset="0"/>
              </a:rPr>
              <a:t>detailed rules </a:t>
            </a:r>
            <a:endParaRPr lang="en-ZA" sz="2600" dirty="0" smtClean="0">
              <a:latin typeface="Arial Narrow" panose="020B0606020202030204" pitchFamily="34" charset="0"/>
            </a:endParaRPr>
          </a:p>
          <a:p>
            <a:pPr lvl="1"/>
            <a:r>
              <a:rPr lang="en-ZA" sz="2600" dirty="0" smtClean="0">
                <a:latin typeface="Arial Narrow" panose="020B0606020202030204" pitchFamily="34" charset="0"/>
              </a:rPr>
              <a:t>Instructions </a:t>
            </a:r>
            <a:r>
              <a:rPr lang="en-ZA" sz="2600" dirty="0">
                <a:latin typeface="Arial Narrow" panose="020B0606020202030204" pitchFamily="34" charset="0"/>
              </a:rPr>
              <a:t>that are application specific and do not need much interpretation. </a:t>
            </a:r>
          </a:p>
          <a:p>
            <a:pPr>
              <a:buFont typeface="Wingdings" panose="05000000000000000000" pitchFamily="2" charset="2"/>
              <a:buChar char="§"/>
            </a:pPr>
            <a:r>
              <a:rPr lang="en-ZA" sz="2600" dirty="0" smtClean="0">
                <a:latin typeface="Arial Narrow" panose="020B0606020202030204" pitchFamily="34" charset="0"/>
              </a:rPr>
              <a:t>High-level </a:t>
            </a:r>
            <a:r>
              <a:rPr lang="en-ZA" sz="2600" dirty="0">
                <a:latin typeface="Arial Narrow" panose="020B0606020202030204" pitchFamily="34" charset="0"/>
              </a:rPr>
              <a:t>directing principles </a:t>
            </a:r>
            <a:endParaRPr lang="en-ZA" sz="2600" dirty="0" smtClean="0">
              <a:latin typeface="Arial Narrow" panose="020B0606020202030204" pitchFamily="34" charset="0"/>
            </a:endParaRPr>
          </a:p>
          <a:p>
            <a:pPr lvl="1"/>
            <a:r>
              <a:rPr lang="en-ZA" sz="2600" dirty="0" smtClean="0">
                <a:latin typeface="Arial Narrow" panose="020B0606020202030204" pitchFamily="34" charset="0"/>
              </a:rPr>
              <a:t>Relatively </a:t>
            </a:r>
            <a:r>
              <a:rPr lang="en-ZA" sz="2600" dirty="0">
                <a:latin typeface="Arial Narrow" panose="020B0606020202030204" pitchFamily="34" charset="0"/>
              </a:rPr>
              <a:t>abstract and apply to different systems </a:t>
            </a:r>
          </a:p>
          <a:p>
            <a:pPr marL="0" indent="0">
              <a:buNone/>
            </a:pPr>
            <a:r>
              <a:rPr lang="en-ZA" sz="2600" b="1" dirty="0">
                <a:latin typeface="Arial Narrow" panose="020B0606020202030204" pitchFamily="34" charset="0"/>
              </a:rPr>
              <a:t>The difference between design principles and usability principles</a:t>
            </a:r>
            <a:r>
              <a:rPr lang="en-ZA" sz="2600" dirty="0">
                <a:latin typeface="Arial Narrow" panose="020B0606020202030204" pitchFamily="34" charset="0"/>
              </a:rPr>
              <a:t>: </a:t>
            </a:r>
          </a:p>
          <a:p>
            <a:pPr>
              <a:buFont typeface="Wingdings" panose="05000000000000000000" pitchFamily="2" charset="2"/>
              <a:buChar char="§"/>
            </a:pPr>
            <a:r>
              <a:rPr lang="en-ZA" sz="2600" dirty="0">
                <a:latin typeface="Arial Narrow" panose="020B0606020202030204" pitchFamily="34" charset="0"/>
              </a:rPr>
              <a:t>Design principles usually inform the design of a system </a:t>
            </a:r>
          </a:p>
          <a:p>
            <a:pPr>
              <a:buFont typeface="Wingdings" panose="05000000000000000000" pitchFamily="2" charset="2"/>
              <a:buChar char="§"/>
            </a:pPr>
            <a:r>
              <a:rPr lang="en-ZA" sz="2600" dirty="0" smtClean="0">
                <a:latin typeface="Arial Narrow" panose="020B0606020202030204" pitchFamily="34" charset="0"/>
              </a:rPr>
              <a:t>Usability </a:t>
            </a:r>
            <a:r>
              <a:rPr lang="en-ZA" sz="2600" dirty="0">
                <a:latin typeface="Arial Narrow" panose="020B0606020202030204" pitchFamily="34" charset="0"/>
              </a:rPr>
              <a:t>principles </a:t>
            </a:r>
            <a:endParaRPr lang="en-ZA" sz="2600" dirty="0" smtClean="0">
              <a:latin typeface="Arial Narrow" panose="020B0606020202030204" pitchFamily="34" charset="0"/>
            </a:endParaRPr>
          </a:p>
          <a:p>
            <a:pPr lvl="1"/>
            <a:r>
              <a:rPr lang="en-ZA" sz="2600" dirty="0" smtClean="0">
                <a:latin typeface="Arial Narrow" panose="020B0606020202030204" pitchFamily="34" charset="0"/>
              </a:rPr>
              <a:t>mostly </a:t>
            </a:r>
            <a:r>
              <a:rPr lang="en-ZA" sz="2600" dirty="0">
                <a:latin typeface="Arial Narrow" panose="020B0606020202030204" pitchFamily="34" charset="0"/>
              </a:rPr>
              <a:t>used as basis for evaluating prototypes and complete systems </a:t>
            </a:r>
          </a:p>
          <a:p>
            <a:pPr lvl="1"/>
            <a:r>
              <a:rPr lang="en-ZA" sz="2600" dirty="0" smtClean="0">
                <a:latin typeface="Arial Narrow" panose="020B0606020202030204" pitchFamily="34" charset="0"/>
              </a:rPr>
              <a:t>can </a:t>
            </a:r>
            <a:r>
              <a:rPr lang="en-ZA" sz="2600" dirty="0">
                <a:latin typeface="Arial Narrow" panose="020B0606020202030204" pitchFamily="34" charset="0"/>
              </a:rPr>
              <a:t>be more prescriptive than design principles </a:t>
            </a:r>
          </a:p>
          <a:p>
            <a:r>
              <a:rPr lang="en-ZA" sz="2600" dirty="0">
                <a:latin typeface="Arial Narrow" panose="020B0606020202030204" pitchFamily="34" charset="0"/>
              </a:rPr>
              <a:t>In practice, some design or usability principles are referred to as “</a:t>
            </a:r>
            <a:r>
              <a:rPr lang="en-ZA" sz="2600" b="1" dirty="0">
                <a:latin typeface="Arial Narrow" panose="020B0606020202030204" pitchFamily="34" charset="0"/>
              </a:rPr>
              <a:t>heuristics</a:t>
            </a:r>
            <a:r>
              <a:rPr lang="en-ZA" sz="2600" dirty="0">
                <a:latin typeface="Arial Narrow" panose="020B0606020202030204" pitchFamily="34" charset="0"/>
              </a:rPr>
              <a:t>” </a:t>
            </a:r>
          </a:p>
          <a:p>
            <a:pPr marL="0" indent="0">
              <a:buNone/>
            </a:pPr>
            <a:r>
              <a:rPr lang="en-ZA" sz="2600" dirty="0">
                <a:latin typeface="Arial Narrow" panose="020B0606020202030204" pitchFamily="34" charset="0"/>
              </a:rPr>
              <a:t>Next are some of the most prominent sets of guidelines, namely those of Dix et al (2014), Preece et al (2007), Preece et al (2019) and </a:t>
            </a:r>
            <a:r>
              <a:rPr lang="en-ZA" sz="2600" dirty="0" err="1">
                <a:latin typeface="Arial Narrow" panose="020B0606020202030204" pitchFamily="34" charset="0"/>
              </a:rPr>
              <a:t>Shneiderman</a:t>
            </a:r>
            <a:r>
              <a:rPr lang="en-ZA" sz="2600" dirty="0">
                <a:latin typeface="Arial Narrow" panose="020B0606020202030204" pitchFamily="34" charset="0"/>
              </a:rPr>
              <a:t> (1998). </a:t>
            </a:r>
          </a:p>
          <a:p>
            <a:pPr marL="0" indent="0">
              <a:buNone/>
            </a:pPr>
            <a:endParaRPr lang="en-ZA" dirty="0"/>
          </a:p>
          <a:p>
            <a:pPr marL="0" indent="0">
              <a:buNone/>
            </a:pPr>
            <a:endParaRPr lang="en-ZA" sz="2000" b="1"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34852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4502" y="235390"/>
            <a:ext cx="4293327" cy="5137799"/>
          </a:xfrm>
        </p:spPr>
        <p:txBody>
          <a:bodyPr>
            <a:normAutofit fontScale="92500" lnSpcReduction="20000"/>
          </a:bodyPr>
          <a:lstStyle/>
          <a:p>
            <a:pPr marL="0" indent="0">
              <a:buNone/>
            </a:pPr>
            <a:r>
              <a:rPr lang="en-ZA" sz="2000" b="1" dirty="0">
                <a:latin typeface="Arial Narrow" panose="020B0606020202030204" pitchFamily="34" charset="0"/>
              </a:rPr>
              <a:t> </a:t>
            </a:r>
            <a:r>
              <a:rPr lang="en-ZA" sz="2000" b="1" dirty="0" smtClean="0">
                <a:latin typeface="Arial Narrow" panose="020B0606020202030204" pitchFamily="34" charset="0"/>
              </a:rPr>
              <a:t> </a:t>
            </a:r>
            <a:r>
              <a:rPr lang="en-ZA" sz="2400" b="1" dirty="0" smtClean="0">
                <a:latin typeface="Arial Narrow" panose="020B0606020202030204" pitchFamily="34" charset="0"/>
              </a:rPr>
              <a:t>DIX</a:t>
            </a:r>
            <a:r>
              <a:rPr lang="en-ZA" sz="2400" b="1" dirty="0">
                <a:latin typeface="Arial Narrow" panose="020B0606020202030204" pitchFamily="34" charset="0"/>
              </a:rPr>
              <a:t>, FINLAY, ABOWD AND BEALE </a:t>
            </a:r>
            <a:endParaRPr lang="en-ZA" sz="2400" dirty="0">
              <a:latin typeface="Arial Narrow" panose="020B0606020202030204" pitchFamily="34" charset="0"/>
            </a:endParaRPr>
          </a:p>
          <a:p>
            <a:pPr marL="0" indent="0">
              <a:buNone/>
            </a:pPr>
            <a:r>
              <a:rPr lang="en-ZA" sz="2400" b="1" dirty="0">
                <a:latin typeface="Arial Narrow" panose="020B0606020202030204" pitchFamily="34" charset="0"/>
              </a:rPr>
              <a:t>Dix et al (2014) </a:t>
            </a:r>
            <a:endParaRPr lang="en-ZA" sz="2400" dirty="0">
              <a:latin typeface="Arial Narrow" panose="020B0606020202030204" pitchFamily="34" charset="0"/>
            </a:endParaRPr>
          </a:p>
          <a:p>
            <a:pPr>
              <a:buFont typeface="Wingdings" panose="05000000000000000000" pitchFamily="2" charset="2"/>
              <a:buChar char="§"/>
            </a:pPr>
            <a:r>
              <a:rPr lang="en-ZA" sz="2400" dirty="0" smtClean="0">
                <a:latin typeface="Arial Narrow" panose="020B0606020202030204" pitchFamily="34" charset="0"/>
              </a:rPr>
              <a:t>Provide </a:t>
            </a:r>
            <a:r>
              <a:rPr lang="en-ZA" sz="2400" dirty="0">
                <a:latin typeface="Arial Narrow" panose="020B0606020202030204" pitchFamily="34" charset="0"/>
              </a:rPr>
              <a:t>interface designers with a comprehensive set of high-level directing principles with the aim of improving the usability of interactive systems. </a:t>
            </a:r>
          </a:p>
          <a:p>
            <a:pPr marL="0" indent="0">
              <a:buNone/>
            </a:pPr>
            <a:r>
              <a:rPr lang="en-ZA" sz="2400" dirty="0" smtClean="0">
                <a:latin typeface="Arial Narrow" panose="020B0606020202030204" pitchFamily="34" charset="0"/>
              </a:rPr>
              <a:t>Divide </a:t>
            </a:r>
            <a:r>
              <a:rPr lang="en-ZA" sz="2400" dirty="0">
                <a:latin typeface="Arial Narrow" panose="020B0606020202030204" pitchFamily="34" charset="0"/>
              </a:rPr>
              <a:t>principles into three categories </a:t>
            </a:r>
            <a:endParaRPr lang="en-ZA" sz="2400" dirty="0" smtClean="0">
              <a:latin typeface="Arial Narrow" panose="020B0606020202030204" pitchFamily="34" charset="0"/>
            </a:endParaRPr>
          </a:p>
          <a:p>
            <a:pPr marL="457200" lvl="1" indent="0">
              <a:buNone/>
            </a:pPr>
            <a:r>
              <a:rPr lang="en-ZA" dirty="0" smtClean="0">
                <a:latin typeface="Arial Narrow" panose="020B0606020202030204" pitchFamily="34" charset="0"/>
              </a:rPr>
              <a:t>1</a:t>
            </a:r>
            <a:r>
              <a:rPr lang="en-ZA" dirty="0">
                <a:latin typeface="Arial Narrow" panose="020B0606020202030204" pitchFamily="34" charset="0"/>
              </a:rPr>
              <a:t>. </a:t>
            </a:r>
            <a:r>
              <a:rPr lang="en-ZA" b="1" dirty="0">
                <a:latin typeface="Arial Narrow" panose="020B0606020202030204" pitchFamily="34" charset="0"/>
              </a:rPr>
              <a:t>Learnability </a:t>
            </a:r>
            <a:r>
              <a:rPr lang="en-ZA" dirty="0">
                <a:latin typeface="Arial Narrow" panose="020B0606020202030204" pitchFamily="34" charset="0"/>
              </a:rPr>
              <a:t>principles </a:t>
            </a:r>
          </a:p>
          <a:p>
            <a:pPr marL="457200" lvl="1" indent="0">
              <a:buNone/>
            </a:pPr>
            <a:r>
              <a:rPr lang="en-ZA" dirty="0">
                <a:latin typeface="Arial Narrow" panose="020B0606020202030204" pitchFamily="34" charset="0"/>
              </a:rPr>
              <a:t>2. </a:t>
            </a:r>
            <a:r>
              <a:rPr lang="en-ZA" b="1" dirty="0">
                <a:latin typeface="Arial Narrow" panose="020B0606020202030204" pitchFamily="34" charset="0"/>
              </a:rPr>
              <a:t>Flexibility </a:t>
            </a:r>
            <a:r>
              <a:rPr lang="en-ZA" dirty="0">
                <a:latin typeface="Arial Narrow" panose="020B0606020202030204" pitchFamily="34" charset="0"/>
              </a:rPr>
              <a:t>principles </a:t>
            </a:r>
          </a:p>
          <a:p>
            <a:pPr marL="457200" lvl="1" indent="0">
              <a:buNone/>
            </a:pPr>
            <a:r>
              <a:rPr lang="en-ZA" dirty="0">
                <a:latin typeface="Arial Narrow" panose="020B0606020202030204" pitchFamily="34" charset="0"/>
              </a:rPr>
              <a:t>3. </a:t>
            </a:r>
            <a:r>
              <a:rPr lang="en-ZA" b="1" dirty="0">
                <a:latin typeface="Arial Narrow" panose="020B0606020202030204" pitchFamily="34" charset="0"/>
              </a:rPr>
              <a:t>Robustness </a:t>
            </a:r>
            <a:r>
              <a:rPr lang="en-ZA" dirty="0">
                <a:latin typeface="Arial Narrow" panose="020B0606020202030204" pitchFamily="34" charset="0"/>
              </a:rPr>
              <a:t>principles </a:t>
            </a:r>
          </a:p>
          <a:p>
            <a:pPr>
              <a:buFont typeface="Wingdings" panose="05000000000000000000" pitchFamily="2" charset="2"/>
              <a:buChar char="Ø"/>
            </a:pPr>
            <a:r>
              <a:rPr lang="en-ZA" sz="2400" b="1" dirty="0">
                <a:latin typeface="Arial Narrow" panose="020B0606020202030204" pitchFamily="34" charset="0"/>
              </a:rPr>
              <a:t>Learnability </a:t>
            </a:r>
            <a:endParaRPr lang="en-ZA" sz="2400" b="1" dirty="0" smtClean="0">
              <a:latin typeface="Arial Narrow" panose="020B0606020202030204" pitchFamily="34" charset="0"/>
            </a:endParaRPr>
          </a:p>
          <a:p>
            <a:pPr marL="0" indent="0">
              <a:buNone/>
            </a:pPr>
            <a:r>
              <a:rPr lang="en-ZA" sz="2400" dirty="0" smtClean="0">
                <a:latin typeface="Arial Narrow" panose="020B0606020202030204" pitchFamily="34" charset="0"/>
              </a:rPr>
              <a:t>Refers </a:t>
            </a:r>
            <a:r>
              <a:rPr lang="en-ZA" sz="2400" dirty="0">
                <a:latin typeface="Arial Narrow" panose="020B0606020202030204" pitchFamily="34" charset="0"/>
              </a:rPr>
              <a:t>to </a:t>
            </a:r>
            <a:r>
              <a:rPr lang="en-ZA" sz="2400" dirty="0" smtClean="0">
                <a:latin typeface="Arial Narrow" panose="020B0606020202030204" pitchFamily="34" charset="0"/>
              </a:rPr>
              <a:t>the ease where users </a:t>
            </a:r>
            <a:r>
              <a:rPr lang="en-ZA" sz="2400" dirty="0">
                <a:latin typeface="Arial Narrow" panose="020B0606020202030204" pitchFamily="34" charset="0"/>
              </a:rPr>
              <a:t>can enter a new system and reach a maximal level of performance. </a:t>
            </a:r>
          </a:p>
          <a:p>
            <a:r>
              <a:rPr lang="en-ZA" sz="2400" dirty="0">
                <a:latin typeface="Arial Narrow" panose="020B0606020202030204" pitchFamily="34" charset="0"/>
              </a:rPr>
              <a:t>Five principles affect the learnability of a computer-based system: </a:t>
            </a:r>
          </a:p>
        </p:txBody>
      </p:sp>
      <p:pic>
        <p:nvPicPr>
          <p:cNvPr id="2" name="Content Placeholder 1"/>
          <p:cNvPicPr>
            <a:picLocks noGrp="1" noChangeAspect="1"/>
          </p:cNvPicPr>
          <p:nvPr>
            <p:ph sz="half" idx="2"/>
          </p:nvPr>
        </p:nvPicPr>
        <p:blipFill>
          <a:blip r:embed="rId2"/>
          <a:stretch>
            <a:fillRect/>
          </a:stretch>
        </p:blipFill>
        <p:spPr>
          <a:xfrm>
            <a:off x="4911633" y="235390"/>
            <a:ext cx="7149738" cy="5924168"/>
          </a:xfrm>
          <a:prstGeom prst="rect">
            <a:avLst/>
          </a:prstGeom>
        </p:spPr>
      </p:pic>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139311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3498" y="162962"/>
            <a:ext cx="5287224" cy="6014001"/>
          </a:xfrm>
        </p:spPr>
        <p:txBody>
          <a:bodyPr>
            <a:normAutofit/>
          </a:bodyPr>
          <a:lstStyle/>
          <a:p>
            <a:pPr marL="0" indent="0">
              <a:buNone/>
            </a:pPr>
            <a:endParaRPr lang="en-ZA" sz="2000" b="1" u="sng" dirty="0" smtClean="0">
              <a:latin typeface="Arial Narrow" panose="020B0606020202030204" pitchFamily="34" charset="0"/>
            </a:endParaRPr>
          </a:p>
          <a:p>
            <a:pPr marL="0" indent="0">
              <a:buNone/>
            </a:pPr>
            <a:endParaRPr lang="en-ZA" sz="2000" b="1" u="sng" dirty="0">
              <a:latin typeface="Arial Narrow" panose="020B0606020202030204" pitchFamily="34" charset="0"/>
            </a:endParaRPr>
          </a:p>
          <a:p>
            <a:pPr marL="0" indent="0">
              <a:buNone/>
            </a:pPr>
            <a:r>
              <a:rPr lang="en-ZA" sz="2000" b="1" u="sng" dirty="0" smtClean="0">
                <a:latin typeface="Arial Narrow" panose="020B0606020202030204" pitchFamily="34" charset="0"/>
              </a:rPr>
              <a:t>Principles </a:t>
            </a:r>
            <a:r>
              <a:rPr lang="en-ZA" sz="2000" b="1" u="sng" dirty="0">
                <a:latin typeface="Arial Narrow" panose="020B0606020202030204" pitchFamily="34" charset="0"/>
              </a:rPr>
              <a:t>that relate to Learnability principles </a:t>
            </a:r>
            <a:endParaRPr lang="en-ZA" sz="2000" b="1" u="sng" dirty="0" smtClean="0">
              <a:latin typeface="Arial Narrow" panose="020B0606020202030204" pitchFamily="34" charset="0"/>
            </a:endParaRPr>
          </a:p>
          <a:p>
            <a:pPr marL="0" indent="0">
              <a:buNone/>
            </a:pPr>
            <a:endParaRPr lang="en-ZA" sz="2000" dirty="0">
              <a:latin typeface="Arial Narrow" panose="020B0606020202030204" pitchFamily="34" charset="0"/>
            </a:endParaRPr>
          </a:p>
          <a:p>
            <a:pPr marL="0" indent="0">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5758004" y="162962"/>
            <a:ext cx="6237838" cy="6014001"/>
          </a:xfrm>
        </p:spPr>
        <p:txBody>
          <a:bodyPr>
            <a:noAutofit/>
          </a:bodyPr>
          <a:lstStyle/>
          <a:p>
            <a:pPr>
              <a:buFont typeface="Wingdings" panose="05000000000000000000" pitchFamily="2" charset="2"/>
              <a:buChar char="Ø"/>
            </a:pPr>
            <a:r>
              <a:rPr lang="en-ZA" sz="1800" b="1" dirty="0">
                <a:latin typeface="Arial Narrow" panose="020B0606020202030204" pitchFamily="34" charset="0"/>
              </a:rPr>
              <a:t>Flexibility </a:t>
            </a:r>
            <a:endParaRPr lang="en-ZA" sz="1800" dirty="0">
              <a:latin typeface="Arial Narrow" panose="020B0606020202030204" pitchFamily="34" charset="0"/>
            </a:endParaRPr>
          </a:p>
          <a:p>
            <a:r>
              <a:rPr lang="en-ZA" sz="1800" dirty="0">
                <a:latin typeface="Arial Narrow" panose="020B0606020202030204" pitchFamily="34" charset="0"/>
              </a:rPr>
              <a:t>Refers to the many ways in which interaction between the user and the system can take place. </a:t>
            </a:r>
          </a:p>
          <a:p>
            <a:pPr marL="0" indent="0">
              <a:buNone/>
            </a:pPr>
            <a:r>
              <a:rPr lang="en-ZA" sz="1800" b="1" u="sng" dirty="0">
                <a:latin typeface="Arial Narrow" panose="020B0606020202030204" pitchFamily="34" charset="0"/>
              </a:rPr>
              <a:t>Principles that affect </a:t>
            </a:r>
            <a:r>
              <a:rPr lang="en-ZA" sz="1800" b="1" u="sng" dirty="0" smtClean="0">
                <a:latin typeface="Arial Narrow" panose="020B0606020202030204" pitchFamily="34" charset="0"/>
              </a:rPr>
              <a:t>Flexibility </a:t>
            </a:r>
            <a:r>
              <a:rPr lang="en-US" sz="1800" b="1" u="sng" dirty="0" smtClean="0">
                <a:latin typeface="Arial Narrow" panose="020B0606020202030204" pitchFamily="34" charset="0"/>
              </a:rPr>
              <a:t> </a:t>
            </a:r>
          </a:p>
          <a:p>
            <a:pPr marL="0" indent="0">
              <a:buNone/>
            </a:pPr>
            <a:endParaRPr lang="en-ZA" sz="1800" b="1" u="sng"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6" name="Picture 5"/>
          <p:cNvPicPr>
            <a:picLocks noChangeAspect="1"/>
          </p:cNvPicPr>
          <p:nvPr/>
        </p:nvPicPr>
        <p:blipFill>
          <a:blip r:embed="rId2"/>
          <a:stretch>
            <a:fillRect/>
          </a:stretch>
        </p:blipFill>
        <p:spPr>
          <a:xfrm>
            <a:off x="357485" y="1878193"/>
            <a:ext cx="4989578" cy="3686583"/>
          </a:xfrm>
          <a:prstGeom prst="rect">
            <a:avLst/>
          </a:prstGeom>
        </p:spPr>
      </p:pic>
      <p:pic>
        <p:nvPicPr>
          <p:cNvPr id="7" name="Picture 6"/>
          <p:cNvPicPr>
            <a:picLocks noChangeAspect="1"/>
          </p:cNvPicPr>
          <p:nvPr/>
        </p:nvPicPr>
        <p:blipFill>
          <a:blip r:embed="rId3"/>
          <a:stretch>
            <a:fillRect/>
          </a:stretch>
        </p:blipFill>
        <p:spPr>
          <a:xfrm>
            <a:off x="5758005" y="1680754"/>
            <a:ext cx="6237838" cy="4496209"/>
          </a:xfrm>
          <a:prstGeom prst="rect">
            <a:avLst/>
          </a:prstGeom>
        </p:spPr>
      </p:pic>
    </p:spTree>
    <p:extLst>
      <p:ext uri="{BB962C8B-B14F-4D97-AF65-F5344CB8AC3E}">
        <p14:creationId xmlns:p14="http://schemas.microsoft.com/office/powerpoint/2010/main" val="316417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56838" cy="6014001"/>
          </a:xfrm>
        </p:spPr>
        <p:txBody>
          <a:bodyPr>
            <a:normAutofit/>
          </a:bodyPr>
          <a:lstStyle/>
          <a:p>
            <a:pPr marL="0" indent="0">
              <a:buNone/>
            </a:pPr>
            <a:r>
              <a:rPr lang="en-ZA" sz="2000" b="1" u="sng" dirty="0">
                <a:latin typeface="Arial Narrow" panose="020B0606020202030204" pitchFamily="34" charset="0"/>
              </a:rPr>
              <a:t>Principles that relate to Flexibility </a:t>
            </a:r>
            <a:r>
              <a:rPr lang="en-ZA" sz="2000" b="1" u="sng" dirty="0" smtClean="0">
                <a:latin typeface="Arial Narrow" panose="020B0606020202030204" pitchFamily="34" charset="0"/>
              </a:rPr>
              <a:t>principles</a:t>
            </a:r>
          </a:p>
          <a:p>
            <a:pPr marL="0" indent="0">
              <a:buNone/>
            </a:pPr>
            <a:r>
              <a:rPr lang="en-ZA" sz="1700" b="1" dirty="0" smtClean="0">
                <a:latin typeface="Arial Narrow" panose="020B0606020202030204" pitchFamily="34" charset="0"/>
              </a:rPr>
              <a:t>Principle		Explanation </a:t>
            </a:r>
            <a:endParaRPr lang="en-ZA" sz="1700" b="1"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014001"/>
          </a:xfrm>
        </p:spPr>
        <p:txBody>
          <a:bodyPr>
            <a:normAutofit/>
          </a:bodyPr>
          <a:lstStyle/>
          <a:p>
            <a:pPr>
              <a:buFont typeface="Wingdings" panose="05000000000000000000" pitchFamily="2" charset="2"/>
              <a:buChar char="Ø"/>
            </a:pPr>
            <a:r>
              <a:rPr lang="en-ZA" sz="2000" b="1" dirty="0" smtClean="0">
                <a:latin typeface="Arial Narrow" panose="020B0606020202030204" pitchFamily="34" charset="0"/>
              </a:rPr>
              <a:t>Robustness: </a:t>
            </a:r>
            <a:r>
              <a:rPr lang="en-ZA" sz="2000" dirty="0" smtClean="0">
                <a:latin typeface="Arial Narrow" panose="020B0606020202030204" pitchFamily="34" charset="0"/>
              </a:rPr>
              <a:t>Refers </a:t>
            </a:r>
            <a:r>
              <a:rPr lang="en-ZA" sz="2000" dirty="0">
                <a:latin typeface="Arial Narrow" panose="020B0606020202030204" pitchFamily="34" charset="0"/>
              </a:rPr>
              <a:t>to the level of support that users is given for the successful achievement and assessment of their goals. </a:t>
            </a:r>
            <a:endParaRPr lang="en-ZA" sz="2000" dirty="0" smtClean="0">
              <a:latin typeface="Arial Narrow" panose="020B0606020202030204" pitchFamily="34" charset="0"/>
            </a:endParaRPr>
          </a:p>
          <a:p>
            <a:pPr marL="0" indent="0">
              <a:buNone/>
            </a:pPr>
            <a:r>
              <a:rPr lang="en-ZA" sz="2000" b="1" u="sng" dirty="0">
                <a:latin typeface="Arial Narrow" panose="020B0606020202030204" pitchFamily="34" charset="0"/>
              </a:rPr>
              <a:t>Principles that affect Robustness </a:t>
            </a:r>
            <a:endParaRPr lang="en-ZA" sz="2000" b="1" u="sng" dirty="0" smtClean="0">
              <a:latin typeface="Arial Narrow" panose="020B0606020202030204" pitchFamily="34" charset="0"/>
            </a:endParaRPr>
          </a:p>
          <a:p>
            <a:pPr marL="0" indent="0">
              <a:buNone/>
            </a:pPr>
            <a:endParaRPr lang="en-ZA" sz="2000" b="1" u="sng"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2" name="Picture 1"/>
          <p:cNvPicPr>
            <a:picLocks noChangeAspect="1"/>
          </p:cNvPicPr>
          <p:nvPr/>
        </p:nvPicPr>
        <p:blipFill>
          <a:blip r:embed="rId2"/>
          <a:stretch>
            <a:fillRect/>
          </a:stretch>
        </p:blipFill>
        <p:spPr>
          <a:xfrm>
            <a:off x="5281" y="836023"/>
            <a:ext cx="6014519" cy="5430633"/>
          </a:xfrm>
          <a:prstGeom prst="rect">
            <a:avLst/>
          </a:prstGeom>
        </p:spPr>
      </p:pic>
      <p:pic>
        <p:nvPicPr>
          <p:cNvPr id="6" name="Picture 5"/>
          <p:cNvPicPr>
            <a:picLocks noChangeAspect="1"/>
          </p:cNvPicPr>
          <p:nvPr/>
        </p:nvPicPr>
        <p:blipFill>
          <a:blip r:embed="rId3"/>
          <a:stretch>
            <a:fillRect/>
          </a:stretch>
        </p:blipFill>
        <p:spPr>
          <a:xfrm>
            <a:off x="6172199" y="1515291"/>
            <a:ext cx="5841749" cy="4751365"/>
          </a:xfrm>
          <a:prstGeom prst="rect">
            <a:avLst/>
          </a:prstGeom>
        </p:spPr>
      </p:pic>
    </p:spTree>
    <p:extLst>
      <p:ext uri="{BB962C8B-B14F-4D97-AF65-F5344CB8AC3E}">
        <p14:creationId xmlns:p14="http://schemas.microsoft.com/office/powerpoint/2010/main" val="348742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56838" cy="6129196"/>
          </a:xfrm>
        </p:spPr>
        <p:txBody>
          <a:bodyPr>
            <a:noAutofit/>
          </a:bodyPr>
          <a:lstStyle/>
          <a:p>
            <a:pPr marL="0" indent="0" algn="just">
              <a:buNone/>
            </a:pPr>
            <a:r>
              <a:rPr lang="en-ZA" sz="2000" b="1" u="sng" dirty="0">
                <a:latin typeface="Arial Narrow" panose="020B0606020202030204" pitchFamily="34" charset="0"/>
              </a:rPr>
              <a:t>Principles that relate to Robustness </a:t>
            </a:r>
            <a:r>
              <a:rPr lang="en-ZA" sz="2000" b="1" u="sng" dirty="0" smtClean="0">
                <a:latin typeface="Arial Narrow" panose="020B0606020202030204" pitchFamily="34" charset="0"/>
              </a:rPr>
              <a:t>principles</a:t>
            </a:r>
          </a:p>
          <a:p>
            <a:pPr marL="0" indent="0" algn="just">
              <a:buNone/>
            </a:pPr>
            <a:r>
              <a:rPr lang="en-ZA" sz="1600" b="1" dirty="0" smtClean="0">
                <a:latin typeface="Arial Narrow" panose="020B0606020202030204" pitchFamily="34" charset="0"/>
              </a:rPr>
              <a:t>Principle 	                   Explanation </a:t>
            </a:r>
          </a:p>
          <a:p>
            <a:pPr marL="0" indent="0" algn="just">
              <a:buNone/>
            </a:pPr>
            <a:endParaRPr lang="en-ZA" sz="2000" b="1" u="sng"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193388"/>
          </a:xfrm>
        </p:spPr>
        <p:txBody>
          <a:bodyPr>
            <a:normAutofit/>
          </a:bodyPr>
          <a:lstStyle/>
          <a:p>
            <a:pPr marL="0" indent="0">
              <a:buNone/>
            </a:pPr>
            <a:r>
              <a:rPr lang="en-ZA" sz="1800" b="1" dirty="0">
                <a:latin typeface="Arial Narrow" panose="020B0606020202030204" pitchFamily="34" charset="0"/>
              </a:rPr>
              <a:t>Preece, Rogers and Sharp </a:t>
            </a:r>
            <a:endParaRPr lang="en-ZA" sz="1800" dirty="0">
              <a:latin typeface="Arial Narrow" panose="020B0606020202030204" pitchFamily="34" charset="0"/>
            </a:endParaRPr>
          </a:p>
          <a:p>
            <a:pPr marL="0" indent="0">
              <a:buNone/>
            </a:pPr>
            <a:r>
              <a:rPr lang="en-ZA" sz="1800" dirty="0">
                <a:latin typeface="Arial Narrow" panose="020B0606020202030204" pitchFamily="34" charset="0"/>
              </a:rPr>
              <a:t>Preece et al (2019) - 2 types of design goals in interaction design: </a:t>
            </a:r>
          </a:p>
          <a:p>
            <a:pPr>
              <a:buFont typeface="Wingdings" panose="05000000000000000000" pitchFamily="2" charset="2"/>
              <a:buChar char="§"/>
            </a:pPr>
            <a:r>
              <a:rPr lang="en-ZA" sz="1800" b="1" dirty="0" smtClean="0">
                <a:latin typeface="Arial Narrow" panose="020B0606020202030204" pitchFamily="34" charset="0"/>
              </a:rPr>
              <a:t>Usability </a:t>
            </a:r>
            <a:r>
              <a:rPr lang="en-ZA" sz="1800" b="1" dirty="0">
                <a:latin typeface="Arial Narrow" panose="020B0606020202030204" pitchFamily="34" charset="0"/>
              </a:rPr>
              <a:t>goals </a:t>
            </a:r>
            <a:endParaRPr lang="en-ZA" sz="1800" b="1" dirty="0" smtClean="0">
              <a:latin typeface="Arial Narrow" panose="020B0606020202030204" pitchFamily="34" charset="0"/>
            </a:endParaRPr>
          </a:p>
          <a:p>
            <a:pPr lvl="1"/>
            <a:r>
              <a:rPr lang="en-ZA" sz="1800" dirty="0" smtClean="0">
                <a:latin typeface="Arial Narrow" panose="020B0606020202030204" pitchFamily="34" charset="0"/>
              </a:rPr>
              <a:t>Focus </a:t>
            </a:r>
            <a:r>
              <a:rPr lang="en-ZA" sz="1800" dirty="0">
                <a:latin typeface="Arial Narrow" panose="020B0606020202030204" pitchFamily="34" charset="0"/>
              </a:rPr>
              <a:t>on aspects such as effectiveness and learnability </a:t>
            </a:r>
          </a:p>
          <a:p>
            <a:pPr>
              <a:buFont typeface="Wingdings" panose="05000000000000000000" pitchFamily="2" charset="2"/>
              <a:buChar char="§"/>
            </a:pPr>
            <a:r>
              <a:rPr lang="en-ZA" sz="1800" b="1" dirty="0" smtClean="0">
                <a:latin typeface="Arial Narrow" panose="020B0606020202030204" pitchFamily="34" charset="0"/>
              </a:rPr>
              <a:t>User </a:t>
            </a:r>
            <a:r>
              <a:rPr lang="en-ZA" sz="1800" b="1" dirty="0">
                <a:latin typeface="Arial Narrow" panose="020B0606020202030204" pitchFamily="34" charset="0"/>
              </a:rPr>
              <a:t>experience goals </a:t>
            </a:r>
            <a:endParaRPr lang="en-ZA" sz="1800" b="1" dirty="0" smtClean="0">
              <a:latin typeface="Arial Narrow" panose="020B0606020202030204" pitchFamily="34" charset="0"/>
            </a:endParaRPr>
          </a:p>
          <a:p>
            <a:pPr lvl="1"/>
            <a:r>
              <a:rPr lang="en-ZA" sz="1800" dirty="0" smtClean="0">
                <a:latin typeface="Arial Narrow" panose="020B0606020202030204" pitchFamily="34" charset="0"/>
              </a:rPr>
              <a:t>Concerned </a:t>
            </a:r>
            <a:r>
              <a:rPr lang="en-ZA" sz="1800" dirty="0">
                <a:latin typeface="Arial Narrow" panose="020B0606020202030204" pitchFamily="34" charset="0"/>
              </a:rPr>
              <a:t>with quality of user’s experience with system </a:t>
            </a:r>
            <a:endParaRPr lang="en-ZA" sz="1800" dirty="0" smtClean="0">
              <a:latin typeface="Arial Narrow" panose="020B0606020202030204" pitchFamily="34" charset="0"/>
            </a:endParaRPr>
          </a:p>
          <a:p>
            <a:pPr lvl="1"/>
            <a:r>
              <a:rPr lang="en-ZA" sz="1800" dirty="0" smtClean="0">
                <a:latin typeface="Arial Narrow" panose="020B0606020202030204" pitchFamily="34" charset="0"/>
              </a:rPr>
              <a:t>Focus </a:t>
            </a:r>
            <a:r>
              <a:rPr lang="en-ZA" sz="1800" dirty="0">
                <a:latin typeface="Arial Narrow" panose="020B0606020202030204" pitchFamily="34" charset="0"/>
              </a:rPr>
              <a:t>on aspects such as aesthetics and enjoyment </a:t>
            </a:r>
          </a:p>
          <a:p>
            <a:pPr>
              <a:buFont typeface="Wingdings" panose="05000000000000000000" pitchFamily="2" charset="2"/>
              <a:buChar char="Ø"/>
            </a:pPr>
            <a:r>
              <a:rPr lang="en-ZA" sz="1800" b="1" dirty="0">
                <a:latin typeface="Arial Narrow" panose="020B0606020202030204" pitchFamily="34" charset="0"/>
              </a:rPr>
              <a:t>Usability Goals </a:t>
            </a:r>
            <a:endParaRPr lang="en-ZA" sz="1800" dirty="0">
              <a:latin typeface="Arial Narrow" panose="020B0606020202030204" pitchFamily="34" charset="0"/>
            </a:endParaRPr>
          </a:p>
          <a:p>
            <a:pPr>
              <a:buFont typeface="Wingdings" panose="05000000000000000000" pitchFamily="2" charset="2"/>
              <a:buChar char="§"/>
            </a:pPr>
            <a:r>
              <a:rPr lang="en-ZA" sz="1800" dirty="0">
                <a:latin typeface="Arial Narrow" panose="020B0606020202030204" pitchFamily="34" charset="0"/>
              </a:rPr>
              <a:t>Preece et al (2019) identified six usability goals that will ensure </a:t>
            </a:r>
            <a:r>
              <a:rPr lang="en-ZA" sz="1800" dirty="0" smtClean="0">
                <a:latin typeface="Arial Narrow" panose="020B0606020202030204" pitchFamily="34" charset="0"/>
              </a:rPr>
              <a:t>that </a:t>
            </a:r>
            <a:r>
              <a:rPr lang="en-ZA" sz="1800" dirty="0">
                <a:latin typeface="Arial Narrow" panose="020B0606020202030204" pitchFamily="34" charset="0"/>
              </a:rPr>
              <a:t>users’ interaction with technology is effective and enjoyable</a:t>
            </a:r>
            <a:r>
              <a:rPr lang="en-ZA" sz="1800" dirty="0" smtClean="0">
                <a:latin typeface="Arial Narrow" panose="020B0606020202030204" pitchFamily="34" charset="0"/>
              </a:rPr>
              <a:t>.</a:t>
            </a:r>
          </a:p>
          <a:p>
            <a:pPr marL="0" indent="0">
              <a:buNone/>
            </a:pPr>
            <a:r>
              <a:rPr lang="en-ZA" sz="1800" dirty="0" smtClean="0">
                <a:latin typeface="Arial Narrow" panose="020B0606020202030204" pitchFamily="34" charset="0"/>
              </a:rPr>
              <a:t> </a:t>
            </a:r>
            <a:endParaRPr lang="en-ZA" sz="18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2" name="Picture 1"/>
          <p:cNvPicPr>
            <a:picLocks noChangeAspect="1"/>
          </p:cNvPicPr>
          <p:nvPr/>
        </p:nvPicPr>
        <p:blipFill>
          <a:blip r:embed="rId2"/>
          <a:stretch>
            <a:fillRect/>
          </a:stretch>
        </p:blipFill>
        <p:spPr>
          <a:xfrm>
            <a:off x="162961" y="818606"/>
            <a:ext cx="5856839" cy="5473552"/>
          </a:xfrm>
          <a:prstGeom prst="rect">
            <a:avLst/>
          </a:prstGeom>
        </p:spPr>
      </p:pic>
      <p:pic>
        <p:nvPicPr>
          <p:cNvPr id="6" name="Picture 5"/>
          <p:cNvPicPr>
            <a:picLocks noChangeAspect="1"/>
          </p:cNvPicPr>
          <p:nvPr/>
        </p:nvPicPr>
        <p:blipFill>
          <a:blip r:embed="rId3"/>
          <a:stretch>
            <a:fillRect/>
          </a:stretch>
        </p:blipFill>
        <p:spPr>
          <a:xfrm>
            <a:off x="6423894" y="3553097"/>
            <a:ext cx="5590053" cy="2728067"/>
          </a:xfrm>
          <a:prstGeom prst="rect">
            <a:avLst/>
          </a:prstGeom>
        </p:spPr>
      </p:pic>
    </p:spTree>
    <p:extLst>
      <p:ext uri="{BB962C8B-B14F-4D97-AF65-F5344CB8AC3E}">
        <p14:creationId xmlns:p14="http://schemas.microsoft.com/office/powerpoint/2010/main" val="391931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35802"/>
            <a:ext cx="5323438" cy="6041161"/>
          </a:xfrm>
        </p:spPr>
        <p:txBody>
          <a:bodyPr>
            <a:normAutofit lnSpcReduction="10000"/>
          </a:bodyPr>
          <a:lstStyle/>
          <a:p>
            <a:pPr>
              <a:buFont typeface="Wingdings" panose="05000000000000000000" pitchFamily="2" charset="2"/>
              <a:buChar char="Ø"/>
            </a:pPr>
            <a:r>
              <a:rPr lang="en-ZA" sz="2000" b="1" dirty="0">
                <a:latin typeface="Arial Narrow" panose="020B0606020202030204" pitchFamily="34" charset="0"/>
              </a:rPr>
              <a:t>User Experience Goals </a:t>
            </a:r>
          </a:p>
          <a:p>
            <a:pPr>
              <a:buFont typeface="Wingdings" panose="05000000000000000000" pitchFamily="2" charset="2"/>
              <a:buChar char="§"/>
            </a:pPr>
            <a:r>
              <a:rPr lang="en-ZA" sz="2000" dirty="0" smtClean="0">
                <a:latin typeface="Arial Narrow" panose="020B0606020202030204" pitchFamily="34" charset="0"/>
              </a:rPr>
              <a:t>How </a:t>
            </a:r>
            <a:r>
              <a:rPr lang="en-ZA" sz="2000" dirty="0">
                <a:latin typeface="Arial Narrow" panose="020B0606020202030204" pitchFamily="34" charset="0"/>
              </a:rPr>
              <a:t>user feels about a product, irrespective of efficiency, effectiveness, learnability and so on, plays an important role in it being well accepted or not. </a:t>
            </a:r>
          </a:p>
          <a:p>
            <a:pPr>
              <a:buFont typeface="Wingdings" panose="05000000000000000000" pitchFamily="2" charset="2"/>
              <a:buChar char="§"/>
            </a:pPr>
            <a:r>
              <a:rPr lang="en-ZA" sz="2000" dirty="0" smtClean="0">
                <a:latin typeface="Arial Narrow" panose="020B0606020202030204" pitchFamily="34" charset="0"/>
              </a:rPr>
              <a:t>To </a:t>
            </a:r>
            <a:r>
              <a:rPr lang="en-ZA" sz="2000" dirty="0">
                <a:latin typeface="Arial Narrow" panose="020B0606020202030204" pitchFamily="34" charset="0"/>
              </a:rPr>
              <a:t>provide users with positive experiences of interaction, designers should attend to features that will make the product: </a:t>
            </a:r>
            <a:endParaRPr lang="en-ZA" sz="2000" dirty="0" smtClean="0">
              <a:latin typeface="Arial Narrow" panose="020B0606020202030204" pitchFamily="34" charset="0"/>
            </a:endParaRPr>
          </a:p>
          <a:p>
            <a:pPr lvl="1"/>
            <a:r>
              <a:rPr lang="en-ZA" sz="2000" dirty="0" smtClean="0">
                <a:latin typeface="Arial Narrow" panose="020B0606020202030204" pitchFamily="34" charset="0"/>
              </a:rPr>
              <a:t>satisfying</a:t>
            </a:r>
            <a:r>
              <a:rPr lang="en-ZA" sz="2000" dirty="0">
                <a:latin typeface="Arial Narrow" panose="020B0606020202030204" pitchFamily="34" charset="0"/>
              </a:rPr>
              <a:t>, enjoyable, engaging, exciting, entertaining, helpful, motivating, aesthetically pleasing, supportive of creativity, cognitively stimulating, rewarding, provocative, surprising, emotionally fulfilling, challenging, sociability enhancing </a:t>
            </a:r>
          </a:p>
          <a:p>
            <a:pPr marL="0" indent="0">
              <a:buNone/>
            </a:pPr>
            <a:r>
              <a:rPr lang="en-ZA" sz="2000" dirty="0" smtClean="0">
                <a:latin typeface="Arial Narrow" panose="020B0606020202030204" pitchFamily="34" charset="0"/>
              </a:rPr>
              <a:t>Factors </a:t>
            </a:r>
            <a:r>
              <a:rPr lang="en-ZA" sz="2000" dirty="0">
                <a:latin typeface="Arial Narrow" panose="020B0606020202030204" pitchFamily="34" charset="0"/>
              </a:rPr>
              <a:t>that may support the fulfilment of these user experience goals include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Attention</a:t>
            </a:r>
            <a:r>
              <a:rPr lang="en-ZA" sz="1600" dirty="0" smtClean="0">
                <a:latin typeface="Arial Narrow" panose="020B0606020202030204" pitchFamily="34" charset="0"/>
              </a:rPr>
              <a:t> </a:t>
            </a:r>
            <a:endParaRPr lang="en-ZA" sz="1600" dirty="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Pace </a:t>
            </a:r>
            <a:endParaRPr lang="en-ZA" sz="2000" dirty="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Interactivity </a:t>
            </a:r>
            <a:endParaRPr lang="en-ZA" sz="2000" dirty="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Engagement </a:t>
            </a:r>
            <a:endParaRPr lang="en-ZA" sz="2000" dirty="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Style </a:t>
            </a:r>
            <a:r>
              <a:rPr lang="en-ZA" sz="2000" dirty="0">
                <a:latin typeface="Arial Narrow" panose="020B0606020202030204" pitchFamily="34" charset="0"/>
              </a:rPr>
              <a:t>of narrative </a:t>
            </a:r>
          </a:p>
          <a:p>
            <a:endParaRPr lang="en-ZA" sz="2000" dirty="0">
              <a:latin typeface="Arial Narrow" panose="020B0606020202030204" pitchFamily="34" charset="0"/>
            </a:endParaRPr>
          </a:p>
          <a:p>
            <a:pPr marL="0" indent="0" algn="just">
              <a:buNone/>
            </a:pPr>
            <a:endParaRPr lang="en-US" sz="2000" dirty="0">
              <a:latin typeface="Arial Narrow" panose="020B0606020202030204" pitchFamily="34" charset="0"/>
            </a:endParaRPr>
          </a:p>
        </p:txBody>
      </p:sp>
      <p:sp>
        <p:nvSpPr>
          <p:cNvPr id="4" name="Content Placeholder 3"/>
          <p:cNvSpPr>
            <a:spLocks noGrp="1"/>
          </p:cNvSpPr>
          <p:nvPr>
            <p:ph sz="half" idx="2"/>
          </p:nvPr>
        </p:nvSpPr>
        <p:spPr>
          <a:xfrm>
            <a:off x="5486401" y="135802"/>
            <a:ext cx="6491334" cy="6059268"/>
          </a:xfrm>
        </p:spPr>
        <p:txBody>
          <a:bodyPr>
            <a:normAutofit lnSpcReduction="10000"/>
          </a:bodyPr>
          <a:lstStyle/>
          <a:p>
            <a:pPr>
              <a:buFont typeface="Wingdings" panose="05000000000000000000" pitchFamily="2" charset="2"/>
              <a:buChar char="Ø"/>
            </a:pPr>
            <a:r>
              <a:rPr lang="en-ZA" sz="2000" b="1" dirty="0">
                <a:latin typeface="Arial Narrow" panose="020B0606020202030204" pitchFamily="34" charset="0"/>
              </a:rPr>
              <a:t>Design Principles </a:t>
            </a:r>
            <a:endParaRPr lang="en-ZA" sz="2000" b="1" dirty="0" smtClean="0">
              <a:latin typeface="Arial Narrow" panose="020B0606020202030204" pitchFamily="34" charset="0"/>
            </a:endParaRPr>
          </a:p>
          <a:p>
            <a:pPr>
              <a:buFont typeface="Wingdings" panose="05000000000000000000" pitchFamily="2" charset="2"/>
              <a:buChar char="§"/>
            </a:pPr>
            <a:r>
              <a:rPr lang="en-ZA" sz="2000" dirty="0" smtClean="0">
                <a:latin typeface="Arial Narrow" panose="020B0606020202030204" pitchFamily="34" charset="0"/>
              </a:rPr>
              <a:t>According </a:t>
            </a:r>
            <a:r>
              <a:rPr lang="en-ZA" sz="2000" dirty="0">
                <a:latin typeface="Arial Narrow" panose="020B0606020202030204" pitchFamily="34" charset="0"/>
              </a:rPr>
              <a:t>to Preece, design principles are prescriptive suggestions that help designers to explain or improve their designs. </a:t>
            </a:r>
          </a:p>
          <a:p>
            <a:pPr>
              <a:buFont typeface="Wingdings" panose="05000000000000000000" pitchFamily="2" charset="2"/>
              <a:buChar char="§"/>
            </a:pPr>
            <a:r>
              <a:rPr lang="en-ZA" sz="2000" dirty="0" smtClean="0">
                <a:latin typeface="Arial Narrow" panose="020B0606020202030204" pitchFamily="34" charset="0"/>
              </a:rPr>
              <a:t>Instead </a:t>
            </a:r>
            <a:r>
              <a:rPr lang="en-ZA" sz="2000" dirty="0">
                <a:latin typeface="Arial Narrow" panose="020B0606020202030204" pitchFamily="34" charset="0"/>
              </a:rPr>
              <a:t>of telling designer exactly how to design an interface, they inspire careful design by telling the designer what will work and what not. </a:t>
            </a:r>
          </a:p>
          <a:p>
            <a:pPr marL="0" indent="0">
              <a:buNone/>
            </a:pPr>
            <a:r>
              <a:rPr lang="en-ZA" sz="1800" b="1" u="sng" dirty="0">
                <a:latin typeface="Arial Narrow" panose="020B0606020202030204" pitchFamily="34" charset="0"/>
              </a:rPr>
              <a:t>Summary of </a:t>
            </a:r>
            <a:r>
              <a:rPr lang="en-ZA" sz="1800" b="1" u="sng" dirty="0" smtClean="0">
                <a:latin typeface="Arial Narrow" panose="020B0606020202030204" pitchFamily="34" charset="0"/>
              </a:rPr>
              <a:t>Preece </a:t>
            </a:r>
            <a:r>
              <a:rPr lang="en-ZA" sz="1800" b="1" u="sng" dirty="0">
                <a:latin typeface="Arial Narrow" panose="020B0606020202030204" pitchFamily="34" charset="0"/>
              </a:rPr>
              <a:t>et al’s (2019) discussion of design principles </a:t>
            </a:r>
            <a:endParaRPr lang="en-ZA" sz="1800" b="1" u="sng" dirty="0" smtClean="0">
              <a:latin typeface="Arial Narrow" panose="020B0606020202030204" pitchFamily="34" charset="0"/>
            </a:endParaRPr>
          </a:p>
          <a:p>
            <a:pPr marL="0" indent="0">
              <a:buNone/>
            </a:pPr>
            <a:endParaRPr lang="en-ZA" sz="1800" b="1" u="sng"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2" name="Picture 1"/>
          <p:cNvPicPr>
            <a:picLocks noChangeAspect="1"/>
          </p:cNvPicPr>
          <p:nvPr/>
        </p:nvPicPr>
        <p:blipFill>
          <a:blip r:embed="rId2"/>
          <a:stretch>
            <a:fillRect/>
          </a:stretch>
        </p:blipFill>
        <p:spPr>
          <a:xfrm>
            <a:off x="5486401" y="2760617"/>
            <a:ext cx="6491334" cy="3416346"/>
          </a:xfrm>
          <a:prstGeom prst="rect">
            <a:avLst/>
          </a:prstGeom>
        </p:spPr>
      </p:pic>
    </p:spTree>
    <p:extLst>
      <p:ext uri="{BB962C8B-B14F-4D97-AF65-F5344CB8AC3E}">
        <p14:creationId xmlns:p14="http://schemas.microsoft.com/office/powerpoint/2010/main" val="1949973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6750" y="72428"/>
            <a:ext cx="11664656" cy="6283922"/>
          </a:xfrm>
        </p:spPr>
        <p:txBody>
          <a:bodyPr>
            <a:normAutofit/>
          </a:bodyPr>
          <a:lstStyle/>
          <a:p>
            <a:pPr>
              <a:buFont typeface="Wingdings" panose="05000000000000000000" pitchFamily="2" charset="2"/>
              <a:buChar char="q"/>
            </a:pPr>
            <a:r>
              <a:rPr lang="en-ZA" sz="2000" b="1" dirty="0" err="1">
                <a:latin typeface="Arial Narrow" panose="020B0606020202030204" pitchFamily="34" charset="0"/>
              </a:rPr>
              <a:t>Shneiderman</a:t>
            </a:r>
            <a:r>
              <a:rPr lang="en-ZA" sz="2000" b="1" dirty="0">
                <a:latin typeface="Arial Narrow" panose="020B0606020202030204" pitchFamily="34" charset="0"/>
              </a:rPr>
              <a:t> </a:t>
            </a:r>
            <a:endParaRPr lang="en-ZA" sz="2000" dirty="0">
              <a:latin typeface="Arial Narrow" panose="020B0606020202030204" pitchFamily="34" charset="0"/>
            </a:endParaRPr>
          </a:p>
          <a:p>
            <a:pPr>
              <a:buFont typeface="Wingdings" panose="05000000000000000000" pitchFamily="2" charset="2"/>
              <a:buChar char="§"/>
            </a:pPr>
            <a:r>
              <a:rPr lang="en-ZA" sz="2000" dirty="0" err="1">
                <a:latin typeface="Arial Narrow" panose="020B0606020202030204" pitchFamily="34" charset="0"/>
              </a:rPr>
              <a:t>Shneiderman’s</a:t>
            </a:r>
            <a:r>
              <a:rPr lang="en-ZA" sz="2000" dirty="0">
                <a:latin typeface="Arial Narrow" panose="020B0606020202030204" pitchFamily="34" charset="0"/>
              </a:rPr>
              <a:t> principles for user-centred design (1998, 2014) are divided into 3 groups </a:t>
            </a:r>
          </a:p>
          <a:p>
            <a:pPr marL="457200" lvl="1" indent="0">
              <a:buNone/>
            </a:pPr>
            <a:r>
              <a:rPr lang="en-ZA" sz="2000" dirty="0">
                <a:latin typeface="Arial Narrow" panose="020B0606020202030204" pitchFamily="34" charset="0"/>
              </a:rPr>
              <a:t>1. Recognition of diversity </a:t>
            </a:r>
          </a:p>
          <a:p>
            <a:pPr marL="457200" lvl="1" indent="0">
              <a:buNone/>
            </a:pPr>
            <a:r>
              <a:rPr lang="en-ZA" sz="2000" dirty="0">
                <a:latin typeface="Arial Narrow" panose="020B0606020202030204" pitchFamily="34" charset="0"/>
              </a:rPr>
              <a:t>2. Golden rules </a:t>
            </a:r>
          </a:p>
          <a:p>
            <a:pPr marL="457200" lvl="1" indent="0">
              <a:buNone/>
            </a:pPr>
            <a:r>
              <a:rPr lang="en-ZA" sz="2000" dirty="0">
                <a:latin typeface="Arial Narrow" panose="020B0606020202030204" pitchFamily="34" charset="0"/>
              </a:rPr>
              <a:t>3. Prevention of errors </a:t>
            </a:r>
          </a:p>
          <a:p>
            <a:pPr marL="0" indent="0">
              <a:buNone/>
            </a:pPr>
            <a:r>
              <a:rPr lang="en-ZA" sz="2000" b="1" dirty="0" smtClean="0">
                <a:latin typeface="Arial Narrow" panose="020B0606020202030204" pitchFamily="34" charset="0"/>
              </a:rPr>
              <a:t>Recognise </a:t>
            </a:r>
            <a:r>
              <a:rPr lang="en-ZA" sz="2000" b="1" dirty="0">
                <a:latin typeface="Arial Narrow" panose="020B0606020202030204" pitchFamily="34" charset="0"/>
              </a:rPr>
              <a:t>Diversity </a:t>
            </a:r>
            <a:endParaRPr lang="en-ZA" sz="2000" dirty="0">
              <a:latin typeface="Arial Narrow" panose="020B0606020202030204" pitchFamily="34" charset="0"/>
            </a:endParaRPr>
          </a:p>
          <a:p>
            <a:pPr marL="0" indent="0">
              <a:buNone/>
            </a:pPr>
            <a:r>
              <a:rPr lang="en-ZA" sz="2000" dirty="0" smtClean="0">
                <a:latin typeface="Arial Narrow" panose="020B0606020202030204" pitchFamily="34" charset="0"/>
              </a:rPr>
              <a:t>Before </a:t>
            </a:r>
            <a:r>
              <a:rPr lang="en-ZA" sz="2000" dirty="0">
                <a:latin typeface="Arial Narrow" panose="020B0606020202030204" pitchFamily="34" charset="0"/>
              </a:rPr>
              <a:t>the task of designing a system can begin </a:t>
            </a:r>
            <a:endParaRPr lang="en-ZA" sz="2000" dirty="0" smtClean="0">
              <a:latin typeface="Arial Narrow" panose="020B0606020202030204" pitchFamily="34" charset="0"/>
            </a:endParaRPr>
          </a:p>
          <a:p>
            <a:pPr lvl="1"/>
            <a:r>
              <a:rPr lang="en-ZA" sz="2000" dirty="0" smtClean="0">
                <a:latin typeface="Arial Narrow" panose="020B0606020202030204" pitchFamily="34" charset="0"/>
              </a:rPr>
              <a:t>Information </a:t>
            </a:r>
            <a:r>
              <a:rPr lang="en-ZA" sz="2000" dirty="0">
                <a:latin typeface="Arial Narrow" panose="020B0606020202030204" pitchFamily="34" charset="0"/>
              </a:rPr>
              <a:t>must be gathered about the intended users, their tasks, the environment of use and the frequency of use</a:t>
            </a:r>
            <a:r>
              <a:rPr lang="en-ZA" sz="2000" dirty="0" smtClean="0">
                <a:latin typeface="Arial Narrow" panose="020B0606020202030204" pitchFamily="34" charset="0"/>
              </a:rPr>
              <a:t>.</a:t>
            </a:r>
          </a:p>
          <a:p>
            <a:pPr marL="0" indent="0">
              <a:buNone/>
            </a:pPr>
            <a:r>
              <a:rPr lang="en-ZA" dirty="0" smtClean="0">
                <a:latin typeface="Arial Narrow" panose="020B0606020202030204" pitchFamily="34" charset="0"/>
              </a:rPr>
              <a:t> </a:t>
            </a:r>
            <a:r>
              <a:rPr lang="en-ZA" dirty="0">
                <a:latin typeface="Arial Narrow" panose="020B0606020202030204" pitchFamily="34" charset="0"/>
              </a:rPr>
              <a:t>▪ </a:t>
            </a:r>
            <a:r>
              <a:rPr lang="en-ZA" sz="2000" dirty="0">
                <a:latin typeface="Arial Narrow" panose="020B0606020202030204" pitchFamily="34" charset="0"/>
              </a:rPr>
              <a:t>Involves characterisation of 3 aspects relating to the intended system:</a:t>
            </a:r>
          </a:p>
          <a:p>
            <a:pPr marL="0" indent="0">
              <a:buNone/>
            </a:pPr>
            <a:endParaRPr lang="en-ZA" dirty="0">
              <a:latin typeface="Arial Narrow" panose="020B0606020202030204" pitchFamily="34" charset="0"/>
            </a:endParaRPr>
          </a:p>
          <a:p>
            <a:endParaRPr lang="en-ZA" sz="2000" dirty="0">
              <a:latin typeface="Arial Narrow" panose="020B0606020202030204" pitchFamily="34" charset="0"/>
            </a:endParaRPr>
          </a:p>
          <a:p>
            <a:endParaRPr lang="en-ZA" sz="2000" dirty="0">
              <a:latin typeface="Arial Narrow" panose="020B0606020202030204" pitchFamily="34" charset="0"/>
            </a:endParaRPr>
          </a:p>
          <a:p>
            <a:pPr marL="0" indent="0">
              <a:buNone/>
            </a:pPr>
            <a:endParaRPr lang="en-ZA" dirty="0"/>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7" name="Picture 6"/>
          <p:cNvPicPr>
            <a:picLocks noChangeAspect="1"/>
          </p:cNvPicPr>
          <p:nvPr/>
        </p:nvPicPr>
        <p:blipFill>
          <a:blip r:embed="rId2"/>
          <a:stretch>
            <a:fillRect/>
          </a:stretch>
        </p:blipFill>
        <p:spPr>
          <a:xfrm>
            <a:off x="627019" y="3474719"/>
            <a:ext cx="9579428" cy="2881631"/>
          </a:xfrm>
          <a:prstGeom prst="rect">
            <a:avLst/>
          </a:prstGeom>
        </p:spPr>
      </p:pic>
    </p:spTree>
    <p:extLst>
      <p:ext uri="{BB962C8B-B14F-4D97-AF65-F5344CB8AC3E}">
        <p14:creationId xmlns:p14="http://schemas.microsoft.com/office/powerpoint/2010/main" val="1839555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8642" y="90535"/>
            <a:ext cx="4080181" cy="6086428"/>
          </a:xfrm>
        </p:spPr>
        <p:txBody>
          <a:bodyPr>
            <a:normAutofit fontScale="85000" lnSpcReduction="10000"/>
          </a:bodyPr>
          <a:lstStyle/>
          <a:p>
            <a:pPr marL="0" indent="0">
              <a:buNone/>
            </a:pPr>
            <a:r>
              <a:rPr lang="en-ZA" sz="2100" b="1" dirty="0">
                <a:latin typeface="Arial Narrow" panose="020B0606020202030204" pitchFamily="34" charset="0"/>
              </a:rPr>
              <a:t>The Eight Golden Rules for Interface Design </a:t>
            </a:r>
            <a:endParaRPr lang="en-ZA" sz="2100" dirty="0">
              <a:latin typeface="Arial Narrow" panose="020B0606020202030204" pitchFamily="34" charset="0"/>
            </a:endParaRPr>
          </a:p>
          <a:p>
            <a:pPr>
              <a:buFont typeface="Wingdings" panose="05000000000000000000" pitchFamily="2" charset="2"/>
              <a:buChar char="§"/>
            </a:pPr>
            <a:r>
              <a:rPr lang="en-ZA" sz="2100" dirty="0" err="1">
                <a:latin typeface="Arial Narrow" panose="020B0606020202030204" pitchFamily="34" charset="0"/>
              </a:rPr>
              <a:t>Shneiderman</a:t>
            </a:r>
            <a:r>
              <a:rPr lang="en-ZA" sz="2100" dirty="0">
                <a:latin typeface="Arial Narrow" panose="020B0606020202030204" pitchFamily="34" charset="0"/>
              </a:rPr>
              <a:t> et al (2014) </a:t>
            </a:r>
            <a:r>
              <a:rPr lang="en-ZA" sz="2100" dirty="0" smtClean="0">
                <a:latin typeface="Arial Narrow" panose="020B0606020202030204" pitchFamily="34" charset="0"/>
              </a:rPr>
              <a:t>suggested </a:t>
            </a:r>
            <a:r>
              <a:rPr lang="en-ZA" sz="2100" dirty="0">
                <a:latin typeface="Arial Narrow" panose="020B0606020202030204" pitchFamily="34" charset="0"/>
              </a:rPr>
              <a:t>8 principles of design applicable to most interactive systems. </a:t>
            </a:r>
            <a:endParaRPr lang="en-ZA" sz="2100" dirty="0" smtClean="0">
              <a:latin typeface="Arial Narrow" panose="020B0606020202030204" pitchFamily="34" charset="0"/>
            </a:endParaRPr>
          </a:p>
          <a:p>
            <a:pPr>
              <a:buFont typeface="Wingdings" panose="05000000000000000000" pitchFamily="2" charset="2"/>
              <a:buChar char="§"/>
            </a:pPr>
            <a:r>
              <a:rPr lang="en-ZA" sz="2100" dirty="0" smtClean="0">
                <a:latin typeface="Arial Narrow" panose="020B0606020202030204" pitchFamily="34" charset="0"/>
              </a:rPr>
              <a:t>They </a:t>
            </a:r>
            <a:r>
              <a:rPr lang="en-ZA" sz="2100" dirty="0">
                <a:latin typeface="Arial Narrow" panose="020B0606020202030204" pitchFamily="34" charset="0"/>
              </a:rPr>
              <a:t>overlap to some extent with those of Dix et al (2004) and Preece et al (2019) </a:t>
            </a:r>
            <a:endParaRPr lang="en-ZA" sz="2100" dirty="0" smtClean="0">
              <a:latin typeface="Arial Narrow" panose="020B0606020202030204" pitchFamily="34" charset="0"/>
            </a:endParaRPr>
          </a:p>
          <a:p>
            <a:pPr>
              <a:buFont typeface="Wingdings" panose="05000000000000000000" pitchFamily="2" charset="2"/>
              <a:buChar char="§"/>
            </a:pPr>
            <a:r>
              <a:rPr lang="en-ZA" sz="2100" b="1" dirty="0" smtClean="0">
                <a:latin typeface="Arial Narrow" panose="020B0606020202030204" pitchFamily="34" charset="0"/>
              </a:rPr>
              <a:t>8 Principles</a:t>
            </a:r>
            <a:endParaRPr lang="en-ZA" sz="2100" b="1" dirty="0">
              <a:latin typeface="Arial Narrow" panose="020B0606020202030204" pitchFamily="34" charset="0"/>
            </a:endParaRPr>
          </a:p>
          <a:p>
            <a:pPr marL="457200" lvl="1" indent="0">
              <a:buNone/>
            </a:pPr>
            <a:r>
              <a:rPr lang="en-ZA" sz="2100" dirty="0">
                <a:latin typeface="Arial Narrow" panose="020B0606020202030204" pitchFamily="34" charset="0"/>
              </a:rPr>
              <a:t>1. Strive for consistency. </a:t>
            </a:r>
          </a:p>
          <a:p>
            <a:pPr marL="457200" lvl="1" indent="0">
              <a:buNone/>
            </a:pPr>
            <a:r>
              <a:rPr lang="en-ZA" sz="2100" dirty="0">
                <a:latin typeface="Arial Narrow" panose="020B0606020202030204" pitchFamily="34" charset="0"/>
              </a:rPr>
              <a:t>2. Cater to universal usability, for example, enable frequent users to use shortcuts. </a:t>
            </a:r>
          </a:p>
          <a:p>
            <a:pPr marL="457200" lvl="1" indent="0">
              <a:buNone/>
            </a:pPr>
            <a:r>
              <a:rPr lang="en-ZA" sz="2100" dirty="0">
                <a:latin typeface="Arial Narrow" panose="020B0606020202030204" pitchFamily="34" charset="0"/>
              </a:rPr>
              <a:t>3. Offer informative feedback. </a:t>
            </a:r>
          </a:p>
          <a:p>
            <a:pPr marL="457200" lvl="1" indent="0">
              <a:buNone/>
            </a:pPr>
            <a:r>
              <a:rPr lang="en-ZA" sz="2100" dirty="0">
                <a:latin typeface="Arial Narrow" panose="020B0606020202030204" pitchFamily="34" charset="0"/>
              </a:rPr>
              <a:t>4. Design dialogues to yield closure (the completion of a group of actions). </a:t>
            </a:r>
          </a:p>
          <a:p>
            <a:pPr marL="457200" lvl="1" indent="0">
              <a:buNone/>
            </a:pPr>
            <a:r>
              <a:rPr lang="en-ZA" sz="2100" dirty="0">
                <a:latin typeface="Arial Narrow" panose="020B0606020202030204" pitchFamily="34" charset="0"/>
              </a:rPr>
              <a:t>5. Offer error prevention and simple error handling. </a:t>
            </a:r>
          </a:p>
          <a:p>
            <a:pPr marL="457200" lvl="1" indent="0">
              <a:buNone/>
            </a:pPr>
            <a:r>
              <a:rPr lang="en-ZA" sz="2100" dirty="0">
                <a:latin typeface="Arial Narrow" panose="020B0606020202030204" pitchFamily="34" charset="0"/>
              </a:rPr>
              <a:t>6. Permit easy reversal of actions. </a:t>
            </a:r>
          </a:p>
          <a:p>
            <a:pPr marL="457200" lvl="1" indent="0">
              <a:buNone/>
            </a:pPr>
            <a:r>
              <a:rPr lang="en-ZA" sz="2100" dirty="0">
                <a:latin typeface="Arial Narrow" panose="020B0606020202030204" pitchFamily="34" charset="0"/>
              </a:rPr>
              <a:t>7. Support an internal locus of control (user should feel in control of system) </a:t>
            </a:r>
          </a:p>
          <a:p>
            <a:pPr marL="457200" lvl="1" indent="0">
              <a:buNone/>
            </a:pPr>
            <a:r>
              <a:rPr lang="en-ZA" sz="2100" dirty="0">
                <a:latin typeface="Arial Narrow" panose="020B0606020202030204" pitchFamily="34" charset="0"/>
              </a:rPr>
              <a:t>8. Reduce short-term memory load. </a:t>
            </a:r>
          </a:p>
          <a:p>
            <a:pPr marL="0" indent="0">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4511041" y="90535"/>
            <a:ext cx="7539122" cy="6086428"/>
          </a:xfrm>
        </p:spPr>
        <p:txBody>
          <a:bodyPr>
            <a:normAutofit fontScale="85000" lnSpcReduction="10000"/>
          </a:bodyPr>
          <a:lstStyle/>
          <a:p>
            <a:pPr marL="0" indent="0">
              <a:buNone/>
            </a:pPr>
            <a:r>
              <a:rPr lang="en-ZA" sz="2200" b="1" dirty="0">
                <a:latin typeface="Arial Narrow" panose="020B0606020202030204" pitchFamily="34" charset="0"/>
              </a:rPr>
              <a:t>Prevent Errors </a:t>
            </a:r>
            <a:endParaRPr lang="en-ZA" sz="2200" dirty="0">
              <a:latin typeface="Arial Narrow" panose="020B0606020202030204" pitchFamily="34" charset="0"/>
            </a:endParaRPr>
          </a:p>
          <a:p>
            <a:pPr>
              <a:buFont typeface="Wingdings" panose="05000000000000000000" pitchFamily="2" charset="2"/>
              <a:buChar char="§"/>
            </a:pPr>
            <a:r>
              <a:rPr lang="en-ZA" sz="2200" dirty="0" smtClean="0">
                <a:latin typeface="Arial Narrow" panose="020B0606020202030204" pitchFamily="34" charset="0"/>
              </a:rPr>
              <a:t>Errors </a:t>
            </a:r>
            <a:r>
              <a:rPr lang="en-ZA" sz="2200" dirty="0">
                <a:latin typeface="Arial Narrow" panose="020B0606020202030204" pitchFamily="34" charset="0"/>
              </a:rPr>
              <a:t>are made by even the most experienced </a:t>
            </a:r>
            <a:r>
              <a:rPr lang="en-ZA" sz="2200" dirty="0" err="1">
                <a:latin typeface="Arial Narrow" panose="020B0606020202030204" pitchFamily="34" charset="0"/>
              </a:rPr>
              <a:t>users,e.g</a:t>
            </a:r>
            <a:r>
              <a:rPr lang="en-ZA" sz="2200" dirty="0">
                <a:latin typeface="Arial Narrow" panose="020B0606020202030204" pitchFamily="34" charset="0"/>
              </a:rPr>
              <a:t>, users of </a:t>
            </a:r>
            <a:r>
              <a:rPr lang="en-ZA" sz="2200" dirty="0" err="1">
                <a:latin typeface="Arial Narrow" panose="020B0606020202030204" pitchFamily="34" charset="0"/>
              </a:rPr>
              <a:t>cellphones</a:t>
            </a:r>
            <a:r>
              <a:rPr lang="en-ZA" sz="2200" dirty="0">
                <a:latin typeface="Arial Narrow" panose="020B0606020202030204" pitchFamily="34" charset="0"/>
              </a:rPr>
              <a:t>, e-mail, spreadsheets, air-traffic control systems and other interactive systems </a:t>
            </a:r>
          </a:p>
          <a:p>
            <a:pPr>
              <a:buFont typeface="Wingdings" panose="05000000000000000000" pitchFamily="2" charset="2"/>
              <a:buChar char="§"/>
            </a:pPr>
            <a:r>
              <a:rPr lang="en-ZA" sz="2200" dirty="0" smtClean="0">
                <a:latin typeface="Arial Narrow" panose="020B0606020202030204" pitchFamily="34" charset="0"/>
              </a:rPr>
              <a:t>To </a:t>
            </a:r>
            <a:r>
              <a:rPr lang="en-ZA" sz="2200" dirty="0">
                <a:latin typeface="Arial Narrow" panose="020B0606020202030204" pitchFamily="34" charset="0"/>
              </a:rPr>
              <a:t>reduce a loss in productivity due to errors </a:t>
            </a:r>
            <a:endParaRPr lang="en-ZA" sz="2200" dirty="0" smtClean="0">
              <a:latin typeface="Arial Narrow" panose="020B0606020202030204" pitchFamily="34" charset="0"/>
            </a:endParaRPr>
          </a:p>
          <a:p>
            <a:pPr lvl="1"/>
            <a:r>
              <a:rPr lang="en-ZA" sz="2200" dirty="0" smtClean="0">
                <a:latin typeface="Arial Narrow" panose="020B0606020202030204" pitchFamily="34" charset="0"/>
              </a:rPr>
              <a:t>Improve </a:t>
            </a:r>
            <a:r>
              <a:rPr lang="en-ZA" sz="2200" dirty="0">
                <a:latin typeface="Arial Narrow" panose="020B0606020202030204" pitchFamily="34" charset="0"/>
              </a:rPr>
              <a:t>the error messages provided by the computer system. </a:t>
            </a:r>
          </a:p>
          <a:p>
            <a:pPr lvl="1"/>
            <a:r>
              <a:rPr lang="en-ZA" sz="2200" dirty="0" smtClean="0">
                <a:latin typeface="Arial Narrow" panose="020B0606020202030204" pitchFamily="34" charset="0"/>
              </a:rPr>
              <a:t>Effective </a:t>
            </a:r>
            <a:r>
              <a:rPr lang="en-ZA" sz="2200" dirty="0">
                <a:latin typeface="Arial Narrow" panose="020B0606020202030204" pitchFamily="34" charset="0"/>
              </a:rPr>
              <a:t>approach is to </a:t>
            </a:r>
            <a:r>
              <a:rPr lang="en-ZA" sz="2200" b="1" dirty="0">
                <a:latin typeface="Arial Narrow" panose="020B0606020202030204" pitchFamily="34" charset="0"/>
              </a:rPr>
              <a:t>prevent the errors from occurring</a:t>
            </a:r>
            <a:r>
              <a:rPr lang="en-ZA" sz="2200" dirty="0">
                <a:latin typeface="Arial Narrow" panose="020B0606020202030204" pitchFamily="34" charset="0"/>
              </a:rPr>
              <a:t>. </a:t>
            </a:r>
            <a:endParaRPr lang="en-ZA" sz="2200" dirty="0" smtClean="0">
              <a:latin typeface="Arial Narrow" panose="020B0606020202030204" pitchFamily="34" charset="0"/>
            </a:endParaRPr>
          </a:p>
          <a:p>
            <a:pPr marL="914400" lvl="2" indent="0">
              <a:buNone/>
            </a:pPr>
            <a:r>
              <a:rPr lang="en-ZA" sz="2200" dirty="0" smtClean="0">
                <a:latin typeface="Arial Narrow" panose="020B0606020202030204" pitchFamily="34" charset="0"/>
              </a:rPr>
              <a:t>1</a:t>
            </a:r>
            <a:r>
              <a:rPr lang="en-ZA" sz="2200" dirty="0">
                <a:latin typeface="Arial Narrow" panose="020B0606020202030204" pitchFamily="34" charset="0"/>
              </a:rPr>
              <a:t>. First step is to understand the nature of errors </a:t>
            </a:r>
          </a:p>
          <a:p>
            <a:pPr marL="914400" lvl="2" indent="0">
              <a:buNone/>
            </a:pPr>
            <a:r>
              <a:rPr lang="en-ZA" sz="2200" dirty="0">
                <a:latin typeface="Arial Narrow" panose="020B0606020202030204" pitchFamily="34" charset="0"/>
              </a:rPr>
              <a:t>2. Next step is to organise screens and menus functionally by designing commands and menu choices that are distinctive and by making it difficult for users to perform irreversible actions. </a:t>
            </a:r>
          </a:p>
          <a:p>
            <a:pPr marL="0" indent="0">
              <a:buNone/>
            </a:pPr>
            <a:r>
              <a:rPr lang="en-ZA" sz="2200" dirty="0" smtClean="0">
                <a:latin typeface="Arial Narrow" panose="020B0606020202030204" pitchFamily="34" charset="0"/>
              </a:rPr>
              <a:t>3 </a:t>
            </a:r>
            <a:r>
              <a:rPr lang="en-ZA" sz="2200" dirty="0">
                <a:latin typeface="Arial Narrow" panose="020B0606020202030204" pitchFamily="34" charset="0"/>
              </a:rPr>
              <a:t>techniques which can reduce errors by ensuring complete &amp; correct </a:t>
            </a:r>
            <a:r>
              <a:rPr lang="en-ZA" sz="2200" dirty="0" smtClean="0">
                <a:latin typeface="Arial Narrow" panose="020B0606020202030204" pitchFamily="34" charset="0"/>
              </a:rPr>
              <a:t>actions (</a:t>
            </a:r>
            <a:r>
              <a:rPr lang="en-ZA" sz="2200" dirty="0" err="1">
                <a:latin typeface="Arial Narrow" panose="020B0606020202030204" pitchFamily="34" charset="0"/>
              </a:rPr>
              <a:t>Shneiderman</a:t>
            </a:r>
            <a:r>
              <a:rPr lang="en-ZA" sz="2200" dirty="0">
                <a:latin typeface="Arial Narrow" panose="020B0606020202030204" pitchFamily="34" charset="0"/>
              </a:rPr>
              <a:t> </a:t>
            </a:r>
            <a:r>
              <a:rPr lang="en-ZA" sz="2200" dirty="0" smtClean="0">
                <a:latin typeface="Arial Narrow" panose="020B0606020202030204" pitchFamily="34" charset="0"/>
              </a:rPr>
              <a:t>): </a:t>
            </a:r>
            <a:endParaRPr lang="en-ZA" sz="2200" dirty="0">
              <a:latin typeface="Arial Narrow" panose="020B0606020202030204" pitchFamily="34" charset="0"/>
            </a:endParaRPr>
          </a:p>
          <a:p>
            <a:pPr marL="457200" indent="-457200">
              <a:buFont typeface="+mj-lt"/>
              <a:buAutoNum type="arabicPeriod"/>
            </a:pPr>
            <a:r>
              <a:rPr lang="en-ZA" sz="2200" b="1" dirty="0" smtClean="0">
                <a:latin typeface="Arial Narrow" panose="020B0606020202030204" pitchFamily="34" charset="0"/>
              </a:rPr>
              <a:t>Correct </a:t>
            </a:r>
            <a:r>
              <a:rPr lang="en-ZA" sz="2200" b="1" dirty="0">
                <a:latin typeface="Arial Narrow" panose="020B0606020202030204" pitchFamily="34" charset="0"/>
              </a:rPr>
              <a:t>matching pairs </a:t>
            </a:r>
            <a:r>
              <a:rPr lang="en-ZA" sz="2200" dirty="0">
                <a:latin typeface="Arial Narrow" panose="020B0606020202030204" pitchFamily="34" charset="0"/>
              </a:rPr>
              <a:t>• E.g. when user types a left parenthesis, system displays a message that right parenthesis </a:t>
            </a:r>
            <a:r>
              <a:rPr lang="en-ZA" sz="2200">
                <a:latin typeface="Arial Narrow" panose="020B0606020202030204" pitchFamily="34" charset="0"/>
              </a:rPr>
              <a:t>is </a:t>
            </a:r>
            <a:r>
              <a:rPr lang="en-ZA" sz="2200" smtClean="0">
                <a:latin typeface="Arial Narrow" panose="020B0606020202030204" pitchFamily="34" charset="0"/>
              </a:rPr>
              <a:t>missing, </a:t>
            </a:r>
            <a:r>
              <a:rPr lang="en-ZA" sz="2200" dirty="0">
                <a:latin typeface="Arial Narrow" panose="020B0606020202030204" pitchFamily="34" charset="0"/>
              </a:rPr>
              <a:t>and message disappears when user types it. </a:t>
            </a:r>
            <a:endParaRPr lang="en-ZA" sz="2200" dirty="0" smtClean="0">
              <a:latin typeface="Arial Narrow" panose="020B0606020202030204" pitchFamily="34" charset="0"/>
            </a:endParaRPr>
          </a:p>
          <a:p>
            <a:pPr marL="457200" indent="-457200">
              <a:buFont typeface="+mj-lt"/>
              <a:buAutoNum type="arabicPeriod"/>
            </a:pPr>
            <a:r>
              <a:rPr lang="en-ZA" sz="2200" b="1" dirty="0" smtClean="0">
                <a:latin typeface="Arial Narrow" panose="020B0606020202030204" pitchFamily="34" charset="0"/>
              </a:rPr>
              <a:t>Complete </a:t>
            </a:r>
            <a:r>
              <a:rPr lang="en-ZA" sz="2200" b="1" dirty="0">
                <a:latin typeface="Arial Narrow" panose="020B0606020202030204" pitchFamily="34" charset="0"/>
              </a:rPr>
              <a:t>sequences: </a:t>
            </a:r>
            <a:endParaRPr lang="en-ZA" sz="2200" b="1" dirty="0" smtClean="0">
              <a:latin typeface="Arial Narrow" panose="020B0606020202030204" pitchFamily="34" charset="0"/>
            </a:endParaRPr>
          </a:p>
          <a:p>
            <a:pPr>
              <a:buFont typeface="Wingdings" panose="05000000000000000000" pitchFamily="2" charset="2"/>
              <a:buChar char="§"/>
            </a:pPr>
            <a:r>
              <a:rPr lang="en-ZA" sz="2200" dirty="0" smtClean="0">
                <a:latin typeface="Arial Narrow" panose="020B0606020202030204" pitchFamily="34" charset="0"/>
              </a:rPr>
              <a:t>E.g</a:t>
            </a:r>
            <a:r>
              <a:rPr lang="en-ZA" sz="2200" dirty="0">
                <a:latin typeface="Arial Narrow" panose="020B0606020202030204" pitchFamily="34" charset="0"/>
              </a:rPr>
              <a:t>. logging onto a network requires the user to perform a sequence of actions. </a:t>
            </a:r>
          </a:p>
          <a:p>
            <a:pPr>
              <a:buFont typeface="Wingdings" panose="05000000000000000000" pitchFamily="2" charset="2"/>
              <a:buChar char="§"/>
            </a:pPr>
            <a:r>
              <a:rPr lang="en-ZA" sz="2200" dirty="0" smtClean="0">
                <a:latin typeface="Arial Narrow" panose="020B0606020202030204" pitchFamily="34" charset="0"/>
              </a:rPr>
              <a:t>When </a:t>
            </a:r>
            <a:r>
              <a:rPr lang="en-ZA" sz="2200" dirty="0">
                <a:latin typeface="Arial Narrow" panose="020B0606020202030204" pitchFamily="34" charset="0"/>
              </a:rPr>
              <a:t>the user does this for the first time, the system can store the information and henceforth allow the user to trigger the sequence with a single action. </a:t>
            </a:r>
            <a:endParaRPr lang="en-ZA" dirty="0">
              <a:latin typeface="Arial Narrow" panose="020B0606020202030204" pitchFamily="34" charset="0"/>
            </a:endParaRPr>
          </a:p>
          <a:p>
            <a:pPr>
              <a:buFont typeface="Wingdings" panose="05000000000000000000" pitchFamily="2" charset="2"/>
              <a:buChar char="§"/>
            </a:pPr>
            <a:r>
              <a:rPr lang="en-ZA" sz="2100" dirty="0">
                <a:latin typeface="Arial Narrow" panose="020B0606020202030204" pitchFamily="34" charset="0"/>
              </a:rPr>
              <a:t>The user is then not required to memorise the complete sequence</a:t>
            </a:r>
            <a:r>
              <a:rPr lang="en-ZA" sz="2600" dirty="0">
                <a:latin typeface="Arial Narrow" panose="020B0606020202030204" pitchFamily="34" charset="0"/>
              </a:rPr>
              <a:t>. </a:t>
            </a:r>
          </a:p>
          <a:p>
            <a:endParaRPr lang="en-ZA" dirty="0"/>
          </a:p>
          <a:p>
            <a:pPr>
              <a:buFont typeface="Wingdings" panose="05000000000000000000" pitchFamily="2" charset="2"/>
              <a:buChar char="§"/>
            </a:pPr>
            <a:endParaRPr lang="en-ZA" sz="2200" dirty="0">
              <a:latin typeface="Arial Narrow" panose="020B0606020202030204" pitchFamily="34" charset="0"/>
            </a:endParaRPr>
          </a:p>
          <a:p>
            <a:endParaRPr lang="en-ZA" sz="2200" dirty="0">
              <a:latin typeface="Arial Narrow" panose="020B0606020202030204" pitchFamily="34" charset="0"/>
            </a:endParaRPr>
          </a:p>
          <a:p>
            <a:endParaRPr lang="en-ZA" sz="2200" dirty="0">
              <a:latin typeface="Arial Narrow" panose="020B0606020202030204" pitchFamily="34" charset="0"/>
            </a:endParaRPr>
          </a:p>
          <a:p>
            <a:endParaRPr lang="en-ZA" dirty="0"/>
          </a:p>
          <a:p>
            <a:endParaRPr lang="en-ZA" sz="2200" dirty="0">
              <a:latin typeface="Arial Narrow" panose="020B0606020202030204" pitchFamily="34" charset="0"/>
            </a:endParaRPr>
          </a:p>
          <a:p>
            <a:endParaRPr lang="en-ZA" dirty="0"/>
          </a:p>
          <a:p>
            <a:pPr marL="0" indent="0">
              <a:buNone/>
            </a:pPr>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94025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3910" y="117694"/>
            <a:ext cx="4931896" cy="6077376"/>
          </a:xfrm>
        </p:spPr>
        <p:txBody>
          <a:bodyPr>
            <a:normAutofit/>
          </a:bodyPr>
          <a:lstStyle/>
          <a:p>
            <a:pPr marL="0" indent="0">
              <a:buNone/>
            </a:pPr>
            <a:r>
              <a:rPr lang="en-ZA" sz="2000" dirty="0" smtClean="0">
                <a:latin typeface="Arial Narrow" panose="020B0606020202030204" pitchFamily="34" charset="0"/>
              </a:rPr>
              <a:t>3. </a:t>
            </a:r>
            <a:r>
              <a:rPr lang="en-ZA" sz="2000" b="1" dirty="0" smtClean="0">
                <a:latin typeface="Arial Narrow" panose="020B0606020202030204" pitchFamily="34" charset="0"/>
              </a:rPr>
              <a:t>Correct </a:t>
            </a:r>
            <a:r>
              <a:rPr lang="en-ZA" sz="2000" b="1" dirty="0">
                <a:latin typeface="Arial Narrow" panose="020B0606020202030204" pitchFamily="34" charset="0"/>
              </a:rPr>
              <a:t>commands </a:t>
            </a:r>
            <a:endParaRPr lang="en-ZA" sz="2000" b="1" dirty="0" smtClean="0">
              <a:latin typeface="Arial Narrow" panose="020B0606020202030204" pitchFamily="34" charset="0"/>
            </a:endParaRPr>
          </a:p>
          <a:p>
            <a:pPr>
              <a:buFont typeface="Wingdings" panose="05000000000000000000" pitchFamily="2" charset="2"/>
              <a:buChar char="§"/>
            </a:pPr>
            <a:r>
              <a:rPr lang="en-ZA" sz="2000" dirty="0" smtClean="0">
                <a:latin typeface="Arial Narrow" panose="020B0606020202030204" pitchFamily="34" charset="0"/>
              </a:rPr>
              <a:t>To </a:t>
            </a:r>
            <a:r>
              <a:rPr lang="en-ZA" sz="2000" dirty="0">
                <a:latin typeface="Arial Narrow" panose="020B0606020202030204" pitchFamily="34" charset="0"/>
              </a:rPr>
              <a:t>help users to type commands correctly, a system can employ command completion which will display complete alternatives as soon as the user has typed the first few letters of a command. </a:t>
            </a:r>
          </a:p>
          <a:p>
            <a:pPr marL="0" indent="0">
              <a:buNone/>
            </a:pPr>
            <a:r>
              <a:rPr lang="en-ZA" sz="2000" b="1" dirty="0" smtClean="0">
                <a:latin typeface="Arial Narrow" panose="020B0606020202030204" pitchFamily="34" charset="0"/>
              </a:rPr>
              <a:t>Design </a:t>
            </a:r>
            <a:r>
              <a:rPr lang="en-ZA" sz="2000" b="1" dirty="0">
                <a:latin typeface="Arial Narrow" panose="020B0606020202030204" pitchFamily="34" charset="0"/>
              </a:rPr>
              <a:t>Standards</a:t>
            </a:r>
            <a:r>
              <a:rPr lang="en-ZA" sz="2000" dirty="0">
                <a:latin typeface="Arial Narrow" panose="020B0606020202030204" pitchFamily="34" charset="0"/>
              </a:rPr>
              <a:t> </a:t>
            </a:r>
          </a:p>
          <a:p>
            <a:pPr>
              <a:buFont typeface="Wingdings" panose="05000000000000000000" pitchFamily="2" charset="2"/>
              <a:buChar char="§"/>
            </a:pPr>
            <a:r>
              <a:rPr lang="en-ZA" sz="2000" dirty="0" smtClean="0">
                <a:latin typeface="Arial Narrow" panose="020B0606020202030204" pitchFamily="34" charset="0"/>
              </a:rPr>
              <a:t>Standards </a:t>
            </a:r>
            <a:r>
              <a:rPr lang="en-ZA" sz="2000" dirty="0">
                <a:latin typeface="Arial Narrow" panose="020B0606020202030204" pitchFamily="34" charset="0"/>
              </a:rPr>
              <a:t>concern prescribed ways of discussing, presenting or doing something. </a:t>
            </a:r>
          </a:p>
          <a:p>
            <a:pPr>
              <a:buFont typeface="Wingdings" panose="05000000000000000000" pitchFamily="2" charset="2"/>
              <a:buChar char="§"/>
            </a:pPr>
            <a:r>
              <a:rPr lang="en-ZA" sz="2000" dirty="0" smtClean="0">
                <a:latin typeface="Arial Narrow" panose="020B0606020202030204" pitchFamily="34" charset="0"/>
              </a:rPr>
              <a:t>The </a:t>
            </a:r>
            <a:r>
              <a:rPr lang="en-ZA" sz="2000" dirty="0">
                <a:latin typeface="Arial Narrow" panose="020B0606020202030204" pitchFamily="34" charset="0"/>
              </a:rPr>
              <a:t>aim is to </a:t>
            </a:r>
            <a:r>
              <a:rPr lang="en-ZA" sz="2000" b="1" dirty="0">
                <a:latin typeface="Arial Narrow" panose="020B0606020202030204" pitchFamily="34" charset="0"/>
              </a:rPr>
              <a:t>achieve consistency </a:t>
            </a:r>
            <a:r>
              <a:rPr lang="en-ZA" sz="2000" dirty="0">
                <a:latin typeface="Arial Narrow" panose="020B0606020202030204" pitchFamily="34" charset="0"/>
              </a:rPr>
              <a:t>across products of the same type. </a:t>
            </a:r>
          </a:p>
          <a:p>
            <a:pPr>
              <a:buFont typeface="Wingdings" panose="05000000000000000000" pitchFamily="2" charset="2"/>
              <a:buChar char="§"/>
            </a:pPr>
            <a:r>
              <a:rPr lang="en-ZA" sz="2000" dirty="0" smtClean="0">
                <a:latin typeface="Arial Narrow" panose="020B0606020202030204" pitchFamily="34" charset="0"/>
              </a:rPr>
              <a:t>Standards </a:t>
            </a:r>
            <a:r>
              <a:rPr lang="en-ZA" sz="2000" dirty="0">
                <a:latin typeface="Arial Narrow" panose="020B0606020202030204" pitchFamily="34" charset="0"/>
              </a:rPr>
              <a:t>for interactive system design are usually set by national or international bodies to ensure compliance with a set of design rules by a large community. </a:t>
            </a:r>
          </a:p>
          <a:p>
            <a:pPr>
              <a:buFont typeface="Wingdings" panose="05000000000000000000" pitchFamily="2" charset="2"/>
              <a:buChar char="§"/>
            </a:pPr>
            <a:r>
              <a:rPr lang="en-ZA" sz="2000" dirty="0" smtClean="0">
                <a:latin typeface="Arial Narrow" panose="020B0606020202030204" pitchFamily="34" charset="0"/>
              </a:rPr>
              <a:t>Standards </a:t>
            </a:r>
            <a:r>
              <a:rPr lang="en-ZA" sz="2000" dirty="0">
                <a:latin typeface="Arial Narrow" panose="020B0606020202030204" pitchFamily="34" charset="0"/>
              </a:rPr>
              <a:t>can apply to either hardware or software used to build the interactive system. </a:t>
            </a:r>
          </a:p>
          <a:p>
            <a:pPr marL="0" indent="0">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5085806" y="117694"/>
            <a:ext cx="6801395" cy="6238656"/>
          </a:xfrm>
        </p:spPr>
        <p:txBody>
          <a:bodyPr>
            <a:noAutofit/>
          </a:bodyPr>
          <a:lstStyle/>
          <a:p>
            <a:pPr marL="0" indent="0">
              <a:buNone/>
            </a:pPr>
            <a:r>
              <a:rPr lang="en-ZA" sz="2000" b="1" dirty="0">
                <a:latin typeface="Arial Narrow" panose="020B0606020202030204" pitchFamily="34" charset="0"/>
              </a:rPr>
              <a:t>Standardisation in interface design offers various benefits: </a:t>
            </a:r>
          </a:p>
          <a:p>
            <a:pPr lvl="1"/>
            <a:r>
              <a:rPr lang="en-ZA" sz="2000" dirty="0" smtClean="0">
                <a:latin typeface="Arial Narrow" panose="020B0606020202030204" pitchFamily="34" charset="0"/>
              </a:rPr>
              <a:t>Provides </a:t>
            </a:r>
            <a:r>
              <a:rPr lang="en-ZA" sz="2000" dirty="0">
                <a:latin typeface="Arial Narrow" panose="020B0606020202030204" pitchFamily="34" charset="0"/>
              </a:rPr>
              <a:t>a common terminology so designers know they are discussing same concept </a:t>
            </a:r>
          </a:p>
          <a:p>
            <a:pPr lvl="1"/>
            <a:r>
              <a:rPr lang="en-ZA" sz="2000" dirty="0" smtClean="0">
                <a:latin typeface="Arial Narrow" panose="020B0606020202030204" pitchFamily="34" charset="0"/>
              </a:rPr>
              <a:t>Facilitates </a:t>
            </a:r>
            <a:r>
              <a:rPr lang="en-ZA" sz="2000" dirty="0">
                <a:latin typeface="Arial Narrow" panose="020B0606020202030204" pitchFamily="34" charset="0"/>
              </a:rPr>
              <a:t>program maintenance and allows for additional facilities to be added </a:t>
            </a:r>
          </a:p>
          <a:p>
            <a:pPr lvl="1"/>
            <a:r>
              <a:rPr lang="en-ZA" sz="2000" dirty="0" smtClean="0">
                <a:latin typeface="Arial Narrow" panose="020B0606020202030204" pitchFamily="34" charset="0"/>
              </a:rPr>
              <a:t>Gives </a:t>
            </a:r>
            <a:r>
              <a:rPr lang="en-ZA" sz="2000" dirty="0">
                <a:latin typeface="Arial Narrow" panose="020B0606020202030204" pitchFamily="34" charset="0"/>
              </a:rPr>
              <a:t>similar systems the same look and feel so that elements are easily recognisable </a:t>
            </a:r>
          </a:p>
          <a:p>
            <a:pPr lvl="1"/>
            <a:r>
              <a:rPr lang="en-ZA" sz="2000" dirty="0" smtClean="0">
                <a:latin typeface="Arial Narrow" panose="020B0606020202030204" pitchFamily="34" charset="0"/>
              </a:rPr>
              <a:t>Reduces </a:t>
            </a:r>
            <a:r>
              <a:rPr lang="en-ZA" sz="2000" dirty="0">
                <a:latin typeface="Arial Narrow" panose="020B0606020202030204" pitchFamily="34" charset="0"/>
              </a:rPr>
              <a:t>training needs - knowledge can be transferred between standardised systems </a:t>
            </a:r>
          </a:p>
          <a:p>
            <a:pPr lvl="1"/>
            <a:r>
              <a:rPr lang="en-ZA" sz="2000" dirty="0" smtClean="0">
                <a:latin typeface="Arial Narrow" panose="020B0606020202030204" pitchFamily="34" charset="0"/>
              </a:rPr>
              <a:t>Promotes </a:t>
            </a:r>
            <a:r>
              <a:rPr lang="en-ZA" sz="2000" dirty="0">
                <a:latin typeface="Arial Narrow" panose="020B0606020202030204" pitchFamily="34" charset="0"/>
              </a:rPr>
              <a:t>health and safety of users who will be less likely to experience stress or surprise due to unexpected system behaviour </a:t>
            </a:r>
          </a:p>
          <a:p>
            <a:r>
              <a:rPr lang="en-ZA" sz="2000" dirty="0">
                <a:latin typeface="Arial Narrow" panose="020B0606020202030204" pitchFamily="34" charset="0"/>
              </a:rPr>
              <a:t>A user interface design rule that is rigidly applied without taking the target user’s skills, psychological and physical characteristics or preferences into account, may reduce a product’s usability. </a:t>
            </a:r>
          </a:p>
          <a:p>
            <a:r>
              <a:rPr lang="en-ZA" sz="2000" dirty="0">
                <a:latin typeface="Arial Narrow" panose="020B0606020202030204" pitchFamily="34" charset="0"/>
              </a:rPr>
              <a:t>Standards must therefore always be used together with more general interface design principles.</a:t>
            </a: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1505523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sz="half" idx="1"/>
          </p:nvPr>
        </p:nvSpPr>
        <p:spPr>
          <a:xfrm>
            <a:off x="217283" y="108641"/>
            <a:ext cx="9109597" cy="6431495"/>
          </a:xfrm>
        </p:spPr>
        <p:txBody>
          <a:bodyPr>
            <a:normAutofit/>
          </a:bodyPr>
          <a:lstStyle/>
          <a:p>
            <a:pPr marL="0" indent="0">
              <a:buNone/>
            </a:pPr>
            <a:r>
              <a:rPr lang="en-ZA" sz="2000" b="1" dirty="0">
                <a:latin typeface="Arial Narrow" panose="020B0606020202030204" pitchFamily="34" charset="0"/>
              </a:rPr>
              <a:t>Conclusion </a:t>
            </a:r>
            <a:endParaRPr lang="en-ZA" sz="2000" dirty="0">
              <a:latin typeface="Arial Narrow" panose="020B0606020202030204" pitchFamily="34" charset="0"/>
            </a:endParaRPr>
          </a:p>
          <a:p>
            <a:pPr algn="just">
              <a:buFont typeface="Wingdings" panose="05000000000000000000" pitchFamily="2" charset="2"/>
              <a:buChar char="q"/>
            </a:pPr>
            <a:r>
              <a:rPr lang="en-ZA" sz="2000" dirty="0">
                <a:latin typeface="Arial Narrow" panose="020B0606020202030204" pitchFamily="34" charset="0"/>
              </a:rPr>
              <a:t>Design guidelines do not provide recipes for designing successful systems. They only provide guidance and do not guarantee optimum usability. Even armed with very good guidelines, a designer should still make an effort to understand the technology and the tasks involved, the relevant psychological characteristics of the intended users, and what usability means in the context of the particular product. </a:t>
            </a:r>
          </a:p>
          <a:p>
            <a:pPr algn="just">
              <a:buFont typeface="Wingdings" panose="05000000000000000000" pitchFamily="2" charset="2"/>
              <a:buChar char="q"/>
            </a:pPr>
            <a:r>
              <a:rPr lang="en-ZA" sz="2000" dirty="0">
                <a:latin typeface="Arial Narrow" panose="020B0606020202030204" pitchFamily="34" charset="0"/>
              </a:rPr>
              <a:t>Guidelines can help designers to identify good and bad options for an interface. They also restrict the range of techniques that can be used while still conforming to a particular style, but they can be very difficult to apply. In many ways they are only as good as the person who uses them. This is a critical point, because many companies view guidelines as a solution. </a:t>
            </a:r>
            <a:endParaRPr lang="en-ZA" sz="2000" dirty="0" smtClean="0">
              <a:latin typeface="Arial Narrow" panose="020B0606020202030204" pitchFamily="34" charset="0"/>
            </a:endParaRPr>
          </a:p>
          <a:p>
            <a:pPr algn="just">
              <a:buFont typeface="Wingdings" panose="05000000000000000000" pitchFamily="2" charset="2"/>
              <a:buChar char="q"/>
            </a:pPr>
            <a:r>
              <a:rPr lang="en-ZA" sz="2000" dirty="0" smtClean="0">
                <a:latin typeface="Arial Narrow" panose="020B0606020202030204" pitchFamily="34" charset="0"/>
              </a:rPr>
              <a:t>The </a:t>
            </a:r>
            <a:r>
              <a:rPr lang="en-ZA" sz="2000" dirty="0">
                <a:latin typeface="Arial Narrow" panose="020B0606020202030204" pitchFamily="34" charset="0"/>
              </a:rPr>
              <a:t>way to improve an interface is not just to draft a set of rules about how many menu items to use or what colours make good backgrounds. We cannot emphasise enough that users’ tasks and basic psychological characteristics must be taken into account. Unless you understand these factors, guidelines will be applied incorrectly</a:t>
            </a:r>
            <a:r>
              <a:rPr lang="en-ZA" sz="2000" dirty="0" smtClean="0">
                <a:latin typeface="Arial Narrow" panose="020B0606020202030204" pitchFamily="34" charset="0"/>
              </a:rPr>
              <a:t>.</a:t>
            </a:r>
          </a:p>
          <a:p>
            <a:endParaRPr lang="en-ZA" sz="2000" dirty="0">
              <a:latin typeface="Arial Narrow" panose="020B0606020202030204" pitchFamily="34" charset="0"/>
            </a:endParaRPr>
          </a:p>
          <a:p>
            <a:pPr marL="0" indent="0">
              <a:buNone/>
            </a:pPr>
            <a:r>
              <a:rPr lang="en-ZA" b="1" dirty="0" smtClean="0">
                <a:latin typeface="Arial Narrow" panose="020B0606020202030204" pitchFamily="34" charset="0"/>
              </a:rPr>
              <a:t>                                   The End!!!!!!</a:t>
            </a:r>
            <a:endParaRPr lang="en-ZA" b="1"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551350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4730</TotalTime>
  <Words>2724</Words>
  <Application>Microsoft Office PowerPoint</Application>
  <PresentationFormat>Widescreen</PresentationFormat>
  <Paragraphs>253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Narrow</vt:lpstr>
      <vt:lpstr>Calibri</vt:lpstr>
      <vt:lpstr>Calibri Light</vt:lpstr>
      <vt:lpstr>Courier New</vt:lpstr>
      <vt:lpstr>Wingdings</vt:lpstr>
      <vt:lpstr>Office Theme</vt:lpstr>
      <vt:lpstr>  Lesson Tool 3: Design problems and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INF1520:Human Computer Interaction Summary</dc:title>
  <dc:creator>Nonzwelo Makama</dc:creator>
  <cp:lastModifiedBy>Nonzwelo Makama</cp:lastModifiedBy>
  <cp:revision>148</cp:revision>
  <dcterms:created xsi:type="dcterms:W3CDTF">2021-05-05T17:16:46Z</dcterms:created>
  <dcterms:modified xsi:type="dcterms:W3CDTF">2021-06-03T17:27:36Z</dcterms:modified>
</cp:coreProperties>
</file>