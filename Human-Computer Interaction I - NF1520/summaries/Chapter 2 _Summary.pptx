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5A90A7-326D-4D74-B9E1-7DB41F9A38E7}" type="datetimeFigureOut">
              <a:rPr lang="en-ZA" smtClean="0"/>
              <a:t>2023/05/16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DCECA6-B94A-4BA5-B14A-A7B2A1C6E6DC}" type="slidenum">
              <a:rPr lang="en-ZA" smtClean="0"/>
              <a:t>‹#›</a:t>
            </a:fld>
            <a:endParaRPr lang="en-ZA"/>
          </a:p>
        </p:txBody>
      </p:sp>
    </p:spTree>
    <p:extLst>
      <p:ext uri="{BB962C8B-B14F-4D97-AF65-F5344CB8AC3E}">
        <p14:creationId xmlns:p14="http://schemas.microsoft.com/office/powerpoint/2010/main" val="1285813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4FC0BA62-65F4-45CF-BA97-2C69AA6BB317}"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23927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63E7B9F-2E19-497B-A04A-AED71DEF1E5F}"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2433253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032466-056C-4B0D-8FFF-557E2DC5D823}"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6365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595008A0-259D-44C7-868F-57F9E0CECCDD}" type="datetime1">
              <a:rPr lang="en-ZA" smtClean="0"/>
              <a:t>2023/05/16</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56798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8B0188CF-41BF-42A1-82C6-32359E4650E6}" type="datetime1">
              <a:rPr lang="en-ZA" smtClean="0"/>
              <a:t>2023/05/16</a:t>
            </a:fld>
            <a:endParaRPr lang="en-ZA"/>
          </a:p>
        </p:txBody>
      </p:sp>
      <p:sp>
        <p:nvSpPr>
          <p:cNvPr id="8" name="Footer Placeholder 7"/>
          <p:cNvSpPr>
            <a:spLocks noGrp="1"/>
          </p:cNvSpPr>
          <p:nvPr>
            <p:ph type="ftr" sz="quarter" idx="11"/>
          </p:nvPr>
        </p:nvSpPr>
        <p:spPr/>
        <p:txBody>
          <a:bodyPr/>
          <a:lstStyle/>
          <a:p>
            <a:r>
              <a:rPr lang="en-ZA" smtClean="0"/>
              <a:t>Prepared by Zwelo Makama -INF1520 eTutor</a:t>
            </a:r>
            <a:endParaRPr lang="en-ZA"/>
          </a:p>
        </p:txBody>
      </p:sp>
      <p:sp>
        <p:nvSpPr>
          <p:cNvPr id="9" name="Slide Number Placeholder 8"/>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657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8DA3B2FA-8719-4508-97AA-16537FD3BDA9}" type="datetime1">
              <a:rPr lang="en-ZA" smtClean="0"/>
              <a:t>2023/05/16</a:t>
            </a:fld>
            <a:endParaRPr lang="en-ZA"/>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
        <p:nvSpPr>
          <p:cNvPr id="5" name="Slide Number Placeholder 4"/>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750086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B0D64-14D2-4FD9-AB1C-FB0D2109037B}" type="datetime1">
              <a:rPr lang="en-ZA" smtClean="0"/>
              <a:t>2023/05/16</a:t>
            </a:fld>
            <a:endParaRPr lang="en-ZA"/>
          </a:p>
        </p:txBody>
      </p:sp>
      <p:sp>
        <p:nvSpPr>
          <p:cNvPr id="3" name="Footer Placeholder 2"/>
          <p:cNvSpPr>
            <a:spLocks noGrp="1"/>
          </p:cNvSpPr>
          <p:nvPr>
            <p:ph type="ftr" sz="quarter" idx="11"/>
          </p:nvPr>
        </p:nvSpPr>
        <p:spPr/>
        <p:txBody>
          <a:bodyPr/>
          <a:lstStyle/>
          <a:p>
            <a:r>
              <a:rPr lang="en-ZA" smtClean="0"/>
              <a:t>Prepared by Zwelo Makama -INF1520 eTutor</a:t>
            </a:r>
            <a:endParaRPr lang="en-ZA"/>
          </a:p>
        </p:txBody>
      </p:sp>
      <p:sp>
        <p:nvSpPr>
          <p:cNvPr id="4" name="Slide Number Placeholder 3"/>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8388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7EBCF-78E6-4074-829A-A1CB3DAEE872}" type="datetime1">
              <a:rPr lang="en-ZA" smtClean="0"/>
              <a:t>2023/05/16</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09032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7A3B3AD-C28C-4AC2-8768-0AD05410E84D}" type="datetime1">
              <a:rPr lang="en-ZA" smtClean="0"/>
              <a:t>2023/05/16</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92392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D6B544B5-F818-4D94-9B1D-3E4B6780D1A1}"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687070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B3BD684-EF02-4471-850E-134BC0E3D615}"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1323568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BBE3A-7353-4156-B19C-B3CE57CC8530}" type="datetime1">
              <a:rPr lang="en-ZA" smtClean="0"/>
              <a:t>2023/05/16</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ZA" smtClean="0"/>
              <a:t>Prepared by Zwelo Makama -INF1520 eTutor</a:t>
            </a:r>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8C4920-6622-44E1-80B4-4F1D1EB4E200}" type="slidenum">
              <a:rPr lang="en-ZA" smtClean="0"/>
              <a:t>‹#›</a:t>
            </a:fld>
            <a:endParaRPr lang="en-ZA"/>
          </a:p>
        </p:txBody>
      </p:sp>
    </p:spTree>
    <p:extLst>
      <p:ext uri="{BB962C8B-B14F-4D97-AF65-F5344CB8AC3E}">
        <p14:creationId xmlns:p14="http://schemas.microsoft.com/office/powerpoint/2010/main" val="4183869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
            </a:r>
            <a:br>
              <a:rPr lang="en-ZA" dirty="0"/>
            </a:br>
            <a:r>
              <a:rPr lang="en-ZA" sz="3600" dirty="0">
                <a:latin typeface="Arial Narrow" panose="020B0606020202030204" pitchFamily="34" charset="0"/>
              </a:rPr>
              <a:t> </a:t>
            </a:r>
            <a:r>
              <a:rPr lang="en-ZA" sz="3600" b="1" dirty="0">
                <a:latin typeface="Arial Narrow" panose="020B0606020202030204" pitchFamily="34" charset="0"/>
              </a:rPr>
              <a:t>Lesson Tool </a:t>
            </a:r>
            <a:r>
              <a:rPr lang="en-ZA" sz="3600" b="1" dirty="0" smtClean="0">
                <a:latin typeface="Arial Narrow" panose="020B0606020202030204" pitchFamily="34" charset="0"/>
              </a:rPr>
              <a:t>2: Human issues in HCI </a:t>
            </a:r>
            <a:endParaRPr lang="en-ZA" sz="3600" b="1" dirty="0">
              <a:latin typeface="Arial Narrow" panose="020B0606020202030204" pitchFamily="34" charset="0"/>
            </a:endParaRPr>
          </a:p>
        </p:txBody>
      </p:sp>
      <p:sp>
        <p:nvSpPr>
          <p:cNvPr id="3" name="Content Placeholder 2"/>
          <p:cNvSpPr>
            <a:spLocks noGrp="1"/>
          </p:cNvSpPr>
          <p:nvPr>
            <p:ph sz="half" idx="1"/>
          </p:nvPr>
        </p:nvSpPr>
        <p:spPr/>
        <p:txBody>
          <a:bodyPr>
            <a:normAutofit fontScale="92500" lnSpcReduction="10000"/>
          </a:bodyPr>
          <a:lstStyle/>
          <a:p>
            <a:pPr marL="0" indent="0" algn="just">
              <a:buNone/>
            </a:pPr>
            <a:r>
              <a:rPr lang="en-ZA" sz="2000" b="1" dirty="0" smtClean="0">
                <a:latin typeface="Arial Narrow" panose="020B0606020202030204" pitchFamily="34" charset="0"/>
              </a:rPr>
              <a:t> </a:t>
            </a:r>
            <a:r>
              <a:rPr lang="en-US" sz="2000" b="1" dirty="0">
                <a:latin typeface="Arial Narrow" panose="020B0606020202030204" pitchFamily="34" charset="0"/>
              </a:rPr>
              <a:t>After studying this lesson tool, you should: </a:t>
            </a:r>
            <a:endParaRPr lang="en-US" sz="2000" b="1"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understand how perception and cognition influence user interface design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understand the differences between short- and long-term memory and their influence on interface design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know how the physical attributes of users can affect their interaction with computers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understand how users may differ in terms of culture, personality, gender and age, and how these differences impact on HCI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understand how different levels of expertise influence users’ interaction with a system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know the kinds of errors humans make, why they make them, and how this should be addressed in user interface design </a:t>
            </a:r>
            <a:endParaRPr lang="en-ZA" sz="20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4" name="Content Placeholder 3"/>
          <p:cNvSpPr>
            <a:spLocks noGrp="1"/>
          </p:cNvSpPr>
          <p:nvPr>
            <p:ph sz="half" idx="2"/>
          </p:nvPr>
        </p:nvSpPr>
        <p:spPr/>
        <p:txBody>
          <a:bodyPr/>
          <a:lstStyle/>
          <a:p>
            <a:endParaRPr lang="en-ZA"/>
          </a:p>
        </p:txBody>
      </p:sp>
      <p:pic>
        <p:nvPicPr>
          <p:cNvPr id="7" name="Picture 6"/>
          <p:cNvPicPr>
            <a:picLocks noChangeAspect="1"/>
          </p:cNvPicPr>
          <p:nvPr/>
        </p:nvPicPr>
        <p:blipFill>
          <a:blip r:embed="rId2"/>
          <a:stretch>
            <a:fillRect/>
          </a:stretch>
        </p:blipFill>
        <p:spPr>
          <a:xfrm>
            <a:off x="6160654" y="1825625"/>
            <a:ext cx="5193145" cy="4351338"/>
          </a:xfrm>
          <a:prstGeom prst="rect">
            <a:avLst/>
          </a:prstGeom>
        </p:spPr>
      </p:pic>
    </p:spTree>
    <p:extLst>
      <p:ext uri="{BB962C8B-B14F-4D97-AF65-F5344CB8AC3E}">
        <p14:creationId xmlns:p14="http://schemas.microsoft.com/office/powerpoint/2010/main" val="264353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35390" y="344032"/>
            <a:ext cx="4762123" cy="5832931"/>
          </a:xfrm>
        </p:spPr>
        <p:txBody>
          <a:bodyPr>
            <a:normAutofit fontScale="77500" lnSpcReduction="20000"/>
          </a:bodyPr>
          <a:lstStyle/>
          <a:p>
            <a:pPr algn="just"/>
            <a:r>
              <a:rPr lang="en-US" sz="2600" dirty="0">
                <a:latin typeface="Arial Narrow" panose="020B0606020202030204" pitchFamily="34" charset="0"/>
              </a:rPr>
              <a:t>In this lesson tool, we focus on the “human” in human-computer </a:t>
            </a:r>
            <a:r>
              <a:rPr lang="en-US" sz="2600" dirty="0" smtClean="0">
                <a:latin typeface="Arial Narrow" panose="020B0606020202030204" pitchFamily="34" charset="0"/>
              </a:rPr>
              <a:t>interaction.</a:t>
            </a:r>
          </a:p>
          <a:p>
            <a:pPr algn="just"/>
            <a:r>
              <a:rPr lang="en-US" sz="2600" dirty="0" smtClean="0">
                <a:latin typeface="Arial Narrow" panose="020B0606020202030204" pitchFamily="34" charset="0"/>
              </a:rPr>
              <a:t>What must </a:t>
            </a:r>
            <a:r>
              <a:rPr lang="en-US" sz="2600" dirty="0">
                <a:latin typeface="Arial Narrow" panose="020B0606020202030204" pitchFamily="34" charset="0"/>
              </a:rPr>
              <a:t>be considered when developing and installing computer </a:t>
            </a:r>
            <a:r>
              <a:rPr lang="en-US" sz="2600" dirty="0" smtClean="0">
                <a:latin typeface="Arial Narrow" panose="020B0606020202030204" pitchFamily="34" charset="0"/>
              </a:rPr>
              <a:t>systems?</a:t>
            </a:r>
          </a:p>
          <a:p>
            <a:r>
              <a:rPr lang="en-US" sz="2600" b="1" dirty="0">
                <a:latin typeface="Arial Narrow" panose="020B0606020202030204" pitchFamily="34" charset="0"/>
              </a:rPr>
              <a:t>Cognitive Psychology in HCI </a:t>
            </a:r>
            <a:endParaRPr lang="en-US" sz="2600" b="1" dirty="0" smtClean="0">
              <a:latin typeface="Arial Narrow" panose="020B0606020202030204" pitchFamily="34" charset="0"/>
            </a:endParaRPr>
          </a:p>
          <a:p>
            <a:pPr algn="just"/>
            <a:r>
              <a:rPr lang="en-US" sz="2600" dirty="0">
                <a:latin typeface="Arial Narrow" panose="020B0606020202030204" pitchFamily="34" charset="0"/>
              </a:rPr>
              <a:t>Many cognitive processes underlie the performance of a task or action performed by humans. Human information processing consists of three interacting systems: the perceptual system, the cognitive system, and the motor system</a:t>
            </a:r>
            <a:r>
              <a:rPr lang="en-US" sz="2600" dirty="0" smtClean="0">
                <a:latin typeface="Arial Narrow" panose="020B0606020202030204" pitchFamily="34" charset="0"/>
              </a:rPr>
              <a:t>.</a:t>
            </a:r>
          </a:p>
          <a:p>
            <a:pPr marL="0" indent="0" algn="just">
              <a:buNone/>
            </a:pPr>
            <a:r>
              <a:rPr lang="en-US" sz="2600" dirty="0">
                <a:latin typeface="Arial Narrow" panose="020B0606020202030204" pitchFamily="34" charset="0"/>
              </a:rPr>
              <a:t>We can characterise human (user) resources into three categories: </a:t>
            </a:r>
            <a:endParaRPr lang="en-US" sz="2600" dirty="0" smtClean="0">
              <a:latin typeface="Arial Narrow" panose="020B0606020202030204" pitchFamily="34" charset="0"/>
            </a:endParaRPr>
          </a:p>
          <a:p>
            <a:pPr lvl="1" algn="just">
              <a:buFont typeface="Wingdings" panose="05000000000000000000" pitchFamily="2" charset="2"/>
              <a:buChar char="§"/>
            </a:pPr>
            <a:r>
              <a:rPr lang="en-US" sz="2600" dirty="0" smtClean="0">
                <a:latin typeface="Arial Narrow" panose="020B0606020202030204" pitchFamily="34" charset="0"/>
              </a:rPr>
              <a:t>Perception</a:t>
            </a:r>
            <a:r>
              <a:rPr lang="en-US" sz="2600" dirty="0">
                <a:latin typeface="Arial Narrow" panose="020B0606020202030204" pitchFamily="34" charset="0"/>
              </a:rPr>
              <a:t>: the way that people detect information in their environment. </a:t>
            </a:r>
          </a:p>
          <a:p>
            <a:pPr lvl="1" algn="just">
              <a:buFont typeface="Wingdings" panose="05000000000000000000" pitchFamily="2" charset="2"/>
              <a:buChar char="§"/>
            </a:pPr>
            <a:r>
              <a:rPr lang="en-US" sz="2600" dirty="0" smtClean="0">
                <a:latin typeface="Arial Narrow" panose="020B0606020202030204" pitchFamily="34" charset="0"/>
              </a:rPr>
              <a:t>Cognition</a:t>
            </a:r>
            <a:r>
              <a:rPr lang="en-US" sz="2600" dirty="0">
                <a:latin typeface="Arial Narrow" panose="020B0606020202030204" pitchFamily="34" charset="0"/>
              </a:rPr>
              <a:t>: the way that they process that information.  </a:t>
            </a:r>
          </a:p>
          <a:p>
            <a:pPr lvl="1" algn="just">
              <a:buFont typeface="Wingdings" panose="05000000000000000000" pitchFamily="2" charset="2"/>
              <a:buChar char="§"/>
            </a:pPr>
            <a:r>
              <a:rPr lang="en-US" sz="2600" dirty="0" smtClean="0">
                <a:latin typeface="Arial Narrow" panose="020B0606020202030204" pitchFamily="34" charset="0"/>
              </a:rPr>
              <a:t>Physiology</a:t>
            </a:r>
            <a:r>
              <a:rPr lang="en-US" sz="2600" dirty="0">
                <a:latin typeface="Arial Narrow" panose="020B0606020202030204" pitchFamily="34" charset="0"/>
              </a:rPr>
              <a:t>: the way in which they move and interact with physical objects in their environment.</a:t>
            </a:r>
            <a:endParaRPr lang="en-US" sz="2600" dirty="0" smtClean="0">
              <a:latin typeface="Arial Narrow" panose="020B0606020202030204" pitchFamily="34" charset="0"/>
            </a:endParaRPr>
          </a:p>
          <a:p>
            <a:pPr lvl="1"/>
            <a:endParaRPr lang="en-ZA" sz="2600" dirty="0">
              <a:latin typeface="Arial Narrow" panose="020B0606020202030204" pitchFamily="34" charset="0"/>
            </a:endParaRPr>
          </a:p>
        </p:txBody>
      </p:sp>
      <p:sp>
        <p:nvSpPr>
          <p:cNvPr id="4" name="Content Placeholder 3"/>
          <p:cNvSpPr>
            <a:spLocks noGrp="1"/>
          </p:cNvSpPr>
          <p:nvPr>
            <p:ph sz="half" idx="2"/>
          </p:nvPr>
        </p:nvSpPr>
        <p:spPr>
          <a:xfrm>
            <a:off x="5214797" y="344032"/>
            <a:ext cx="6753884" cy="5832931"/>
          </a:xfrm>
        </p:spPr>
        <p:txBody>
          <a:bodyPr>
            <a:noAutofit/>
          </a:bodyPr>
          <a:lstStyle/>
          <a:p>
            <a:pPr marL="0" indent="0" algn="just">
              <a:buNone/>
            </a:pPr>
            <a:r>
              <a:rPr lang="en-US" sz="1800" b="1" dirty="0" smtClean="0">
                <a:latin typeface="Arial Narrow" panose="020B0606020202030204" pitchFamily="34" charset="0"/>
              </a:rPr>
              <a:t>1.Perception </a:t>
            </a:r>
            <a:endParaRPr lang="en-US" sz="1800" b="1" dirty="0">
              <a:latin typeface="Arial Narrow" panose="020B0606020202030204" pitchFamily="34" charset="0"/>
            </a:endParaRPr>
          </a:p>
          <a:p>
            <a:pPr marL="0" indent="0" algn="just">
              <a:buNone/>
            </a:pPr>
            <a:r>
              <a:rPr lang="en-US" sz="1800" dirty="0" smtClean="0">
                <a:latin typeface="Arial Narrow" panose="020B0606020202030204" pitchFamily="34" charset="0"/>
              </a:rPr>
              <a:t>The use of </a:t>
            </a:r>
            <a:r>
              <a:rPr lang="en-US" sz="1800" dirty="0">
                <a:latin typeface="Arial Narrow" panose="020B0606020202030204" pitchFamily="34" charset="0"/>
              </a:rPr>
              <a:t>senses to detect information </a:t>
            </a:r>
          </a:p>
          <a:p>
            <a:pPr marL="0" indent="0" algn="just">
              <a:buNone/>
            </a:pPr>
            <a:r>
              <a:rPr lang="en-US" sz="1800" dirty="0">
                <a:latin typeface="Arial Narrow" panose="020B0606020202030204" pitchFamily="34" charset="0"/>
              </a:rPr>
              <a:t>▪ </a:t>
            </a:r>
            <a:r>
              <a:rPr lang="en-US" sz="1800" dirty="0" smtClean="0">
                <a:latin typeface="Arial Narrow" panose="020B0606020202030204" pitchFamily="34" charset="0"/>
              </a:rPr>
              <a:t>The way that people </a:t>
            </a:r>
            <a:r>
              <a:rPr lang="en-US" sz="1800" dirty="0">
                <a:latin typeface="Arial Narrow" panose="020B0606020202030204" pitchFamily="34" charset="0"/>
              </a:rPr>
              <a:t>detect information in their environment </a:t>
            </a:r>
          </a:p>
          <a:p>
            <a:pPr marL="0" indent="0" algn="just">
              <a:buNone/>
            </a:pPr>
            <a:r>
              <a:rPr lang="en-US" sz="1800" dirty="0">
                <a:latin typeface="Arial Narrow" panose="020B0606020202030204" pitchFamily="34" charset="0"/>
              </a:rPr>
              <a:t>▪ Human ability to interpret sensory input rapidly and initiate complex actions makes the use of modern computer systems possible </a:t>
            </a:r>
          </a:p>
          <a:p>
            <a:pPr marL="0" indent="0" algn="just">
              <a:buNone/>
            </a:pPr>
            <a:r>
              <a:rPr lang="en-US" sz="1800" dirty="0">
                <a:latin typeface="Arial Narrow" panose="020B0606020202030204" pitchFamily="34" charset="0"/>
              </a:rPr>
              <a:t>▪ If a person doesn’t act on sensory input immediately, it will not have any effect. </a:t>
            </a:r>
            <a:endParaRPr lang="en-US" sz="1800" dirty="0" smtClean="0">
              <a:latin typeface="Arial Narrow" panose="020B0606020202030204" pitchFamily="34" charset="0"/>
            </a:endParaRPr>
          </a:p>
          <a:p>
            <a:pPr marL="0" indent="0" algn="just">
              <a:buNone/>
            </a:pPr>
            <a:r>
              <a:rPr lang="en-US" sz="1800" b="1" dirty="0" err="1">
                <a:latin typeface="Arial Narrow" panose="020B0606020202030204" pitchFamily="34" charset="0"/>
              </a:rPr>
              <a:t>Shneiderman</a:t>
            </a:r>
            <a:r>
              <a:rPr lang="en-US" sz="1800" b="1" dirty="0">
                <a:latin typeface="Arial Narrow" panose="020B0606020202030204" pitchFamily="34" charset="0"/>
              </a:rPr>
              <a:t> identified a number of design implications for the design of information to be perceptible and </a:t>
            </a:r>
            <a:r>
              <a:rPr lang="en-US" sz="1800" b="1" dirty="0" err="1">
                <a:latin typeface="Arial Narrow" panose="020B0606020202030204" pitchFamily="34" charset="0"/>
              </a:rPr>
              <a:t>recognisable</a:t>
            </a:r>
            <a:r>
              <a:rPr lang="en-US" sz="1800" b="1" dirty="0">
                <a:latin typeface="Arial Narrow" panose="020B0606020202030204" pitchFamily="34" charset="0"/>
              </a:rPr>
              <a:t> across different media: </a:t>
            </a:r>
            <a:endParaRPr lang="en-US" sz="1800" b="1"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Distinguishable </a:t>
            </a:r>
            <a:r>
              <a:rPr lang="en-US" sz="1800" dirty="0">
                <a:latin typeface="Arial Narrow" panose="020B0606020202030204" pitchFamily="34" charset="0"/>
              </a:rPr>
              <a:t>icons and graphical representations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Effective </a:t>
            </a:r>
            <a:r>
              <a:rPr lang="en-US" sz="1800" dirty="0">
                <a:latin typeface="Arial Narrow" panose="020B0606020202030204" pitchFamily="34" charset="0"/>
              </a:rPr>
              <a:t>use of borders and spacing to group &amp; locate information easier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Audible </a:t>
            </a:r>
            <a:r>
              <a:rPr lang="en-US" sz="1800" dirty="0">
                <a:latin typeface="Arial Narrow" panose="020B0606020202030204" pitchFamily="34" charset="0"/>
              </a:rPr>
              <a:t>and distinguishable sounds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Understandable </a:t>
            </a:r>
            <a:r>
              <a:rPr lang="en-US" sz="1800" dirty="0">
                <a:latin typeface="Arial Narrow" panose="020B0606020202030204" pitchFamily="34" charset="0"/>
              </a:rPr>
              <a:t>&amp; distinguishable speech output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Legible </a:t>
            </a:r>
            <a:r>
              <a:rPr lang="en-US" sz="1800" dirty="0">
                <a:latin typeface="Arial Narrow" panose="020B0606020202030204" pitchFamily="34" charset="0"/>
              </a:rPr>
              <a:t>&amp; distinguishable text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Tactile </a:t>
            </a:r>
            <a:r>
              <a:rPr lang="en-US" sz="1800" dirty="0">
                <a:latin typeface="Arial Narrow" panose="020B0606020202030204" pitchFamily="34" charset="0"/>
              </a:rPr>
              <a:t>feedback in a virtual environment should allow users to </a:t>
            </a:r>
            <a:r>
              <a:rPr lang="en-US" sz="1800" dirty="0" err="1">
                <a:latin typeface="Arial Narrow" panose="020B0606020202030204" pitchFamily="34" charset="0"/>
              </a:rPr>
              <a:t>recognise</a:t>
            </a:r>
            <a:r>
              <a:rPr lang="en-US" sz="1800" dirty="0">
                <a:latin typeface="Arial Narrow" panose="020B0606020202030204" pitchFamily="34" charset="0"/>
              </a:rPr>
              <a:t> meanings of touch sensations being emulated </a:t>
            </a:r>
            <a:r>
              <a:rPr lang="en-US" sz="1800" dirty="0" err="1">
                <a:latin typeface="Arial Narrow" panose="020B0606020202030204" pitchFamily="34" charset="0"/>
              </a:rPr>
              <a:t>e.g</a:t>
            </a:r>
            <a:r>
              <a:rPr lang="en-US" sz="1800" dirty="0">
                <a:latin typeface="Arial Narrow" panose="020B0606020202030204" pitchFamily="34" charset="0"/>
              </a:rPr>
              <a:t> squeezing vs pushing. </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55847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0657" y="271604"/>
            <a:ext cx="5739143" cy="5905359"/>
          </a:xfrm>
        </p:spPr>
        <p:txBody>
          <a:bodyPr>
            <a:normAutofit fontScale="85000" lnSpcReduction="20000"/>
          </a:bodyPr>
          <a:lstStyle/>
          <a:p>
            <a:pPr marL="0" indent="0" algn="just">
              <a:buNone/>
            </a:pPr>
            <a:r>
              <a:rPr lang="en-ZA" sz="2000" b="1" dirty="0">
                <a:latin typeface="Arial Narrow" panose="020B0606020202030204" pitchFamily="34" charset="0"/>
              </a:rPr>
              <a:t>Factors </a:t>
            </a:r>
            <a:r>
              <a:rPr lang="en-ZA" sz="2000" b="1" dirty="0" smtClean="0">
                <a:latin typeface="Arial Narrow" panose="020B0606020202030204" pitchFamily="34" charset="0"/>
              </a:rPr>
              <a:t>affecting </a:t>
            </a:r>
            <a:r>
              <a:rPr lang="en-ZA" sz="2000" b="1" dirty="0">
                <a:latin typeface="Arial Narrow" panose="020B0606020202030204" pitchFamily="34" charset="0"/>
              </a:rPr>
              <a:t>perception </a:t>
            </a:r>
            <a:endParaRPr lang="en-ZA" sz="2000" b="1" dirty="0" smtClean="0">
              <a:latin typeface="Arial Narrow" panose="020B0606020202030204" pitchFamily="34" charset="0"/>
            </a:endParaRPr>
          </a:p>
          <a:p>
            <a:pPr lvl="1" algn="just">
              <a:buFont typeface="Wingdings" panose="05000000000000000000" pitchFamily="2" charset="2"/>
              <a:buChar char="§"/>
            </a:pPr>
            <a:r>
              <a:rPr lang="en-ZA" sz="2100" dirty="0" smtClean="0">
                <a:latin typeface="Arial Narrow" panose="020B0606020202030204" pitchFamily="34" charset="0"/>
              </a:rPr>
              <a:t>Change </a:t>
            </a:r>
            <a:r>
              <a:rPr lang="en-ZA" sz="2100" dirty="0">
                <a:latin typeface="Arial Narrow" panose="020B0606020202030204" pitchFamily="34" charset="0"/>
              </a:rPr>
              <a:t>in output </a:t>
            </a:r>
            <a:r>
              <a:rPr lang="en-ZA" sz="2100" dirty="0" smtClean="0">
                <a:latin typeface="Arial Narrow" panose="020B0606020202030204" pitchFamily="34" charset="0"/>
              </a:rPr>
              <a:t>such as loudness /display size </a:t>
            </a:r>
          </a:p>
          <a:p>
            <a:pPr lvl="1" algn="just">
              <a:buFont typeface="Wingdings" panose="05000000000000000000" pitchFamily="2" charset="2"/>
              <a:buChar char="§"/>
            </a:pPr>
            <a:r>
              <a:rPr lang="en-ZA" sz="2100" dirty="0" smtClean="0">
                <a:latin typeface="Arial Narrow" panose="020B0606020202030204" pitchFamily="34" charset="0"/>
              </a:rPr>
              <a:t>Maximum </a:t>
            </a:r>
            <a:r>
              <a:rPr lang="en-ZA" sz="2100" dirty="0">
                <a:latin typeface="Arial Narrow" panose="020B0606020202030204" pitchFamily="34" charset="0"/>
              </a:rPr>
              <a:t>&amp; minimum detectable levels, e.g. sound </a:t>
            </a:r>
            <a:endParaRPr lang="en-ZA" sz="2100" dirty="0" smtClean="0">
              <a:latin typeface="Arial Narrow" panose="020B0606020202030204" pitchFamily="34" charset="0"/>
            </a:endParaRPr>
          </a:p>
          <a:p>
            <a:pPr lvl="1" algn="just">
              <a:buFont typeface="Wingdings" panose="05000000000000000000" pitchFamily="2" charset="2"/>
              <a:buChar char="§"/>
            </a:pPr>
            <a:r>
              <a:rPr lang="en-ZA" sz="2100" dirty="0" smtClean="0">
                <a:latin typeface="Arial Narrow" panose="020B0606020202030204" pitchFamily="34" charset="0"/>
              </a:rPr>
              <a:t>Field </a:t>
            </a:r>
            <a:r>
              <a:rPr lang="en-ZA" sz="2100" dirty="0">
                <a:latin typeface="Arial Narrow" panose="020B0606020202030204" pitchFamily="34" charset="0"/>
              </a:rPr>
              <a:t>of </a:t>
            </a:r>
            <a:r>
              <a:rPr lang="en-ZA" sz="2100" dirty="0" smtClean="0">
                <a:latin typeface="Arial Narrow" panose="020B0606020202030204" pitchFamily="34" charset="0"/>
              </a:rPr>
              <a:t>perception –depends on the environment </a:t>
            </a:r>
            <a:r>
              <a:rPr lang="en-ZA" sz="2100" dirty="0">
                <a:latin typeface="Arial Narrow" panose="020B0606020202030204" pitchFamily="34" charset="0"/>
              </a:rPr>
              <a:t>(can the user see the display?) </a:t>
            </a:r>
            <a:endParaRPr lang="en-ZA" sz="2100" dirty="0" smtClean="0">
              <a:latin typeface="Arial Narrow" panose="020B0606020202030204" pitchFamily="34" charset="0"/>
            </a:endParaRPr>
          </a:p>
          <a:p>
            <a:pPr lvl="1" algn="just">
              <a:buFont typeface="Wingdings" panose="05000000000000000000" pitchFamily="2" charset="2"/>
              <a:buChar char="§"/>
            </a:pPr>
            <a:r>
              <a:rPr lang="en-ZA" sz="2100" dirty="0" smtClean="0">
                <a:latin typeface="Arial Narrow" panose="020B0606020202030204" pitchFamily="34" charset="0"/>
              </a:rPr>
              <a:t>Fatigue </a:t>
            </a:r>
            <a:r>
              <a:rPr lang="en-ZA" sz="2100" dirty="0">
                <a:latin typeface="Arial Narrow" panose="020B0606020202030204" pitchFamily="34" charset="0"/>
              </a:rPr>
              <a:t>/ Circadian(biological) rhythms </a:t>
            </a:r>
            <a:r>
              <a:rPr lang="en-ZA" sz="2100" dirty="0" smtClean="0">
                <a:latin typeface="Arial Narrow" panose="020B0606020202030204" pitchFamily="34" charset="0"/>
              </a:rPr>
              <a:t>– tiredness -&gt; slower</a:t>
            </a:r>
          </a:p>
          <a:p>
            <a:pPr lvl="1" algn="just">
              <a:buFont typeface="Wingdings" panose="05000000000000000000" pitchFamily="2" charset="2"/>
              <a:buChar char="§"/>
            </a:pPr>
            <a:r>
              <a:rPr lang="en-ZA" sz="2100" dirty="0" smtClean="0">
                <a:latin typeface="Arial Narrow" panose="020B0606020202030204" pitchFamily="34" charset="0"/>
              </a:rPr>
              <a:t>Background noise</a:t>
            </a:r>
          </a:p>
          <a:p>
            <a:pPr algn="just">
              <a:buFont typeface="Wingdings" panose="05000000000000000000" pitchFamily="2" charset="2"/>
              <a:buChar char="§"/>
            </a:pPr>
            <a:r>
              <a:rPr lang="en-US" sz="2100" dirty="0">
                <a:latin typeface="Arial Narrow" panose="020B0606020202030204" pitchFamily="34" charset="0"/>
              </a:rPr>
              <a:t>Partial sight, ageing and congenital </a:t>
            </a:r>
            <a:r>
              <a:rPr lang="en-US" sz="2100" dirty="0" err="1">
                <a:latin typeface="Arial Narrow" panose="020B0606020202030204" pitchFamily="34" charset="0"/>
              </a:rPr>
              <a:t>colour</a:t>
            </a:r>
            <a:r>
              <a:rPr lang="en-US" sz="2100" dirty="0">
                <a:latin typeface="Arial Narrow" panose="020B0606020202030204" pitchFamily="34" charset="0"/>
              </a:rPr>
              <a:t> defects produce changes in perception that reduce the visual effectiveness of certain </a:t>
            </a:r>
            <a:r>
              <a:rPr lang="en-US" sz="2100" dirty="0" err="1">
                <a:latin typeface="Arial Narrow" panose="020B0606020202030204" pitchFamily="34" charset="0"/>
              </a:rPr>
              <a:t>colour</a:t>
            </a:r>
            <a:r>
              <a:rPr lang="en-US" sz="2100" dirty="0">
                <a:latin typeface="Arial Narrow" panose="020B0606020202030204" pitchFamily="34" charset="0"/>
              </a:rPr>
              <a:t> combinations. </a:t>
            </a:r>
            <a:endParaRPr lang="en-US" sz="2100" dirty="0" smtClean="0">
              <a:latin typeface="Arial Narrow" panose="020B0606020202030204" pitchFamily="34" charset="0"/>
            </a:endParaRPr>
          </a:p>
          <a:p>
            <a:pPr algn="just">
              <a:buFont typeface="Wingdings" panose="05000000000000000000" pitchFamily="2" charset="2"/>
              <a:buChar char="§"/>
            </a:pPr>
            <a:r>
              <a:rPr lang="en-US" sz="2100" dirty="0" smtClean="0">
                <a:latin typeface="Arial Narrow" panose="020B0606020202030204" pitchFamily="34" charset="0"/>
              </a:rPr>
              <a:t>People </a:t>
            </a:r>
            <a:r>
              <a:rPr lang="en-US" sz="2100" dirty="0">
                <a:latin typeface="Arial Narrow" panose="020B0606020202030204" pitchFamily="34" charset="0"/>
              </a:rPr>
              <a:t>with </a:t>
            </a:r>
            <a:r>
              <a:rPr lang="en-US" sz="2100" dirty="0" err="1">
                <a:latin typeface="Arial Narrow" panose="020B0606020202030204" pitchFamily="34" charset="0"/>
              </a:rPr>
              <a:t>colour</a:t>
            </a:r>
            <a:r>
              <a:rPr lang="en-US" sz="2100" dirty="0">
                <a:latin typeface="Arial Narrow" panose="020B0606020202030204" pitchFamily="34" charset="0"/>
              </a:rPr>
              <a:t> perception defects generally see less contrast between </a:t>
            </a:r>
            <a:r>
              <a:rPr lang="en-US" sz="2100" dirty="0" err="1">
                <a:latin typeface="Arial Narrow" panose="020B0606020202030204" pitchFamily="34" charset="0"/>
              </a:rPr>
              <a:t>colours</a:t>
            </a:r>
            <a:r>
              <a:rPr lang="en-US" sz="2100" dirty="0">
                <a:latin typeface="Arial Narrow" panose="020B0606020202030204" pitchFamily="34" charset="0"/>
              </a:rPr>
              <a:t> than someone with normal vision. </a:t>
            </a:r>
            <a:endParaRPr lang="en-US" sz="2100" dirty="0" smtClean="0">
              <a:latin typeface="Arial Narrow" panose="020B0606020202030204" pitchFamily="34" charset="0"/>
            </a:endParaRPr>
          </a:p>
          <a:p>
            <a:pPr marL="0" indent="0" algn="just">
              <a:buNone/>
            </a:pPr>
            <a:r>
              <a:rPr lang="en-US" sz="2100" b="1" dirty="0">
                <a:latin typeface="Arial Narrow" panose="020B0606020202030204" pitchFamily="34" charset="0"/>
              </a:rPr>
              <a:t>Three aspects of </a:t>
            </a:r>
            <a:r>
              <a:rPr lang="en-US" sz="2100" b="1" dirty="0" err="1">
                <a:latin typeface="Arial Narrow" panose="020B0606020202030204" pitchFamily="34" charset="0"/>
              </a:rPr>
              <a:t>colour</a:t>
            </a:r>
            <a:r>
              <a:rPr lang="en-US" sz="2100" b="1" dirty="0">
                <a:latin typeface="Arial Narrow" panose="020B0606020202030204" pitchFamily="34" charset="0"/>
              </a:rPr>
              <a:t> influence how they are perceived: </a:t>
            </a:r>
          </a:p>
          <a:p>
            <a:pPr algn="just">
              <a:buFont typeface="Wingdings" panose="05000000000000000000" pitchFamily="2" charset="2"/>
              <a:buChar char="q"/>
            </a:pPr>
            <a:r>
              <a:rPr lang="en-US" sz="2100" b="1" dirty="0" err="1">
                <a:latin typeface="Arial Narrow" panose="020B0606020202030204" pitchFamily="34" charset="0"/>
              </a:rPr>
              <a:t>Colour</a:t>
            </a:r>
            <a:r>
              <a:rPr lang="en-US" sz="2100" b="1" dirty="0">
                <a:latin typeface="Arial Narrow" panose="020B0606020202030204" pitchFamily="34" charset="0"/>
              </a:rPr>
              <a:t> hue </a:t>
            </a:r>
            <a:r>
              <a:rPr lang="en-US" sz="2100" dirty="0">
                <a:latin typeface="Arial Narrow" panose="020B0606020202030204" pitchFamily="34" charset="0"/>
              </a:rPr>
              <a:t>▪ Perceptual attributes associated with elementary </a:t>
            </a:r>
            <a:r>
              <a:rPr lang="en-US" sz="2100" dirty="0" err="1">
                <a:latin typeface="Arial Narrow" panose="020B0606020202030204" pitchFamily="34" charset="0"/>
              </a:rPr>
              <a:t>colour</a:t>
            </a:r>
            <a:r>
              <a:rPr lang="en-US" sz="2100" dirty="0">
                <a:latin typeface="Arial Narrow" panose="020B0606020202030204" pitchFamily="34" charset="0"/>
              </a:rPr>
              <a:t> names ▪ Enables us to identify basic </a:t>
            </a:r>
            <a:r>
              <a:rPr lang="en-US" sz="2100" dirty="0" err="1">
                <a:latin typeface="Arial Narrow" panose="020B0606020202030204" pitchFamily="34" charset="0"/>
              </a:rPr>
              <a:t>colours</a:t>
            </a:r>
            <a:r>
              <a:rPr lang="en-US" sz="2100" dirty="0">
                <a:latin typeface="Arial Narrow" panose="020B0606020202030204" pitchFamily="34" charset="0"/>
              </a:rPr>
              <a:t> ▪ Variety, tint, or quality of a </a:t>
            </a:r>
            <a:r>
              <a:rPr lang="en-US" sz="2100" dirty="0" err="1">
                <a:latin typeface="Arial Narrow" panose="020B0606020202030204" pitchFamily="34" charset="0"/>
              </a:rPr>
              <a:t>colour</a:t>
            </a:r>
            <a:r>
              <a:rPr lang="en-US" sz="2100" dirty="0">
                <a:latin typeface="Arial Narrow" panose="020B0606020202030204" pitchFamily="34" charset="0"/>
              </a:rPr>
              <a:t>. </a:t>
            </a:r>
          </a:p>
          <a:p>
            <a:pPr algn="just">
              <a:buFont typeface="Wingdings" panose="05000000000000000000" pitchFamily="2" charset="2"/>
              <a:buChar char="q"/>
            </a:pPr>
            <a:r>
              <a:rPr lang="en-US" sz="2100" b="1" dirty="0" err="1">
                <a:latin typeface="Arial Narrow" panose="020B0606020202030204" pitchFamily="34" charset="0"/>
              </a:rPr>
              <a:t>Colour</a:t>
            </a:r>
            <a:r>
              <a:rPr lang="en-US" sz="2100" b="1" dirty="0">
                <a:latin typeface="Arial Narrow" panose="020B0606020202030204" pitchFamily="34" charset="0"/>
              </a:rPr>
              <a:t> lightness </a:t>
            </a:r>
            <a:r>
              <a:rPr lang="en-US" sz="2100" dirty="0">
                <a:latin typeface="Arial Narrow" panose="020B0606020202030204" pitchFamily="34" charset="0"/>
              </a:rPr>
              <a:t>▪ How much light is reflected from a surface in relation to nearby surfaces. ▪ Most important attribute in making contrast more effective. </a:t>
            </a:r>
          </a:p>
          <a:p>
            <a:pPr algn="just">
              <a:buFont typeface="Wingdings" panose="05000000000000000000" pitchFamily="2" charset="2"/>
              <a:buChar char="q"/>
            </a:pPr>
            <a:r>
              <a:rPr lang="en-US" sz="2100" dirty="0">
                <a:latin typeface="Arial Narrow" panose="020B0606020202030204" pitchFamily="34" charset="0"/>
              </a:rPr>
              <a:t> </a:t>
            </a:r>
            <a:r>
              <a:rPr lang="en-US" sz="2100" b="1" dirty="0" err="1">
                <a:latin typeface="Arial Narrow" panose="020B0606020202030204" pitchFamily="34" charset="0"/>
              </a:rPr>
              <a:t>Colour</a:t>
            </a:r>
            <a:r>
              <a:rPr lang="en-US" sz="2100" b="1" dirty="0">
                <a:latin typeface="Arial Narrow" panose="020B0606020202030204" pitchFamily="34" charset="0"/>
              </a:rPr>
              <a:t> saturation </a:t>
            </a:r>
            <a:r>
              <a:rPr lang="en-US" sz="2100" dirty="0">
                <a:latin typeface="Arial Narrow" panose="020B0606020202030204" pitchFamily="34" charset="0"/>
              </a:rPr>
              <a:t>▪ The degree of intensity of a </a:t>
            </a:r>
            <a:r>
              <a:rPr lang="en-US" sz="2100" dirty="0" err="1">
                <a:latin typeface="Arial Narrow" panose="020B0606020202030204" pitchFamily="34" charset="0"/>
              </a:rPr>
              <a:t>colour</a:t>
            </a:r>
            <a:r>
              <a:rPr lang="en-US" sz="2100" dirty="0">
                <a:latin typeface="Arial Narrow" panose="020B0606020202030204" pitchFamily="34" charset="0"/>
              </a:rPr>
              <a:t>. ▪ Associated with a </a:t>
            </a:r>
            <a:r>
              <a:rPr lang="en-US" sz="2100" dirty="0" err="1">
                <a:latin typeface="Arial Narrow" panose="020B0606020202030204" pitchFamily="34" charset="0"/>
              </a:rPr>
              <a:t>colour’s</a:t>
            </a:r>
            <a:r>
              <a:rPr lang="en-US" sz="2100" dirty="0">
                <a:latin typeface="Arial Narrow" panose="020B0606020202030204" pitchFamily="34" charset="0"/>
              </a:rPr>
              <a:t> perceptual difference from a white, black or grey of equal lightness</a:t>
            </a:r>
            <a:r>
              <a:rPr lang="en-US" sz="2000" dirty="0">
                <a:latin typeface="Arial Narrow" panose="020B0606020202030204" pitchFamily="34" charset="0"/>
              </a:rPr>
              <a:t>. </a:t>
            </a: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199" y="271604"/>
            <a:ext cx="5769321" cy="5905359"/>
          </a:xfrm>
        </p:spPr>
        <p:txBody>
          <a:bodyPr>
            <a:normAutofit fontScale="85000" lnSpcReduction="20000"/>
          </a:bodyPr>
          <a:lstStyle/>
          <a:p>
            <a:pPr marL="0" indent="0" algn="just">
              <a:buNone/>
            </a:pPr>
            <a:r>
              <a:rPr lang="en-US" sz="2600" b="1" dirty="0" smtClean="0">
                <a:latin typeface="Arial Narrow" panose="020B0606020202030204" pitchFamily="34" charset="0"/>
              </a:rPr>
              <a:t>2. Cognition </a:t>
            </a: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The way that information detected is processed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These processes include: </a:t>
            </a:r>
            <a:endParaRPr lang="en-US" sz="2000" dirty="0" smtClean="0">
              <a:latin typeface="Arial Narrow" panose="020B0606020202030204" pitchFamily="34" charset="0"/>
            </a:endParaRPr>
          </a:p>
          <a:p>
            <a:pPr marL="457200" lvl="1" indent="0" algn="just">
              <a:buNone/>
            </a:pPr>
            <a:r>
              <a:rPr lang="en-US" sz="1600" dirty="0" smtClean="0">
                <a:latin typeface="Arial Narrow" panose="020B0606020202030204" pitchFamily="34" charset="0"/>
              </a:rPr>
              <a:t>▪  </a:t>
            </a:r>
            <a:r>
              <a:rPr lang="en-US" sz="2200" dirty="0">
                <a:latin typeface="Arial Narrow" panose="020B0606020202030204" pitchFamily="34" charset="0"/>
              </a:rPr>
              <a:t>Short-term memory and information processing  </a:t>
            </a:r>
            <a:endParaRPr lang="en-US" sz="2200" dirty="0" smtClean="0">
              <a:latin typeface="Arial Narrow" panose="020B0606020202030204" pitchFamily="34" charset="0"/>
            </a:endParaRPr>
          </a:p>
          <a:p>
            <a:pPr marL="457200" lvl="1" indent="0" algn="just">
              <a:buNone/>
            </a:pPr>
            <a:r>
              <a:rPr lang="en-US" sz="2200" dirty="0" smtClean="0">
                <a:latin typeface="Arial Narrow" panose="020B0606020202030204" pitchFamily="34" charset="0"/>
              </a:rPr>
              <a:t>▪  </a:t>
            </a:r>
            <a:r>
              <a:rPr lang="en-US" sz="2200" dirty="0">
                <a:latin typeface="Arial Narrow" panose="020B0606020202030204" pitchFamily="34" charset="0"/>
              </a:rPr>
              <a:t>Long-term memory and learning  </a:t>
            </a:r>
            <a:endParaRPr lang="en-US" sz="2200" dirty="0" smtClean="0">
              <a:latin typeface="Arial Narrow" panose="020B0606020202030204" pitchFamily="34" charset="0"/>
            </a:endParaRPr>
          </a:p>
          <a:p>
            <a:pPr marL="457200" lvl="1" indent="0" algn="just">
              <a:buNone/>
            </a:pPr>
            <a:r>
              <a:rPr lang="en-US" sz="2200" dirty="0" smtClean="0">
                <a:latin typeface="Arial Narrow" panose="020B0606020202030204" pitchFamily="34" charset="0"/>
              </a:rPr>
              <a:t>▪  </a:t>
            </a:r>
            <a:r>
              <a:rPr lang="en-US" sz="2200" dirty="0">
                <a:latin typeface="Arial Narrow" panose="020B0606020202030204" pitchFamily="34" charset="0"/>
              </a:rPr>
              <a:t>Problem-solving  </a:t>
            </a:r>
            <a:endParaRPr lang="en-US" sz="2200" dirty="0" smtClean="0">
              <a:latin typeface="Arial Narrow" panose="020B0606020202030204" pitchFamily="34" charset="0"/>
            </a:endParaRPr>
          </a:p>
          <a:p>
            <a:pPr marL="457200" lvl="1" indent="0" algn="just">
              <a:buNone/>
            </a:pPr>
            <a:r>
              <a:rPr lang="en-US" sz="2200" dirty="0" smtClean="0">
                <a:latin typeface="Arial Narrow" panose="020B0606020202030204" pitchFamily="34" charset="0"/>
              </a:rPr>
              <a:t>▪  </a:t>
            </a:r>
            <a:r>
              <a:rPr lang="en-US" sz="2200" dirty="0">
                <a:latin typeface="Arial Narrow" panose="020B0606020202030204" pitchFamily="34" charset="0"/>
              </a:rPr>
              <a:t>Decision-making  </a:t>
            </a:r>
            <a:endParaRPr lang="en-US" sz="2200" dirty="0" smtClean="0">
              <a:latin typeface="Arial Narrow" panose="020B0606020202030204" pitchFamily="34" charset="0"/>
            </a:endParaRPr>
          </a:p>
          <a:p>
            <a:pPr marL="457200" lvl="1" indent="0" algn="just">
              <a:buNone/>
            </a:pPr>
            <a:r>
              <a:rPr lang="en-US" sz="2200" dirty="0" smtClean="0">
                <a:latin typeface="Arial Narrow" panose="020B0606020202030204" pitchFamily="34" charset="0"/>
              </a:rPr>
              <a:t>▪  </a:t>
            </a:r>
            <a:r>
              <a:rPr lang="en-US" sz="2200" dirty="0">
                <a:latin typeface="Arial Narrow" panose="020B0606020202030204" pitchFamily="34" charset="0"/>
              </a:rPr>
              <a:t>Attention  </a:t>
            </a:r>
            <a:endParaRPr lang="en-US" sz="2200" dirty="0" smtClean="0">
              <a:latin typeface="Arial Narrow" panose="020B0606020202030204" pitchFamily="34" charset="0"/>
            </a:endParaRPr>
          </a:p>
          <a:p>
            <a:pPr marL="457200" lvl="1" indent="0" algn="just">
              <a:buNone/>
            </a:pPr>
            <a:r>
              <a:rPr lang="en-US" sz="2200" dirty="0" smtClean="0">
                <a:latin typeface="Arial Narrow" panose="020B0606020202030204" pitchFamily="34" charset="0"/>
              </a:rPr>
              <a:t>▪  </a:t>
            </a:r>
            <a:r>
              <a:rPr lang="en-US" sz="2200" dirty="0">
                <a:latin typeface="Arial Narrow" panose="020B0606020202030204" pitchFamily="34" charset="0"/>
              </a:rPr>
              <a:t>Search and scanning  </a:t>
            </a:r>
            <a:endParaRPr lang="en-US" sz="2200" dirty="0" smtClean="0">
              <a:latin typeface="Arial Narrow" panose="020B0606020202030204" pitchFamily="34" charset="0"/>
            </a:endParaRPr>
          </a:p>
          <a:p>
            <a:pPr marL="457200" lvl="1" indent="0" algn="just">
              <a:buNone/>
            </a:pPr>
            <a:r>
              <a:rPr lang="en-US" sz="2200" dirty="0" smtClean="0">
                <a:latin typeface="Arial Narrow" panose="020B0606020202030204" pitchFamily="34" charset="0"/>
              </a:rPr>
              <a:t>▪  </a:t>
            </a:r>
            <a:r>
              <a:rPr lang="en-US" sz="2200" dirty="0">
                <a:latin typeface="Arial Narrow" panose="020B0606020202030204" pitchFamily="34" charset="0"/>
              </a:rPr>
              <a:t>Time perception </a:t>
            </a:r>
            <a:endParaRPr lang="en-ZA" sz="2200" dirty="0" smtClean="0">
              <a:latin typeface="Arial Narrow" panose="020B0606020202030204" pitchFamily="34" charset="0"/>
            </a:endParaRPr>
          </a:p>
          <a:p>
            <a:pPr marL="0" indent="0" algn="just">
              <a:buNone/>
            </a:pPr>
            <a:r>
              <a:rPr lang="en-US" sz="2200" b="1" dirty="0">
                <a:latin typeface="Arial Narrow" panose="020B0606020202030204" pitchFamily="34" charset="0"/>
              </a:rPr>
              <a:t>Attention</a:t>
            </a:r>
            <a:r>
              <a:rPr lang="en-US" sz="2600" dirty="0">
                <a:latin typeface="Arial Narrow" panose="020B0606020202030204" pitchFamily="34" charset="0"/>
              </a:rPr>
              <a:t> </a:t>
            </a:r>
            <a:endParaRPr lang="en-US" sz="2600" dirty="0" smtClean="0">
              <a:latin typeface="Arial Narrow" panose="020B0606020202030204" pitchFamily="34" charset="0"/>
            </a:endParaRPr>
          </a:p>
          <a:p>
            <a:pPr algn="just">
              <a:buFont typeface="Wingdings" panose="05000000000000000000" pitchFamily="2" charset="2"/>
              <a:buChar char="§"/>
            </a:pPr>
            <a:r>
              <a:rPr lang="en-US" sz="2200" dirty="0" smtClean="0">
                <a:latin typeface="Arial Narrow" panose="020B0606020202030204" pitchFamily="34" charset="0"/>
              </a:rPr>
              <a:t>It’s a </a:t>
            </a:r>
            <a:r>
              <a:rPr lang="en-US" sz="2200" dirty="0">
                <a:latin typeface="Arial Narrow" panose="020B0606020202030204" pitchFamily="34" charset="0"/>
              </a:rPr>
              <a:t>p</a:t>
            </a:r>
            <a:r>
              <a:rPr lang="en-US" sz="2200" dirty="0" smtClean="0">
                <a:latin typeface="Arial Narrow" panose="020B0606020202030204" pitchFamily="34" charset="0"/>
              </a:rPr>
              <a:t>rocess </a:t>
            </a:r>
            <a:r>
              <a:rPr lang="en-US" sz="2200" dirty="0">
                <a:latin typeface="Arial Narrow" panose="020B0606020202030204" pitchFamily="34" charset="0"/>
              </a:rPr>
              <a:t>of concentrating on something (object, task or conversation) at a specific point in time. </a:t>
            </a:r>
            <a:endParaRPr lang="en-US" sz="2200" dirty="0" smtClean="0">
              <a:latin typeface="Arial Narrow" panose="020B0606020202030204" pitchFamily="34" charset="0"/>
            </a:endParaRPr>
          </a:p>
          <a:p>
            <a:pPr algn="just">
              <a:buFont typeface="Wingdings" panose="05000000000000000000" pitchFamily="2" charset="2"/>
              <a:buChar char="§"/>
            </a:pPr>
            <a:r>
              <a:rPr lang="en-US" sz="2200" dirty="0" smtClean="0">
                <a:latin typeface="Arial Narrow" panose="020B0606020202030204" pitchFamily="34" charset="0"/>
              </a:rPr>
              <a:t>Involves </a:t>
            </a:r>
            <a:r>
              <a:rPr lang="en-US" sz="2200" dirty="0">
                <a:latin typeface="Arial Narrow" panose="020B0606020202030204" pitchFamily="34" charset="0"/>
              </a:rPr>
              <a:t>our senses such as looking at the road while driving or listening to a news story on the radio, or it can involve thinking processes such as concentrating on solving a mathematical problem </a:t>
            </a:r>
            <a:endParaRPr lang="en-US" sz="2200" dirty="0" smtClean="0">
              <a:latin typeface="Arial Narrow" panose="020B0606020202030204" pitchFamily="34" charset="0"/>
            </a:endParaRPr>
          </a:p>
          <a:p>
            <a:pPr algn="just">
              <a:buFont typeface="Wingdings" panose="05000000000000000000" pitchFamily="2" charset="2"/>
              <a:buChar char="§"/>
            </a:pPr>
            <a:r>
              <a:rPr lang="en-US" sz="2200" dirty="0" smtClean="0">
                <a:latin typeface="Arial Narrow" panose="020B0606020202030204" pitchFamily="34" charset="0"/>
              </a:rPr>
              <a:t>Allows </a:t>
            </a:r>
            <a:r>
              <a:rPr lang="en-US" sz="2200" dirty="0">
                <a:latin typeface="Arial Narrow" panose="020B0606020202030204" pitchFamily="34" charset="0"/>
              </a:rPr>
              <a:t>us to focus on information which is relevant to what we are doing </a:t>
            </a:r>
            <a:endParaRPr lang="en-US" sz="2200" dirty="0" smtClean="0">
              <a:latin typeface="Arial Narrow" panose="020B0606020202030204" pitchFamily="34" charset="0"/>
            </a:endParaRPr>
          </a:p>
          <a:p>
            <a:pPr algn="just">
              <a:buFont typeface="Wingdings" panose="05000000000000000000" pitchFamily="2" charset="2"/>
              <a:buChar char="§"/>
            </a:pPr>
            <a:r>
              <a:rPr lang="en-US" sz="2200" dirty="0" smtClean="0">
                <a:latin typeface="Arial Narrow" panose="020B0606020202030204" pitchFamily="34" charset="0"/>
              </a:rPr>
              <a:t>Influenced </a:t>
            </a:r>
            <a:r>
              <a:rPr lang="en-US" sz="2200" dirty="0">
                <a:latin typeface="Arial Narrow" panose="020B0606020202030204" pitchFamily="34" charset="0"/>
              </a:rPr>
              <a:t>by the way information’s presented as well as by people’s goals </a:t>
            </a:r>
            <a:endParaRPr lang="en-US" sz="22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145740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72016" y="353085"/>
            <a:ext cx="5847784" cy="6102036"/>
          </a:xfrm>
        </p:spPr>
        <p:txBody>
          <a:bodyPr>
            <a:noAutofit/>
          </a:bodyPr>
          <a:lstStyle/>
          <a:p>
            <a:pPr marL="0" indent="0">
              <a:buNone/>
            </a:pPr>
            <a:r>
              <a:rPr lang="en-US" sz="1800" b="1" dirty="0" err="1">
                <a:latin typeface="Arial Narrow" panose="020B0606020202030204" pitchFamily="34" charset="0"/>
              </a:rPr>
              <a:t>Shneiderman’s</a:t>
            </a:r>
            <a:r>
              <a:rPr lang="en-US" sz="1800" b="1" dirty="0">
                <a:latin typeface="Arial Narrow" panose="020B0606020202030204" pitchFamily="34" charset="0"/>
              </a:rPr>
              <a:t> guidelines for designers to get the user’s attention </a:t>
            </a:r>
            <a:endParaRPr lang="en-US" sz="1800" b="1" dirty="0" smtClean="0">
              <a:latin typeface="Arial Narrow" panose="020B0606020202030204" pitchFamily="34" charset="0"/>
            </a:endParaRPr>
          </a:p>
          <a:p>
            <a:r>
              <a:rPr lang="en-US" sz="1800" dirty="0" smtClean="0">
                <a:latin typeface="Arial Narrow" panose="020B0606020202030204" pitchFamily="34" charset="0"/>
              </a:rPr>
              <a:t> </a:t>
            </a:r>
            <a:r>
              <a:rPr lang="en-US" sz="1800" dirty="0">
                <a:latin typeface="Arial Narrow" panose="020B0606020202030204" pitchFamily="34" charset="0"/>
              </a:rPr>
              <a:t>Intensity: </a:t>
            </a:r>
            <a:r>
              <a:rPr lang="en-US" sz="1800" dirty="0" smtClean="0">
                <a:latin typeface="Arial Narrow" panose="020B0606020202030204" pitchFamily="34" charset="0"/>
              </a:rPr>
              <a:t>use of two </a:t>
            </a:r>
            <a:r>
              <a:rPr lang="en-US" sz="1800" dirty="0">
                <a:latin typeface="Arial Narrow" panose="020B0606020202030204" pitchFamily="34" charset="0"/>
              </a:rPr>
              <a:t>levels only with limited use of high intensity to draw attention. </a:t>
            </a:r>
            <a:endParaRPr lang="en-US" sz="1800" dirty="0" smtClean="0">
              <a:latin typeface="Arial Narrow" panose="020B0606020202030204" pitchFamily="34" charset="0"/>
            </a:endParaRPr>
          </a:p>
          <a:p>
            <a:r>
              <a:rPr lang="en-US" sz="1800" dirty="0" smtClean="0">
                <a:latin typeface="Arial Narrow" panose="020B0606020202030204" pitchFamily="34" charset="0"/>
              </a:rPr>
              <a:t>Marking:</a:t>
            </a:r>
          </a:p>
          <a:p>
            <a:pPr lvl="1">
              <a:buFont typeface="Wingdings" panose="05000000000000000000" pitchFamily="2" charset="2"/>
              <a:buChar char="§"/>
            </a:pPr>
            <a:r>
              <a:rPr lang="en-US" sz="1800" dirty="0" smtClean="0">
                <a:latin typeface="Arial Narrow" panose="020B0606020202030204" pitchFamily="34" charset="0"/>
              </a:rPr>
              <a:t>Underline</a:t>
            </a:r>
            <a:r>
              <a:rPr lang="en-US" sz="1800" dirty="0">
                <a:latin typeface="Arial Narrow" panose="020B0606020202030204" pitchFamily="34" charset="0"/>
              </a:rPr>
              <a:t>, enclose in a box, point at it with an arrow, or make use of an indicator such as an asterisk, bullet, plus sign or an X. </a:t>
            </a:r>
            <a:endParaRPr lang="en-US" sz="1800" dirty="0" smtClean="0">
              <a:latin typeface="Arial Narrow" panose="020B0606020202030204" pitchFamily="34" charset="0"/>
            </a:endParaRPr>
          </a:p>
          <a:p>
            <a:r>
              <a:rPr lang="en-US" sz="1800" dirty="0" smtClean="0">
                <a:latin typeface="Arial Narrow" panose="020B0606020202030204" pitchFamily="34" charset="0"/>
              </a:rPr>
              <a:t>Size</a:t>
            </a:r>
            <a:r>
              <a:rPr lang="en-US" sz="1800" dirty="0">
                <a:latin typeface="Arial Narrow" panose="020B0606020202030204" pitchFamily="34" charset="0"/>
              </a:rPr>
              <a:t>: Use only </a:t>
            </a:r>
            <a:r>
              <a:rPr lang="en-US" sz="1800" dirty="0" smtClean="0">
                <a:latin typeface="Arial Narrow" panose="020B0606020202030204" pitchFamily="34" charset="0"/>
              </a:rPr>
              <a:t>four sizes</a:t>
            </a:r>
            <a:r>
              <a:rPr lang="en-US" sz="1800" dirty="0">
                <a:latin typeface="Arial Narrow" panose="020B0606020202030204" pitchFamily="34" charset="0"/>
              </a:rPr>
              <a:t>; the larger sizes attracting attention. </a:t>
            </a:r>
            <a:endParaRPr lang="en-US" sz="1800" dirty="0" smtClean="0">
              <a:latin typeface="Arial Narrow" panose="020B0606020202030204" pitchFamily="34" charset="0"/>
            </a:endParaRPr>
          </a:p>
          <a:p>
            <a:r>
              <a:rPr lang="en-US" sz="1800" dirty="0" smtClean="0">
                <a:latin typeface="Arial Narrow" panose="020B0606020202030204" pitchFamily="34" charset="0"/>
              </a:rPr>
              <a:t>Choice </a:t>
            </a:r>
            <a:r>
              <a:rPr lang="en-US" sz="1800" dirty="0">
                <a:latin typeface="Arial Narrow" panose="020B0606020202030204" pitchFamily="34" charset="0"/>
              </a:rPr>
              <a:t>of fonts: </a:t>
            </a:r>
            <a:r>
              <a:rPr lang="en-US" sz="1800" dirty="0" smtClean="0">
                <a:latin typeface="Arial Narrow" panose="020B0606020202030204" pitchFamily="34" charset="0"/>
              </a:rPr>
              <a:t>Not </a:t>
            </a:r>
            <a:r>
              <a:rPr lang="en-US" sz="1800" dirty="0">
                <a:latin typeface="Arial Narrow" panose="020B0606020202030204" pitchFamily="34" charset="0"/>
              </a:rPr>
              <a:t>more than </a:t>
            </a:r>
            <a:r>
              <a:rPr lang="en-US" sz="1800" dirty="0" smtClean="0">
                <a:latin typeface="Arial Narrow" panose="020B0606020202030204" pitchFamily="34" charset="0"/>
              </a:rPr>
              <a:t>three sizes </a:t>
            </a:r>
          </a:p>
          <a:p>
            <a:r>
              <a:rPr lang="en-US" sz="1800" dirty="0" smtClean="0">
                <a:latin typeface="Arial Narrow" panose="020B0606020202030204" pitchFamily="34" charset="0"/>
              </a:rPr>
              <a:t>Inverse </a:t>
            </a:r>
            <a:r>
              <a:rPr lang="en-US" sz="1800" dirty="0">
                <a:latin typeface="Arial Narrow" panose="020B0606020202030204" pitchFamily="34" charset="0"/>
              </a:rPr>
              <a:t>video. Use </a:t>
            </a:r>
            <a:r>
              <a:rPr lang="en-US" sz="1800" dirty="0" smtClean="0">
                <a:latin typeface="Arial Narrow" panose="020B0606020202030204" pitchFamily="34" charset="0"/>
              </a:rPr>
              <a:t>inverse (reverse) </a:t>
            </a:r>
            <a:r>
              <a:rPr lang="en-US" sz="1800" dirty="0" err="1">
                <a:latin typeface="Arial Narrow" panose="020B0606020202030204" pitchFamily="34" charset="0"/>
              </a:rPr>
              <a:t>colouring</a:t>
            </a:r>
            <a:r>
              <a:rPr lang="en-US" sz="1800" dirty="0">
                <a:latin typeface="Arial Narrow" panose="020B0606020202030204" pitchFamily="34" charset="0"/>
              </a:rPr>
              <a:t> </a:t>
            </a:r>
            <a:endParaRPr lang="en-US" sz="1800" dirty="0" smtClean="0">
              <a:latin typeface="Arial Narrow" panose="020B0606020202030204" pitchFamily="34" charset="0"/>
            </a:endParaRPr>
          </a:p>
          <a:p>
            <a:r>
              <a:rPr lang="en-US" sz="1800" dirty="0" smtClean="0">
                <a:latin typeface="Arial Narrow" panose="020B0606020202030204" pitchFamily="34" charset="0"/>
              </a:rPr>
              <a:t>Blinking</a:t>
            </a:r>
            <a:r>
              <a:rPr lang="en-US" sz="1800" dirty="0">
                <a:latin typeface="Arial Narrow" panose="020B0606020202030204" pitchFamily="34" charset="0"/>
              </a:rPr>
              <a:t>. Use blinking display (2-4 Hz) or blinking </a:t>
            </a:r>
            <a:r>
              <a:rPr lang="en-US" sz="1800" dirty="0" err="1">
                <a:latin typeface="Arial Narrow" panose="020B0606020202030204" pitchFamily="34" charset="0"/>
              </a:rPr>
              <a:t>colour</a:t>
            </a:r>
            <a:r>
              <a:rPr lang="en-US" sz="1800" dirty="0">
                <a:latin typeface="Arial Narrow" panose="020B0606020202030204" pitchFamily="34" charset="0"/>
              </a:rPr>
              <a:t> changes </a:t>
            </a:r>
            <a:endParaRPr lang="en-US" sz="1800" dirty="0" smtClean="0">
              <a:latin typeface="Arial Narrow" panose="020B0606020202030204" pitchFamily="34" charset="0"/>
            </a:endParaRPr>
          </a:p>
          <a:p>
            <a:r>
              <a:rPr lang="en-US" sz="1800" dirty="0" err="1" smtClean="0">
                <a:latin typeface="Arial Narrow" panose="020B0606020202030204" pitchFamily="34" charset="0"/>
              </a:rPr>
              <a:t>Colour</a:t>
            </a:r>
            <a:r>
              <a:rPr lang="en-US" sz="1800" dirty="0">
                <a:latin typeface="Arial Narrow" panose="020B0606020202030204" pitchFamily="34" charset="0"/>
              </a:rPr>
              <a:t>: Use only </a:t>
            </a:r>
            <a:r>
              <a:rPr lang="en-US" sz="1800" dirty="0" smtClean="0">
                <a:latin typeface="Arial Narrow" panose="020B0606020202030204" pitchFamily="34" charset="0"/>
              </a:rPr>
              <a:t>four standard </a:t>
            </a:r>
            <a:r>
              <a:rPr lang="en-US" sz="1800" dirty="0" err="1">
                <a:latin typeface="Arial Narrow" panose="020B0606020202030204" pitchFamily="34" charset="0"/>
              </a:rPr>
              <a:t>colours</a:t>
            </a:r>
            <a:r>
              <a:rPr lang="en-US" sz="1800" dirty="0">
                <a:latin typeface="Arial Narrow" panose="020B0606020202030204" pitchFamily="34" charset="0"/>
              </a:rPr>
              <a:t>, reserve additional </a:t>
            </a:r>
            <a:r>
              <a:rPr lang="en-US" sz="1800" dirty="0" err="1">
                <a:latin typeface="Arial Narrow" panose="020B0606020202030204" pitchFamily="34" charset="0"/>
              </a:rPr>
              <a:t>colours</a:t>
            </a:r>
            <a:r>
              <a:rPr lang="en-US" sz="1800" dirty="0">
                <a:latin typeface="Arial Narrow" panose="020B0606020202030204" pitchFamily="34" charset="0"/>
              </a:rPr>
              <a:t>  </a:t>
            </a:r>
            <a:endParaRPr lang="en-US" sz="1800" dirty="0" smtClean="0">
              <a:latin typeface="Arial Narrow" panose="020B0606020202030204" pitchFamily="34" charset="0"/>
            </a:endParaRPr>
          </a:p>
          <a:p>
            <a:r>
              <a:rPr lang="en-US" sz="1800" dirty="0" smtClean="0">
                <a:latin typeface="Arial Narrow" panose="020B0606020202030204" pitchFamily="34" charset="0"/>
              </a:rPr>
              <a:t>Audio </a:t>
            </a:r>
            <a:r>
              <a:rPr lang="en-US" sz="1800" dirty="0">
                <a:latin typeface="Arial Narrow" panose="020B0606020202030204" pitchFamily="34" charset="0"/>
              </a:rPr>
              <a:t>(alarms or voice messages to get attention) </a:t>
            </a:r>
            <a:endParaRPr lang="en-US" sz="1800" dirty="0" smtClean="0">
              <a:latin typeface="Arial Narrow" panose="020B0606020202030204" pitchFamily="34" charset="0"/>
            </a:endParaRPr>
          </a:p>
          <a:p>
            <a:pPr lvl="1">
              <a:buFont typeface="Wingdings" panose="05000000000000000000" pitchFamily="2" charset="2"/>
              <a:buChar char="§"/>
            </a:pPr>
            <a:r>
              <a:rPr lang="en-US" sz="1800" dirty="0" smtClean="0">
                <a:latin typeface="Arial Narrow" panose="020B0606020202030204" pitchFamily="34" charset="0"/>
              </a:rPr>
              <a:t>Soft </a:t>
            </a:r>
            <a:r>
              <a:rPr lang="en-US" sz="1800" dirty="0">
                <a:latin typeface="Arial Narrow" panose="020B0606020202030204" pitchFamily="34" charset="0"/>
              </a:rPr>
              <a:t>tones for regular positive feedback </a:t>
            </a:r>
            <a:endParaRPr lang="en-US" sz="1800" dirty="0" smtClean="0">
              <a:latin typeface="Arial Narrow" panose="020B0606020202030204" pitchFamily="34" charset="0"/>
            </a:endParaRPr>
          </a:p>
          <a:p>
            <a:pPr lvl="1">
              <a:buFont typeface="Wingdings" panose="05000000000000000000" pitchFamily="2" charset="2"/>
              <a:buChar char="§"/>
            </a:pPr>
            <a:r>
              <a:rPr lang="en-US" sz="1800" dirty="0" smtClean="0">
                <a:latin typeface="Arial Narrow" panose="020B0606020202030204" pitchFamily="34" charset="0"/>
              </a:rPr>
              <a:t>Harsh </a:t>
            </a:r>
            <a:r>
              <a:rPr lang="en-US" sz="1800" dirty="0">
                <a:latin typeface="Arial Narrow" panose="020B0606020202030204" pitchFamily="34" charset="0"/>
              </a:rPr>
              <a:t>sounds for rate emergency conditions </a:t>
            </a:r>
            <a:endParaRPr lang="en-ZA" sz="1800" dirty="0">
              <a:latin typeface="Arial Narrow" panose="020B0606020202030204" pitchFamily="34" charset="0"/>
            </a:endParaRPr>
          </a:p>
        </p:txBody>
      </p:sp>
      <p:sp>
        <p:nvSpPr>
          <p:cNvPr id="4" name="Content Placeholder 3"/>
          <p:cNvSpPr>
            <a:spLocks noGrp="1"/>
          </p:cNvSpPr>
          <p:nvPr>
            <p:ph sz="half" idx="2"/>
          </p:nvPr>
        </p:nvSpPr>
        <p:spPr>
          <a:xfrm>
            <a:off x="6172200" y="353085"/>
            <a:ext cx="5823642" cy="5823878"/>
          </a:xfrm>
        </p:spPr>
        <p:txBody>
          <a:bodyPr>
            <a:normAutofit fontScale="85000" lnSpcReduction="20000"/>
          </a:bodyPr>
          <a:lstStyle/>
          <a:p>
            <a:pPr marL="0" indent="0" algn="just">
              <a:buNone/>
            </a:pPr>
            <a:r>
              <a:rPr lang="en-US" sz="2000" b="1" dirty="0">
                <a:latin typeface="Arial Narrow" panose="020B0606020202030204" pitchFamily="34" charset="0"/>
              </a:rPr>
              <a:t>Memory</a:t>
            </a:r>
            <a:r>
              <a:rPr lang="en-US" sz="2000" dirty="0">
                <a:latin typeface="Arial Narrow" panose="020B0606020202030204" pitchFamily="34" charset="0"/>
              </a:rPr>
              <a:t> </a:t>
            </a:r>
            <a:r>
              <a:rPr lang="en-US" sz="2000" dirty="0" smtClean="0">
                <a:latin typeface="Arial Narrow" panose="020B0606020202030204" pitchFamily="34" charset="0"/>
              </a:rPr>
              <a:t>–</a:t>
            </a:r>
            <a:r>
              <a:rPr lang="en-US" sz="2400" dirty="0" smtClean="0">
                <a:latin typeface="Arial Narrow" panose="020B0606020202030204" pitchFamily="34" charset="0"/>
              </a:rPr>
              <a:t>Consist of a number of systems that can be distinguished in terms of their cognitive structures as well as their perspective roles in the cognitive process.</a:t>
            </a:r>
          </a:p>
          <a:p>
            <a:pPr algn="just">
              <a:buFont typeface="Wingdings" panose="05000000000000000000" pitchFamily="2" charset="2"/>
              <a:buChar char="q"/>
            </a:pPr>
            <a:r>
              <a:rPr lang="en-US" sz="2100" dirty="0" smtClean="0">
                <a:latin typeface="Arial Narrow" panose="020B0606020202030204" pitchFamily="34" charset="0"/>
              </a:rPr>
              <a:t>STM </a:t>
            </a:r>
            <a:r>
              <a:rPr lang="en-US" sz="2100" dirty="0">
                <a:latin typeface="Arial Narrow" panose="020B0606020202030204" pitchFamily="34" charset="0"/>
              </a:rPr>
              <a:t>– Short Term Memory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Store information or events from the immediate </a:t>
            </a:r>
            <a:r>
              <a:rPr lang="en-US" sz="2100" dirty="0" smtClean="0">
                <a:latin typeface="Arial Narrow" panose="020B0606020202030204" pitchFamily="34" charset="0"/>
              </a:rPr>
              <a:t>past</a:t>
            </a: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 Retrieval is measured in seconds or sometimes minutes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Relatively low capacity, fast access, and a short retention period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 “Working memory” - temporary memory to perform our everyday activities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Effectiveness influenced by attention - distractions cause information to vanish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Support STM by representing additional information on the display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Seven-item boundary / limit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Additional information can be held: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o </a:t>
            </a:r>
            <a:r>
              <a:rPr lang="en-US" sz="2100" dirty="0">
                <a:latin typeface="Arial Narrow" panose="020B0606020202030204" pitchFamily="34" charset="0"/>
              </a:rPr>
              <a:t>Chunking involves grouping information into meaningful sections  E.g. Telephone No’s 012 429 6122, Separator lines in </a:t>
            </a:r>
            <a:r>
              <a:rPr lang="en-US" sz="2100" dirty="0" smtClean="0">
                <a:latin typeface="Arial Narrow" panose="020B0606020202030204" pitchFamily="34" charset="0"/>
              </a:rPr>
              <a:t>menus</a:t>
            </a:r>
          </a:p>
          <a:p>
            <a:pPr marL="0" indent="0" algn="just">
              <a:buNone/>
            </a:pPr>
            <a:r>
              <a:rPr lang="en-US" sz="2100" dirty="0" smtClean="0">
                <a:latin typeface="Arial Narrow" panose="020B0606020202030204" pitchFamily="34" charset="0"/>
              </a:rPr>
              <a:t> ▪ </a:t>
            </a:r>
            <a:r>
              <a:rPr lang="en-US" sz="2100" dirty="0">
                <a:latin typeface="Arial Narrow" panose="020B0606020202030204" pitchFamily="34" charset="0"/>
              </a:rPr>
              <a:t>Aim for user interface design is to reduce the load on short-term memory </a:t>
            </a:r>
            <a:endParaRPr lang="en-US" sz="2100" dirty="0" smtClean="0">
              <a:latin typeface="Arial Narrow" panose="020B0606020202030204" pitchFamily="34" charset="0"/>
            </a:endParaRPr>
          </a:p>
          <a:p>
            <a:pPr marL="0" indent="0" algn="just">
              <a:buNone/>
            </a:pPr>
            <a:r>
              <a:rPr lang="en-US" sz="2100" dirty="0" smtClean="0">
                <a:latin typeface="Arial Narrow" panose="020B0606020202030204" pitchFamily="34" charset="0"/>
              </a:rPr>
              <a:t>▪ </a:t>
            </a:r>
            <a:r>
              <a:rPr lang="en-US" sz="2100" dirty="0">
                <a:latin typeface="Arial Narrow" panose="020B0606020202030204" pitchFamily="34" charset="0"/>
              </a:rPr>
              <a:t>We can do this by recording information ‘in the world’ not ‘in the head’.</a:t>
            </a:r>
            <a:endParaRPr lang="en-ZA" sz="21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66209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35802" y="316871"/>
            <a:ext cx="5883998" cy="5860092"/>
          </a:xfrm>
        </p:spPr>
        <p:txBody>
          <a:bodyPr>
            <a:normAutofit lnSpcReduction="10000"/>
          </a:bodyPr>
          <a:lstStyle/>
          <a:p>
            <a:pPr algn="just">
              <a:buFont typeface="Wingdings" panose="05000000000000000000" pitchFamily="2" charset="2"/>
              <a:buChar char="q"/>
            </a:pPr>
            <a:r>
              <a:rPr lang="en-US" sz="2000" dirty="0" smtClean="0">
                <a:latin typeface="Arial Narrow" panose="020B0606020202030204" pitchFamily="34" charset="0"/>
              </a:rPr>
              <a:t> LTM </a:t>
            </a:r>
            <a:r>
              <a:rPr lang="en-US" sz="2000" dirty="0">
                <a:latin typeface="Arial Narrow" panose="020B0606020202030204" pitchFamily="34" charset="0"/>
              </a:rPr>
              <a:t>- Long-Term Memory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Holds information about events that happened hours, days, months or years ago and the information is usually incomplete.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High capacity, slower access, and a long retention period.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Affected by  </a:t>
            </a:r>
            <a:endParaRPr lang="en-US" sz="2000" dirty="0" smtClean="0">
              <a:latin typeface="Arial Narrow" panose="020B0606020202030204" pitchFamily="34" charset="0"/>
            </a:endParaRPr>
          </a:p>
          <a:p>
            <a:pPr marL="457200" lvl="1" indent="0" algn="just">
              <a:buNone/>
            </a:pPr>
            <a:r>
              <a:rPr lang="en-US" sz="2000" dirty="0" smtClean="0">
                <a:latin typeface="Arial Narrow" panose="020B0606020202030204" pitchFamily="34" charset="0"/>
              </a:rPr>
              <a:t>o </a:t>
            </a:r>
            <a:r>
              <a:rPr lang="en-US" sz="2000" dirty="0">
                <a:latin typeface="Arial Narrow" panose="020B0606020202030204" pitchFamily="34" charset="0"/>
              </a:rPr>
              <a:t>People’s interpretation of the events or context.  </a:t>
            </a:r>
            <a:endParaRPr lang="en-US" sz="2000" dirty="0" smtClean="0">
              <a:latin typeface="Arial Narrow" panose="020B0606020202030204" pitchFamily="34" charset="0"/>
            </a:endParaRPr>
          </a:p>
          <a:p>
            <a:pPr marL="457200" lvl="1" indent="0" algn="just">
              <a:buNone/>
            </a:pPr>
            <a:r>
              <a:rPr lang="en-US" sz="2000" dirty="0" smtClean="0">
                <a:latin typeface="Arial Narrow" panose="020B0606020202030204" pitchFamily="34" charset="0"/>
              </a:rPr>
              <a:t>o </a:t>
            </a:r>
            <a:r>
              <a:rPr lang="en-US" sz="2000" dirty="0">
                <a:latin typeface="Arial Narrow" panose="020B0606020202030204" pitchFamily="34" charset="0"/>
              </a:rPr>
              <a:t>The retriever’s current context or state of mind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Storage and retrieval are easier when the material makes sense. </a:t>
            </a:r>
            <a:endParaRPr lang="en-US" sz="2000" dirty="0" smtClean="0">
              <a:latin typeface="Arial Narrow" panose="020B0606020202030204" pitchFamily="34" charset="0"/>
            </a:endParaRPr>
          </a:p>
          <a:p>
            <a:pPr marL="0" indent="0" algn="just">
              <a:buNone/>
            </a:pPr>
            <a:r>
              <a:rPr lang="en-US" sz="2000" b="1" dirty="0">
                <a:latin typeface="Arial Narrow" panose="020B0606020202030204" pitchFamily="34" charset="0"/>
              </a:rPr>
              <a:t>Knowledge in the World vs Knowledge in the Head </a:t>
            </a:r>
            <a:endParaRPr lang="en-US" sz="2000" b="1" dirty="0" smtClean="0">
              <a:latin typeface="Arial Narrow" panose="020B0606020202030204" pitchFamily="34" charset="0"/>
            </a:endParaRPr>
          </a:p>
          <a:p>
            <a:pPr marL="0" indent="0" algn="just">
              <a:buNone/>
            </a:pPr>
            <a:r>
              <a:rPr lang="en-US" sz="2000" dirty="0">
                <a:latin typeface="Arial Narrow" panose="020B0606020202030204" pitchFamily="34" charset="0"/>
              </a:rPr>
              <a:t>Norman (1999) refers to information kept in someone’s memory as “knowledge in the head” and to external information as “knowledge in the world</a:t>
            </a:r>
            <a:r>
              <a:rPr lang="en-US" sz="2000" dirty="0" smtClean="0">
                <a:latin typeface="Arial Narrow" panose="020B0606020202030204" pitchFamily="34" charset="0"/>
              </a:rPr>
              <a:t>”.</a:t>
            </a:r>
          </a:p>
          <a:p>
            <a:pPr marL="0" indent="0" algn="just">
              <a:buNone/>
            </a:pPr>
            <a:r>
              <a:rPr lang="en-US" sz="2000" dirty="0">
                <a:latin typeface="Arial Narrow" panose="020B0606020202030204" pitchFamily="34" charset="0"/>
              </a:rPr>
              <a:t>Some people rely more on knowledge in the world (</a:t>
            </a:r>
            <a:r>
              <a:rPr lang="en-US" sz="2000" dirty="0" err="1">
                <a:latin typeface="Arial Narrow" panose="020B0606020202030204" pitchFamily="34" charset="0"/>
              </a:rPr>
              <a:t>eg</a:t>
            </a:r>
            <a:r>
              <a:rPr lang="en-US" sz="2000" dirty="0">
                <a:latin typeface="Arial Narrow" panose="020B0606020202030204" pitchFamily="34" charset="0"/>
              </a:rPr>
              <a:t> notes, lists and birthday calendars) whereas others depend more on the knowledge in their heads (their memory). There are advantages and disadvantages to both approaches.</a:t>
            </a: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199" y="316871"/>
            <a:ext cx="5832695" cy="5860092"/>
          </a:xfrm>
        </p:spPr>
        <p:txBody>
          <a:bodyPr>
            <a:normAutofit lnSpcReduction="10000"/>
          </a:bodyPr>
          <a:lstStyle/>
          <a:p>
            <a:pPr marL="0" indent="0">
              <a:buNone/>
            </a:pPr>
            <a:r>
              <a:rPr lang="en-US" sz="2000" b="1" dirty="0">
                <a:latin typeface="Arial Narrow" panose="020B0606020202030204" pitchFamily="34" charset="0"/>
              </a:rPr>
              <a:t>Comparison of knowledge in the head and in the world (from Norman (1999))</a:t>
            </a:r>
            <a:endParaRPr lang="en-ZA" sz="2000" b="1"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2" name="Picture 1"/>
          <p:cNvPicPr>
            <a:picLocks noChangeAspect="1"/>
          </p:cNvPicPr>
          <p:nvPr/>
        </p:nvPicPr>
        <p:blipFill>
          <a:blip r:embed="rId2"/>
          <a:stretch>
            <a:fillRect/>
          </a:stretch>
        </p:blipFill>
        <p:spPr>
          <a:xfrm>
            <a:off x="6201999" y="816061"/>
            <a:ext cx="5773093" cy="4923835"/>
          </a:xfrm>
          <a:prstGeom prst="rect">
            <a:avLst/>
          </a:prstGeom>
        </p:spPr>
      </p:pic>
    </p:spTree>
    <p:extLst>
      <p:ext uri="{BB962C8B-B14F-4D97-AF65-F5344CB8AC3E}">
        <p14:creationId xmlns:p14="http://schemas.microsoft.com/office/powerpoint/2010/main" val="2348529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317" y="235390"/>
            <a:ext cx="6060117" cy="6120959"/>
          </a:xfrm>
        </p:spPr>
        <p:txBody>
          <a:bodyPr>
            <a:normAutofit fontScale="85000" lnSpcReduction="10000"/>
          </a:bodyPr>
          <a:lstStyle/>
          <a:p>
            <a:pPr marL="0" indent="0">
              <a:buNone/>
            </a:pPr>
            <a:r>
              <a:rPr lang="en-ZA" sz="2000" b="1" dirty="0" smtClean="0">
                <a:latin typeface="Arial Narrow" panose="020B0606020202030204" pitchFamily="34" charset="0"/>
              </a:rPr>
              <a:t>   Examples to illustrate role of memory in HCI</a:t>
            </a:r>
          </a:p>
        </p:txBody>
      </p:sp>
      <p:sp>
        <p:nvSpPr>
          <p:cNvPr id="4" name="Content Placeholder 3"/>
          <p:cNvSpPr>
            <a:spLocks noGrp="1"/>
          </p:cNvSpPr>
          <p:nvPr>
            <p:ph sz="half" idx="2"/>
          </p:nvPr>
        </p:nvSpPr>
        <p:spPr>
          <a:xfrm>
            <a:off x="6172199" y="325925"/>
            <a:ext cx="5832695" cy="5851038"/>
          </a:xfrm>
        </p:spPr>
        <p:txBody>
          <a:bodyPr>
            <a:normAutofit fontScale="85000" lnSpcReduction="10000"/>
          </a:bodyPr>
          <a:lstStyle/>
          <a:p>
            <a:pPr marL="0" indent="0" algn="just">
              <a:buNone/>
            </a:pPr>
            <a:r>
              <a:rPr lang="en-US" sz="2000" b="1" dirty="0" smtClean="0">
                <a:latin typeface="Arial Narrow" panose="020B0606020202030204" pitchFamily="34" charset="0"/>
              </a:rPr>
              <a:t>3.</a:t>
            </a:r>
            <a:r>
              <a:rPr lang="en-US" sz="2000" dirty="0" smtClean="0">
                <a:latin typeface="Arial Narrow" panose="020B0606020202030204" pitchFamily="34" charset="0"/>
              </a:rPr>
              <a:t> </a:t>
            </a:r>
            <a:r>
              <a:rPr lang="en-US" sz="2000" b="1" dirty="0" smtClean="0">
                <a:latin typeface="Arial Narrow" panose="020B0606020202030204" pitchFamily="34" charset="0"/>
              </a:rPr>
              <a:t>Physiology </a:t>
            </a:r>
            <a:r>
              <a:rPr lang="en-US" sz="2000" b="1" dirty="0">
                <a:latin typeface="Arial Narrow" panose="020B0606020202030204" pitchFamily="34" charset="0"/>
              </a:rPr>
              <a:t>- </a:t>
            </a:r>
            <a:r>
              <a:rPr lang="en-US" sz="2000" dirty="0">
                <a:latin typeface="Arial Narrow" panose="020B0606020202030204" pitchFamily="34" charset="0"/>
              </a:rPr>
              <a:t>Physiology involves the study of the human </a:t>
            </a:r>
            <a:r>
              <a:rPr lang="en-US" sz="2000" dirty="0" smtClean="0">
                <a:latin typeface="Arial Narrow" panose="020B0606020202030204" pitchFamily="34" charset="0"/>
              </a:rPr>
              <a:t>anatomy.</a:t>
            </a:r>
          </a:p>
          <a:p>
            <a:pPr marL="0" indent="0" algn="just">
              <a:buNone/>
            </a:pPr>
            <a:r>
              <a:rPr lang="en-US" sz="2000" dirty="0" smtClean="0">
                <a:latin typeface="Arial Narrow" panose="020B0606020202030204" pitchFamily="34" charset="0"/>
              </a:rPr>
              <a:t>Guidelines:</a:t>
            </a:r>
          </a:p>
          <a:p>
            <a:pPr algn="just">
              <a:buFont typeface="Wingdings" panose="05000000000000000000" pitchFamily="2" charset="2"/>
              <a:buChar char="q"/>
            </a:pPr>
            <a:r>
              <a:rPr lang="en-US" sz="2000" b="1" dirty="0" smtClean="0">
                <a:latin typeface="Arial Narrow" panose="020B0606020202030204" pitchFamily="34" charset="0"/>
              </a:rPr>
              <a:t>Physical </a:t>
            </a:r>
            <a:r>
              <a:rPr lang="en-US" sz="2000" b="1" dirty="0">
                <a:latin typeface="Arial Narrow" panose="020B0606020202030204" pitchFamily="34" charset="0"/>
              </a:rPr>
              <a:t>Interaction and the </a:t>
            </a:r>
            <a:r>
              <a:rPr lang="en-US" sz="2000" b="1" dirty="0" smtClean="0">
                <a:latin typeface="Arial Narrow" panose="020B0606020202030204" pitchFamily="34" charset="0"/>
              </a:rPr>
              <a:t>Environment</a:t>
            </a:r>
          </a:p>
          <a:p>
            <a:pPr marL="0" indent="0" algn="just">
              <a:buNone/>
            </a:pPr>
            <a:r>
              <a:rPr lang="en-US" sz="2000" dirty="0">
                <a:latin typeface="Arial Narrow" panose="020B0606020202030204" pitchFamily="34" charset="0"/>
              </a:rPr>
              <a:t>Visual display should be positioned with the correct visual angle to the user.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Keyboard and mouse use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200" dirty="0" smtClean="0">
                <a:latin typeface="Arial Narrow" panose="020B0606020202030204" pitchFamily="34" charset="0"/>
              </a:rPr>
              <a:t>Prolonged </a:t>
            </a:r>
            <a:r>
              <a:rPr lang="en-US" sz="2200" dirty="0">
                <a:latin typeface="Arial Narrow" panose="020B0606020202030204" pitchFamily="34" charset="0"/>
              </a:rPr>
              <a:t>periods of data entry place heavy stress upon the wrist and upper arm  o Wrist supports, take frequent breaks </a:t>
            </a:r>
            <a:endParaRPr lang="en-US" sz="22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Chairs and office furniture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200" dirty="0" smtClean="0">
                <a:latin typeface="Arial Narrow" panose="020B0606020202030204" pitchFamily="34" charset="0"/>
              </a:rPr>
              <a:t>Well-designed </a:t>
            </a:r>
            <a:r>
              <a:rPr lang="en-US" sz="2200" dirty="0">
                <a:latin typeface="Arial Narrow" panose="020B0606020202030204" pitchFamily="34" charset="0"/>
              </a:rPr>
              <a:t>chairs provide proper lower back support and promote a good posture in front of a computer</a:t>
            </a:r>
            <a:r>
              <a:rPr lang="en-US" sz="2200" dirty="0" smtClean="0">
                <a:latin typeface="Arial Narrow" panose="020B0606020202030204" pitchFamily="34" charset="0"/>
              </a:rPr>
              <a:t>.</a:t>
            </a:r>
          </a:p>
          <a:p>
            <a:pPr marL="0" indent="0" algn="just">
              <a:buNone/>
            </a:pPr>
            <a:r>
              <a:rPr lang="en-US" sz="2000" dirty="0" smtClean="0">
                <a:latin typeface="Arial Narrow" panose="020B0606020202030204" pitchFamily="34" charset="0"/>
              </a:rPr>
              <a:t> • </a:t>
            </a:r>
            <a:r>
              <a:rPr lang="en-US" sz="2000" dirty="0">
                <a:latin typeface="Arial Narrow" panose="020B0606020202030204" pitchFamily="34" charset="0"/>
              </a:rPr>
              <a:t>Placement of work materials: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Users </a:t>
            </a:r>
            <a:r>
              <a:rPr lang="en-US" sz="2000" dirty="0">
                <a:latin typeface="Arial Narrow" panose="020B0606020202030204" pitchFamily="34" charset="0"/>
              </a:rPr>
              <a:t>must be able to operate their system in conjunction with other sources of information and documentation.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Other people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Cannot </a:t>
            </a:r>
            <a:r>
              <a:rPr lang="en-US" sz="2000" dirty="0">
                <a:latin typeface="Arial Narrow" panose="020B0606020202030204" pitchFamily="34" charset="0"/>
              </a:rPr>
              <a:t>rely on system operators to prevent bad things from happening.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 Unexpected </a:t>
            </a:r>
            <a:r>
              <a:rPr lang="en-US" sz="2000" dirty="0">
                <a:latin typeface="Arial Narrow" panose="020B0606020202030204" pitchFamily="34" charset="0"/>
              </a:rPr>
              <a:t>events in environment can create potential disaster.  Possible </a:t>
            </a:r>
            <a:endParaRPr lang="en-US" sz="20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pic>
        <p:nvPicPr>
          <p:cNvPr id="7" name="Picture 6"/>
          <p:cNvPicPr>
            <a:picLocks noChangeAspect="1"/>
          </p:cNvPicPr>
          <p:nvPr/>
        </p:nvPicPr>
        <p:blipFill>
          <a:blip r:embed="rId2"/>
          <a:stretch>
            <a:fillRect/>
          </a:stretch>
        </p:blipFill>
        <p:spPr>
          <a:xfrm>
            <a:off x="85983" y="644944"/>
            <a:ext cx="5572125" cy="1672743"/>
          </a:xfrm>
          <a:prstGeom prst="rect">
            <a:avLst/>
          </a:prstGeom>
        </p:spPr>
      </p:pic>
      <p:pic>
        <p:nvPicPr>
          <p:cNvPr id="8" name="Picture 7"/>
          <p:cNvPicPr>
            <a:picLocks noChangeAspect="1"/>
          </p:cNvPicPr>
          <p:nvPr/>
        </p:nvPicPr>
        <p:blipFill>
          <a:blip r:embed="rId3"/>
          <a:stretch>
            <a:fillRect/>
          </a:stretch>
        </p:blipFill>
        <p:spPr>
          <a:xfrm>
            <a:off x="694098" y="3154345"/>
            <a:ext cx="4068025" cy="2328068"/>
          </a:xfrm>
          <a:prstGeom prst="rect">
            <a:avLst/>
          </a:prstGeom>
        </p:spPr>
      </p:pic>
      <p:sp>
        <p:nvSpPr>
          <p:cNvPr id="9" name="Rectangle 8"/>
          <p:cNvSpPr/>
          <p:nvPr/>
        </p:nvSpPr>
        <p:spPr>
          <a:xfrm>
            <a:off x="196159" y="2283635"/>
            <a:ext cx="5823641" cy="923330"/>
          </a:xfrm>
          <a:prstGeom prst="rect">
            <a:avLst/>
          </a:prstGeom>
        </p:spPr>
        <p:txBody>
          <a:bodyPr wrap="square">
            <a:spAutoFit/>
          </a:bodyPr>
          <a:lstStyle/>
          <a:p>
            <a:r>
              <a:rPr lang="en-US" dirty="0">
                <a:latin typeface="Arial Narrow" panose="020B0606020202030204" pitchFamily="34" charset="0"/>
              </a:rPr>
              <a:t>The message is certainly informative but requires that the user either has an exceptional short-term memory or has pen and paper handy to write down the steps that it refers to.</a:t>
            </a:r>
            <a:endParaRPr lang="en-ZA" dirty="0">
              <a:latin typeface="Arial Narrow" panose="020B0606020202030204" pitchFamily="34" charset="0"/>
            </a:endParaRPr>
          </a:p>
        </p:txBody>
      </p:sp>
      <p:sp>
        <p:nvSpPr>
          <p:cNvPr id="10" name="Rectangle 9"/>
          <p:cNvSpPr/>
          <p:nvPr/>
        </p:nvSpPr>
        <p:spPr>
          <a:xfrm>
            <a:off x="295747" y="5436671"/>
            <a:ext cx="5788182" cy="923330"/>
          </a:xfrm>
          <a:prstGeom prst="rect">
            <a:avLst/>
          </a:prstGeom>
        </p:spPr>
        <p:txBody>
          <a:bodyPr wrap="square">
            <a:spAutoFit/>
          </a:bodyPr>
          <a:lstStyle/>
          <a:p>
            <a:pPr algn="just"/>
            <a:r>
              <a:rPr lang="en-US" dirty="0">
                <a:latin typeface="Arial Narrow" panose="020B0606020202030204" pitchFamily="34" charset="0"/>
              </a:rPr>
              <a:t>When creating a new account, you are asked to specify the new password and, in addition, provide a question and answer in the event that you forget your password at some later time.</a:t>
            </a:r>
            <a:endParaRPr lang="en-ZA" dirty="0"/>
          </a:p>
        </p:txBody>
      </p:sp>
    </p:spTree>
    <p:extLst>
      <p:ext uri="{BB962C8B-B14F-4D97-AF65-F5344CB8AC3E}">
        <p14:creationId xmlns:p14="http://schemas.microsoft.com/office/powerpoint/2010/main" val="1393119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3498" y="162962"/>
            <a:ext cx="5287224" cy="6014001"/>
          </a:xfrm>
        </p:spPr>
        <p:txBody>
          <a:bodyPr>
            <a:normAutofit lnSpcReduction="10000"/>
          </a:bodyPr>
          <a:lstStyle/>
          <a:p>
            <a:pPr marL="0" indent="0" algn="just">
              <a:buNone/>
            </a:pPr>
            <a:r>
              <a:rPr lang="en-US" sz="1800" b="1" dirty="0">
                <a:latin typeface="Arial Narrow" panose="020B0606020202030204" pitchFamily="34" charset="0"/>
              </a:rPr>
              <a:t>Possible sources of distraction in the working environment: </a:t>
            </a:r>
            <a:endParaRPr lang="en-US" sz="1800" b="1"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•Noise: Distraction </a:t>
            </a:r>
            <a:r>
              <a:rPr lang="en-US" sz="1800" dirty="0">
                <a:latin typeface="Arial Narrow" panose="020B0606020202030204" pitchFamily="34" charset="0"/>
              </a:rPr>
              <a:t>can be caused by the sounds of other workers (phone calls, sound from their computers) and office equipment (fans, printers). </a:t>
            </a:r>
            <a:endParaRPr lang="en-US" sz="1800"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•Light: Bright </a:t>
            </a:r>
            <a:r>
              <a:rPr lang="en-US" sz="1800" dirty="0">
                <a:latin typeface="Arial Narrow" panose="020B0606020202030204" pitchFamily="34" charset="0"/>
              </a:rPr>
              <a:t>lighting can cause distraction in interaction with computers </a:t>
            </a:r>
            <a:endParaRPr lang="en-US" sz="1800" dirty="0" smtClean="0">
              <a:latin typeface="Arial Narrow" panose="020B0606020202030204" pitchFamily="34" charset="0"/>
            </a:endParaRPr>
          </a:p>
          <a:p>
            <a:pPr marL="0" indent="0" algn="just">
              <a:buNone/>
            </a:pPr>
            <a:endParaRPr lang="en-US" sz="1800" dirty="0" smtClean="0">
              <a:latin typeface="Arial Narrow" panose="020B0606020202030204" pitchFamily="34" charset="0"/>
            </a:endParaRPr>
          </a:p>
          <a:p>
            <a:pPr marL="0" indent="0" algn="just">
              <a:buNone/>
            </a:pPr>
            <a:r>
              <a:rPr lang="en-US" sz="1800" b="1" dirty="0">
                <a:latin typeface="Arial Narrow" panose="020B0606020202030204" pitchFamily="34" charset="0"/>
              </a:rPr>
              <a:t>Urban myths (untruths) about the impact of computer systems on human physiology: </a:t>
            </a:r>
            <a:endParaRPr lang="en-US" sz="1800" b="1"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•Eyesight: Computer </a:t>
            </a:r>
            <a:r>
              <a:rPr lang="en-US" sz="1800" dirty="0">
                <a:latin typeface="Arial Narrow" panose="020B0606020202030204" pitchFamily="34" charset="0"/>
              </a:rPr>
              <a:t>use does not damage your eyes or eyesight. </a:t>
            </a:r>
            <a:r>
              <a:rPr lang="en-US" sz="1800" dirty="0" smtClean="0">
                <a:latin typeface="Arial Narrow" panose="020B0606020202030204" pitchFamily="34" charset="0"/>
              </a:rPr>
              <a:t>It </a:t>
            </a:r>
            <a:r>
              <a:rPr lang="en-US" sz="1800" dirty="0">
                <a:latin typeface="Arial Narrow" panose="020B0606020202030204" pitchFamily="34" charset="0"/>
              </a:rPr>
              <a:t>may, however, make you aware of existing defects. </a:t>
            </a:r>
            <a:endParaRPr lang="en-US" sz="1800"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•Epilepsy: Computer </a:t>
            </a:r>
            <a:r>
              <a:rPr lang="en-US" sz="1800" dirty="0">
                <a:latin typeface="Arial Narrow" panose="020B0606020202030204" pitchFamily="34" charset="0"/>
              </a:rPr>
              <a:t>use does not appear to induce epileptic attacks. o Television may trigger photosensitive epilepsy but the visual display units of computers do not seem to have the same effect.  o The effect of multimedia video systems upon this illness is still unclear. </a:t>
            </a:r>
            <a:endParaRPr lang="en-US" sz="1800"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•Radiation: The </a:t>
            </a:r>
            <a:r>
              <a:rPr lang="en-US" sz="1800" dirty="0">
                <a:latin typeface="Arial Narrow" panose="020B0606020202030204" pitchFamily="34" charset="0"/>
              </a:rPr>
              <a:t>National Radiological Protection Board in the UK states that VDU’s do not ‘significantly’ increase the risk of radiation-related illnesses. </a:t>
            </a:r>
            <a:endParaRPr lang="en-ZA" sz="1800" dirty="0">
              <a:latin typeface="Arial Narrow" panose="020B0606020202030204" pitchFamily="34" charset="0"/>
            </a:endParaRPr>
          </a:p>
        </p:txBody>
      </p:sp>
      <p:sp>
        <p:nvSpPr>
          <p:cNvPr id="4" name="Content Placeholder 3"/>
          <p:cNvSpPr>
            <a:spLocks noGrp="1"/>
          </p:cNvSpPr>
          <p:nvPr>
            <p:ph sz="half" idx="2"/>
          </p:nvPr>
        </p:nvSpPr>
        <p:spPr>
          <a:xfrm>
            <a:off x="5758004" y="162962"/>
            <a:ext cx="6237838" cy="6014001"/>
          </a:xfrm>
        </p:spPr>
        <p:txBody>
          <a:bodyPr>
            <a:noAutofit/>
          </a:bodyPr>
          <a:lstStyle/>
          <a:p>
            <a:pPr>
              <a:buFont typeface="Wingdings" panose="05000000000000000000" pitchFamily="2" charset="2"/>
              <a:buChar char="q"/>
            </a:pPr>
            <a:r>
              <a:rPr lang="en-ZA" sz="1600" b="1" dirty="0">
                <a:latin typeface="Arial Narrow" panose="020B0606020202030204" pitchFamily="34" charset="0"/>
              </a:rPr>
              <a:t>Users with </a:t>
            </a:r>
            <a:r>
              <a:rPr lang="en-ZA" sz="1600" b="1" dirty="0" smtClean="0">
                <a:latin typeface="Arial Narrow" panose="020B0606020202030204" pitchFamily="34" charset="0"/>
              </a:rPr>
              <a:t>Disabilities</a:t>
            </a:r>
            <a:endParaRPr lang="en-ZA" sz="1600" b="1" dirty="0">
              <a:latin typeface="Arial Narrow" panose="020B0606020202030204" pitchFamily="34" charset="0"/>
            </a:endParaRPr>
          </a:p>
          <a:p>
            <a:pPr marL="0" indent="0" algn="just">
              <a:buNone/>
            </a:pPr>
            <a:r>
              <a:rPr lang="en-US" sz="1600" b="1" dirty="0">
                <a:latin typeface="Arial Narrow" panose="020B0606020202030204" pitchFamily="34" charset="0"/>
              </a:rPr>
              <a:t>Accessibility</a:t>
            </a:r>
            <a:r>
              <a:rPr lang="en-US" sz="1600" dirty="0">
                <a:latin typeface="Arial Narrow" panose="020B0606020202030204" pitchFamily="34" charset="0"/>
              </a:rPr>
              <a:t> = degree to which an interactive product is usable by people with disabilities </a:t>
            </a:r>
            <a:endParaRPr lang="en-US" sz="1600" dirty="0" smtClean="0">
              <a:latin typeface="Arial Narrow" panose="020B0606020202030204" pitchFamily="34" charset="0"/>
            </a:endParaRPr>
          </a:p>
          <a:p>
            <a:pPr marL="0" indent="0" algn="just">
              <a:buNone/>
            </a:pPr>
            <a:r>
              <a:rPr lang="en-US" sz="1600" b="1" dirty="0" smtClean="0">
                <a:latin typeface="Arial Narrow" panose="020B0606020202030204" pitchFamily="34" charset="0"/>
              </a:rPr>
              <a:t>Reasons </a:t>
            </a:r>
            <a:r>
              <a:rPr lang="en-US" sz="1600" b="1" dirty="0">
                <a:latin typeface="Arial Narrow" panose="020B0606020202030204" pitchFamily="34" charset="0"/>
              </a:rPr>
              <a:t>for designing systems that is accessible to people with disabilities</a:t>
            </a:r>
            <a:r>
              <a:rPr lang="en-US" sz="1600" b="1" dirty="0" smtClean="0">
                <a:latin typeface="Arial Narrow" panose="020B0606020202030204" pitchFamily="34" charset="0"/>
              </a:rPr>
              <a:t>:</a:t>
            </a:r>
          </a:p>
          <a:p>
            <a:pPr marL="0" indent="0" algn="just">
              <a:buNone/>
            </a:pPr>
            <a:r>
              <a:rPr lang="en-US" sz="1600" dirty="0" smtClean="0">
                <a:latin typeface="Arial Narrow" panose="020B0606020202030204" pitchFamily="34" charset="0"/>
              </a:rPr>
              <a:t> </a:t>
            </a:r>
            <a:r>
              <a:rPr lang="en-US" sz="1600" dirty="0">
                <a:latin typeface="Arial Narrow" panose="020B0606020202030204" pitchFamily="34" charset="0"/>
              </a:rPr>
              <a:t>• Compliance with regulatory and legal requirements </a:t>
            </a:r>
            <a:endParaRPr lang="en-US" sz="1600" dirty="0" smtClean="0">
              <a:latin typeface="Arial Narrow" panose="020B0606020202030204" pitchFamily="34" charset="0"/>
            </a:endParaRPr>
          </a:p>
          <a:p>
            <a:pPr marL="0" indent="0" algn="just">
              <a:buNone/>
            </a:pPr>
            <a:r>
              <a:rPr lang="en-US" sz="1600" dirty="0" smtClean="0">
                <a:latin typeface="Arial Narrow" panose="020B0606020202030204" pitchFamily="34" charset="0"/>
              </a:rPr>
              <a:t>• </a:t>
            </a:r>
            <a:r>
              <a:rPr lang="en-US" sz="1600" dirty="0">
                <a:latin typeface="Arial Narrow" panose="020B0606020202030204" pitchFamily="34" charset="0"/>
              </a:rPr>
              <a:t>Exposure to more people </a:t>
            </a:r>
            <a:endParaRPr lang="en-US" sz="1600" dirty="0" smtClean="0">
              <a:latin typeface="Arial Narrow" panose="020B0606020202030204" pitchFamily="34" charset="0"/>
            </a:endParaRPr>
          </a:p>
          <a:p>
            <a:pPr marL="0" indent="0" algn="just">
              <a:buNone/>
            </a:pPr>
            <a:r>
              <a:rPr lang="en-US" sz="1600" dirty="0" smtClean="0">
                <a:latin typeface="Arial Narrow" panose="020B0606020202030204" pitchFamily="34" charset="0"/>
              </a:rPr>
              <a:t>• </a:t>
            </a:r>
            <a:r>
              <a:rPr lang="en-US" sz="1600" dirty="0">
                <a:latin typeface="Arial Narrow" panose="020B0606020202030204" pitchFamily="34" charset="0"/>
              </a:rPr>
              <a:t>Better design and implementation - enhances usability for all users  </a:t>
            </a:r>
            <a:endParaRPr lang="en-US" sz="1600" dirty="0" smtClean="0">
              <a:latin typeface="Arial Narrow" panose="020B0606020202030204" pitchFamily="34" charset="0"/>
            </a:endParaRPr>
          </a:p>
          <a:p>
            <a:pPr marL="0" indent="0" algn="just">
              <a:buNone/>
            </a:pPr>
            <a:r>
              <a:rPr lang="en-US" sz="1600" dirty="0" smtClean="0">
                <a:latin typeface="Arial Narrow" panose="020B0606020202030204" pitchFamily="34" charset="0"/>
              </a:rPr>
              <a:t>• </a:t>
            </a:r>
            <a:r>
              <a:rPr lang="en-US" sz="1600" dirty="0">
                <a:latin typeface="Arial Narrow" panose="020B0606020202030204" pitchFamily="34" charset="0"/>
              </a:rPr>
              <a:t>Cost savings </a:t>
            </a:r>
            <a:endParaRPr lang="en-US" sz="1600" dirty="0" smtClean="0">
              <a:latin typeface="Arial Narrow" panose="020B0606020202030204" pitchFamily="34" charset="0"/>
            </a:endParaRPr>
          </a:p>
          <a:p>
            <a:pPr marL="0" indent="0" algn="just">
              <a:buNone/>
            </a:pPr>
            <a:r>
              <a:rPr lang="en-US" sz="1600" b="1" dirty="0">
                <a:latin typeface="Arial Narrow" panose="020B0606020202030204" pitchFamily="34" charset="0"/>
              </a:rPr>
              <a:t>Accessibility </a:t>
            </a:r>
            <a:r>
              <a:rPr lang="en-US" sz="1600" b="1" dirty="0" smtClean="0">
                <a:latin typeface="Arial Narrow" panose="020B0606020202030204" pitchFamily="34" charset="0"/>
              </a:rPr>
              <a:t>Guidelines</a:t>
            </a:r>
          </a:p>
          <a:p>
            <a:pPr marL="0" indent="0" algn="just">
              <a:buNone/>
            </a:pPr>
            <a:r>
              <a:rPr lang="en-US" sz="1600" dirty="0" smtClean="0">
                <a:latin typeface="Arial Narrow" panose="020B0606020202030204" pitchFamily="34" charset="0"/>
              </a:rPr>
              <a:t> </a:t>
            </a:r>
            <a:r>
              <a:rPr lang="en-US" sz="1600" dirty="0">
                <a:latin typeface="Arial Narrow" panose="020B0606020202030204" pitchFamily="34" charset="0"/>
              </a:rPr>
              <a:t>• </a:t>
            </a:r>
            <a:r>
              <a:rPr lang="en-US" sz="1600" b="1" dirty="0">
                <a:latin typeface="Arial Narrow" panose="020B0606020202030204" pitchFamily="34" charset="0"/>
              </a:rPr>
              <a:t>Text alternatives </a:t>
            </a:r>
            <a:endParaRPr lang="en-US" sz="1600" b="1" dirty="0" smtClean="0">
              <a:latin typeface="Arial Narrow" panose="020B0606020202030204" pitchFamily="34" charset="0"/>
            </a:endParaRPr>
          </a:p>
          <a:p>
            <a:pPr lvl="1" algn="just">
              <a:buFont typeface="Wingdings" panose="05000000000000000000" pitchFamily="2" charset="2"/>
              <a:buChar char="§"/>
            </a:pPr>
            <a:r>
              <a:rPr lang="en-US" sz="1600" dirty="0" smtClean="0">
                <a:latin typeface="Arial Narrow" panose="020B0606020202030204" pitchFamily="34" charset="0"/>
              </a:rPr>
              <a:t>To </a:t>
            </a:r>
            <a:r>
              <a:rPr lang="en-US" sz="1600" dirty="0">
                <a:latin typeface="Arial Narrow" panose="020B0606020202030204" pitchFamily="34" charset="0"/>
              </a:rPr>
              <a:t>provide any non-text content so that it can be changed into other forms which users need </a:t>
            </a:r>
            <a:endParaRPr lang="en-US" sz="1600" dirty="0" smtClean="0">
              <a:latin typeface="Arial Narrow" panose="020B0606020202030204" pitchFamily="34" charset="0"/>
            </a:endParaRPr>
          </a:p>
          <a:p>
            <a:pPr lvl="1" algn="just">
              <a:buFont typeface="Wingdings" panose="05000000000000000000" pitchFamily="2" charset="2"/>
              <a:buChar char="§"/>
            </a:pPr>
            <a:r>
              <a:rPr lang="en-US" sz="1600" dirty="0" smtClean="0">
                <a:latin typeface="Arial Narrow" panose="020B0606020202030204" pitchFamily="34" charset="0"/>
              </a:rPr>
              <a:t>E.g</a:t>
            </a:r>
            <a:r>
              <a:rPr lang="en-US" sz="1600" dirty="0">
                <a:latin typeface="Arial Narrow" panose="020B0606020202030204" pitchFamily="34" charset="0"/>
              </a:rPr>
              <a:t>. into large print, Braille, speech, symbols, or simpler language</a:t>
            </a:r>
            <a:r>
              <a:rPr lang="en-US" sz="1600" dirty="0" smtClean="0">
                <a:latin typeface="Arial Narrow" panose="020B0606020202030204" pitchFamily="34" charset="0"/>
              </a:rPr>
              <a:t>.</a:t>
            </a:r>
          </a:p>
          <a:p>
            <a:pPr marL="0" indent="0" algn="just">
              <a:buNone/>
            </a:pPr>
            <a:r>
              <a:rPr lang="en-US" sz="1600" dirty="0" smtClean="0">
                <a:latin typeface="Arial Narrow" panose="020B0606020202030204" pitchFamily="34" charset="0"/>
              </a:rPr>
              <a:t> </a:t>
            </a:r>
            <a:r>
              <a:rPr lang="en-US" sz="1600" dirty="0">
                <a:latin typeface="Arial Narrow" panose="020B0606020202030204" pitchFamily="34" charset="0"/>
              </a:rPr>
              <a:t>• </a:t>
            </a:r>
            <a:r>
              <a:rPr lang="en-US" sz="1600" b="1" dirty="0">
                <a:latin typeface="Arial Narrow" panose="020B0606020202030204" pitchFamily="34" charset="0"/>
              </a:rPr>
              <a:t>Time-based media </a:t>
            </a:r>
          </a:p>
          <a:p>
            <a:pPr lvl="1" algn="just">
              <a:buFont typeface="Wingdings" panose="05000000000000000000" pitchFamily="2" charset="2"/>
              <a:buChar char="§"/>
            </a:pPr>
            <a:r>
              <a:rPr lang="en-US" sz="1600" dirty="0" smtClean="0">
                <a:latin typeface="Arial Narrow" panose="020B0606020202030204" pitchFamily="34" charset="0"/>
              </a:rPr>
              <a:t>If </a:t>
            </a:r>
            <a:r>
              <a:rPr lang="en-US" sz="1600" dirty="0">
                <a:latin typeface="Arial Narrow" panose="020B0606020202030204" pitchFamily="34" charset="0"/>
              </a:rPr>
              <a:t>non-text content is time-based media, text alternatives: </a:t>
            </a:r>
            <a:endParaRPr lang="en-US" sz="1600" dirty="0" smtClean="0">
              <a:latin typeface="Arial Narrow" panose="020B0606020202030204" pitchFamily="34" charset="0"/>
            </a:endParaRPr>
          </a:p>
          <a:p>
            <a:pPr marL="0" indent="0" algn="just">
              <a:buNone/>
            </a:pPr>
            <a:r>
              <a:rPr lang="en-US" sz="1600" dirty="0" smtClean="0">
                <a:latin typeface="Arial Narrow" panose="020B0606020202030204" pitchFamily="34" charset="0"/>
              </a:rPr>
              <a:t>1. Provides </a:t>
            </a:r>
            <a:r>
              <a:rPr lang="en-US" sz="1600" dirty="0">
                <a:latin typeface="Arial Narrow" panose="020B0606020202030204" pitchFamily="34" charset="0"/>
              </a:rPr>
              <a:t>descriptive identification of the non-text content (</a:t>
            </a:r>
            <a:r>
              <a:rPr lang="en-US" sz="1600" dirty="0" err="1">
                <a:latin typeface="Arial Narrow" panose="020B0606020202030204" pitchFamily="34" charset="0"/>
              </a:rPr>
              <a:t>eg</a:t>
            </a:r>
            <a:r>
              <a:rPr lang="en-US" sz="1600" dirty="0">
                <a:latin typeface="Arial Narrow" panose="020B0606020202030204" pitchFamily="34" charset="0"/>
              </a:rPr>
              <a:t>, movies or animations) and, </a:t>
            </a:r>
            <a:endParaRPr lang="en-US" sz="1600" dirty="0" smtClean="0">
              <a:latin typeface="Arial Narrow" panose="020B0606020202030204" pitchFamily="34" charset="0"/>
            </a:endParaRPr>
          </a:p>
          <a:p>
            <a:pPr marL="0" indent="0" algn="just">
              <a:buNone/>
            </a:pPr>
            <a:r>
              <a:rPr lang="en-US" sz="1600" dirty="0" smtClean="0">
                <a:latin typeface="Arial Narrow" panose="020B0606020202030204" pitchFamily="34" charset="0"/>
              </a:rPr>
              <a:t>2. </a:t>
            </a:r>
            <a:r>
              <a:rPr lang="en-US" sz="1600" dirty="0" err="1" smtClean="0">
                <a:latin typeface="Arial Narrow" panose="020B0606020202030204" pitchFamily="34" charset="0"/>
              </a:rPr>
              <a:t>Synchronises</a:t>
            </a:r>
            <a:r>
              <a:rPr lang="en-US" sz="1600" dirty="0" smtClean="0">
                <a:latin typeface="Arial Narrow" panose="020B0606020202030204" pitchFamily="34" charset="0"/>
              </a:rPr>
              <a:t> </a:t>
            </a:r>
            <a:r>
              <a:rPr lang="en-US" sz="1600" dirty="0">
                <a:latin typeface="Arial Narrow" panose="020B0606020202030204" pitchFamily="34" charset="0"/>
              </a:rPr>
              <a:t>equivalent alternatives such as caption or auditory descriptions of the visual track with the presentation. </a:t>
            </a:r>
            <a:endParaRPr lang="en-ZA" sz="16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164173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62962"/>
            <a:ext cx="5856838" cy="6014001"/>
          </a:xfrm>
        </p:spPr>
        <p:txBody>
          <a:bodyPr>
            <a:normAutofit fontScale="92500" lnSpcReduction="20000"/>
          </a:bodyPr>
          <a:lstStyle/>
          <a:p>
            <a:r>
              <a:rPr lang="en-US" sz="2000" b="1" dirty="0">
                <a:latin typeface="Arial Narrow" panose="020B0606020202030204" pitchFamily="34" charset="0"/>
              </a:rPr>
              <a:t>Distinguishable </a:t>
            </a:r>
            <a:endParaRPr lang="en-US" sz="2000" b="1"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This </a:t>
            </a:r>
            <a:r>
              <a:rPr lang="en-US" sz="2000" dirty="0">
                <a:latin typeface="Arial Narrow" panose="020B0606020202030204" pitchFamily="34" charset="0"/>
              </a:rPr>
              <a:t>guideline makes it easier for users to see and hear content and separates the foreground from the background.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err="1" smtClean="0">
                <a:latin typeface="Arial Narrow" panose="020B0606020202030204" pitchFamily="34" charset="0"/>
              </a:rPr>
              <a:t>Colour</a:t>
            </a:r>
            <a:r>
              <a:rPr lang="en-US" sz="2000" dirty="0" smtClean="0">
                <a:latin typeface="Arial Narrow" panose="020B0606020202030204" pitchFamily="34" charset="0"/>
              </a:rPr>
              <a:t> </a:t>
            </a:r>
            <a:r>
              <a:rPr lang="en-US" sz="2000" dirty="0">
                <a:latin typeface="Arial Narrow" panose="020B0606020202030204" pitchFamily="34" charset="0"/>
              </a:rPr>
              <a:t>is not used as the only visual means for conveying information, indicating an action, prompting a response, or distinguishing a visual element. </a:t>
            </a:r>
            <a:endParaRPr lang="en-US" sz="2000" dirty="0" smtClean="0">
              <a:latin typeface="Arial Narrow" panose="020B0606020202030204" pitchFamily="34" charset="0"/>
            </a:endParaRPr>
          </a:p>
          <a:p>
            <a:pPr marL="0" indent="0">
              <a:buNone/>
            </a:pPr>
            <a:r>
              <a:rPr lang="en-US" sz="2000" b="1" dirty="0" smtClean="0">
                <a:latin typeface="Arial Narrow" panose="020B0606020202030204" pitchFamily="34" charset="0"/>
              </a:rPr>
              <a:t>Predictable </a:t>
            </a:r>
          </a:p>
          <a:p>
            <a:pPr lvl="1">
              <a:buFont typeface="Wingdings" panose="05000000000000000000" pitchFamily="2" charset="2"/>
              <a:buChar char="§"/>
            </a:pPr>
            <a:r>
              <a:rPr lang="en-US" sz="2000" dirty="0" smtClean="0">
                <a:latin typeface="Arial Narrow" panose="020B0606020202030204" pitchFamily="34" charset="0"/>
              </a:rPr>
              <a:t>Web </a:t>
            </a:r>
            <a:r>
              <a:rPr lang="en-US" sz="2000" dirty="0">
                <a:latin typeface="Arial Narrow" panose="020B0606020202030204" pitchFamily="34" charset="0"/>
              </a:rPr>
              <a:t>pages appear and operate in predictable </a:t>
            </a:r>
            <a:r>
              <a:rPr lang="en-US" sz="2000" dirty="0" smtClean="0">
                <a:latin typeface="Arial Narrow" panose="020B0606020202030204" pitchFamily="34" charset="0"/>
              </a:rPr>
              <a:t>ways</a:t>
            </a:r>
          </a:p>
          <a:p>
            <a:pPr>
              <a:buFont typeface="Wingdings" panose="05000000000000000000" pitchFamily="2" charset="2"/>
              <a:buChar char="q"/>
            </a:pPr>
            <a:r>
              <a:rPr lang="en-US" sz="2000" b="1" dirty="0">
                <a:latin typeface="Arial Narrow" panose="020B0606020202030204" pitchFamily="34" charset="0"/>
              </a:rPr>
              <a:t>Users with Vision Impairments </a:t>
            </a:r>
            <a:endParaRPr lang="en-US" sz="2000" b="1" dirty="0" smtClean="0">
              <a:latin typeface="Arial Narrow" panose="020B0606020202030204" pitchFamily="34" charset="0"/>
            </a:endParaRPr>
          </a:p>
          <a:p>
            <a:pPr marL="0" indent="0">
              <a:buNone/>
            </a:pPr>
            <a:r>
              <a:rPr lang="en-US" sz="2000" dirty="0" smtClean="0">
                <a:latin typeface="Arial Narrow" panose="020B0606020202030204" pitchFamily="34" charset="0"/>
              </a:rPr>
              <a:t>Experience </a:t>
            </a:r>
            <a:r>
              <a:rPr lang="en-US" sz="2000" dirty="0">
                <a:latin typeface="Arial Narrow" panose="020B0606020202030204" pitchFamily="34" charset="0"/>
              </a:rPr>
              <a:t>difficulties with output display besides the problems that the mouse and other input devices pose. </a:t>
            </a:r>
            <a:endParaRPr lang="en-US" sz="2000" dirty="0" smtClean="0">
              <a:latin typeface="Arial Narrow" panose="020B0606020202030204" pitchFamily="34" charset="0"/>
            </a:endParaRPr>
          </a:p>
          <a:p>
            <a:pPr marL="0" indent="0">
              <a:buNone/>
            </a:pPr>
            <a:r>
              <a:rPr lang="en-US" sz="2000" b="1" dirty="0">
                <a:latin typeface="Arial Narrow" panose="020B0606020202030204" pitchFamily="34" charset="0"/>
              </a:rPr>
              <a:t>Solutions: </a:t>
            </a:r>
            <a:endParaRPr lang="en-US" sz="2000" b="1"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Text-to-speech </a:t>
            </a:r>
            <a:r>
              <a:rPr lang="en-US" sz="2000" dirty="0">
                <a:latin typeface="Arial Narrow" panose="020B0606020202030204" pitchFamily="34" charset="0"/>
              </a:rPr>
              <a:t>conversion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Speech-recognition </a:t>
            </a:r>
            <a:r>
              <a:rPr lang="en-US" sz="2000" dirty="0">
                <a:latin typeface="Arial Narrow" panose="020B0606020202030204" pitchFamily="34" charset="0"/>
              </a:rPr>
              <a:t>devices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Enlarging </a:t>
            </a:r>
            <a:r>
              <a:rPr lang="en-US" sz="2000" dirty="0">
                <a:latin typeface="Arial Narrow" panose="020B0606020202030204" pitchFamily="34" charset="0"/>
              </a:rPr>
              <a:t>portions of a </a:t>
            </a:r>
            <a:r>
              <a:rPr lang="en-US" sz="2000" dirty="0" smtClean="0">
                <a:latin typeface="Arial Narrow" panose="020B0606020202030204" pitchFamily="34" charset="0"/>
              </a:rPr>
              <a:t>display</a:t>
            </a:r>
          </a:p>
          <a:p>
            <a:pPr lvl="1" algn="just">
              <a:buFont typeface="Wingdings" panose="05000000000000000000" pitchFamily="2" charset="2"/>
              <a:buChar char="§"/>
            </a:pPr>
            <a:r>
              <a:rPr lang="en-US" sz="2000" dirty="0" smtClean="0">
                <a:latin typeface="Arial Narrow" panose="020B0606020202030204" pitchFamily="34" charset="0"/>
              </a:rPr>
              <a:t> Converting </a:t>
            </a:r>
            <a:r>
              <a:rPr lang="en-US" sz="2000" dirty="0">
                <a:latin typeface="Arial Narrow" panose="020B0606020202030204" pitchFamily="34" charset="0"/>
              </a:rPr>
              <a:t>displays to Braille or voice output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Speech </a:t>
            </a:r>
            <a:r>
              <a:rPr lang="en-US" sz="2000" dirty="0">
                <a:latin typeface="Arial Narrow" panose="020B0606020202030204" pitchFamily="34" charset="0"/>
              </a:rPr>
              <a:t>generation and auditory interfaces are used by sighted users under difficult conditions, </a:t>
            </a:r>
            <a:r>
              <a:rPr lang="en-US" sz="2000" dirty="0" err="1">
                <a:latin typeface="Arial Narrow" panose="020B0606020202030204" pitchFamily="34" charset="0"/>
              </a:rPr>
              <a:t>E.g</a:t>
            </a:r>
            <a:r>
              <a:rPr lang="en-US" sz="2000" dirty="0">
                <a:latin typeface="Arial Narrow" panose="020B0606020202030204" pitchFamily="34" charset="0"/>
              </a:rPr>
              <a:t>, when driving an automobile. </a:t>
            </a: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199" y="162962"/>
            <a:ext cx="5841749" cy="6014001"/>
          </a:xfrm>
        </p:spPr>
        <p:txBody>
          <a:bodyPr>
            <a:normAutofit fontScale="92500" lnSpcReduction="20000"/>
          </a:bodyPr>
          <a:lstStyle/>
          <a:p>
            <a:pPr algn="just">
              <a:buFont typeface="Wingdings" panose="05000000000000000000" pitchFamily="2" charset="2"/>
              <a:buChar char="§"/>
            </a:pPr>
            <a:r>
              <a:rPr lang="en-US" sz="2000" dirty="0">
                <a:latin typeface="Arial Narrow" panose="020B0606020202030204" pitchFamily="34" charset="0"/>
              </a:rPr>
              <a:t>Screen readers - extract textual information from computer’s video memory and sends to a speech synthesizer to describe elements of the display to the user (icons, menus, punctuation and controls) </a:t>
            </a:r>
            <a:endParaRPr lang="en-US" sz="2000" dirty="0" smtClean="0">
              <a:latin typeface="Arial Narrow" panose="020B0606020202030204" pitchFamily="34" charset="0"/>
            </a:endParaRPr>
          </a:p>
          <a:p>
            <a:pPr algn="just">
              <a:buFont typeface="Wingdings" panose="05000000000000000000" pitchFamily="2" charset="2"/>
              <a:buChar char="§"/>
            </a:pPr>
            <a:r>
              <a:rPr lang="en-US" sz="2000" dirty="0" smtClean="0">
                <a:latin typeface="Arial Narrow" panose="020B0606020202030204" pitchFamily="34" charset="0"/>
              </a:rPr>
              <a:t>Able </a:t>
            </a:r>
            <a:r>
              <a:rPr lang="en-US" sz="2000" dirty="0">
                <a:latin typeface="Arial Narrow" panose="020B0606020202030204" pitchFamily="34" charset="0"/>
              </a:rPr>
              <a:t>to change size, shape and </a:t>
            </a:r>
            <a:r>
              <a:rPr lang="en-US" sz="2000" dirty="0" err="1">
                <a:latin typeface="Arial Narrow" panose="020B0606020202030204" pitchFamily="34" charset="0"/>
              </a:rPr>
              <a:t>colour</a:t>
            </a:r>
            <a:r>
              <a:rPr lang="en-US" sz="2000" dirty="0">
                <a:latin typeface="Arial Narrow" panose="020B0606020202030204" pitchFamily="34" charset="0"/>
              </a:rPr>
              <a:t> of the onscreen mouse cursor, and auditory or tactile feedback of actions </a:t>
            </a:r>
            <a:endParaRPr lang="en-US" sz="2000" dirty="0" smtClean="0">
              <a:latin typeface="Arial Narrow" panose="020B0606020202030204" pitchFamily="34" charset="0"/>
            </a:endParaRPr>
          </a:p>
          <a:p>
            <a:pPr algn="just">
              <a:buFont typeface="Wingdings" panose="05000000000000000000" pitchFamily="2" charset="2"/>
              <a:buChar char="§"/>
            </a:pPr>
            <a:r>
              <a:rPr lang="en-US" sz="2000" dirty="0" smtClean="0">
                <a:latin typeface="Arial Narrow" panose="020B0606020202030204" pitchFamily="34" charset="0"/>
              </a:rPr>
              <a:t>Keyboard </a:t>
            </a:r>
            <a:r>
              <a:rPr lang="en-US" sz="2000" dirty="0">
                <a:latin typeface="Arial Narrow" panose="020B0606020202030204" pitchFamily="34" charset="0"/>
              </a:rPr>
              <a:t>with large lettering, high contrast between text and background, audible feedback when keys are pressed and marked with </a:t>
            </a:r>
            <a:r>
              <a:rPr lang="en-US" sz="2000" dirty="0" smtClean="0">
                <a:latin typeface="Arial Narrow" panose="020B0606020202030204" pitchFamily="34" charset="0"/>
              </a:rPr>
              <a:t>Braille </a:t>
            </a:r>
            <a:r>
              <a:rPr lang="en-US" sz="2000" dirty="0">
                <a:latin typeface="Arial Narrow" panose="020B0606020202030204" pitchFamily="34" charset="0"/>
              </a:rPr>
              <a:t>or tactile </a:t>
            </a:r>
            <a:r>
              <a:rPr lang="en-US" sz="2000" dirty="0" smtClean="0">
                <a:latin typeface="Arial Narrow" panose="020B0606020202030204" pitchFamily="34" charset="0"/>
              </a:rPr>
              <a:t>identification</a:t>
            </a:r>
            <a:endParaRPr lang="en-US" sz="2000" b="1" dirty="0" smtClean="0">
              <a:latin typeface="Arial Narrow" panose="020B0606020202030204" pitchFamily="34" charset="0"/>
            </a:endParaRPr>
          </a:p>
          <a:p>
            <a:pPr algn="just">
              <a:buFont typeface="Wingdings" panose="05000000000000000000" pitchFamily="2" charset="2"/>
              <a:buChar char="q"/>
            </a:pPr>
            <a:r>
              <a:rPr lang="en-US" sz="2000" b="1" dirty="0">
                <a:latin typeface="Arial Narrow" panose="020B0606020202030204" pitchFamily="34" charset="0"/>
              </a:rPr>
              <a:t>People with Motor Impairments </a:t>
            </a:r>
            <a:endParaRPr lang="en-US" sz="2000" b="1"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Experience </a:t>
            </a:r>
            <a:r>
              <a:rPr lang="en-US" sz="2000" dirty="0">
                <a:latin typeface="Arial Narrow" panose="020B0606020202030204" pitchFamily="34" charset="0"/>
              </a:rPr>
              <a:t>difficulties grasping and moving a standard mouse and find fine motor coordination and selecting small on-screen targets difficult . </a:t>
            </a:r>
            <a:r>
              <a:rPr lang="en-US" sz="2000" dirty="0" smtClean="0">
                <a:latin typeface="Arial Narrow" panose="020B0606020202030204" pitchFamily="34" charset="0"/>
              </a:rPr>
              <a:t>Double </a:t>
            </a:r>
            <a:r>
              <a:rPr lang="en-US" sz="2000" dirty="0">
                <a:latin typeface="Arial Narrow" panose="020B0606020202030204" pitchFamily="34" charset="0"/>
              </a:rPr>
              <a:t>clicking, and drag-and-drop operations </a:t>
            </a:r>
            <a:r>
              <a:rPr lang="en-US" sz="2000" dirty="0" smtClean="0">
                <a:latin typeface="Arial Narrow" panose="020B0606020202030204" pitchFamily="34" charset="0"/>
              </a:rPr>
              <a:t>it’s a problem.</a:t>
            </a:r>
          </a:p>
          <a:p>
            <a:pPr marL="0" indent="0" algn="just">
              <a:buNone/>
            </a:pPr>
            <a:r>
              <a:rPr lang="en-US" sz="2000" dirty="0" smtClean="0">
                <a:latin typeface="Arial Narrow" panose="020B0606020202030204" pitchFamily="34" charset="0"/>
              </a:rPr>
              <a:t>• </a:t>
            </a:r>
            <a:r>
              <a:rPr lang="en-US" sz="2000" b="1" dirty="0">
                <a:latin typeface="Arial Narrow" panose="020B0606020202030204" pitchFamily="34" charset="0"/>
              </a:rPr>
              <a:t>Solutions:  </a:t>
            </a:r>
            <a:endParaRPr lang="en-US" sz="2000" b="1"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Implementing </a:t>
            </a:r>
            <a:r>
              <a:rPr lang="en-US" sz="2000" dirty="0">
                <a:latin typeface="Arial Narrow" panose="020B0606020202030204" pitchFamily="34" charset="0"/>
              </a:rPr>
              <a:t>“gravity fields” around objects </a:t>
            </a:r>
            <a:r>
              <a:rPr lang="en-US" sz="2000" dirty="0" smtClean="0">
                <a:latin typeface="Arial Narrow" panose="020B0606020202030204" pitchFamily="34" charset="0"/>
              </a:rPr>
              <a:t>or mouse vibration –cursor on target</a:t>
            </a:r>
          </a:p>
          <a:p>
            <a:pPr lvl="1" algn="just">
              <a:buFont typeface="Wingdings" panose="05000000000000000000" pitchFamily="2" charset="2"/>
              <a:buChar char="§"/>
            </a:pPr>
            <a:r>
              <a:rPr lang="en-US" sz="2000" dirty="0" smtClean="0">
                <a:latin typeface="Arial Narrow" panose="020B0606020202030204" pitchFamily="34" charset="0"/>
              </a:rPr>
              <a:t>Trackballs </a:t>
            </a:r>
            <a:r>
              <a:rPr lang="en-US" sz="2000" dirty="0">
                <a:latin typeface="Arial Narrow" panose="020B0606020202030204" pitchFamily="34" charset="0"/>
              </a:rPr>
              <a:t>that allow users to move the cursor using only the thumb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Head-operated </a:t>
            </a:r>
            <a:r>
              <a:rPr lang="en-US" sz="2000" dirty="0">
                <a:latin typeface="Arial Narrow" panose="020B0606020202030204" pitchFamily="34" charset="0"/>
              </a:rPr>
              <a:t>or eye tracking devices or head-mounted optical mice </a:t>
            </a:r>
            <a:r>
              <a:rPr lang="en-US" sz="2000" dirty="0" smtClean="0">
                <a:latin typeface="Arial Narrow" panose="020B0606020202030204" pitchFamily="34" charset="0"/>
              </a:rPr>
              <a:t>required</a:t>
            </a:r>
          </a:p>
          <a:p>
            <a:pPr lvl="1" algn="just">
              <a:buFont typeface="Wingdings" panose="05000000000000000000" pitchFamily="2" charset="2"/>
              <a:buChar char="§"/>
            </a:pPr>
            <a:r>
              <a:rPr lang="en-ZA" sz="2000" dirty="0">
                <a:latin typeface="Arial Narrow" panose="020B0606020202030204" pitchFamily="34" charset="0"/>
              </a:rPr>
              <a:t> Speech input / recognition </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48742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62962"/>
            <a:ext cx="5856838" cy="6129196"/>
          </a:xfrm>
        </p:spPr>
        <p:txBody>
          <a:bodyPr>
            <a:noAutofit/>
          </a:bodyPr>
          <a:lstStyle/>
          <a:p>
            <a:pPr algn="just">
              <a:buFont typeface="Wingdings" panose="05000000000000000000" pitchFamily="2" charset="2"/>
              <a:buChar char="§"/>
            </a:pPr>
            <a:r>
              <a:rPr lang="en-US" sz="1800" dirty="0">
                <a:latin typeface="Arial Narrow" panose="020B0606020202030204" pitchFamily="34" charset="0"/>
              </a:rPr>
              <a:t>Detachable keyboards with adequate grip </a:t>
            </a:r>
            <a:endParaRPr lang="en-US" sz="1800" dirty="0" smtClean="0">
              <a:latin typeface="Arial Narrow" panose="020B0606020202030204" pitchFamily="34" charset="0"/>
            </a:endParaRPr>
          </a:p>
          <a:p>
            <a:pPr algn="just">
              <a:buFont typeface="Wingdings" panose="05000000000000000000" pitchFamily="2" charset="2"/>
              <a:buChar char="§"/>
            </a:pPr>
            <a:r>
              <a:rPr lang="en-US" sz="1800" dirty="0" smtClean="0">
                <a:latin typeface="Arial Narrow" panose="020B0606020202030204" pitchFamily="34" charset="0"/>
              </a:rPr>
              <a:t>Oversized </a:t>
            </a:r>
            <a:r>
              <a:rPr lang="en-US" sz="1800" dirty="0">
                <a:latin typeface="Arial Narrow" panose="020B0606020202030204" pitchFamily="34" charset="0"/>
              </a:rPr>
              <a:t>keyboards, key guards to guide fingers onto keys, and software-enabled sticky keys for users who experience uncertain </a:t>
            </a:r>
            <a:r>
              <a:rPr lang="en-US" sz="1800" dirty="0" smtClean="0">
                <a:latin typeface="Arial Narrow" panose="020B0606020202030204" pitchFamily="34" charset="0"/>
              </a:rPr>
              <a:t>touch</a:t>
            </a:r>
          </a:p>
          <a:p>
            <a:pPr algn="just">
              <a:buFont typeface="Wingdings" panose="05000000000000000000" pitchFamily="2" charset="2"/>
              <a:buChar char="q"/>
            </a:pPr>
            <a:r>
              <a:rPr lang="en-US" sz="1800" b="1" dirty="0">
                <a:latin typeface="Arial Narrow" panose="020B0606020202030204" pitchFamily="34" charset="0"/>
              </a:rPr>
              <a:t>Users with Hearing Impairments </a:t>
            </a:r>
            <a:endParaRPr lang="en-US" sz="1800" b="1" dirty="0" smtClean="0">
              <a:latin typeface="Arial Narrow" panose="020B0606020202030204" pitchFamily="34" charset="0"/>
            </a:endParaRPr>
          </a:p>
          <a:p>
            <a:pPr algn="just">
              <a:buFont typeface="Wingdings" panose="05000000000000000000" pitchFamily="2" charset="2"/>
              <a:buChar char="§"/>
            </a:pPr>
            <a:r>
              <a:rPr lang="en-US" sz="1800" dirty="0" smtClean="0">
                <a:latin typeface="Arial Narrow" panose="020B0606020202030204" pitchFamily="34" charset="0"/>
              </a:rPr>
              <a:t>Use of computers to </a:t>
            </a:r>
            <a:r>
              <a:rPr lang="en-US" sz="1800" dirty="0">
                <a:latin typeface="Arial Narrow" panose="020B0606020202030204" pitchFamily="34" charset="0"/>
              </a:rPr>
              <a:t>convert tones to visual </a:t>
            </a:r>
            <a:r>
              <a:rPr lang="en-US" sz="1800" dirty="0" smtClean="0">
                <a:latin typeface="Arial Narrow" panose="020B0606020202030204" pitchFamily="34" charset="0"/>
              </a:rPr>
              <a:t>signals, communicate by emails at working </a:t>
            </a:r>
            <a:r>
              <a:rPr lang="en-US" sz="1800" dirty="0" err="1" smtClean="0">
                <a:latin typeface="Arial Narrow" panose="020B0606020202030204" pitchFamily="34" charset="0"/>
              </a:rPr>
              <a:t>enviornments</a:t>
            </a:r>
            <a:endParaRPr lang="en-US" sz="1800" dirty="0" smtClean="0">
              <a:latin typeface="Arial Narrow" panose="020B0606020202030204" pitchFamily="34" charset="0"/>
            </a:endParaRPr>
          </a:p>
          <a:p>
            <a:pPr algn="just">
              <a:buFont typeface="Wingdings" panose="05000000000000000000" pitchFamily="2" charset="2"/>
              <a:buChar char="§"/>
            </a:pPr>
            <a:r>
              <a:rPr lang="en-US" sz="1800" dirty="0" smtClean="0">
                <a:latin typeface="Arial Narrow" panose="020B0606020202030204" pitchFamily="34" charset="0"/>
              </a:rPr>
              <a:t> Telecommunication </a:t>
            </a:r>
            <a:r>
              <a:rPr lang="en-US" sz="1800" dirty="0">
                <a:latin typeface="Arial Narrow" panose="020B0606020202030204" pitchFamily="34" charset="0"/>
              </a:rPr>
              <a:t>devices for the deaf (TDD or TYY) enable telephone access to information, to train or airplane schedules, and to services </a:t>
            </a:r>
            <a:endParaRPr lang="en-US" sz="1800" dirty="0" smtClean="0">
              <a:latin typeface="Arial Narrow" panose="020B0606020202030204" pitchFamily="34" charset="0"/>
            </a:endParaRPr>
          </a:p>
          <a:p>
            <a:pPr marL="0" indent="0" algn="just">
              <a:buNone/>
            </a:pPr>
            <a:r>
              <a:rPr lang="en-US" sz="1800" b="1" dirty="0">
                <a:latin typeface="Arial Narrow" panose="020B0606020202030204" pitchFamily="34" charset="0"/>
              </a:rPr>
              <a:t>Individual Differences </a:t>
            </a:r>
            <a:endParaRPr lang="en-US" sz="1800" b="1" dirty="0" smtClean="0">
              <a:latin typeface="Arial Narrow" panose="020B0606020202030204" pitchFamily="34" charset="0"/>
            </a:endParaRPr>
          </a:p>
          <a:p>
            <a:pPr algn="just">
              <a:buFont typeface="Wingdings" panose="05000000000000000000" pitchFamily="2" charset="2"/>
              <a:buChar char="q"/>
            </a:pPr>
            <a:r>
              <a:rPr lang="en-US" sz="1800" b="1" dirty="0" smtClean="0">
                <a:latin typeface="Arial Narrow" panose="020B0606020202030204" pitchFamily="34" charset="0"/>
              </a:rPr>
              <a:t>Culture </a:t>
            </a:r>
          </a:p>
          <a:p>
            <a:pPr marL="0" indent="0" algn="just">
              <a:buNone/>
            </a:pPr>
            <a:r>
              <a:rPr lang="en-US" sz="1800" dirty="0" smtClean="0">
                <a:latin typeface="Arial Narrow" panose="020B0606020202030204" pitchFamily="34" charset="0"/>
              </a:rPr>
              <a:t>• </a:t>
            </a:r>
            <a:r>
              <a:rPr lang="en-US" sz="1800" dirty="0">
                <a:latin typeface="Arial Narrow" panose="020B0606020202030204" pitchFamily="34" charset="0"/>
              </a:rPr>
              <a:t>Culture = behaviour typical of a group / class of people. </a:t>
            </a:r>
            <a:endParaRPr lang="en-US" sz="1800"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 </a:t>
            </a:r>
            <a:r>
              <a:rPr lang="en-US" sz="1800" dirty="0">
                <a:latin typeface="Arial Narrow" panose="020B0606020202030204" pitchFamily="34" charset="0"/>
              </a:rPr>
              <a:t>Includes race, ethnicity… and is manifested in customary behaviours, assumptions, values, patterns of thinking, and communicative style. </a:t>
            </a:r>
            <a:endParaRPr lang="en-US" sz="1800" dirty="0" smtClean="0">
              <a:latin typeface="Arial Narrow" panose="020B0606020202030204" pitchFamily="34" charset="0"/>
            </a:endParaRPr>
          </a:p>
          <a:p>
            <a:pPr marL="0" indent="0" algn="just">
              <a:buNone/>
            </a:pPr>
            <a:r>
              <a:rPr lang="en-US" sz="1800" dirty="0" smtClean="0">
                <a:latin typeface="Arial Narrow" panose="020B0606020202030204" pitchFamily="34" charset="0"/>
              </a:rPr>
              <a:t>• </a:t>
            </a:r>
            <a:r>
              <a:rPr lang="en-US" sz="1800" dirty="0">
                <a:latin typeface="Arial Narrow" panose="020B0606020202030204" pitchFamily="34" charset="0"/>
              </a:rPr>
              <a:t>Holistically-minded people tend to perceive a situation globally whereas </a:t>
            </a:r>
            <a:r>
              <a:rPr lang="en-US" sz="1800" dirty="0" smtClean="0">
                <a:latin typeface="Arial Narrow" panose="020B0606020202030204" pitchFamily="34" charset="0"/>
              </a:rPr>
              <a:t>analytically minded </a:t>
            </a:r>
            <a:r>
              <a:rPr lang="en-US" sz="1800" dirty="0">
                <a:latin typeface="Arial Narrow" panose="020B0606020202030204" pitchFamily="34" charset="0"/>
              </a:rPr>
              <a:t>people have a tendency to perceive an object separately from the context and to assign objects to categories </a:t>
            </a:r>
            <a:endParaRPr lang="en-ZA" sz="1800" dirty="0">
              <a:latin typeface="Arial Narrow" panose="020B0606020202030204" pitchFamily="34" charset="0"/>
            </a:endParaRPr>
          </a:p>
        </p:txBody>
      </p:sp>
      <p:sp>
        <p:nvSpPr>
          <p:cNvPr id="4" name="Content Placeholder 3"/>
          <p:cNvSpPr>
            <a:spLocks noGrp="1"/>
          </p:cNvSpPr>
          <p:nvPr>
            <p:ph sz="half" idx="2"/>
          </p:nvPr>
        </p:nvSpPr>
        <p:spPr>
          <a:xfrm>
            <a:off x="6172199" y="162962"/>
            <a:ext cx="5841749" cy="6193388"/>
          </a:xfrm>
        </p:spPr>
        <p:txBody>
          <a:bodyPr>
            <a:normAutofit fontScale="85000" lnSpcReduction="20000"/>
          </a:bodyPr>
          <a:lstStyle/>
          <a:p>
            <a:pPr marL="0" indent="0" algn="just">
              <a:buNone/>
            </a:pPr>
            <a:r>
              <a:rPr lang="en-US" sz="2000" b="1" dirty="0">
                <a:latin typeface="Arial Narrow" panose="020B0606020202030204" pitchFamily="34" charset="0"/>
              </a:rPr>
              <a:t>Two approaches to create designs that span language or culture groups: </a:t>
            </a:r>
            <a:endParaRPr lang="en-US" sz="2000" b="1" dirty="0" smtClean="0">
              <a:latin typeface="Arial Narrow" panose="020B0606020202030204" pitchFamily="34" charset="0"/>
            </a:endParaRPr>
          </a:p>
          <a:p>
            <a:pPr marL="0" indent="0" algn="just">
              <a:buNone/>
            </a:pPr>
            <a:r>
              <a:rPr lang="en-US" sz="2400" dirty="0" smtClean="0">
                <a:latin typeface="Arial Narrow" panose="020B0606020202030204" pitchFamily="34" charset="0"/>
              </a:rPr>
              <a:t>• </a:t>
            </a:r>
            <a:r>
              <a:rPr lang="en-US" sz="2400" b="1" dirty="0">
                <a:latin typeface="Arial Narrow" panose="020B0606020202030204" pitchFamily="34" charset="0"/>
              </a:rPr>
              <a:t>Internationalisation</a:t>
            </a:r>
            <a:r>
              <a:rPr lang="en-US" sz="2400" dirty="0">
                <a:latin typeface="Arial Narrow" panose="020B0606020202030204" pitchFamily="34" charset="0"/>
              </a:rPr>
              <a:t>  </a:t>
            </a:r>
            <a:endParaRPr lang="en-US" sz="2400" dirty="0" smtClean="0">
              <a:latin typeface="Arial Narrow" panose="020B0606020202030204" pitchFamily="34" charset="0"/>
            </a:endParaRPr>
          </a:p>
          <a:p>
            <a:pPr lvl="1" algn="just">
              <a:buFont typeface="Wingdings" panose="05000000000000000000" pitchFamily="2" charset="2"/>
              <a:buChar char="§"/>
            </a:pPr>
            <a:r>
              <a:rPr lang="en-US" dirty="0" smtClean="0">
                <a:latin typeface="Arial Narrow" panose="020B0606020202030204" pitchFamily="34" charset="0"/>
              </a:rPr>
              <a:t>Single </a:t>
            </a:r>
            <a:r>
              <a:rPr lang="en-US" dirty="0">
                <a:latin typeface="Arial Narrow" panose="020B0606020202030204" pitchFamily="34" charset="0"/>
              </a:rPr>
              <a:t>design that is appropriate for use worldwide, among groups of nations. </a:t>
            </a:r>
            <a:endParaRPr lang="en-US" dirty="0" smtClean="0">
              <a:latin typeface="Arial Narrow" panose="020B0606020202030204" pitchFamily="34" charset="0"/>
            </a:endParaRPr>
          </a:p>
          <a:p>
            <a:pPr marL="0" indent="0" algn="just">
              <a:buNone/>
            </a:pPr>
            <a:r>
              <a:rPr lang="en-US" sz="2400" dirty="0" smtClean="0">
                <a:latin typeface="Arial Narrow" panose="020B0606020202030204" pitchFamily="34" charset="0"/>
              </a:rPr>
              <a:t>• </a:t>
            </a:r>
            <a:r>
              <a:rPr lang="en-US" sz="2400" b="1" dirty="0">
                <a:latin typeface="Arial Narrow" panose="020B0606020202030204" pitchFamily="34" charset="0"/>
              </a:rPr>
              <a:t>Localisation</a:t>
            </a:r>
            <a:r>
              <a:rPr lang="en-US" sz="2400" dirty="0">
                <a:latin typeface="Arial Narrow" panose="020B0606020202030204" pitchFamily="34" charset="0"/>
              </a:rPr>
              <a:t> </a:t>
            </a:r>
            <a:endParaRPr lang="en-US" sz="2400" dirty="0" smtClean="0">
              <a:latin typeface="Arial Narrow" panose="020B0606020202030204" pitchFamily="34" charset="0"/>
            </a:endParaRPr>
          </a:p>
          <a:p>
            <a:pPr lvl="1" algn="just">
              <a:buFont typeface="Wingdings" panose="05000000000000000000" pitchFamily="2" charset="2"/>
              <a:buChar char="§"/>
            </a:pPr>
            <a:r>
              <a:rPr lang="en-US" dirty="0" smtClean="0">
                <a:latin typeface="Arial Narrow" panose="020B0606020202030204" pitchFamily="34" charset="0"/>
              </a:rPr>
              <a:t>The </a:t>
            </a:r>
            <a:r>
              <a:rPr lang="en-US" dirty="0">
                <a:latin typeface="Arial Narrow" panose="020B0606020202030204" pitchFamily="34" charset="0"/>
              </a:rPr>
              <a:t>design of versions of a product for a specific group or community, with a unified language and culture. </a:t>
            </a:r>
            <a:endParaRPr lang="en-US" dirty="0" smtClean="0">
              <a:latin typeface="Arial Narrow" panose="020B0606020202030204" pitchFamily="34" charset="0"/>
            </a:endParaRPr>
          </a:p>
          <a:p>
            <a:pPr lvl="1" algn="just">
              <a:buFont typeface="Wingdings" panose="05000000000000000000" pitchFamily="2" charset="2"/>
              <a:buChar char="§"/>
            </a:pPr>
            <a:r>
              <a:rPr lang="en-US" dirty="0" smtClean="0">
                <a:latin typeface="Arial Narrow" panose="020B0606020202030204" pitchFamily="34" charset="0"/>
              </a:rPr>
              <a:t>Problems </a:t>
            </a:r>
            <a:r>
              <a:rPr lang="en-US" dirty="0">
                <a:latin typeface="Arial Narrow" panose="020B0606020202030204" pitchFamily="34" charset="0"/>
              </a:rPr>
              <a:t>/ </a:t>
            </a:r>
            <a:r>
              <a:rPr lang="en-US" dirty="0" smtClean="0">
                <a:latin typeface="Arial Narrow" panose="020B0606020202030204" pitchFamily="34" charset="0"/>
              </a:rPr>
              <a:t>Concerns</a:t>
            </a:r>
          </a:p>
          <a:p>
            <a:pPr lvl="2" algn="just"/>
            <a:r>
              <a:rPr lang="en-US" sz="2400" dirty="0" smtClean="0">
                <a:latin typeface="Arial Narrow" panose="020B0606020202030204" pitchFamily="34" charset="0"/>
              </a:rPr>
              <a:t> Accurate </a:t>
            </a:r>
            <a:r>
              <a:rPr lang="en-US" sz="2400" dirty="0">
                <a:latin typeface="Arial Narrow" panose="020B0606020202030204" pitchFamily="34" charset="0"/>
              </a:rPr>
              <a:t>translation into the target language. </a:t>
            </a:r>
            <a:endParaRPr lang="en-US" sz="2400" dirty="0" smtClean="0">
              <a:latin typeface="Arial Narrow" panose="020B0606020202030204" pitchFamily="34" charset="0"/>
            </a:endParaRPr>
          </a:p>
          <a:p>
            <a:pPr lvl="2" algn="just"/>
            <a:r>
              <a:rPr lang="en-US" sz="2400" dirty="0" smtClean="0">
                <a:latin typeface="Arial Narrow" panose="020B0606020202030204" pitchFamily="34" charset="0"/>
              </a:rPr>
              <a:t>Hardware </a:t>
            </a:r>
            <a:r>
              <a:rPr lang="en-US" sz="2400" dirty="0">
                <a:latin typeface="Arial Narrow" panose="020B0606020202030204" pitchFamily="34" charset="0"/>
              </a:rPr>
              <a:t>concerns: Different character sets, keyboards, and special input devices. </a:t>
            </a:r>
            <a:endParaRPr lang="en-US" sz="2400" dirty="0" smtClean="0">
              <a:latin typeface="Arial Narrow" panose="020B0606020202030204" pitchFamily="34" charset="0"/>
            </a:endParaRPr>
          </a:p>
          <a:p>
            <a:pPr lvl="2" algn="just"/>
            <a:r>
              <a:rPr lang="en-US" sz="2400" dirty="0" smtClean="0">
                <a:latin typeface="Arial Narrow" panose="020B0606020202030204" pitchFamily="34" charset="0"/>
              </a:rPr>
              <a:t>Cultural </a:t>
            </a:r>
            <a:r>
              <a:rPr lang="en-US" sz="2400" dirty="0">
                <a:latin typeface="Arial Narrow" panose="020B0606020202030204" pitchFamily="34" charset="0"/>
              </a:rPr>
              <a:t>concerns: Like the use of images and </a:t>
            </a:r>
            <a:r>
              <a:rPr lang="en-US" sz="2400" dirty="0" err="1" smtClean="0">
                <a:latin typeface="Arial Narrow" panose="020B0606020202030204" pitchFamily="34" charset="0"/>
              </a:rPr>
              <a:t>colour</a:t>
            </a:r>
            <a:r>
              <a:rPr lang="en-US" sz="2400" dirty="0" smtClean="0">
                <a:latin typeface="Arial Narrow" panose="020B0606020202030204" pitchFamily="34" charset="0"/>
              </a:rPr>
              <a:t>.</a:t>
            </a:r>
          </a:p>
          <a:p>
            <a:pPr marL="0" indent="0" algn="just">
              <a:buNone/>
            </a:pPr>
            <a:r>
              <a:rPr lang="en-US" sz="2400" dirty="0">
                <a:latin typeface="Arial Narrow" panose="020B0606020202030204" pitchFamily="34" charset="0"/>
              </a:rPr>
              <a:t>Factors that need to be addressed before a software package can be </a:t>
            </a:r>
            <a:r>
              <a:rPr lang="en-US" sz="2400" dirty="0" err="1">
                <a:latin typeface="Arial Narrow" panose="020B0606020202030204" pitchFamily="34" charset="0"/>
              </a:rPr>
              <a:t>internationalised</a:t>
            </a:r>
            <a:r>
              <a:rPr lang="en-US" sz="2400" dirty="0">
                <a:latin typeface="Arial Narrow" panose="020B0606020202030204" pitchFamily="34" charset="0"/>
              </a:rPr>
              <a:t> or </a:t>
            </a:r>
            <a:r>
              <a:rPr lang="en-US" sz="2400" dirty="0" err="1">
                <a:latin typeface="Arial Narrow" panose="020B0606020202030204" pitchFamily="34" charset="0"/>
              </a:rPr>
              <a:t>localised</a:t>
            </a:r>
            <a:r>
              <a:rPr lang="en-US" sz="2400" dirty="0">
                <a:latin typeface="Arial Narrow" panose="020B0606020202030204" pitchFamily="34" charset="0"/>
              </a:rPr>
              <a:t>: </a:t>
            </a:r>
            <a:endParaRPr lang="en-US" sz="2400" dirty="0" smtClean="0">
              <a:latin typeface="Arial Narrow" panose="020B0606020202030204" pitchFamily="34" charset="0"/>
            </a:endParaRPr>
          </a:p>
          <a:p>
            <a:pPr marL="0" indent="0" algn="just">
              <a:buNone/>
            </a:pPr>
            <a:r>
              <a:rPr lang="en-US" sz="2400" dirty="0" smtClean="0">
                <a:latin typeface="Arial Narrow" panose="020B0606020202030204" pitchFamily="34" charset="0"/>
              </a:rPr>
              <a:t>• </a:t>
            </a:r>
            <a:r>
              <a:rPr lang="en-US" sz="2400" b="1" dirty="0" smtClean="0">
                <a:latin typeface="Arial Narrow" panose="020B0606020202030204" pitchFamily="34" charset="0"/>
              </a:rPr>
              <a:t>Overt factors - visible:  </a:t>
            </a:r>
          </a:p>
          <a:p>
            <a:pPr lvl="1" algn="just">
              <a:buFont typeface="Wingdings" panose="05000000000000000000" pitchFamily="2" charset="2"/>
              <a:buChar char="§"/>
            </a:pPr>
            <a:r>
              <a:rPr lang="en-US" dirty="0" smtClean="0">
                <a:latin typeface="Arial Narrow" panose="020B0606020202030204" pitchFamily="34" charset="0"/>
              </a:rPr>
              <a:t>Tangible</a:t>
            </a:r>
            <a:r>
              <a:rPr lang="en-US" dirty="0">
                <a:latin typeface="Arial Narrow" panose="020B0606020202030204" pitchFamily="34" charset="0"/>
              </a:rPr>
              <a:t>, straightforward, and publicly observable </a:t>
            </a:r>
            <a:endParaRPr lang="en-US" dirty="0" smtClean="0">
              <a:latin typeface="Arial Narrow" panose="020B0606020202030204" pitchFamily="34" charset="0"/>
            </a:endParaRPr>
          </a:p>
          <a:p>
            <a:pPr lvl="1" algn="just">
              <a:buFont typeface="Wingdings" panose="05000000000000000000" pitchFamily="2" charset="2"/>
              <a:buChar char="§"/>
            </a:pPr>
            <a:r>
              <a:rPr lang="en-US" dirty="0" smtClean="0">
                <a:latin typeface="Arial Narrow" panose="020B0606020202030204" pitchFamily="34" charset="0"/>
              </a:rPr>
              <a:t>Includes</a:t>
            </a:r>
            <a:r>
              <a:rPr lang="en-US" dirty="0">
                <a:latin typeface="Arial Narrow" panose="020B0606020202030204" pitchFamily="34" charset="0"/>
              </a:rPr>
              <a:t>: dates, calendars, weekends, day turnovers, time, telephone and address formats, character sets, collating order sequence, reading and writing direction, punctuation, translation, units of measures and currency </a:t>
            </a:r>
            <a:endParaRPr lang="en-ZA"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91931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35802"/>
            <a:ext cx="5856838" cy="6041161"/>
          </a:xfrm>
        </p:spPr>
        <p:txBody>
          <a:bodyPr>
            <a:normAutofit lnSpcReduction="10000"/>
          </a:bodyPr>
          <a:lstStyle/>
          <a:p>
            <a:pPr algn="just"/>
            <a:r>
              <a:rPr lang="en-US" sz="2000" b="1" dirty="0">
                <a:latin typeface="Arial Narrow" panose="020B0606020202030204" pitchFamily="34" charset="0"/>
              </a:rPr>
              <a:t>Covert factors </a:t>
            </a:r>
            <a:endParaRPr lang="en-US" sz="2000" b="1"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Intangible </a:t>
            </a:r>
            <a:r>
              <a:rPr lang="en-US" sz="2000" dirty="0">
                <a:latin typeface="Arial Narrow" panose="020B0606020202030204" pitchFamily="34" charset="0"/>
              </a:rPr>
              <a:t>elements that depend on culture or special knowledge. </a:t>
            </a:r>
          </a:p>
          <a:p>
            <a:pPr lvl="1" algn="just">
              <a:buFont typeface="Wingdings" panose="05000000000000000000" pitchFamily="2" charset="2"/>
              <a:buChar char="§"/>
            </a:pPr>
            <a:r>
              <a:rPr lang="en-US" sz="2000" dirty="0" smtClean="0">
                <a:latin typeface="Arial Narrow" panose="020B0606020202030204" pitchFamily="34" charset="0"/>
              </a:rPr>
              <a:t>Includes</a:t>
            </a:r>
            <a:r>
              <a:rPr lang="en-US" sz="2000" dirty="0">
                <a:latin typeface="Arial Narrow" panose="020B0606020202030204" pitchFamily="34" charset="0"/>
              </a:rPr>
              <a:t>: symbols, </a:t>
            </a:r>
            <a:r>
              <a:rPr lang="en-US" sz="2000" dirty="0" err="1">
                <a:latin typeface="Arial Narrow" panose="020B0606020202030204" pitchFamily="34" charset="0"/>
              </a:rPr>
              <a:t>colours</a:t>
            </a:r>
            <a:r>
              <a:rPr lang="en-US" sz="2000" dirty="0">
                <a:latin typeface="Arial Narrow" panose="020B0606020202030204" pitchFamily="34" charset="0"/>
              </a:rPr>
              <a:t>, functionality, sound, metaphors and mental </a:t>
            </a:r>
            <a:r>
              <a:rPr lang="en-US" sz="2000" dirty="0" smtClean="0">
                <a:latin typeface="Arial Narrow" panose="020B0606020202030204" pitchFamily="34" charset="0"/>
              </a:rPr>
              <a:t>models</a:t>
            </a:r>
          </a:p>
          <a:p>
            <a:pPr lvl="1" algn="just">
              <a:buFont typeface="Wingdings" panose="05000000000000000000" pitchFamily="2" charset="2"/>
              <a:buChar char="§"/>
            </a:pPr>
            <a:r>
              <a:rPr lang="en-US" sz="2000" dirty="0" smtClean="0">
                <a:latin typeface="Arial Narrow" panose="020B0606020202030204" pitchFamily="34" charset="0"/>
              </a:rPr>
              <a:t>Caution </a:t>
            </a:r>
            <a:r>
              <a:rPr lang="en-US" sz="2000" dirty="0">
                <a:latin typeface="Arial Narrow" panose="020B0606020202030204" pitchFamily="34" charset="0"/>
              </a:rPr>
              <a:t>- might inadvertently offend the target culture. </a:t>
            </a:r>
            <a:endParaRPr lang="en-US" sz="2000" dirty="0" smtClean="0">
              <a:latin typeface="Arial Narrow" panose="020B0606020202030204" pitchFamily="34" charset="0"/>
            </a:endParaRPr>
          </a:p>
          <a:p>
            <a:pPr lvl="1" algn="just">
              <a:buFont typeface="Wingdings" panose="05000000000000000000" pitchFamily="2" charset="2"/>
              <a:buChar char="§"/>
            </a:pPr>
            <a:r>
              <a:rPr lang="en-US" sz="2000" dirty="0" smtClean="0">
                <a:latin typeface="Arial Narrow" panose="020B0606020202030204" pitchFamily="34" charset="0"/>
              </a:rPr>
              <a:t>Only </a:t>
            </a:r>
            <a:r>
              <a:rPr lang="en-US" sz="2000" dirty="0">
                <a:latin typeface="Arial Narrow" panose="020B0606020202030204" pitchFamily="34" charset="0"/>
              </a:rPr>
              <a:t>work if the message is understood in the target culture </a:t>
            </a:r>
            <a:endParaRPr lang="en-US" sz="2000" dirty="0" smtClean="0">
              <a:latin typeface="Arial Narrow" panose="020B0606020202030204" pitchFamily="34" charset="0"/>
            </a:endParaRPr>
          </a:p>
          <a:p>
            <a:pPr algn="just">
              <a:buFont typeface="Wingdings" panose="05000000000000000000" pitchFamily="2" charset="2"/>
              <a:buChar char="q"/>
            </a:pPr>
            <a:r>
              <a:rPr lang="en-US" sz="2000" dirty="0">
                <a:latin typeface="Arial Narrow" panose="020B0606020202030204" pitchFamily="34" charset="0"/>
              </a:rPr>
              <a:t> </a:t>
            </a:r>
            <a:r>
              <a:rPr lang="en-US" sz="2000" b="1" dirty="0">
                <a:latin typeface="Arial Narrow" panose="020B0606020202030204" pitchFamily="34" charset="0"/>
              </a:rPr>
              <a:t>Personality And Gender </a:t>
            </a:r>
            <a:endParaRPr lang="en-US" sz="2000" b="1"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A clear understanding of personality and cognitive styles can be helpful in designing systems for a specific community of users</a:t>
            </a:r>
            <a:r>
              <a:rPr lang="en-US" sz="2000" dirty="0" smtClean="0">
                <a:latin typeface="Arial Narrow" panose="020B0606020202030204" pitchFamily="34" charset="0"/>
              </a:rPr>
              <a:t>.</a:t>
            </a: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 Despite fundamental difference between men and women, clear patterns of preferences in interaction have been documented </a:t>
            </a:r>
            <a:endParaRPr lang="en-US" sz="2000" dirty="0" smtClean="0">
              <a:latin typeface="Arial Narrow" panose="020B0606020202030204" pitchFamily="34" charset="0"/>
            </a:endParaRPr>
          </a:p>
          <a:p>
            <a:pPr marL="0" indent="0" algn="just">
              <a:buNone/>
            </a:pPr>
            <a:r>
              <a:rPr lang="en-US" sz="2000" dirty="0" smtClean="0">
                <a:latin typeface="Arial Narrow" panose="020B0606020202030204" pitchFamily="34" charset="0"/>
              </a:rPr>
              <a:t>• </a:t>
            </a:r>
            <a:r>
              <a:rPr lang="en-US" sz="2000" dirty="0">
                <a:latin typeface="Arial Narrow" panose="020B0606020202030204" pitchFamily="34" charset="0"/>
              </a:rPr>
              <a:t>Potentially unfortunate mistakes and mismatches between the user interface and the user might be avoided by paying more attention to individual differences among users.</a:t>
            </a:r>
          </a:p>
        </p:txBody>
      </p:sp>
      <p:sp>
        <p:nvSpPr>
          <p:cNvPr id="4" name="Content Placeholder 3"/>
          <p:cNvSpPr>
            <a:spLocks noGrp="1"/>
          </p:cNvSpPr>
          <p:nvPr>
            <p:ph sz="half" idx="2"/>
          </p:nvPr>
        </p:nvSpPr>
        <p:spPr>
          <a:xfrm>
            <a:off x="6172199" y="135802"/>
            <a:ext cx="5805535" cy="6059268"/>
          </a:xfrm>
        </p:spPr>
        <p:txBody>
          <a:bodyPr>
            <a:normAutofit lnSpcReduction="10000"/>
          </a:bodyPr>
          <a:lstStyle/>
          <a:p>
            <a:pPr>
              <a:buFont typeface="Wingdings" panose="05000000000000000000" pitchFamily="2" charset="2"/>
              <a:buChar char="q"/>
            </a:pPr>
            <a:r>
              <a:rPr lang="en-US" sz="2000" b="1" dirty="0">
                <a:latin typeface="Arial Narrow" panose="020B0606020202030204" pitchFamily="34" charset="0"/>
              </a:rPr>
              <a:t>Age </a:t>
            </a:r>
            <a:endParaRPr lang="en-US" sz="2000" b="1"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Historically-Apps designed to assist adults at work</a:t>
            </a:r>
          </a:p>
          <a:p>
            <a:pPr lvl="1">
              <a:buFont typeface="Wingdings" panose="05000000000000000000" pitchFamily="2" charset="2"/>
              <a:buChar char="§"/>
            </a:pPr>
            <a:r>
              <a:rPr lang="en-US" sz="2000" dirty="0" smtClean="0">
                <a:latin typeface="Arial Narrow" panose="020B0606020202030204" pitchFamily="34" charset="0"/>
              </a:rPr>
              <a:t>Assumption </a:t>
            </a:r>
            <a:r>
              <a:rPr lang="en-US" sz="2000" dirty="0">
                <a:latin typeface="Arial Narrow" panose="020B0606020202030204" pitchFamily="34" charset="0"/>
              </a:rPr>
              <a:t>that all users are adults </a:t>
            </a:r>
            <a:r>
              <a:rPr lang="en-US" sz="2000" dirty="0" smtClean="0">
                <a:latin typeface="Arial Narrow" panose="020B0606020202030204" pitchFamily="34" charset="0"/>
              </a:rPr>
              <a:t>– however, computer </a:t>
            </a:r>
            <a:r>
              <a:rPr lang="en-US" sz="2000" dirty="0">
                <a:latin typeface="Arial Narrow" panose="020B0606020202030204" pitchFamily="34" charset="0"/>
              </a:rPr>
              <a:t>users span all ages.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Applications </a:t>
            </a:r>
            <a:r>
              <a:rPr lang="en-US" sz="2000" dirty="0">
                <a:latin typeface="Arial Narrow" panose="020B0606020202030204" pitchFamily="34" charset="0"/>
              </a:rPr>
              <a:t>are developed for young children and for the elderly.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User </a:t>
            </a:r>
            <a:r>
              <a:rPr lang="en-US" sz="2000" dirty="0">
                <a:latin typeface="Arial Narrow" panose="020B0606020202030204" pitchFamily="34" charset="0"/>
              </a:rPr>
              <a:t>groups of different ages can have vastly different preferences with regard to interaction with computers</a:t>
            </a:r>
            <a:r>
              <a:rPr lang="en-US" sz="2000" dirty="0" smtClean="0">
                <a:latin typeface="Arial Narrow" panose="020B0606020202030204" pitchFamily="34" charset="0"/>
              </a:rPr>
              <a:t>.</a:t>
            </a:r>
          </a:p>
          <a:p>
            <a:pPr lvl="1">
              <a:buFont typeface="Wingdings" panose="05000000000000000000" pitchFamily="2" charset="2"/>
              <a:buChar char="§"/>
            </a:pPr>
            <a:r>
              <a:rPr lang="en-US" sz="2000" dirty="0" smtClean="0">
                <a:latin typeface="Arial Narrow" panose="020B0606020202030204" pitchFamily="34" charset="0"/>
              </a:rPr>
              <a:t>The </a:t>
            </a:r>
            <a:r>
              <a:rPr lang="en-US" sz="2000" dirty="0">
                <a:latin typeface="Arial Narrow" panose="020B0606020202030204" pitchFamily="34" charset="0"/>
              </a:rPr>
              <a:t>average age of the user population affects interface design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Also </a:t>
            </a:r>
            <a:r>
              <a:rPr lang="en-US" sz="2000" dirty="0">
                <a:latin typeface="Arial Narrow" panose="020B0606020202030204" pitchFamily="34" charset="0"/>
              </a:rPr>
              <a:t>determines level of perceptual and cognitive resources to be expected from potential users.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Products for adult users usually aim to improve productivity and enhance performance and to communicate. </a:t>
            </a:r>
          </a:p>
          <a:p>
            <a:r>
              <a:rPr lang="en-US" sz="2000" dirty="0">
                <a:latin typeface="Arial Narrow" panose="020B0606020202030204" pitchFamily="34" charset="0"/>
              </a:rPr>
              <a:t>Young Children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Children’s </a:t>
            </a:r>
            <a:r>
              <a:rPr lang="en-US" sz="2000" dirty="0">
                <a:latin typeface="Arial Narrow" panose="020B0606020202030204" pitchFamily="34" charset="0"/>
              </a:rPr>
              <a:t>products are more likely to provide entertainment or engaging educational experiences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Young </a:t>
            </a:r>
            <a:r>
              <a:rPr lang="en-US" sz="2000" dirty="0">
                <a:latin typeface="Arial Narrow" panose="020B0606020202030204" pitchFamily="34" charset="0"/>
              </a:rPr>
              <a:t>children have slower information processing skill that affect motor skills and their use of the mouse and other input devices </a:t>
            </a:r>
            <a:endParaRPr lang="en-ZA" sz="20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949973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6749" y="72428"/>
            <a:ext cx="5893051" cy="6104535"/>
          </a:xfrm>
        </p:spPr>
        <p:txBody>
          <a:bodyPr>
            <a:normAutofit fontScale="70000" lnSpcReduction="20000"/>
          </a:bodyPr>
          <a:lstStyle/>
          <a:p>
            <a:pPr>
              <a:buFont typeface="Wingdings" panose="05000000000000000000" pitchFamily="2" charset="2"/>
              <a:buChar char="§"/>
            </a:pPr>
            <a:r>
              <a:rPr lang="en-US" sz="2600" dirty="0">
                <a:latin typeface="Arial Narrow" panose="020B0606020202030204" pitchFamily="34" charset="0"/>
              </a:rPr>
              <a:t>Computer technology exposes them to activities and knowledge that would not be possible without computers </a:t>
            </a:r>
            <a:endParaRPr lang="en-US" sz="2600" dirty="0" smtClean="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Potential </a:t>
            </a:r>
            <a:r>
              <a:rPr lang="en-US" sz="2600" dirty="0">
                <a:latin typeface="Arial Narrow" panose="020B0606020202030204" pitchFamily="34" charset="0"/>
              </a:rPr>
              <a:t>dangers o Keeping children from other essential activities, causing social isolation and reduced social skills, and reducing </a:t>
            </a:r>
            <a:r>
              <a:rPr lang="en-US" sz="2600" dirty="0" smtClean="0">
                <a:latin typeface="Arial Narrow" panose="020B0606020202030204" pitchFamily="34" charset="0"/>
              </a:rPr>
              <a:t>creativity</a:t>
            </a:r>
          </a:p>
          <a:p>
            <a:pPr>
              <a:buFont typeface="Wingdings" panose="05000000000000000000" pitchFamily="2" charset="2"/>
              <a:buChar char="§"/>
            </a:pPr>
            <a:r>
              <a:rPr lang="en-US" sz="2600" dirty="0" smtClean="0">
                <a:latin typeface="Arial Narrow" panose="020B0606020202030204" pitchFamily="34" charset="0"/>
              </a:rPr>
              <a:t>Develop </a:t>
            </a:r>
            <a:r>
              <a:rPr lang="en-US" sz="2600" dirty="0">
                <a:latin typeface="Arial Narrow" panose="020B0606020202030204" pitchFamily="34" charset="0"/>
              </a:rPr>
              <a:t>technology that requires children to move around </a:t>
            </a:r>
            <a:endParaRPr lang="en-US" sz="2600" dirty="0" smtClean="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Technology </a:t>
            </a:r>
            <a:r>
              <a:rPr lang="en-US" sz="2600" dirty="0">
                <a:latin typeface="Arial Narrow" panose="020B0606020202030204" pitchFamily="34" charset="0"/>
              </a:rPr>
              <a:t>advances make it possible to create applications that offer highly stimulating environments and opportunities for physical interaction.  </a:t>
            </a:r>
            <a:endParaRPr lang="en-US" sz="2600" dirty="0" smtClean="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Tangible </a:t>
            </a:r>
            <a:r>
              <a:rPr lang="en-US" sz="2600" dirty="0">
                <a:latin typeface="Arial Narrow" panose="020B0606020202030204" pitchFamily="34" charset="0"/>
              </a:rPr>
              <a:t>and robotic interfaces change the way children play with computers </a:t>
            </a:r>
            <a:endParaRPr lang="en-US" sz="2600" dirty="0" smtClean="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The </a:t>
            </a:r>
            <a:r>
              <a:rPr lang="en-US" sz="2600" dirty="0">
                <a:latin typeface="Arial Narrow" panose="020B0606020202030204" pitchFamily="34" charset="0"/>
              </a:rPr>
              <a:t>term “computer” in child-computer interaction refers not only to ordinary desktop computers, but also to programmable toys, phones, remote controls, programmable musical keyboards, robots, and </a:t>
            </a:r>
            <a:r>
              <a:rPr lang="en-US" sz="2600" dirty="0" smtClean="0">
                <a:latin typeface="Arial Narrow" panose="020B0606020202030204" pitchFamily="34" charset="0"/>
              </a:rPr>
              <a:t>more</a:t>
            </a:r>
          </a:p>
          <a:p>
            <a:pPr marL="0" indent="0">
              <a:buNone/>
            </a:pPr>
            <a:r>
              <a:rPr lang="en-US" sz="2600" b="1" dirty="0">
                <a:latin typeface="Arial Narrow" panose="020B0606020202030204" pitchFamily="34" charset="0"/>
              </a:rPr>
              <a:t>When designing for children: </a:t>
            </a:r>
            <a:r>
              <a:rPr lang="en-US" sz="2600" b="1" dirty="0" smtClean="0">
                <a:latin typeface="Arial Narrow" panose="020B0606020202030204" pitchFamily="34" charset="0"/>
              </a:rPr>
              <a:t> </a:t>
            </a:r>
            <a:endParaRPr lang="en-US" sz="2600" b="1" dirty="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Knowledge </a:t>
            </a:r>
            <a:r>
              <a:rPr lang="en-US" sz="2600" dirty="0">
                <a:latin typeface="Arial Narrow" panose="020B0606020202030204" pitchFamily="34" charset="0"/>
              </a:rPr>
              <a:t>of children’s physical developmental and familiarity with theories of children’s cognitive development is essential </a:t>
            </a:r>
            <a:endParaRPr lang="en-US" sz="2600" dirty="0" smtClean="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Accommodate </a:t>
            </a:r>
            <a:r>
              <a:rPr lang="en-US" sz="2600" dirty="0">
                <a:latin typeface="Arial Narrow" panose="020B0606020202030204" pitchFamily="34" charset="0"/>
              </a:rPr>
              <a:t>to perform activities on the computer that are at their level of development </a:t>
            </a:r>
            <a:endParaRPr lang="en-US" sz="2600" dirty="0" smtClean="0">
              <a:latin typeface="Arial Narrow" panose="020B0606020202030204" pitchFamily="34" charset="0"/>
            </a:endParaRPr>
          </a:p>
          <a:p>
            <a:pPr>
              <a:buFont typeface="Wingdings" panose="05000000000000000000" pitchFamily="2" charset="2"/>
              <a:buChar char="§"/>
            </a:pPr>
            <a:r>
              <a:rPr lang="en-US" sz="2600" dirty="0" smtClean="0">
                <a:latin typeface="Arial Narrow" panose="020B0606020202030204" pitchFamily="34" charset="0"/>
              </a:rPr>
              <a:t>Incorporate </a:t>
            </a:r>
            <a:r>
              <a:rPr lang="en-US" sz="2600" dirty="0">
                <a:latin typeface="Arial Narrow" panose="020B0606020202030204" pitchFamily="34" charset="0"/>
              </a:rPr>
              <a:t>educational acceleration, facilitate socialisation with peers, and foster </a:t>
            </a:r>
            <a:r>
              <a:rPr lang="en-US" sz="2600" dirty="0" smtClean="0">
                <a:latin typeface="Arial Narrow" panose="020B0606020202030204" pitchFamily="34" charset="0"/>
              </a:rPr>
              <a:t>self confidence </a:t>
            </a:r>
            <a:r>
              <a:rPr lang="en-US" sz="2600" dirty="0">
                <a:latin typeface="Arial Narrow" panose="020B0606020202030204" pitchFamily="34" charset="0"/>
              </a:rPr>
              <a:t>that is normally associated with skill mastery  </a:t>
            </a:r>
          </a:p>
          <a:p>
            <a:endParaRPr lang="en-ZA" dirty="0"/>
          </a:p>
        </p:txBody>
      </p:sp>
      <p:sp>
        <p:nvSpPr>
          <p:cNvPr id="4" name="Content Placeholder 3"/>
          <p:cNvSpPr>
            <a:spLocks noGrp="1"/>
          </p:cNvSpPr>
          <p:nvPr>
            <p:ph sz="half" idx="2"/>
          </p:nvPr>
        </p:nvSpPr>
        <p:spPr>
          <a:xfrm>
            <a:off x="6172199" y="36214"/>
            <a:ext cx="5896069" cy="6140749"/>
          </a:xfrm>
        </p:spPr>
        <p:txBody>
          <a:bodyPr>
            <a:noAutofit/>
          </a:bodyPr>
          <a:lstStyle/>
          <a:p>
            <a:pPr>
              <a:buFont typeface="Wingdings" panose="05000000000000000000" pitchFamily="2" charset="2"/>
              <a:buChar char="§"/>
            </a:pPr>
            <a:r>
              <a:rPr lang="en-US" sz="2000" dirty="0" smtClean="0">
                <a:latin typeface="Arial Narrow" panose="020B0606020202030204" pitchFamily="34" charset="0"/>
              </a:rPr>
              <a:t>Designers </a:t>
            </a:r>
            <a:r>
              <a:rPr lang="en-US" sz="2000" dirty="0">
                <a:latin typeface="Arial Narrow" panose="020B0606020202030204" pitchFamily="34" charset="0"/>
              </a:rPr>
              <a:t>need to consider parents requirements relating to safety – no inappropriate humour </a:t>
            </a:r>
            <a:endParaRPr lang="en-US" sz="2000" dirty="0" smtClean="0">
              <a:latin typeface="Arial Narrow" panose="020B0606020202030204" pitchFamily="34" charset="0"/>
            </a:endParaRPr>
          </a:p>
          <a:p>
            <a:pPr>
              <a:buFont typeface="Wingdings" panose="05000000000000000000" pitchFamily="2" charset="2"/>
              <a:buChar char="§"/>
            </a:pPr>
            <a:r>
              <a:rPr lang="en-US" sz="2000" dirty="0" smtClean="0">
                <a:latin typeface="Arial Narrow" panose="020B0606020202030204" pitchFamily="34" charset="0"/>
              </a:rPr>
              <a:t>Prefer </a:t>
            </a:r>
            <a:r>
              <a:rPr lang="en-US" sz="2000" dirty="0">
                <a:latin typeface="Arial Narrow" panose="020B0606020202030204" pitchFamily="34" charset="0"/>
              </a:rPr>
              <a:t>familiar characters, exploratory environments and capacity to repeat without penalties  </a:t>
            </a:r>
            <a:endParaRPr lang="en-US" sz="2000" dirty="0" smtClean="0">
              <a:latin typeface="Arial Narrow" panose="020B0606020202030204" pitchFamily="34" charset="0"/>
            </a:endParaRPr>
          </a:p>
          <a:p>
            <a:pPr>
              <a:buFont typeface="Wingdings" panose="05000000000000000000" pitchFamily="2" charset="2"/>
              <a:buChar char="§"/>
            </a:pPr>
            <a:r>
              <a:rPr lang="en-US" sz="2000" dirty="0" smtClean="0">
                <a:latin typeface="Arial Narrow" panose="020B0606020202030204" pitchFamily="34" charset="0"/>
              </a:rPr>
              <a:t>Be </a:t>
            </a:r>
            <a:r>
              <a:rPr lang="en-US" sz="2000" dirty="0">
                <a:latin typeface="Arial Narrow" panose="020B0606020202030204" pitchFamily="34" charset="0"/>
              </a:rPr>
              <a:t>aware of children’s limitations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Evolving </a:t>
            </a:r>
            <a:r>
              <a:rPr lang="en-US" sz="2000" dirty="0">
                <a:latin typeface="Arial Narrow" panose="020B0606020202030204" pitchFamily="34" charset="0"/>
              </a:rPr>
              <a:t>dexterity </a:t>
            </a:r>
            <a:r>
              <a:rPr lang="en-US" sz="2000" dirty="0" smtClean="0">
                <a:latin typeface="Arial Narrow" panose="020B0606020202030204" pitchFamily="34" charset="0"/>
              </a:rPr>
              <a:t>(skill)– </a:t>
            </a:r>
            <a:r>
              <a:rPr lang="en-US" sz="2000" dirty="0">
                <a:latin typeface="Arial Narrow" panose="020B0606020202030204" pitchFamily="34" charset="0"/>
              </a:rPr>
              <a:t>mouse dragging &amp; double-clicking can’t always be used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Emerging </a:t>
            </a:r>
            <a:r>
              <a:rPr lang="en-US" sz="2000" dirty="0">
                <a:latin typeface="Arial Narrow" panose="020B0606020202030204" pitchFamily="34" charset="0"/>
              </a:rPr>
              <a:t>literacy –written instructions and error messages are not effective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Low </a:t>
            </a:r>
            <a:r>
              <a:rPr lang="en-US" sz="2000" dirty="0">
                <a:latin typeface="Arial Narrow" panose="020B0606020202030204" pitchFamily="34" charset="0"/>
              </a:rPr>
              <a:t>level of abstraction –complex sequences must be avoided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Short </a:t>
            </a:r>
            <a:r>
              <a:rPr lang="en-US" sz="2000" dirty="0">
                <a:latin typeface="Arial Narrow" panose="020B0606020202030204" pitchFamily="34" charset="0"/>
              </a:rPr>
              <a:t>attention span and limited capacity to work with multiple concepts </a:t>
            </a:r>
            <a:endParaRPr lang="en-US" sz="2000" dirty="0" smtClean="0">
              <a:latin typeface="Arial Narrow" panose="020B0606020202030204" pitchFamily="34" charset="0"/>
            </a:endParaRPr>
          </a:p>
          <a:p>
            <a:pPr>
              <a:buFont typeface="Wingdings" panose="05000000000000000000" pitchFamily="2" charset="2"/>
              <a:buChar char="q"/>
            </a:pPr>
            <a:r>
              <a:rPr lang="en-US" sz="2000" dirty="0">
                <a:latin typeface="Arial Narrow" panose="020B0606020202030204" pitchFamily="34" charset="0"/>
              </a:rPr>
              <a:t>The Elderly </a:t>
            </a:r>
            <a:r>
              <a:rPr lang="en-US" sz="2000" dirty="0" smtClean="0">
                <a:latin typeface="Arial Narrow" panose="020B0606020202030204" pitchFamily="34" charset="0"/>
              </a:rPr>
              <a:t> </a:t>
            </a:r>
          </a:p>
          <a:p>
            <a:pPr marL="0" indent="0">
              <a:buNone/>
            </a:pPr>
            <a:r>
              <a:rPr lang="en-US" sz="2000" dirty="0" smtClean="0">
                <a:latin typeface="Arial Narrow" panose="020B0606020202030204" pitchFamily="34" charset="0"/>
              </a:rPr>
              <a:t>Assumed </a:t>
            </a:r>
            <a:r>
              <a:rPr lang="en-US" sz="2000" dirty="0">
                <a:latin typeface="Arial Narrow" panose="020B0606020202030204" pitchFamily="34" charset="0"/>
              </a:rPr>
              <a:t>to be dismissive of and unable to keep up with advancing technology-  not true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They experience impairments related to their vision, movement and memory capacity that affect the way they interact with devices. </a:t>
            </a:r>
            <a:endParaRPr lang="en-US" sz="2000" dirty="0" smtClean="0">
              <a:latin typeface="Arial Narrow" panose="020B0606020202030204" pitchFamily="34" charset="0"/>
            </a:endParaRPr>
          </a:p>
          <a:p>
            <a:pPr marL="0" indent="0" algn="just">
              <a:buNone/>
            </a:pPr>
            <a:endParaRPr lang="en-ZA" sz="16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839555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8642" y="90535"/>
            <a:ext cx="5911158" cy="6086428"/>
          </a:xfrm>
        </p:spPr>
        <p:txBody>
          <a:bodyPr>
            <a:normAutofit lnSpcReduction="10000"/>
          </a:bodyPr>
          <a:lstStyle/>
          <a:p>
            <a:pPr>
              <a:buFont typeface="Wingdings" panose="05000000000000000000" pitchFamily="2" charset="2"/>
              <a:buChar char="§"/>
            </a:pPr>
            <a:r>
              <a:rPr lang="en-US" sz="2000" dirty="0">
                <a:latin typeface="Arial Narrow" panose="020B0606020202030204" pitchFamily="34" charset="0"/>
              </a:rPr>
              <a:t>Benefits relating to senior citizens and their use of technology </a:t>
            </a:r>
          </a:p>
          <a:p>
            <a:pPr lvl="1">
              <a:buFont typeface="Wingdings" panose="05000000000000000000" pitchFamily="2" charset="2"/>
              <a:buChar char="§"/>
            </a:pPr>
            <a:r>
              <a:rPr lang="en-US" sz="2000" dirty="0" smtClean="0">
                <a:latin typeface="Arial Narrow" panose="020B0606020202030204" pitchFamily="34" charset="0"/>
              </a:rPr>
              <a:t>Improved </a:t>
            </a:r>
            <a:r>
              <a:rPr lang="en-US" sz="2000" dirty="0">
                <a:latin typeface="Arial Narrow" panose="020B0606020202030204" pitchFamily="34" charset="0"/>
              </a:rPr>
              <a:t>chances of productive employment and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Opportunities </a:t>
            </a:r>
            <a:r>
              <a:rPr lang="en-US" sz="2000" dirty="0">
                <a:latin typeface="Arial Narrow" panose="020B0606020202030204" pitchFamily="34" charset="0"/>
              </a:rPr>
              <a:t>to use writing, e-mail and other computer tools.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Seniors </a:t>
            </a:r>
            <a:r>
              <a:rPr lang="en-US" sz="2000" dirty="0">
                <a:latin typeface="Arial Narrow" panose="020B0606020202030204" pitchFamily="34" charset="0"/>
              </a:rPr>
              <a:t>can share valuable experience and offer emotional support to others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Communicate </a:t>
            </a:r>
            <a:r>
              <a:rPr lang="en-US" sz="2000" dirty="0">
                <a:latin typeface="Arial Narrow" panose="020B0606020202030204" pitchFamily="34" charset="0"/>
              </a:rPr>
              <a:t>with children and family by e-mail or social media </a:t>
            </a:r>
            <a:endParaRPr lang="en-US" sz="2000" dirty="0" smtClean="0">
              <a:latin typeface="Arial Narrow" panose="020B0606020202030204" pitchFamily="34" charset="0"/>
            </a:endParaRPr>
          </a:p>
          <a:p>
            <a:pPr>
              <a:buFont typeface="Wingdings" panose="05000000000000000000" pitchFamily="2" charset="2"/>
              <a:buChar char="§"/>
            </a:pPr>
            <a:r>
              <a:rPr lang="en-US" sz="2000" dirty="0" smtClean="0">
                <a:latin typeface="Arial Narrow" panose="020B0606020202030204" pitchFamily="34" charset="0"/>
              </a:rPr>
              <a:t>Many </a:t>
            </a:r>
            <a:r>
              <a:rPr lang="en-US" sz="2000" dirty="0">
                <a:latin typeface="Arial Narrow" panose="020B0606020202030204" pitchFamily="34" charset="0"/>
              </a:rPr>
              <a:t>designers adapt designs to cater for older adults because the world’s population ages and gets much older than in the past </a:t>
            </a:r>
            <a:endParaRPr lang="en-US" sz="2000" dirty="0" smtClean="0">
              <a:latin typeface="Arial Narrow" panose="020B0606020202030204" pitchFamily="34" charset="0"/>
            </a:endParaRPr>
          </a:p>
          <a:p>
            <a:pPr marL="0" indent="0">
              <a:buNone/>
            </a:pPr>
            <a:r>
              <a:rPr lang="en-US" sz="2000" b="1" dirty="0">
                <a:latin typeface="Arial Narrow" panose="020B0606020202030204" pitchFamily="34" charset="0"/>
              </a:rPr>
              <a:t>Solutions </a:t>
            </a:r>
            <a:endParaRPr lang="en-US" sz="2000" b="1" dirty="0" smtClean="0">
              <a:latin typeface="Arial Narrow" panose="020B0606020202030204" pitchFamily="34" charset="0"/>
            </a:endParaRPr>
          </a:p>
          <a:p>
            <a:pPr>
              <a:buFont typeface="Wingdings" panose="05000000000000000000" pitchFamily="2" charset="2"/>
              <a:buChar char="§"/>
            </a:pPr>
            <a:r>
              <a:rPr lang="en-US" sz="2000" dirty="0" smtClean="0">
                <a:latin typeface="Arial Narrow" panose="020B0606020202030204" pitchFamily="34" charset="0"/>
              </a:rPr>
              <a:t>Desktop</a:t>
            </a:r>
            <a:r>
              <a:rPr lang="en-US" sz="2000" dirty="0">
                <a:latin typeface="Arial Narrow" panose="020B0606020202030204" pitchFamily="34" charset="0"/>
              </a:rPr>
              <a:t>, web and mobile devices can be improved for all users by providing better control over font sizes, display contrast, and audio levels. </a:t>
            </a:r>
            <a:endParaRPr lang="en-US" sz="2000" dirty="0" smtClean="0">
              <a:latin typeface="Arial Narrow" panose="020B0606020202030204" pitchFamily="34" charset="0"/>
            </a:endParaRPr>
          </a:p>
          <a:p>
            <a:pPr>
              <a:buFont typeface="Wingdings" panose="05000000000000000000" pitchFamily="2" charset="2"/>
              <a:buChar char="§"/>
            </a:pPr>
            <a:r>
              <a:rPr lang="en-US" sz="2000" dirty="0" smtClean="0">
                <a:latin typeface="Arial Narrow" panose="020B0606020202030204" pitchFamily="34" charset="0"/>
              </a:rPr>
              <a:t>Keyboards </a:t>
            </a:r>
            <a:r>
              <a:rPr lang="en-US" sz="2000" dirty="0">
                <a:latin typeface="Arial Narrow" panose="020B0606020202030204" pitchFamily="34" charset="0"/>
              </a:rPr>
              <a:t>easily reached, sufficient space between keys, provide audible or tactile feedback of pressed keys, and a high contrast between text and background </a:t>
            </a:r>
            <a:endParaRPr lang="en-US" sz="2000" dirty="0" smtClean="0">
              <a:latin typeface="Arial Narrow" panose="020B0606020202030204" pitchFamily="34" charset="0"/>
            </a:endParaRPr>
          </a:p>
          <a:p>
            <a:pPr>
              <a:buFont typeface="Wingdings" panose="05000000000000000000" pitchFamily="2" charset="2"/>
              <a:buChar char="§"/>
            </a:pPr>
            <a:r>
              <a:rPr lang="en-US" sz="2000" dirty="0" smtClean="0">
                <a:latin typeface="Arial Narrow" panose="020B0606020202030204" pitchFamily="34" charset="0"/>
              </a:rPr>
              <a:t>Mechanisms </a:t>
            </a:r>
            <a:r>
              <a:rPr lang="en-US" sz="2000" dirty="0">
                <a:latin typeface="Arial Narrow" panose="020B0606020202030204" pitchFamily="34" charset="0"/>
              </a:rPr>
              <a:t>for supporting users with motor impairments </a:t>
            </a: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200" y="90535"/>
            <a:ext cx="5877962" cy="6086428"/>
          </a:xfrm>
        </p:spPr>
        <p:txBody>
          <a:bodyPr>
            <a:normAutofit lnSpcReduction="10000"/>
          </a:bodyPr>
          <a:lstStyle/>
          <a:p>
            <a:pPr>
              <a:buFont typeface="Wingdings" panose="05000000000000000000" pitchFamily="2" charset="2"/>
              <a:buChar char="§"/>
            </a:pPr>
            <a:r>
              <a:rPr lang="en-US" sz="2000" dirty="0">
                <a:latin typeface="Arial Narrow" panose="020B0606020202030204" pitchFamily="34" charset="0"/>
              </a:rPr>
              <a:t>Improvements of interfaces used by senior citizens </a:t>
            </a:r>
            <a:endParaRPr lang="en-US" sz="2000" dirty="0" smtClean="0">
              <a:latin typeface="Arial Narrow" panose="020B0606020202030204" pitchFamily="34" charset="0"/>
            </a:endParaRPr>
          </a:p>
          <a:p>
            <a:pPr marL="457200" lvl="1" indent="0">
              <a:buNone/>
            </a:pPr>
            <a:r>
              <a:rPr lang="en-US" sz="2000" dirty="0" smtClean="0">
                <a:latin typeface="Arial Narrow" panose="020B0606020202030204" pitchFamily="34" charset="0"/>
              </a:rPr>
              <a:t>▪ </a:t>
            </a:r>
            <a:r>
              <a:rPr lang="en-US" sz="2000" dirty="0">
                <a:latin typeface="Arial Narrow" panose="020B0606020202030204" pitchFamily="34" charset="0"/>
              </a:rPr>
              <a:t>Easier-to-use pointing devices </a:t>
            </a:r>
            <a:endParaRPr lang="en-US" sz="2000" dirty="0" smtClean="0">
              <a:latin typeface="Arial Narrow" panose="020B0606020202030204" pitchFamily="34" charset="0"/>
            </a:endParaRPr>
          </a:p>
          <a:p>
            <a:pPr marL="457200" lvl="1" indent="0">
              <a:buNone/>
            </a:pPr>
            <a:r>
              <a:rPr lang="en-US" sz="2000" dirty="0" smtClean="0">
                <a:latin typeface="Arial Narrow" panose="020B0606020202030204" pitchFamily="34" charset="0"/>
              </a:rPr>
              <a:t>▪ </a:t>
            </a:r>
            <a:r>
              <a:rPr lang="en-US" sz="2000" dirty="0">
                <a:latin typeface="Arial Narrow" panose="020B0606020202030204" pitchFamily="34" charset="0"/>
              </a:rPr>
              <a:t>Clean navigation paths </a:t>
            </a:r>
            <a:endParaRPr lang="en-US" sz="2000" dirty="0" smtClean="0">
              <a:latin typeface="Arial Narrow" panose="020B0606020202030204" pitchFamily="34" charset="0"/>
            </a:endParaRPr>
          </a:p>
          <a:p>
            <a:pPr marL="457200" lvl="1" indent="0">
              <a:buNone/>
            </a:pPr>
            <a:r>
              <a:rPr lang="en-US" sz="2000" dirty="0" smtClean="0">
                <a:latin typeface="Arial Narrow" panose="020B0606020202030204" pitchFamily="34" charset="0"/>
              </a:rPr>
              <a:t>▪ </a:t>
            </a:r>
            <a:r>
              <a:rPr lang="en-US" sz="2000" dirty="0">
                <a:latin typeface="Arial Narrow" panose="020B0606020202030204" pitchFamily="34" charset="0"/>
              </a:rPr>
              <a:t>Consistent layouts </a:t>
            </a:r>
            <a:endParaRPr lang="en-US" sz="2000" dirty="0" smtClean="0">
              <a:latin typeface="Arial Narrow" panose="020B0606020202030204" pitchFamily="34" charset="0"/>
            </a:endParaRPr>
          </a:p>
          <a:p>
            <a:pPr marL="457200" lvl="1" indent="0">
              <a:buNone/>
            </a:pPr>
            <a:r>
              <a:rPr lang="en-US" sz="2000" dirty="0" smtClean="0">
                <a:latin typeface="Arial Narrow" panose="020B0606020202030204" pitchFamily="34" charset="0"/>
              </a:rPr>
              <a:t>▪ </a:t>
            </a:r>
            <a:r>
              <a:rPr lang="en-US" sz="2000" dirty="0">
                <a:latin typeface="Arial Narrow" panose="020B0606020202030204" pitchFamily="34" charset="0"/>
              </a:rPr>
              <a:t>A simpler command language </a:t>
            </a:r>
            <a:endParaRPr lang="en-US" sz="2000" dirty="0" smtClean="0">
              <a:latin typeface="Arial Narrow" panose="020B0606020202030204" pitchFamily="34" charset="0"/>
            </a:endParaRPr>
          </a:p>
          <a:p>
            <a:pPr marL="0" indent="0">
              <a:buNone/>
            </a:pPr>
            <a:r>
              <a:rPr lang="en-US" sz="2000" b="1" dirty="0">
                <a:latin typeface="Arial Narrow" panose="020B0606020202030204" pitchFamily="34" charset="0"/>
              </a:rPr>
              <a:t>Expertise </a:t>
            </a:r>
            <a:endParaRPr lang="en-US" sz="2000" b="1" dirty="0" smtClean="0">
              <a:latin typeface="Arial Narrow" panose="020B0606020202030204" pitchFamily="34" charset="0"/>
            </a:endParaRPr>
          </a:p>
          <a:p>
            <a:pPr marL="0" indent="0">
              <a:buNone/>
            </a:pPr>
            <a:r>
              <a:rPr lang="en-US" sz="2000" dirty="0" smtClean="0">
                <a:latin typeface="Arial Narrow" panose="020B0606020202030204" pitchFamily="34" charset="0"/>
              </a:rPr>
              <a:t>The </a:t>
            </a:r>
            <a:r>
              <a:rPr lang="en-US" sz="2000" dirty="0">
                <a:latin typeface="Arial Narrow" panose="020B0606020202030204" pitchFamily="34" charset="0"/>
              </a:rPr>
              <a:t>way in which a system is designed, built and sold depends on the intended users, on whether they are experts or novices. The model in figure 2.5 shows the differences between users with different degrees of information about an interactive system. </a:t>
            </a:r>
            <a:endParaRPr lang="en-US" sz="2000" dirty="0" smtClean="0">
              <a:latin typeface="Arial Narrow" panose="020B0606020202030204" pitchFamily="34" charset="0"/>
            </a:endParaRPr>
          </a:p>
          <a:p>
            <a:pPr marL="0" indent="0">
              <a:buNone/>
            </a:pPr>
            <a:endParaRPr lang="en-ZA" sz="20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6" name="Picture 5"/>
          <p:cNvPicPr>
            <a:picLocks noChangeAspect="1"/>
          </p:cNvPicPr>
          <p:nvPr/>
        </p:nvPicPr>
        <p:blipFill>
          <a:blip r:embed="rId2"/>
          <a:stretch>
            <a:fillRect/>
          </a:stretch>
        </p:blipFill>
        <p:spPr>
          <a:xfrm>
            <a:off x="6246891" y="3312303"/>
            <a:ext cx="5576934" cy="2954353"/>
          </a:xfrm>
          <a:prstGeom prst="rect">
            <a:avLst/>
          </a:prstGeom>
        </p:spPr>
      </p:pic>
    </p:spTree>
    <p:extLst>
      <p:ext uri="{BB962C8B-B14F-4D97-AF65-F5344CB8AC3E}">
        <p14:creationId xmlns:p14="http://schemas.microsoft.com/office/powerpoint/2010/main" val="194025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3910" y="117694"/>
            <a:ext cx="5748950" cy="6077376"/>
          </a:xfrm>
        </p:spPr>
        <p:txBody>
          <a:bodyPr>
            <a:normAutofit fontScale="92500" lnSpcReduction="20000"/>
          </a:bodyPr>
          <a:lstStyle/>
          <a:p>
            <a:pPr marL="0" indent="0">
              <a:buNone/>
            </a:pPr>
            <a:r>
              <a:rPr lang="en-US" sz="2000" b="1" dirty="0">
                <a:latin typeface="Arial Narrow" panose="020B0606020202030204" pitchFamily="34" charset="0"/>
              </a:rPr>
              <a:t>At the lowest level, the knowledge based level: </a:t>
            </a:r>
            <a:endParaRPr lang="en-US" sz="2000" b="1"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May only be able to use general knowledge to help understand the system.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Designers can exploit this to support novice users. </a:t>
            </a:r>
            <a:endParaRPr lang="en-US" sz="2000" dirty="0" smtClean="0">
              <a:latin typeface="Arial Narrow" panose="020B0606020202030204" pitchFamily="34" charset="0"/>
            </a:endParaRPr>
          </a:p>
          <a:p>
            <a:pPr marL="0" indent="0">
              <a:buNone/>
            </a:pPr>
            <a:r>
              <a:rPr lang="en-US" sz="2000" b="1" dirty="0" smtClean="0">
                <a:latin typeface="Arial Narrow" panose="020B0606020202030204" pitchFamily="34" charset="0"/>
              </a:rPr>
              <a:t>The </a:t>
            </a:r>
            <a:r>
              <a:rPr lang="en-US" sz="2000" b="1" dirty="0">
                <a:latin typeface="Arial Narrow" panose="020B0606020202030204" pitchFamily="34" charset="0"/>
              </a:rPr>
              <a:t>second level of interaction </a:t>
            </a:r>
            <a:endParaRPr lang="en-US" sz="2000" b="1"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Introduces the idea that users apply rules to guide their use of a system.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This approach is slightly more informed than the use of general knowledge.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Users will make inferences based on previous experience.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Implies that designers should develop systems that are consistent.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Users can apply the rules learned with one system to help them operate </a:t>
            </a:r>
            <a:r>
              <a:rPr lang="en-US" sz="2000" dirty="0" smtClean="0">
                <a:latin typeface="Arial Narrow" panose="020B0606020202030204" pitchFamily="34" charset="0"/>
              </a:rPr>
              <a:t>another</a:t>
            </a:r>
          </a:p>
          <a:p>
            <a:pPr marL="0" indent="0">
              <a:buNone/>
            </a:pPr>
            <a:r>
              <a:rPr lang="en-US" sz="2000" dirty="0">
                <a:latin typeface="Arial Narrow" panose="020B0606020202030204" pitchFamily="34" charset="0"/>
              </a:rPr>
              <a:t>There are two forms of consistency: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Internal consistency - similar operations being performed in a similar manner within an application.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External consistency - similar operations being performed in a similar manner between several applications. </a:t>
            </a:r>
            <a:endParaRPr lang="en-US" sz="2000" dirty="0" smtClean="0">
              <a:latin typeface="Arial Narrow" panose="020B0606020202030204" pitchFamily="34" charset="0"/>
            </a:endParaRPr>
          </a:p>
          <a:p>
            <a:pPr marL="0" indent="0">
              <a:buNone/>
            </a:pPr>
            <a:r>
              <a:rPr lang="en-US" sz="2000" dirty="0">
                <a:latin typeface="Arial Narrow" panose="020B0606020202030204" pitchFamily="34" charset="0"/>
              </a:rPr>
              <a:t>Over time, users will acquire expertise required to operate a system and will no longer need to think about previous experiences - the skill-based level </a:t>
            </a:r>
            <a:endParaRPr lang="en-ZA" sz="2000" dirty="0">
              <a:latin typeface="Arial Narrow" panose="020B0606020202030204" pitchFamily="34" charset="0"/>
            </a:endParaRPr>
          </a:p>
        </p:txBody>
      </p:sp>
      <p:sp>
        <p:nvSpPr>
          <p:cNvPr id="4" name="Content Placeholder 3"/>
          <p:cNvSpPr>
            <a:spLocks noGrp="1"/>
          </p:cNvSpPr>
          <p:nvPr>
            <p:ph sz="half" idx="2"/>
          </p:nvPr>
        </p:nvSpPr>
        <p:spPr>
          <a:xfrm>
            <a:off x="5902861" y="117694"/>
            <a:ext cx="5984340" cy="6238656"/>
          </a:xfrm>
        </p:spPr>
        <p:txBody>
          <a:bodyPr>
            <a:noAutofit/>
          </a:bodyPr>
          <a:lstStyle/>
          <a:p>
            <a:pPr marL="0" indent="0" algn="just">
              <a:buNone/>
            </a:pPr>
            <a:r>
              <a:rPr lang="en-US" sz="1800" b="1" dirty="0">
                <a:latin typeface="Arial Narrow" panose="020B0606020202030204" pitchFamily="34" charset="0"/>
              </a:rPr>
              <a:t>The Errors People Make Types of errors </a:t>
            </a:r>
            <a:endParaRPr lang="en-US" sz="1800" b="1" dirty="0" smtClean="0">
              <a:latin typeface="Arial Narrow" panose="020B0606020202030204" pitchFamily="34" charset="0"/>
            </a:endParaRPr>
          </a:p>
          <a:p>
            <a:pPr algn="just">
              <a:buFont typeface="Wingdings" panose="05000000000000000000" pitchFamily="2" charset="2"/>
              <a:buChar char="q"/>
            </a:pPr>
            <a:r>
              <a:rPr lang="en-US" sz="1800" b="1" dirty="0" smtClean="0">
                <a:latin typeface="Arial Narrow" panose="020B0606020202030204" pitchFamily="34" charset="0"/>
              </a:rPr>
              <a:t>Mistakes </a:t>
            </a:r>
            <a:r>
              <a:rPr lang="en-US" sz="1800" b="1" dirty="0">
                <a:latin typeface="Arial Narrow" panose="020B0606020202030204" pitchFamily="34" charset="0"/>
              </a:rPr>
              <a:t>(incorrect plans) </a:t>
            </a:r>
            <a:endParaRPr lang="en-US" sz="1800" b="1"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Forming </a:t>
            </a:r>
            <a:r>
              <a:rPr lang="en-US" sz="1800" dirty="0">
                <a:latin typeface="Arial Narrow" panose="020B0606020202030204" pitchFamily="34" charset="0"/>
              </a:rPr>
              <a:t>wrong goal, performing wrong action with relation to a specific goal.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Arise </a:t>
            </a:r>
            <a:r>
              <a:rPr lang="en-US" sz="1800" dirty="0">
                <a:latin typeface="Arial Narrow" panose="020B0606020202030204" pitchFamily="34" charset="0"/>
              </a:rPr>
              <a:t>through lack of training, poor management or deliberate negligence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Result </a:t>
            </a:r>
            <a:r>
              <a:rPr lang="en-US" sz="1800" dirty="0">
                <a:latin typeface="Arial Narrow" panose="020B0606020202030204" pitchFamily="34" charset="0"/>
              </a:rPr>
              <a:t>of conscious but erroneous considerations of options.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Occur </a:t>
            </a:r>
            <a:r>
              <a:rPr lang="en-US" sz="1800" dirty="0">
                <a:latin typeface="Arial Narrow" panose="020B0606020202030204" pitchFamily="34" charset="0"/>
              </a:rPr>
              <a:t>when users don’t know what to do because they haven’t learned or haven’t been taught to use something properly </a:t>
            </a:r>
            <a:endParaRPr lang="en-US" sz="1800" dirty="0" smtClean="0">
              <a:latin typeface="Arial Narrow" panose="020B0606020202030204" pitchFamily="34" charset="0"/>
            </a:endParaRPr>
          </a:p>
          <a:p>
            <a:pPr algn="just">
              <a:buFont typeface="Wingdings" panose="05000000000000000000" pitchFamily="2" charset="2"/>
              <a:buChar char="q"/>
            </a:pPr>
            <a:r>
              <a:rPr lang="en-US" sz="1800" b="1" dirty="0" smtClean="0">
                <a:latin typeface="Arial Narrow" panose="020B0606020202030204" pitchFamily="34" charset="0"/>
              </a:rPr>
              <a:t>Slips</a:t>
            </a:r>
            <a:r>
              <a:rPr lang="en-US" sz="1800" dirty="0" smtClean="0">
                <a:latin typeface="Arial Narrow" panose="020B0606020202030204" pitchFamily="34" charset="0"/>
              </a:rPr>
              <a:t> </a:t>
            </a:r>
          </a:p>
          <a:p>
            <a:pPr lvl="1" algn="just">
              <a:buFont typeface="Wingdings" panose="05000000000000000000" pitchFamily="2" charset="2"/>
              <a:buChar char="§"/>
            </a:pPr>
            <a:r>
              <a:rPr lang="en-US" sz="1800" dirty="0" smtClean="0">
                <a:latin typeface="Arial Narrow" panose="020B0606020202030204" pitchFamily="34" charset="0"/>
              </a:rPr>
              <a:t>Observable </a:t>
            </a:r>
            <a:r>
              <a:rPr lang="en-US" sz="1800" dirty="0">
                <a:latin typeface="Arial Narrow" panose="020B0606020202030204" pitchFamily="34" charset="0"/>
              </a:rPr>
              <a:t>errors and result from automatic behaviour</a:t>
            </a:r>
            <a:r>
              <a:rPr lang="en-US" sz="1800" dirty="0" smtClean="0">
                <a:latin typeface="Arial Narrow" panose="020B0606020202030204" pitchFamily="34" charset="0"/>
              </a:rPr>
              <a:t>.</a:t>
            </a:r>
          </a:p>
          <a:p>
            <a:pPr lvl="1" algn="just">
              <a:buFont typeface="Wingdings" panose="05000000000000000000" pitchFamily="2" charset="2"/>
              <a:buChar char="§"/>
            </a:pPr>
            <a:r>
              <a:rPr lang="en-US" sz="1800" dirty="0" smtClean="0">
                <a:latin typeface="Arial Narrow" panose="020B0606020202030204" pitchFamily="34" charset="0"/>
              </a:rPr>
              <a:t>  </a:t>
            </a:r>
            <a:r>
              <a:rPr lang="en-US" sz="1800" dirty="0">
                <a:latin typeface="Arial Narrow" panose="020B0606020202030204" pitchFamily="34" charset="0"/>
              </a:rPr>
              <a:t>Correct goal but performed the incorrect action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Occur </a:t>
            </a:r>
            <a:r>
              <a:rPr lang="en-US" sz="1800" dirty="0">
                <a:latin typeface="Arial Narrow" panose="020B0606020202030204" pitchFamily="34" charset="0"/>
              </a:rPr>
              <a:t>mostly in skilled behaviour; when user does not pay proper attention </a:t>
            </a:r>
            <a:endParaRPr lang="en-US" sz="1800" dirty="0" smtClean="0">
              <a:latin typeface="Arial Narrow" panose="020B0606020202030204" pitchFamily="34" charset="0"/>
            </a:endParaRPr>
          </a:p>
          <a:p>
            <a:pPr lvl="1" algn="just">
              <a:buFont typeface="Wingdings" panose="05000000000000000000" pitchFamily="2" charset="2"/>
              <a:buChar char="§"/>
            </a:pPr>
            <a:r>
              <a:rPr lang="en-US" sz="1800" dirty="0" smtClean="0">
                <a:latin typeface="Arial Narrow" panose="020B0606020202030204" pitchFamily="34" charset="0"/>
              </a:rPr>
              <a:t>Users </a:t>
            </a:r>
            <a:r>
              <a:rPr lang="en-US" sz="1800" dirty="0">
                <a:latin typeface="Arial Narrow" panose="020B0606020202030204" pitchFamily="34" charset="0"/>
              </a:rPr>
              <a:t>who are still learning don’t make slips </a:t>
            </a:r>
            <a:endParaRPr lang="en-US" sz="1800" dirty="0" smtClean="0">
              <a:latin typeface="Arial Narrow" panose="020B0606020202030204" pitchFamily="34" charset="0"/>
            </a:endParaRPr>
          </a:p>
          <a:p>
            <a:pPr marL="0" indent="0" algn="just">
              <a:buNone/>
            </a:pPr>
            <a:r>
              <a:rPr lang="en-US" sz="1800" dirty="0">
                <a:latin typeface="Arial Narrow" panose="020B0606020202030204" pitchFamily="34" charset="0"/>
              </a:rPr>
              <a:t>Norman distinguishes between the following kinds of slips: </a:t>
            </a:r>
            <a:endParaRPr lang="en-US" sz="1800" dirty="0" smtClean="0">
              <a:latin typeface="Arial Narrow" panose="020B0606020202030204" pitchFamily="34" charset="0"/>
            </a:endParaRPr>
          </a:p>
          <a:p>
            <a:pPr algn="just">
              <a:buFont typeface="Wingdings" panose="05000000000000000000" pitchFamily="2" charset="2"/>
              <a:buChar char="§"/>
            </a:pPr>
            <a:r>
              <a:rPr lang="en-US" sz="1600" b="1" dirty="0" smtClean="0">
                <a:latin typeface="Arial Narrow" panose="020B0606020202030204" pitchFamily="34" charset="0"/>
              </a:rPr>
              <a:t>Capture errors</a:t>
            </a:r>
            <a:r>
              <a:rPr lang="en-US" sz="1600" dirty="0" smtClean="0">
                <a:latin typeface="Arial Narrow" panose="020B0606020202030204" pitchFamily="34" charset="0"/>
              </a:rPr>
              <a:t>: Occurs </a:t>
            </a:r>
            <a:r>
              <a:rPr lang="en-US" sz="1600" dirty="0">
                <a:latin typeface="Arial Narrow" panose="020B0606020202030204" pitchFamily="34" charset="0"/>
              </a:rPr>
              <a:t>when an activity that you perform frequently is done instead of the intended activity.  </a:t>
            </a:r>
            <a:endParaRPr lang="en-US" sz="1600" dirty="0" smtClean="0">
              <a:latin typeface="Arial Narrow" panose="020B0606020202030204" pitchFamily="34" charset="0"/>
            </a:endParaRPr>
          </a:p>
          <a:p>
            <a:pPr algn="just">
              <a:buFont typeface="Wingdings" panose="05000000000000000000" pitchFamily="2" charset="2"/>
              <a:buChar char="§"/>
            </a:pPr>
            <a:r>
              <a:rPr lang="en-US" sz="1600" b="1" dirty="0" smtClean="0">
                <a:latin typeface="Arial Narrow" panose="020B0606020202030204" pitchFamily="34" charset="0"/>
              </a:rPr>
              <a:t>Description </a:t>
            </a:r>
            <a:r>
              <a:rPr lang="en-US" sz="1600" b="1" dirty="0">
                <a:latin typeface="Arial Narrow" panose="020B0606020202030204" pitchFamily="34" charset="0"/>
              </a:rPr>
              <a:t>errors </a:t>
            </a:r>
            <a:r>
              <a:rPr lang="en-US" sz="1600" dirty="0">
                <a:latin typeface="Arial Narrow" panose="020B0606020202030204" pitchFamily="34" charset="0"/>
              </a:rPr>
              <a:t>:</a:t>
            </a:r>
            <a:r>
              <a:rPr lang="en-US" sz="1600" dirty="0" smtClean="0">
                <a:latin typeface="Arial Narrow" panose="020B0606020202030204" pitchFamily="34" charset="0"/>
              </a:rPr>
              <a:t>Occurs </a:t>
            </a:r>
            <a:r>
              <a:rPr lang="en-US" sz="1600" dirty="0">
                <a:latin typeface="Arial Narrow" panose="020B0606020202030204" pitchFamily="34" charset="0"/>
              </a:rPr>
              <a:t>when instead of the intended activity, you do something that has a lot in common with what you wanted to do. </a:t>
            </a:r>
            <a:endParaRPr lang="en-ZA" sz="16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1505523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sz="half" idx="1"/>
          </p:nvPr>
        </p:nvSpPr>
        <p:spPr>
          <a:xfrm>
            <a:off x="217283" y="108642"/>
            <a:ext cx="5802517" cy="6247708"/>
          </a:xfrm>
        </p:spPr>
        <p:txBody>
          <a:bodyPr>
            <a:normAutofit/>
          </a:bodyPr>
          <a:lstStyle/>
          <a:p>
            <a:pPr>
              <a:buFont typeface="Wingdings" panose="05000000000000000000" pitchFamily="2" charset="2"/>
              <a:buChar char="§"/>
            </a:pPr>
            <a:r>
              <a:rPr lang="en-US" sz="2000" b="1" dirty="0">
                <a:latin typeface="Arial Narrow" panose="020B0606020202030204" pitchFamily="34" charset="0"/>
              </a:rPr>
              <a:t>Data-driven </a:t>
            </a:r>
            <a:r>
              <a:rPr lang="en-US" sz="2000" b="1" dirty="0" smtClean="0">
                <a:latin typeface="Arial Narrow" panose="020B0606020202030204" pitchFamily="34" charset="0"/>
              </a:rPr>
              <a:t>errors</a:t>
            </a:r>
            <a:r>
              <a:rPr lang="en-US" sz="2000" dirty="0" smtClean="0">
                <a:latin typeface="Arial Narrow" panose="020B0606020202030204" pitchFamily="34" charset="0"/>
              </a:rPr>
              <a:t>: Triggered </a:t>
            </a:r>
            <a:r>
              <a:rPr lang="en-US" sz="2000" dirty="0">
                <a:latin typeface="Arial Narrow" panose="020B0606020202030204" pitchFamily="34" charset="0"/>
              </a:rPr>
              <a:t>by some kind of sensory input.  </a:t>
            </a:r>
            <a:endParaRPr lang="en-US" sz="2000" dirty="0" smtClean="0">
              <a:latin typeface="Arial Narrow" panose="020B0606020202030204" pitchFamily="34" charset="0"/>
            </a:endParaRPr>
          </a:p>
          <a:p>
            <a:pPr>
              <a:buFont typeface="Wingdings" panose="05000000000000000000" pitchFamily="2" charset="2"/>
              <a:buChar char="§"/>
            </a:pPr>
            <a:r>
              <a:rPr lang="en-US" sz="2000" b="1" dirty="0" smtClean="0">
                <a:latin typeface="Arial Narrow" panose="020B0606020202030204" pitchFamily="34" charset="0"/>
              </a:rPr>
              <a:t>Mode </a:t>
            </a:r>
            <a:r>
              <a:rPr lang="en-US" sz="2000" b="1" dirty="0">
                <a:latin typeface="Arial Narrow" panose="020B0606020202030204" pitchFamily="34" charset="0"/>
              </a:rPr>
              <a:t>errors: </a:t>
            </a:r>
            <a:r>
              <a:rPr lang="en-US" sz="2000" dirty="0" smtClean="0">
                <a:latin typeface="Arial Narrow" panose="020B0606020202030204" pitchFamily="34" charset="0"/>
              </a:rPr>
              <a:t>Occur </a:t>
            </a:r>
            <a:r>
              <a:rPr lang="en-US" sz="2000" dirty="0">
                <a:latin typeface="Arial Narrow" panose="020B0606020202030204" pitchFamily="34" charset="0"/>
              </a:rPr>
              <a:t>when a device has different modes of operation and the same action has a different purpose in the different modes. </a:t>
            </a:r>
            <a:endParaRPr lang="en-US" sz="2000" dirty="0" smtClean="0">
              <a:latin typeface="Arial Narrow" panose="020B0606020202030204" pitchFamily="34" charset="0"/>
            </a:endParaRPr>
          </a:p>
          <a:p>
            <a:pPr marL="457200" lvl="1" indent="0">
              <a:buNone/>
            </a:pPr>
            <a:r>
              <a:rPr lang="en-US" sz="2000" dirty="0" smtClean="0">
                <a:latin typeface="Arial Narrow" panose="020B0606020202030204" pitchFamily="34" charset="0"/>
              </a:rPr>
              <a:t>▪ </a:t>
            </a:r>
            <a:r>
              <a:rPr lang="en-US" sz="2000" dirty="0">
                <a:latin typeface="Arial Narrow" panose="020B0606020202030204" pitchFamily="34" charset="0"/>
              </a:rPr>
              <a:t>Minimising different modes or making the different modes clearly visible, will avoid mode errors </a:t>
            </a:r>
          </a:p>
          <a:p>
            <a:pPr>
              <a:buFont typeface="Wingdings" panose="05000000000000000000" pitchFamily="2" charset="2"/>
              <a:buChar char="§"/>
            </a:pPr>
            <a:r>
              <a:rPr lang="en-US" sz="2000" b="1" dirty="0" smtClean="0">
                <a:latin typeface="Arial Narrow" panose="020B0606020202030204" pitchFamily="34" charset="0"/>
              </a:rPr>
              <a:t>Associative </a:t>
            </a:r>
            <a:r>
              <a:rPr lang="en-US" sz="2000" b="1" dirty="0">
                <a:latin typeface="Arial Narrow" panose="020B0606020202030204" pitchFamily="34" charset="0"/>
              </a:rPr>
              <a:t>activation </a:t>
            </a:r>
            <a:r>
              <a:rPr lang="en-US" sz="2000" b="1" dirty="0" smtClean="0">
                <a:latin typeface="Arial Narrow" panose="020B0606020202030204" pitchFamily="34" charset="0"/>
              </a:rPr>
              <a:t>errors: </a:t>
            </a:r>
            <a:r>
              <a:rPr lang="en-US" sz="2000" dirty="0" smtClean="0">
                <a:latin typeface="Arial Narrow" panose="020B0606020202030204" pitchFamily="34" charset="0"/>
              </a:rPr>
              <a:t>Similar </a:t>
            </a:r>
            <a:r>
              <a:rPr lang="en-US" sz="2000" dirty="0">
                <a:latin typeface="Arial Narrow" panose="020B0606020202030204" pitchFamily="34" charset="0"/>
              </a:rPr>
              <a:t>to description errors but are triggered by internal thoughts or associations instead of external </a:t>
            </a:r>
            <a:r>
              <a:rPr lang="en-US" sz="2000" dirty="0" smtClean="0">
                <a:latin typeface="Arial Narrow" panose="020B0606020202030204" pitchFamily="34" charset="0"/>
              </a:rPr>
              <a:t>data.</a:t>
            </a:r>
          </a:p>
          <a:p>
            <a:pPr>
              <a:buFont typeface="Wingdings" panose="05000000000000000000" pitchFamily="2" charset="2"/>
              <a:buChar char="§"/>
            </a:pPr>
            <a:r>
              <a:rPr lang="en-US" sz="2000" b="1" dirty="0" smtClean="0">
                <a:latin typeface="Arial Narrow" panose="020B0606020202030204" pitchFamily="34" charset="0"/>
              </a:rPr>
              <a:t>Loss-of-activation errors</a:t>
            </a:r>
            <a:r>
              <a:rPr lang="en-US" sz="2000" dirty="0" smtClean="0">
                <a:latin typeface="Arial Narrow" panose="020B0606020202030204" pitchFamily="34" charset="0"/>
              </a:rPr>
              <a:t>: Errors </a:t>
            </a:r>
            <a:r>
              <a:rPr lang="en-US" sz="2000" dirty="0">
                <a:latin typeface="Arial Narrow" panose="020B0606020202030204" pitchFamily="34" charset="0"/>
              </a:rPr>
              <a:t>due to forgetting</a:t>
            </a:r>
            <a:r>
              <a:rPr lang="en-US" sz="2000" dirty="0" smtClean="0">
                <a:latin typeface="Arial Narrow" panose="020B0606020202030204" pitchFamily="34" charset="0"/>
              </a:rPr>
              <a:t>.</a:t>
            </a:r>
          </a:p>
          <a:p>
            <a:pPr marL="0" indent="0">
              <a:buNone/>
            </a:pPr>
            <a:r>
              <a:rPr lang="en-US" sz="2000" b="1" dirty="0">
                <a:latin typeface="Arial Narrow" panose="020B0606020202030204" pitchFamily="34" charset="0"/>
              </a:rPr>
              <a:t>The cause of human error </a:t>
            </a:r>
            <a:endParaRPr lang="en-US" sz="2000" b="1"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Poorly defined requirements / little testing - Bugs in the product can result in failure.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Management failures - system may be well designed, but accidents can be caused by poorly trained operators.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Poor working environments - system may work well in a development environment, but not with noise, heat, vibration </a:t>
            </a:r>
            <a:endParaRPr lang="en-ZA" sz="2000" dirty="0">
              <a:latin typeface="Arial Narrow" panose="020B0606020202030204" pitchFamily="34" charset="0"/>
            </a:endParaRPr>
          </a:p>
        </p:txBody>
      </p:sp>
      <p:sp>
        <p:nvSpPr>
          <p:cNvPr id="11" name="Content Placeholder 10"/>
          <p:cNvSpPr>
            <a:spLocks noGrp="1"/>
          </p:cNvSpPr>
          <p:nvPr>
            <p:ph sz="half" idx="2"/>
          </p:nvPr>
        </p:nvSpPr>
        <p:spPr>
          <a:xfrm>
            <a:off x="6172199" y="108642"/>
            <a:ext cx="5859855" cy="6247708"/>
          </a:xfrm>
        </p:spPr>
        <p:txBody>
          <a:bodyPr>
            <a:normAutofit/>
          </a:bodyPr>
          <a:lstStyle/>
          <a:p>
            <a:pPr marL="0" indent="0">
              <a:buNone/>
            </a:pPr>
            <a:r>
              <a:rPr lang="en-US" sz="2000" b="1" dirty="0">
                <a:latin typeface="Arial Narrow" panose="020B0606020202030204" pitchFamily="34" charset="0"/>
              </a:rPr>
              <a:t>How to prevent human error </a:t>
            </a:r>
            <a:endParaRPr lang="en-US" sz="2000" b="1"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There is no simple way to improve the operational safety of computer systems.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Improving operator training won’t address fundamental problems created by mistakes &amp; slips.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 </a:t>
            </a:r>
            <a:r>
              <a:rPr lang="en-US" sz="2000" dirty="0">
                <a:latin typeface="Arial Narrow" panose="020B0606020202030204" pitchFamily="34" charset="0"/>
              </a:rPr>
              <a:t>Errors are latent within us, so we can never engineer out human error. </a:t>
            </a:r>
            <a:endParaRPr lang="en-US" sz="2000" dirty="0" smtClean="0">
              <a:latin typeface="Arial Narrow" panose="020B0606020202030204" pitchFamily="34" charset="0"/>
            </a:endParaRPr>
          </a:p>
          <a:p>
            <a:pPr marL="0" indent="0">
              <a:buNone/>
            </a:pPr>
            <a:r>
              <a:rPr lang="en-US" sz="2000" b="1" dirty="0" smtClean="0">
                <a:latin typeface="Arial Narrow" panose="020B0606020202030204" pitchFamily="34" charset="0"/>
              </a:rPr>
              <a:t>Steps </a:t>
            </a:r>
            <a:r>
              <a:rPr lang="en-US" sz="2000" b="1" dirty="0">
                <a:latin typeface="Arial Narrow" panose="020B0606020202030204" pitchFamily="34" charset="0"/>
              </a:rPr>
              <a:t>that can reduce the frequency &amp; cost of human error </a:t>
            </a:r>
            <a:endParaRPr lang="en-US" sz="2000" b="1"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 </a:t>
            </a:r>
            <a:r>
              <a:rPr lang="en-US" sz="2000" dirty="0">
                <a:latin typeface="Arial Narrow" panose="020B0606020202030204" pitchFamily="34" charset="0"/>
              </a:rPr>
              <a:t>Engineer decision support systems that </a:t>
            </a:r>
            <a:r>
              <a:rPr lang="en-US" sz="2000" dirty="0" smtClean="0">
                <a:latin typeface="Arial Narrow" panose="020B0606020202030204" pitchFamily="34" charset="0"/>
              </a:rPr>
              <a:t>provide </a:t>
            </a:r>
            <a:r>
              <a:rPr lang="en-US" sz="2000" dirty="0">
                <a:latin typeface="Arial Narrow" panose="020B0606020202030204" pitchFamily="34" charset="0"/>
              </a:rPr>
              <a:t>users </a:t>
            </a:r>
            <a:r>
              <a:rPr lang="en-US" sz="2000" dirty="0" smtClean="0">
                <a:latin typeface="Arial Narrow" panose="020B0606020202030204" pitchFamily="34" charset="0"/>
              </a:rPr>
              <a:t>with guidance </a:t>
            </a:r>
            <a:r>
              <a:rPr lang="en-US" sz="2000" dirty="0">
                <a:latin typeface="Arial Narrow" panose="020B0606020202030204" pitchFamily="34" charset="0"/>
              </a:rPr>
              <a:t>during critical operations. </a:t>
            </a:r>
            <a:endParaRPr lang="en-US" sz="2000" dirty="0" smtClean="0">
              <a:latin typeface="Arial Narrow" panose="020B0606020202030204" pitchFamily="34" charset="0"/>
            </a:endParaRPr>
          </a:p>
          <a:p>
            <a:pPr lvl="1">
              <a:buFont typeface="Wingdings" panose="05000000000000000000" pitchFamily="2" charset="2"/>
              <a:buChar char="§"/>
            </a:pPr>
            <a:r>
              <a:rPr lang="en-US" sz="2000" dirty="0" smtClean="0">
                <a:latin typeface="Arial Narrow" panose="020B0606020202030204" pitchFamily="34" charset="0"/>
              </a:rPr>
              <a:t>Improve </a:t>
            </a:r>
            <a:r>
              <a:rPr lang="en-US" sz="2000" dirty="0">
                <a:latin typeface="Arial Narrow" panose="020B0606020202030204" pitchFamily="34" charset="0"/>
              </a:rPr>
              <a:t>working practices (Introduce job monitoring and formal examinations). </a:t>
            </a:r>
            <a:endParaRPr lang="en-US" sz="2000" dirty="0" smtClean="0">
              <a:latin typeface="Arial Narrow" panose="020B0606020202030204" pitchFamily="34" charset="0"/>
            </a:endParaRPr>
          </a:p>
          <a:p>
            <a:pPr marL="0" indent="0">
              <a:buNone/>
            </a:pPr>
            <a:r>
              <a:rPr lang="en-US" sz="2000" dirty="0" smtClean="0">
                <a:latin typeface="Arial Narrow" panose="020B0606020202030204" pitchFamily="34" charset="0"/>
              </a:rPr>
              <a:t>When designing systems:</a:t>
            </a:r>
          </a:p>
          <a:p>
            <a:pPr>
              <a:buFont typeface="Wingdings" panose="05000000000000000000" pitchFamily="2" charset="2"/>
              <a:buChar char="§"/>
            </a:pPr>
            <a:r>
              <a:rPr lang="en-US" sz="2000" dirty="0" smtClean="0">
                <a:latin typeface="Arial Narrow" panose="020B0606020202030204" pitchFamily="34" charset="0"/>
              </a:rPr>
              <a:t>Keep in mind the kind of errors people make</a:t>
            </a:r>
          </a:p>
          <a:p>
            <a:pPr>
              <a:buFont typeface="Wingdings" panose="05000000000000000000" pitchFamily="2" charset="2"/>
              <a:buChar char="§"/>
            </a:pPr>
            <a:r>
              <a:rPr lang="en-US" sz="2000" dirty="0" smtClean="0">
                <a:latin typeface="Arial Narrow" panose="020B0606020202030204" pitchFamily="34" charset="0"/>
              </a:rPr>
              <a:t>Different modes be clearly visible -  avoid modes errors</a:t>
            </a:r>
          </a:p>
          <a:p>
            <a:pPr>
              <a:buFont typeface="Wingdings" panose="05000000000000000000" pitchFamily="2" charset="2"/>
              <a:buChar char="§"/>
            </a:pPr>
            <a:r>
              <a:rPr lang="en-US" sz="2000" smtClean="0">
                <a:latin typeface="Arial Narrow" panose="020B0606020202030204" pitchFamily="34" charset="0"/>
              </a:rPr>
              <a:t>Interface </a:t>
            </a:r>
            <a:r>
              <a:rPr lang="en-US" sz="2000" dirty="0" smtClean="0">
                <a:latin typeface="Arial Narrow" panose="020B0606020202030204" pitchFamily="34" charset="0"/>
              </a:rPr>
              <a:t>request confirmation </a:t>
            </a:r>
            <a:r>
              <a:rPr lang="en-US" sz="2000">
                <a:latin typeface="Arial Narrow" panose="020B0606020202030204" pitchFamily="34" charset="0"/>
              </a:rPr>
              <a:t>before deleting- Prevent deleting </a:t>
            </a:r>
            <a:r>
              <a:rPr lang="en-US" sz="2000" smtClean="0">
                <a:latin typeface="Arial Narrow" panose="020B0606020202030204" pitchFamily="34" charset="0"/>
              </a:rPr>
              <a:t>mistakes</a:t>
            </a:r>
            <a:endParaRPr lang="en-ZA" sz="20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551350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144855" y="162962"/>
            <a:ext cx="5874945" cy="6014001"/>
          </a:xfrm>
        </p:spPr>
        <p:txBody>
          <a:bodyPr>
            <a:normAutofit/>
          </a:bodyPr>
          <a:lstStyle/>
          <a:p>
            <a:pPr marL="0" indent="0">
              <a:buNone/>
            </a:pPr>
            <a:r>
              <a:rPr lang="en-US" b="1" dirty="0"/>
              <a:t>Conclusion </a:t>
            </a:r>
            <a:endParaRPr lang="en-US" b="1" dirty="0" smtClean="0"/>
          </a:p>
          <a:p>
            <a:r>
              <a:rPr lang="en-US" sz="2000" dirty="0" smtClean="0">
                <a:latin typeface="Arial Narrow" panose="020B0606020202030204" pitchFamily="34" charset="0"/>
              </a:rPr>
              <a:t>Most </a:t>
            </a:r>
            <a:r>
              <a:rPr lang="en-US" sz="2000" dirty="0">
                <a:latin typeface="Arial Narrow" panose="020B0606020202030204" pitchFamily="34" charset="0"/>
              </a:rPr>
              <a:t>computer-based systems are developed for use by people.  </a:t>
            </a:r>
            <a:endParaRPr lang="en-US" sz="2000" dirty="0" smtClean="0">
              <a:latin typeface="Arial Narrow" panose="020B0606020202030204" pitchFamily="34" charset="0"/>
            </a:endParaRPr>
          </a:p>
          <a:p>
            <a:r>
              <a:rPr lang="en-US" sz="2000" dirty="0" smtClean="0">
                <a:latin typeface="Arial Narrow" panose="020B0606020202030204" pitchFamily="34" charset="0"/>
              </a:rPr>
              <a:t>Different </a:t>
            </a:r>
            <a:r>
              <a:rPr lang="en-US" sz="2000" dirty="0">
                <a:latin typeface="Arial Narrow" panose="020B0606020202030204" pitchFamily="34" charset="0"/>
              </a:rPr>
              <a:t>systems are aimed at different kinds of people.  </a:t>
            </a:r>
            <a:endParaRPr lang="en-US" sz="2000" dirty="0" smtClean="0">
              <a:latin typeface="Arial Narrow" panose="020B0606020202030204" pitchFamily="34" charset="0"/>
            </a:endParaRPr>
          </a:p>
          <a:p>
            <a:r>
              <a:rPr lang="en-US" sz="2000" dirty="0" smtClean="0">
                <a:latin typeface="Arial Narrow" panose="020B0606020202030204" pitchFamily="34" charset="0"/>
              </a:rPr>
              <a:t>It </a:t>
            </a:r>
            <a:r>
              <a:rPr lang="en-US" sz="2000" dirty="0">
                <a:latin typeface="Arial Narrow" panose="020B0606020202030204" pitchFamily="34" charset="0"/>
              </a:rPr>
              <a:t>is crucial that whoever design these systems understand who they design for and how interacting with the system may affect these users </a:t>
            </a:r>
            <a:endParaRPr lang="en-US" sz="2000" dirty="0" smtClean="0">
              <a:latin typeface="Arial Narrow" panose="020B0606020202030204" pitchFamily="34" charset="0"/>
            </a:endParaRPr>
          </a:p>
          <a:p>
            <a:r>
              <a:rPr lang="en-US" sz="2000" dirty="0" smtClean="0">
                <a:latin typeface="Arial Narrow" panose="020B0606020202030204" pitchFamily="34" charset="0"/>
              </a:rPr>
              <a:t>Human </a:t>
            </a:r>
            <a:r>
              <a:rPr lang="en-US" sz="2000" dirty="0">
                <a:latin typeface="Arial Narrow" panose="020B0606020202030204" pitchFamily="34" charset="0"/>
              </a:rPr>
              <a:t>problems and errors with technology are often a design failure, and that good design always takes human capabilities and weaknesses in account. </a:t>
            </a:r>
            <a:endParaRPr lang="en-US" sz="2000" dirty="0" smtClean="0">
              <a:latin typeface="Arial Narrow" panose="020B0606020202030204" pitchFamily="34" charset="0"/>
            </a:endParaRPr>
          </a:p>
          <a:p>
            <a:r>
              <a:rPr lang="en-US" sz="2000" dirty="0" smtClean="0">
                <a:latin typeface="Arial Narrow" panose="020B0606020202030204" pitchFamily="34" charset="0"/>
              </a:rPr>
              <a:t>Final conclusion: There </a:t>
            </a:r>
            <a:r>
              <a:rPr lang="en-US" sz="2000" dirty="0">
                <a:latin typeface="Arial Narrow" panose="020B0606020202030204" pitchFamily="34" charset="0"/>
              </a:rPr>
              <a:t>is no such thing as the “</a:t>
            </a:r>
            <a:r>
              <a:rPr lang="en-US" sz="2000" b="1" i="1" dirty="0">
                <a:latin typeface="Arial Narrow" panose="020B0606020202030204" pitchFamily="34" charset="0"/>
              </a:rPr>
              <a:t>average user”. </a:t>
            </a:r>
            <a:endParaRPr lang="en-ZA" sz="2000" b="1" i="1" dirty="0">
              <a:latin typeface="Arial Narrow" panose="020B0606020202030204" pitchFamily="34" charset="0"/>
            </a:endParaRPr>
          </a:p>
        </p:txBody>
      </p:sp>
      <p:sp>
        <p:nvSpPr>
          <p:cNvPr id="8" name="Content Placeholder 7"/>
          <p:cNvSpPr>
            <a:spLocks noGrp="1"/>
          </p:cNvSpPr>
          <p:nvPr>
            <p:ph sz="half" idx="2"/>
          </p:nvPr>
        </p:nvSpPr>
        <p:spPr>
          <a:xfrm>
            <a:off x="6172200" y="144855"/>
            <a:ext cx="5181600" cy="6014001"/>
          </a:xfrm>
        </p:spPr>
        <p:txBody>
          <a:bodyPr>
            <a:normAutofit/>
          </a:bodyPr>
          <a:lstStyle/>
          <a:p>
            <a:endParaRPr lang="en-ZA" dirty="0" smtClean="0"/>
          </a:p>
          <a:p>
            <a:pPr marL="0" indent="0">
              <a:buNone/>
            </a:pPr>
            <a:endParaRPr lang="en-ZA" dirty="0" smtClean="0"/>
          </a:p>
          <a:p>
            <a:pPr marL="0" indent="0">
              <a:buNone/>
            </a:pPr>
            <a:endParaRPr lang="en-ZA" dirty="0" smtClean="0"/>
          </a:p>
          <a:p>
            <a:pPr marL="0" indent="0">
              <a:buNone/>
            </a:pPr>
            <a:r>
              <a:rPr lang="en-ZA" sz="6000" b="1" i="1" dirty="0" smtClean="0"/>
              <a:t>The end of chapter Two!!!</a:t>
            </a:r>
            <a:endParaRPr lang="en-ZA" sz="6000" b="1" i="1" dirty="0"/>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941056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3993</TotalTime>
  <Words>3743</Words>
  <Application>Microsoft Office PowerPoint</Application>
  <PresentationFormat>Widescreen</PresentationFormat>
  <Paragraphs>305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Narrow</vt:lpstr>
      <vt:lpstr>Calibri</vt:lpstr>
      <vt:lpstr>Calibri Light</vt:lpstr>
      <vt:lpstr>Wingdings</vt:lpstr>
      <vt:lpstr>Office Theme</vt:lpstr>
      <vt:lpstr>  Lesson Tool 2: Human issues in HCI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SAPS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INF1520:Human Computer Interaction Summary</dc:title>
  <dc:creator>Nonzwelo Makama</dc:creator>
  <cp:lastModifiedBy>Nozwelo</cp:lastModifiedBy>
  <cp:revision>101</cp:revision>
  <dcterms:created xsi:type="dcterms:W3CDTF">2021-05-05T17:16:46Z</dcterms:created>
  <dcterms:modified xsi:type="dcterms:W3CDTF">2023-05-16T20:07:00Z</dcterms:modified>
</cp:coreProperties>
</file>