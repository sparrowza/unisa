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5A90A7-326D-4D74-B9E1-7DB41F9A38E7}" type="datetimeFigureOut">
              <a:rPr lang="en-ZA" smtClean="0"/>
              <a:t>2023/05/16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DCECA6-B94A-4BA5-B14A-A7B2A1C6E6DC}" type="slidenum">
              <a:rPr lang="en-ZA" smtClean="0"/>
              <a:t>‹#›</a:t>
            </a:fld>
            <a:endParaRPr lang="en-ZA"/>
          </a:p>
        </p:txBody>
      </p:sp>
    </p:spTree>
    <p:extLst>
      <p:ext uri="{BB962C8B-B14F-4D97-AF65-F5344CB8AC3E}">
        <p14:creationId xmlns:p14="http://schemas.microsoft.com/office/powerpoint/2010/main" val="1285813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Z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ZA"/>
          </a:p>
        </p:txBody>
      </p:sp>
      <p:sp>
        <p:nvSpPr>
          <p:cNvPr id="4" name="Date Placeholder 3"/>
          <p:cNvSpPr>
            <a:spLocks noGrp="1"/>
          </p:cNvSpPr>
          <p:nvPr>
            <p:ph type="dt" sz="half" idx="10"/>
          </p:nvPr>
        </p:nvSpPr>
        <p:spPr/>
        <p:txBody>
          <a:bodyPr/>
          <a:lstStyle/>
          <a:p>
            <a:fld id="{4FC0BA62-65F4-45CF-BA97-2C69AA6BB317}"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23927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63E7B9F-2E19-497B-A04A-AED71DEF1E5F}"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2433253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Z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032466-056C-4B0D-8FFF-557E2DC5D823}"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63655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Date Placeholder 4"/>
          <p:cNvSpPr>
            <a:spLocks noGrp="1"/>
          </p:cNvSpPr>
          <p:nvPr>
            <p:ph type="dt" sz="half" idx="10"/>
          </p:nvPr>
        </p:nvSpPr>
        <p:spPr/>
        <p:txBody>
          <a:bodyPr/>
          <a:lstStyle/>
          <a:p>
            <a:fld id="{595008A0-259D-44C7-868F-57F9E0CECCDD}"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567983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Z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7" name="Date Placeholder 6"/>
          <p:cNvSpPr>
            <a:spLocks noGrp="1"/>
          </p:cNvSpPr>
          <p:nvPr>
            <p:ph type="dt" sz="half" idx="10"/>
          </p:nvPr>
        </p:nvSpPr>
        <p:spPr/>
        <p:txBody>
          <a:bodyPr/>
          <a:lstStyle/>
          <a:p>
            <a:fld id="{8B0188CF-41BF-42A1-82C6-32359E4650E6}" type="datetime1">
              <a:rPr lang="en-ZA" smtClean="0"/>
              <a:t>2023/05/16</a:t>
            </a:fld>
            <a:endParaRPr lang="en-ZA"/>
          </a:p>
        </p:txBody>
      </p:sp>
      <p:sp>
        <p:nvSpPr>
          <p:cNvPr id="8" name="Footer Placeholder 7"/>
          <p:cNvSpPr>
            <a:spLocks noGrp="1"/>
          </p:cNvSpPr>
          <p:nvPr>
            <p:ph type="ftr" sz="quarter" idx="11"/>
          </p:nvPr>
        </p:nvSpPr>
        <p:spPr/>
        <p:txBody>
          <a:bodyPr/>
          <a:lstStyle/>
          <a:p>
            <a:r>
              <a:rPr lang="en-ZA" smtClean="0"/>
              <a:t>Prepared by Zwelo Makama -INF1520 eTutor</a:t>
            </a:r>
            <a:endParaRPr lang="en-ZA"/>
          </a:p>
        </p:txBody>
      </p:sp>
      <p:sp>
        <p:nvSpPr>
          <p:cNvPr id="9" name="Slide Number Placeholder 8"/>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6571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Date Placeholder 2"/>
          <p:cNvSpPr>
            <a:spLocks noGrp="1"/>
          </p:cNvSpPr>
          <p:nvPr>
            <p:ph type="dt" sz="half" idx="10"/>
          </p:nvPr>
        </p:nvSpPr>
        <p:spPr/>
        <p:txBody>
          <a:bodyPr/>
          <a:lstStyle/>
          <a:p>
            <a:fld id="{8DA3B2FA-8719-4508-97AA-16537FD3BDA9}" type="datetime1">
              <a:rPr lang="en-ZA" smtClean="0"/>
              <a:t>2023/05/16</a:t>
            </a:fld>
            <a:endParaRPr lang="en-ZA"/>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
        <p:nvSpPr>
          <p:cNvPr id="5" name="Slide Number Placeholder 4"/>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750086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B0D64-14D2-4FD9-AB1C-FB0D2109037B}" type="datetime1">
              <a:rPr lang="en-ZA" smtClean="0"/>
              <a:t>2023/05/16</a:t>
            </a:fld>
            <a:endParaRPr lang="en-ZA"/>
          </a:p>
        </p:txBody>
      </p:sp>
      <p:sp>
        <p:nvSpPr>
          <p:cNvPr id="3" name="Footer Placeholder 2"/>
          <p:cNvSpPr>
            <a:spLocks noGrp="1"/>
          </p:cNvSpPr>
          <p:nvPr>
            <p:ph type="ftr" sz="quarter" idx="11"/>
          </p:nvPr>
        </p:nvSpPr>
        <p:spPr/>
        <p:txBody>
          <a:bodyPr/>
          <a:lstStyle/>
          <a:p>
            <a:r>
              <a:rPr lang="en-ZA" smtClean="0"/>
              <a:t>Prepared by Zwelo Makama -INF1520 eTutor</a:t>
            </a:r>
            <a:endParaRPr lang="en-ZA"/>
          </a:p>
        </p:txBody>
      </p:sp>
      <p:sp>
        <p:nvSpPr>
          <p:cNvPr id="4" name="Slide Number Placeholder 3"/>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3183883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7EBCF-78E6-4074-829A-A1CB3DAEE872}"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4090326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Z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7A3B3AD-C28C-4AC2-8768-0AD05410E84D}" type="datetime1">
              <a:rPr lang="en-ZA" smtClean="0"/>
              <a:t>2023/05/16</a:t>
            </a:fld>
            <a:endParaRPr lang="en-ZA"/>
          </a:p>
        </p:txBody>
      </p:sp>
      <p:sp>
        <p:nvSpPr>
          <p:cNvPr id="6" name="Footer Placeholder 5"/>
          <p:cNvSpPr>
            <a:spLocks noGrp="1"/>
          </p:cNvSpPr>
          <p:nvPr>
            <p:ph type="ftr" sz="quarter" idx="11"/>
          </p:nvPr>
        </p:nvSpPr>
        <p:spPr/>
        <p:txBody>
          <a:bodyPr/>
          <a:lstStyle/>
          <a:p>
            <a:r>
              <a:rPr lang="en-ZA" smtClean="0"/>
              <a:t>Prepared by Zwelo Makama -INF1520 eTutor</a:t>
            </a:r>
            <a:endParaRPr lang="en-ZA"/>
          </a:p>
        </p:txBody>
      </p:sp>
      <p:sp>
        <p:nvSpPr>
          <p:cNvPr id="7" name="Slide Number Placeholder 6"/>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92392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D6B544B5-F818-4D94-9B1D-3E4B6780D1A1}"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687070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Z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10"/>
          </p:nvPr>
        </p:nvSpPr>
        <p:spPr/>
        <p:txBody>
          <a:bodyPr/>
          <a:lstStyle/>
          <a:p>
            <a:fld id="{6B3BD684-EF02-4471-850E-134BC0E3D615}" type="datetime1">
              <a:rPr lang="en-ZA" smtClean="0"/>
              <a:t>2023/05/16</a:t>
            </a:fld>
            <a:endParaRPr lang="en-ZA"/>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
        <p:nvSpPr>
          <p:cNvPr id="6" name="Slide Number Placeholder 5"/>
          <p:cNvSpPr>
            <a:spLocks noGrp="1"/>
          </p:cNvSpPr>
          <p:nvPr>
            <p:ph type="sldNum" sz="quarter" idx="12"/>
          </p:nvPr>
        </p:nvSpPr>
        <p:spPr/>
        <p:txBody>
          <a:bodyPr/>
          <a:lstStyle/>
          <a:p>
            <a:fld id="{178C4920-6622-44E1-80B4-4F1D1EB4E200}" type="slidenum">
              <a:rPr lang="en-ZA" smtClean="0"/>
              <a:t>‹#›</a:t>
            </a:fld>
            <a:endParaRPr lang="en-ZA"/>
          </a:p>
        </p:txBody>
      </p:sp>
    </p:spTree>
    <p:extLst>
      <p:ext uri="{BB962C8B-B14F-4D97-AF65-F5344CB8AC3E}">
        <p14:creationId xmlns:p14="http://schemas.microsoft.com/office/powerpoint/2010/main" val="1323568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Z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Z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BBE3A-7353-4156-B19C-B3CE57CC8530}" type="datetime1">
              <a:rPr lang="en-ZA" smtClean="0"/>
              <a:t>2023/05/16</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ZA" smtClean="0"/>
              <a:t>Prepared by Zwelo Makama -INF1520 eTutor</a:t>
            </a:r>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8C4920-6622-44E1-80B4-4F1D1EB4E200}" type="slidenum">
              <a:rPr lang="en-ZA" smtClean="0"/>
              <a:t>‹#›</a:t>
            </a:fld>
            <a:endParaRPr lang="en-ZA"/>
          </a:p>
        </p:txBody>
      </p:sp>
    </p:spTree>
    <p:extLst>
      <p:ext uri="{BB962C8B-B14F-4D97-AF65-F5344CB8AC3E}">
        <p14:creationId xmlns:p14="http://schemas.microsoft.com/office/powerpoint/2010/main" val="4183869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6"/>
            <a:ext cx="10515600" cy="1045664"/>
          </a:xfrm>
        </p:spPr>
        <p:txBody>
          <a:bodyPr>
            <a:normAutofit fontScale="90000"/>
          </a:bodyPr>
          <a:lstStyle/>
          <a:p>
            <a:r>
              <a:rPr lang="en-ZA" dirty="0" smtClean="0">
                <a:latin typeface="Arial Narrow" panose="020B0606020202030204" pitchFamily="34" charset="0"/>
              </a:rPr>
              <a:t/>
            </a:r>
            <a:br>
              <a:rPr lang="en-ZA" dirty="0" smtClean="0">
                <a:latin typeface="Arial Narrow" panose="020B0606020202030204" pitchFamily="34" charset="0"/>
              </a:rPr>
            </a:br>
            <a:r>
              <a:rPr lang="en-ZA" dirty="0" smtClean="0">
                <a:latin typeface="Arial Narrow" panose="020B0606020202030204" pitchFamily="34" charset="0"/>
              </a:rPr>
              <a:t>INF1520:Human Computer Interaction</a:t>
            </a:r>
            <a:br>
              <a:rPr lang="en-ZA" dirty="0" smtClean="0">
                <a:latin typeface="Arial Narrow" panose="020B0606020202030204" pitchFamily="34" charset="0"/>
              </a:rPr>
            </a:br>
            <a:endParaRPr lang="en-ZA" dirty="0">
              <a:latin typeface="Arial Narrow" panose="020B0606020202030204" pitchFamily="34" charset="0"/>
            </a:endParaRPr>
          </a:p>
        </p:txBody>
      </p:sp>
      <p:sp>
        <p:nvSpPr>
          <p:cNvPr id="5" name="Content Placeholder 4"/>
          <p:cNvSpPr>
            <a:spLocks noGrp="1"/>
          </p:cNvSpPr>
          <p:nvPr>
            <p:ph sz="half" idx="1"/>
          </p:nvPr>
        </p:nvSpPr>
        <p:spPr>
          <a:xfrm>
            <a:off x="838200" y="1584960"/>
            <a:ext cx="5181600" cy="4592003"/>
          </a:xfrm>
        </p:spPr>
        <p:txBody>
          <a:bodyPr>
            <a:normAutofit/>
          </a:bodyPr>
          <a:lstStyle/>
          <a:p>
            <a:pPr algn="just"/>
            <a:r>
              <a:rPr lang="en-ZA" sz="2000" dirty="0">
                <a:latin typeface="Arial Narrow" panose="020B0606020202030204" pitchFamily="34" charset="0"/>
              </a:rPr>
              <a:t>Welcome to this module on human-computer interaction (HCI). We hope that you will find it interesting and stimulating. </a:t>
            </a:r>
            <a:endParaRPr lang="en-ZA" sz="2000" dirty="0" smtClean="0">
              <a:latin typeface="Arial Narrow" panose="020B0606020202030204" pitchFamily="34" charset="0"/>
            </a:endParaRPr>
          </a:p>
          <a:p>
            <a:pPr algn="just"/>
            <a:r>
              <a:rPr lang="en-ZA" sz="2000" dirty="0" smtClean="0">
                <a:latin typeface="Arial Narrow" panose="020B0606020202030204" pitchFamily="34" charset="0"/>
              </a:rPr>
              <a:t>INF1520 </a:t>
            </a:r>
            <a:r>
              <a:rPr lang="en-ZA" sz="2000" dirty="0">
                <a:latin typeface="Arial Narrow" panose="020B0606020202030204" pitchFamily="34" charset="0"/>
              </a:rPr>
              <a:t>Human-Computer Interaction is a module that will broaden your horizons to understand why </a:t>
            </a:r>
            <a:r>
              <a:rPr lang="en-ZA" sz="2000" dirty="0" smtClean="0">
                <a:latin typeface="Arial Narrow" panose="020B0606020202030204" pitchFamily="34" charset="0"/>
              </a:rPr>
              <a:t>pages/systems </a:t>
            </a:r>
            <a:r>
              <a:rPr lang="en-ZA" sz="2000" dirty="0">
                <a:latin typeface="Arial Narrow" panose="020B0606020202030204" pitchFamily="34" charset="0"/>
              </a:rPr>
              <a:t>are designed in the way that they are and how they should be designed. </a:t>
            </a:r>
            <a:endParaRPr lang="en-ZA" sz="2000" dirty="0" smtClean="0">
              <a:latin typeface="Arial Narrow" panose="020B0606020202030204" pitchFamily="34" charset="0"/>
            </a:endParaRPr>
          </a:p>
          <a:p>
            <a:pPr algn="just"/>
            <a:r>
              <a:rPr lang="en-ZA" sz="2000" dirty="0">
                <a:latin typeface="Arial Narrow" panose="020B0606020202030204" pitchFamily="34" charset="0"/>
              </a:rPr>
              <a:t>This module focuses on enhancing the quality of the interaction between humans and machines and to systematically apply our knowledge about human purposes, capabilities, and limitations as well as machine capabilities and limitations. </a:t>
            </a:r>
          </a:p>
        </p:txBody>
      </p:sp>
      <p:sp>
        <p:nvSpPr>
          <p:cNvPr id="7" name="Footer Placeholder 6"/>
          <p:cNvSpPr>
            <a:spLocks noGrp="1"/>
          </p:cNvSpPr>
          <p:nvPr>
            <p:ph type="ftr" sz="quarter" idx="11"/>
          </p:nvPr>
        </p:nvSpPr>
        <p:spPr/>
        <p:txBody>
          <a:bodyPr/>
          <a:lstStyle/>
          <a:p>
            <a:r>
              <a:rPr lang="en-ZA" smtClean="0"/>
              <a:t>Prepared by Zwelo Makama -INF1520 eTutor</a:t>
            </a:r>
            <a:endParaRPr lang="en-ZA"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584961"/>
            <a:ext cx="5181600" cy="4033494"/>
          </a:xfrm>
        </p:spPr>
      </p:pic>
    </p:spTree>
    <p:extLst>
      <p:ext uri="{BB962C8B-B14F-4D97-AF65-F5344CB8AC3E}">
        <p14:creationId xmlns:p14="http://schemas.microsoft.com/office/powerpoint/2010/main" val="3668301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a:xfrm>
            <a:off x="838200" y="424874"/>
            <a:ext cx="5181600" cy="5752090"/>
          </a:xfrm>
        </p:spPr>
        <p:txBody>
          <a:bodyPr>
            <a:normAutofit fontScale="92500" lnSpcReduction="10000"/>
          </a:bodyPr>
          <a:lstStyle/>
          <a:p>
            <a:endParaRPr lang="en-ZA" dirty="0"/>
          </a:p>
          <a:p>
            <a:pPr lvl="1"/>
            <a:r>
              <a:rPr lang="en-ZA" sz="3200" b="1" dirty="0">
                <a:latin typeface="Arial Narrow" panose="020B0606020202030204" pitchFamily="34" charset="0"/>
              </a:rPr>
              <a:t>Overview </a:t>
            </a:r>
          </a:p>
          <a:p>
            <a:r>
              <a:rPr lang="en-ZA" sz="2300" dirty="0">
                <a:latin typeface="Arial Narrow" panose="020B0606020202030204" pitchFamily="34" charset="0"/>
              </a:rPr>
              <a:t>The module INF1520 is about Human-Computer Interaction (HCI). The study of HCI is done to determine how we can make computer technology more usable for people. The overall purpose of the module is to: </a:t>
            </a:r>
          </a:p>
          <a:p>
            <a:r>
              <a:rPr lang="en-ZA" sz="2300" dirty="0">
                <a:latin typeface="Arial Narrow" panose="020B0606020202030204" pitchFamily="34" charset="0"/>
              </a:rPr>
              <a:t>Enhance the quality of the interaction between human and machine by systematically applying our knowledge about the human purpose, capabilities, and limitations as well as about machine capabilities and limitations </a:t>
            </a:r>
          </a:p>
          <a:p>
            <a:r>
              <a:rPr lang="en-ZA" sz="2300" dirty="0">
                <a:latin typeface="Arial Narrow" panose="020B0606020202030204" pitchFamily="34" charset="0"/>
              </a:rPr>
              <a:t>develop or improve productivity and the functionality, safety, utility, effectiveness, efficiency, and usability of systems that include computers (Preece et al 2007; Preece et al 2014) </a:t>
            </a:r>
          </a:p>
          <a:p>
            <a:pPr marL="0" indent="0">
              <a:buNone/>
            </a:pPr>
            <a:endParaRPr lang="en-ZA" sz="2000" dirty="0">
              <a:latin typeface="Arial Narrow" panose="020B0606020202030204" pitchFamily="34" charset="0"/>
            </a:endParaRPr>
          </a:p>
        </p:txBody>
      </p:sp>
      <p:sp>
        <p:nvSpPr>
          <p:cNvPr id="2" name="Content Placeholder 1"/>
          <p:cNvSpPr>
            <a:spLocks noGrp="1"/>
          </p:cNvSpPr>
          <p:nvPr>
            <p:ph sz="half" idx="2"/>
          </p:nvPr>
        </p:nvSpPr>
        <p:spPr>
          <a:xfrm>
            <a:off x="6019800" y="424874"/>
            <a:ext cx="5181600" cy="6140233"/>
          </a:xfrm>
        </p:spPr>
        <p:txBody>
          <a:bodyPr>
            <a:normAutofit fontScale="92500" lnSpcReduction="10000"/>
          </a:bodyPr>
          <a:lstStyle/>
          <a:p>
            <a:pPr marL="0" indent="0">
              <a:buNone/>
            </a:pPr>
            <a:r>
              <a:rPr lang="en-ZA" b="1" dirty="0"/>
              <a:t>Outcomes</a:t>
            </a:r>
            <a:endParaRPr lang="en-ZA" dirty="0" smtClean="0">
              <a:latin typeface="Arial Narrow" panose="020B0606020202030204" pitchFamily="34" charset="0"/>
            </a:endParaRPr>
          </a:p>
          <a:p>
            <a:pPr marL="0" indent="0">
              <a:buNone/>
            </a:pPr>
            <a:r>
              <a:rPr lang="en-ZA" sz="2400" dirty="0" smtClean="0">
                <a:latin typeface="Arial Narrow" panose="020B0606020202030204" pitchFamily="34" charset="0"/>
              </a:rPr>
              <a:t>On </a:t>
            </a:r>
            <a:r>
              <a:rPr lang="en-ZA" sz="2400" dirty="0">
                <a:latin typeface="Arial Narrow" panose="020B0606020202030204" pitchFamily="34" charset="0"/>
              </a:rPr>
              <a:t>completing of this module, you should have a knowledge and an understanding of: </a:t>
            </a:r>
          </a:p>
          <a:p>
            <a:r>
              <a:rPr lang="en-ZA" sz="2400" dirty="0">
                <a:latin typeface="Arial Narrow" panose="020B0606020202030204" pitchFamily="34" charset="0"/>
              </a:rPr>
              <a:t>the history of human-computer interaction and its current status </a:t>
            </a:r>
          </a:p>
          <a:p>
            <a:r>
              <a:rPr lang="en-ZA" sz="2400" dirty="0">
                <a:latin typeface="Arial Narrow" panose="020B0606020202030204" pitchFamily="34" charset="0"/>
              </a:rPr>
              <a:t>the differences between users and designers </a:t>
            </a:r>
          </a:p>
          <a:p>
            <a:r>
              <a:rPr lang="en-ZA" sz="2400" dirty="0">
                <a:latin typeface="Arial Narrow" panose="020B0606020202030204" pitchFamily="34" charset="0"/>
              </a:rPr>
              <a:t>the perceptual, cognitive and physical characteristics of computer users </a:t>
            </a:r>
          </a:p>
          <a:p>
            <a:r>
              <a:rPr lang="en-ZA" sz="2400" dirty="0">
                <a:latin typeface="Arial Narrow" panose="020B0606020202030204" pitchFamily="34" charset="0"/>
              </a:rPr>
              <a:t>factors such as culture, personality and age that may influence the design and usability of software especially in organisations </a:t>
            </a:r>
          </a:p>
          <a:p>
            <a:r>
              <a:rPr lang="en-ZA" sz="2400" dirty="0">
                <a:latin typeface="Arial Narrow" panose="020B0606020202030204" pitchFamily="34" charset="0"/>
              </a:rPr>
              <a:t>typical mistakes designers make and guidelines and principles to address these </a:t>
            </a:r>
          </a:p>
          <a:p>
            <a:r>
              <a:rPr lang="en-ZA" sz="2400" dirty="0">
                <a:latin typeface="Arial Narrow" panose="020B0606020202030204" pitchFamily="34" charset="0"/>
              </a:rPr>
              <a:t>the different types of interfaces that computer systems can have </a:t>
            </a:r>
          </a:p>
          <a:p>
            <a:r>
              <a:rPr lang="en-ZA" sz="2400" dirty="0">
                <a:latin typeface="Arial Narrow" panose="020B0606020202030204" pitchFamily="34" charset="0"/>
              </a:rPr>
              <a:t>techniques to evaluate interactive systems </a:t>
            </a:r>
          </a:p>
          <a:p>
            <a:r>
              <a:rPr lang="en-ZA" sz="2400" dirty="0">
                <a:latin typeface="Arial Narrow" panose="020B0606020202030204" pitchFamily="34" charset="0"/>
              </a:rPr>
              <a:t>the impact of computers on society </a:t>
            </a:r>
          </a:p>
          <a:p>
            <a:endParaRPr lang="en-ZA" dirty="0"/>
          </a:p>
        </p:txBody>
      </p:sp>
      <p:sp>
        <p:nvSpPr>
          <p:cNvPr id="7" name="Footer Placeholder 6"/>
          <p:cNvSpPr>
            <a:spLocks noGrp="1"/>
          </p:cNvSpPr>
          <p:nvPr>
            <p:ph type="ftr" sz="quarter" idx="11"/>
          </p:nvPr>
        </p:nvSpPr>
        <p:spPr/>
        <p:txBody>
          <a:bodyPr/>
          <a:lstStyle/>
          <a:p>
            <a:r>
              <a:rPr lang="en-ZA" dirty="0" smtClean="0"/>
              <a:t>Prepared by </a:t>
            </a:r>
            <a:r>
              <a:rPr lang="en-ZA" dirty="0" err="1" smtClean="0"/>
              <a:t>Zwelo</a:t>
            </a:r>
            <a:r>
              <a:rPr lang="en-ZA" dirty="0" smtClean="0"/>
              <a:t> Makama -INF1520 </a:t>
            </a:r>
            <a:r>
              <a:rPr lang="en-ZA" dirty="0" err="1" smtClean="0"/>
              <a:t>eTutor</a:t>
            </a:r>
            <a:endParaRPr lang="en-ZA" dirty="0"/>
          </a:p>
        </p:txBody>
      </p:sp>
    </p:spTree>
    <p:extLst>
      <p:ext uri="{BB962C8B-B14F-4D97-AF65-F5344CB8AC3E}">
        <p14:creationId xmlns:p14="http://schemas.microsoft.com/office/powerpoint/2010/main" val="1914518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063081"/>
          </a:xfrm>
        </p:spPr>
        <p:txBody>
          <a:bodyPr>
            <a:normAutofit fontScale="90000"/>
          </a:bodyPr>
          <a:lstStyle/>
          <a:p>
            <a:r>
              <a:rPr lang="en-ZA" dirty="0"/>
              <a:t/>
            </a:r>
            <a:br>
              <a:rPr lang="en-ZA" dirty="0"/>
            </a:br>
            <a:r>
              <a:rPr lang="en-ZA" sz="3600" dirty="0">
                <a:latin typeface="Arial Narrow" panose="020B0606020202030204" pitchFamily="34" charset="0"/>
              </a:rPr>
              <a:t> </a:t>
            </a:r>
            <a:r>
              <a:rPr lang="en-ZA" sz="3600" b="1" dirty="0">
                <a:latin typeface="Arial Narrow" panose="020B0606020202030204" pitchFamily="34" charset="0"/>
              </a:rPr>
              <a:t>Lesson Tool 1: Introduction to Human-Computer Interaction </a:t>
            </a:r>
          </a:p>
        </p:txBody>
      </p:sp>
      <p:sp>
        <p:nvSpPr>
          <p:cNvPr id="3" name="Content Placeholder 2"/>
          <p:cNvSpPr>
            <a:spLocks noGrp="1"/>
          </p:cNvSpPr>
          <p:nvPr>
            <p:ph sz="half" idx="1"/>
          </p:nvPr>
        </p:nvSpPr>
        <p:spPr>
          <a:xfrm>
            <a:off x="838200" y="1219200"/>
            <a:ext cx="5181600" cy="4957763"/>
          </a:xfrm>
        </p:spPr>
        <p:txBody>
          <a:bodyPr>
            <a:normAutofit fontScale="32500" lnSpcReduction="20000"/>
          </a:bodyPr>
          <a:lstStyle/>
          <a:p>
            <a:pPr algn="just">
              <a:lnSpc>
                <a:spcPct val="120000"/>
              </a:lnSpc>
            </a:pPr>
            <a:r>
              <a:rPr lang="en-ZA" sz="5500" dirty="0" smtClean="0">
                <a:latin typeface="Arial Narrow" panose="020B0606020202030204" pitchFamily="34" charset="0"/>
              </a:rPr>
              <a:t>Computer /software -&gt; designed for people, therefore they should be </a:t>
            </a:r>
            <a:r>
              <a:rPr lang="en-ZA" sz="5500" dirty="0">
                <a:latin typeface="Arial Narrow" panose="020B0606020202030204" pitchFamily="34" charset="0"/>
              </a:rPr>
              <a:t>designed in a way that allows the intended user to use them successfully for the intended purpose and with the least amount of </a:t>
            </a:r>
            <a:r>
              <a:rPr lang="en-ZA" sz="5500" dirty="0" smtClean="0">
                <a:latin typeface="Arial Narrow" panose="020B0606020202030204" pitchFamily="34" charset="0"/>
              </a:rPr>
              <a:t>effort. </a:t>
            </a:r>
            <a:endParaRPr lang="en-ZA" sz="5500" dirty="0">
              <a:latin typeface="Arial Narrow" panose="020B0606020202030204" pitchFamily="34" charset="0"/>
            </a:endParaRPr>
          </a:p>
          <a:p>
            <a:pPr algn="just"/>
            <a:r>
              <a:rPr lang="en-ZA" sz="5500" dirty="0">
                <a:latin typeface="Arial Narrow" panose="020B0606020202030204" pitchFamily="34" charset="0"/>
              </a:rPr>
              <a:t>To design a successful system, designers must: </a:t>
            </a:r>
            <a:r>
              <a:rPr lang="en-ZA" sz="5500" dirty="0" smtClean="0">
                <a:latin typeface="Arial Narrow" panose="020B0606020202030204" pitchFamily="34" charset="0"/>
              </a:rPr>
              <a:t> </a:t>
            </a:r>
          </a:p>
          <a:p>
            <a:pPr algn="just">
              <a:buFont typeface="Wingdings" panose="05000000000000000000" pitchFamily="2" charset="2"/>
              <a:buChar char="q"/>
            </a:pPr>
            <a:r>
              <a:rPr lang="en-ZA" sz="5500" dirty="0" smtClean="0">
                <a:latin typeface="Arial Narrow" panose="020B0606020202030204" pitchFamily="34" charset="0"/>
              </a:rPr>
              <a:t>Know </a:t>
            </a:r>
            <a:r>
              <a:rPr lang="en-ZA" sz="5500" dirty="0">
                <a:latin typeface="Arial Narrow" panose="020B0606020202030204" pitchFamily="34" charset="0"/>
              </a:rPr>
              <a:t>how to support tasks the user will perform with it </a:t>
            </a:r>
          </a:p>
          <a:p>
            <a:pPr algn="just">
              <a:buFont typeface="Wingdings" panose="05000000000000000000" pitchFamily="2" charset="2"/>
              <a:buChar char="q"/>
            </a:pPr>
            <a:r>
              <a:rPr lang="en-ZA" sz="5500" dirty="0" smtClean="0">
                <a:latin typeface="Arial Narrow" panose="020B0606020202030204" pitchFamily="34" charset="0"/>
              </a:rPr>
              <a:t>Understand: </a:t>
            </a:r>
          </a:p>
          <a:p>
            <a:pPr marL="457200" lvl="1" indent="0" algn="just">
              <a:lnSpc>
                <a:spcPct val="120000"/>
              </a:lnSpc>
              <a:buNone/>
            </a:pPr>
            <a:r>
              <a:rPr lang="en-ZA" sz="5500" dirty="0" smtClean="0">
                <a:latin typeface="Arial Narrow" panose="020B0606020202030204" pitchFamily="34" charset="0"/>
              </a:rPr>
              <a:t>▪ </a:t>
            </a:r>
            <a:r>
              <a:rPr lang="en-ZA" sz="5500" dirty="0">
                <a:latin typeface="Arial Narrow" panose="020B0606020202030204" pitchFamily="34" charset="0"/>
              </a:rPr>
              <a:t>Why users need the system </a:t>
            </a:r>
          </a:p>
          <a:p>
            <a:pPr marL="457200" lvl="1" indent="0" algn="just">
              <a:lnSpc>
                <a:spcPct val="120000"/>
              </a:lnSpc>
              <a:buNone/>
            </a:pPr>
            <a:r>
              <a:rPr lang="en-ZA" sz="5500" dirty="0">
                <a:latin typeface="Arial Narrow" panose="020B0606020202030204" pitchFamily="34" charset="0"/>
              </a:rPr>
              <a:t>▪ What tasks they will want to perform with system </a:t>
            </a:r>
          </a:p>
          <a:p>
            <a:pPr marL="457200" lvl="1" indent="0" algn="just">
              <a:lnSpc>
                <a:spcPct val="120000"/>
              </a:lnSpc>
              <a:buNone/>
            </a:pPr>
            <a:r>
              <a:rPr lang="en-ZA" sz="5500" dirty="0">
                <a:latin typeface="Arial Narrow" panose="020B0606020202030204" pitchFamily="34" charset="0"/>
              </a:rPr>
              <a:t>▪ What knowledge they might have (or lack) that may influence interaction with system </a:t>
            </a:r>
          </a:p>
          <a:p>
            <a:pPr marL="457200" lvl="1" indent="0" algn="just">
              <a:lnSpc>
                <a:spcPct val="120000"/>
              </a:lnSpc>
              <a:buNone/>
            </a:pPr>
            <a:r>
              <a:rPr lang="en-ZA" sz="5500" dirty="0">
                <a:latin typeface="Arial Narrow" panose="020B0606020202030204" pitchFamily="34" charset="0"/>
              </a:rPr>
              <a:t>▪ How the system fits into user’s existing context </a:t>
            </a:r>
          </a:p>
          <a:p>
            <a:pPr marL="0" indent="0" algn="just">
              <a:buNone/>
            </a:pPr>
            <a:r>
              <a:rPr lang="en-ZA" sz="2000" dirty="0" smtClean="0">
                <a:latin typeface="Arial Narrow" panose="020B0606020202030204" pitchFamily="34" charset="0"/>
              </a:rPr>
              <a:t> </a:t>
            </a: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199" y="1219200"/>
            <a:ext cx="5384075" cy="5364479"/>
          </a:xfrm>
        </p:spPr>
        <p:txBody>
          <a:bodyPr>
            <a:normAutofit fontScale="32500" lnSpcReduction="20000"/>
          </a:bodyPr>
          <a:lstStyle/>
          <a:p>
            <a:pPr marL="0" indent="0" algn="just">
              <a:buNone/>
            </a:pPr>
            <a:r>
              <a:rPr lang="en-ZA" sz="5500" b="1" dirty="0" smtClean="0">
                <a:latin typeface="Arial Narrow" panose="020B0606020202030204" pitchFamily="34" charset="0"/>
              </a:rPr>
              <a:t>Human-computer </a:t>
            </a:r>
            <a:r>
              <a:rPr lang="en-ZA" sz="5500" b="1" dirty="0">
                <a:latin typeface="Arial Narrow" panose="020B0606020202030204" pitchFamily="34" charset="0"/>
              </a:rPr>
              <a:t>interaction (HCI) </a:t>
            </a:r>
            <a:r>
              <a:rPr lang="en-ZA" sz="5500" dirty="0" smtClean="0">
                <a:latin typeface="Arial Narrow" panose="020B0606020202030204" pitchFamily="34" charset="0"/>
              </a:rPr>
              <a:t> </a:t>
            </a:r>
            <a:endParaRPr lang="en-ZA" sz="5500" dirty="0">
              <a:latin typeface="Arial Narrow" panose="020B0606020202030204" pitchFamily="34" charset="0"/>
            </a:endParaRPr>
          </a:p>
          <a:p>
            <a:pPr algn="just"/>
            <a:r>
              <a:rPr lang="en-ZA" sz="5500" dirty="0">
                <a:latin typeface="Arial Narrow" panose="020B0606020202030204" pitchFamily="34" charset="0"/>
              </a:rPr>
              <a:t>Adopted in mid-1980s </a:t>
            </a:r>
          </a:p>
          <a:p>
            <a:pPr algn="just"/>
            <a:r>
              <a:rPr lang="en-ZA" sz="5500" dirty="0" smtClean="0">
                <a:latin typeface="Arial Narrow" panose="020B0606020202030204" pitchFamily="34" charset="0"/>
              </a:rPr>
              <a:t>To </a:t>
            </a:r>
            <a:r>
              <a:rPr lang="en-ZA" sz="5500" dirty="0">
                <a:latin typeface="Arial Narrow" panose="020B0606020202030204" pitchFamily="34" charset="0"/>
              </a:rPr>
              <a:t>denote a new field of study concerned with studying and improving effectiveness and efficiency of computer use. </a:t>
            </a:r>
          </a:p>
          <a:p>
            <a:pPr algn="just"/>
            <a:r>
              <a:rPr lang="en-ZA" sz="5500" dirty="0" smtClean="0">
                <a:latin typeface="Arial Narrow" panose="020B0606020202030204" pitchFamily="34" charset="0"/>
              </a:rPr>
              <a:t>HCI </a:t>
            </a:r>
            <a:r>
              <a:rPr lang="en-ZA" sz="5500" dirty="0">
                <a:latin typeface="Arial Narrow" panose="020B0606020202030204" pitchFamily="34" charset="0"/>
              </a:rPr>
              <a:t>became a domain of cognitive science research in 1970s – idea </a:t>
            </a:r>
            <a:r>
              <a:rPr lang="en-ZA" sz="5500" dirty="0" smtClean="0">
                <a:latin typeface="Arial Narrow" panose="020B0606020202030204" pitchFamily="34" charset="0"/>
              </a:rPr>
              <a:t>was to </a:t>
            </a:r>
            <a:r>
              <a:rPr lang="en-ZA" sz="5500" dirty="0">
                <a:latin typeface="Arial Narrow" panose="020B0606020202030204" pitchFamily="34" charset="0"/>
              </a:rPr>
              <a:t>apply cognitive science methods to software development </a:t>
            </a:r>
            <a:r>
              <a:rPr lang="en-ZA" sz="5500" dirty="0" smtClean="0">
                <a:latin typeface="Arial Narrow" panose="020B0606020202030204" pitchFamily="34" charset="0"/>
              </a:rPr>
              <a:t> </a:t>
            </a:r>
            <a:endParaRPr lang="en-ZA" sz="5500" dirty="0">
              <a:latin typeface="Arial Narrow" panose="020B0606020202030204" pitchFamily="34" charset="0"/>
            </a:endParaRPr>
          </a:p>
          <a:p>
            <a:r>
              <a:rPr lang="en-ZA" sz="5500" b="1" dirty="0">
                <a:latin typeface="Arial Narrow" panose="020B0606020202030204" pitchFamily="34" charset="0"/>
              </a:rPr>
              <a:t>Sources </a:t>
            </a:r>
            <a:r>
              <a:rPr lang="en-ZA" sz="5500" b="1" dirty="0" smtClean="0">
                <a:latin typeface="Arial Narrow" panose="020B0606020202030204" pitchFamily="34" charset="0"/>
              </a:rPr>
              <a:t>that could be used </a:t>
            </a:r>
            <a:r>
              <a:rPr lang="en-ZA" sz="5500" b="1" dirty="0">
                <a:latin typeface="Arial Narrow" panose="020B0606020202030204" pitchFamily="34" charset="0"/>
              </a:rPr>
              <a:t>to guide design</a:t>
            </a:r>
            <a:r>
              <a:rPr lang="en-ZA" sz="5500" dirty="0">
                <a:latin typeface="Arial Narrow" panose="020B0606020202030204" pitchFamily="34" charset="0"/>
              </a:rPr>
              <a:t>: </a:t>
            </a:r>
            <a:endParaRPr lang="en-ZA" sz="5500" dirty="0" smtClean="0">
              <a:latin typeface="Arial Narrow" panose="020B0606020202030204" pitchFamily="34" charset="0"/>
            </a:endParaRPr>
          </a:p>
          <a:p>
            <a:pPr marL="0" indent="0">
              <a:buNone/>
            </a:pPr>
            <a:r>
              <a:rPr lang="en-ZA" sz="5500" dirty="0" smtClean="0">
                <a:latin typeface="Arial Narrow" panose="020B0606020202030204" pitchFamily="34" charset="0"/>
              </a:rPr>
              <a:t>▪ </a:t>
            </a:r>
            <a:r>
              <a:rPr lang="en-ZA" sz="5500" dirty="0">
                <a:latin typeface="Arial Narrow" panose="020B0606020202030204" pitchFamily="34" charset="0"/>
              </a:rPr>
              <a:t>Perception </a:t>
            </a:r>
          </a:p>
          <a:p>
            <a:pPr marL="0" indent="0">
              <a:buNone/>
            </a:pPr>
            <a:r>
              <a:rPr lang="en-ZA" sz="5500" dirty="0">
                <a:latin typeface="Arial Narrow" panose="020B0606020202030204" pitchFamily="34" charset="0"/>
              </a:rPr>
              <a:t>▪ Motor activity </a:t>
            </a:r>
          </a:p>
          <a:p>
            <a:pPr marL="0" indent="0">
              <a:buNone/>
            </a:pPr>
            <a:r>
              <a:rPr lang="en-ZA" sz="5500" dirty="0">
                <a:latin typeface="Arial Narrow" panose="020B0606020202030204" pitchFamily="34" charset="0"/>
              </a:rPr>
              <a:t>▪ Problem solving </a:t>
            </a:r>
          </a:p>
          <a:p>
            <a:pPr marL="0" indent="0">
              <a:buNone/>
            </a:pPr>
            <a:r>
              <a:rPr lang="en-ZA" sz="5500" dirty="0">
                <a:latin typeface="Arial Narrow" panose="020B0606020202030204" pitchFamily="34" charset="0"/>
              </a:rPr>
              <a:t>▪ Language and, </a:t>
            </a:r>
          </a:p>
          <a:p>
            <a:pPr marL="0" indent="0">
              <a:buNone/>
            </a:pPr>
            <a:r>
              <a:rPr lang="en-ZA" sz="5500" dirty="0">
                <a:latin typeface="Arial Narrow" panose="020B0606020202030204" pitchFamily="34" charset="0"/>
              </a:rPr>
              <a:t>▪ Communication </a:t>
            </a:r>
            <a:endParaRPr lang="en-ZA" sz="5500" dirty="0" smtClean="0">
              <a:latin typeface="Arial Narrow" panose="020B0606020202030204" pitchFamily="34" charset="0"/>
            </a:endParaRPr>
          </a:p>
          <a:p>
            <a:r>
              <a:rPr lang="en-ZA" sz="5500" dirty="0" smtClean="0">
                <a:latin typeface="Arial Narrow" panose="020B0606020202030204" pitchFamily="34" charset="0"/>
              </a:rPr>
              <a:t>Human </a:t>
            </a:r>
            <a:r>
              <a:rPr lang="en-ZA" sz="5500" dirty="0">
                <a:latin typeface="Arial Narrow" panose="020B0606020202030204" pitchFamily="34" charset="0"/>
              </a:rPr>
              <a:t>perception, information processing, memory and problem-solving are some of the concepts from cognitive psychology that are related to people’s use of computers. </a:t>
            </a:r>
          </a:p>
          <a:p>
            <a:endParaRPr lang="en-ZA" dirty="0"/>
          </a:p>
          <a:p>
            <a:pPr marL="0" indent="0">
              <a:buNone/>
            </a:pPr>
            <a:endParaRPr lang="en-ZA" sz="2900" dirty="0">
              <a:latin typeface="Arial Narrow" panose="020B0606020202030204" pitchFamily="34" charset="0"/>
            </a:endParaRPr>
          </a:p>
          <a:p>
            <a:endParaRPr lang="en-ZA" dirty="0"/>
          </a:p>
          <a:p>
            <a:endParaRPr lang="en-ZA" dirty="0"/>
          </a:p>
          <a:p>
            <a:endParaRPr lang="en-ZA" dirty="0"/>
          </a:p>
          <a:p>
            <a:endParaRPr lang="en-ZA" dirty="0"/>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643539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latin typeface="Arial Narrow" panose="020B0606020202030204" pitchFamily="34" charset="0"/>
              </a:rPr>
              <a:t>The Historical Context </a:t>
            </a:r>
          </a:p>
        </p:txBody>
      </p:sp>
      <p:sp>
        <p:nvSpPr>
          <p:cNvPr id="3" name="Content Placeholder 2"/>
          <p:cNvSpPr>
            <a:spLocks noGrp="1"/>
          </p:cNvSpPr>
          <p:nvPr>
            <p:ph sz="half" idx="1"/>
          </p:nvPr>
        </p:nvSpPr>
        <p:spPr>
          <a:xfrm>
            <a:off x="731520" y="1489166"/>
            <a:ext cx="5050971" cy="4687797"/>
          </a:xfrm>
        </p:spPr>
        <p:txBody>
          <a:bodyPr>
            <a:normAutofit fontScale="85000" lnSpcReduction="20000"/>
          </a:bodyPr>
          <a:lstStyle/>
          <a:p>
            <a:r>
              <a:rPr lang="en-ZA" sz="2400" dirty="0" smtClean="0">
                <a:latin typeface="Arial Narrow" panose="020B0606020202030204" pitchFamily="34" charset="0"/>
              </a:rPr>
              <a:t> </a:t>
            </a:r>
            <a:r>
              <a:rPr lang="en-ZA" sz="2400" dirty="0">
                <a:latin typeface="Arial Narrow" panose="020B0606020202030204" pitchFamily="34" charset="0"/>
              </a:rPr>
              <a:t>The early history of computing can be traced back to the narrow aims of mathematicians, logicians, and astronomers who had particular calculations that needed to be performed. </a:t>
            </a:r>
            <a:endParaRPr lang="en-ZA" sz="2400" dirty="0" smtClean="0">
              <a:latin typeface="Arial Narrow" panose="020B0606020202030204" pitchFamily="34" charset="0"/>
            </a:endParaRPr>
          </a:p>
          <a:p>
            <a:pPr marL="0" indent="0">
              <a:buNone/>
            </a:pPr>
            <a:endParaRPr lang="en-ZA" sz="2400" dirty="0" smtClean="0">
              <a:latin typeface="Arial Narrow" panose="020B0606020202030204" pitchFamily="34" charset="0"/>
            </a:endParaRPr>
          </a:p>
          <a:p>
            <a:pPr lvl="1"/>
            <a:r>
              <a:rPr lang="en-ZA" dirty="0">
                <a:latin typeface="Arial Narrow" panose="020B0606020202030204" pitchFamily="34" charset="0"/>
              </a:rPr>
              <a:t>The Middle Ages </a:t>
            </a:r>
            <a:endParaRPr lang="en-ZA" dirty="0" smtClean="0">
              <a:latin typeface="Arial Narrow" panose="020B0606020202030204" pitchFamily="34" charset="0"/>
            </a:endParaRPr>
          </a:p>
          <a:p>
            <a:pPr lvl="1"/>
            <a:r>
              <a:rPr lang="en-ZA" dirty="0">
                <a:latin typeface="Arial Narrow" panose="020B0606020202030204" pitchFamily="34" charset="0"/>
              </a:rPr>
              <a:t>The Eighteenth and Nineteenth Century </a:t>
            </a:r>
            <a:endParaRPr lang="en-ZA" dirty="0" smtClean="0">
              <a:latin typeface="Arial Narrow" panose="020B0606020202030204" pitchFamily="34" charset="0"/>
            </a:endParaRPr>
          </a:p>
          <a:p>
            <a:pPr lvl="1"/>
            <a:r>
              <a:rPr lang="en-ZA" dirty="0">
                <a:latin typeface="Arial Narrow" panose="020B0606020202030204" pitchFamily="34" charset="0"/>
              </a:rPr>
              <a:t>The Early Twentieth Century </a:t>
            </a:r>
            <a:endParaRPr lang="en-ZA" dirty="0" smtClean="0">
              <a:latin typeface="Arial Narrow" panose="020B0606020202030204" pitchFamily="34" charset="0"/>
            </a:endParaRPr>
          </a:p>
          <a:p>
            <a:pPr lvl="1"/>
            <a:r>
              <a:rPr lang="en-ZA" dirty="0">
                <a:latin typeface="Arial Narrow" panose="020B0606020202030204" pitchFamily="34" charset="0"/>
              </a:rPr>
              <a:t>The Mid-Twentieth Century </a:t>
            </a:r>
            <a:endParaRPr lang="en-ZA" dirty="0" smtClean="0">
              <a:latin typeface="Arial Narrow" panose="020B0606020202030204" pitchFamily="34" charset="0"/>
            </a:endParaRPr>
          </a:p>
          <a:p>
            <a:pPr lvl="1"/>
            <a:r>
              <a:rPr lang="en-ZA" dirty="0">
                <a:latin typeface="Arial Narrow" panose="020B0606020202030204" pitchFamily="34" charset="0"/>
              </a:rPr>
              <a:t>Turning Points </a:t>
            </a:r>
            <a:endParaRPr lang="en-ZA" dirty="0" smtClean="0">
              <a:latin typeface="Arial Narrow" panose="020B0606020202030204" pitchFamily="34" charset="0"/>
            </a:endParaRPr>
          </a:p>
          <a:p>
            <a:pPr marL="0" indent="0">
              <a:buNone/>
            </a:pPr>
            <a:r>
              <a:rPr lang="en-ZA" sz="2400" dirty="0" smtClean="0">
                <a:latin typeface="Arial Narrow" panose="020B0606020202030204" pitchFamily="34" charset="0"/>
              </a:rPr>
              <a:t>              -1976</a:t>
            </a:r>
            <a:r>
              <a:rPr lang="en-ZA" sz="2400" dirty="0">
                <a:latin typeface="Arial Narrow" panose="020B0606020202030204" pitchFamily="34" charset="0"/>
              </a:rPr>
              <a:t>: Apple's First Personal Computer Kits </a:t>
            </a:r>
            <a:endParaRPr lang="en-ZA" sz="2400" dirty="0" smtClean="0">
              <a:latin typeface="Arial Narrow" panose="020B0606020202030204" pitchFamily="34" charset="0"/>
            </a:endParaRPr>
          </a:p>
          <a:p>
            <a:pPr marL="0" indent="0">
              <a:buNone/>
            </a:pPr>
            <a:r>
              <a:rPr lang="en-ZA" sz="2400" dirty="0" smtClean="0">
                <a:latin typeface="Arial Narrow" panose="020B0606020202030204" pitchFamily="34" charset="0"/>
              </a:rPr>
              <a:t>              -1981</a:t>
            </a:r>
            <a:r>
              <a:rPr lang="en-ZA" sz="2400" dirty="0">
                <a:latin typeface="Arial Narrow" panose="020B0606020202030204" pitchFamily="34" charset="0"/>
              </a:rPr>
              <a:t>: IBM’s First Personal Computer </a:t>
            </a:r>
            <a:endParaRPr lang="en-ZA" sz="2400" dirty="0" smtClean="0">
              <a:latin typeface="Arial Narrow" panose="020B0606020202030204" pitchFamily="34" charset="0"/>
            </a:endParaRPr>
          </a:p>
          <a:p>
            <a:pPr marL="0" indent="0">
              <a:buNone/>
            </a:pPr>
            <a:r>
              <a:rPr lang="en-ZA" sz="2400" dirty="0" smtClean="0">
                <a:latin typeface="Arial Narrow" panose="020B0606020202030204" pitchFamily="34" charset="0"/>
              </a:rPr>
              <a:t>              -1982</a:t>
            </a:r>
            <a:r>
              <a:rPr lang="en-ZA" sz="2400" dirty="0">
                <a:latin typeface="Arial Narrow" panose="020B0606020202030204" pitchFamily="34" charset="0"/>
              </a:rPr>
              <a:t>: The Xerox Star </a:t>
            </a:r>
          </a:p>
          <a:p>
            <a:pPr marL="0" indent="0">
              <a:buNone/>
            </a:pPr>
            <a:endParaRPr lang="en-ZA" sz="2000" dirty="0">
              <a:latin typeface="Arial Narrow" panose="020B0606020202030204" pitchFamily="34" charset="0"/>
            </a:endParaRPr>
          </a:p>
          <a:p>
            <a:pPr marL="0" indent="0">
              <a:buNone/>
            </a:pPr>
            <a:endParaRPr lang="en-ZA" dirty="0" smtClean="0"/>
          </a:p>
          <a:p>
            <a:pPr marL="0" indent="0">
              <a:buNone/>
            </a:pPr>
            <a:endParaRPr lang="en-ZA" dirty="0"/>
          </a:p>
          <a:p>
            <a:pPr marL="457200" lvl="1" indent="0">
              <a:buNone/>
            </a:pPr>
            <a:endParaRPr lang="en-ZA" dirty="0" smtClean="0"/>
          </a:p>
        </p:txBody>
      </p:sp>
      <p:sp>
        <p:nvSpPr>
          <p:cNvPr id="4" name="Content Placeholder 3"/>
          <p:cNvSpPr>
            <a:spLocks noGrp="1"/>
          </p:cNvSpPr>
          <p:nvPr>
            <p:ph sz="half" idx="2"/>
          </p:nvPr>
        </p:nvSpPr>
        <p:spPr>
          <a:xfrm>
            <a:off x="5782491" y="1323704"/>
            <a:ext cx="5930538" cy="4853260"/>
          </a:xfrm>
        </p:spPr>
        <p:txBody>
          <a:bodyPr>
            <a:normAutofit fontScale="85000" lnSpcReduction="20000"/>
          </a:bodyPr>
          <a:lstStyle/>
          <a:p>
            <a:r>
              <a:rPr lang="en-ZA" sz="2400" b="1" dirty="0">
                <a:latin typeface="Arial Narrow" panose="020B0606020202030204" pitchFamily="34" charset="0"/>
              </a:rPr>
              <a:t>The Internet, World Wide Web and Social </a:t>
            </a:r>
            <a:r>
              <a:rPr lang="en-ZA" sz="2400" b="1" dirty="0" smtClean="0">
                <a:latin typeface="Arial Narrow" panose="020B0606020202030204" pitchFamily="34" charset="0"/>
              </a:rPr>
              <a:t>Networks</a:t>
            </a:r>
            <a:endParaRPr lang="en-ZA" sz="2400" dirty="0">
              <a:latin typeface="Arial Narrow" panose="020B0606020202030204" pitchFamily="34" charset="0"/>
            </a:endParaRPr>
          </a:p>
          <a:p>
            <a:pPr algn="just"/>
            <a:r>
              <a:rPr lang="en-ZA" sz="2400" dirty="0">
                <a:latin typeface="Arial Narrow" panose="020B0606020202030204" pitchFamily="34" charset="0"/>
              </a:rPr>
              <a:t> The Internet is a </a:t>
            </a:r>
            <a:r>
              <a:rPr lang="en-ZA" sz="2400" b="1" dirty="0">
                <a:latin typeface="Arial Narrow" panose="020B0606020202030204" pitchFamily="34" charset="0"/>
              </a:rPr>
              <a:t>global network </a:t>
            </a:r>
            <a:r>
              <a:rPr lang="en-ZA" sz="2400" dirty="0">
                <a:latin typeface="Arial Narrow" panose="020B0606020202030204" pitchFamily="34" charset="0"/>
              </a:rPr>
              <a:t>of billions of computers and other electronic devices. With the Internet, it's possible to access almost any information, communicate with anyone else in the world, and do much more. </a:t>
            </a:r>
            <a:endParaRPr lang="en-ZA" sz="2400" dirty="0" smtClean="0">
              <a:latin typeface="Arial Narrow" panose="020B0606020202030204" pitchFamily="34" charset="0"/>
            </a:endParaRPr>
          </a:p>
          <a:p>
            <a:pPr algn="just"/>
            <a:r>
              <a:rPr lang="en-ZA" sz="2400" dirty="0" smtClean="0">
                <a:latin typeface="Arial Narrow" panose="020B0606020202030204" pitchFamily="34" charset="0"/>
              </a:rPr>
              <a:t>The demand and use of internet is increasing world wide. Since in the 1960’s</a:t>
            </a:r>
          </a:p>
          <a:p>
            <a:pPr algn="just"/>
            <a:r>
              <a:rPr lang="en-ZA" sz="2400" dirty="0">
                <a:latin typeface="Arial Narrow" panose="020B0606020202030204" pitchFamily="34" charset="0"/>
              </a:rPr>
              <a:t>Two major developments based on the internet are </a:t>
            </a:r>
            <a:endParaRPr lang="en-ZA" sz="2400" dirty="0" smtClean="0">
              <a:latin typeface="Arial Narrow" panose="020B0606020202030204" pitchFamily="34" charset="0"/>
            </a:endParaRPr>
          </a:p>
          <a:p>
            <a:pPr algn="just">
              <a:buFont typeface="Wingdings" panose="05000000000000000000" pitchFamily="2" charset="2"/>
              <a:buChar char="q"/>
            </a:pPr>
            <a:r>
              <a:rPr lang="en-ZA" sz="2400" dirty="0">
                <a:latin typeface="Arial Narrow" panose="020B0606020202030204" pitchFamily="34" charset="0"/>
              </a:rPr>
              <a:t> </a:t>
            </a:r>
            <a:r>
              <a:rPr lang="en-ZA" sz="2400" dirty="0" smtClean="0">
                <a:latin typeface="Arial Narrow" panose="020B0606020202030204" pitchFamily="34" charset="0"/>
              </a:rPr>
              <a:t>   Electronic </a:t>
            </a:r>
            <a:r>
              <a:rPr lang="en-ZA" sz="2400" dirty="0">
                <a:latin typeface="Arial Narrow" panose="020B0606020202030204" pitchFamily="34" charset="0"/>
              </a:rPr>
              <a:t>mail systems </a:t>
            </a:r>
            <a:r>
              <a:rPr lang="en-ZA" sz="2400" dirty="0" smtClean="0">
                <a:latin typeface="Arial Narrow" panose="020B0606020202030204" pitchFamily="34" charset="0"/>
              </a:rPr>
              <a:t>(e-mail): Before </a:t>
            </a:r>
            <a:r>
              <a:rPr lang="en-ZA" sz="2400" dirty="0">
                <a:latin typeface="Arial Narrow" panose="020B0606020202030204" pitchFamily="34" charset="0"/>
              </a:rPr>
              <a:t>1980s: Email was mostly for academic communities, colleges &amp; universities </a:t>
            </a:r>
          </a:p>
          <a:p>
            <a:pPr algn="just">
              <a:buFont typeface="Wingdings" panose="05000000000000000000" pitchFamily="2" charset="2"/>
              <a:buChar char="q"/>
            </a:pPr>
            <a:r>
              <a:rPr lang="en-ZA" sz="2400" b="1" dirty="0" smtClean="0">
                <a:latin typeface="Arial Narrow" panose="020B0606020202030204" pitchFamily="34" charset="0"/>
              </a:rPr>
              <a:t>    </a:t>
            </a:r>
            <a:r>
              <a:rPr lang="en-ZA" sz="2400" dirty="0" smtClean="0">
                <a:latin typeface="Arial Narrow" panose="020B0606020202030204" pitchFamily="34" charset="0"/>
              </a:rPr>
              <a:t>World </a:t>
            </a:r>
            <a:r>
              <a:rPr lang="en-ZA" sz="2400" dirty="0">
                <a:latin typeface="Arial Narrow" panose="020B0606020202030204" pitchFamily="34" charset="0"/>
              </a:rPr>
              <a:t>Wide Web (WWW</a:t>
            </a:r>
            <a:r>
              <a:rPr lang="en-ZA" sz="2400" dirty="0" smtClean="0">
                <a:latin typeface="Arial Narrow" panose="020B0606020202030204" pitchFamily="34" charset="0"/>
              </a:rPr>
              <a:t>)</a:t>
            </a:r>
            <a:r>
              <a:rPr lang="en-ZA" sz="2400" b="1" dirty="0" smtClean="0">
                <a:latin typeface="Arial Narrow" panose="020B0606020202030204" pitchFamily="34" charset="0"/>
              </a:rPr>
              <a:t> :</a:t>
            </a:r>
            <a:r>
              <a:rPr lang="en-ZA" sz="2400" dirty="0" smtClean="0">
                <a:latin typeface="Arial Narrow" panose="020B0606020202030204" pitchFamily="34" charset="0"/>
              </a:rPr>
              <a:t>Originated </a:t>
            </a:r>
            <a:r>
              <a:rPr lang="en-ZA" sz="2400" dirty="0">
                <a:latin typeface="Arial Narrow" panose="020B0606020202030204" pitchFamily="34" charset="0"/>
              </a:rPr>
              <a:t>from National Centre for Supercomputer Applications (NCSA) at University of Illinois &amp; CERN, the European Research Centre for Nuclear Physics. The Web plays an important role in the functioning of society, infrastructure (transport system) and industries and has managed to integrate </a:t>
            </a:r>
            <a:r>
              <a:rPr lang="en-ZA" sz="2400" dirty="0" smtClean="0">
                <a:latin typeface="Arial Narrow" panose="020B0606020202030204" pitchFamily="34" charset="0"/>
              </a:rPr>
              <a:t>into </a:t>
            </a:r>
            <a:r>
              <a:rPr lang="en-ZA" sz="2400" dirty="0">
                <a:latin typeface="Arial Narrow" panose="020B0606020202030204" pitchFamily="34" charset="0"/>
              </a:rPr>
              <a:t>practically every form of social life, and used in technological processes and resources. </a:t>
            </a:r>
          </a:p>
          <a:p>
            <a:pPr marL="0" indent="0">
              <a:buNone/>
            </a:pPr>
            <a:endParaRPr lang="en-ZA" sz="2000" b="1"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197975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1"/>
          </p:nvPr>
        </p:nvSpPr>
        <p:spPr>
          <a:xfrm>
            <a:off x="838200" y="574766"/>
            <a:ext cx="4848497" cy="5146765"/>
          </a:xfrm>
        </p:spPr>
        <p:txBody>
          <a:bodyPr>
            <a:normAutofit fontScale="77500" lnSpcReduction="20000"/>
          </a:bodyPr>
          <a:lstStyle/>
          <a:p>
            <a:pPr marL="0" indent="0" algn="just">
              <a:buNone/>
            </a:pPr>
            <a:r>
              <a:rPr lang="en-ZA" sz="2600" b="1" dirty="0" smtClean="0">
                <a:latin typeface="Arial Narrow" panose="020B0606020202030204" pitchFamily="34" charset="0"/>
              </a:rPr>
              <a:t>     Social </a:t>
            </a:r>
            <a:r>
              <a:rPr lang="en-ZA" sz="2600" b="1" dirty="0">
                <a:latin typeface="Arial Narrow" panose="020B0606020202030204" pitchFamily="34" charset="0"/>
              </a:rPr>
              <a:t>Networks </a:t>
            </a:r>
            <a:endParaRPr lang="en-ZA" sz="2600" dirty="0">
              <a:latin typeface="Arial Narrow" panose="020B0606020202030204" pitchFamily="34" charset="0"/>
            </a:endParaRPr>
          </a:p>
          <a:p>
            <a:pPr marL="0" indent="0" algn="just">
              <a:buNone/>
            </a:pPr>
            <a:r>
              <a:rPr lang="en-ZA" sz="2600" dirty="0">
                <a:latin typeface="Arial Narrow" panose="020B0606020202030204" pitchFamily="34" charset="0"/>
              </a:rPr>
              <a:t>▪ Social network </a:t>
            </a:r>
            <a:r>
              <a:rPr lang="en-ZA" sz="2600" dirty="0" smtClean="0">
                <a:latin typeface="Arial Narrow" panose="020B0606020202030204" pitchFamily="34" charset="0"/>
              </a:rPr>
              <a:t>is a </a:t>
            </a:r>
            <a:r>
              <a:rPr lang="en-ZA" sz="2600" dirty="0">
                <a:latin typeface="Arial Narrow" panose="020B0606020202030204" pitchFamily="34" charset="0"/>
              </a:rPr>
              <a:t>social structure that connects individuals (or organisations). </a:t>
            </a:r>
          </a:p>
          <a:p>
            <a:pPr algn="just">
              <a:buFont typeface="Wingdings" panose="05000000000000000000" pitchFamily="2" charset="2"/>
              <a:buChar char="§"/>
            </a:pPr>
            <a:r>
              <a:rPr lang="en-ZA" sz="2600" dirty="0" smtClean="0">
                <a:latin typeface="Arial Narrow" panose="020B0606020202030204" pitchFamily="34" charset="0"/>
              </a:rPr>
              <a:t> </a:t>
            </a:r>
            <a:r>
              <a:rPr lang="en-ZA" sz="2600" dirty="0">
                <a:latin typeface="Arial Narrow" panose="020B0606020202030204" pitchFamily="34" charset="0"/>
              </a:rPr>
              <a:t>Connections based on concepts such as friendship, kinship, common interest, financial exchange, dislike, or relationships of beliefs, knowledge or prestige. </a:t>
            </a:r>
          </a:p>
          <a:p>
            <a:pPr algn="just">
              <a:buFont typeface="Wingdings" panose="05000000000000000000" pitchFamily="2" charset="2"/>
              <a:buChar char="q"/>
            </a:pPr>
            <a:r>
              <a:rPr lang="en-ZA" sz="2600" b="1" dirty="0" smtClean="0">
                <a:latin typeface="Arial Narrow" panose="020B0606020202030204" pitchFamily="34" charset="0"/>
              </a:rPr>
              <a:t>Facebook</a:t>
            </a:r>
            <a:r>
              <a:rPr lang="en-ZA" sz="2600" dirty="0" smtClean="0">
                <a:latin typeface="Arial Narrow" panose="020B0606020202030204" pitchFamily="34" charset="0"/>
              </a:rPr>
              <a:t>- </a:t>
            </a:r>
            <a:r>
              <a:rPr lang="en-ZA" sz="2600" dirty="0">
                <a:latin typeface="Arial Narrow" panose="020B0606020202030204" pitchFamily="34" charset="0"/>
              </a:rPr>
              <a:t>a social networking website </a:t>
            </a:r>
            <a:r>
              <a:rPr lang="en-ZA" sz="2600" dirty="0" smtClean="0">
                <a:latin typeface="Arial Narrow" panose="020B0606020202030204" pitchFamily="34" charset="0"/>
              </a:rPr>
              <a:t>– started in 2004 (</a:t>
            </a:r>
            <a:r>
              <a:rPr lang="en-ZA" sz="2600" dirty="0">
                <a:latin typeface="Arial Narrow" panose="020B0606020202030204" pitchFamily="34" charset="0"/>
              </a:rPr>
              <a:t>Mark </a:t>
            </a:r>
            <a:r>
              <a:rPr lang="en-ZA" sz="2600" dirty="0" smtClean="0">
                <a:latin typeface="Arial Narrow" panose="020B0606020202030204" pitchFamily="34" charset="0"/>
              </a:rPr>
              <a:t>Zuckerberg)</a:t>
            </a:r>
          </a:p>
          <a:p>
            <a:pPr marL="0" indent="0" algn="just">
              <a:buNone/>
            </a:pPr>
            <a:r>
              <a:rPr lang="en-ZA" sz="2600" dirty="0">
                <a:latin typeface="Arial Narrow" panose="020B0606020202030204" pitchFamily="34" charset="0"/>
              </a:rPr>
              <a:t> </a:t>
            </a:r>
            <a:r>
              <a:rPr lang="en-ZA" sz="2600" dirty="0" smtClean="0">
                <a:latin typeface="Arial Narrow" panose="020B0606020202030204" pitchFamily="34" charset="0"/>
              </a:rPr>
              <a:t>   Facebook issues includes: </a:t>
            </a:r>
          </a:p>
          <a:p>
            <a:pPr lvl="1" algn="just"/>
            <a:r>
              <a:rPr lang="en-ZA" sz="2600" dirty="0" smtClean="0">
                <a:latin typeface="Arial Narrow" panose="020B0606020202030204" pitchFamily="34" charset="0"/>
              </a:rPr>
              <a:t>banned </a:t>
            </a:r>
            <a:r>
              <a:rPr lang="en-ZA" sz="2600" dirty="0">
                <a:latin typeface="Arial Narrow" panose="020B0606020202030204" pitchFamily="34" charset="0"/>
              </a:rPr>
              <a:t>in several countries because it is used to spread political propaganda. </a:t>
            </a:r>
            <a:endParaRPr lang="en-ZA" sz="2600" dirty="0" smtClean="0">
              <a:latin typeface="Arial Narrow" panose="020B0606020202030204" pitchFamily="34" charset="0"/>
            </a:endParaRPr>
          </a:p>
          <a:p>
            <a:pPr lvl="1" algn="just"/>
            <a:r>
              <a:rPr lang="en-ZA" sz="2600" dirty="0">
                <a:latin typeface="Arial Narrow" panose="020B0606020202030204" pitchFamily="34" charset="0"/>
              </a:rPr>
              <a:t>companies block their employees from accessing Facebook to prevent them from spending time on the network during working hours. </a:t>
            </a:r>
            <a:endParaRPr lang="en-ZA" sz="2600" dirty="0" smtClean="0">
              <a:latin typeface="Arial Narrow" panose="020B0606020202030204" pitchFamily="34" charset="0"/>
            </a:endParaRPr>
          </a:p>
          <a:p>
            <a:pPr algn="just">
              <a:buFont typeface="Wingdings" panose="05000000000000000000" pitchFamily="2" charset="2"/>
              <a:buChar char="q"/>
            </a:pPr>
            <a:r>
              <a:rPr lang="en-ZA" sz="2600" b="1" dirty="0" smtClean="0">
                <a:latin typeface="Arial Narrow" panose="020B0606020202030204" pitchFamily="34" charset="0"/>
              </a:rPr>
              <a:t>Twitter</a:t>
            </a:r>
            <a:r>
              <a:rPr lang="en-ZA" sz="2600" dirty="0">
                <a:latin typeface="Arial Narrow" panose="020B0606020202030204" pitchFamily="34" charset="0"/>
              </a:rPr>
              <a:t> </a:t>
            </a:r>
            <a:r>
              <a:rPr lang="en-ZA" sz="2600" dirty="0" smtClean="0">
                <a:latin typeface="Arial Narrow" panose="020B0606020202030204" pitchFamily="34" charset="0"/>
              </a:rPr>
              <a:t>a </a:t>
            </a:r>
            <a:r>
              <a:rPr lang="en-ZA" sz="2600" dirty="0">
                <a:latin typeface="Arial Narrow" panose="020B0606020202030204" pitchFamily="34" charset="0"/>
              </a:rPr>
              <a:t>social networking and microblogging service </a:t>
            </a:r>
            <a:r>
              <a:rPr lang="en-ZA" sz="2600" dirty="0" smtClean="0">
                <a:latin typeface="Arial Narrow" panose="020B0606020202030204" pitchFamily="34" charset="0"/>
              </a:rPr>
              <a:t>that </a:t>
            </a:r>
            <a:r>
              <a:rPr lang="en-ZA" sz="2600" dirty="0">
                <a:latin typeface="Arial Narrow" panose="020B0606020202030204" pitchFamily="34" charset="0"/>
              </a:rPr>
              <a:t>enables its users to communicate through tweets </a:t>
            </a:r>
            <a:r>
              <a:rPr lang="en-ZA" sz="2600" dirty="0" smtClean="0">
                <a:latin typeface="Arial Narrow" panose="020B0606020202030204" pitchFamily="34" charset="0"/>
              </a:rPr>
              <a:t>– started in 2006( Jack Dorsey).</a:t>
            </a:r>
            <a:endParaRPr lang="en-ZA" sz="2600" dirty="0">
              <a:latin typeface="Arial Narrow" panose="020B0606020202030204" pitchFamily="34" charset="0"/>
            </a:endParaRPr>
          </a:p>
          <a:p>
            <a:endParaRPr lang="en-ZA" sz="2000" dirty="0">
              <a:latin typeface="Arial Narrow" panose="020B0606020202030204" pitchFamily="34" charset="0"/>
            </a:endParaRPr>
          </a:p>
        </p:txBody>
      </p:sp>
      <p:sp>
        <p:nvSpPr>
          <p:cNvPr id="9" name="Content Placeholder 8"/>
          <p:cNvSpPr>
            <a:spLocks noGrp="1"/>
          </p:cNvSpPr>
          <p:nvPr>
            <p:ph sz="half" idx="2"/>
          </p:nvPr>
        </p:nvSpPr>
        <p:spPr>
          <a:xfrm>
            <a:off x="5782491" y="470263"/>
            <a:ext cx="6130835" cy="5706700"/>
          </a:xfrm>
        </p:spPr>
        <p:txBody>
          <a:bodyPr>
            <a:normAutofit fontScale="77500" lnSpcReduction="20000"/>
          </a:bodyPr>
          <a:lstStyle/>
          <a:p>
            <a:pPr marL="0" indent="0" algn="just">
              <a:buNone/>
            </a:pPr>
            <a:r>
              <a:rPr lang="en-ZA" sz="2600" b="1" dirty="0" smtClean="0">
                <a:latin typeface="Arial Narrow" panose="020B0606020202030204" pitchFamily="34" charset="0"/>
              </a:rPr>
              <a:t>    Mobile Computing</a:t>
            </a:r>
          </a:p>
          <a:p>
            <a:pPr algn="just"/>
            <a:r>
              <a:rPr lang="en-ZA" sz="2600" dirty="0" smtClean="0">
                <a:latin typeface="Arial Narrow" panose="020B0606020202030204" pitchFamily="34" charset="0"/>
              </a:rPr>
              <a:t>Is a set </a:t>
            </a:r>
            <a:r>
              <a:rPr lang="en-ZA" sz="2600" dirty="0">
                <a:latin typeface="Arial Narrow" panose="020B0606020202030204" pitchFamily="34" charset="0"/>
              </a:rPr>
              <a:t>of IT technologies, products, services, operational strategies and procedures that enable users to gain access to computation, information and related resources while mobile </a:t>
            </a:r>
            <a:endParaRPr lang="en-ZA" sz="2600" dirty="0" smtClean="0">
              <a:latin typeface="Arial Narrow" panose="020B0606020202030204" pitchFamily="34" charset="0"/>
            </a:endParaRPr>
          </a:p>
          <a:p>
            <a:pPr algn="just"/>
            <a:r>
              <a:rPr lang="en-ZA" sz="2600" dirty="0">
                <a:latin typeface="Arial Narrow" panose="020B0606020202030204" pitchFamily="34" charset="0"/>
              </a:rPr>
              <a:t>It has made internet access an integral part of everyday life through devices such as notebook computers, personal digital assistants (PDAs) such as the </a:t>
            </a:r>
            <a:r>
              <a:rPr lang="en-ZA" sz="2600" dirty="0" smtClean="0">
                <a:latin typeface="Arial Narrow" panose="020B0606020202030204" pitchFamily="34" charset="0"/>
              </a:rPr>
              <a:t>iPhone, </a:t>
            </a:r>
            <a:r>
              <a:rPr lang="en-ZA" sz="2600" dirty="0">
                <a:latin typeface="Arial Narrow" panose="020B0606020202030204" pitchFamily="34" charset="0"/>
              </a:rPr>
              <a:t>and standard </a:t>
            </a:r>
            <a:r>
              <a:rPr lang="en-ZA" sz="2600" dirty="0" smtClean="0">
                <a:latin typeface="Arial Narrow" panose="020B0606020202030204" pitchFamily="34" charset="0"/>
              </a:rPr>
              <a:t>cell phones</a:t>
            </a:r>
            <a:r>
              <a:rPr lang="en-ZA" sz="2600" dirty="0">
                <a:latin typeface="Arial Narrow" panose="020B0606020202030204" pitchFamily="34" charset="0"/>
              </a:rPr>
              <a:t>. </a:t>
            </a:r>
          </a:p>
          <a:p>
            <a:pPr algn="just"/>
            <a:r>
              <a:rPr lang="en-ZA" sz="2600" dirty="0">
                <a:latin typeface="Arial Narrow" panose="020B0606020202030204" pitchFamily="34" charset="0"/>
              </a:rPr>
              <a:t>A mobile computing device </a:t>
            </a:r>
            <a:r>
              <a:rPr lang="en-ZA" sz="2600" dirty="0" smtClean="0">
                <a:latin typeface="Arial Narrow" panose="020B0606020202030204" pitchFamily="34" charset="0"/>
              </a:rPr>
              <a:t>is any </a:t>
            </a:r>
            <a:r>
              <a:rPr lang="en-ZA" sz="2600" dirty="0">
                <a:latin typeface="Arial Narrow" panose="020B0606020202030204" pitchFamily="34" charset="0"/>
              </a:rPr>
              <a:t>device that is created using mobile components such as mobile hardware and software. </a:t>
            </a:r>
          </a:p>
          <a:p>
            <a:pPr lvl="1" algn="just">
              <a:buFont typeface="Wingdings" panose="05000000000000000000" pitchFamily="2" charset="2"/>
              <a:buChar char="§"/>
            </a:pPr>
            <a:r>
              <a:rPr lang="en-ZA" sz="2600" dirty="0" smtClean="0">
                <a:latin typeface="Arial Narrow" panose="020B0606020202030204" pitchFamily="34" charset="0"/>
              </a:rPr>
              <a:t>Portable </a:t>
            </a:r>
            <a:r>
              <a:rPr lang="en-ZA" sz="2600" dirty="0">
                <a:latin typeface="Arial Narrow" panose="020B0606020202030204" pitchFamily="34" charset="0"/>
              </a:rPr>
              <a:t>and capable of operating, executing and providing services and applications similar to a typical computing device. </a:t>
            </a:r>
          </a:p>
          <a:p>
            <a:pPr marL="0" indent="0" algn="just">
              <a:buNone/>
            </a:pPr>
            <a:r>
              <a:rPr lang="en-ZA" sz="2600" b="1" dirty="0">
                <a:latin typeface="Arial Narrow" panose="020B0606020202030204" pitchFamily="34" charset="0"/>
              </a:rPr>
              <a:t>Two types of wireless access services: </a:t>
            </a:r>
            <a:endParaRPr lang="en-ZA" sz="2600" dirty="0">
              <a:latin typeface="Arial Narrow" panose="020B0606020202030204" pitchFamily="34" charset="0"/>
            </a:endParaRPr>
          </a:p>
          <a:p>
            <a:pPr algn="just">
              <a:buFont typeface="Wingdings" panose="05000000000000000000" pitchFamily="2" charset="2"/>
              <a:buChar char="q"/>
            </a:pPr>
            <a:r>
              <a:rPr lang="en-ZA" sz="2600" dirty="0" smtClean="0">
                <a:latin typeface="Arial Narrow" panose="020B0606020202030204" pitchFamily="34" charset="0"/>
              </a:rPr>
              <a:t>Wi-Fi </a:t>
            </a:r>
            <a:r>
              <a:rPr lang="en-ZA" sz="2600" dirty="0">
                <a:latin typeface="Arial Narrow" panose="020B0606020202030204" pitchFamily="34" charset="0"/>
              </a:rPr>
              <a:t>- uses radio waves to broadcast an Internet signal from a wireless router to the immediate surrounding area. </a:t>
            </a:r>
          </a:p>
          <a:p>
            <a:pPr algn="just">
              <a:buFont typeface="Wingdings" panose="05000000000000000000" pitchFamily="2" charset="2"/>
              <a:buChar char="q"/>
            </a:pPr>
            <a:r>
              <a:rPr lang="en-ZA" sz="2600" dirty="0" smtClean="0">
                <a:latin typeface="Arial Narrow" panose="020B0606020202030204" pitchFamily="34" charset="0"/>
              </a:rPr>
              <a:t>Cellular </a:t>
            </a:r>
            <a:r>
              <a:rPr lang="en-ZA" sz="2600" dirty="0">
                <a:latin typeface="Arial Narrow" panose="020B0606020202030204" pitchFamily="34" charset="0"/>
              </a:rPr>
              <a:t>broadband technology </a:t>
            </a:r>
            <a:r>
              <a:rPr lang="en-ZA" sz="2600" dirty="0" smtClean="0">
                <a:latin typeface="Arial Narrow" panose="020B0606020202030204" pitchFamily="34" charset="0"/>
              </a:rPr>
              <a:t>- </a:t>
            </a:r>
            <a:r>
              <a:rPr lang="en-ZA" sz="2600" dirty="0">
                <a:latin typeface="Arial Narrow" panose="020B0606020202030204" pitchFamily="34" charset="0"/>
              </a:rPr>
              <a:t>involves a cellular modem or card to connect to cell towers for Internet access. </a:t>
            </a:r>
            <a:r>
              <a:rPr lang="en-ZA" sz="2600" dirty="0" smtClean="0">
                <a:latin typeface="Arial Narrow" panose="020B0606020202030204" pitchFamily="34" charset="0"/>
              </a:rPr>
              <a:t>Also </a:t>
            </a:r>
            <a:r>
              <a:rPr lang="en-ZA" sz="2600" dirty="0">
                <a:latin typeface="Arial Narrow" panose="020B0606020202030204" pitchFamily="34" charset="0"/>
              </a:rPr>
              <a:t>make it possible to provide internet access through </a:t>
            </a:r>
            <a:r>
              <a:rPr lang="en-ZA" sz="2600" dirty="0" smtClean="0">
                <a:latin typeface="Arial Narrow" panose="020B0606020202030204" pitchFamily="34" charset="0"/>
              </a:rPr>
              <a:t>cell phones </a:t>
            </a:r>
            <a:r>
              <a:rPr lang="en-ZA" sz="2600" dirty="0">
                <a:latin typeface="Arial Narrow" panose="020B0606020202030204" pitchFamily="34" charset="0"/>
              </a:rPr>
              <a:t>and PDAs. </a:t>
            </a:r>
            <a:r>
              <a:rPr lang="en-ZA" sz="2600" dirty="0" smtClean="0">
                <a:latin typeface="Arial Narrow" panose="020B0606020202030204" pitchFamily="34" charset="0"/>
              </a:rPr>
              <a:t>Depends </a:t>
            </a:r>
            <a:r>
              <a:rPr lang="en-ZA" sz="2600" dirty="0">
                <a:latin typeface="Arial Narrow" panose="020B0606020202030204" pitchFamily="34" charset="0"/>
              </a:rPr>
              <a:t>on the model of phone and on the type of contract with the service provider. </a:t>
            </a:r>
          </a:p>
          <a:p>
            <a:pPr marL="0" indent="0" algn="just">
              <a:buNone/>
            </a:pPr>
            <a:endParaRPr lang="en-ZA" sz="2400" dirty="0">
              <a:latin typeface="Arial Narrow" panose="020B0606020202030204" pitchFamily="34" charset="0"/>
            </a:endParaRPr>
          </a:p>
          <a:p>
            <a:endParaRPr lang="en-ZA" dirty="0"/>
          </a:p>
          <a:p>
            <a:endParaRPr lang="en-ZA" dirty="0"/>
          </a:p>
        </p:txBody>
      </p:sp>
      <p:sp>
        <p:nvSpPr>
          <p:cNvPr id="10" name="Footer Placeholder 9"/>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634141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435429"/>
            <a:ext cx="6233160" cy="5741534"/>
          </a:xfrm>
        </p:spPr>
        <p:txBody>
          <a:bodyPr>
            <a:normAutofit fontScale="40000" lnSpcReduction="20000"/>
          </a:bodyPr>
          <a:lstStyle/>
          <a:p>
            <a:endParaRPr lang="en-ZA" dirty="0"/>
          </a:p>
          <a:p>
            <a:pPr marL="0" indent="0" algn="just">
              <a:buNone/>
            </a:pPr>
            <a:r>
              <a:rPr lang="en-ZA" sz="4500" dirty="0" smtClean="0">
                <a:latin typeface="Arial Narrow" panose="020B0606020202030204" pitchFamily="34" charset="0"/>
              </a:rPr>
              <a:t>       </a:t>
            </a:r>
            <a:r>
              <a:rPr lang="en-ZA" sz="4500" b="1" dirty="0" smtClean="0">
                <a:latin typeface="Arial Narrow" panose="020B0606020202030204" pitchFamily="34" charset="0"/>
              </a:rPr>
              <a:t>Current context : </a:t>
            </a:r>
            <a:r>
              <a:rPr lang="en-ZA" sz="4500" dirty="0">
                <a:latin typeface="Arial Narrow" panose="020B0606020202030204" pitchFamily="34" charset="0"/>
              </a:rPr>
              <a:t>A</a:t>
            </a:r>
            <a:r>
              <a:rPr lang="en-ZA" sz="4500" dirty="0" smtClean="0">
                <a:latin typeface="Arial Narrow" panose="020B0606020202030204" pitchFamily="34" charset="0"/>
              </a:rPr>
              <a:t>spects </a:t>
            </a:r>
            <a:r>
              <a:rPr lang="en-ZA" sz="4500" dirty="0">
                <a:latin typeface="Arial Narrow" panose="020B0606020202030204" pitchFamily="34" charset="0"/>
              </a:rPr>
              <a:t>of computer use currently affect </a:t>
            </a:r>
            <a:r>
              <a:rPr lang="en-ZA" sz="4500" dirty="0" smtClean="0">
                <a:latin typeface="Arial Narrow" panose="020B0606020202030204" pitchFamily="34" charset="0"/>
              </a:rPr>
              <a:t>HCI </a:t>
            </a:r>
            <a:endParaRPr lang="en-ZA" sz="4500" b="1" dirty="0" smtClean="0">
              <a:latin typeface="Arial Narrow" panose="020B0606020202030204" pitchFamily="34" charset="0"/>
            </a:endParaRPr>
          </a:p>
          <a:p>
            <a:pPr algn="just">
              <a:buFont typeface="Wingdings" panose="05000000000000000000" pitchFamily="2" charset="2"/>
              <a:buChar char="q"/>
            </a:pPr>
            <a:r>
              <a:rPr lang="en-ZA" sz="4500" b="1" dirty="0" smtClean="0">
                <a:latin typeface="Arial Narrow" panose="020B0606020202030204" pitchFamily="34" charset="0"/>
              </a:rPr>
              <a:t>Distributed </a:t>
            </a:r>
            <a:r>
              <a:rPr lang="en-ZA" sz="4500" b="1" dirty="0">
                <a:latin typeface="Arial Narrow" panose="020B0606020202030204" pitchFamily="34" charset="0"/>
              </a:rPr>
              <a:t>systems </a:t>
            </a:r>
            <a:r>
              <a:rPr lang="en-ZA" sz="4500" b="1" dirty="0" smtClean="0">
                <a:latin typeface="Arial Narrow" panose="020B0606020202030204" pitchFamily="34" charset="0"/>
              </a:rPr>
              <a:t> </a:t>
            </a:r>
          </a:p>
          <a:p>
            <a:pPr algn="just"/>
            <a:r>
              <a:rPr lang="en-ZA" sz="4500" dirty="0" smtClean="0">
                <a:latin typeface="Arial Narrow" panose="020B0606020202030204" pitchFamily="34" charset="0"/>
              </a:rPr>
              <a:t>Development </a:t>
            </a:r>
            <a:r>
              <a:rPr lang="en-ZA" sz="4500" dirty="0">
                <a:latin typeface="Arial Narrow" panose="020B0606020202030204" pitchFamily="34" charset="0"/>
              </a:rPr>
              <a:t>of innovative user interfaces </a:t>
            </a:r>
            <a:r>
              <a:rPr lang="en-ZA" sz="4500" dirty="0" smtClean="0">
                <a:latin typeface="Arial Narrow" panose="020B0606020202030204" pitchFamily="34" charset="0"/>
              </a:rPr>
              <a:t>is increasing </a:t>
            </a:r>
            <a:r>
              <a:rPr lang="en-ZA" sz="4500" dirty="0">
                <a:latin typeface="Arial Narrow" panose="020B0606020202030204" pitchFamily="34" charset="0"/>
              </a:rPr>
              <a:t>access to distributed information sources. </a:t>
            </a:r>
            <a:r>
              <a:rPr lang="en-ZA" sz="4500" dirty="0" smtClean="0">
                <a:latin typeface="Arial Narrow" panose="020B0606020202030204" pitchFamily="34" charset="0"/>
              </a:rPr>
              <a:t>Internet not only for programmers.</a:t>
            </a:r>
          </a:p>
          <a:p>
            <a:pPr algn="just">
              <a:buFont typeface="Wingdings" panose="05000000000000000000" pitchFamily="2" charset="2"/>
              <a:buChar char="q"/>
            </a:pPr>
            <a:r>
              <a:rPr lang="en-ZA" sz="4500" b="1" dirty="0" smtClean="0">
                <a:latin typeface="Arial Narrow" panose="020B0606020202030204" pitchFamily="34" charset="0"/>
              </a:rPr>
              <a:t>Multimedia </a:t>
            </a:r>
            <a:r>
              <a:rPr lang="en-ZA" sz="4500" b="1" dirty="0">
                <a:latin typeface="Arial Narrow" panose="020B0606020202030204" pitchFamily="34" charset="0"/>
              </a:rPr>
              <a:t>interfaces </a:t>
            </a:r>
            <a:endParaRPr lang="en-ZA" sz="4500" b="1" dirty="0" smtClean="0">
              <a:latin typeface="Arial Narrow" panose="020B0606020202030204" pitchFamily="34" charset="0"/>
            </a:endParaRPr>
          </a:p>
          <a:p>
            <a:pPr algn="just"/>
            <a:r>
              <a:rPr lang="en-ZA" sz="4500" dirty="0" smtClean="0">
                <a:latin typeface="Arial Narrow" panose="020B0606020202030204" pitchFamily="34" charset="0"/>
              </a:rPr>
              <a:t>Text </a:t>
            </a:r>
            <a:r>
              <a:rPr lang="en-ZA" sz="4500" dirty="0">
                <a:latin typeface="Arial Narrow" panose="020B0606020202030204" pitchFamily="34" charset="0"/>
              </a:rPr>
              <a:t>most significant form of interaction with computer systems. </a:t>
            </a:r>
          </a:p>
          <a:p>
            <a:pPr algn="just"/>
            <a:r>
              <a:rPr lang="en-ZA" sz="4500" dirty="0" smtClean="0">
                <a:latin typeface="Arial Narrow" panose="020B0606020202030204" pitchFamily="34" charset="0"/>
              </a:rPr>
              <a:t> </a:t>
            </a:r>
            <a:r>
              <a:rPr lang="en-ZA" sz="4500" dirty="0">
                <a:latin typeface="Arial Narrow" panose="020B0606020202030204" pitchFamily="34" charset="0"/>
              </a:rPr>
              <a:t>Problem </a:t>
            </a:r>
            <a:r>
              <a:rPr lang="en-ZA" sz="4500" dirty="0" smtClean="0">
                <a:latin typeface="Arial Narrow" panose="020B0606020202030204" pitchFamily="34" charset="0"/>
              </a:rPr>
              <a:t>with integrating text </a:t>
            </a:r>
            <a:r>
              <a:rPr lang="en-ZA" sz="4500" dirty="0">
                <a:latin typeface="Arial Narrow" panose="020B0606020202030204" pitchFamily="34" charset="0"/>
              </a:rPr>
              <a:t>into graphical, video and audio information sources </a:t>
            </a:r>
          </a:p>
          <a:p>
            <a:pPr algn="just">
              <a:buFont typeface="Wingdings" panose="05000000000000000000" pitchFamily="2" charset="2"/>
              <a:buChar char="q"/>
            </a:pPr>
            <a:r>
              <a:rPr lang="en-ZA" sz="4500" b="1" dirty="0" smtClean="0">
                <a:latin typeface="Arial Narrow" panose="020B0606020202030204" pitchFamily="34" charset="0"/>
              </a:rPr>
              <a:t>Advanced </a:t>
            </a:r>
            <a:r>
              <a:rPr lang="en-ZA" sz="4500" b="1" dirty="0">
                <a:latin typeface="Arial Narrow" panose="020B0606020202030204" pitchFamily="34" charset="0"/>
              </a:rPr>
              <a:t>operating systems </a:t>
            </a:r>
          </a:p>
          <a:p>
            <a:pPr algn="just"/>
            <a:r>
              <a:rPr lang="en-ZA" sz="4500" dirty="0" smtClean="0">
                <a:latin typeface="Arial Narrow" panose="020B0606020202030204" pitchFamily="34" charset="0"/>
              </a:rPr>
              <a:t>Increasing </a:t>
            </a:r>
            <a:r>
              <a:rPr lang="en-ZA" sz="4500" dirty="0">
                <a:latin typeface="Arial Narrow" panose="020B0606020202030204" pitchFamily="34" charset="0"/>
              </a:rPr>
              <a:t>demands made upon processing resources by graphical and multimedia styles of interaction. </a:t>
            </a:r>
          </a:p>
          <a:p>
            <a:pPr algn="just">
              <a:buFont typeface="Wingdings" panose="05000000000000000000" pitchFamily="2" charset="2"/>
              <a:buChar char="q"/>
            </a:pPr>
            <a:r>
              <a:rPr lang="en-ZA" sz="4500" b="1" dirty="0" smtClean="0">
                <a:latin typeface="Arial Narrow" panose="020B0606020202030204" pitchFamily="34" charset="0"/>
              </a:rPr>
              <a:t>HCI </a:t>
            </a:r>
            <a:r>
              <a:rPr lang="en-ZA" sz="4500" b="1" dirty="0">
                <a:latin typeface="Arial Narrow" panose="020B0606020202030204" pitchFamily="34" charset="0"/>
              </a:rPr>
              <a:t>development environments </a:t>
            </a:r>
            <a:endParaRPr lang="en-ZA" sz="4500" b="1" dirty="0" smtClean="0">
              <a:latin typeface="Arial Narrow" panose="020B0606020202030204" pitchFamily="34" charset="0"/>
            </a:endParaRPr>
          </a:p>
          <a:p>
            <a:pPr algn="just"/>
            <a:r>
              <a:rPr lang="en-ZA" sz="4500" dirty="0" smtClean="0">
                <a:latin typeface="Arial Narrow" panose="020B0606020202030204" pitchFamily="34" charset="0"/>
              </a:rPr>
              <a:t>To of the new </a:t>
            </a:r>
            <a:r>
              <a:rPr lang="en-ZA" sz="4500" dirty="0">
                <a:latin typeface="Arial Narrow" panose="020B0606020202030204" pitchFamily="34" charset="0"/>
              </a:rPr>
              <a:t>generations of interface development software </a:t>
            </a:r>
          </a:p>
          <a:p>
            <a:pPr algn="just"/>
            <a:r>
              <a:rPr lang="en-ZA" sz="4500" dirty="0" smtClean="0">
                <a:latin typeface="Arial Narrow" panose="020B0606020202030204" pitchFamily="34" charset="0"/>
              </a:rPr>
              <a:t> </a:t>
            </a:r>
            <a:r>
              <a:rPr lang="en-ZA" sz="4500" dirty="0">
                <a:latin typeface="Arial Narrow" panose="020B0606020202030204" pitchFamily="34" charset="0"/>
              </a:rPr>
              <a:t>Environments extend graphical interaction techniques of Apple and Windows desktops to construction of the interface itself. </a:t>
            </a:r>
          </a:p>
          <a:p>
            <a:pPr algn="just"/>
            <a:r>
              <a:rPr lang="en-ZA" sz="4500" dirty="0" smtClean="0">
                <a:latin typeface="Arial Narrow" panose="020B0606020202030204" pitchFamily="34" charset="0"/>
              </a:rPr>
              <a:t>As a result users be able to customise </a:t>
            </a:r>
            <a:r>
              <a:rPr lang="en-ZA" sz="4500" dirty="0">
                <a:latin typeface="Arial Narrow" panose="020B0606020202030204" pitchFamily="34" charset="0"/>
              </a:rPr>
              <a:t>working environment </a:t>
            </a:r>
          </a:p>
          <a:p>
            <a:pPr marL="0" indent="0">
              <a:buNone/>
            </a:pPr>
            <a:endParaRPr lang="en-ZA" dirty="0"/>
          </a:p>
          <a:p>
            <a:endParaRPr lang="en-ZA" dirty="0"/>
          </a:p>
          <a:p>
            <a:endParaRPr lang="en-ZA" dirty="0"/>
          </a:p>
        </p:txBody>
      </p:sp>
      <p:sp>
        <p:nvSpPr>
          <p:cNvPr id="6" name="Content Placeholder 5"/>
          <p:cNvSpPr>
            <a:spLocks noGrp="1"/>
          </p:cNvSpPr>
          <p:nvPr>
            <p:ph sz="half" idx="2"/>
          </p:nvPr>
        </p:nvSpPr>
        <p:spPr>
          <a:xfrm>
            <a:off x="7271656" y="505097"/>
            <a:ext cx="4302035" cy="5671866"/>
          </a:xfrm>
        </p:spPr>
        <p:txBody>
          <a:bodyPr>
            <a:normAutofit fontScale="40000" lnSpcReduction="20000"/>
          </a:bodyPr>
          <a:lstStyle/>
          <a:p>
            <a:endParaRPr lang="en-ZA" sz="4200" dirty="0" smtClean="0">
              <a:latin typeface="Arial Narrow" panose="020B0606020202030204" pitchFamily="34" charset="0"/>
            </a:endParaRPr>
          </a:p>
          <a:p>
            <a:pPr algn="just">
              <a:buFont typeface="Wingdings" panose="05000000000000000000" pitchFamily="2" charset="2"/>
              <a:buChar char="q"/>
            </a:pPr>
            <a:r>
              <a:rPr lang="en-ZA" sz="5000" dirty="0" smtClean="0">
                <a:latin typeface="Arial Narrow" panose="020B0606020202030204" pitchFamily="34" charset="0"/>
              </a:rPr>
              <a:t> </a:t>
            </a:r>
            <a:r>
              <a:rPr lang="en-ZA" sz="5000" b="1" dirty="0" smtClean="0">
                <a:latin typeface="Arial Narrow" panose="020B0606020202030204" pitchFamily="34" charset="0"/>
              </a:rPr>
              <a:t>Ubiquitous computing (</a:t>
            </a:r>
            <a:r>
              <a:rPr lang="en-ZA" sz="5000" b="1" dirty="0" err="1" smtClean="0">
                <a:latin typeface="Arial Narrow" panose="020B0606020202030204" pitchFamily="34" charset="0"/>
              </a:rPr>
              <a:t>UbiComp</a:t>
            </a:r>
            <a:r>
              <a:rPr lang="en-ZA" sz="5000" b="1" dirty="0" smtClean="0">
                <a:latin typeface="Arial Narrow" panose="020B0606020202030204" pitchFamily="34" charset="0"/>
              </a:rPr>
              <a:t>) </a:t>
            </a:r>
            <a:endParaRPr lang="en-ZA" sz="5000" b="1" dirty="0">
              <a:latin typeface="Arial Narrow" panose="020B0606020202030204" pitchFamily="34" charset="0"/>
            </a:endParaRPr>
          </a:p>
          <a:p>
            <a:pPr algn="just"/>
            <a:r>
              <a:rPr lang="en-ZA" sz="5000" dirty="0" smtClean="0">
                <a:latin typeface="Arial Narrow" panose="020B0606020202030204" pitchFamily="34" charset="0"/>
              </a:rPr>
              <a:t>Refers to computer systems embedded in everyday objects and have unobtrusively become part of the environment. </a:t>
            </a:r>
          </a:p>
          <a:p>
            <a:pPr algn="just"/>
            <a:r>
              <a:rPr lang="en-ZA" sz="5000" dirty="0" smtClean="0">
                <a:latin typeface="Arial Narrow" panose="020B0606020202030204" pitchFamily="34" charset="0"/>
              </a:rPr>
              <a:t>E.g. Control systems found in a modern car – wiping speed when rain detected </a:t>
            </a:r>
          </a:p>
          <a:p>
            <a:pPr algn="just">
              <a:buFont typeface="Wingdings" panose="05000000000000000000" pitchFamily="2" charset="2"/>
              <a:buChar char="q"/>
            </a:pPr>
            <a:r>
              <a:rPr lang="en-ZA" sz="5000" b="1" dirty="0" smtClean="0">
                <a:latin typeface="Arial Narrow" panose="020B0606020202030204" pitchFamily="34" charset="0"/>
              </a:rPr>
              <a:t>Mobile technology </a:t>
            </a:r>
            <a:endParaRPr lang="en-ZA" sz="5000" b="1" dirty="0">
              <a:latin typeface="Arial Narrow" panose="020B0606020202030204" pitchFamily="34" charset="0"/>
            </a:endParaRPr>
          </a:p>
          <a:p>
            <a:pPr algn="just"/>
            <a:r>
              <a:rPr lang="en-ZA" sz="5000" dirty="0" smtClean="0">
                <a:latin typeface="Arial Narrow" panose="020B0606020202030204" pitchFamily="34" charset="0"/>
              </a:rPr>
              <a:t>The use of mobile devices such as mobile phones in substitute of pc’s technologically , anywhere anytime </a:t>
            </a:r>
          </a:p>
          <a:p>
            <a:pPr algn="just">
              <a:buFont typeface="Wingdings" panose="05000000000000000000" pitchFamily="2" charset="2"/>
              <a:buChar char="q"/>
            </a:pPr>
            <a:r>
              <a:rPr lang="en-ZA" sz="5000" b="1" dirty="0" smtClean="0">
                <a:latin typeface="Arial Narrow" panose="020B0606020202030204" pitchFamily="34" charset="0"/>
              </a:rPr>
              <a:t>Gaming</a:t>
            </a:r>
            <a:r>
              <a:rPr lang="en-ZA" sz="5000" dirty="0" smtClean="0">
                <a:latin typeface="Arial Narrow" panose="020B0606020202030204" pitchFamily="34" charset="0"/>
              </a:rPr>
              <a:t> </a:t>
            </a:r>
            <a:endParaRPr lang="en-ZA" sz="5000" dirty="0">
              <a:latin typeface="Arial Narrow" panose="020B0606020202030204" pitchFamily="34" charset="0"/>
            </a:endParaRPr>
          </a:p>
          <a:p>
            <a:pPr algn="just"/>
            <a:r>
              <a:rPr lang="en-ZA" sz="5000" dirty="0" smtClean="0">
                <a:latin typeface="Arial Narrow" panose="020B0606020202030204" pitchFamily="34" charset="0"/>
              </a:rPr>
              <a:t>Computer games - most popular products of software industry </a:t>
            </a:r>
          </a:p>
          <a:p>
            <a:pPr algn="just"/>
            <a:r>
              <a:rPr lang="en-ZA" sz="5000" dirty="0" smtClean="0">
                <a:latin typeface="Arial Narrow" panose="020B0606020202030204" pitchFamily="34" charset="0"/>
              </a:rPr>
              <a:t>HCI Games group conducts research in ICT, design, psychology and HCI-related area </a:t>
            </a:r>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694328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48640" y="531223"/>
            <a:ext cx="5471160" cy="5645740"/>
          </a:xfrm>
        </p:spPr>
        <p:txBody>
          <a:bodyPr>
            <a:normAutofit fontScale="47500" lnSpcReduction="20000"/>
          </a:bodyPr>
          <a:lstStyle/>
          <a:p>
            <a:pPr marL="0" indent="0" algn="just">
              <a:buNone/>
            </a:pPr>
            <a:r>
              <a:rPr lang="en-ZA" sz="3600" b="1" dirty="0" smtClean="0">
                <a:latin typeface="Arial Narrow" panose="020B0606020202030204" pitchFamily="34" charset="0"/>
              </a:rPr>
              <a:t>  Future </a:t>
            </a:r>
            <a:r>
              <a:rPr lang="en-ZA" sz="3600" b="1" dirty="0">
                <a:latin typeface="Arial Narrow" panose="020B0606020202030204" pitchFamily="34" charset="0"/>
              </a:rPr>
              <a:t>Directions </a:t>
            </a:r>
            <a:r>
              <a:rPr lang="en-ZA" sz="3600" dirty="0" smtClean="0">
                <a:latin typeface="Arial Narrow" panose="020B0606020202030204" pitchFamily="34" charset="0"/>
              </a:rPr>
              <a:t>- Mobile </a:t>
            </a:r>
            <a:r>
              <a:rPr lang="en-ZA" sz="3600" dirty="0">
                <a:latin typeface="Arial Narrow" panose="020B0606020202030204" pitchFamily="34" charset="0"/>
              </a:rPr>
              <a:t>and ubiquitous computing will remain the focus areas of the future. </a:t>
            </a:r>
          </a:p>
          <a:p>
            <a:pPr algn="just">
              <a:buFont typeface="Wingdings" panose="05000000000000000000" pitchFamily="2" charset="2"/>
              <a:buChar char="q"/>
            </a:pPr>
            <a:r>
              <a:rPr lang="en-ZA" sz="3600" b="1" dirty="0">
                <a:latin typeface="Arial Narrow" panose="020B0606020202030204" pitchFamily="34" charset="0"/>
              </a:rPr>
              <a:t>The changing notion of ‘the interface’ </a:t>
            </a:r>
            <a:endParaRPr lang="en-ZA" sz="3600" b="1" dirty="0" smtClean="0">
              <a:latin typeface="Arial Narrow" panose="020B0606020202030204" pitchFamily="34" charset="0"/>
            </a:endParaRPr>
          </a:p>
          <a:p>
            <a:pPr marL="0" indent="0" algn="just">
              <a:buNone/>
            </a:pPr>
            <a:r>
              <a:rPr lang="en-ZA" sz="3600" dirty="0" smtClean="0">
                <a:latin typeface="Arial Narrow" panose="020B0606020202030204" pitchFamily="34" charset="0"/>
              </a:rPr>
              <a:t>▪ </a:t>
            </a:r>
            <a:r>
              <a:rPr lang="en-ZA" sz="3600" dirty="0">
                <a:latin typeface="Arial Narrow" panose="020B0606020202030204" pitchFamily="34" charset="0"/>
              </a:rPr>
              <a:t>Outdated ideas of interface will not apply in the era of ubiquitous computing. </a:t>
            </a:r>
          </a:p>
          <a:p>
            <a:pPr marL="0" indent="0" algn="just">
              <a:buNone/>
            </a:pPr>
            <a:r>
              <a:rPr lang="en-ZA" sz="3600" dirty="0">
                <a:latin typeface="Arial Narrow" panose="020B0606020202030204" pitchFamily="34" charset="0"/>
              </a:rPr>
              <a:t>▪ GUI and mouse - increasingly be replaced by tangible interfaces controlled by touch, speech and gesture &amp; input mechanisms using eye movement and brain activity will become common. </a:t>
            </a:r>
          </a:p>
          <a:p>
            <a:pPr algn="just">
              <a:buFont typeface="Wingdings" panose="05000000000000000000" pitchFamily="2" charset="2"/>
              <a:buChar char="q"/>
            </a:pPr>
            <a:r>
              <a:rPr lang="en-ZA" sz="3600" b="1" dirty="0" smtClean="0">
                <a:latin typeface="Arial Narrow" panose="020B0606020202030204" pitchFamily="34" charset="0"/>
              </a:rPr>
              <a:t>Increasing </a:t>
            </a:r>
            <a:r>
              <a:rPr lang="en-ZA" sz="3600" b="1" dirty="0">
                <a:latin typeface="Arial Narrow" panose="020B0606020202030204" pitchFamily="34" charset="0"/>
              </a:rPr>
              <a:t>dependency on technology </a:t>
            </a:r>
            <a:endParaRPr lang="en-ZA" sz="3600" b="1" dirty="0" smtClean="0">
              <a:latin typeface="Arial Narrow" panose="020B0606020202030204" pitchFamily="34" charset="0"/>
            </a:endParaRPr>
          </a:p>
          <a:p>
            <a:pPr marL="0" indent="0" algn="just">
              <a:buNone/>
            </a:pPr>
            <a:r>
              <a:rPr lang="en-ZA" sz="3600" dirty="0" smtClean="0">
                <a:latin typeface="Arial Narrow" panose="020B0606020202030204" pitchFamily="34" charset="0"/>
              </a:rPr>
              <a:t>▪ </a:t>
            </a:r>
            <a:r>
              <a:rPr lang="en-ZA" sz="3600" dirty="0">
                <a:latin typeface="Arial Narrow" panose="020B0606020202030204" pitchFamily="34" charset="0"/>
              </a:rPr>
              <a:t>Younger generations </a:t>
            </a:r>
            <a:r>
              <a:rPr lang="en-ZA" sz="3600" dirty="0" smtClean="0">
                <a:latin typeface="Arial Narrow" panose="020B0606020202030204" pitchFamily="34" charset="0"/>
              </a:rPr>
              <a:t>are highly dependent on the use of technology </a:t>
            </a:r>
            <a:endParaRPr lang="en-ZA" sz="3600" dirty="0">
              <a:latin typeface="Arial Narrow" panose="020B0606020202030204" pitchFamily="34" charset="0"/>
            </a:endParaRPr>
          </a:p>
          <a:p>
            <a:pPr algn="just"/>
            <a:r>
              <a:rPr lang="en-ZA" sz="3600" dirty="0" smtClean="0">
                <a:latin typeface="Arial Narrow" panose="020B0606020202030204" pitchFamily="34" charset="0"/>
              </a:rPr>
              <a:t>Problem - losing </a:t>
            </a:r>
            <a:r>
              <a:rPr lang="en-ZA" sz="3600" dirty="0">
                <a:latin typeface="Arial Narrow" panose="020B0606020202030204" pitchFamily="34" charset="0"/>
              </a:rPr>
              <a:t>skills previous generation </a:t>
            </a:r>
            <a:r>
              <a:rPr lang="en-ZA" sz="3600" dirty="0" smtClean="0">
                <a:latin typeface="Arial Narrow" panose="020B0606020202030204" pitchFamily="34" charset="0"/>
              </a:rPr>
              <a:t>developed (i.e. memorising) </a:t>
            </a:r>
            <a:endParaRPr lang="en-ZA" sz="3600" dirty="0">
              <a:latin typeface="Arial Narrow" panose="020B0606020202030204" pitchFamily="34" charset="0"/>
            </a:endParaRPr>
          </a:p>
          <a:p>
            <a:pPr algn="just">
              <a:buFont typeface="Wingdings" panose="05000000000000000000" pitchFamily="2" charset="2"/>
              <a:buChar char="q"/>
            </a:pPr>
            <a:r>
              <a:rPr lang="en-ZA" sz="3600" b="1" dirty="0" smtClean="0">
                <a:latin typeface="Arial Narrow" panose="020B0606020202030204" pitchFamily="34" charset="0"/>
              </a:rPr>
              <a:t>Hyper-connectivity </a:t>
            </a:r>
          </a:p>
          <a:p>
            <a:pPr marL="0" indent="0" algn="just">
              <a:buNone/>
            </a:pPr>
            <a:r>
              <a:rPr lang="en-ZA" sz="3600" dirty="0" smtClean="0">
                <a:latin typeface="Arial Narrow" panose="020B0606020202030204" pitchFamily="34" charset="0"/>
              </a:rPr>
              <a:t>▪ </a:t>
            </a:r>
            <a:r>
              <a:rPr lang="en-ZA" sz="3600" dirty="0">
                <a:latin typeface="Arial Narrow" panose="020B0606020202030204" pitchFamily="34" charset="0"/>
              </a:rPr>
              <a:t>Communication technology will continue to improve and allow more forms of connectivity among people </a:t>
            </a:r>
          </a:p>
          <a:p>
            <a:pPr marL="0" indent="0" algn="just">
              <a:buNone/>
            </a:pPr>
            <a:r>
              <a:rPr lang="en-ZA" sz="3600" dirty="0">
                <a:latin typeface="Arial Narrow" panose="020B0606020202030204" pitchFamily="34" charset="0"/>
              </a:rPr>
              <a:t>▪ Impacts way we relate to people, make friends and how we maintain relationships. </a:t>
            </a:r>
          </a:p>
          <a:p>
            <a:pPr marL="0" indent="0" algn="just">
              <a:buNone/>
            </a:pPr>
            <a:r>
              <a:rPr lang="en-ZA" sz="3600" dirty="0">
                <a:latin typeface="Arial Narrow" panose="020B0606020202030204" pitchFamily="34" charset="0"/>
              </a:rPr>
              <a:t>▪ Communication etiquette is changing. </a:t>
            </a:r>
          </a:p>
          <a:p>
            <a:pPr marL="0" indent="0" algn="just">
              <a:buNone/>
            </a:pPr>
            <a:r>
              <a:rPr lang="en-ZA" sz="3600" dirty="0">
                <a:latin typeface="Arial Narrow" panose="020B0606020202030204" pitchFamily="34" charset="0"/>
              </a:rPr>
              <a:t>▪ Connectivity levels blurred boundaries between work and leisure space / time </a:t>
            </a:r>
          </a:p>
          <a:p>
            <a:pPr algn="just"/>
            <a:endParaRPr lang="en-ZA" dirty="0"/>
          </a:p>
          <a:p>
            <a:pPr marL="0" indent="0" algn="just">
              <a:buNone/>
            </a:pPr>
            <a:endParaRPr lang="en-ZA" sz="2000" dirty="0">
              <a:latin typeface="Arial Narrow" panose="020B0606020202030204" pitchFamily="34" charset="0"/>
            </a:endParaRPr>
          </a:p>
        </p:txBody>
      </p:sp>
      <p:sp>
        <p:nvSpPr>
          <p:cNvPr id="4" name="Content Placeholder 3"/>
          <p:cNvSpPr>
            <a:spLocks noGrp="1"/>
          </p:cNvSpPr>
          <p:nvPr>
            <p:ph sz="half" idx="2"/>
          </p:nvPr>
        </p:nvSpPr>
        <p:spPr>
          <a:xfrm>
            <a:off x="6172200" y="531223"/>
            <a:ext cx="5181600" cy="5645740"/>
          </a:xfrm>
        </p:spPr>
        <p:txBody>
          <a:bodyPr>
            <a:normAutofit fontScale="47500" lnSpcReduction="20000"/>
          </a:bodyPr>
          <a:lstStyle/>
          <a:p>
            <a:endParaRPr lang="en-ZA" dirty="0"/>
          </a:p>
          <a:p>
            <a:pPr algn="just">
              <a:buFont typeface="Wingdings" panose="05000000000000000000" pitchFamily="2" charset="2"/>
              <a:buChar char="q"/>
            </a:pPr>
            <a:r>
              <a:rPr lang="en-ZA" sz="4200" b="1" dirty="0">
                <a:latin typeface="Arial Narrow" panose="020B0606020202030204" pitchFamily="34" charset="0"/>
              </a:rPr>
              <a:t>Changes in the means of and reasons for recording information </a:t>
            </a:r>
            <a:endParaRPr lang="en-ZA" sz="4200" b="1" dirty="0" smtClean="0">
              <a:latin typeface="Arial Narrow" panose="020B0606020202030204" pitchFamily="34" charset="0"/>
            </a:endParaRPr>
          </a:p>
          <a:p>
            <a:pPr marL="0" indent="0" algn="just">
              <a:buNone/>
            </a:pPr>
            <a:r>
              <a:rPr lang="en-ZA" sz="4200" dirty="0" smtClean="0">
                <a:latin typeface="Arial Narrow" panose="020B0606020202030204" pitchFamily="34" charset="0"/>
              </a:rPr>
              <a:t>▪ </a:t>
            </a:r>
            <a:r>
              <a:rPr lang="en-ZA" sz="4200" dirty="0">
                <a:latin typeface="Arial Narrow" panose="020B0606020202030204" pitchFamily="34" charset="0"/>
              </a:rPr>
              <a:t>Information previously stored in </a:t>
            </a:r>
            <a:r>
              <a:rPr lang="en-ZA" sz="4200" dirty="0" smtClean="0">
                <a:latin typeface="Arial Narrow" panose="020B0606020202030204" pitchFamily="34" charset="0"/>
              </a:rPr>
              <a:t>pupils memory </a:t>
            </a:r>
            <a:r>
              <a:rPr lang="en-ZA" sz="4200" dirty="0">
                <a:latin typeface="Arial Narrow" panose="020B0606020202030204" pitchFamily="34" charset="0"/>
              </a:rPr>
              <a:t>are now recorded digitally </a:t>
            </a:r>
          </a:p>
          <a:p>
            <a:pPr marL="0" indent="0" algn="just">
              <a:buNone/>
            </a:pPr>
            <a:r>
              <a:rPr lang="en-ZA" sz="4200" dirty="0">
                <a:latin typeface="Arial Narrow" panose="020B0606020202030204" pitchFamily="34" charset="0"/>
              </a:rPr>
              <a:t>▪ Cameras and video recording capabilities allow recording activities that would previously be forgotten. </a:t>
            </a:r>
          </a:p>
          <a:p>
            <a:pPr marL="0" indent="0" algn="just">
              <a:buNone/>
            </a:pPr>
            <a:r>
              <a:rPr lang="en-ZA" sz="4200" dirty="0">
                <a:latin typeface="Arial Narrow" panose="020B0606020202030204" pitchFamily="34" charset="0"/>
              </a:rPr>
              <a:t>▪ Replacement of handwritten letters by e-mails - easier to build archives of everyday communications. </a:t>
            </a:r>
          </a:p>
          <a:p>
            <a:pPr marL="0" indent="0" algn="just">
              <a:buNone/>
            </a:pPr>
            <a:r>
              <a:rPr lang="en-ZA" sz="4200" dirty="0">
                <a:latin typeface="Arial Narrow" panose="020B0606020202030204" pitchFamily="34" charset="0"/>
              </a:rPr>
              <a:t>▪ Increase in recorded information requires improved systems for managing storage and accessing information. </a:t>
            </a:r>
          </a:p>
          <a:p>
            <a:pPr algn="just">
              <a:buFont typeface="Wingdings" panose="05000000000000000000" pitchFamily="2" charset="2"/>
              <a:buChar char="q"/>
            </a:pPr>
            <a:r>
              <a:rPr lang="en-ZA" sz="4200" b="1" dirty="0" smtClean="0">
                <a:latin typeface="Arial Narrow" panose="020B0606020202030204" pitchFamily="34" charset="0"/>
              </a:rPr>
              <a:t>Increased </a:t>
            </a:r>
            <a:r>
              <a:rPr lang="en-ZA" sz="4200" b="1" dirty="0">
                <a:latin typeface="Arial Narrow" panose="020B0606020202030204" pitchFamily="34" charset="0"/>
              </a:rPr>
              <a:t>creativity through </a:t>
            </a:r>
            <a:r>
              <a:rPr lang="en-ZA" sz="4200" b="1" dirty="0" smtClean="0">
                <a:latin typeface="Arial Narrow" panose="020B0606020202030204" pitchFamily="34" charset="0"/>
              </a:rPr>
              <a:t>technology </a:t>
            </a:r>
          </a:p>
          <a:p>
            <a:pPr marL="0" indent="0" algn="just">
              <a:buNone/>
            </a:pPr>
            <a:r>
              <a:rPr lang="en-ZA" sz="4200" dirty="0" smtClean="0">
                <a:latin typeface="Arial Narrow" panose="020B0606020202030204" pitchFamily="34" charset="0"/>
              </a:rPr>
              <a:t>▪ </a:t>
            </a:r>
            <a:r>
              <a:rPr lang="en-ZA" sz="4200" dirty="0">
                <a:latin typeface="Arial Narrow" panose="020B0606020202030204" pitchFamily="34" charset="0"/>
              </a:rPr>
              <a:t>Increasingly, accessible and flexible computing devices support new ways of playing, learning and creating. </a:t>
            </a:r>
          </a:p>
          <a:p>
            <a:pPr marL="0" indent="0" algn="just">
              <a:buNone/>
            </a:pPr>
            <a:r>
              <a:rPr lang="en-ZA" sz="4200" dirty="0">
                <a:latin typeface="Arial Narrow" panose="020B0606020202030204" pitchFamily="34" charset="0"/>
              </a:rPr>
              <a:t>▪ They become tools that can augment human cognition by visualising complex data or processes or by processing huge amounts of information in short periods of time. </a:t>
            </a:r>
          </a:p>
          <a:p>
            <a:endParaRPr lang="en-ZA" dirty="0"/>
          </a:p>
          <a:p>
            <a:endParaRPr lang="en-ZA" dirty="0"/>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449046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0594" y="269966"/>
            <a:ext cx="5619206" cy="5906997"/>
          </a:xfrm>
        </p:spPr>
        <p:txBody>
          <a:bodyPr>
            <a:normAutofit fontScale="55000" lnSpcReduction="20000"/>
          </a:bodyPr>
          <a:lstStyle/>
          <a:p>
            <a:pPr marL="0" indent="0">
              <a:buNone/>
            </a:pPr>
            <a:r>
              <a:rPr lang="en-ZA" sz="3300" b="1" dirty="0" smtClean="0">
                <a:latin typeface="Arial Narrow" panose="020B0606020202030204" pitchFamily="34" charset="0"/>
              </a:rPr>
              <a:t>Three identified technical </a:t>
            </a:r>
            <a:r>
              <a:rPr lang="en-ZA" sz="3300" b="1" dirty="0">
                <a:latin typeface="Arial Narrow" panose="020B0606020202030204" pitchFamily="34" charset="0"/>
              </a:rPr>
              <a:t>challenges for the next </a:t>
            </a:r>
            <a:r>
              <a:rPr lang="en-ZA" sz="3300" b="1" dirty="0" smtClean="0">
                <a:latin typeface="Arial Narrow" panose="020B0606020202030204" pitchFamily="34" charset="0"/>
              </a:rPr>
              <a:t>decade</a:t>
            </a:r>
            <a:r>
              <a:rPr lang="en-ZA" sz="3300" b="1" dirty="0">
                <a:latin typeface="Arial Narrow" panose="020B0606020202030204" pitchFamily="34" charset="0"/>
              </a:rPr>
              <a:t>: </a:t>
            </a:r>
            <a:endParaRPr lang="en-ZA" sz="3300" dirty="0">
              <a:latin typeface="Arial Narrow" panose="020B0606020202030204" pitchFamily="34" charset="0"/>
            </a:endParaRPr>
          </a:p>
          <a:p>
            <a:pPr algn="just">
              <a:buFont typeface="Wingdings" panose="05000000000000000000" pitchFamily="2" charset="2"/>
              <a:buChar char="q"/>
            </a:pPr>
            <a:r>
              <a:rPr lang="en-ZA" sz="3300" dirty="0">
                <a:latin typeface="Arial Narrow" panose="020B0606020202030204" pitchFamily="34" charset="0"/>
              </a:rPr>
              <a:t>Producing satisfying and effective internet interaction on high-speed (broadband) and slower (dial-up and some wireless) connections. </a:t>
            </a:r>
          </a:p>
          <a:p>
            <a:pPr marL="0" indent="0" algn="just">
              <a:buNone/>
            </a:pPr>
            <a:r>
              <a:rPr lang="en-ZA" sz="3300" dirty="0" smtClean="0">
                <a:latin typeface="Arial Narrow" panose="020B0606020202030204" pitchFamily="34" charset="0"/>
              </a:rPr>
              <a:t>▪ </a:t>
            </a:r>
            <a:r>
              <a:rPr lang="en-ZA" sz="3300" dirty="0">
                <a:latin typeface="Arial Narrow" panose="020B0606020202030204" pitchFamily="34" charset="0"/>
              </a:rPr>
              <a:t>Although a great deal of research has been done to reduce the file size of images, music, animation and even videos, more needs to be done. </a:t>
            </a:r>
          </a:p>
          <a:p>
            <a:pPr marL="0" indent="0" algn="just">
              <a:buNone/>
            </a:pPr>
            <a:r>
              <a:rPr lang="en-ZA" sz="3300" dirty="0">
                <a:latin typeface="Arial Narrow" panose="020B0606020202030204" pitchFamily="34" charset="0"/>
              </a:rPr>
              <a:t>▪ Newer technologies need to be developed to enable pre-fetching or scheduled downloads. </a:t>
            </a:r>
          </a:p>
          <a:p>
            <a:pPr algn="just">
              <a:buFont typeface="Wingdings" panose="05000000000000000000" pitchFamily="2" charset="2"/>
              <a:buChar char="q"/>
            </a:pPr>
            <a:r>
              <a:rPr lang="en-ZA" sz="3300" dirty="0" smtClean="0">
                <a:latin typeface="Arial Narrow" panose="020B0606020202030204" pitchFamily="34" charset="0"/>
              </a:rPr>
              <a:t>Enabling </a:t>
            </a:r>
            <a:r>
              <a:rPr lang="en-ZA" sz="3300" dirty="0">
                <a:latin typeface="Arial Narrow" panose="020B0606020202030204" pitchFamily="34" charset="0"/>
              </a:rPr>
              <a:t>access to web services on large displays (1200x 1600 pixels or larger) and small mobile devices (640 x 480 and smaller). </a:t>
            </a:r>
            <a:endParaRPr lang="en-ZA" sz="3300" dirty="0" smtClean="0">
              <a:latin typeface="Arial Narrow" panose="020B0606020202030204" pitchFamily="34" charset="0"/>
            </a:endParaRPr>
          </a:p>
          <a:p>
            <a:pPr marL="0" indent="0" algn="just">
              <a:buNone/>
            </a:pPr>
            <a:r>
              <a:rPr lang="en-ZA" sz="3300" dirty="0" smtClean="0">
                <a:latin typeface="Arial Narrow" panose="020B0606020202030204" pitchFamily="34" charset="0"/>
              </a:rPr>
              <a:t>▪ </a:t>
            </a:r>
            <a:r>
              <a:rPr lang="en-ZA" sz="3300" dirty="0">
                <a:latin typeface="Arial Narrow" panose="020B0606020202030204" pitchFamily="34" charset="0"/>
              </a:rPr>
              <a:t>Designers need to design web pages for different display sizes to produce best quality - costly and time-consuming </a:t>
            </a:r>
          </a:p>
          <a:p>
            <a:pPr marL="0" indent="0" algn="just">
              <a:buNone/>
            </a:pPr>
            <a:r>
              <a:rPr lang="en-ZA" sz="3300" dirty="0">
                <a:latin typeface="Arial Narrow" panose="020B0606020202030204" pitchFamily="34" charset="0"/>
              </a:rPr>
              <a:t>▪ </a:t>
            </a:r>
            <a:r>
              <a:rPr lang="en-ZA" sz="3300" dirty="0" smtClean="0">
                <a:latin typeface="Arial Narrow" panose="020B0606020202030204" pitchFamily="34" charset="0"/>
              </a:rPr>
              <a:t>Newer </a:t>
            </a:r>
            <a:r>
              <a:rPr lang="en-ZA" sz="3300" dirty="0">
                <a:latin typeface="Arial Narrow" panose="020B0606020202030204" pitchFamily="34" charset="0"/>
              </a:rPr>
              <a:t>software tools needed to allow website designers to specify content in a way that enables automatic conversations for an increasing range of display sizes. </a:t>
            </a:r>
          </a:p>
          <a:p>
            <a:pPr algn="just">
              <a:buFont typeface="Wingdings" panose="05000000000000000000" pitchFamily="2" charset="2"/>
              <a:buChar char="q"/>
            </a:pPr>
            <a:r>
              <a:rPr lang="en-ZA" sz="3300" dirty="0" smtClean="0">
                <a:latin typeface="Arial Narrow" panose="020B0606020202030204" pitchFamily="34" charset="0"/>
              </a:rPr>
              <a:t>Supporting </a:t>
            </a:r>
            <a:r>
              <a:rPr lang="en-ZA" sz="3300" dirty="0">
                <a:latin typeface="Arial Narrow" panose="020B0606020202030204" pitchFamily="34" charset="0"/>
              </a:rPr>
              <a:t>easy maintenance of or automatic conversation to multiple languages. </a:t>
            </a:r>
            <a:endParaRPr lang="en-ZA" sz="3300" dirty="0" smtClean="0">
              <a:latin typeface="Arial Narrow" panose="020B0606020202030204" pitchFamily="34" charset="0"/>
            </a:endParaRPr>
          </a:p>
          <a:p>
            <a:pPr marL="0" indent="0" algn="just">
              <a:buNone/>
            </a:pPr>
            <a:r>
              <a:rPr lang="en-ZA" sz="3300" dirty="0" smtClean="0">
                <a:latin typeface="Arial Narrow" panose="020B0606020202030204" pitchFamily="34" charset="0"/>
              </a:rPr>
              <a:t>▪ </a:t>
            </a:r>
            <a:r>
              <a:rPr lang="en-ZA" sz="3300" dirty="0">
                <a:latin typeface="Arial Narrow" panose="020B0606020202030204" pitchFamily="34" charset="0"/>
              </a:rPr>
              <a:t>Commercial companies can expand markets if provide access in multiple languages and across various countries. </a:t>
            </a:r>
          </a:p>
          <a:p>
            <a:pPr algn="just"/>
            <a:endParaRPr lang="en-ZA" sz="2900" dirty="0">
              <a:latin typeface="Arial Narrow" panose="020B0606020202030204" pitchFamily="34" charset="0"/>
            </a:endParaRPr>
          </a:p>
          <a:p>
            <a:pPr marL="0" indent="0">
              <a:buNone/>
            </a:pPr>
            <a:endParaRPr lang="en-ZA" sz="2000" b="1" dirty="0">
              <a:latin typeface="Arial Narrow" panose="020B0606020202030204" pitchFamily="34" charset="0"/>
            </a:endParaRPr>
          </a:p>
        </p:txBody>
      </p:sp>
      <p:sp>
        <p:nvSpPr>
          <p:cNvPr id="4" name="Content Placeholder 3"/>
          <p:cNvSpPr>
            <a:spLocks noGrp="1"/>
          </p:cNvSpPr>
          <p:nvPr>
            <p:ph sz="half" idx="2"/>
          </p:nvPr>
        </p:nvSpPr>
        <p:spPr>
          <a:xfrm>
            <a:off x="6172200" y="269966"/>
            <a:ext cx="5593080" cy="5906997"/>
          </a:xfrm>
        </p:spPr>
        <p:txBody>
          <a:bodyPr>
            <a:normAutofit fontScale="55000" lnSpcReduction="20000"/>
          </a:bodyPr>
          <a:lstStyle/>
          <a:p>
            <a:pPr marL="0" indent="0" algn="just">
              <a:buNone/>
            </a:pPr>
            <a:r>
              <a:rPr lang="en-ZA" sz="3200" b="1" dirty="0" smtClean="0">
                <a:latin typeface="Arial Narrow" panose="020B0606020202030204" pitchFamily="34" charset="0"/>
              </a:rPr>
              <a:t>  DENITIONS </a:t>
            </a:r>
            <a:r>
              <a:rPr lang="en-ZA" sz="3200" b="1" dirty="0">
                <a:latin typeface="Arial Narrow" panose="020B0606020202030204" pitchFamily="34" charset="0"/>
              </a:rPr>
              <a:t>OF HCI </a:t>
            </a:r>
            <a:r>
              <a:rPr lang="en-ZA" sz="3200" b="1" dirty="0" smtClean="0">
                <a:latin typeface="Arial Narrow" panose="020B0606020202030204" pitchFamily="34" charset="0"/>
              </a:rPr>
              <a:t>(pg.16)</a:t>
            </a:r>
          </a:p>
          <a:p>
            <a:pPr marL="0" indent="0" algn="just">
              <a:buNone/>
            </a:pPr>
            <a:endParaRPr lang="en-ZA" sz="3200" b="1" dirty="0">
              <a:latin typeface="Arial Narrow" panose="020B0606020202030204" pitchFamily="34" charset="0"/>
            </a:endParaRPr>
          </a:p>
          <a:p>
            <a:pPr algn="just"/>
            <a:r>
              <a:rPr lang="en-ZA" sz="3200" dirty="0" smtClean="0">
                <a:latin typeface="Arial Narrow" panose="020B0606020202030204" pitchFamily="34" charset="0"/>
              </a:rPr>
              <a:t>A </a:t>
            </a:r>
            <a:r>
              <a:rPr lang="en-ZA" sz="3200" dirty="0">
                <a:latin typeface="Arial Narrow" panose="020B0606020202030204" pitchFamily="34" charset="0"/>
              </a:rPr>
              <a:t>‘set of processes, dialogues, and actions through which a human user employs and interacts with a computer’ (</a:t>
            </a:r>
            <a:r>
              <a:rPr lang="en-ZA" sz="3200" dirty="0" err="1">
                <a:latin typeface="Arial Narrow" panose="020B0606020202030204" pitchFamily="34" charset="0"/>
              </a:rPr>
              <a:t>Baecker</a:t>
            </a:r>
            <a:r>
              <a:rPr lang="en-ZA" sz="3200" dirty="0">
                <a:latin typeface="Arial Narrow" panose="020B0606020202030204" pitchFamily="34" charset="0"/>
              </a:rPr>
              <a:t> and Buxton, 1987) </a:t>
            </a:r>
          </a:p>
          <a:p>
            <a:pPr algn="just"/>
            <a:r>
              <a:rPr lang="en-ZA" sz="3200" dirty="0" smtClean="0">
                <a:latin typeface="Arial Narrow" panose="020B0606020202030204" pitchFamily="34" charset="0"/>
              </a:rPr>
              <a:t>A </a:t>
            </a:r>
            <a:r>
              <a:rPr lang="en-ZA" sz="3200" dirty="0">
                <a:latin typeface="Arial Narrow" panose="020B0606020202030204" pitchFamily="34" charset="0"/>
              </a:rPr>
              <a:t>‘discipline concerned with the design, evaluation, and implementation of interactive computing systems for human use and with the study of major phenomena surrounding them. Focus is on interaction between one or more </a:t>
            </a:r>
            <a:r>
              <a:rPr lang="en-ZA" sz="3200" i="1" dirty="0">
                <a:latin typeface="Arial Narrow" panose="020B0606020202030204" pitchFamily="34" charset="0"/>
              </a:rPr>
              <a:t>humans </a:t>
            </a:r>
            <a:r>
              <a:rPr lang="en-ZA" sz="3200" dirty="0">
                <a:latin typeface="Arial Narrow" panose="020B0606020202030204" pitchFamily="34" charset="0"/>
              </a:rPr>
              <a:t>and one or more </a:t>
            </a:r>
            <a:r>
              <a:rPr lang="en-ZA" sz="3200" i="1" dirty="0">
                <a:latin typeface="Arial Narrow" panose="020B0606020202030204" pitchFamily="34" charset="0"/>
              </a:rPr>
              <a:t>computational machines</a:t>
            </a:r>
            <a:r>
              <a:rPr lang="en-ZA" sz="3200" dirty="0">
                <a:latin typeface="Arial Narrow" panose="020B0606020202030204" pitchFamily="34" charset="0"/>
              </a:rPr>
              <a:t>. o Direct interaction involves dialogue with feedback &amp; control during performance of the task. </a:t>
            </a:r>
          </a:p>
          <a:p>
            <a:pPr algn="just"/>
            <a:r>
              <a:rPr lang="en-ZA" sz="3200" dirty="0" smtClean="0">
                <a:latin typeface="Arial Narrow" panose="020B0606020202030204" pitchFamily="34" charset="0"/>
              </a:rPr>
              <a:t>Indirect </a:t>
            </a:r>
            <a:r>
              <a:rPr lang="en-ZA" sz="3200" dirty="0">
                <a:latin typeface="Arial Narrow" panose="020B0606020202030204" pitchFamily="34" charset="0"/>
              </a:rPr>
              <a:t>interaction involves background / batch processing. </a:t>
            </a:r>
          </a:p>
          <a:p>
            <a:pPr algn="just"/>
            <a:r>
              <a:rPr lang="en-ZA" sz="3200" dirty="0" smtClean="0">
                <a:latin typeface="Arial Narrow" panose="020B0606020202030204" pitchFamily="34" charset="0"/>
              </a:rPr>
              <a:t>HCI </a:t>
            </a:r>
            <a:r>
              <a:rPr lang="en-ZA" sz="3200" dirty="0">
                <a:latin typeface="Arial Narrow" panose="020B0606020202030204" pitchFamily="34" charset="0"/>
              </a:rPr>
              <a:t>is the study of people, computer technology and the ways these influence each other. ‘Human’ user = whoever is trying to do something using the technology (individuals, groups…) ‘Computer’ = any technology (general / embedded computers, process control systems… ‘Interaction’ = any communication between a user and the computer. </a:t>
            </a:r>
          </a:p>
          <a:p>
            <a:pPr algn="just"/>
            <a:r>
              <a:rPr lang="en-ZA" sz="3200" dirty="0" smtClean="0">
                <a:latin typeface="Arial Narrow" panose="020B0606020202030204" pitchFamily="34" charset="0"/>
              </a:rPr>
              <a:t>HCI </a:t>
            </a:r>
            <a:r>
              <a:rPr lang="en-ZA" sz="3200" dirty="0">
                <a:latin typeface="Arial Narrow" panose="020B0606020202030204" pitchFamily="34" charset="0"/>
              </a:rPr>
              <a:t>is concerned with studying and improving the many factors that influence the effectiveness and efficiency of computer use It combines techniques from psychology, sociology, physiology, engineering, computer science, and linguistics. </a:t>
            </a:r>
          </a:p>
          <a:p>
            <a:pPr marL="0" indent="0">
              <a:buNone/>
            </a:pPr>
            <a:endParaRPr lang="en-ZA" dirty="0"/>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462165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3509" y="174171"/>
            <a:ext cx="11512731" cy="6002792"/>
          </a:xfrm>
        </p:spPr>
        <p:txBody>
          <a:bodyPr>
            <a:noAutofit/>
          </a:bodyPr>
          <a:lstStyle/>
          <a:p>
            <a:pPr marL="0" indent="0">
              <a:lnSpc>
                <a:spcPct val="100000"/>
              </a:lnSpc>
              <a:buNone/>
            </a:pPr>
            <a:r>
              <a:rPr lang="en-ZA" sz="1800" dirty="0" smtClean="0">
                <a:latin typeface="Arial Narrow" panose="020B0606020202030204" pitchFamily="34" charset="0"/>
              </a:rPr>
              <a:t>Several </a:t>
            </a:r>
            <a:r>
              <a:rPr lang="en-ZA" sz="1800" dirty="0">
                <a:latin typeface="Arial Narrow" panose="020B0606020202030204" pitchFamily="34" charset="0"/>
              </a:rPr>
              <a:t>other terms and fields of study that has a strong connection with HCI </a:t>
            </a:r>
          </a:p>
          <a:p>
            <a:pPr>
              <a:lnSpc>
                <a:spcPct val="100000"/>
              </a:lnSpc>
              <a:buFont typeface="Wingdings" panose="05000000000000000000" pitchFamily="2" charset="2"/>
              <a:buChar char="q"/>
            </a:pPr>
            <a:r>
              <a:rPr lang="en-ZA" sz="1800" b="1" dirty="0">
                <a:latin typeface="Arial Narrow" panose="020B0606020202030204" pitchFamily="34" charset="0"/>
              </a:rPr>
              <a:t>Ergonomics</a:t>
            </a:r>
            <a:r>
              <a:rPr lang="en-ZA" sz="1800" dirty="0">
                <a:latin typeface="Arial Narrow" panose="020B0606020202030204" pitchFamily="34" charset="0"/>
              </a:rPr>
              <a:t> • </a:t>
            </a:r>
            <a:r>
              <a:rPr lang="en-ZA" sz="1800" dirty="0" smtClean="0">
                <a:latin typeface="Arial Narrow" panose="020B0606020202030204" pitchFamily="34" charset="0"/>
              </a:rPr>
              <a:t>is the </a:t>
            </a:r>
            <a:r>
              <a:rPr lang="en-ZA" sz="1800" dirty="0">
                <a:latin typeface="Arial Narrow" panose="020B0606020202030204" pitchFamily="34" charset="0"/>
              </a:rPr>
              <a:t>study of work </a:t>
            </a:r>
          </a:p>
          <a:p>
            <a:pPr>
              <a:lnSpc>
                <a:spcPct val="100000"/>
              </a:lnSpc>
            </a:pPr>
            <a:r>
              <a:rPr lang="en-ZA" sz="1800" dirty="0" smtClean="0">
                <a:latin typeface="Arial Narrow" panose="020B0606020202030204" pitchFamily="34" charset="0"/>
              </a:rPr>
              <a:t>Traditionally </a:t>
            </a:r>
            <a:r>
              <a:rPr lang="en-ZA" sz="1800" dirty="0">
                <a:latin typeface="Arial Narrow" panose="020B0606020202030204" pitchFamily="34" charset="0"/>
              </a:rPr>
              <a:t>involved the design of the “total working environment” such as the height of a chair and desk </a:t>
            </a:r>
          </a:p>
          <a:p>
            <a:pPr>
              <a:lnSpc>
                <a:spcPct val="100000"/>
              </a:lnSpc>
            </a:pPr>
            <a:r>
              <a:rPr lang="en-ZA" sz="1800" dirty="0" smtClean="0">
                <a:latin typeface="Arial Narrow" panose="020B0606020202030204" pitchFamily="34" charset="0"/>
              </a:rPr>
              <a:t>To </a:t>
            </a:r>
            <a:r>
              <a:rPr lang="en-ZA" sz="1800" dirty="0">
                <a:latin typeface="Arial Narrow" panose="020B0606020202030204" pitchFamily="34" charset="0"/>
              </a:rPr>
              <a:t>design effective user interfaces - consider wider working practices. </a:t>
            </a:r>
          </a:p>
          <a:p>
            <a:pPr>
              <a:lnSpc>
                <a:spcPct val="100000"/>
              </a:lnSpc>
              <a:buFont typeface="Wingdings" panose="05000000000000000000" pitchFamily="2" charset="2"/>
              <a:buChar char="q"/>
            </a:pPr>
            <a:r>
              <a:rPr lang="en-ZA" sz="1800" b="1" dirty="0" smtClean="0">
                <a:latin typeface="Arial Narrow" panose="020B0606020202030204" pitchFamily="34" charset="0"/>
              </a:rPr>
              <a:t>Human </a:t>
            </a:r>
            <a:r>
              <a:rPr lang="en-ZA" sz="1800" b="1" dirty="0">
                <a:latin typeface="Arial Narrow" panose="020B0606020202030204" pitchFamily="34" charset="0"/>
              </a:rPr>
              <a:t>factors </a:t>
            </a:r>
            <a:r>
              <a:rPr lang="en-ZA" sz="1800" dirty="0">
                <a:latin typeface="Arial Narrow" panose="020B0606020202030204" pitchFamily="34" charset="0"/>
              </a:rPr>
              <a:t>• Describe study of user interfaces in their working context. </a:t>
            </a:r>
          </a:p>
          <a:p>
            <a:pPr marL="0" indent="0">
              <a:lnSpc>
                <a:spcPct val="100000"/>
              </a:lnSpc>
              <a:buNone/>
            </a:pPr>
            <a:r>
              <a:rPr lang="en-ZA" sz="1800" dirty="0">
                <a:latin typeface="Arial Narrow" panose="020B0606020202030204" pitchFamily="34" charset="0"/>
              </a:rPr>
              <a:t>• Often used to refer to HCI in context of safety-critical applications </a:t>
            </a:r>
          </a:p>
          <a:p>
            <a:pPr lvl="1">
              <a:lnSpc>
                <a:spcPct val="100000"/>
              </a:lnSpc>
            </a:pPr>
            <a:r>
              <a:rPr lang="en-ZA" sz="1800" dirty="0" smtClean="0">
                <a:latin typeface="Arial Narrow" panose="020B0606020202030204" pitchFamily="34" charset="0"/>
              </a:rPr>
              <a:t> </a:t>
            </a:r>
            <a:r>
              <a:rPr lang="en-ZA" sz="1800" dirty="0">
                <a:latin typeface="Arial Narrow" panose="020B0606020202030204" pitchFamily="34" charset="0"/>
              </a:rPr>
              <a:t>Addresses the entire person and includes: o Physiology ▪ Physical characteristics such as height and reach </a:t>
            </a:r>
          </a:p>
          <a:p>
            <a:pPr lvl="1">
              <a:lnSpc>
                <a:spcPct val="100000"/>
              </a:lnSpc>
            </a:pPr>
            <a:r>
              <a:rPr lang="en-ZA" sz="1800" dirty="0" smtClean="0">
                <a:latin typeface="Arial Narrow" panose="020B0606020202030204" pitchFamily="34" charset="0"/>
              </a:rPr>
              <a:t>Perception </a:t>
            </a:r>
            <a:r>
              <a:rPr lang="en-ZA" sz="1800" dirty="0">
                <a:latin typeface="Arial Narrow" panose="020B0606020202030204" pitchFamily="34" charset="0"/>
              </a:rPr>
              <a:t>▪ Ability to sense information - hearing, touching, seeing </a:t>
            </a:r>
          </a:p>
          <a:p>
            <a:pPr lvl="1">
              <a:lnSpc>
                <a:spcPct val="100000"/>
              </a:lnSpc>
            </a:pPr>
            <a:r>
              <a:rPr lang="en-ZA" sz="1800" dirty="0" smtClean="0">
                <a:latin typeface="Arial Narrow" panose="020B0606020202030204" pitchFamily="34" charset="0"/>
              </a:rPr>
              <a:t> </a:t>
            </a:r>
            <a:r>
              <a:rPr lang="en-ZA" sz="1800" dirty="0">
                <a:latin typeface="Arial Narrow" panose="020B0606020202030204" pitchFamily="34" charset="0"/>
              </a:rPr>
              <a:t>Cognition ▪ Way we process data such as information </a:t>
            </a:r>
          </a:p>
          <a:p>
            <a:pPr>
              <a:lnSpc>
                <a:spcPct val="100000"/>
              </a:lnSpc>
              <a:buFont typeface="Wingdings" panose="05000000000000000000" pitchFamily="2" charset="2"/>
              <a:buChar char="q"/>
            </a:pPr>
            <a:r>
              <a:rPr lang="en-ZA" sz="1800" b="1" dirty="0" smtClean="0">
                <a:latin typeface="Arial Narrow" panose="020B0606020202030204" pitchFamily="34" charset="0"/>
              </a:rPr>
              <a:t>Usability </a:t>
            </a:r>
          </a:p>
          <a:p>
            <a:pPr marL="0" indent="0">
              <a:lnSpc>
                <a:spcPct val="100000"/>
              </a:lnSpc>
              <a:buNone/>
            </a:pPr>
            <a:r>
              <a:rPr lang="en-ZA" sz="1800" dirty="0" smtClean="0">
                <a:latin typeface="Arial Narrow" panose="020B0606020202030204" pitchFamily="34" charset="0"/>
              </a:rPr>
              <a:t>• </a:t>
            </a:r>
            <a:r>
              <a:rPr lang="en-ZA" sz="1800" dirty="0">
                <a:latin typeface="Arial Narrow" panose="020B0606020202030204" pitchFamily="34" charset="0"/>
              </a:rPr>
              <a:t>International Standards Organisation (ISO) </a:t>
            </a:r>
            <a:r>
              <a:rPr lang="en-ZA" sz="1800" dirty="0" smtClean="0">
                <a:latin typeface="Arial Narrow" panose="020B0606020202030204" pitchFamily="34" charset="0"/>
              </a:rPr>
              <a:t>“Extent </a:t>
            </a:r>
            <a:r>
              <a:rPr lang="en-ZA" sz="1800" dirty="0">
                <a:latin typeface="Arial Narrow" panose="020B0606020202030204" pitchFamily="34" charset="0"/>
              </a:rPr>
              <a:t>to which a product can be used by specified users to achieve specified goals with effectiveness, efficiency and satisfaction in a specified context of use”. </a:t>
            </a:r>
          </a:p>
          <a:p>
            <a:pPr lvl="1">
              <a:lnSpc>
                <a:spcPct val="100000"/>
              </a:lnSpc>
            </a:pPr>
            <a:r>
              <a:rPr lang="en-ZA" sz="1800" dirty="0" smtClean="0">
                <a:latin typeface="Arial Narrow" panose="020B0606020202030204" pitchFamily="34" charset="0"/>
              </a:rPr>
              <a:t>The </a:t>
            </a:r>
            <a:r>
              <a:rPr lang="en-ZA" sz="1800" dirty="0">
                <a:latin typeface="Arial Narrow" panose="020B0606020202030204" pitchFamily="34" charset="0"/>
              </a:rPr>
              <a:t>ISO standard 9241 component definitions: </a:t>
            </a:r>
            <a:endParaRPr lang="en-ZA" sz="1800" dirty="0" smtClean="0">
              <a:latin typeface="Arial Narrow" panose="020B0606020202030204" pitchFamily="34" charset="0"/>
            </a:endParaRPr>
          </a:p>
          <a:p>
            <a:pPr lvl="1">
              <a:lnSpc>
                <a:spcPct val="100000"/>
              </a:lnSpc>
            </a:pPr>
            <a:r>
              <a:rPr lang="en-ZA" sz="1800" dirty="0" smtClean="0">
                <a:latin typeface="Arial Narrow" panose="020B0606020202030204" pitchFamily="34" charset="0"/>
              </a:rPr>
              <a:t>Effectiveness </a:t>
            </a:r>
            <a:r>
              <a:rPr lang="en-ZA" sz="1800" dirty="0">
                <a:latin typeface="Arial Narrow" panose="020B0606020202030204" pitchFamily="34" charset="0"/>
              </a:rPr>
              <a:t>▪ The accuracy and completeness with which specified users can achieve specified goals in particular environments. </a:t>
            </a:r>
          </a:p>
          <a:p>
            <a:pPr lvl="1">
              <a:lnSpc>
                <a:spcPct val="100000"/>
              </a:lnSpc>
            </a:pPr>
            <a:r>
              <a:rPr lang="en-ZA" sz="1800" dirty="0" smtClean="0">
                <a:latin typeface="Arial Narrow" panose="020B0606020202030204" pitchFamily="34" charset="0"/>
              </a:rPr>
              <a:t>Efficiency </a:t>
            </a:r>
            <a:r>
              <a:rPr lang="en-ZA" sz="1800" dirty="0">
                <a:latin typeface="Arial Narrow" panose="020B0606020202030204" pitchFamily="34" charset="0"/>
              </a:rPr>
              <a:t>▪ The resources expended in relation to the accuracy and completeness of goals achieved. </a:t>
            </a:r>
          </a:p>
          <a:p>
            <a:pPr lvl="1">
              <a:lnSpc>
                <a:spcPct val="100000"/>
              </a:lnSpc>
            </a:pPr>
            <a:r>
              <a:rPr lang="en-ZA" sz="1800" dirty="0" smtClean="0">
                <a:latin typeface="Arial Narrow" panose="020B0606020202030204" pitchFamily="34" charset="0"/>
              </a:rPr>
              <a:t>Satisfaction </a:t>
            </a:r>
            <a:r>
              <a:rPr lang="en-ZA" sz="1800" dirty="0">
                <a:latin typeface="Arial Narrow" panose="020B0606020202030204" pitchFamily="34" charset="0"/>
              </a:rPr>
              <a:t>▪ The comfort and acceptability of the work system to its users and other people affected by its use. </a:t>
            </a:r>
          </a:p>
          <a:p>
            <a:pPr lvl="1">
              <a:lnSpc>
                <a:spcPct val="100000"/>
              </a:lnSpc>
            </a:pPr>
            <a:endParaRPr lang="en-ZA" sz="1600"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1166237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3177"/>
            <a:ext cx="10515600" cy="5793786"/>
          </a:xfrm>
        </p:spPr>
        <p:txBody>
          <a:bodyPr>
            <a:normAutofit fontScale="70000" lnSpcReduction="20000"/>
          </a:bodyPr>
          <a:lstStyle/>
          <a:p>
            <a:pPr>
              <a:buFont typeface="Wingdings" panose="05000000000000000000" pitchFamily="2" charset="2"/>
              <a:buChar char="q"/>
            </a:pPr>
            <a:r>
              <a:rPr lang="en-ZA" b="1" dirty="0" smtClean="0">
                <a:latin typeface="Arial Narrow" panose="020B0606020202030204" pitchFamily="34" charset="0"/>
              </a:rPr>
              <a:t>User </a:t>
            </a:r>
            <a:r>
              <a:rPr lang="en-ZA" b="1" dirty="0">
                <a:latin typeface="Arial Narrow" panose="020B0606020202030204" pitchFamily="34" charset="0"/>
              </a:rPr>
              <a:t>experience </a:t>
            </a:r>
            <a:r>
              <a:rPr lang="en-ZA" dirty="0">
                <a:latin typeface="Arial Narrow" panose="020B0606020202030204" pitchFamily="34" charset="0"/>
              </a:rPr>
              <a:t>-</a:t>
            </a:r>
            <a:r>
              <a:rPr lang="en-ZA" dirty="0" smtClean="0">
                <a:latin typeface="Arial Narrow" panose="020B0606020202030204" pitchFamily="34" charset="0"/>
              </a:rPr>
              <a:t>Refers </a:t>
            </a:r>
            <a:r>
              <a:rPr lang="en-ZA" dirty="0">
                <a:latin typeface="Arial Narrow" panose="020B0606020202030204" pitchFamily="34" charset="0"/>
              </a:rPr>
              <a:t>to how people feel about a product. </a:t>
            </a:r>
          </a:p>
          <a:p>
            <a:r>
              <a:rPr lang="en-ZA" dirty="0" smtClean="0">
                <a:latin typeface="Arial Narrow" panose="020B0606020202030204" pitchFamily="34" charset="0"/>
              </a:rPr>
              <a:t>How </a:t>
            </a:r>
            <a:r>
              <a:rPr lang="en-ZA" dirty="0">
                <a:latin typeface="Arial Narrow" panose="020B0606020202030204" pitchFamily="34" charset="0"/>
              </a:rPr>
              <a:t>satisfied are they when using it, looking at it, or handling it? </a:t>
            </a:r>
          </a:p>
          <a:p>
            <a:r>
              <a:rPr lang="en-ZA" dirty="0" smtClean="0">
                <a:latin typeface="Arial Narrow" panose="020B0606020202030204" pitchFamily="34" charset="0"/>
              </a:rPr>
              <a:t> </a:t>
            </a:r>
            <a:r>
              <a:rPr lang="en-ZA" dirty="0">
                <a:latin typeface="Arial Narrow" panose="020B0606020202030204" pitchFamily="34" charset="0"/>
              </a:rPr>
              <a:t>Includes overall impression and how good it feels to touch. </a:t>
            </a:r>
          </a:p>
          <a:p>
            <a:r>
              <a:rPr lang="en-ZA" dirty="0" smtClean="0">
                <a:latin typeface="Arial Narrow" panose="020B0606020202030204" pitchFamily="34" charset="0"/>
              </a:rPr>
              <a:t>“</a:t>
            </a:r>
            <a:r>
              <a:rPr lang="en-ZA" dirty="0">
                <a:latin typeface="Arial Narrow" panose="020B0606020202030204" pitchFamily="34" charset="0"/>
              </a:rPr>
              <a:t>You cannot design a user experience; you can only design for user experience” </a:t>
            </a:r>
          </a:p>
          <a:p>
            <a:pPr>
              <a:buFont typeface="Wingdings" panose="05000000000000000000" pitchFamily="2" charset="2"/>
              <a:buChar char="q"/>
            </a:pPr>
            <a:r>
              <a:rPr lang="en-ZA" b="1" dirty="0" smtClean="0">
                <a:latin typeface="Arial Narrow" panose="020B0606020202030204" pitchFamily="34" charset="0"/>
              </a:rPr>
              <a:t>Interaction </a:t>
            </a:r>
            <a:r>
              <a:rPr lang="en-ZA" b="1" dirty="0">
                <a:latin typeface="Arial Narrow" panose="020B0606020202030204" pitchFamily="34" charset="0"/>
              </a:rPr>
              <a:t>design </a:t>
            </a:r>
            <a:r>
              <a:rPr lang="en-ZA" b="1" dirty="0" smtClean="0">
                <a:latin typeface="Arial Narrow" panose="020B0606020202030204" pitchFamily="34" charset="0"/>
              </a:rPr>
              <a:t>-</a:t>
            </a:r>
            <a:r>
              <a:rPr lang="en-ZA" dirty="0" smtClean="0">
                <a:latin typeface="Arial Narrow" panose="020B0606020202030204" pitchFamily="34" charset="0"/>
              </a:rPr>
              <a:t>“</a:t>
            </a:r>
            <a:r>
              <a:rPr lang="en-ZA" dirty="0">
                <a:latin typeface="Arial Narrow" panose="020B0606020202030204" pitchFamily="34" charset="0"/>
              </a:rPr>
              <a:t>Designing interactive products to support the way people communicate and interact in their everyday and working lives”. </a:t>
            </a:r>
          </a:p>
          <a:p>
            <a:r>
              <a:rPr lang="en-ZA" dirty="0" smtClean="0">
                <a:latin typeface="Arial Narrow" panose="020B0606020202030204" pitchFamily="34" charset="0"/>
              </a:rPr>
              <a:t>Involves </a:t>
            </a:r>
            <a:r>
              <a:rPr lang="en-ZA" dirty="0">
                <a:latin typeface="Arial Narrow" panose="020B0606020202030204" pitchFamily="34" charset="0"/>
              </a:rPr>
              <a:t>four activities, namely: </a:t>
            </a:r>
            <a:endParaRPr lang="en-ZA" dirty="0" smtClean="0">
              <a:latin typeface="Arial Narrow" panose="020B0606020202030204" pitchFamily="34" charset="0"/>
            </a:endParaRPr>
          </a:p>
          <a:p>
            <a:r>
              <a:rPr lang="en-ZA" dirty="0" smtClean="0">
                <a:latin typeface="Arial Narrow" panose="020B0606020202030204" pitchFamily="34" charset="0"/>
              </a:rPr>
              <a:t>Identifying </a:t>
            </a:r>
            <a:r>
              <a:rPr lang="en-ZA" dirty="0">
                <a:latin typeface="Arial Narrow" panose="020B0606020202030204" pitchFamily="34" charset="0"/>
              </a:rPr>
              <a:t>needs and establishing user requirements </a:t>
            </a:r>
          </a:p>
          <a:p>
            <a:r>
              <a:rPr lang="en-ZA" dirty="0" smtClean="0">
                <a:latin typeface="Arial Narrow" panose="020B0606020202030204" pitchFamily="34" charset="0"/>
              </a:rPr>
              <a:t>Developing </a:t>
            </a:r>
            <a:r>
              <a:rPr lang="en-ZA" dirty="0">
                <a:latin typeface="Arial Narrow" panose="020B0606020202030204" pitchFamily="34" charset="0"/>
              </a:rPr>
              <a:t>alternative designs according to the requirements </a:t>
            </a:r>
          </a:p>
          <a:p>
            <a:r>
              <a:rPr lang="en-ZA" dirty="0" smtClean="0">
                <a:latin typeface="Arial Narrow" panose="020B0606020202030204" pitchFamily="34" charset="0"/>
              </a:rPr>
              <a:t>Building </a:t>
            </a:r>
            <a:r>
              <a:rPr lang="en-ZA" dirty="0">
                <a:latin typeface="Arial Narrow" panose="020B0606020202030204" pitchFamily="34" charset="0"/>
              </a:rPr>
              <a:t>prototypes of designs so they can be assessed </a:t>
            </a:r>
          </a:p>
          <a:p>
            <a:r>
              <a:rPr lang="en-ZA" dirty="0" smtClean="0">
                <a:latin typeface="Arial Narrow" panose="020B0606020202030204" pitchFamily="34" charset="0"/>
              </a:rPr>
              <a:t>Evaluating </a:t>
            </a:r>
            <a:r>
              <a:rPr lang="en-ZA" dirty="0">
                <a:latin typeface="Arial Narrow" panose="020B0606020202030204" pitchFamily="34" charset="0"/>
              </a:rPr>
              <a:t>the designs and the user experience </a:t>
            </a:r>
          </a:p>
          <a:p>
            <a:pPr>
              <a:buFont typeface="Wingdings" panose="05000000000000000000" pitchFamily="2" charset="2"/>
              <a:buChar char="q"/>
            </a:pPr>
            <a:r>
              <a:rPr lang="en-ZA" b="1" dirty="0" smtClean="0">
                <a:latin typeface="Arial Narrow" panose="020B0606020202030204" pitchFamily="34" charset="0"/>
              </a:rPr>
              <a:t>Accessibility </a:t>
            </a:r>
            <a:r>
              <a:rPr lang="en-ZA" dirty="0" smtClean="0">
                <a:latin typeface="Arial Narrow" panose="020B0606020202030204" pitchFamily="34" charset="0"/>
              </a:rPr>
              <a:t> -Designing </a:t>
            </a:r>
            <a:r>
              <a:rPr lang="en-ZA" dirty="0">
                <a:latin typeface="Arial Narrow" panose="020B0606020202030204" pitchFamily="34" charset="0"/>
              </a:rPr>
              <a:t>products so that people with disabilities can use them. </a:t>
            </a:r>
          </a:p>
          <a:p>
            <a:r>
              <a:rPr lang="en-ZA" dirty="0" smtClean="0">
                <a:latin typeface="Arial Narrow" panose="020B0606020202030204" pitchFamily="34" charset="0"/>
              </a:rPr>
              <a:t> </a:t>
            </a:r>
            <a:r>
              <a:rPr lang="en-ZA" dirty="0">
                <a:latin typeface="Arial Narrow" panose="020B0606020202030204" pitchFamily="34" charset="0"/>
              </a:rPr>
              <a:t>Makes user interfaces perceivable, operable, and understandable by people with a wide range of abilities and people in a wide range of circumstances, environments, and conditions. </a:t>
            </a:r>
          </a:p>
          <a:p>
            <a:r>
              <a:rPr lang="en-ZA" dirty="0" smtClean="0">
                <a:latin typeface="Arial Narrow" panose="020B0606020202030204" pitchFamily="34" charset="0"/>
              </a:rPr>
              <a:t>Also </a:t>
            </a:r>
            <a:r>
              <a:rPr lang="en-ZA" dirty="0">
                <a:latin typeface="Arial Narrow" panose="020B0606020202030204" pitchFamily="34" charset="0"/>
              </a:rPr>
              <a:t>benefits people without disabilities, and organizations that develop accessible products </a:t>
            </a:r>
          </a:p>
          <a:p>
            <a:r>
              <a:rPr lang="en-ZA" dirty="0" smtClean="0">
                <a:latin typeface="Arial Narrow" panose="020B0606020202030204" pitchFamily="34" charset="0"/>
              </a:rPr>
              <a:t>Some </a:t>
            </a:r>
            <a:r>
              <a:rPr lang="en-ZA" dirty="0">
                <a:latin typeface="Arial Narrow" panose="020B0606020202030204" pitchFamily="34" charset="0"/>
              </a:rPr>
              <a:t>people see accessibility as a subset of usability </a:t>
            </a:r>
          </a:p>
          <a:p>
            <a:r>
              <a:rPr lang="en-ZA" dirty="0">
                <a:latin typeface="Arial Narrow" panose="020B0606020202030204" pitchFamily="34" charset="0"/>
              </a:rPr>
              <a:t>Others, regard it is a prerequisite for usability. </a:t>
            </a:r>
          </a:p>
          <a:p>
            <a:endParaRPr lang="en-ZA" dirty="0"/>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19234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554" y="269966"/>
            <a:ext cx="10892246" cy="5895703"/>
          </a:xfrm>
        </p:spPr>
        <p:txBody>
          <a:bodyPr>
            <a:normAutofit fontScale="92500" lnSpcReduction="20000"/>
          </a:bodyPr>
          <a:lstStyle/>
          <a:p>
            <a:pPr marL="0" indent="0">
              <a:buNone/>
            </a:pPr>
            <a:r>
              <a:rPr lang="en-ZA" sz="2200" b="1" dirty="0" smtClean="0">
                <a:latin typeface="Arial Narrow" panose="020B0606020202030204" pitchFamily="34" charset="0"/>
              </a:rPr>
              <a:t> WHO </a:t>
            </a:r>
            <a:r>
              <a:rPr lang="en-ZA" sz="2200" b="1" dirty="0">
                <a:latin typeface="Arial Narrow" panose="020B0606020202030204" pitchFamily="34" charset="0"/>
              </a:rPr>
              <a:t>IS INVOLVED IN HCI </a:t>
            </a:r>
            <a:r>
              <a:rPr lang="en-ZA" sz="2200" b="1" dirty="0" smtClean="0">
                <a:latin typeface="Arial Narrow" panose="020B0606020202030204" pitchFamily="34" charset="0"/>
              </a:rPr>
              <a:t>? </a:t>
            </a:r>
          </a:p>
          <a:p>
            <a:pPr marL="0" indent="0">
              <a:buNone/>
            </a:pPr>
            <a:r>
              <a:rPr lang="en-ZA" sz="2000" b="1" dirty="0" smtClean="0">
                <a:latin typeface="Arial Narrow" panose="020B0606020202030204" pitchFamily="34" charset="0"/>
              </a:rPr>
              <a:t>HCI </a:t>
            </a:r>
            <a:r>
              <a:rPr lang="en-ZA" sz="2000" b="1" dirty="0">
                <a:latin typeface="Arial Narrow" panose="020B0606020202030204" pitchFamily="34" charset="0"/>
              </a:rPr>
              <a:t>is a multidisciplinary or interdisciplinary field of study. </a:t>
            </a:r>
            <a:endParaRPr lang="en-ZA" sz="2000" b="1" dirty="0" smtClean="0">
              <a:latin typeface="Arial Narrow" panose="020B0606020202030204" pitchFamily="34" charset="0"/>
            </a:endParaRPr>
          </a:p>
          <a:p>
            <a:pPr marL="0" indent="0">
              <a:buNone/>
            </a:pPr>
            <a:endParaRPr lang="en-ZA" sz="2200" dirty="0" smtClean="0">
              <a:latin typeface="Arial Narrow" panose="020B0606020202030204" pitchFamily="34" charset="0"/>
            </a:endParaRPr>
          </a:p>
          <a:p>
            <a:pPr marL="0" indent="0">
              <a:buNone/>
            </a:pPr>
            <a:r>
              <a:rPr lang="en-ZA" sz="2200" dirty="0" smtClean="0">
                <a:latin typeface="Arial Narrow" panose="020B0606020202030204" pitchFamily="34" charset="0"/>
              </a:rPr>
              <a:t>The </a:t>
            </a:r>
            <a:r>
              <a:rPr lang="en-ZA" sz="2200" dirty="0">
                <a:latin typeface="Arial Narrow" panose="020B0606020202030204" pitchFamily="34" charset="0"/>
              </a:rPr>
              <a:t>ideal designer of interactive systems should have expertise in a variety of topics: </a:t>
            </a:r>
            <a:endParaRPr lang="en-ZA" sz="2200" dirty="0" smtClean="0">
              <a:latin typeface="Arial Narrow" panose="020B0606020202030204" pitchFamily="34" charset="0"/>
            </a:endParaRPr>
          </a:p>
          <a:p>
            <a:pPr>
              <a:buFont typeface="Wingdings" panose="05000000000000000000" pitchFamily="2" charset="2"/>
              <a:buChar char="q"/>
            </a:pPr>
            <a:r>
              <a:rPr lang="en-ZA" sz="2200" dirty="0" smtClean="0">
                <a:latin typeface="Arial Narrow" panose="020B0606020202030204" pitchFamily="34" charset="0"/>
              </a:rPr>
              <a:t>Psychology </a:t>
            </a:r>
            <a:r>
              <a:rPr lang="en-ZA" sz="2200" dirty="0">
                <a:latin typeface="Arial Narrow" panose="020B0606020202030204" pitchFamily="34" charset="0"/>
              </a:rPr>
              <a:t>and cognitive science </a:t>
            </a:r>
            <a:r>
              <a:rPr lang="en-ZA" sz="2200" dirty="0" smtClean="0">
                <a:latin typeface="Arial Narrow" panose="020B0606020202030204" pitchFamily="34" charset="0"/>
              </a:rPr>
              <a:t>- Giving </a:t>
            </a:r>
            <a:r>
              <a:rPr lang="en-ZA" sz="2200" dirty="0">
                <a:latin typeface="Arial Narrow" panose="020B0606020202030204" pitchFamily="34" charset="0"/>
              </a:rPr>
              <a:t>insight into user’s capabilities, and perceptual, cognitive, and problem-solving skills </a:t>
            </a:r>
          </a:p>
          <a:p>
            <a:pPr>
              <a:buFont typeface="Wingdings" panose="05000000000000000000" pitchFamily="2" charset="2"/>
              <a:buChar char="q"/>
            </a:pPr>
            <a:r>
              <a:rPr lang="en-ZA" sz="2200" dirty="0" smtClean="0">
                <a:latin typeface="Arial Narrow" panose="020B0606020202030204" pitchFamily="34" charset="0"/>
              </a:rPr>
              <a:t>Environmental </a:t>
            </a:r>
            <a:r>
              <a:rPr lang="en-ZA" sz="2200" dirty="0">
                <a:latin typeface="Arial Narrow" panose="020B0606020202030204" pitchFamily="34" charset="0"/>
              </a:rPr>
              <a:t>factors and ergonomics -</a:t>
            </a:r>
            <a:r>
              <a:rPr lang="en-ZA" sz="2200" dirty="0" smtClean="0">
                <a:latin typeface="Arial Narrow" panose="020B0606020202030204" pitchFamily="34" charset="0"/>
              </a:rPr>
              <a:t>To </a:t>
            </a:r>
            <a:r>
              <a:rPr lang="en-ZA" sz="2200" dirty="0">
                <a:latin typeface="Arial Narrow" panose="020B0606020202030204" pitchFamily="34" charset="0"/>
              </a:rPr>
              <a:t>be able to address the user’s working environment, physical capabilities and comfort factors </a:t>
            </a:r>
            <a:endParaRPr lang="en-ZA" sz="2200" dirty="0" smtClean="0">
              <a:latin typeface="Arial Narrow" panose="020B0606020202030204" pitchFamily="34" charset="0"/>
            </a:endParaRPr>
          </a:p>
          <a:p>
            <a:pPr>
              <a:buFont typeface="Wingdings" panose="05000000000000000000" pitchFamily="2" charset="2"/>
              <a:buChar char="q"/>
            </a:pPr>
            <a:r>
              <a:rPr lang="en-ZA" sz="2200" dirty="0" smtClean="0">
                <a:latin typeface="Arial Narrow" panose="020B0606020202030204" pitchFamily="34" charset="0"/>
              </a:rPr>
              <a:t>Organizational factors - To be able to address training, job design, productivity, and work organization </a:t>
            </a:r>
          </a:p>
          <a:p>
            <a:pPr>
              <a:buFont typeface="Wingdings" panose="05000000000000000000" pitchFamily="2" charset="2"/>
              <a:buChar char="q"/>
            </a:pPr>
            <a:r>
              <a:rPr lang="en-ZA" sz="2200" dirty="0" smtClean="0">
                <a:latin typeface="Arial Narrow" panose="020B0606020202030204" pitchFamily="34" charset="0"/>
              </a:rPr>
              <a:t>Health </a:t>
            </a:r>
            <a:r>
              <a:rPr lang="en-ZA" sz="2200" dirty="0">
                <a:latin typeface="Arial Narrow" panose="020B0606020202030204" pitchFamily="34" charset="0"/>
              </a:rPr>
              <a:t>and safety factors </a:t>
            </a:r>
          </a:p>
          <a:p>
            <a:pPr>
              <a:buFont typeface="Wingdings" panose="05000000000000000000" pitchFamily="2" charset="2"/>
              <a:buChar char="q"/>
            </a:pPr>
            <a:r>
              <a:rPr lang="en-ZA" sz="2200" dirty="0" smtClean="0">
                <a:latin typeface="Arial Narrow" panose="020B0606020202030204" pitchFamily="34" charset="0"/>
              </a:rPr>
              <a:t>Philosophy</a:t>
            </a:r>
            <a:r>
              <a:rPr lang="en-ZA" sz="2200" dirty="0">
                <a:latin typeface="Arial Narrow" panose="020B0606020202030204" pitchFamily="34" charset="0"/>
              </a:rPr>
              <a:t>, sociology, and anthropology -</a:t>
            </a:r>
            <a:r>
              <a:rPr lang="en-ZA" sz="2200" dirty="0" smtClean="0">
                <a:latin typeface="Arial Narrow" panose="020B0606020202030204" pitchFamily="34" charset="0"/>
              </a:rPr>
              <a:t>To </a:t>
            </a:r>
            <a:r>
              <a:rPr lang="en-ZA" sz="2200" dirty="0">
                <a:latin typeface="Arial Narrow" panose="020B0606020202030204" pitchFamily="34" charset="0"/>
              </a:rPr>
              <a:t>help understand the wider context of interaction. </a:t>
            </a:r>
          </a:p>
          <a:p>
            <a:pPr>
              <a:buFont typeface="Wingdings" panose="05000000000000000000" pitchFamily="2" charset="2"/>
              <a:buChar char="q"/>
            </a:pPr>
            <a:r>
              <a:rPr lang="en-ZA" sz="2200" dirty="0" smtClean="0">
                <a:latin typeface="Arial Narrow" panose="020B0606020202030204" pitchFamily="34" charset="0"/>
              </a:rPr>
              <a:t>Linguistics</a:t>
            </a:r>
            <a:r>
              <a:rPr lang="en-ZA" sz="2200" dirty="0">
                <a:latin typeface="Arial Narrow" panose="020B0606020202030204" pitchFamily="34" charset="0"/>
              </a:rPr>
              <a:t>. </a:t>
            </a:r>
          </a:p>
          <a:p>
            <a:pPr>
              <a:buFont typeface="Wingdings" panose="05000000000000000000" pitchFamily="2" charset="2"/>
              <a:buChar char="q"/>
            </a:pPr>
            <a:r>
              <a:rPr lang="en-ZA" sz="2200" dirty="0" smtClean="0">
                <a:latin typeface="Arial Narrow" panose="020B0606020202030204" pitchFamily="34" charset="0"/>
              </a:rPr>
              <a:t>Computer </a:t>
            </a:r>
            <a:r>
              <a:rPr lang="en-ZA" sz="2200" dirty="0">
                <a:latin typeface="Arial Narrow" panose="020B0606020202030204" pitchFamily="34" charset="0"/>
              </a:rPr>
              <a:t>science and engineering -</a:t>
            </a:r>
            <a:r>
              <a:rPr lang="en-ZA" sz="2200" dirty="0" smtClean="0">
                <a:latin typeface="Arial Narrow" panose="020B0606020202030204" pitchFamily="34" charset="0"/>
              </a:rPr>
              <a:t>To </a:t>
            </a:r>
            <a:r>
              <a:rPr lang="en-ZA" sz="2200" dirty="0">
                <a:latin typeface="Arial Narrow" panose="020B0606020202030204" pitchFamily="34" charset="0"/>
              </a:rPr>
              <a:t>be able to build the necessary technology </a:t>
            </a:r>
          </a:p>
          <a:p>
            <a:pPr>
              <a:buFont typeface="Wingdings" panose="05000000000000000000" pitchFamily="2" charset="2"/>
              <a:buChar char="q"/>
            </a:pPr>
            <a:r>
              <a:rPr lang="en-ZA" sz="2200" dirty="0" smtClean="0">
                <a:latin typeface="Arial Narrow" panose="020B0606020202030204" pitchFamily="34" charset="0"/>
              </a:rPr>
              <a:t>Graphics </a:t>
            </a:r>
            <a:r>
              <a:rPr lang="en-ZA" sz="2200" dirty="0">
                <a:latin typeface="Arial Narrow" panose="020B0606020202030204" pitchFamily="34" charset="0"/>
              </a:rPr>
              <a:t>design </a:t>
            </a:r>
            <a:r>
              <a:rPr lang="en-ZA" sz="2200" dirty="0" smtClean="0">
                <a:latin typeface="Arial Narrow" panose="020B0606020202030204" pitchFamily="34" charset="0"/>
              </a:rPr>
              <a:t>- To </a:t>
            </a:r>
            <a:r>
              <a:rPr lang="en-ZA" sz="2200" dirty="0">
                <a:latin typeface="Arial Narrow" panose="020B0606020202030204" pitchFamily="34" charset="0"/>
              </a:rPr>
              <a:t>produce effective interface presentation </a:t>
            </a:r>
            <a:endParaRPr lang="en-ZA" sz="2200" dirty="0" smtClean="0">
              <a:latin typeface="Arial Narrow" panose="020B0606020202030204" pitchFamily="34" charset="0"/>
            </a:endParaRPr>
          </a:p>
          <a:p>
            <a:pPr marL="0" indent="0">
              <a:buNone/>
            </a:pPr>
            <a:endParaRPr lang="en-ZA" sz="2200" dirty="0" smtClean="0">
              <a:latin typeface="Arial Narrow" panose="020B0606020202030204" pitchFamily="34" charset="0"/>
            </a:endParaRPr>
          </a:p>
          <a:p>
            <a:pPr marL="0" indent="0">
              <a:buNone/>
            </a:pPr>
            <a:r>
              <a:rPr lang="en-ZA" sz="2200" dirty="0" smtClean="0">
                <a:latin typeface="Arial Narrow" panose="020B0606020202030204" pitchFamily="34" charset="0"/>
              </a:rPr>
              <a:t>Note: No </a:t>
            </a:r>
            <a:r>
              <a:rPr lang="en-ZA" sz="2200" dirty="0">
                <a:latin typeface="Arial Narrow" panose="020B0606020202030204" pitchFamily="34" charset="0"/>
              </a:rPr>
              <a:t>person, not even the average design team, has so much expertise. In practice, designers tend to be strong in one aspect or another. It is, however, not possible to design effective interactive systems from one discipline in isolation. </a:t>
            </a:r>
          </a:p>
          <a:p>
            <a:endParaRPr lang="en-ZA" dirty="0"/>
          </a:p>
          <a:p>
            <a:pPr marL="0" indent="0">
              <a:buNone/>
            </a:pPr>
            <a:endParaRPr lang="en-ZA" dirty="0"/>
          </a:p>
        </p:txBody>
      </p:sp>
      <p:sp>
        <p:nvSpPr>
          <p:cNvPr id="4" name="Footer Placeholder 3"/>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307280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50420" y="987425"/>
            <a:ext cx="6037735" cy="4873625"/>
          </a:xfrm>
        </p:spPr>
      </p:pic>
      <p:sp>
        <p:nvSpPr>
          <p:cNvPr id="4" name="Text Placeholder 3"/>
          <p:cNvSpPr>
            <a:spLocks noGrp="1"/>
          </p:cNvSpPr>
          <p:nvPr>
            <p:ph type="body" sz="half" idx="2"/>
          </p:nvPr>
        </p:nvSpPr>
        <p:spPr>
          <a:xfrm>
            <a:off x="839788" y="844731"/>
            <a:ext cx="4410632" cy="5024257"/>
          </a:xfrm>
        </p:spPr>
        <p:txBody>
          <a:bodyPr>
            <a:normAutofit/>
          </a:bodyPr>
          <a:lstStyle/>
          <a:p>
            <a:r>
              <a:rPr lang="en-ZA" sz="2000" b="1" dirty="0">
                <a:latin typeface="Arial Narrow" panose="020B0606020202030204" pitchFamily="34" charset="0"/>
              </a:rPr>
              <a:t>Conclusion </a:t>
            </a:r>
            <a:endParaRPr lang="en-ZA" sz="2000" dirty="0">
              <a:latin typeface="Arial Narrow" panose="020B0606020202030204" pitchFamily="34" charset="0"/>
            </a:endParaRPr>
          </a:p>
          <a:p>
            <a:r>
              <a:rPr lang="en-ZA" sz="2000" dirty="0">
                <a:latin typeface="Arial Narrow" panose="020B0606020202030204" pitchFamily="34" charset="0"/>
              </a:rPr>
              <a:t>Purpose of studying HCI </a:t>
            </a:r>
          </a:p>
          <a:p>
            <a:pPr marL="342900" indent="-342900" algn="just">
              <a:buFont typeface="Wingdings" panose="05000000000000000000" pitchFamily="2" charset="2"/>
              <a:buChar char="§"/>
            </a:pPr>
            <a:r>
              <a:rPr lang="en-ZA" sz="2000" dirty="0" smtClean="0">
                <a:latin typeface="Arial Narrow" panose="020B0606020202030204" pitchFamily="34" charset="0"/>
              </a:rPr>
              <a:t>Improve </a:t>
            </a:r>
            <a:r>
              <a:rPr lang="en-ZA" sz="2000" dirty="0">
                <a:latin typeface="Arial Narrow" panose="020B0606020202030204" pitchFamily="34" charset="0"/>
              </a:rPr>
              <a:t>quality of interaction between human and machine by systematically applying knowledge about both human and machine capabilities and limitations </a:t>
            </a:r>
          </a:p>
          <a:p>
            <a:pPr marL="342900" indent="-342900" algn="just">
              <a:buFont typeface="Wingdings" panose="05000000000000000000" pitchFamily="2" charset="2"/>
              <a:buChar char="§"/>
            </a:pPr>
            <a:r>
              <a:rPr lang="en-ZA" sz="2000" dirty="0" smtClean="0">
                <a:latin typeface="Arial Narrow" panose="020B0606020202030204" pitchFamily="34" charset="0"/>
              </a:rPr>
              <a:t>To </a:t>
            </a:r>
            <a:r>
              <a:rPr lang="en-ZA" sz="2000" dirty="0">
                <a:latin typeface="Arial Narrow" panose="020B0606020202030204" pitchFamily="34" charset="0"/>
              </a:rPr>
              <a:t>improve the productivity, functionality, effectiveness, efficiency, and usability of technology </a:t>
            </a:r>
          </a:p>
          <a:p>
            <a:pPr marL="342900" indent="-342900" algn="just">
              <a:buFont typeface="Wingdings" panose="05000000000000000000" pitchFamily="2" charset="2"/>
              <a:buChar char="§"/>
            </a:pPr>
            <a:r>
              <a:rPr lang="en-ZA" sz="2000" dirty="0" smtClean="0">
                <a:latin typeface="Arial Narrow" panose="020B0606020202030204" pitchFamily="34" charset="0"/>
              </a:rPr>
              <a:t>Create </a:t>
            </a:r>
            <a:r>
              <a:rPr lang="en-ZA" sz="2000" dirty="0">
                <a:latin typeface="Arial Narrow" panose="020B0606020202030204" pitchFamily="34" charset="0"/>
              </a:rPr>
              <a:t>an awareness of user-centred design </a:t>
            </a:r>
            <a:endParaRPr lang="en-ZA" sz="2000" dirty="0" smtClean="0">
              <a:latin typeface="Arial Narrow" panose="020B0606020202030204" pitchFamily="34" charset="0"/>
            </a:endParaRPr>
          </a:p>
          <a:p>
            <a:endParaRPr lang="en-ZA" sz="2000" dirty="0" smtClean="0">
              <a:latin typeface="Arial Narrow" panose="020B0606020202030204" pitchFamily="34" charset="0"/>
            </a:endParaRPr>
          </a:p>
          <a:p>
            <a:r>
              <a:rPr lang="en-ZA" sz="2000" b="1" dirty="0" smtClean="0">
                <a:latin typeface="Arial Narrow" panose="020B0606020202030204" pitchFamily="34" charset="0"/>
              </a:rPr>
              <a:t>The end of lesson one!!</a:t>
            </a:r>
            <a:endParaRPr lang="en-ZA" sz="2000" b="1" dirty="0">
              <a:latin typeface="Arial Narrow" panose="020B0606020202030204" pitchFamily="34" charset="0"/>
            </a:endParaRPr>
          </a:p>
          <a:p>
            <a:endParaRPr lang="en-ZA" sz="2000" dirty="0">
              <a:latin typeface="Arial Narrow" panose="020B0606020202030204" pitchFamily="34" charset="0"/>
            </a:endParaRPr>
          </a:p>
        </p:txBody>
      </p:sp>
      <p:sp>
        <p:nvSpPr>
          <p:cNvPr id="5" name="Footer Placeholder 4"/>
          <p:cNvSpPr>
            <a:spLocks noGrp="1"/>
          </p:cNvSpPr>
          <p:nvPr>
            <p:ph type="ftr" sz="quarter" idx="11"/>
          </p:nvPr>
        </p:nvSpPr>
        <p:spPr/>
        <p:txBody>
          <a:bodyPr/>
          <a:lstStyle/>
          <a:p>
            <a:r>
              <a:rPr lang="en-ZA" smtClean="0"/>
              <a:t>Prepared by Zwelo Makama -INF1520 eTutor</a:t>
            </a:r>
            <a:endParaRPr lang="en-ZA"/>
          </a:p>
        </p:txBody>
      </p:sp>
    </p:spTree>
    <p:extLst>
      <p:ext uri="{BB962C8B-B14F-4D97-AF65-F5344CB8AC3E}">
        <p14:creationId xmlns:p14="http://schemas.microsoft.com/office/powerpoint/2010/main" val="28491419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1489</TotalTime>
  <Words>2589</Words>
  <Application>Microsoft Office PowerPoint</Application>
  <PresentationFormat>Widescreen</PresentationFormat>
  <Paragraphs>203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Arial Narrow</vt:lpstr>
      <vt:lpstr>Calibri</vt:lpstr>
      <vt:lpstr>Calibri Light</vt:lpstr>
      <vt:lpstr>Wingdings</vt:lpstr>
      <vt:lpstr>Office Theme</vt:lpstr>
      <vt:lpstr> INF1520:Human Computer Interaction </vt:lpstr>
      <vt:lpstr>PowerPoint Presentation</vt:lpstr>
      <vt:lpstr>  Lesson Tool 1: Introduction to Human-Computer Interaction </vt:lpstr>
      <vt:lpstr>The Historical Context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SAPS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INF1520:Human Computer Interaction Summary</dc:title>
  <dc:creator>Nonzwelo Makama</dc:creator>
  <cp:lastModifiedBy>Nozwelo</cp:lastModifiedBy>
  <cp:revision>39</cp:revision>
  <dcterms:created xsi:type="dcterms:W3CDTF">2021-05-05T17:16:46Z</dcterms:created>
  <dcterms:modified xsi:type="dcterms:W3CDTF">2023-05-16T20:01:40Z</dcterms:modified>
</cp:coreProperties>
</file>