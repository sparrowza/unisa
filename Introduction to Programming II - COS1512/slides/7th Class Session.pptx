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6" r:id="rId3"/>
    <p:sldId id="267" r:id="rId4"/>
    <p:sldId id="287" r:id="rId5"/>
    <p:sldId id="288" r:id="rId6"/>
    <p:sldId id="289" r:id="rId7"/>
    <p:sldId id="402" r:id="rId8"/>
    <p:sldId id="403" r:id="rId9"/>
    <p:sldId id="404" r:id="rId10"/>
    <p:sldId id="406" r:id="rId11"/>
    <p:sldId id="405" r:id="rId12"/>
    <p:sldId id="407" r:id="rId13"/>
    <p:sldId id="408" r:id="rId14"/>
    <p:sldId id="409" r:id="rId15"/>
    <p:sldId id="410" r:id="rId1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53" d="100"/>
          <a:sy n="53" d="100"/>
        </p:scale>
        <p:origin x="20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2026/05/26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41363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2026/05/26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6429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2026/05/26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72060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2026/05/26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32963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2026/05/26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61337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2026/05/26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98504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2026/05/26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46513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2026/05/26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88907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2026/05/26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02182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2026/05/26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09795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2026/05/26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85231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8951E-0A73-476C-B990-BA3D65A812C5}" type="datetimeFigureOut">
              <a:rPr lang="en-ZA" smtClean="0"/>
              <a:t>2026/05/26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5834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3E509FF9-BDD9-A1BF-5237-538EDDB6B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BA4A3A-9CBD-44CA-33BC-CBAF4E859677}"/>
              </a:ext>
            </a:extLst>
          </p:cNvPr>
          <p:cNvSpPr txBox="1"/>
          <p:nvPr/>
        </p:nvSpPr>
        <p:spPr>
          <a:xfrm>
            <a:off x="0" y="65927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COS1512 – Online Class Session – 28 MAY 2026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44F4B-5D92-BFC5-653C-CD4E349F6C3A}"/>
              </a:ext>
            </a:extLst>
          </p:cNvPr>
          <p:cNvSpPr txBox="1">
            <a:spLocks/>
          </p:cNvSpPr>
          <p:nvPr/>
        </p:nvSpPr>
        <p:spPr>
          <a:xfrm>
            <a:off x="467916" y="2469624"/>
            <a:ext cx="5915025" cy="248337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/>
              <a:t>COS1512 – INTRODUCTION TO PROGRAMMING II – Using C++</a:t>
            </a:r>
            <a:endParaRPr lang="en-ZA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CD2F3-FE1E-ECCE-5428-E1525056D51E}"/>
              </a:ext>
            </a:extLst>
          </p:cNvPr>
          <p:cNvSpPr txBox="1">
            <a:spLocks/>
          </p:cNvSpPr>
          <p:nvPr/>
        </p:nvSpPr>
        <p:spPr>
          <a:xfrm>
            <a:off x="467916" y="5789289"/>
            <a:ext cx="5915025" cy="85726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i="1" dirty="0"/>
              <a:t>Academic Year: 2026</a:t>
            </a:r>
          </a:p>
          <a:p>
            <a:r>
              <a:rPr lang="en-US" sz="2400" b="1" i="1" dirty="0"/>
              <a:t>Date: 28 MAY 2026</a:t>
            </a:r>
          </a:p>
          <a:p>
            <a:r>
              <a:rPr lang="en-US" sz="2400" b="1" i="1" dirty="0"/>
              <a:t>Time: 17:00 PM to 19:00 PM</a:t>
            </a:r>
            <a:endParaRPr lang="en-ZA" sz="2400" b="1" i="1" dirty="0"/>
          </a:p>
        </p:txBody>
      </p:sp>
    </p:spTree>
    <p:extLst>
      <p:ext uri="{BB962C8B-B14F-4D97-AF65-F5344CB8AC3E}">
        <p14:creationId xmlns:p14="http://schemas.microsoft.com/office/powerpoint/2010/main" val="496593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A1252-968A-A97A-6796-E8553F19B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7BF1D3AB-2F2A-1FCB-96ED-9EF33DE562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2EFCF2-CB78-E497-F9BE-A5AC45242B2A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Topics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19299-7E0C-EB3F-6C39-08CDCDA7A501}"/>
              </a:ext>
            </a:extLst>
          </p:cNvPr>
          <p:cNvSpPr txBox="1">
            <a:spLocks/>
          </p:cNvSpPr>
          <p:nvPr/>
        </p:nvSpPr>
        <p:spPr>
          <a:xfrm>
            <a:off x="467916" y="2469624"/>
            <a:ext cx="5915025" cy="24833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Chapter 2 to 5</a:t>
            </a:r>
            <a:endParaRPr lang="en-US" sz="4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602D-94A4-AD8F-019E-D2D062AF4298}"/>
              </a:ext>
            </a:extLst>
          </p:cNvPr>
          <p:cNvSpPr txBox="1">
            <a:spLocks/>
          </p:cNvSpPr>
          <p:nvPr/>
        </p:nvSpPr>
        <p:spPr>
          <a:xfrm>
            <a:off x="467916" y="5789289"/>
            <a:ext cx="5915025" cy="857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ZA" b="1" i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83F84A-C93A-7FC6-3E47-AA5B244F21FC}"/>
              </a:ext>
            </a:extLst>
          </p:cNvPr>
          <p:cNvSpPr txBox="1">
            <a:spLocks/>
          </p:cNvSpPr>
          <p:nvPr/>
        </p:nvSpPr>
        <p:spPr>
          <a:xfrm>
            <a:off x="435211" y="5789289"/>
            <a:ext cx="5915025" cy="24833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Practical Exercises</a:t>
            </a:r>
          </a:p>
          <a:p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591327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EBD26-80FA-7F66-3987-963EB7F23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CC44998F-9DCE-2AE0-4144-F073D5F73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EE4FF0-8370-A7DC-3EEE-615C5BB6B375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CD28D54-B58B-08EC-2E1B-772D6B1BFB63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Nested if else statements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Switch Statements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While Loop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Do…While Loop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For Loop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Nested Loops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Predefined Functions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Programmer Defined Functions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Applying, variable scope, define blocks, and debugging Techniques</a:t>
            </a:r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316423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75BB3-8A95-B419-4513-6AB3F7C63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836B6F60-F7FC-B7D3-46D6-18C36EEA7A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861DBF-F41A-DB56-D827-0F0F733FC315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Exercise: Nested if else statement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9C0EDF9-73E6-3C00-45D7-B7F0CFC0CF7B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/>
              <a:t>void</a:t>
            </a:r>
            <a:r>
              <a:rPr lang="en-US" sz="2400" dirty="0"/>
              <a:t> functions and value-returning functions have similar structures.</a:t>
            </a:r>
          </a:p>
          <a:p>
            <a:pPr algn="l"/>
            <a:endParaRPr lang="en-US" altLang="en-US" sz="2400" dirty="0"/>
          </a:p>
          <a:p>
            <a:pPr algn="l"/>
            <a:endParaRPr lang="en-US" altLang="en-US" sz="24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40963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E2DEC-6475-F371-90FD-8ECC7EA92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81E6F2AB-E172-71BC-6796-C2E7191447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7B7B2E-3896-CF35-E344-CCB458487BC5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Exercise: Switch statement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898307D-9C35-F207-842D-218A4A840CFB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/>
              <a:t>Syntax for a </a:t>
            </a:r>
            <a:r>
              <a:rPr lang="en-US" sz="2400" b="1" i="1" dirty="0"/>
              <a:t>void </a:t>
            </a:r>
            <a:r>
              <a:rPr lang="en-US" sz="2400" b="1" dirty="0"/>
              <a:t>Function Definition</a:t>
            </a:r>
          </a:p>
          <a:p>
            <a:pPr algn="l"/>
            <a:endParaRPr lang="en-US" altLang="en-US" sz="2400" b="1" dirty="0"/>
          </a:p>
          <a:p>
            <a:pPr algn="l"/>
            <a:endParaRPr lang="en-US" altLang="en-US" sz="24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85626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19629-B7F5-CEFA-2821-D2DFCEF3D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6BA33300-F636-C976-433F-07FB7F3268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3F2489-ECE6-0130-694D-F7FFF7509B05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Exercise: While Loop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AD17718-F0F3-510B-1E6A-DF293DC6D8B7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/>
              <a:t>Example of a </a:t>
            </a:r>
            <a:r>
              <a:rPr lang="en-US" sz="2400" b="1" i="1" dirty="0"/>
              <a:t>void </a:t>
            </a:r>
            <a:r>
              <a:rPr lang="en-US" sz="2400" b="1" dirty="0"/>
              <a:t>Function Definition</a:t>
            </a:r>
          </a:p>
          <a:p>
            <a:pPr algn="l"/>
            <a:endParaRPr lang="en-US" altLang="en-US" sz="24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50727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02D43-76BF-50E6-CB84-EFA84E42B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3F471954-7B4A-CE0C-B94B-68C2EC54DE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62718C-0000-7C98-7B38-A9748C9E306F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Exercise: do…while Loop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7B5D768-5557-4CB3-3756-E603B6204858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/>
              <a:t>Example of a </a:t>
            </a:r>
            <a:r>
              <a:rPr lang="en-US" sz="2400" b="1" i="1" dirty="0"/>
              <a:t>void </a:t>
            </a:r>
            <a:r>
              <a:rPr lang="en-US" sz="2400" b="1" dirty="0"/>
              <a:t>Function Definition</a:t>
            </a:r>
          </a:p>
          <a:p>
            <a:pPr algn="l"/>
            <a:endParaRPr lang="en-US" altLang="en-US" sz="24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159110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693E6-8BE8-A9B5-79D8-1EE30A886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575AA835-50E5-B563-5FAC-B734DBB3F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1B184F-8293-3D05-EFA5-B7992A56E954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Exercise: For Loop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2ADAFF1-FDB0-8702-7824-79983EF4BCC4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/>
              <a:t>Example of a </a:t>
            </a:r>
            <a:r>
              <a:rPr lang="en-US" sz="2400" b="1" i="1" dirty="0"/>
              <a:t>void </a:t>
            </a:r>
            <a:r>
              <a:rPr lang="en-US" sz="2400" b="1" dirty="0"/>
              <a:t>Function Definition</a:t>
            </a:r>
          </a:p>
          <a:p>
            <a:pPr algn="l"/>
            <a:endParaRPr lang="en-US" altLang="en-US" sz="24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33431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0C1D2-1E37-EF90-FD36-23951075D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6C6107FA-00BF-EEFD-D484-5D4A37998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17E6C0-0929-8527-C4C4-267EDA87DDE0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Exercise: Nested Loops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EADBCE0-7DA8-5769-8B3B-E753E84C93EA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/>
              <a:t>Example of a </a:t>
            </a:r>
            <a:r>
              <a:rPr lang="en-US" sz="2400" b="1" i="1" dirty="0"/>
              <a:t>void </a:t>
            </a:r>
            <a:r>
              <a:rPr lang="en-US" sz="2400" b="1" dirty="0"/>
              <a:t>Function Definition</a:t>
            </a:r>
          </a:p>
          <a:p>
            <a:pPr algn="l"/>
            <a:endParaRPr lang="en-US" altLang="en-US" sz="24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119593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31ACD-BA90-70CD-B68B-CB5B10AA1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8F1534FE-F347-2238-CFA5-E709D239E6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AF1C6E-9AB9-5F7D-E242-9BA18023B1E8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Exercise: Nested Loops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19B3D56-D8A8-2FC2-2910-BB69F2F2BEF5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/>
              <a:t>Example of a </a:t>
            </a:r>
            <a:r>
              <a:rPr lang="en-US" sz="2400" b="1" i="1" dirty="0"/>
              <a:t>void </a:t>
            </a:r>
            <a:r>
              <a:rPr lang="en-US" sz="2400" b="1" dirty="0"/>
              <a:t>Function Definition</a:t>
            </a:r>
          </a:p>
          <a:p>
            <a:pPr algn="l"/>
            <a:endParaRPr lang="en-US" altLang="en-US" sz="24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025287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FD8E0-FE9E-D1A0-18EF-50C9BE756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DA44D4BD-B00A-719C-E2CA-C275A84B0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B25810-B6F1-F3CB-CAB7-743679B09C44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Exercise: Predefined Functions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EA89C2C-922C-1DB2-449A-516377EC4AFA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/>
              <a:t>Example of a </a:t>
            </a:r>
            <a:r>
              <a:rPr lang="en-US" sz="2400" b="1" i="1" dirty="0"/>
              <a:t>void </a:t>
            </a:r>
            <a:r>
              <a:rPr lang="en-US" sz="2400" b="1" dirty="0"/>
              <a:t>Function Definition</a:t>
            </a:r>
          </a:p>
          <a:p>
            <a:pPr algn="l"/>
            <a:endParaRPr lang="en-US" altLang="en-US" sz="24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48061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5C349-AEFA-C267-6FE8-5D9C6E8D1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CB62ED86-E3E6-5FA7-E2D8-624531F3F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4A2741-434B-A7C4-212A-03A2C7777C16}"/>
              </a:ext>
            </a:extLst>
          </p:cNvPr>
          <p:cNvSpPr txBox="1"/>
          <p:nvPr/>
        </p:nvSpPr>
        <p:spPr>
          <a:xfrm>
            <a:off x="0" y="65927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Exercise: Programmer-defined Functions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9E9F1D8-E141-4649-2E7A-05285E788F7D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/>
              <a:t>Example of a </a:t>
            </a:r>
            <a:r>
              <a:rPr lang="en-US" sz="2400" b="1" i="1" dirty="0"/>
              <a:t>void </a:t>
            </a:r>
            <a:r>
              <a:rPr lang="en-US" sz="2400" b="1" dirty="0"/>
              <a:t>Function Definition</a:t>
            </a:r>
          </a:p>
          <a:p>
            <a:pPr algn="l"/>
            <a:endParaRPr lang="en-US" altLang="en-US" sz="24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11870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2E9F2-5E8D-8A94-D4DE-DF9F1CDDA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5738DF04-18E1-63C7-DF73-C3C3D8BFBB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312448-BAAF-8616-5DEE-71D2FF9517EA}"/>
              </a:ext>
            </a:extLst>
          </p:cNvPr>
          <p:cNvSpPr txBox="1"/>
          <p:nvPr/>
        </p:nvSpPr>
        <p:spPr>
          <a:xfrm>
            <a:off x="0" y="65927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Exercise: Programmer-defined Functions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690CD69-DF51-ED41-939C-C455EEBCD962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/>
              <a:t>Example of a </a:t>
            </a:r>
            <a:r>
              <a:rPr lang="en-US" sz="2400" b="1" i="1" dirty="0"/>
              <a:t>void </a:t>
            </a:r>
            <a:r>
              <a:rPr lang="en-US" sz="2400" b="1" dirty="0"/>
              <a:t>Function Definition</a:t>
            </a:r>
          </a:p>
          <a:p>
            <a:pPr algn="l"/>
            <a:endParaRPr lang="en-US" altLang="en-US" sz="24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272869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1166-45A4-44E3-157D-028CECFEF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E3B7CBF4-3FFC-5A42-4BA3-F6FA2D477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10287B-C4C8-96AD-94C1-5BB996CBB62A}"/>
              </a:ext>
            </a:extLst>
          </p:cNvPr>
          <p:cNvSpPr txBox="1"/>
          <p:nvPr/>
        </p:nvSpPr>
        <p:spPr>
          <a:xfrm>
            <a:off x="0" y="65927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Exercise: Programmer-defined Functions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3E0847A-9CD5-BC23-24EA-58ED9B4A09F8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/>
              <a:t>Example of a </a:t>
            </a:r>
            <a:r>
              <a:rPr lang="en-US" sz="2400" b="1" i="1" dirty="0"/>
              <a:t>void </a:t>
            </a:r>
            <a:r>
              <a:rPr lang="en-US" sz="2400" b="1" dirty="0"/>
              <a:t>Function Definition</a:t>
            </a:r>
          </a:p>
          <a:p>
            <a:pPr algn="l"/>
            <a:endParaRPr lang="en-US" altLang="en-US" sz="24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241358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F6F7A-FA09-7A0B-F503-38A276C5D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EF3319A6-88EB-4140-735B-64A40158A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6DA6B6-98BF-73FB-8716-54536A740539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Exercise: Debugging techniques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C9FC2A0-D4D9-B5F3-ACFB-993ECB62DD66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/>
              <a:t>Example of a </a:t>
            </a:r>
            <a:r>
              <a:rPr lang="en-US" sz="2400" b="1" i="1" dirty="0"/>
              <a:t>void </a:t>
            </a:r>
            <a:r>
              <a:rPr lang="en-US" sz="2400" b="1" dirty="0"/>
              <a:t>Function Definition</a:t>
            </a:r>
          </a:p>
          <a:p>
            <a:pPr algn="l"/>
            <a:endParaRPr lang="en-US" altLang="en-US" sz="24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243249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a9a8b8c-3ea3-4799-a43e-5510398e7a3b}" enabled="0" method="" siteId="{ca9a8b8c-3ea3-4799-a43e-5510398e7a3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4979</TotalTime>
  <Words>202</Words>
  <Application>Microsoft Office PowerPoint</Application>
  <PresentationFormat>A4 Paper (210x297 mm)</PresentationFormat>
  <Paragraphs>69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Duraan, Franciska</dc:creator>
  <cp:lastModifiedBy>Sewisha Thabo Lehong</cp:lastModifiedBy>
  <cp:revision>497</cp:revision>
  <dcterms:created xsi:type="dcterms:W3CDTF">2023-03-27T09:07:22Z</dcterms:created>
  <dcterms:modified xsi:type="dcterms:W3CDTF">2026-05-26T01:45:25Z</dcterms:modified>
</cp:coreProperties>
</file>