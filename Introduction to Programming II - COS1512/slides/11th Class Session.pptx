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402" r:id="rId5"/>
    <p:sldId id="410" r:id="rId6"/>
    <p:sldId id="411" r:id="rId7"/>
    <p:sldId id="288" r:id="rId8"/>
    <p:sldId id="404" r:id="rId9"/>
    <p:sldId id="405" r:id="rId10"/>
    <p:sldId id="414" r:id="rId11"/>
    <p:sldId id="412" r:id="rId12"/>
    <p:sldId id="417" r:id="rId13"/>
    <p:sldId id="413" r:id="rId14"/>
    <p:sldId id="415" r:id="rId15"/>
    <p:sldId id="416" r:id="rId1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3" d="100"/>
          <a:sy n="53" d="100"/>
        </p:scale>
        <p:origin x="202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2026/07/10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2026/07/10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2026/07/10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2026/07/10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2026/07/10</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2026/07/10</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2026/07/10</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2026/07/10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2026/07/10</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2026/07/10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2026/07/10</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2026/07/10</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10 JULY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10 JULY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65927"/>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Topics</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14</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
        <p:nvSpPr>
          <p:cNvPr id="6" name="Title 1">
            <a:extLst>
              <a:ext uri="{FF2B5EF4-FFF2-40B4-BE49-F238E27FC236}">
                <a16:creationId xmlns:a16="http://schemas.microsoft.com/office/drawing/2014/main" id="{D083F84A-C93A-7FC6-3E47-AA5B244F21FC}"/>
              </a:ext>
            </a:extLst>
          </p:cNvPr>
          <p:cNvSpPr txBox="1">
            <a:spLocks/>
          </p:cNvSpPr>
          <p:nvPr/>
        </p:nvSpPr>
        <p:spPr>
          <a:xfrm>
            <a:off x="435211" y="5789289"/>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Recursion</a:t>
            </a:r>
            <a:endParaRPr lang="en-US" sz="4800" b="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Contents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ZA" sz="2800" b="1" dirty="0"/>
              <a:t>Understanding Recursion</a:t>
            </a:r>
          </a:p>
          <a:p>
            <a:pPr marL="457200" indent="-457200" algn="l">
              <a:buFont typeface="+mj-lt"/>
              <a:buAutoNum type="arabicPeriod"/>
            </a:pPr>
            <a:r>
              <a:rPr lang="en-US" sz="2800" b="1" dirty="0"/>
              <a:t>Examples of Recursive Functions</a:t>
            </a:r>
          </a:p>
          <a:p>
            <a:pPr marL="457200" indent="-457200" algn="l">
              <a:buFont typeface="+mj-lt"/>
              <a:buAutoNum type="arabicPeriod"/>
            </a:pPr>
            <a:r>
              <a:rPr lang="en-US" sz="2800" b="1" dirty="0"/>
              <a:t>Factorial</a:t>
            </a:r>
          </a:p>
          <a:p>
            <a:pPr marL="457200" indent="-457200" algn="l">
              <a:buFont typeface="+mj-lt"/>
              <a:buAutoNum type="arabicPeriod"/>
            </a:pPr>
            <a:r>
              <a:rPr lang="en-US" sz="2800" b="1" dirty="0"/>
              <a:t>Fibonacci</a:t>
            </a:r>
          </a:p>
          <a:p>
            <a:pPr marL="457200" indent="-457200" algn="l">
              <a:buFont typeface="+mj-lt"/>
              <a:buAutoNum type="arabicPeriod"/>
            </a:pPr>
            <a:r>
              <a:rPr lang="en-US" sz="2800" b="1" dirty="0"/>
              <a:t>Prime</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1680-B10D-B2BC-6C54-4EE6E600392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DFB8D5B-3AC6-F1C3-8D73-E6E8ED34A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E1BD468-3F06-3772-F186-CC5CF7E6C13A}"/>
              </a:ext>
            </a:extLst>
          </p:cNvPr>
          <p:cNvSpPr txBox="1"/>
          <p:nvPr/>
        </p:nvSpPr>
        <p:spPr>
          <a:xfrm>
            <a:off x="0" y="65927"/>
            <a:ext cx="6858000" cy="646331"/>
          </a:xfrm>
          <a:prstGeom prst="rect">
            <a:avLst/>
          </a:prstGeom>
          <a:noFill/>
        </p:spPr>
        <p:txBody>
          <a:bodyPr wrap="square" rtlCol="0">
            <a:spAutoFit/>
          </a:bodyPr>
          <a:lstStyle/>
          <a:p>
            <a:r>
              <a:rPr lang="en-US" sz="3600" b="1" dirty="0"/>
              <a:t>Understanding Recursion</a:t>
            </a:r>
          </a:p>
        </p:txBody>
      </p:sp>
      <p:sp>
        <p:nvSpPr>
          <p:cNvPr id="2" name="Content Placeholder 2">
            <a:extLst>
              <a:ext uri="{FF2B5EF4-FFF2-40B4-BE49-F238E27FC236}">
                <a16:creationId xmlns:a16="http://schemas.microsoft.com/office/drawing/2014/main" id="{94E4949E-1C85-80CD-B43D-F8CD2CAF39F6}"/>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A recursive function is called to solve a problem. The function actually knows how to solve only the simplest case(s), or so-called </a:t>
            </a:r>
            <a:r>
              <a:rPr lang="en-US" sz="2400" b="1" dirty="0"/>
              <a:t>base case(s)</a:t>
            </a:r>
            <a:r>
              <a:rPr lang="en-US" sz="2400" dirty="0"/>
              <a:t>. If the function is called with a base case, the function simply returns a result. </a:t>
            </a:r>
          </a:p>
          <a:p>
            <a:pPr algn="l"/>
            <a:endParaRPr lang="en-US" sz="2400" dirty="0"/>
          </a:p>
          <a:p>
            <a:pPr algn="l"/>
            <a:r>
              <a:rPr lang="en-US" sz="2400" dirty="0"/>
              <a:t>If the function is called with a more complex problem, the function typically divides the problem into two conceptual pieces: a piece that the function knows how to do and a piece  that it does not know how to do. To make recursion feasible, the latter piece must resemble the original problem but be a slightly simpler or smaller version. Because this new problem looks like the original problem, the function launches (calls) a fresh copy of itself to work on the smaller problem—this is referred to as a recursive call or the recursion step. The recursion step also includes a return statement, because its result will be combined with the portion of the problem the function knew how to solve to form a result that will be passed back to </a:t>
            </a:r>
            <a:r>
              <a:rPr lang="en-ZA" sz="2400" dirty="0"/>
              <a:t>the original caller.</a:t>
            </a:r>
            <a:endParaRPr lang="en-US" sz="2400"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402432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F3480-95AA-7C0F-D953-D49EBCF48DF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6C0F816-726A-E4A2-5241-9C238A905B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BB8B057-AD53-59FD-0919-0FACE2465249}"/>
              </a:ext>
            </a:extLst>
          </p:cNvPr>
          <p:cNvSpPr txBox="1"/>
          <p:nvPr/>
        </p:nvSpPr>
        <p:spPr>
          <a:xfrm>
            <a:off x="0" y="65927"/>
            <a:ext cx="6858000" cy="646331"/>
          </a:xfrm>
          <a:prstGeom prst="rect">
            <a:avLst/>
          </a:prstGeom>
          <a:noFill/>
        </p:spPr>
        <p:txBody>
          <a:bodyPr wrap="square" rtlCol="0">
            <a:spAutoFit/>
          </a:bodyPr>
          <a:lstStyle/>
          <a:p>
            <a:r>
              <a:rPr lang="en-US" sz="3600" b="1" dirty="0"/>
              <a:t>Understanding Recursion</a:t>
            </a:r>
          </a:p>
        </p:txBody>
      </p:sp>
      <p:sp>
        <p:nvSpPr>
          <p:cNvPr id="2" name="Content Placeholder 2">
            <a:extLst>
              <a:ext uri="{FF2B5EF4-FFF2-40B4-BE49-F238E27FC236}">
                <a16:creationId xmlns:a16="http://schemas.microsoft.com/office/drawing/2014/main" id="{D9F38993-A38F-C197-DC89-5F52B27C8A61}"/>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The recursion step executes while the original call to the function is paused, waiting for the result from the recursion step. The recursion step can result in many more such recursive calls, as the function keeps dividing each problem with which it’s called into two conceptual pieces. </a:t>
            </a:r>
          </a:p>
          <a:p>
            <a:pPr algn="l"/>
            <a:r>
              <a:rPr lang="en-US" sz="2400" dirty="0"/>
              <a:t>For the recursion to terminate, each time the function calls itself with a slightly simpler version of the original problem, this sequence of smaller problems must eventually converge on the base case. </a:t>
            </a:r>
          </a:p>
          <a:p>
            <a:pPr algn="l"/>
            <a:r>
              <a:rPr lang="en-US" sz="2400" dirty="0"/>
              <a:t>When the function recognizes the base case, it returns a result to the previous copy of the function, and a sequence of returns ensues all the way up the line until the original call of the function eventually returns the final result to its </a:t>
            </a:r>
            <a:r>
              <a:rPr lang="en-ZA" sz="2400" dirty="0"/>
              <a:t>caller.</a:t>
            </a:r>
            <a:endParaRPr lang="en-US" sz="2400"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923080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771D-9C3F-00E4-4E51-E49EE72D635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20526B2-C540-92FC-69DC-743C8D3749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152400"/>
            <a:ext cx="6930551" cy="10058400"/>
          </a:xfrm>
          <a:prstGeom prst="rect">
            <a:avLst/>
          </a:prstGeom>
        </p:spPr>
      </p:pic>
      <p:sp>
        <p:nvSpPr>
          <p:cNvPr id="4" name="TextBox 3">
            <a:extLst>
              <a:ext uri="{FF2B5EF4-FFF2-40B4-BE49-F238E27FC236}">
                <a16:creationId xmlns:a16="http://schemas.microsoft.com/office/drawing/2014/main" id="{BD4E816B-4CFD-A631-2CAB-9973FA3838DA}"/>
              </a:ext>
            </a:extLst>
          </p:cNvPr>
          <p:cNvSpPr txBox="1"/>
          <p:nvPr/>
        </p:nvSpPr>
        <p:spPr>
          <a:xfrm>
            <a:off x="0" y="65927"/>
            <a:ext cx="6858000" cy="646331"/>
          </a:xfrm>
          <a:prstGeom prst="rect">
            <a:avLst/>
          </a:prstGeom>
          <a:noFill/>
        </p:spPr>
        <p:txBody>
          <a:bodyPr wrap="square" rtlCol="0">
            <a:spAutoFit/>
          </a:bodyPr>
          <a:lstStyle/>
          <a:p>
            <a:r>
              <a:rPr lang="en-US" sz="3600" b="1" dirty="0"/>
              <a:t>Examples of Recursive Functions</a:t>
            </a:r>
          </a:p>
        </p:txBody>
      </p:sp>
      <p:sp>
        <p:nvSpPr>
          <p:cNvPr id="2" name="Content Placeholder 2">
            <a:extLst>
              <a:ext uri="{FF2B5EF4-FFF2-40B4-BE49-F238E27FC236}">
                <a16:creationId xmlns:a16="http://schemas.microsoft.com/office/drawing/2014/main" id="{734EA410-0CB4-C262-3FD7-E9905F691F49}"/>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514350" indent="-514350" algn="l">
              <a:buFont typeface="Arial" panose="020B0604020202020204" pitchFamily="34" charset="0"/>
              <a:buAutoNum type="arabicPeriod"/>
            </a:pPr>
            <a:r>
              <a:rPr lang="en-ZA" sz="2800" dirty="0"/>
              <a:t>Factorial</a:t>
            </a:r>
          </a:p>
          <a:p>
            <a:pPr marL="514350" indent="-514350" algn="l">
              <a:buFont typeface="Arial" panose="020B0604020202020204" pitchFamily="34" charset="0"/>
              <a:buAutoNum type="arabicPeriod"/>
            </a:pPr>
            <a:r>
              <a:rPr lang="en-ZA" sz="2800" dirty="0"/>
              <a:t>Fibonacci Sequence</a:t>
            </a:r>
          </a:p>
          <a:p>
            <a:pPr marL="514350" indent="-514350" algn="l">
              <a:buAutoNum type="arabicPeriod"/>
            </a:pPr>
            <a:r>
              <a:rPr lang="en-ZA" sz="2800" dirty="0"/>
              <a:t>Sum of Numbers</a:t>
            </a:r>
          </a:p>
          <a:p>
            <a:pPr marL="514350" indent="-514350" algn="l">
              <a:buAutoNum type="arabicPeriod"/>
            </a:pPr>
            <a:r>
              <a:rPr lang="en-ZA" sz="2800" dirty="0"/>
              <a:t>Power Function</a:t>
            </a:r>
          </a:p>
          <a:p>
            <a:pPr marL="514350" indent="-514350" algn="l">
              <a:buAutoNum type="arabicPeriod"/>
            </a:pPr>
            <a:r>
              <a:rPr lang="en-ZA" sz="2800" dirty="0"/>
              <a:t>Palindrome</a:t>
            </a:r>
          </a:p>
          <a:p>
            <a:pPr marL="514350" indent="-514350" algn="l">
              <a:buAutoNum type="arabicPeriod"/>
            </a:pPr>
            <a:r>
              <a:rPr lang="en-ZA" sz="2800" dirty="0"/>
              <a:t>Reverse a String</a:t>
            </a:r>
          </a:p>
          <a:p>
            <a:pPr marL="514350" indent="-514350" algn="l">
              <a:buAutoNum type="arabicPeriod"/>
            </a:pPr>
            <a:r>
              <a:rPr lang="en-ZA" sz="2800" dirty="0"/>
              <a:t>Binary Search (Recursive)</a:t>
            </a:r>
          </a:p>
          <a:p>
            <a:pPr marL="514350" indent="-514350" algn="l">
              <a:buAutoNum type="arabicPeriod"/>
            </a:pPr>
            <a:r>
              <a:rPr lang="en-ZA" sz="2800" dirty="0"/>
              <a:t>Prime Number Check</a:t>
            </a:r>
            <a:endParaRPr lang="en-US" sz="2800"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622902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2DEC-6475-F371-90FD-8ECC7EA929B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1E6F2AB-E172-71BC-6796-C2E719144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17B7B2E-3896-CF35-E344-CCB458487BC5}"/>
              </a:ext>
            </a:extLst>
          </p:cNvPr>
          <p:cNvSpPr txBox="1"/>
          <p:nvPr/>
        </p:nvSpPr>
        <p:spPr>
          <a:xfrm>
            <a:off x="0" y="65927"/>
            <a:ext cx="6858000" cy="646331"/>
          </a:xfrm>
          <a:prstGeom prst="rect">
            <a:avLst/>
          </a:prstGeom>
          <a:noFill/>
        </p:spPr>
        <p:txBody>
          <a:bodyPr wrap="square" rtlCol="0">
            <a:spAutoFit/>
          </a:bodyPr>
          <a:lstStyle/>
          <a:p>
            <a:r>
              <a:rPr lang="en-ZA" sz="3600" b="1" dirty="0"/>
              <a:t>Recursively Calculating Factorials</a:t>
            </a:r>
            <a:endParaRPr lang="en-US" sz="3600" b="1" dirty="0"/>
          </a:p>
        </p:txBody>
      </p:sp>
      <p:sp>
        <p:nvSpPr>
          <p:cNvPr id="2" name="Content Placeholder 2">
            <a:extLst>
              <a:ext uri="{FF2B5EF4-FFF2-40B4-BE49-F238E27FC236}">
                <a16:creationId xmlns:a16="http://schemas.microsoft.com/office/drawing/2014/main" id="{7898307D-9C35-F207-842D-218A4A840CFB}"/>
              </a:ext>
            </a:extLst>
          </p:cNvPr>
          <p:cNvSpPr txBox="1">
            <a:spLocks/>
          </p:cNvSpPr>
          <p:nvPr/>
        </p:nvSpPr>
        <p:spPr>
          <a:xfrm>
            <a:off x="471488" y="2057400"/>
            <a:ext cx="5915025" cy="6864880"/>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600" dirty="0"/>
              <a:t>The factorial of a nonnegative integer </a:t>
            </a:r>
            <a:r>
              <a:rPr lang="en-US" sz="2600" i="1" dirty="0"/>
              <a:t>n, </a:t>
            </a:r>
            <a:r>
              <a:rPr lang="en-US" sz="2600" dirty="0"/>
              <a:t>written </a:t>
            </a:r>
            <a:r>
              <a:rPr lang="en-US" sz="2600" i="1" dirty="0"/>
              <a:t>n</a:t>
            </a:r>
            <a:r>
              <a:rPr lang="en-US" sz="2600" dirty="0"/>
              <a:t>! (pronounced “</a:t>
            </a:r>
            <a:r>
              <a:rPr lang="en-US" sz="2600" i="1" dirty="0"/>
              <a:t>n </a:t>
            </a:r>
            <a:r>
              <a:rPr lang="en-US" sz="2600" dirty="0"/>
              <a:t>factorial”), is the product</a:t>
            </a:r>
          </a:p>
          <a:p>
            <a:r>
              <a:rPr lang="pt-BR" sz="2600" i="1" dirty="0"/>
              <a:t>n </a:t>
            </a:r>
            <a:r>
              <a:rPr lang="pt-BR" sz="2600" dirty="0"/>
              <a:t>· (</a:t>
            </a:r>
            <a:r>
              <a:rPr lang="pt-BR" sz="2600" i="1" dirty="0"/>
              <a:t>n </a:t>
            </a:r>
            <a:r>
              <a:rPr lang="pt-BR" sz="2600" dirty="0"/>
              <a:t>– 1) · (</a:t>
            </a:r>
            <a:r>
              <a:rPr lang="pt-BR" sz="2600" i="1" dirty="0"/>
              <a:t>n </a:t>
            </a:r>
            <a:r>
              <a:rPr lang="pt-BR" sz="2600" dirty="0"/>
              <a:t>– 2) · … · 1</a:t>
            </a:r>
          </a:p>
          <a:p>
            <a:endParaRPr lang="pt-BR" altLang="en-US" sz="2600" b="1" dirty="0"/>
          </a:p>
          <a:p>
            <a:r>
              <a:rPr lang="en-US" sz="2600" dirty="0"/>
              <a:t>with 1! equal to 1, and 0! defined to be 1. For example, 5! is the product 5 * 4 * 3 * 2 * 1,</a:t>
            </a:r>
          </a:p>
          <a:p>
            <a:r>
              <a:rPr lang="en-US" sz="2600" dirty="0"/>
              <a:t>which is equal to 120.</a:t>
            </a:r>
          </a:p>
          <a:p>
            <a:r>
              <a:rPr lang="en-ZA" sz="2600" dirty="0"/>
              <a:t>The factorial of an </a:t>
            </a:r>
            <a:r>
              <a:rPr lang="en-US" sz="2600" dirty="0"/>
              <a:t>integer, number, greater than or equal to 0 can be calculated</a:t>
            </a:r>
          </a:p>
          <a:p>
            <a:r>
              <a:rPr lang="en-US" sz="2600" i="1" dirty="0"/>
              <a:t>iteratively </a:t>
            </a:r>
            <a:r>
              <a:rPr lang="en-US" sz="2600" dirty="0"/>
              <a:t>(</a:t>
            </a:r>
            <a:r>
              <a:rPr lang="en-US" sz="2600" dirty="0" err="1"/>
              <a:t>nonrecursively</a:t>
            </a:r>
            <a:r>
              <a:rPr lang="en-US" sz="2600" dirty="0"/>
              <a:t>) using a for statement as follows:</a:t>
            </a:r>
          </a:p>
          <a:p>
            <a:r>
              <a:rPr lang="en-ZA" sz="2600" dirty="0"/>
              <a:t>factorial = </a:t>
            </a:r>
            <a:r>
              <a:rPr lang="en-ZA" sz="2600" b="1" dirty="0"/>
              <a:t>1</a:t>
            </a:r>
            <a:r>
              <a:rPr lang="en-ZA" sz="2600" dirty="0"/>
              <a:t>;</a:t>
            </a:r>
          </a:p>
          <a:p>
            <a:r>
              <a:rPr lang="en-US" sz="2400" b="1" dirty="0"/>
              <a:t>for </a:t>
            </a:r>
            <a:r>
              <a:rPr lang="en-US" sz="2400" dirty="0"/>
              <a:t>(counter = number; counter &gt;= </a:t>
            </a:r>
            <a:r>
              <a:rPr lang="en-US" sz="2400" b="1" dirty="0"/>
              <a:t>1</a:t>
            </a:r>
            <a:r>
              <a:rPr lang="en-US" sz="2400" dirty="0"/>
              <a:t>; --counter)</a:t>
            </a:r>
          </a:p>
          <a:p>
            <a:r>
              <a:rPr lang="en-ZA" sz="2400" dirty="0"/>
              <a:t>factorial *= counter;</a:t>
            </a:r>
          </a:p>
          <a:p>
            <a:endParaRPr lang="en-ZA" sz="2600" dirty="0"/>
          </a:p>
          <a:p>
            <a:r>
              <a:rPr lang="en-ZA" sz="2600" i="1" dirty="0"/>
              <a:t>n</a:t>
            </a:r>
            <a:r>
              <a:rPr lang="en-ZA" sz="2600" dirty="0"/>
              <a:t>! = </a:t>
            </a:r>
            <a:r>
              <a:rPr lang="en-ZA" sz="2600" i="1" dirty="0"/>
              <a:t>n </a:t>
            </a:r>
            <a:r>
              <a:rPr lang="en-ZA" sz="2600" dirty="0"/>
              <a:t>· (</a:t>
            </a:r>
            <a:r>
              <a:rPr lang="en-ZA" sz="2600" i="1" dirty="0"/>
              <a:t>n </a:t>
            </a:r>
            <a:r>
              <a:rPr lang="en-ZA" sz="2600" dirty="0"/>
              <a:t>– 1)!</a:t>
            </a:r>
          </a:p>
          <a:p>
            <a:r>
              <a:rPr lang="en-ZA" sz="2600" dirty="0"/>
              <a:t>5! = 5 · 4 · 3 · 2 · 1</a:t>
            </a:r>
          </a:p>
          <a:p>
            <a:r>
              <a:rPr lang="en-ZA" sz="2600" dirty="0"/>
              <a:t>5! = 5 · (4 · 3 · 2 · 1)</a:t>
            </a:r>
          </a:p>
          <a:p>
            <a:r>
              <a:rPr lang="en-ZA" sz="2600" dirty="0"/>
              <a:t>5! = 5 · (4!)</a:t>
            </a:r>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785626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79625-B98C-8509-7151-6FD7DDE0EF7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146D3E8-EAFC-2F68-E1E5-1985ECA9A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F414817-95E8-0B62-8C81-DFAD4249E6B6}"/>
              </a:ext>
            </a:extLst>
          </p:cNvPr>
          <p:cNvSpPr txBox="1"/>
          <p:nvPr/>
        </p:nvSpPr>
        <p:spPr>
          <a:xfrm>
            <a:off x="0" y="65927"/>
            <a:ext cx="6858000" cy="646331"/>
          </a:xfrm>
          <a:prstGeom prst="rect">
            <a:avLst/>
          </a:prstGeom>
          <a:noFill/>
        </p:spPr>
        <p:txBody>
          <a:bodyPr wrap="square" rtlCol="0">
            <a:spAutoFit/>
          </a:bodyPr>
          <a:lstStyle/>
          <a:p>
            <a:r>
              <a:rPr lang="en-ZA" sz="3600" b="1" dirty="0"/>
              <a:t>Recursively Calculating Factorials</a:t>
            </a:r>
            <a:endParaRPr lang="en-US" sz="3600" b="1" dirty="0"/>
          </a:p>
        </p:txBody>
      </p:sp>
      <p:sp>
        <p:nvSpPr>
          <p:cNvPr id="2" name="Content Placeholder 2">
            <a:extLst>
              <a:ext uri="{FF2B5EF4-FFF2-40B4-BE49-F238E27FC236}">
                <a16:creationId xmlns:a16="http://schemas.microsoft.com/office/drawing/2014/main" id="{494B3DE7-9C05-5FA9-E9F8-316CD6D9C541}"/>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altLang="en-US" sz="2400" b="1" dirty="0"/>
          </a:p>
          <a:p>
            <a:pPr algn="l"/>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7086FA6B-B2CC-0ECF-BBBB-75D91F86FA61}"/>
              </a:ext>
            </a:extLst>
          </p:cNvPr>
          <p:cNvPicPr>
            <a:picLocks noChangeAspect="1"/>
          </p:cNvPicPr>
          <p:nvPr/>
        </p:nvPicPr>
        <p:blipFill>
          <a:blip r:embed="rId3"/>
          <a:stretch>
            <a:fillRect/>
          </a:stretch>
        </p:blipFill>
        <p:spPr>
          <a:xfrm>
            <a:off x="-72550" y="1925052"/>
            <a:ext cx="6930550" cy="5871411"/>
          </a:xfrm>
          <a:prstGeom prst="rect">
            <a:avLst/>
          </a:prstGeom>
        </p:spPr>
      </p:pic>
      <p:sp>
        <p:nvSpPr>
          <p:cNvPr id="9" name="TextBox 8">
            <a:extLst>
              <a:ext uri="{FF2B5EF4-FFF2-40B4-BE49-F238E27FC236}">
                <a16:creationId xmlns:a16="http://schemas.microsoft.com/office/drawing/2014/main" id="{3964EBA4-2E08-279D-CBE2-0340E0F4C449}"/>
              </a:ext>
            </a:extLst>
          </p:cNvPr>
          <p:cNvSpPr txBox="1"/>
          <p:nvPr/>
        </p:nvSpPr>
        <p:spPr>
          <a:xfrm>
            <a:off x="120315" y="8174705"/>
            <a:ext cx="4704347" cy="461665"/>
          </a:xfrm>
          <a:prstGeom prst="rect">
            <a:avLst/>
          </a:prstGeom>
          <a:noFill/>
        </p:spPr>
        <p:txBody>
          <a:bodyPr wrap="square">
            <a:spAutoFit/>
          </a:bodyPr>
          <a:lstStyle/>
          <a:p>
            <a:r>
              <a:rPr lang="en-ZA" sz="2400" b="1" i="0" u="none" strike="noStrike" baseline="0" dirty="0">
                <a:latin typeface="GoudySans-Book"/>
              </a:rPr>
              <a:t>Recursive evaluation of 5!.</a:t>
            </a:r>
            <a:endParaRPr lang="en-ZA" sz="2400" b="1" dirty="0"/>
          </a:p>
        </p:txBody>
      </p:sp>
    </p:spTree>
    <p:extLst>
      <p:ext uri="{BB962C8B-B14F-4D97-AF65-F5344CB8AC3E}">
        <p14:creationId xmlns:p14="http://schemas.microsoft.com/office/powerpoint/2010/main" val="3998835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6B5DF-0323-8DF4-CA20-0E14CC28DA2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5A7CCA6-2C11-19CC-E371-F8A8CB0BE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CD94348-6E83-B72D-4ACA-6D9C70FCB8A9}"/>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Fibonacci Function</a:t>
            </a:r>
            <a:endParaRPr lang="en-US" sz="3600" b="1" dirty="0"/>
          </a:p>
        </p:txBody>
      </p:sp>
      <p:sp>
        <p:nvSpPr>
          <p:cNvPr id="2" name="Content Placeholder 2">
            <a:extLst>
              <a:ext uri="{FF2B5EF4-FFF2-40B4-BE49-F238E27FC236}">
                <a16:creationId xmlns:a16="http://schemas.microsoft.com/office/drawing/2014/main" id="{C35BBF53-131D-C3FE-5AEA-C24EC048D632}"/>
              </a:ext>
            </a:extLst>
          </p:cNvPr>
          <p:cNvSpPr txBox="1">
            <a:spLocks/>
          </p:cNvSpPr>
          <p:nvPr/>
        </p:nvSpPr>
        <p:spPr>
          <a:xfrm>
            <a:off x="471488" y="1515979"/>
            <a:ext cx="5915025" cy="7748337"/>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The position number in square brackets is called the element’s </a:t>
            </a:r>
            <a:r>
              <a:rPr lang="en-US" sz="2400" b="1" dirty="0"/>
              <a:t>index </a:t>
            </a:r>
            <a:r>
              <a:rPr lang="en-US" sz="2400" dirty="0"/>
              <a:t>or </a:t>
            </a:r>
            <a:r>
              <a:rPr lang="en-US" sz="2400" b="1" dirty="0"/>
              <a:t>subscript</a:t>
            </a:r>
            <a:r>
              <a:rPr lang="en-US" sz="2400" dirty="0"/>
              <a:t>. An index must be an integer or an integer expression. For example, the statement. </a:t>
            </a:r>
            <a:r>
              <a:rPr lang="en-ZA" sz="2400" dirty="0">
                <a:latin typeface="AGaramond-Regular"/>
              </a:rPr>
              <a:t>The Fibonacci series </a:t>
            </a:r>
            <a:r>
              <a:rPr lang="en-US" sz="2400" dirty="0">
                <a:latin typeface="AGaramond-Regular"/>
              </a:rPr>
              <a:t>begins with 0 and 1 and has the property that each subsequent Fibonacci number is the sum of the previous two Fibonacci numbers.</a:t>
            </a:r>
            <a:endParaRPr lang="en-ZA" sz="2400" dirty="0"/>
          </a:p>
          <a:p>
            <a:r>
              <a:rPr lang="en-US" sz="2400" dirty="0"/>
              <a:t>The Fibonacci series may be defined recursively as follows:</a:t>
            </a:r>
          </a:p>
          <a:p>
            <a:r>
              <a:rPr lang="en-US" sz="2400" dirty="0"/>
              <a:t>calculates the </a:t>
            </a:r>
            <a:r>
              <a:rPr lang="en-US" sz="2400" i="1" dirty="0"/>
              <a:t>n</a:t>
            </a:r>
            <a:r>
              <a:rPr lang="en-US" sz="2400" dirty="0"/>
              <a:t>th Fibonacci number recursively using function Fibonacci.</a:t>
            </a:r>
          </a:p>
          <a:p>
            <a:r>
              <a:rPr lang="en-US" sz="2400" dirty="0"/>
              <a:t>Notice that Fibonacci numbers tend to become large quickly. Therefore, we’ve chosen the</a:t>
            </a:r>
          </a:p>
          <a:p>
            <a:r>
              <a:rPr lang="en-US" sz="2400" dirty="0"/>
              <a:t>data type unsigned int for the parameter type and the data type unsigned long </a:t>
            </a:r>
            <a:r>
              <a:rPr lang="en-US" sz="2400" dirty="0" err="1"/>
              <a:t>long</a:t>
            </a:r>
            <a:r>
              <a:rPr lang="en-US" sz="2400" dirty="0"/>
              <a:t> int</a:t>
            </a:r>
          </a:p>
          <a:p>
            <a:r>
              <a:rPr lang="en-US" sz="2400" dirty="0"/>
              <a:t>for the return type in function </a:t>
            </a:r>
            <a:r>
              <a:rPr lang="en-US" sz="2400" dirty="0" err="1"/>
              <a:t>fibonacci</a:t>
            </a:r>
            <a:r>
              <a:rPr lang="en-US" sz="2400" dirty="0"/>
              <a:t>.</a:t>
            </a:r>
            <a:endParaRPr lang="en-ZA" sz="2400" dirty="0"/>
          </a:p>
        </p:txBody>
      </p:sp>
    </p:spTree>
    <p:extLst>
      <p:ext uri="{BB962C8B-B14F-4D97-AF65-F5344CB8AC3E}">
        <p14:creationId xmlns:p14="http://schemas.microsoft.com/office/powerpoint/2010/main" val="4228428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260A3-B090-440D-8E87-DC4B7F472B3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B57A998-D582-540F-DA63-C6581AC26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39FEC11-9AA8-9812-5A07-40DF4E0775E0}"/>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Fibonacci Function</a:t>
            </a:r>
            <a:endParaRPr lang="en-US" sz="3600" b="1" dirty="0"/>
          </a:p>
        </p:txBody>
      </p:sp>
      <p:sp>
        <p:nvSpPr>
          <p:cNvPr id="2" name="Content Placeholder 2">
            <a:extLst>
              <a:ext uri="{FF2B5EF4-FFF2-40B4-BE49-F238E27FC236}">
                <a16:creationId xmlns:a16="http://schemas.microsoft.com/office/drawing/2014/main" id="{EEF0E0AE-79E6-474C-9F77-5A14A1ACF75F}"/>
              </a:ext>
            </a:extLst>
          </p:cNvPr>
          <p:cNvSpPr txBox="1">
            <a:spLocks/>
          </p:cNvSpPr>
          <p:nvPr/>
        </p:nvSpPr>
        <p:spPr>
          <a:xfrm>
            <a:off x="471488" y="1515979"/>
            <a:ext cx="5915025" cy="7748337"/>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200" dirty="0"/>
          </a:p>
          <a:p>
            <a:pPr algn="l"/>
            <a:endParaRPr lang="en-US" sz="2200" dirty="0"/>
          </a:p>
          <a:p>
            <a:pPr algn="l"/>
            <a:endParaRPr lang="en-US" sz="2200" dirty="0"/>
          </a:p>
          <a:p>
            <a:pPr algn="l"/>
            <a:endParaRPr lang="en-US" sz="2200" dirty="0"/>
          </a:p>
          <a:p>
            <a:pPr algn="l"/>
            <a:endParaRPr lang="en-US" sz="2200" dirty="0"/>
          </a:p>
          <a:p>
            <a:pPr algn="l"/>
            <a:endParaRPr lang="en-US" sz="2200" dirty="0"/>
          </a:p>
          <a:p>
            <a:pPr algn="l"/>
            <a:endParaRPr lang="en-US" sz="2200" dirty="0"/>
          </a:p>
          <a:p>
            <a:pPr algn="l"/>
            <a:endParaRPr lang="en-US" sz="2200" dirty="0"/>
          </a:p>
          <a:p>
            <a:pPr algn="l"/>
            <a:endParaRPr lang="en-US" sz="2400" dirty="0"/>
          </a:p>
          <a:p>
            <a:pPr algn="l"/>
            <a:r>
              <a:rPr lang="en-US" sz="2400" dirty="0"/>
              <a:t>In Fig. 5.19, each pair of output lines shows a</a:t>
            </a:r>
          </a:p>
          <a:p>
            <a:r>
              <a:rPr lang="en-US" sz="2400" dirty="0"/>
              <a:t>separate run of the program.</a:t>
            </a:r>
          </a:p>
          <a:p>
            <a:r>
              <a:rPr lang="en-ZA" sz="2400" dirty="0"/>
              <a:t>Fibonacci(0) = 0</a:t>
            </a:r>
          </a:p>
          <a:p>
            <a:r>
              <a:rPr lang="en-ZA" sz="2400" dirty="0"/>
              <a:t>Fibonacci(1) = 1</a:t>
            </a:r>
          </a:p>
          <a:p>
            <a:r>
              <a:rPr lang="it-IT" sz="2400" dirty="0"/>
              <a:t>fibonacci(</a:t>
            </a:r>
            <a:r>
              <a:rPr lang="it-IT" sz="2400" i="1" dirty="0"/>
              <a:t>n</a:t>
            </a:r>
            <a:r>
              <a:rPr lang="it-IT" sz="2400" dirty="0"/>
              <a:t>) = fibonacci(</a:t>
            </a:r>
            <a:r>
              <a:rPr lang="it-IT" sz="2400" i="1" dirty="0"/>
              <a:t>n </a:t>
            </a:r>
            <a:r>
              <a:rPr lang="it-IT" sz="2400" dirty="0"/>
              <a:t>– 1) + fibonacci(</a:t>
            </a:r>
            <a:r>
              <a:rPr lang="it-IT" sz="2400" i="1" dirty="0"/>
              <a:t>n </a:t>
            </a:r>
            <a:r>
              <a:rPr lang="it-IT" sz="2400" dirty="0"/>
              <a:t>– 2)</a:t>
            </a:r>
            <a:endParaRPr lang="en-ZA" sz="2400" dirty="0"/>
          </a:p>
        </p:txBody>
      </p:sp>
      <p:pic>
        <p:nvPicPr>
          <p:cNvPr id="6" name="Picture 5">
            <a:extLst>
              <a:ext uri="{FF2B5EF4-FFF2-40B4-BE49-F238E27FC236}">
                <a16:creationId xmlns:a16="http://schemas.microsoft.com/office/drawing/2014/main" id="{E3AB0D93-C699-84D9-38F0-C427935AB338}"/>
              </a:ext>
            </a:extLst>
          </p:cNvPr>
          <p:cNvPicPr>
            <a:picLocks noChangeAspect="1"/>
          </p:cNvPicPr>
          <p:nvPr/>
        </p:nvPicPr>
        <p:blipFill>
          <a:blip r:embed="rId3"/>
          <a:stretch>
            <a:fillRect/>
          </a:stretch>
        </p:blipFill>
        <p:spPr>
          <a:xfrm>
            <a:off x="471487" y="2731168"/>
            <a:ext cx="5915025" cy="1792706"/>
          </a:xfrm>
          <a:prstGeom prst="rect">
            <a:avLst/>
          </a:prstGeom>
        </p:spPr>
      </p:pic>
    </p:spTree>
    <p:extLst>
      <p:ext uri="{BB962C8B-B14F-4D97-AF65-F5344CB8AC3E}">
        <p14:creationId xmlns:p14="http://schemas.microsoft.com/office/powerpoint/2010/main" val="3687390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D1BBB-6DC4-EECA-8794-3083577B183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7EA7710-34F2-00CB-A7C8-87898EC84A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8A8109A-81EA-43FC-634B-ED916BA458B7}"/>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Fibonacci Function</a:t>
            </a:r>
            <a:endParaRPr lang="en-US" sz="3600" b="1" dirty="0"/>
          </a:p>
        </p:txBody>
      </p:sp>
      <p:sp>
        <p:nvSpPr>
          <p:cNvPr id="2" name="Content Placeholder 2">
            <a:extLst>
              <a:ext uri="{FF2B5EF4-FFF2-40B4-BE49-F238E27FC236}">
                <a16:creationId xmlns:a16="http://schemas.microsoft.com/office/drawing/2014/main" id="{4F741A5B-46AE-50CA-B63D-1B75450CF90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sz="2600" dirty="0"/>
          </a:p>
        </p:txBody>
      </p:sp>
      <p:sp>
        <p:nvSpPr>
          <p:cNvPr id="10" name="TextBox 9">
            <a:extLst>
              <a:ext uri="{FF2B5EF4-FFF2-40B4-BE49-F238E27FC236}">
                <a16:creationId xmlns:a16="http://schemas.microsoft.com/office/drawing/2014/main" id="{0F02AB12-504D-8AAF-9A3E-092540B3E3E2}"/>
              </a:ext>
            </a:extLst>
          </p:cNvPr>
          <p:cNvSpPr txBox="1"/>
          <p:nvPr/>
        </p:nvSpPr>
        <p:spPr>
          <a:xfrm>
            <a:off x="471487" y="8255473"/>
            <a:ext cx="4028324" cy="461665"/>
          </a:xfrm>
          <a:prstGeom prst="rect">
            <a:avLst/>
          </a:prstGeom>
          <a:noFill/>
        </p:spPr>
        <p:txBody>
          <a:bodyPr wrap="square">
            <a:spAutoFit/>
          </a:bodyPr>
          <a:lstStyle/>
          <a:p>
            <a:r>
              <a:rPr lang="en-ZA" sz="2400" b="0" i="0" u="none" strike="noStrike" baseline="0" dirty="0">
                <a:latin typeface="GoudySans-Book"/>
              </a:rPr>
              <a:t>Recursive Fibonacci function.</a:t>
            </a:r>
            <a:endParaRPr lang="en-ZA" sz="2400" dirty="0"/>
          </a:p>
        </p:txBody>
      </p:sp>
      <p:sp>
        <p:nvSpPr>
          <p:cNvPr id="7" name="TextBox 6">
            <a:extLst>
              <a:ext uri="{FF2B5EF4-FFF2-40B4-BE49-F238E27FC236}">
                <a16:creationId xmlns:a16="http://schemas.microsoft.com/office/drawing/2014/main" id="{C2D0B78F-4DED-8156-7115-F9C4DB421420}"/>
              </a:ext>
            </a:extLst>
          </p:cNvPr>
          <p:cNvSpPr txBox="1"/>
          <p:nvPr/>
        </p:nvSpPr>
        <p:spPr>
          <a:xfrm>
            <a:off x="818147" y="2118473"/>
            <a:ext cx="4451684" cy="5451621"/>
          </a:xfrm>
          <a:prstGeom prst="rect">
            <a:avLst/>
          </a:prstGeom>
          <a:noFill/>
        </p:spPr>
        <p:txBody>
          <a:bodyPr wrap="square">
            <a:spAutoFit/>
          </a:bodyPr>
          <a:lstStyle/>
          <a:p>
            <a:pPr>
              <a:lnSpc>
                <a:spcPct val="107000"/>
              </a:lnSpc>
              <a:spcAft>
                <a:spcPts val="800"/>
              </a:spcAft>
              <a:buNone/>
            </a:pPr>
            <a:r>
              <a:rPr lang="en-ZA" sz="2400" b="1" kern="100" dirty="0">
                <a:effectLst/>
                <a:latin typeface="Aptos" panose="020B0004020202020204" pitchFamily="34" charset="0"/>
                <a:ea typeface="Aptos" panose="020B0004020202020204" pitchFamily="34" charset="0"/>
                <a:cs typeface="Times New Roman" panose="02020603050405020304" pitchFamily="18" charset="0"/>
              </a:rPr>
              <a:t>Example: input = 10</a:t>
            </a:r>
          </a:p>
          <a:p>
            <a:pPr>
              <a:lnSpc>
                <a:spcPct val="107000"/>
              </a:lnSpc>
              <a:spcAft>
                <a:spcPts val="800"/>
              </a:spcAft>
            </a:pP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(10 -1) + (10 -2) = 34</a:t>
            </a:r>
          </a:p>
          <a:p>
            <a:pPr>
              <a:lnSpc>
                <a:spcPct val="107000"/>
              </a:lnSpc>
              <a:spcAft>
                <a:spcPts val="800"/>
              </a:spcAft>
            </a:pP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(9 -1) + (9 -2) = 21</a:t>
            </a:r>
          </a:p>
          <a:p>
            <a:pPr>
              <a:lnSpc>
                <a:spcPct val="107000"/>
              </a:lnSpc>
              <a:spcAft>
                <a:spcPts val="800"/>
              </a:spcAft>
            </a:pP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(8 -1) + (8 -2) = 13</a:t>
            </a:r>
          </a:p>
          <a:p>
            <a:pPr>
              <a:lnSpc>
                <a:spcPct val="107000"/>
              </a:lnSpc>
              <a:spcAft>
                <a:spcPts val="800"/>
              </a:spcAft>
            </a:pP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(7 -1) + (7 -2) = 8</a:t>
            </a:r>
          </a:p>
          <a:p>
            <a:pPr>
              <a:lnSpc>
                <a:spcPct val="107000"/>
              </a:lnSpc>
              <a:spcAft>
                <a:spcPts val="800"/>
              </a:spcAft>
            </a:pP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(6 -1) + (4 -2) = 5</a:t>
            </a:r>
          </a:p>
          <a:p>
            <a:pPr>
              <a:lnSpc>
                <a:spcPct val="107000"/>
              </a:lnSpc>
              <a:spcAft>
                <a:spcPts val="800"/>
              </a:spcAft>
            </a:pPr>
            <a:r>
              <a:rPr lang="en-ZA" sz="2400"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(5 -3) </a:t>
            </a: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 (4 -2) = 3</a:t>
            </a:r>
          </a:p>
          <a:p>
            <a:pPr>
              <a:lnSpc>
                <a:spcPct val="107000"/>
              </a:lnSpc>
              <a:spcAft>
                <a:spcPts val="800"/>
              </a:spcAft>
              <a:buNone/>
            </a:pPr>
            <a:r>
              <a:rPr lang="en-ZA"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(4 -1) +</a:t>
            </a:r>
            <a:r>
              <a:rPr lang="en-ZA" sz="2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(4 -2) </a:t>
            </a:r>
            <a:r>
              <a:rPr lang="en-ZA"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t>
            </a:r>
            <a:r>
              <a:rPr lang="en-ZA" sz="2400" b="1" kern="100" dirty="0">
                <a:solidFill>
                  <a:srgbClr val="FF0000"/>
                </a:solidFill>
                <a:latin typeface="Aptos" panose="020B0004020202020204" pitchFamily="34" charset="0"/>
                <a:ea typeface="Aptos" panose="020B0004020202020204" pitchFamily="34" charset="0"/>
                <a:cs typeface="Times New Roman" panose="02020603050405020304" pitchFamily="18" charset="0"/>
              </a:rPr>
              <a:t>2</a:t>
            </a:r>
            <a:endParaRPr lang="en-ZA" sz="2400" b="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ZA" sz="24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(3 -1) + (3 -2) = 1</a:t>
            </a:r>
          </a:p>
          <a:p>
            <a:pPr>
              <a:lnSpc>
                <a:spcPct val="107000"/>
              </a:lnSpc>
              <a:spcAft>
                <a:spcPts val="800"/>
              </a:spcAft>
              <a:buNone/>
            </a:pPr>
            <a:r>
              <a:rPr lang="en-ZA" sz="24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(2 -1) + (2 -2) = 1</a:t>
            </a:r>
          </a:p>
          <a:p>
            <a:pPr>
              <a:lnSpc>
                <a:spcPct val="107000"/>
              </a:lnSpc>
              <a:spcAft>
                <a:spcPts val="800"/>
              </a:spcAft>
              <a:buNone/>
            </a:pPr>
            <a:r>
              <a:rPr lang="en-ZA" sz="24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(1 -1) + (1 -2) = 0</a:t>
            </a:r>
          </a:p>
        </p:txBody>
      </p:sp>
    </p:spTree>
    <p:extLst>
      <p:ext uri="{BB962C8B-B14F-4D97-AF65-F5344CB8AC3E}">
        <p14:creationId xmlns:p14="http://schemas.microsoft.com/office/powerpoint/2010/main" val="3352109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BC14D-A2FF-3598-451F-CCA2D2928EE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AA2D96E-6024-9F1B-AE24-5152ABA0D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C5B534E-5456-0412-622E-8BFC3D84EE44}"/>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Fibonacci Function</a:t>
            </a:r>
            <a:endParaRPr lang="en-US" sz="3600" b="1" dirty="0"/>
          </a:p>
        </p:txBody>
      </p:sp>
      <p:sp>
        <p:nvSpPr>
          <p:cNvPr id="2" name="Content Placeholder 2">
            <a:extLst>
              <a:ext uri="{FF2B5EF4-FFF2-40B4-BE49-F238E27FC236}">
                <a16:creationId xmlns:a16="http://schemas.microsoft.com/office/drawing/2014/main" id="{43E519D7-D4E0-759D-EF48-75DD1C738C7E}"/>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sz="2600" dirty="0"/>
          </a:p>
        </p:txBody>
      </p:sp>
      <p:pic>
        <p:nvPicPr>
          <p:cNvPr id="6" name="Picture 5">
            <a:extLst>
              <a:ext uri="{FF2B5EF4-FFF2-40B4-BE49-F238E27FC236}">
                <a16:creationId xmlns:a16="http://schemas.microsoft.com/office/drawing/2014/main" id="{459CD2AC-521D-DA47-2108-834287238877}"/>
              </a:ext>
            </a:extLst>
          </p:cNvPr>
          <p:cNvPicPr>
            <a:picLocks noChangeAspect="1"/>
          </p:cNvPicPr>
          <p:nvPr/>
        </p:nvPicPr>
        <p:blipFill>
          <a:blip r:embed="rId3"/>
          <a:stretch>
            <a:fillRect/>
          </a:stretch>
        </p:blipFill>
        <p:spPr>
          <a:xfrm>
            <a:off x="1" y="1948003"/>
            <a:ext cx="6644004" cy="1613344"/>
          </a:xfrm>
          <a:prstGeom prst="rect">
            <a:avLst/>
          </a:prstGeom>
        </p:spPr>
      </p:pic>
      <p:pic>
        <p:nvPicPr>
          <p:cNvPr id="8" name="Picture 7">
            <a:extLst>
              <a:ext uri="{FF2B5EF4-FFF2-40B4-BE49-F238E27FC236}">
                <a16:creationId xmlns:a16="http://schemas.microsoft.com/office/drawing/2014/main" id="{23059DA4-102A-1E9D-A9E7-0C23AD192E45}"/>
              </a:ext>
            </a:extLst>
          </p:cNvPr>
          <p:cNvPicPr>
            <a:picLocks noChangeAspect="1"/>
          </p:cNvPicPr>
          <p:nvPr/>
        </p:nvPicPr>
        <p:blipFill>
          <a:blip r:embed="rId4"/>
          <a:stretch>
            <a:fillRect/>
          </a:stretch>
        </p:blipFill>
        <p:spPr>
          <a:xfrm>
            <a:off x="0" y="3561348"/>
            <a:ext cx="6644005" cy="4396650"/>
          </a:xfrm>
          <a:prstGeom prst="rect">
            <a:avLst/>
          </a:prstGeom>
        </p:spPr>
      </p:pic>
      <p:sp>
        <p:nvSpPr>
          <p:cNvPr id="10" name="TextBox 9">
            <a:extLst>
              <a:ext uri="{FF2B5EF4-FFF2-40B4-BE49-F238E27FC236}">
                <a16:creationId xmlns:a16="http://schemas.microsoft.com/office/drawing/2014/main" id="{ACB211E5-E13A-F2A7-F4B1-B8C917C5AFA0}"/>
              </a:ext>
            </a:extLst>
          </p:cNvPr>
          <p:cNvSpPr txBox="1"/>
          <p:nvPr/>
        </p:nvSpPr>
        <p:spPr>
          <a:xfrm>
            <a:off x="471487" y="8255473"/>
            <a:ext cx="4028324" cy="461665"/>
          </a:xfrm>
          <a:prstGeom prst="rect">
            <a:avLst/>
          </a:prstGeom>
          <a:noFill/>
        </p:spPr>
        <p:txBody>
          <a:bodyPr wrap="square">
            <a:spAutoFit/>
          </a:bodyPr>
          <a:lstStyle/>
          <a:p>
            <a:r>
              <a:rPr lang="en-ZA" sz="2400" b="0" i="0" u="none" strike="noStrike" baseline="0" dirty="0">
                <a:latin typeface="GoudySans-Book"/>
              </a:rPr>
              <a:t>Recursive Fibonacci function.</a:t>
            </a:r>
            <a:endParaRPr lang="en-ZA" sz="2400" dirty="0"/>
          </a:p>
        </p:txBody>
      </p:sp>
    </p:spTree>
    <p:extLst>
      <p:ext uri="{BB962C8B-B14F-4D97-AF65-F5344CB8AC3E}">
        <p14:creationId xmlns:p14="http://schemas.microsoft.com/office/powerpoint/2010/main" val="1984141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A1DA1-A620-AA47-0EDB-A80210F0DA2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95669EE-4D94-69D5-C468-C094B4F9B2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6" y="-152400"/>
            <a:ext cx="6930551" cy="10058400"/>
          </a:xfrm>
          <a:prstGeom prst="rect">
            <a:avLst/>
          </a:prstGeom>
        </p:spPr>
      </p:pic>
      <p:sp>
        <p:nvSpPr>
          <p:cNvPr id="4" name="TextBox 3">
            <a:extLst>
              <a:ext uri="{FF2B5EF4-FFF2-40B4-BE49-F238E27FC236}">
                <a16:creationId xmlns:a16="http://schemas.microsoft.com/office/drawing/2014/main" id="{36A87855-646F-5AAC-FA34-A75DD5A59BC0}"/>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Prime Number Function</a:t>
            </a:r>
            <a:endParaRPr lang="en-US" sz="3600" b="1" dirty="0"/>
          </a:p>
        </p:txBody>
      </p:sp>
      <p:sp>
        <p:nvSpPr>
          <p:cNvPr id="2" name="Content Placeholder 2">
            <a:extLst>
              <a:ext uri="{FF2B5EF4-FFF2-40B4-BE49-F238E27FC236}">
                <a16:creationId xmlns:a16="http://schemas.microsoft.com/office/drawing/2014/main" id="{F2F7E795-A2D9-862B-DEE4-E9EEA2C0DC0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sz="2600" dirty="0"/>
          </a:p>
        </p:txBody>
      </p:sp>
      <p:sp>
        <p:nvSpPr>
          <p:cNvPr id="10" name="TextBox 9">
            <a:extLst>
              <a:ext uri="{FF2B5EF4-FFF2-40B4-BE49-F238E27FC236}">
                <a16:creationId xmlns:a16="http://schemas.microsoft.com/office/drawing/2014/main" id="{D7CC202A-CB17-798F-18B5-7FA8CD8A799B}"/>
              </a:ext>
            </a:extLst>
          </p:cNvPr>
          <p:cNvSpPr txBox="1"/>
          <p:nvPr/>
        </p:nvSpPr>
        <p:spPr>
          <a:xfrm>
            <a:off x="471486" y="8430858"/>
            <a:ext cx="5219450" cy="461665"/>
          </a:xfrm>
          <a:prstGeom prst="rect">
            <a:avLst/>
          </a:prstGeom>
          <a:noFill/>
        </p:spPr>
        <p:txBody>
          <a:bodyPr wrap="square">
            <a:spAutoFit/>
          </a:bodyPr>
          <a:lstStyle/>
          <a:p>
            <a:r>
              <a:rPr lang="en-ZA" sz="2400" b="0" i="0" u="none" strike="noStrike" baseline="0" dirty="0">
                <a:latin typeface="GoudySans-Book"/>
              </a:rPr>
              <a:t>Recursive Prime Number Function.</a:t>
            </a:r>
            <a:endParaRPr lang="en-ZA" sz="2400" dirty="0"/>
          </a:p>
        </p:txBody>
      </p:sp>
      <p:sp>
        <p:nvSpPr>
          <p:cNvPr id="6" name="TextBox 5">
            <a:extLst>
              <a:ext uri="{FF2B5EF4-FFF2-40B4-BE49-F238E27FC236}">
                <a16:creationId xmlns:a16="http://schemas.microsoft.com/office/drawing/2014/main" id="{38C6460D-B0FB-B0CF-1932-9FE2712F0C7F}"/>
              </a:ext>
            </a:extLst>
          </p:cNvPr>
          <p:cNvSpPr txBox="1"/>
          <p:nvPr/>
        </p:nvSpPr>
        <p:spPr>
          <a:xfrm>
            <a:off x="471487" y="2062069"/>
            <a:ext cx="5796966" cy="5632311"/>
          </a:xfrm>
          <a:prstGeom prst="rect">
            <a:avLst/>
          </a:prstGeom>
          <a:noFill/>
        </p:spPr>
        <p:txBody>
          <a:bodyPr wrap="square">
            <a:spAutoFit/>
          </a:bodyPr>
          <a:lstStyle/>
          <a:p>
            <a:r>
              <a:rPr lang="en-ZA" sz="2400" dirty="0"/>
              <a:t>A </a:t>
            </a:r>
            <a:r>
              <a:rPr lang="en-ZA" sz="2400" b="1" dirty="0"/>
              <a:t>prime number</a:t>
            </a:r>
            <a:r>
              <a:rPr lang="en-ZA" sz="2400" dirty="0"/>
              <a:t> is a number greater than </a:t>
            </a:r>
            <a:r>
              <a:rPr lang="en-ZA" sz="2400" b="1" dirty="0"/>
              <a:t>1</a:t>
            </a:r>
            <a:r>
              <a:rPr lang="en-ZA" sz="2400" dirty="0"/>
              <a:t> that has </a:t>
            </a:r>
            <a:r>
              <a:rPr lang="en-ZA" sz="2400" b="1" dirty="0"/>
              <a:t>exactly two positive factors</a:t>
            </a:r>
            <a:r>
              <a:rPr lang="en-ZA" sz="2400" dirty="0"/>
              <a:t>: </a:t>
            </a:r>
            <a:r>
              <a:rPr lang="en-ZA" sz="2400" b="1" dirty="0"/>
              <a:t>1</a:t>
            </a:r>
            <a:r>
              <a:rPr lang="en-ZA" sz="2400" dirty="0"/>
              <a:t> and </a:t>
            </a:r>
            <a:r>
              <a:rPr lang="en-ZA" sz="2400" b="1" dirty="0"/>
              <a:t>itself</a:t>
            </a:r>
            <a:r>
              <a:rPr lang="en-ZA" sz="2400" dirty="0"/>
              <a:t>.</a:t>
            </a:r>
          </a:p>
          <a:p>
            <a:endParaRPr lang="en-ZA" sz="2400" dirty="0"/>
          </a:p>
          <a:p>
            <a:r>
              <a:rPr lang="en-ZA" sz="2400" b="1" dirty="0"/>
              <a:t>Examples of Prime Numbers</a:t>
            </a:r>
            <a:endParaRPr lang="en-ZA" sz="2400" dirty="0"/>
          </a:p>
          <a:p>
            <a:r>
              <a:rPr lang="en-ZA" sz="2400" dirty="0"/>
              <a:t>2, 3, 5, 7, 11, 13, 17, 19, 23, 29,31, 37, 41, 43, 47, 53, 59, 61, 67, 71</a:t>
            </a:r>
          </a:p>
          <a:p>
            <a:endParaRPr lang="en-ZA" sz="2400" dirty="0"/>
          </a:p>
          <a:p>
            <a:r>
              <a:rPr lang="en-ZA" sz="2400" b="1" dirty="0"/>
              <a:t>Example Explanation</a:t>
            </a:r>
          </a:p>
          <a:p>
            <a:r>
              <a:rPr lang="en-ZA" sz="2400" b="1" dirty="0"/>
              <a:t>2</a:t>
            </a:r>
            <a:r>
              <a:rPr lang="en-ZA" sz="2400" dirty="0"/>
              <a:t> → Factors: </a:t>
            </a:r>
            <a:r>
              <a:rPr lang="en-ZA" sz="2400" b="1" dirty="0"/>
              <a:t>1, 2</a:t>
            </a:r>
            <a:r>
              <a:rPr lang="en-ZA" sz="2400" dirty="0"/>
              <a:t> → </a:t>
            </a:r>
            <a:r>
              <a:rPr lang="en-ZA" sz="2400" b="1" dirty="0"/>
              <a:t>Prime</a:t>
            </a:r>
            <a:r>
              <a:rPr lang="en-ZA" sz="2400" dirty="0"/>
              <a:t> </a:t>
            </a:r>
          </a:p>
          <a:p>
            <a:r>
              <a:rPr lang="en-ZA" sz="2400" b="1" dirty="0"/>
              <a:t>7</a:t>
            </a:r>
            <a:r>
              <a:rPr lang="en-ZA" sz="2400" dirty="0"/>
              <a:t> → Factors: </a:t>
            </a:r>
            <a:r>
              <a:rPr lang="en-ZA" sz="2400" b="1" dirty="0"/>
              <a:t>1, 7</a:t>
            </a:r>
            <a:r>
              <a:rPr lang="en-ZA" sz="2400" dirty="0"/>
              <a:t> → </a:t>
            </a:r>
            <a:r>
              <a:rPr lang="en-ZA" sz="2400" b="1" dirty="0"/>
              <a:t>Prime</a:t>
            </a:r>
            <a:r>
              <a:rPr lang="en-ZA" sz="2400" dirty="0"/>
              <a:t> </a:t>
            </a:r>
          </a:p>
          <a:p>
            <a:r>
              <a:rPr lang="en-ZA" sz="2400" b="1" dirty="0"/>
              <a:t>13</a:t>
            </a:r>
            <a:r>
              <a:rPr lang="en-ZA" sz="2400" dirty="0"/>
              <a:t> → Factors: </a:t>
            </a:r>
            <a:r>
              <a:rPr lang="en-ZA" sz="2400" b="1" dirty="0"/>
              <a:t>1, 13</a:t>
            </a:r>
            <a:r>
              <a:rPr lang="en-ZA" sz="2400" dirty="0"/>
              <a:t> → </a:t>
            </a:r>
            <a:r>
              <a:rPr lang="en-ZA" sz="2400" b="1" dirty="0"/>
              <a:t>Prime</a:t>
            </a:r>
          </a:p>
          <a:p>
            <a:endParaRPr lang="en-ZA" sz="2400" b="1" dirty="0"/>
          </a:p>
          <a:p>
            <a:r>
              <a:rPr lang="en-ZA" sz="2400" b="1" dirty="0"/>
              <a:t>2</a:t>
            </a:r>
            <a:r>
              <a:rPr lang="en-ZA" sz="2400" dirty="0"/>
              <a:t> is the </a:t>
            </a:r>
            <a:r>
              <a:rPr lang="en-ZA" sz="2400" b="1" dirty="0"/>
              <a:t>smallest and only even prime number</a:t>
            </a:r>
            <a:r>
              <a:rPr lang="en-ZA" sz="2400" dirty="0"/>
              <a:t>. </a:t>
            </a:r>
            <a:r>
              <a:rPr lang="en-ZA" sz="2400" b="1" dirty="0"/>
              <a:t>0</a:t>
            </a:r>
            <a:r>
              <a:rPr lang="en-ZA" sz="2400" dirty="0"/>
              <a:t> and </a:t>
            </a:r>
            <a:r>
              <a:rPr lang="en-ZA" sz="2400" b="1" dirty="0"/>
              <a:t>1</a:t>
            </a:r>
            <a:r>
              <a:rPr lang="en-ZA" sz="2400" dirty="0"/>
              <a:t> are </a:t>
            </a:r>
            <a:r>
              <a:rPr lang="en-ZA" sz="2400" b="1" dirty="0"/>
              <a:t>not prime numbers</a:t>
            </a:r>
            <a:r>
              <a:rPr lang="en-ZA" sz="2400" dirty="0"/>
              <a:t>.</a:t>
            </a:r>
          </a:p>
        </p:txBody>
      </p:sp>
    </p:spTree>
    <p:extLst>
      <p:ext uri="{BB962C8B-B14F-4D97-AF65-F5344CB8AC3E}">
        <p14:creationId xmlns:p14="http://schemas.microsoft.com/office/powerpoint/2010/main" val="3805894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8B846-909B-4ACB-449D-6F8A31D7DA9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4A09ECF-EF40-0E10-7847-E26878739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6" y="-152400"/>
            <a:ext cx="6930551" cy="10058400"/>
          </a:xfrm>
          <a:prstGeom prst="rect">
            <a:avLst/>
          </a:prstGeom>
        </p:spPr>
      </p:pic>
      <p:sp>
        <p:nvSpPr>
          <p:cNvPr id="4" name="TextBox 3">
            <a:extLst>
              <a:ext uri="{FF2B5EF4-FFF2-40B4-BE49-F238E27FC236}">
                <a16:creationId xmlns:a16="http://schemas.microsoft.com/office/drawing/2014/main" id="{5909F1DB-4FFD-1DC4-4725-FBA896F2F593}"/>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Prime Number Function</a:t>
            </a:r>
            <a:endParaRPr lang="en-US" sz="3600" b="1" dirty="0"/>
          </a:p>
        </p:txBody>
      </p:sp>
      <p:sp>
        <p:nvSpPr>
          <p:cNvPr id="2" name="Content Placeholder 2">
            <a:extLst>
              <a:ext uri="{FF2B5EF4-FFF2-40B4-BE49-F238E27FC236}">
                <a16:creationId xmlns:a16="http://schemas.microsoft.com/office/drawing/2014/main" id="{AE754FF3-4041-E278-2C8A-FE942FC89F98}"/>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sz="2600" dirty="0"/>
          </a:p>
        </p:txBody>
      </p:sp>
      <p:sp>
        <p:nvSpPr>
          <p:cNvPr id="10" name="TextBox 9">
            <a:extLst>
              <a:ext uri="{FF2B5EF4-FFF2-40B4-BE49-F238E27FC236}">
                <a16:creationId xmlns:a16="http://schemas.microsoft.com/office/drawing/2014/main" id="{2DF189A2-B634-6493-3FC3-2BC5FC938B89}"/>
              </a:ext>
            </a:extLst>
          </p:cNvPr>
          <p:cNvSpPr txBox="1"/>
          <p:nvPr/>
        </p:nvSpPr>
        <p:spPr>
          <a:xfrm>
            <a:off x="471486" y="8430858"/>
            <a:ext cx="5219450" cy="461665"/>
          </a:xfrm>
          <a:prstGeom prst="rect">
            <a:avLst/>
          </a:prstGeom>
          <a:noFill/>
        </p:spPr>
        <p:txBody>
          <a:bodyPr wrap="square">
            <a:spAutoFit/>
          </a:bodyPr>
          <a:lstStyle/>
          <a:p>
            <a:r>
              <a:rPr lang="en-ZA" sz="2400" b="0" i="0" u="none" strike="noStrike" baseline="0" dirty="0">
                <a:latin typeface="GoudySans-Book"/>
              </a:rPr>
              <a:t>Recursive Prime Number Function.</a:t>
            </a:r>
            <a:endParaRPr lang="en-ZA" sz="2400"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4F65810-B599-7B2A-DBD8-9673B859DE5A}"/>
                  </a:ext>
                </a:extLst>
              </p:cNvPr>
              <p:cNvSpPr txBox="1"/>
              <p:nvPr/>
            </p:nvSpPr>
            <p:spPr>
              <a:xfrm>
                <a:off x="471487" y="2062069"/>
                <a:ext cx="5796966" cy="4146456"/>
              </a:xfrm>
              <a:prstGeom prst="rect">
                <a:avLst/>
              </a:prstGeom>
              <a:noFill/>
            </p:spPr>
            <p:txBody>
              <a:bodyPr wrap="square">
                <a:spAutoFit/>
              </a:bodyPr>
              <a:lstStyle/>
              <a:p>
                <a:r>
                  <a:rPr lang="en-ZA" sz="2400" dirty="0"/>
                  <a:t>A </a:t>
                </a:r>
                <a:r>
                  <a:rPr lang="en-ZA" sz="2400" b="1" dirty="0"/>
                  <a:t>prime number formula:</a:t>
                </a:r>
              </a:p>
              <a:p>
                <a:endParaRPr lang="en-ZA" sz="2400" b="1" dirty="0"/>
              </a:p>
              <a:p>
                <a:r>
                  <a:rPr lang="en-ZA" sz="2400" dirty="0"/>
                  <a:t>A number </a:t>
                </a:r>
                <a:r>
                  <a:rPr lang="en-ZA" sz="2400" b="1" dirty="0"/>
                  <a:t>n</a:t>
                </a:r>
                <a:r>
                  <a:rPr lang="en-ZA" sz="2400" dirty="0"/>
                  <a:t> is prime if:</a:t>
                </a:r>
              </a:p>
              <a:p>
                <a:pPr marL="342900" indent="-342900">
                  <a:buFont typeface="Arial" panose="020B0604020202020204" pitchFamily="34" charset="0"/>
                  <a:buChar char="•"/>
                </a:pPr>
                <a:r>
                  <a:rPr lang="en-ZA" sz="2400" b="1" dirty="0"/>
                  <a:t>n &gt; 1</a:t>
                </a:r>
                <a:r>
                  <a:rPr lang="en-ZA" sz="2400" dirty="0"/>
                  <a:t> </a:t>
                </a:r>
              </a:p>
              <a:p>
                <a:pPr marL="342900" indent="-342900">
                  <a:buFont typeface="Arial" panose="020B0604020202020204" pitchFamily="34" charset="0"/>
                  <a:buChar char="•"/>
                </a:pPr>
                <a:r>
                  <a:rPr lang="en-ZA" sz="2400" dirty="0"/>
                  <a:t>It is divisible only by </a:t>
                </a:r>
                <a:r>
                  <a:rPr lang="en-ZA" sz="2400" b="1" dirty="0"/>
                  <a:t>1</a:t>
                </a:r>
                <a:r>
                  <a:rPr lang="en-ZA" sz="2400" dirty="0"/>
                  <a:t> and </a:t>
                </a:r>
                <a:r>
                  <a:rPr lang="en-ZA" sz="2400" b="1" dirty="0"/>
                  <a:t>n</a:t>
                </a:r>
                <a:r>
                  <a:rPr lang="en-ZA" sz="2400" dirty="0"/>
                  <a:t>. </a:t>
                </a:r>
              </a:p>
              <a:p>
                <a:endParaRPr lang="en-ZA" sz="2400" dirty="0"/>
              </a:p>
              <a:p>
                <a:r>
                  <a:rPr lang="en-ZA" sz="2400" dirty="0"/>
                  <a:t>Or, in a simple mathematical form:</a:t>
                </a:r>
              </a:p>
              <a:p>
                <a14:m>
                  <m:oMathPara xmlns:m="http://schemas.openxmlformats.org/officeDocument/2006/math">
                    <m:oMathParaPr>
                      <m:jc m:val="centerGroup"/>
                    </m:oMathParaPr>
                    <m:oMath xmlns:m="http://schemas.openxmlformats.org/officeDocument/2006/math">
                      <m:r>
                        <m:rPr>
                          <m:nor/>
                        </m:rPr>
                        <a:rPr lang="en-ZA" sz="2400" b="0"/>
                        <m:t>Prime</m:t>
                      </m:r>
                      <m:r>
                        <m:rPr>
                          <m:nor/>
                        </m:rPr>
                        <a:rPr lang="en-ZA" sz="2400" b="0" i="1"/>
                        <m:t> </m:t>
                      </m:r>
                      <m:r>
                        <m:rPr>
                          <m:nor/>
                        </m:rPr>
                        <a:rPr lang="en-ZA" sz="2400" b="0" i="1"/>
                        <m:t>if</m:t>
                      </m:r>
                      <m:r>
                        <m:rPr>
                          <m:nor/>
                        </m:rPr>
                        <a:rPr lang="en-ZA" sz="2400" b="0" i="1"/>
                        <m:t> </m:t>
                      </m:r>
                      <m:r>
                        <a:rPr lang="en-ZA" sz="2400" b="0" i="1"/>
                        <m:t>𝑛</m:t>
                      </m:r>
                      <m:r>
                        <m:rPr>
                          <m:nor/>
                        </m:rPr>
                        <a:rPr lang="en-ZA" sz="2400" b="0" i="1"/>
                        <m:t>  </m:t>
                      </m:r>
                      <m:r>
                        <a:rPr lang="en-ZA" sz="2400" b="0" i="1"/>
                        <m:t>𝑖</m:t>
                      </m:r>
                      <m:r>
                        <a:rPr lang="en-ZA" sz="2400"/>
                        <m:t>≠0 </m:t>
                      </m:r>
                      <m:r>
                        <m:rPr>
                          <m:nor/>
                        </m:rPr>
                        <a:rPr lang="en-ZA" sz="2400" i="1"/>
                        <m:t>for</m:t>
                      </m:r>
                      <m:r>
                        <m:rPr>
                          <m:nor/>
                        </m:rPr>
                        <a:rPr lang="en-ZA" sz="2400" i="1"/>
                        <m:t> </m:t>
                      </m:r>
                      <m:r>
                        <m:rPr>
                          <m:nor/>
                        </m:rPr>
                        <a:rPr lang="en-ZA" sz="2400" i="1"/>
                        <m:t>all</m:t>
                      </m:r>
                      <m:r>
                        <m:rPr>
                          <m:nor/>
                        </m:rPr>
                        <a:rPr lang="en-ZA" sz="2400" i="1"/>
                        <m:t> </m:t>
                      </m:r>
                      <m:r>
                        <a:rPr lang="en-ZA" sz="2400" i="1"/>
                        <m:t>𝑖</m:t>
                      </m:r>
                      <m:r>
                        <a:rPr lang="en-ZA" sz="2400"/>
                        <m:t>=2,3,…,</m:t>
                      </m:r>
                      <m:r>
                        <a:rPr lang="en-ZA" sz="2400" i="1"/>
                        <m:t>𝑛</m:t>
                      </m:r>
                      <m:r>
                        <a:rPr lang="en-ZA" sz="2400"/>
                        <m:t>−1</m:t>
                      </m:r>
                    </m:oMath>
                  </m:oMathPara>
                </a14:m>
                <a:endParaRPr lang="en-ZA" sz="2400" b="0" dirty="0"/>
              </a:p>
              <a:p>
                <a:r>
                  <a:rPr lang="en-ZA" sz="2400" dirty="0"/>
                  <a:t>where % (modulus) gives the remainder after division.</a:t>
                </a:r>
                <a:endParaRPr lang="en-ZA" sz="2400" b="1" dirty="0"/>
              </a:p>
              <a:p>
                <a:endParaRPr lang="en-ZA" sz="2400" dirty="0"/>
              </a:p>
            </p:txBody>
          </p:sp>
        </mc:Choice>
        <mc:Fallback>
          <p:sp>
            <p:nvSpPr>
              <p:cNvPr id="6" name="TextBox 5">
                <a:extLst>
                  <a:ext uri="{FF2B5EF4-FFF2-40B4-BE49-F238E27FC236}">
                    <a16:creationId xmlns:a16="http://schemas.microsoft.com/office/drawing/2014/main" id="{A4F65810-B599-7B2A-DBD8-9673B859DE5A}"/>
                  </a:ext>
                </a:extLst>
              </p:cNvPr>
              <p:cNvSpPr txBox="1">
                <a:spLocks noRot="1" noChangeAspect="1" noMove="1" noResize="1" noEditPoints="1" noAdjustHandles="1" noChangeArrowheads="1" noChangeShapeType="1" noTextEdit="1"/>
              </p:cNvSpPr>
              <p:nvPr/>
            </p:nvSpPr>
            <p:spPr>
              <a:xfrm>
                <a:off x="471487" y="2062069"/>
                <a:ext cx="5796966" cy="4146456"/>
              </a:xfrm>
              <a:prstGeom prst="rect">
                <a:avLst/>
              </a:prstGeom>
              <a:blipFill>
                <a:blip r:embed="rId3"/>
                <a:stretch>
                  <a:fillRect l="-1577" t="-1176" r="-2419"/>
                </a:stretch>
              </a:blipFill>
            </p:spPr>
            <p:txBody>
              <a:bodyPr/>
              <a:lstStyle/>
              <a:p>
                <a:r>
                  <a:rPr lang="en-ZA">
                    <a:noFill/>
                  </a:rPr>
                  <a:t> </a:t>
                </a:r>
              </a:p>
            </p:txBody>
          </p:sp>
        </mc:Fallback>
      </mc:AlternateContent>
    </p:spTree>
    <p:extLst>
      <p:ext uri="{BB962C8B-B14F-4D97-AF65-F5344CB8AC3E}">
        <p14:creationId xmlns:p14="http://schemas.microsoft.com/office/powerpoint/2010/main" val="2528671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D8738-12C2-1050-B506-974E38AC2E1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E4A9B12-8E15-980F-D26D-34EF86C89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6" y="-152400"/>
            <a:ext cx="6930551" cy="10058400"/>
          </a:xfrm>
          <a:prstGeom prst="rect">
            <a:avLst/>
          </a:prstGeom>
        </p:spPr>
      </p:pic>
      <p:sp>
        <p:nvSpPr>
          <p:cNvPr id="4" name="TextBox 3">
            <a:extLst>
              <a:ext uri="{FF2B5EF4-FFF2-40B4-BE49-F238E27FC236}">
                <a16:creationId xmlns:a16="http://schemas.microsoft.com/office/drawing/2014/main" id="{A19CF147-AD38-37F3-28DE-C425DC815A27}"/>
              </a:ext>
            </a:extLst>
          </p:cNvPr>
          <p:cNvSpPr txBox="1"/>
          <p:nvPr/>
        </p:nvSpPr>
        <p:spPr>
          <a:xfrm>
            <a:off x="0" y="65927"/>
            <a:ext cx="6858000" cy="1200329"/>
          </a:xfrm>
          <a:prstGeom prst="rect">
            <a:avLst/>
          </a:prstGeom>
          <a:noFill/>
        </p:spPr>
        <p:txBody>
          <a:bodyPr wrap="square" rtlCol="0">
            <a:spAutoFit/>
          </a:bodyPr>
          <a:lstStyle/>
          <a:p>
            <a:r>
              <a:rPr lang="en-ZA" sz="3600" b="1" dirty="0"/>
              <a:t>Recursively Calculating Prime Number Function</a:t>
            </a:r>
            <a:endParaRPr lang="en-US" sz="3600" b="1" dirty="0"/>
          </a:p>
        </p:txBody>
      </p:sp>
      <p:sp>
        <p:nvSpPr>
          <p:cNvPr id="2" name="Content Placeholder 2">
            <a:extLst>
              <a:ext uri="{FF2B5EF4-FFF2-40B4-BE49-F238E27FC236}">
                <a16:creationId xmlns:a16="http://schemas.microsoft.com/office/drawing/2014/main" id="{4679A579-A96B-F6F0-6F30-878C17764F7E}"/>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sz="2600" dirty="0"/>
          </a:p>
        </p:txBody>
      </p:sp>
      <p:sp>
        <p:nvSpPr>
          <p:cNvPr id="10" name="TextBox 9">
            <a:extLst>
              <a:ext uri="{FF2B5EF4-FFF2-40B4-BE49-F238E27FC236}">
                <a16:creationId xmlns:a16="http://schemas.microsoft.com/office/drawing/2014/main" id="{B6F9BBB4-9E82-AC9E-7100-E8517FE6AFEE}"/>
              </a:ext>
            </a:extLst>
          </p:cNvPr>
          <p:cNvSpPr txBox="1"/>
          <p:nvPr/>
        </p:nvSpPr>
        <p:spPr>
          <a:xfrm>
            <a:off x="471486" y="8430858"/>
            <a:ext cx="5219450" cy="461665"/>
          </a:xfrm>
          <a:prstGeom prst="rect">
            <a:avLst/>
          </a:prstGeom>
          <a:noFill/>
        </p:spPr>
        <p:txBody>
          <a:bodyPr wrap="square">
            <a:spAutoFit/>
          </a:bodyPr>
          <a:lstStyle/>
          <a:p>
            <a:r>
              <a:rPr lang="en-ZA" sz="2400" b="0" i="0" u="none" strike="noStrike" baseline="0" dirty="0">
                <a:latin typeface="GoudySans-Book"/>
              </a:rPr>
              <a:t>Recursive Prime Number Function.</a:t>
            </a:r>
            <a:endParaRPr lang="en-ZA" sz="2400" dirty="0"/>
          </a:p>
        </p:txBody>
      </p:sp>
      <p:sp>
        <p:nvSpPr>
          <p:cNvPr id="6" name="TextBox 5">
            <a:extLst>
              <a:ext uri="{FF2B5EF4-FFF2-40B4-BE49-F238E27FC236}">
                <a16:creationId xmlns:a16="http://schemas.microsoft.com/office/drawing/2014/main" id="{77164FA4-136B-09BA-FA83-A4DABB4D2384}"/>
              </a:ext>
            </a:extLst>
          </p:cNvPr>
          <p:cNvSpPr txBox="1"/>
          <p:nvPr/>
        </p:nvSpPr>
        <p:spPr>
          <a:xfrm>
            <a:off x="471487" y="2062069"/>
            <a:ext cx="5796966" cy="3046988"/>
          </a:xfrm>
          <a:prstGeom prst="rect">
            <a:avLst/>
          </a:prstGeom>
          <a:noFill/>
        </p:spPr>
        <p:txBody>
          <a:bodyPr wrap="square">
            <a:spAutoFit/>
          </a:bodyPr>
          <a:lstStyle/>
          <a:p>
            <a:r>
              <a:rPr lang="en-ZA" sz="2400" b="1" dirty="0"/>
              <a:t>Simple Algorithm</a:t>
            </a:r>
          </a:p>
          <a:p>
            <a:endParaRPr lang="en-ZA" sz="2400" dirty="0"/>
          </a:p>
          <a:p>
            <a:r>
              <a:rPr lang="en-ZA" sz="2400" dirty="0"/>
              <a:t>Input a number n. </a:t>
            </a:r>
          </a:p>
          <a:p>
            <a:r>
              <a:rPr lang="en-ZA" sz="2400" dirty="0"/>
              <a:t>If n &lt;= 1, it is </a:t>
            </a:r>
            <a:r>
              <a:rPr lang="en-ZA" sz="2400" b="1" dirty="0"/>
              <a:t>not prime</a:t>
            </a:r>
            <a:r>
              <a:rPr lang="en-ZA" sz="2400" dirty="0"/>
              <a:t>. </a:t>
            </a:r>
          </a:p>
          <a:p>
            <a:r>
              <a:rPr lang="en-ZA" sz="2400" dirty="0"/>
              <a:t>Check every number from 2 to n - 1. </a:t>
            </a:r>
          </a:p>
          <a:p>
            <a:r>
              <a:rPr lang="en-ZA" sz="2400" dirty="0"/>
              <a:t>If any number divides n exactly (n % </a:t>
            </a:r>
            <a:r>
              <a:rPr lang="en-ZA" sz="2400" dirty="0" err="1"/>
              <a:t>i</a:t>
            </a:r>
            <a:r>
              <a:rPr lang="en-ZA" sz="2400" dirty="0"/>
              <a:t> == 0), it is </a:t>
            </a:r>
            <a:r>
              <a:rPr lang="en-ZA" sz="2400" b="1" dirty="0"/>
              <a:t>not prime</a:t>
            </a:r>
            <a:r>
              <a:rPr lang="en-ZA" sz="2400" dirty="0"/>
              <a:t>. </a:t>
            </a:r>
          </a:p>
          <a:p>
            <a:r>
              <a:rPr lang="en-ZA" sz="2400" dirty="0"/>
              <a:t>Otherwise, it is </a:t>
            </a:r>
            <a:r>
              <a:rPr lang="en-ZA" sz="2400" b="1" dirty="0"/>
              <a:t>prime</a:t>
            </a:r>
            <a:r>
              <a:rPr lang="en-ZA" sz="2400" dirty="0"/>
              <a:t>.</a:t>
            </a:r>
          </a:p>
        </p:txBody>
      </p:sp>
    </p:spTree>
    <p:extLst>
      <p:ext uri="{BB962C8B-B14F-4D97-AF65-F5344CB8AC3E}">
        <p14:creationId xmlns:p14="http://schemas.microsoft.com/office/powerpoint/2010/main" val="2144364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5557</TotalTime>
  <Words>1157</Words>
  <Application>Microsoft Office PowerPoint</Application>
  <PresentationFormat>A4 Paper (210x297 mm)</PresentationFormat>
  <Paragraphs>126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AGaramond-Regular</vt:lpstr>
      <vt:lpstr>Aptos</vt:lpstr>
      <vt:lpstr>Arial</vt:lpstr>
      <vt:lpstr>Calibri</vt:lpstr>
      <vt:lpstr>Calibri Light</vt:lpstr>
      <vt:lpstr>GoudySans-Book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558</cp:revision>
  <dcterms:created xsi:type="dcterms:W3CDTF">2023-03-27T09:07:22Z</dcterms:created>
  <dcterms:modified xsi:type="dcterms:W3CDTF">2026-07-10T16:53:44Z</dcterms:modified>
</cp:coreProperties>
</file>