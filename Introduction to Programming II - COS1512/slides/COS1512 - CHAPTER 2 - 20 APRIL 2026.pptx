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6" r:id="rId3"/>
    <p:sldId id="267" r:id="rId4"/>
    <p:sldId id="268" r:id="rId5"/>
    <p:sldId id="282" r:id="rId6"/>
    <p:sldId id="281" r:id="rId7"/>
    <p:sldId id="287" r:id="rId8"/>
    <p:sldId id="288" r:id="rId9"/>
    <p:sldId id="269" r:id="rId10"/>
    <p:sldId id="280" r:id="rId11"/>
    <p:sldId id="270" r:id="rId12"/>
    <p:sldId id="279" r:id="rId13"/>
    <p:sldId id="272" r:id="rId14"/>
    <p:sldId id="273" r:id="rId15"/>
    <p:sldId id="275" r:id="rId16"/>
    <p:sldId id="276" r:id="rId17"/>
    <p:sldId id="277" r:id="rId18"/>
    <p:sldId id="283" r:id="rId19"/>
    <p:sldId id="286" r:id="rId20"/>
    <p:sldId id="284" r:id="rId21"/>
    <p:sldId id="285" r:id="rId22"/>
    <p:sldId id="278" r:id="rId2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3" d="100"/>
          <a:sy n="53" d="100"/>
        </p:scale>
        <p:origin x="2024" y="-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136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42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206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296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33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50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651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890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218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79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523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8951E-0A73-476C-B990-BA3D65A812C5}" type="datetimeFigureOut">
              <a:rPr lang="en-ZA" smtClean="0"/>
              <a:t>2026/04/21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8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E509FF9-BDD9-A1BF-5237-538EDDB6B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BA4A3A-9CBD-44CA-33BC-CBAF4E859677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COS1512 – Online Class Session – 20 APRIL 2026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44F4B-5D92-BFC5-653C-CD4E349F6C3A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COS1512 – INTRODUCTION TO PROGRAMMING II – Using C++</a:t>
            </a:r>
            <a:endParaRPr lang="en-Z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CD2F3-FE1E-ECCE-5428-E1525056D51E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Academic Year: 2026</a:t>
            </a:r>
          </a:p>
          <a:p>
            <a:r>
              <a:rPr lang="en-US" sz="2400" b="1" i="1" dirty="0"/>
              <a:t>Date: 20 APRIL 2026</a:t>
            </a:r>
          </a:p>
          <a:p>
            <a:r>
              <a:rPr lang="en-US" sz="2400" b="1" i="1" dirty="0"/>
              <a:t>Time: 17:00 PM to 19:00 PM</a:t>
            </a:r>
            <a:endParaRPr lang="en-ZA" sz="2400" b="1" i="1" dirty="0"/>
          </a:p>
        </p:txBody>
      </p:sp>
    </p:spTree>
    <p:extLst>
      <p:ext uri="{BB962C8B-B14F-4D97-AF65-F5344CB8AC3E}">
        <p14:creationId xmlns:p14="http://schemas.microsoft.com/office/powerpoint/2010/main" val="49659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1252-968A-A97A-6796-E8553F19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BF1D3AB-2F2A-1FCB-96ED-9EF33DE56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2EFCF2-CB78-E497-F9BE-A5AC45242B2A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Chapter 2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19299-7E0C-EB3F-6C39-08CDCDA7A501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Chapter 2</a:t>
            </a:r>
            <a:endParaRPr lang="en-US" sz="4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602D-94A4-AD8F-019E-D2D062AF4298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b="1" i="1" dirty="0"/>
          </a:p>
        </p:txBody>
      </p:sp>
    </p:spTree>
    <p:extLst>
      <p:ext uri="{BB962C8B-B14F-4D97-AF65-F5344CB8AC3E}">
        <p14:creationId xmlns:p14="http://schemas.microsoft.com/office/powerpoint/2010/main" val="259132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BD26-80FA-7F66-3987-963EB7F2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C44998F-9DCE-2AE0-4144-F073D5F73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4FF0-8370-A7DC-3EEE-615C5BB6B375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Chapter 2 C++ Programming Basics 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D28D54-B58B-08EC-2E1B-772D6B1BFB63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Variables and Assignment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Data Types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Variables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Names: Identifiers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Variable Declarations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Assignment Statements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Input and Output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Standard input / output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Input / output streams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1642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4B07-4801-FE8E-85AC-EDAF599B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5806CA6-7342-7D12-53F8-8B8CB8024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B88A41-482E-793F-57AA-C23CD9D42D81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Variables and Assignment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8290DF-774A-0B07-4DE8-6A6C33D7C644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/>
              <a:t>Variables and Assignment</a:t>
            </a:r>
          </a:p>
          <a:p>
            <a:pPr algn="l"/>
            <a:r>
              <a:rPr lang="en-US" sz="2800" b="1" dirty="0"/>
              <a:t>This chapter introduces the basics of C++.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70208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3435-8A04-D5C7-7C2A-951E2F67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5099A57-1918-6DA5-F102-80BE957A4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D9161B-F744-5DBB-DA5C-34AC8CD086E6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625C28-D345-B43E-4ECE-6557E0B26AC4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</a:pPr>
            <a:r>
              <a:rPr lang="en-US" sz="2400" dirty="0"/>
              <a:t>The objective of a C++ program is to manipulate data.</a:t>
            </a:r>
          </a:p>
          <a:p>
            <a:pPr algn="l">
              <a:lnSpc>
                <a:spcPct val="80000"/>
              </a:lnSpc>
            </a:pPr>
            <a:r>
              <a:rPr lang="en-ZA" sz="2400" dirty="0"/>
              <a:t>Example of Data: E-Commerce Customer Table</a:t>
            </a:r>
          </a:p>
          <a:p>
            <a:pPr algn="l">
              <a:lnSpc>
                <a:spcPct val="80000"/>
              </a:lnSpc>
            </a:pPr>
            <a:endParaRPr lang="en-US"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D88C6B-CEE8-FDFE-91AC-DD410180B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36887"/>
              </p:ext>
            </p:extLst>
          </p:nvPr>
        </p:nvGraphicFramePr>
        <p:xfrm>
          <a:off x="127010" y="4281338"/>
          <a:ext cx="6531427" cy="4640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061">
                  <a:extLst>
                    <a:ext uri="{9D8B030D-6E8A-4147-A177-3AD203B41FA5}">
                      <a16:colId xmlns:a16="http://schemas.microsoft.com/office/drawing/2014/main" val="530779746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3062895629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858327253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3761595863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3488654767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451677094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2511312023"/>
                    </a:ext>
                  </a:extLst>
                </a:gridCol>
              </a:tblGrid>
              <a:tr h="842306">
                <a:tc>
                  <a:txBody>
                    <a:bodyPr/>
                    <a:lstStyle/>
                    <a:p>
                      <a:r>
                        <a:rPr lang="en-US" sz="1400" b="1" dirty="0"/>
                        <a:t>Customer ID 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Full Name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Email Address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Date of Birth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Is Active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Account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299131"/>
                  </a:ext>
                </a:extLst>
              </a:tr>
              <a:tr h="1189138">
                <a:tc>
                  <a:txBody>
                    <a:bodyPr/>
                    <a:lstStyle/>
                    <a:p>
                      <a:r>
                        <a:rPr lang="en-US" sz="1400" b="1" dirty="0"/>
                        <a:t>A101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Jane Doe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jane@example.com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1992-05-14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150.50</a:t>
                      </a:r>
                      <a:endParaRPr lang="en-Z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69433"/>
                  </a:ext>
                </a:extLst>
              </a:tr>
              <a:tr h="1189138">
                <a:tc>
                  <a:txBody>
                    <a:bodyPr/>
                    <a:lstStyle/>
                    <a:p>
                      <a:r>
                        <a:rPr lang="en-US" sz="1400" b="1" dirty="0"/>
                        <a:t>A102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John Smith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john.s@web.com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1985-11-30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False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20.00</a:t>
                      </a:r>
                      <a:endParaRPr lang="en-Z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45539"/>
                  </a:ext>
                </a:extLst>
              </a:tr>
              <a:tr h="602827">
                <a:tc gridSpan="7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Data Type</a:t>
                      </a:r>
                      <a:endParaRPr lang="en-ZA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54355"/>
                  </a:ext>
                </a:extLst>
              </a:tr>
              <a:tr h="81753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Char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Date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Boolean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Decimal / Float / Double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93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4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9DDE-C91C-F156-E67B-785187E7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26832E9-AE6A-E9D1-72C3-A8935EC31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1C58FA-D839-CD0E-F409-022A3C8F7D52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731BA79-0FFA-001A-0DCC-A2A77F293959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b="1" dirty="0"/>
              <a:t>Integral Types</a:t>
            </a:r>
            <a:r>
              <a:rPr lang="en-US" altLang="en-US" sz="22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represent whole numbers and their negatives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declared as int,  short, or long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1300" dirty="0"/>
              <a:t>int num = 32;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endParaRPr lang="en-US" altLang="en-US" sz="1000" dirty="0"/>
          </a:p>
          <a:p>
            <a:pPr>
              <a:lnSpc>
                <a:spcPct val="80000"/>
              </a:lnSpc>
            </a:pPr>
            <a:r>
              <a:rPr lang="en-US" altLang="en-US" sz="2200" b="1" dirty="0"/>
              <a:t>Character Types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represent single characters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declared as char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1300" dirty="0"/>
              <a:t>char </a:t>
            </a:r>
            <a:r>
              <a:rPr lang="en-US" altLang="en-US" sz="1300" dirty="0" err="1"/>
              <a:t>myChar</a:t>
            </a:r>
            <a:r>
              <a:rPr lang="en-US" altLang="en-US" sz="1300" dirty="0"/>
              <a:t> = ‘A’;</a:t>
            </a:r>
          </a:p>
          <a:p>
            <a:pPr>
              <a:lnSpc>
                <a:spcPct val="80000"/>
              </a:lnSpc>
            </a:pPr>
            <a:r>
              <a:rPr lang="en-US" altLang="en-US" sz="2200" b="1" dirty="0"/>
              <a:t>Boolean Type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1700" dirty="0"/>
              <a:t>declared as a bool 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1700" dirty="0"/>
              <a:t>has only 2 values true/false</a:t>
            </a:r>
          </a:p>
          <a:p>
            <a:pPr marL="1200150" lvl="3" indent="-342900">
              <a:lnSpc>
                <a:spcPct val="80000"/>
              </a:lnSpc>
            </a:pPr>
            <a:r>
              <a:rPr lang="en-US" altLang="en-US" sz="1500" dirty="0"/>
              <a:t>bool </a:t>
            </a:r>
            <a:r>
              <a:rPr lang="en-US" altLang="en-US" sz="1500" dirty="0" err="1"/>
              <a:t>isRaining</a:t>
            </a:r>
            <a:r>
              <a:rPr lang="en-US" altLang="en-US" sz="1500" dirty="0"/>
              <a:t> = true;</a:t>
            </a:r>
          </a:p>
          <a:p>
            <a:pPr>
              <a:lnSpc>
                <a:spcPct val="80000"/>
              </a:lnSpc>
            </a:pPr>
            <a:r>
              <a:rPr lang="en-US" altLang="en-US" sz="2200" b="1" dirty="0"/>
              <a:t>Floating Types</a:t>
            </a:r>
            <a:r>
              <a:rPr lang="en-US" altLang="en-US" sz="22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represent real numbers with a decimal point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declared as float, or double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1300" dirty="0"/>
              <a:t>float pi = 3.14159;</a:t>
            </a: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3270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DAF5-D692-9C4E-3DA4-BB3538D5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A586AAA-902C-237B-0149-64F65E64F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748734-6588-D513-E76F-0A515384C342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55F828-6D9C-8F84-F86A-8D411F4FC751}"/>
              </a:ext>
            </a:extLst>
          </p:cNvPr>
          <p:cNvSpPr txBox="1">
            <a:spLocks/>
          </p:cNvSpPr>
          <p:nvPr/>
        </p:nvSpPr>
        <p:spPr>
          <a:xfrm>
            <a:off x="471488" y="1515979"/>
            <a:ext cx="5915025" cy="7406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b="1" dirty="0"/>
              <a:t>Integral Types</a:t>
            </a:r>
            <a:r>
              <a:rPr lang="en-US" altLang="en-US" sz="24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represent whole numbers and their negatives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declared as int,  short, or long.</a:t>
            </a:r>
          </a:p>
          <a:p>
            <a:r>
              <a:rPr lang="en-US" altLang="en-US" sz="2400" dirty="0"/>
              <a:t>A comma cannot be used within an integer. Commas are only used for separating items in a list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num = 32;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b="1" dirty="0"/>
          </a:p>
          <a:p>
            <a:pPr>
              <a:lnSpc>
                <a:spcPct val="80000"/>
              </a:lnSpc>
            </a:pPr>
            <a:r>
              <a:rPr lang="en-US" altLang="en-US" sz="2400" b="1" dirty="0"/>
              <a:t>Character Types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represent single characters</a:t>
            </a:r>
          </a:p>
          <a:p>
            <a:r>
              <a:rPr lang="en-US" altLang="en-US" sz="2400" dirty="0"/>
              <a:t>declared as char. It is used for single characters: letters, digits, and special symbols</a:t>
            </a:r>
          </a:p>
          <a:p>
            <a:r>
              <a:rPr lang="en-US" altLang="en-US" sz="2400" dirty="0"/>
              <a:t>Each character is enclosed in single quotes. </a:t>
            </a:r>
            <a:r>
              <a:rPr lang="en-US" altLang="en-US" sz="2400" dirty="0" err="1"/>
              <a:t>Eg.</a:t>
            </a:r>
            <a:r>
              <a:rPr lang="en-US" altLang="en-US" sz="2400" dirty="0"/>
              <a:t>, ‘M’, ‘F’, ‘0’, ‘+’, ‘*’, ‘$’, ‘&amp;’</a:t>
            </a:r>
          </a:p>
          <a:p>
            <a:r>
              <a:rPr lang="en-US" altLang="en-US" sz="2400" dirty="0"/>
              <a:t>A blank space is a character written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altLang="en-US" sz="2400" dirty="0"/>
              <a:t>, with a space left between the single quotes.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‘A’;</a:t>
            </a:r>
          </a:p>
          <a:p>
            <a:pPr algn="l"/>
            <a:endParaRPr lang="en-US" sz="2400" dirty="0"/>
          </a:p>
          <a:p>
            <a:r>
              <a:rPr lang="en-US" altLang="en-US" sz="2400" dirty="0"/>
              <a:t>Different character data sets exist</a:t>
            </a:r>
          </a:p>
          <a:p>
            <a:r>
              <a:rPr lang="en-US" altLang="en-US" sz="2400" dirty="0"/>
              <a:t>ASCII: American Standard Code for Information Interchange.</a:t>
            </a:r>
          </a:p>
          <a:p>
            <a:pPr lvl="1"/>
            <a:r>
              <a:rPr lang="en-US" altLang="en-US" sz="2400" dirty="0"/>
              <a:t>Each of 128 values in ASCII code set represents a different character.</a:t>
            </a:r>
          </a:p>
          <a:p>
            <a:pPr lvl="1"/>
            <a:r>
              <a:rPr lang="en-US" altLang="en-US" sz="2400" dirty="0"/>
              <a:t>Characters have a predefined ordering based on the ASCII numeric value.</a:t>
            </a:r>
          </a:p>
          <a:p>
            <a:pPr algn="l"/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0691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DFC3-77B2-42F4-DFC6-73EE6C8B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4471B30-52D2-0431-4B7E-D3B63FA4F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914B31-B292-E10B-4986-25F21A1E1CBE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CE45D0-42CE-9457-064F-80A2B6FF81AF}"/>
              </a:ext>
            </a:extLst>
          </p:cNvPr>
          <p:cNvSpPr txBox="1">
            <a:spLocks/>
          </p:cNvSpPr>
          <p:nvPr/>
        </p:nvSpPr>
        <p:spPr>
          <a:xfrm>
            <a:off x="471488" y="1515979"/>
            <a:ext cx="5915025" cy="740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b="1" dirty="0"/>
              <a:t>Boolean Type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2400" dirty="0"/>
              <a:t>declared as a bool 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2400" dirty="0"/>
              <a:t>has only two (2) values true/false. Purpose: to manipulate logical (Boolean) expressions</a:t>
            </a:r>
          </a:p>
          <a:p>
            <a:pPr marL="1200150" lvl="3" indent="-342900">
              <a:lnSpc>
                <a:spcPct val="80000"/>
              </a:lnSpc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isRaining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true;</a:t>
            </a:r>
          </a:p>
          <a:p>
            <a:pPr marL="1200150" lvl="3" indent="-342900"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b="1" dirty="0"/>
              <a:t>Floating Types</a:t>
            </a:r>
            <a:r>
              <a:rPr lang="en-US" altLang="en-US" sz="24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represent real numbers with a decimal point declared as float, or double.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Float point range: </a:t>
            </a:r>
            <a:r>
              <a:rPr lang="en-US" altLang="en-US" sz="2400" b="1" dirty="0"/>
              <a:t>four bytes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Double range: </a:t>
            </a:r>
            <a:r>
              <a:rPr lang="en-US" altLang="en-US" sz="2400" b="1" dirty="0"/>
              <a:t>eight bytes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float pi = 3.14159;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0579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7E7C-3659-E552-CFFD-B7D70A9E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F84FCE6-C0F6-6E5B-FE23-2628EC692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D4E23B-6DD5-7975-A3A0-9F1E59820150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7F876A-42CB-0D9F-B315-C6A516E3691F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dirty="0"/>
              <a:t>A variable is a named storage location in memory used to hold data.</a:t>
            </a:r>
          </a:p>
          <a:p>
            <a:r>
              <a:rPr lang="en-GB" altLang="en-US" sz="2000" b="1" dirty="0"/>
              <a:t>Key points:</a:t>
            </a:r>
            <a:endParaRPr lang="en-US" altLang="en-US" sz="2000" b="1" dirty="0"/>
          </a:p>
          <a:p>
            <a:pPr lvl="1"/>
            <a:r>
              <a:rPr lang="en-US" altLang="en-US" sz="1600" dirty="0"/>
              <a:t>Declaring a variable means specifying both its </a:t>
            </a:r>
            <a:r>
              <a:rPr lang="en-US" altLang="en-US" sz="1600" dirty="0">
                <a:solidFill>
                  <a:srgbClr val="FF0000"/>
                </a:solidFill>
              </a:rPr>
              <a:t>name</a:t>
            </a:r>
            <a:r>
              <a:rPr lang="en-US" altLang="en-US" sz="1600" dirty="0"/>
              <a:t> and its </a:t>
            </a:r>
            <a:r>
              <a:rPr lang="en-US" altLang="en-US" sz="1600" dirty="0">
                <a:solidFill>
                  <a:srgbClr val="0070C0"/>
                </a:solidFill>
              </a:rPr>
              <a:t>data type</a:t>
            </a:r>
            <a:r>
              <a:rPr lang="en-US" altLang="en-US" sz="1600" dirty="0"/>
              <a:t>.</a:t>
            </a:r>
          </a:p>
          <a:p>
            <a:pPr lvl="1"/>
            <a:r>
              <a:rPr lang="en-GB" altLang="en-US" sz="1600" dirty="0"/>
              <a:t>It holds a piece of data.	</a:t>
            </a:r>
          </a:p>
          <a:p>
            <a:pPr lvl="1"/>
            <a:r>
              <a:rPr lang="en-GB" altLang="en-US" sz="1600" dirty="0"/>
              <a:t>The data that it holds may change while the program is running.</a:t>
            </a:r>
          </a:p>
          <a:p>
            <a:pPr lvl="1"/>
            <a:r>
              <a:rPr lang="en-US" altLang="en-US" sz="1600" b="1" i="1" dirty="0"/>
              <a:t>The name of the variable should describe its purpose to make the code more readable and maintainable.</a:t>
            </a:r>
          </a:p>
          <a:p>
            <a:pPr lvl="1"/>
            <a:r>
              <a:rPr lang="en-US" altLang="en-US" sz="1600" dirty="0"/>
              <a:t>A variable must be defined (declared) before it can be used.</a:t>
            </a:r>
            <a:endParaRPr lang="en-GB" altLang="en-US" sz="1600" dirty="0"/>
          </a:p>
          <a:p>
            <a:pPr lvl="1"/>
            <a:endParaRPr lang="en-GB" altLang="en-US" sz="1600" dirty="0"/>
          </a:p>
          <a:p>
            <a:r>
              <a:rPr lang="en-GB" altLang="en-US" sz="2000" b="1" dirty="0"/>
              <a:t>Example variable definition:</a:t>
            </a:r>
          </a:p>
          <a:p>
            <a:pPr lvl="1"/>
            <a:r>
              <a:rPr lang="en-GB" altLang="en-US" sz="2000" dirty="0"/>
              <a:t>double salary; // </a:t>
            </a:r>
            <a:r>
              <a:rPr lang="en-GB" altLang="en-US" sz="2000" dirty="0">
                <a:solidFill>
                  <a:srgbClr val="FF0000"/>
                </a:solidFill>
              </a:rPr>
              <a:t>stores decimal numbers (e.g., 3.14)</a:t>
            </a:r>
          </a:p>
          <a:p>
            <a:pPr lvl="1"/>
            <a:r>
              <a:rPr lang="en-GB" altLang="en-US" sz="2000" dirty="0"/>
              <a:t>int age; // </a:t>
            </a:r>
            <a:r>
              <a:rPr lang="en-GB" altLang="en-US" sz="2000" dirty="0">
                <a:solidFill>
                  <a:srgbClr val="FF0000"/>
                </a:solidFill>
              </a:rPr>
              <a:t>stores whole numbers (e.g., 25)</a:t>
            </a:r>
          </a:p>
          <a:p>
            <a:pPr lvl="1"/>
            <a:r>
              <a:rPr lang="en-GB" altLang="en-US" sz="2000" dirty="0"/>
              <a:t>Char grade; // </a:t>
            </a:r>
            <a:r>
              <a:rPr lang="en-GB" altLang="en-US" sz="2000" dirty="0">
                <a:solidFill>
                  <a:srgbClr val="FF0000"/>
                </a:solidFill>
              </a:rPr>
              <a:t>stores a single character (e.g., ‘A’)</a:t>
            </a:r>
          </a:p>
          <a:p>
            <a:pPr lvl="1"/>
            <a:endParaRPr lang="en-GB" altLang="en-US" sz="2000" dirty="0">
              <a:solidFill>
                <a:srgbClr val="FF0000"/>
              </a:solidFill>
            </a:endParaRP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Data types specify the kind of data a variable can hold (e.g., integers, floating-point numbers, characters).</a:t>
            </a: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0798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D150-DFC7-5EAD-ED03-56A5B4E6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1ADEB794-D5BA-0B0F-0FD5-06F0CE17D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033C97-2E89-F461-B46F-24DEF547A94D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Variables and Their Values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D5ABC2-EAA1-5534-916E-B9FEDDD2CE93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9085" marR="739775" indent="-287020">
              <a:spcBef>
                <a:spcPts val="95"/>
              </a:spcBef>
              <a:buChar char="–"/>
              <a:tabLst>
                <a:tab pos="299720" algn="l"/>
              </a:tabLst>
            </a:pPr>
            <a:r>
              <a:rPr lang="en-US" sz="2400" spc="-5" dirty="0">
                <a:cs typeface="Arial MT"/>
              </a:rPr>
              <a:t>When</a:t>
            </a:r>
            <a:r>
              <a:rPr lang="en-US" sz="2400" spc="-1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a</a:t>
            </a:r>
            <a:r>
              <a:rPr lang="en-US" sz="2400" dirty="0">
                <a:cs typeface="Arial MT"/>
              </a:rPr>
              <a:t> new</a:t>
            </a:r>
            <a:r>
              <a:rPr lang="en-US" sz="2400" spc="-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value </a:t>
            </a:r>
            <a:r>
              <a:rPr lang="en-US" sz="2400" spc="-5" dirty="0">
                <a:cs typeface="Arial MT"/>
              </a:rPr>
              <a:t>is</a:t>
            </a:r>
            <a:r>
              <a:rPr lang="en-US" sz="2400" dirty="0">
                <a:cs typeface="Arial MT"/>
              </a:rPr>
              <a:t> stored</a:t>
            </a:r>
            <a:r>
              <a:rPr lang="en-US" sz="2400" spc="-5" dirty="0">
                <a:cs typeface="Arial MT"/>
              </a:rPr>
              <a:t> in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the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variable, </a:t>
            </a:r>
            <a:r>
              <a:rPr lang="en-US" sz="2400" spc="-5" dirty="0">
                <a:cs typeface="Arial MT"/>
              </a:rPr>
              <a:t>it </a:t>
            </a:r>
            <a:r>
              <a:rPr lang="en-US" sz="2400" spc="-76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replaces </a:t>
            </a:r>
            <a:r>
              <a:rPr lang="en-US" sz="2400" spc="-5" dirty="0">
                <a:cs typeface="Arial MT"/>
              </a:rPr>
              <a:t>the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previous value</a:t>
            </a:r>
          </a:p>
          <a:p>
            <a:pPr marL="299085" marR="5080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2400" spc="-5" dirty="0">
                <a:cs typeface="Arial MT"/>
              </a:rPr>
              <a:t>The </a:t>
            </a:r>
            <a:r>
              <a:rPr lang="en-US" sz="2400" dirty="0">
                <a:cs typeface="Arial MT"/>
              </a:rPr>
              <a:t>previous value </a:t>
            </a:r>
            <a:r>
              <a:rPr lang="en-US" sz="2400" spc="-5" dirty="0">
                <a:cs typeface="Arial MT"/>
              </a:rPr>
              <a:t>is </a:t>
            </a:r>
            <a:r>
              <a:rPr lang="en-US" sz="2400" b="1" dirty="0">
                <a:cs typeface="Arial MT"/>
              </a:rPr>
              <a:t>overwritten</a:t>
            </a:r>
            <a:r>
              <a:rPr lang="en-US" sz="2400" dirty="0">
                <a:cs typeface="Arial MT"/>
              </a:rPr>
              <a:t> and can no </a:t>
            </a:r>
            <a:r>
              <a:rPr lang="en-US" sz="2400" spc="-76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longer</a:t>
            </a:r>
            <a:r>
              <a:rPr lang="en-US" sz="2400" spc="1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be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retrieved</a:t>
            </a:r>
          </a:p>
          <a:p>
            <a:pPr marL="756285" marR="5080" lvl="1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2400" dirty="0">
                <a:cs typeface="Arial MT"/>
              </a:rPr>
              <a:t>unless it is stored elsewhere (like in another variable or before the change).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int age = 25; (initial value)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int previous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Age = age; (store the previous value before changing it)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age = 30; (change the value of age)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highlight>
                  <a:srgbClr val="00FF00"/>
                </a:highlight>
                <a:cs typeface="Arial MT"/>
              </a:rPr>
              <a:t>You will be able to access previous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highlight>
                  <a:srgbClr val="00FF00"/>
                </a:highlight>
                <a:cs typeface="Arial MT"/>
              </a:rPr>
              <a:t>Age to retrieve the old value, even though age was overwritten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endParaRPr lang="en-US" sz="1600" dirty="0">
              <a:highlight>
                <a:srgbClr val="00FF00"/>
              </a:highlight>
              <a:latin typeface="Aptos" panose="020B0004020202020204" pitchFamily="34" charset="0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70CFF-2280-D411-03C6-1B7F0DA0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02" y="1094597"/>
            <a:ext cx="4750044" cy="14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2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EC2E3-24F8-C5A4-5F96-0476F2A5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5383314-739F-C368-D2F6-73892DCEF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2B89D-416F-D53A-1188-114C33C1DD01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Names: Identifiers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A6DA98-8067-6B0A-F882-8D9176365CDE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highlight>
                  <a:srgbClr val="FF0000"/>
                </a:highlight>
              </a:rPr>
              <a:t>An identifier is just a name we give to variables, functions, constants, types, or any element we want to refer to in a C++ program.</a:t>
            </a:r>
          </a:p>
          <a:p>
            <a:pPr>
              <a:defRPr/>
            </a:pPr>
            <a:r>
              <a:rPr lang="en-US" b="1" dirty="0"/>
              <a:t>Identifiers should be descriptive </a:t>
            </a:r>
          </a:p>
          <a:p>
            <a:pPr lvl="1">
              <a:defRPr/>
            </a:pPr>
            <a:r>
              <a:rPr lang="en-US" sz="2800" dirty="0"/>
              <a:t>Using meaningful identifiers is a good programming practice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Makes your code easier to understand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Instead of int x = 5;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Better use: int age = 5;</a:t>
            </a:r>
          </a:p>
          <a:p>
            <a:pPr lvl="3">
              <a:defRPr/>
            </a:pPr>
            <a:r>
              <a:rPr lang="en-US" dirty="0">
                <a:highlight>
                  <a:srgbClr val="FFFF00"/>
                </a:highlight>
              </a:rPr>
              <a:t>double </a:t>
            </a:r>
            <a:r>
              <a:rPr lang="en-US" dirty="0" err="1">
                <a:highlight>
                  <a:srgbClr val="FFFF00"/>
                </a:highlight>
              </a:rPr>
              <a:t>studentAverage</a:t>
            </a:r>
            <a:endParaRPr lang="en-US" dirty="0">
              <a:highlight>
                <a:srgbClr val="FFFF00"/>
              </a:highlight>
            </a:endParaRPr>
          </a:p>
          <a:p>
            <a:pPr lvl="2">
              <a:defRPr/>
            </a:pPr>
            <a:endParaRPr lang="en-US" dirty="0">
              <a:highlight>
                <a:srgbClr val="FFFF00"/>
              </a:highlight>
            </a:endParaRPr>
          </a:p>
          <a:p>
            <a:pPr>
              <a:defRPr/>
            </a:pPr>
            <a:r>
              <a:rPr lang="en-US" dirty="0"/>
              <a:t>C++ is a </a:t>
            </a:r>
            <a:r>
              <a:rPr lang="en-US" b="1" dirty="0"/>
              <a:t>case-sensitive</a:t>
            </a:r>
            <a:r>
              <a:rPr lang="en-US" dirty="0"/>
              <a:t> language.</a:t>
            </a:r>
          </a:p>
          <a:p>
            <a:pPr lvl="1">
              <a:defRPr/>
            </a:pPr>
            <a:r>
              <a:rPr lang="en-US" sz="2800" b="1" dirty="0"/>
              <a:t>Work</a:t>
            </a:r>
            <a:r>
              <a:rPr lang="en-US" sz="2800" dirty="0"/>
              <a:t> is not</a:t>
            </a:r>
            <a:r>
              <a:rPr lang="en-US" sz="2800" b="1" dirty="0"/>
              <a:t> work: </a:t>
            </a:r>
          </a:p>
          <a:p>
            <a:pPr lvl="2">
              <a:defRPr/>
            </a:pPr>
            <a:r>
              <a:rPr lang="en-US" sz="2400" dirty="0">
                <a:highlight>
                  <a:srgbClr val="00FF00"/>
                </a:highlight>
              </a:rPr>
              <a:t>int work = 10;</a:t>
            </a:r>
          </a:p>
          <a:p>
            <a:pPr lvl="2">
              <a:defRPr/>
            </a:pPr>
            <a:r>
              <a:rPr lang="en-US" sz="2400" dirty="0">
                <a:highlight>
                  <a:srgbClr val="00FF00"/>
                </a:highlight>
              </a:rPr>
              <a:t>int Work = 20;</a:t>
            </a:r>
          </a:p>
          <a:p>
            <a:pPr lvl="2">
              <a:defRPr/>
            </a:pPr>
            <a:r>
              <a:rPr lang="en-US" sz="2400" dirty="0"/>
              <a:t>Compiler treats them as completely different identifiers</a:t>
            </a:r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8969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070F-E748-BDFB-3688-5519B51B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A431626-903A-8ECB-7CC1-CE6380AB5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1C49E1-F8DA-271C-A378-CDE7026F8558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Rules for Naming Identifiers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BBE8CE-38CB-22A4-38D1-A7D4FA8945C4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Names: Identifiers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>
              <a:defRPr/>
            </a:pPr>
            <a:r>
              <a:rPr lang="en-US" sz="2600" dirty="0"/>
              <a:t>Must be unique</a:t>
            </a:r>
          </a:p>
          <a:p>
            <a:pPr>
              <a:defRPr/>
            </a:pPr>
            <a:r>
              <a:rPr lang="en-US" sz="2600" dirty="0"/>
              <a:t>Cannot be reserved words (keywords)</a:t>
            </a:r>
          </a:p>
          <a:p>
            <a:pPr lvl="1">
              <a:defRPr/>
            </a:pPr>
            <a:r>
              <a:rPr lang="en-US" sz="2600" b="1" dirty="0"/>
              <a:t>double, main, return</a:t>
            </a:r>
          </a:p>
          <a:p>
            <a:pPr>
              <a:defRPr/>
            </a:pPr>
            <a:r>
              <a:rPr lang="en-US" sz="2600" dirty="0">
                <a:highlight>
                  <a:srgbClr val="00FF00"/>
                </a:highlight>
              </a:rPr>
              <a:t>Must start with a letter or underscore (no spaces or special symbols)</a:t>
            </a:r>
          </a:p>
          <a:p>
            <a:pPr lvl="1">
              <a:defRPr/>
            </a:pPr>
            <a:r>
              <a:rPr lang="en-US" sz="2200" dirty="0"/>
              <a:t>can be followed by zero or more letters (A-Z, a-z), digits (0-9), or underscores 							</a:t>
            </a:r>
          </a:p>
          <a:p>
            <a:pPr>
              <a:defRPr/>
            </a:pPr>
            <a:r>
              <a:rPr lang="en-US" sz="2600" dirty="0"/>
              <a:t>Valid Identifiers </a:t>
            </a:r>
          </a:p>
          <a:p>
            <a:pPr lvl="1">
              <a:defRPr/>
            </a:pPr>
            <a:r>
              <a:rPr lang="en-US" sz="2200" dirty="0" err="1"/>
              <a:t>age_of_dog</a:t>
            </a:r>
            <a:endParaRPr lang="en-US" sz="2200" dirty="0"/>
          </a:p>
          <a:p>
            <a:pPr lvl="1">
              <a:defRPr/>
            </a:pPr>
            <a:r>
              <a:rPr lang="en-US" sz="2200" dirty="0"/>
              <a:t>_taxRateY2K</a:t>
            </a:r>
          </a:p>
          <a:p>
            <a:pPr lvl="1">
              <a:defRPr/>
            </a:pPr>
            <a:r>
              <a:rPr lang="en-US" sz="2200" dirty="0" err="1"/>
              <a:t>PrintHeading</a:t>
            </a:r>
            <a:endParaRPr lang="en-US" sz="2200" dirty="0"/>
          </a:p>
          <a:p>
            <a:pPr lvl="1">
              <a:defRPr/>
            </a:pPr>
            <a:r>
              <a:rPr lang="en-US" sz="2200" dirty="0" err="1"/>
              <a:t>ageOfHorse</a:t>
            </a:r>
            <a:endParaRPr lang="en-US" sz="2200" dirty="0"/>
          </a:p>
          <a:p>
            <a:pPr lvl="1">
              <a:defRPr/>
            </a:pPr>
            <a:r>
              <a:rPr lang="en-US" sz="2200" dirty="0"/>
              <a:t>		  		  				</a:t>
            </a:r>
          </a:p>
          <a:p>
            <a:pPr>
              <a:defRPr/>
            </a:pPr>
            <a:r>
              <a:rPr lang="en-US" sz="2600" dirty="0"/>
              <a:t>Invalid Indentifiers	</a:t>
            </a:r>
          </a:p>
          <a:p>
            <a:pPr lvl="1">
              <a:defRPr/>
            </a:pPr>
            <a:r>
              <a:rPr lang="en-US" sz="2200" dirty="0"/>
              <a:t>age# (</a:t>
            </a:r>
            <a:r>
              <a:rPr lang="en-US" sz="2200" dirty="0">
                <a:highlight>
                  <a:srgbClr val="FFFF00"/>
                </a:highlight>
              </a:rPr>
              <a:t>invalid character #)</a:t>
            </a:r>
          </a:p>
          <a:p>
            <a:pPr lvl="1">
              <a:defRPr/>
            </a:pPr>
            <a:r>
              <a:rPr lang="en-US" sz="2200" dirty="0"/>
              <a:t>2000TaxRate (</a:t>
            </a:r>
            <a:r>
              <a:rPr lang="en-US" sz="2200" dirty="0">
                <a:highlight>
                  <a:srgbClr val="FFFF00"/>
                </a:highlight>
              </a:rPr>
              <a:t>starts with a digit</a:t>
            </a:r>
            <a:r>
              <a:rPr lang="en-US" sz="2200" dirty="0"/>
              <a:t>)</a:t>
            </a:r>
          </a:p>
          <a:p>
            <a:pPr lvl="1">
              <a:defRPr/>
            </a:pPr>
            <a:r>
              <a:rPr lang="en-US" sz="2200" dirty="0"/>
              <a:t>Age-Of-Dog (</a:t>
            </a:r>
            <a:r>
              <a:rPr lang="en-US" sz="2200" dirty="0">
                <a:highlight>
                  <a:srgbClr val="FFFF00"/>
                </a:highlight>
              </a:rPr>
              <a:t>hyphens are not allowed</a:t>
            </a:r>
            <a:r>
              <a:rPr lang="en-US" sz="2200" dirty="0"/>
              <a:t>)</a:t>
            </a:r>
          </a:p>
          <a:p>
            <a:pPr lvl="1">
              <a:defRPr/>
            </a:pPr>
            <a:r>
              <a:rPr lang="en-US" sz="2200" dirty="0"/>
              <a:t>main (</a:t>
            </a:r>
            <a:r>
              <a:rPr lang="en-US" sz="2200" dirty="0">
                <a:highlight>
                  <a:srgbClr val="FFFF00"/>
                </a:highlight>
              </a:rPr>
              <a:t>reserved keyword</a:t>
            </a:r>
            <a:r>
              <a:rPr lang="en-US" sz="2200" dirty="0"/>
              <a:t>)</a:t>
            </a:r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23332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F1ED-27F7-5A99-1ABA-7C35C6BC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876796A-6E5C-9785-472D-CFAB79408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37442-C620-7195-1764-9940B09899A3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Variable Declarations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DC89B9-9BD7-A5CE-43E6-76BE0AE3984D}"/>
              </a:ext>
            </a:extLst>
          </p:cNvPr>
          <p:cNvSpPr txBox="1">
            <a:spLocks/>
          </p:cNvSpPr>
          <p:nvPr/>
        </p:nvSpPr>
        <p:spPr>
          <a:xfrm>
            <a:off x="471488" y="1465943"/>
            <a:ext cx="5915025" cy="74563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100" b="1" dirty="0"/>
              <a:t>Variable Declarations:</a:t>
            </a:r>
          </a:p>
          <a:p>
            <a:r>
              <a:rPr lang="en-US" altLang="en-US" sz="2800" dirty="0"/>
              <a:t>In C++, variables must be declared before they are used.</a:t>
            </a:r>
          </a:p>
          <a:p>
            <a:r>
              <a:rPr lang="en-US" altLang="en-US" sz="2800" dirty="0"/>
              <a:t>Syntax for Declaring Multiple Variables:</a:t>
            </a:r>
          </a:p>
          <a:p>
            <a:pPr lvl="1"/>
            <a:r>
              <a:rPr lang="en-US" altLang="en-US" sz="2800" dirty="0"/>
              <a:t>Commas are used to separate multiple identifiers of the same type.</a:t>
            </a:r>
          </a:p>
          <a:p>
            <a:r>
              <a:rPr lang="en-ZA" sz="2800" b="1" dirty="0" err="1"/>
              <a:t>dataType</a:t>
            </a:r>
            <a:r>
              <a:rPr lang="en-ZA" sz="2800" b="1" dirty="0"/>
              <a:t> identifier;</a:t>
            </a:r>
          </a:p>
          <a:p>
            <a:r>
              <a:rPr lang="en-US" sz="2800" dirty="0"/>
              <a:t>For example, consider the following statements:</a:t>
            </a:r>
          </a:p>
          <a:p>
            <a:r>
              <a:rPr lang="en-ZA" sz="2800" b="1" dirty="0"/>
              <a:t>int counter;</a:t>
            </a:r>
          </a:p>
          <a:p>
            <a:r>
              <a:rPr lang="en-ZA" sz="2800" b="1" dirty="0"/>
              <a:t>double </a:t>
            </a:r>
            <a:r>
              <a:rPr lang="en-ZA" sz="2800" b="1" dirty="0" err="1"/>
              <a:t>interestRate</a:t>
            </a:r>
            <a:r>
              <a:rPr lang="en-ZA" sz="2800" b="1" dirty="0"/>
              <a:t>;</a:t>
            </a:r>
          </a:p>
          <a:p>
            <a:r>
              <a:rPr lang="en-ZA" sz="2800" b="1" dirty="0"/>
              <a:t>char grade;</a:t>
            </a:r>
            <a:endParaRPr lang="en-US" altLang="en-US" sz="2800" dirty="0"/>
          </a:p>
          <a:p>
            <a:pPr lvl="1"/>
            <a:r>
              <a:rPr lang="en-US" altLang="en-US" sz="2800" b="1" dirty="0"/>
              <a:t>int count, age; </a:t>
            </a:r>
            <a:r>
              <a:rPr lang="en-US" altLang="en-US" sz="2800" b="1" dirty="0">
                <a:highlight>
                  <a:srgbClr val="FF0000"/>
                </a:highlight>
              </a:rPr>
              <a:t>(both count and age are declared as integers)</a:t>
            </a:r>
          </a:p>
          <a:p>
            <a:pPr lvl="1"/>
            <a:endParaRPr lang="en-US" sz="2400" b="1" dirty="0">
              <a:highlight>
                <a:srgbClr val="FF0000"/>
              </a:highlight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100" b="1" dirty="0"/>
              <a:t>Initialization During Declaration:</a:t>
            </a:r>
          </a:p>
          <a:p>
            <a:pPr lvl="1" algn="l"/>
            <a:endParaRPr lang="en-US" altLang="en-US" sz="2600" b="1" dirty="0">
              <a:highlight>
                <a:srgbClr val="FF0000"/>
              </a:highlight>
            </a:endParaRPr>
          </a:p>
          <a:p>
            <a:pPr lvl="1"/>
            <a:r>
              <a:rPr lang="en-US" altLang="en-US" sz="2800" dirty="0"/>
              <a:t>Variables can be initialized to a starting value when they are declared</a:t>
            </a:r>
          </a:p>
          <a:p>
            <a:pPr lvl="1"/>
            <a:r>
              <a:rPr lang="en-US" altLang="en-US" sz="2800" b="1" dirty="0"/>
              <a:t>int count = 0; (count is initialized to 0)</a:t>
            </a:r>
          </a:p>
          <a:p>
            <a:pPr lvl="1"/>
            <a:r>
              <a:rPr lang="en-US" altLang="en-US" sz="2800" dirty="0"/>
              <a:t>You can also declare multiple variables and initialize only some of them:</a:t>
            </a:r>
          </a:p>
          <a:p>
            <a:pPr lvl="1"/>
            <a:r>
              <a:rPr lang="en-US" altLang="en-US" sz="2800" b="1" dirty="0"/>
              <a:t>int age, count = 0;</a:t>
            </a:r>
            <a:r>
              <a:rPr lang="en-US" altLang="en-US" sz="2800" b="1" dirty="0">
                <a:highlight>
                  <a:srgbClr val="00FFFF"/>
                </a:highlight>
              </a:rPr>
              <a:t> (age is declared but not initialized, count is initialized to 0)</a:t>
            </a: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6543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1B4E-5118-710A-340E-5170DE00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33ACEAE-42A5-21F8-0EE1-96B3BA987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E16916-1125-1D8A-3F0E-F4926B5F60C3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Assignment Statements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D65257-4BC5-348A-A6E0-24E6E36F6234}"/>
              </a:ext>
            </a:extLst>
          </p:cNvPr>
          <p:cNvSpPr txBox="1">
            <a:spLocks/>
          </p:cNvSpPr>
          <p:nvPr/>
        </p:nvSpPr>
        <p:spPr>
          <a:xfrm>
            <a:off x="471488" y="1596571"/>
            <a:ext cx="5915025" cy="7325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Assignment Statements</a:t>
            </a:r>
          </a:p>
          <a:p>
            <a:pPr algn="l"/>
            <a:r>
              <a:rPr lang="en-US" sz="2400" dirty="0"/>
              <a:t>An </a:t>
            </a:r>
            <a:r>
              <a:rPr lang="en-US" sz="2400" b="1" dirty="0"/>
              <a:t>assignment statement </a:t>
            </a:r>
            <a:r>
              <a:rPr lang="en-US" sz="2400" dirty="0"/>
              <a:t>is an order to the computer saying, “set the value of this variable to what I have written down.”</a:t>
            </a:r>
          </a:p>
          <a:p>
            <a:pPr algn="l"/>
            <a:endParaRPr lang="en-US" sz="2400" dirty="0"/>
          </a:p>
          <a:p>
            <a:r>
              <a:rPr lang="en-US" sz="2400" dirty="0"/>
              <a:t>One way to store a value in a variable is by using an assignment statement, which</a:t>
            </a:r>
          </a:p>
          <a:p>
            <a:r>
              <a:rPr lang="en-ZA" sz="2400" dirty="0"/>
              <a:t>takes the following form:</a:t>
            </a:r>
          </a:p>
          <a:p>
            <a:r>
              <a:rPr lang="en-ZA" sz="2400" b="1" dirty="0"/>
              <a:t>variable = expression;</a:t>
            </a:r>
          </a:p>
          <a:p>
            <a:endParaRPr lang="en-ZA" sz="2400" b="1" dirty="0"/>
          </a:p>
          <a:p>
            <a:r>
              <a:rPr lang="en-US" sz="2400" dirty="0"/>
              <a:t>where </a:t>
            </a:r>
            <a:r>
              <a:rPr lang="en-US" sz="2400" b="1" dirty="0"/>
              <a:t>expression </a:t>
            </a:r>
            <a:r>
              <a:rPr lang="en-US" sz="2400" dirty="0"/>
              <a:t>is evaluated and its value is assigned to </a:t>
            </a:r>
            <a:r>
              <a:rPr lang="en-US" sz="2400" b="1" dirty="0"/>
              <a:t>variable</a:t>
            </a:r>
            <a:r>
              <a:rPr lang="en-US" sz="2400" dirty="0"/>
              <a:t>. In C++, =</a:t>
            </a:r>
            <a:r>
              <a:rPr lang="en-US" sz="2400" b="1" dirty="0"/>
              <a:t> </a:t>
            </a:r>
            <a:r>
              <a:rPr lang="en-US" sz="2400" dirty="0"/>
              <a:t>is</a:t>
            </a:r>
          </a:p>
          <a:p>
            <a:r>
              <a:rPr lang="en-ZA" sz="2400" dirty="0"/>
              <a:t>called the </a:t>
            </a:r>
            <a:r>
              <a:rPr lang="en-ZA" sz="2400" b="1" dirty="0"/>
              <a:t>assignment operator</a:t>
            </a:r>
            <a:r>
              <a:rPr lang="en-ZA" sz="2400" dirty="0"/>
              <a:t>.</a:t>
            </a:r>
          </a:p>
          <a:p>
            <a:r>
              <a:rPr lang="en-US" sz="2400" dirty="0"/>
              <a:t>For example, consider the following statements:</a:t>
            </a:r>
          </a:p>
          <a:p>
            <a:r>
              <a:rPr lang="en-ZA" sz="2400" b="1" dirty="0"/>
              <a:t>counter = 5;</a:t>
            </a:r>
          </a:p>
          <a:p>
            <a:r>
              <a:rPr lang="en-ZA" sz="2400" b="1" dirty="0" err="1"/>
              <a:t>interestRate</a:t>
            </a:r>
            <a:r>
              <a:rPr lang="en-ZA" sz="2400" b="1" dirty="0"/>
              <a:t> = 0.05;</a:t>
            </a:r>
          </a:p>
          <a:p>
            <a:r>
              <a:rPr lang="en-ZA" sz="2400" b="1" dirty="0"/>
              <a:t>grade = 'A’;</a:t>
            </a:r>
            <a:endParaRPr lang="en-US" sz="2400" dirty="0"/>
          </a:p>
          <a:p>
            <a:r>
              <a:rPr lang="en-ZA" sz="2400" b="1" dirty="0" err="1"/>
              <a:t>totalWeight</a:t>
            </a:r>
            <a:r>
              <a:rPr lang="en-ZA" sz="2400" b="1" dirty="0"/>
              <a:t> = </a:t>
            </a:r>
            <a:r>
              <a:rPr lang="en-ZA" sz="2400" b="1" dirty="0" err="1"/>
              <a:t>oneWeight</a:t>
            </a:r>
            <a:r>
              <a:rPr lang="en-ZA" sz="2400" b="1" dirty="0"/>
              <a:t> * </a:t>
            </a:r>
            <a:r>
              <a:rPr lang="en-ZA" sz="2400" b="1" dirty="0" err="1"/>
              <a:t>numberOfBars</a:t>
            </a:r>
            <a:r>
              <a:rPr lang="en-ZA" sz="2400" b="1" dirty="0"/>
              <a:t>;</a:t>
            </a:r>
            <a:endParaRPr 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17665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DA22-6F03-2290-0C06-B30062FE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78ED39A-0F24-FB73-D0A2-DA29B1C57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36BE30-0F92-B75A-8A6B-663AD865BC15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Input / Output Streams and Devices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070FAEA-7243-4CF8-6B6D-B5E1F59B421A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/>
              <a:t>Input / Output Streams and Devices</a:t>
            </a:r>
          </a:p>
          <a:p>
            <a:pPr algn="l"/>
            <a:r>
              <a:rPr lang="en-US" sz="2400" dirty="0"/>
              <a:t>An </a:t>
            </a:r>
            <a:r>
              <a:rPr lang="en-US" sz="2400" b="1" dirty="0"/>
              <a:t>input stream </a:t>
            </a:r>
            <a:r>
              <a:rPr lang="en-US" sz="2400" dirty="0"/>
              <a:t>is simply the stream of input that is being fed into the computer for the program to use.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A program can read input from the keyboard (e.g., from a command prompt / shell). </a:t>
            </a:r>
            <a:r>
              <a:rPr lang="en-ZA" sz="2400" dirty="0">
                <a:highlight>
                  <a:srgbClr val="FFFF00"/>
                </a:highlight>
              </a:rPr>
              <a:t>&lt;iostream&gt;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A program can read its input </a:t>
            </a:r>
            <a:r>
              <a:rPr lang="en-ZA" sz="2400" dirty="0"/>
              <a:t>from a file. </a:t>
            </a:r>
            <a:r>
              <a:rPr lang="en-ZA" sz="2400" dirty="0">
                <a:highlight>
                  <a:srgbClr val="FFFF00"/>
                </a:highlight>
              </a:rPr>
              <a:t>&lt;</a:t>
            </a:r>
            <a:r>
              <a:rPr lang="en-ZA" sz="2400" dirty="0" err="1">
                <a:highlight>
                  <a:srgbClr val="FFFF00"/>
                </a:highlight>
              </a:rPr>
              <a:t>fstream</a:t>
            </a:r>
            <a:r>
              <a:rPr lang="en-ZA" sz="2400" dirty="0">
                <a:highlight>
                  <a:srgbClr val="FFFF00"/>
                </a:highlight>
              </a:rPr>
              <a:t>&gt;</a:t>
            </a:r>
          </a:p>
          <a:p>
            <a:endParaRPr lang="en-US" sz="2400" dirty="0"/>
          </a:p>
          <a:p>
            <a:pPr algn="l"/>
            <a:r>
              <a:rPr lang="en-US" sz="2400" dirty="0"/>
              <a:t>An </a:t>
            </a:r>
            <a:r>
              <a:rPr lang="en-US" sz="2400" b="1" dirty="0"/>
              <a:t>output stream </a:t>
            </a:r>
            <a:r>
              <a:rPr lang="en-US" sz="2400" dirty="0"/>
              <a:t>is the stream of output generated </a:t>
            </a:r>
            <a:r>
              <a:rPr lang="en-ZA" sz="2400" dirty="0"/>
              <a:t>by the program (e.g., to a monitor /  command prompt / file).</a:t>
            </a:r>
            <a:endParaRPr 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74254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FA84-D135-3EE3-8CD0-2484387A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0D966892-355B-23C8-7F86-8D0EC1144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08798B-3421-8597-1292-2F15068C161D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92F8A6-F62C-DFAB-88C4-DB13E32805AE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Input Using </a:t>
            </a:r>
            <a:r>
              <a:rPr lang="en-ZA" sz="2800" dirty="0" err="1"/>
              <a:t>cin</a:t>
            </a:r>
            <a:r>
              <a:rPr lang="en-ZA" sz="2800" dirty="0"/>
              <a:t> (</a:t>
            </a:r>
            <a:r>
              <a:rPr lang="en-US" sz="2800" b="1" dirty="0"/>
              <a:t>and the Extraction Operator &gt;&gt;)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Output Using </a:t>
            </a:r>
            <a:r>
              <a:rPr lang="en-ZA" sz="2800" dirty="0" err="1"/>
              <a:t>cout</a:t>
            </a:r>
            <a:r>
              <a:rPr lang="en-US" sz="2800" b="1" dirty="0"/>
              <a:t> (and the insertion operator)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Include Directives and Namespaces</a:t>
            </a:r>
            <a:endParaRPr lang="en-ZA" sz="2500" b="1" dirty="0"/>
          </a:p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Escape Sequences (\)</a:t>
            </a:r>
            <a:endParaRPr lang="en-US" sz="40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19380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C517B-E62E-6C54-874B-8CD9A57E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0EFABA54-5871-ECB0-7279-6724A1B12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9C5CE-FE7D-F8A7-4276-24CF7E5BD579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27971A-9C7F-CF73-99E9-82F5CFFB35AB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800" b="1" dirty="0"/>
              <a:t>Input Using </a:t>
            </a:r>
            <a:r>
              <a:rPr lang="en-ZA" sz="2800" dirty="0" err="1"/>
              <a:t>cin</a:t>
            </a:r>
            <a:r>
              <a:rPr lang="en-ZA" sz="2800" dirty="0"/>
              <a:t> (</a:t>
            </a:r>
            <a:r>
              <a:rPr lang="en-US" sz="2800" b="1" dirty="0"/>
              <a:t>and the Extraction Operator &gt;&gt;)</a:t>
            </a:r>
          </a:p>
          <a:p>
            <a:pPr algn="l"/>
            <a:r>
              <a:rPr lang="en-US" sz="2600" dirty="0"/>
              <a:t>The variable </a:t>
            </a:r>
            <a:r>
              <a:rPr lang="en-US" sz="2600" b="1" dirty="0" err="1"/>
              <a:t>cin</a:t>
            </a:r>
            <a:r>
              <a:rPr lang="en-US" sz="2600" b="1" dirty="0"/>
              <a:t> </a:t>
            </a:r>
            <a:r>
              <a:rPr lang="en-US" sz="2600" dirty="0"/>
              <a:t>has access to operators and functions that can be used to extract data from the standard input device. We use the extraction operator </a:t>
            </a:r>
            <a:r>
              <a:rPr lang="en-US" sz="2600" b="1" dirty="0"/>
              <a:t>&gt;&gt; </a:t>
            </a:r>
            <a:r>
              <a:rPr lang="en-US" sz="2600" dirty="0"/>
              <a:t>to input data from the standard input device.</a:t>
            </a:r>
          </a:p>
          <a:p>
            <a:pPr algn="l"/>
            <a:endParaRPr lang="en-US" sz="2600" b="1" dirty="0"/>
          </a:p>
          <a:p>
            <a:pPr algn="l"/>
            <a:r>
              <a:rPr lang="en-ZA" sz="2800" b="1" dirty="0"/>
              <a:t>Output Using </a:t>
            </a:r>
            <a:r>
              <a:rPr lang="en-ZA" sz="2800" dirty="0" err="1"/>
              <a:t>cout</a:t>
            </a:r>
            <a:endParaRPr lang="en-ZA" sz="2800" dirty="0"/>
          </a:p>
          <a:p>
            <a:pPr algn="l"/>
            <a:r>
              <a:rPr lang="en-US" sz="2800" dirty="0"/>
              <a:t>The arrow notation &lt;&lt; is often called the </a:t>
            </a:r>
            <a:r>
              <a:rPr lang="en-US" sz="2800" b="1" dirty="0"/>
              <a:t>insertion operator. </a:t>
            </a:r>
            <a:r>
              <a:rPr lang="en-US" sz="2800" dirty="0"/>
              <a:t>The entire </a:t>
            </a:r>
            <a:r>
              <a:rPr lang="en-US" sz="2800" dirty="0" err="1"/>
              <a:t>cout</a:t>
            </a:r>
            <a:r>
              <a:rPr lang="en-US" sz="2800" dirty="0"/>
              <a:t> statement ends with a semicolon.</a:t>
            </a:r>
            <a:endParaRPr lang="en-ZA" sz="2800" dirty="0"/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5477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81970-7976-8DC3-C071-08C5EB30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C8F5826-7BBC-EF15-7061-B05E39B9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0BEF55-713A-54D9-10E7-18D6CF30C8CF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40969D-1750-4BD5-437E-83234B94BC77}"/>
              </a:ext>
            </a:extLst>
          </p:cNvPr>
          <p:cNvSpPr txBox="1">
            <a:spLocks/>
          </p:cNvSpPr>
          <p:nvPr/>
        </p:nvSpPr>
        <p:spPr>
          <a:xfrm>
            <a:off x="471488" y="1611087"/>
            <a:ext cx="5915025" cy="73111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400" b="1" dirty="0"/>
              <a:t>Include Preprocessing Directives (Libraries) and Namespaces</a:t>
            </a:r>
          </a:p>
          <a:p>
            <a:pPr algn="l"/>
            <a:endParaRPr lang="en-ZA" sz="2400" b="1" dirty="0"/>
          </a:p>
          <a:p>
            <a:pPr algn="l"/>
            <a:r>
              <a:rPr lang="en-US" altLang="en-US" sz="2400" dirty="0"/>
              <a:t>Many functions and symbols needed to run a C++ program are provided as collection of libraries.</a:t>
            </a:r>
          </a:p>
          <a:p>
            <a:pPr algn="l"/>
            <a:r>
              <a:rPr lang="en-US" altLang="en-US" sz="2400" dirty="0"/>
              <a:t>Every library has a name and is referred to by a header file.</a:t>
            </a:r>
          </a:p>
          <a:p>
            <a:pPr algn="l"/>
            <a:r>
              <a:rPr lang="en-US" altLang="en-US" sz="2400" dirty="0"/>
              <a:t>Preprocessor directives are processed by the </a:t>
            </a:r>
            <a:r>
              <a:rPr lang="en-US" altLang="en-US" sz="2400" u="sng" dirty="0"/>
              <a:t>preprocessor</a:t>
            </a:r>
            <a:r>
              <a:rPr lang="en-US" altLang="en-US" sz="2400" dirty="0"/>
              <a:t> program.</a:t>
            </a:r>
          </a:p>
          <a:p>
            <a:pPr algn="l"/>
            <a:r>
              <a:rPr lang="en-US" altLang="en-US" sz="2400" dirty="0"/>
              <a:t>All preprocessor commands begin with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algn="l"/>
            <a:r>
              <a:rPr lang="en-US" sz="2400" dirty="0"/>
              <a:t>Preprocessor commands are processed before the program goes through the compiler</a:t>
            </a:r>
            <a:endParaRPr lang="en-ZA" sz="2400" b="1" dirty="0"/>
          </a:p>
          <a:p>
            <a:pPr algn="l"/>
            <a:r>
              <a:rPr lang="en-ZA" sz="2400" b="1" dirty="0"/>
              <a:t>E.g., 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&lt;iostream&gt;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</a:t>
            </a:r>
            <a:r>
              <a:rPr lang="en-ZA" sz="2600" b="1" dirty="0" err="1">
                <a:solidFill>
                  <a:schemeClr val="accent5"/>
                </a:solidFill>
              </a:rPr>
              <a:t>fstream</a:t>
            </a:r>
            <a:r>
              <a:rPr lang="en-ZA" sz="2600" b="1" dirty="0">
                <a:solidFill>
                  <a:schemeClr val="accent5"/>
                </a:solidFill>
              </a:rPr>
              <a:t>&gt;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</a:t>
            </a:r>
            <a:r>
              <a:rPr lang="en-ZA" sz="2600" b="1" dirty="0" err="1">
                <a:solidFill>
                  <a:schemeClr val="accent5"/>
                </a:solidFill>
              </a:rPr>
              <a:t>cmatch</a:t>
            </a:r>
            <a:r>
              <a:rPr lang="en-ZA" sz="2600" b="1" dirty="0">
                <a:solidFill>
                  <a:schemeClr val="accent5"/>
                </a:solidFill>
              </a:rPr>
              <a:t>&gt;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&lt;string&gt;</a:t>
            </a:r>
          </a:p>
          <a:p>
            <a:pPr lvl="1" algn="l"/>
            <a:endParaRPr lang="en-ZA" sz="2600" b="1" dirty="0">
              <a:solidFill>
                <a:schemeClr val="accent5"/>
              </a:solidFill>
            </a:endParaRP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using namespace std; </a:t>
            </a:r>
            <a:r>
              <a:rPr lang="en-ZA" sz="2600" b="1" dirty="0"/>
              <a:t>vs</a:t>
            </a:r>
            <a:r>
              <a:rPr lang="en-ZA" sz="2600" b="1" dirty="0">
                <a:solidFill>
                  <a:schemeClr val="accent5"/>
                </a:solidFill>
              </a:rPr>
              <a:t> std::</a:t>
            </a:r>
          </a:p>
          <a:p>
            <a:pPr algn="l"/>
            <a:r>
              <a:rPr lang="en-US" altLang="en-US" sz="2600" b="1" dirty="0" err="1">
                <a:cs typeface="Courier New" panose="02070309020205020404" pitchFamily="49" charset="0"/>
              </a:rPr>
              <a:t>cin</a:t>
            </a:r>
            <a:r>
              <a:rPr lang="en-US" altLang="en-US" sz="2600" dirty="0"/>
              <a:t> and </a:t>
            </a:r>
            <a:r>
              <a:rPr lang="en-US" altLang="en-US" sz="2600" b="1" dirty="0" err="1">
                <a:cs typeface="Courier New" panose="02070309020205020404" pitchFamily="49" charset="0"/>
              </a:rPr>
              <a:t>cout</a:t>
            </a:r>
            <a:r>
              <a:rPr lang="en-US" altLang="en-US" sz="2600" dirty="0"/>
              <a:t> are declared in the header file </a:t>
            </a:r>
            <a:r>
              <a:rPr lang="en-US" altLang="en-US" sz="2600" b="1" dirty="0">
                <a:cs typeface="Courier New" panose="02070309020205020404" pitchFamily="49" charset="0"/>
              </a:rPr>
              <a:t>iostream</a:t>
            </a:r>
            <a:r>
              <a:rPr lang="en-US" altLang="en-US" sz="2600" dirty="0"/>
              <a:t>, but within </a:t>
            </a:r>
            <a:r>
              <a:rPr lang="en-US" altLang="en-US" sz="2600" b="1" dirty="0">
                <a:cs typeface="Courier New" panose="02070309020205020404" pitchFamily="49" charset="0"/>
              </a:rPr>
              <a:t>std</a:t>
            </a:r>
            <a:r>
              <a:rPr lang="en-US" altLang="en-US" sz="2600" dirty="0"/>
              <a:t> </a:t>
            </a:r>
            <a:r>
              <a:rPr lang="en-US" altLang="en-US" sz="2600" b="1" dirty="0">
                <a:solidFill>
                  <a:srgbClr val="055C91"/>
                </a:solidFill>
                <a:cs typeface="Courier New" panose="02070309020205020404" pitchFamily="49" charset="0"/>
              </a:rPr>
              <a:t>namespace</a:t>
            </a:r>
          </a:p>
          <a:p>
            <a:pPr lvl="1"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14530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367D-7CD2-FDB1-7A23-965C54E2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FD1123C-5B70-70DC-4883-C02B204AC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0075B2-BB36-6009-8E3C-543BBC0727B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5AC71F-C959-621A-E5C2-04C7B0D6017A}"/>
              </a:ext>
            </a:extLst>
          </p:cNvPr>
          <p:cNvSpPr txBox="1">
            <a:spLocks/>
          </p:cNvSpPr>
          <p:nvPr/>
        </p:nvSpPr>
        <p:spPr>
          <a:xfrm>
            <a:off x="471488" y="1988457"/>
            <a:ext cx="5915025" cy="6933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400" b="1" dirty="0"/>
              <a:t>Escape Sequences (\) </a:t>
            </a:r>
          </a:p>
          <a:p>
            <a:pPr algn="l"/>
            <a:r>
              <a:rPr lang="en-US" sz="2600" dirty="0"/>
              <a:t>The backslash, \, preceding a character tells the compiler that the character following the \ does not have the same meaning as the character appearing by itself. Such a sequence is called an </a:t>
            </a:r>
            <a:r>
              <a:rPr lang="en-US" sz="2600" b="1" dirty="0"/>
              <a:t>escape sequence. </a:t>
            </a:r>
            <a:r>
              <a:rPr lang="en-US" sz="2600" dirty="0"/>
              <a:t>A</a:t>
            </a:r>
            <a:r>
              <a:rPr lang="en-US" sz="2600" b="1" dirty="0"/>
              <a:t> </a:t>
            </a:r>
            <a:r>
              <a:rPr lang="en-US" sz="2600" dirty="0"/>
              <a:t>sequence is typed in as two characters with no space between the symbols.</a:t>
            </a:r>
          </a:p>
          <a:p>
            <a:pPr algn="l"/>
            <a:r>
              <a:rPr lang="en-US" sz="2400" b="1" dirty="0"/>
              <a:t>E.g.,</a:t>
            </a:r>
          </a:p>
          <a:p>
            <a:pPr algn="l"/>
            <a:endParaRPr lang="en-ZA" sz="2400" b="1" dirty="0"/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2AB8C-C15C-6632-7A6A-3F227C1C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00" y="5963826"/>
            <a:ext cx="6377800" cy="221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84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BFC7-BCFA-41E3-F40F-5591BD1C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34B0880-1B98-CA02-1908-DA0530CDB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8EFEAA-851B-4A22-32CA-43FE4D703A32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First C++ Program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27AF52A-30C8-95F7-4F6A-BF910EF7B95F}"/>
              </a:ext>
            </a:extLst>
          </p:cNvPr>
          <p:cNvSpPr txBox="1">
            <a:spLocks/>
          </p:cNvSpPr>
          <p:nvPr/>
        </p:nvSpPr>
        <p:spPr>
          <a:xfrm>
            <a:off x="471488" y="1633235"/>
            <a:ext cx="5915025" cy="72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Different parts of a C++ Program</a:t>
            </a:r>
          </a:p>
          <a:p>
            <a:pPr algn="l"/>
            <a:endParaRPr lang="en-US" sz="26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0C209-E457-F4E1-EEA0-B292DAFD0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90058"/>
            <a:ext cx="6662056" cy="718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05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9EAE-A4EE-3C2F-6889-4311D36E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AB5E29DE-F789-D116-62E8-C7D318E37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F1B525-BCE7-8B0D-0ABC-54FABD9D8D83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First C++ Program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7877EF-2439-B579-A79E-6416925FDD96}"/>
              </a:ext>
            </a:extLst>
          </p:cNvPr>
          <p:cNvSpPr txBox="1">
            <a:spLocks/>
          </p:cNvSpPr>
          <p:nvPr/>
        </p:nvSpPr>
        <p:spPr>
          <a:xfrm>
            <a:off x="471488" y="1633235"/>
            <a:ext cx="5915025" cy="72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Memory locations</a:t>
            </a:r>
          </a:p>
          <a:p>
            <a:pPr algn="l"/>
            <a:r>
              <a:rPr lang="en-ZA" sz="2400" dirty="0"/>
              <a:t>E</a:t>
            </a:r>
            <a:r>
              <a:rPr lang="en-US" sz="2400" dirty="0"/>
              <a:t>essentially, a </a:t>
            </a:r>
            <a:r>
              <a:rPr lang="en-US" sz="2400" i="1" dirty="0"/>
              <a:t>variable </a:t>
            </a:r>
            <a:r>
              <a:rPr lang="en-US" sz="2400" dirty="0"/>
              <a:t>is a memory location whose contents can be changed. So, </a:t>
            </a:r>
            <a:r>
              <a:rPr lang="en-US" sz="2400" b="1" dirty="0"/>
              <a:t>length</a:t>
            </a:r>
            <a:r>
              <a:rPr lang="en-US" sz="2400" dirty="0"/>
              <a:t>, </a:t>
            </a:r>
            <a:r>
              <a:rPr lang="en-US" sz="2400" b="1" dirty="0"/>
              <a:t>width</a:t>
            </a:r>
            <a:r>
              <a:rPr lang="en-US" sz="2400" dirty="0"/>
              <a:t>, </a:t>
            </a:r>
            <a:r>
              <a:rPr lang="en-US" sz="2400" b="1" dirty="0"/>
              <a:t>area</a:t>
            </a:r>
            <a:r>
              <a:rPr lang="en-US" sz="2400" dirty="0"/>
              <a:t>, and </a:t>
            </a:r>
            <a:r>
              <a:rPr lang="en-US" sz="2400" b="1" dirty="0"/>
              <a:t>perimeter </a:t>
            </a:r>
            <a:r>
              <a:rPr lang="en-US" sz="2400" dirty="0"/>
              <a:t>are variables.</a:t>
            </a:r>
          </a:p>
          <a:p>
            <a:pPr algn="l"/>
            <a:r>
              <a:rPr lang="en-ZA" sz="2400" dirty="0"/>
              <a:t>During program </a:t>
            </a:r>
            <a:r>
              <a:rPr lang="en-US" sz="2400" dirty="0"/>
              <a:t>execution, the system will allocate four memory locations to store decimal numbers, and those memory locations will be named </a:t>
            </a:r>
            <a:r>
              <a:rPr lang="en-US" sz="2400" b="1" dirty="0"/>
              <a:t>length</a:t>
            </a:r>
            <a:r>
              <a:rPr lang="en-US" sz="2400" dirty="0"/>
              <a:t>, </a:t>
            </a:r>
            <a:r>
              <a:rPr lang="en-US" sz="2400" b="1" dirty="0"/>
              <a:t>width</a:t>
            </a:r>
            <a:r>
              <a:rPr lang="en-US" sz="2400" dirty="0"/>
              <a:t>, </a:t>
            </a:r>
            <a:r>
              <a:rPr lang="en-US" sz="2400" b="1" dirty="0"/>
              <a:t>area</a:t>
            </a:r>
            <a:r>
              <a:rPr lang="en-US" sz="2400" dirty="0"/>
              <a:t>, and </a:t>
            </a:r>
            <a:r>
              <a:rPr lang="en-ZA" sz="2400" b="1" dirty="0"/>
              <a:t>perimeter</a:t>
            </a:r>
            <a:r>
              <a:rPr lang="en-ZA" sz="2400" dirty="0"/>
              <a:t>, respectively.</a:t>
            </a:r>
          </a:p>
          <a:p>
            <a:pPr algn="l"/>
            <a:endParaRPr lang="en-ZA" sz="2400" b="1" dirty="0"/>
          </a:p>
          <a:p>
            <a:pPr algn="l"/>
            <a:endParaRPr lang="en-ZA" sz="2400" b="1" dirty="0"/>
          </a:p>
          <a:p>
            <a:pPr algn="l"/>
            <a:endParaRPr lang="en-ZA" sz="2400" b="1" dirty="0"/>
          </a:p>
          <a:p>
            <a:pPr algn="l"/>
            <a:r>
              <a:rPr lang="en-US" sz="2400" dirty="0"/>
              <a:t>The statement </a:t>
            </a:r>
            <a:r>
              <a:rPr lang="en-US" sz="2400" b="1" dirty="0"/>
              <a:t>length = 6.0</a:t>
            </a:r>
            <a:r>
              <a:rPr lang="en-US" sz="2400" dirty="0"/>
              <a:t>; will cause the system to store </a:t>
            </a:r>
            <a:r>
              <a:rPr lang="en-US" sz="2400" b="1" dirty="0"/>
              <a:t>6.0 </a:t>
            </a:r>
            <a:r>
              <a:rPr lang="en-US" sz="2400" dirty="0"/>
              <a:t>in the memory location associated with the name (or identified by the name) </a:t>
            </a:r>
            <a:r>
              <a:rPr lang="en-US" sz="2400" b="1" dirty="0"/>
              <a:t>length.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531FD-D931-2231-47C6-FC824DF0C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7" y="4953000"/>
            <a:ext cx="5392284" cy="101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5ECDD-96F3-4555-6088-DBDFE5D93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" y="7750628"/>
            <a:ext cx="5392284" cy="117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00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BF3B-2870-7DBF-09B0-D796F20D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871CCB0-54A1-064B-F94C-00FDC582C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698B34-F29D-5512-4527-6059C5E6E98C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Flow of Control (Next Class Session)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D15732-3582-9AB7-128B-9D8AE911DCFF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Three processes a computer can do:</a:t>
            </a:r>
          </a:p>
          <a:p>
            <a:pPr lvl="1"/>
            <a:r>
              <a:rPr lang="en-US" altLang="en-US" sz="2400" dirty="0"/>
              <a:t>Sequential </a:t>
            </a:r>
          </a:p>
          <a:p>
            <a:pPr lvl="2"/>
            <a:r>
              <a:rPr lang="en-GB" sz="2400" dirty="0"/>
              <a:t>is the simplest flow of control</a:t>
            </a:r>
            <a:endParaRPr lang="en-US" sz="2400" dirty="0"/>
          </a:p>
          <a:p>
            <a:pPr lvl="2"/>
            <a:r>
              <a:rPr lang="en-GB" sz="2400" dirty="0"/>
              <a:t>It involves executing instructions one after the other, in order, from start to finish.</a:t>
            </a:r>
          </a:p>
          <a:p>
            <a:pPr lvl="2"/>
            <a:r>
              <a:rPr lang="en-GB" sz="2400" dirty="0"/>
              <a:t> It is a linear process where each step follows the previous one.</a:t>
            </a:r>
            <a:endParaRPr lang="en-US" altLang="en-US" sz="2400" dirty="0"/>
          </a:p>
          <a:p>
            <a:pPr lvl="2"/>
            <a:r>
              <a:rPr lang="en-US" altLang="en-US" sz="2400" b="1" dirty="0"/>
              <a:t>   e.g. expressions</a:t>
            </a:r>
            <a:r>
              <a:rPr lang="en-US" altLang="en-US" sz="2400" dirty="0"/>
              <a:t>, </a:t>
            </a:r>
            <a:r>
              <a:rPr lang="en-US" altLang="en-US" sz="2400" b="1" dirty="0"/>
              <a:t>insertion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extraction</a:t>
            </a:r>
            <a:r>
              <a:rPr lang="en-US" altLang="en-US" sz="2400" dirty="0"/>
              <a:t> operations</a:t>
            </a:r>
          </a:p>
          <a:p>
            <a:pPr lvl="2"/>
            <a:endParaRPr lang="en-US" altLang="en-US" sz="2400" dirty="0"/>
          </a:p>
          <a:p>
            <a:pPr lvl="1"/>
            <a:r>
              <a:rPr lang="en-US" altLang="en-US" sz="2400" dirty="0"/>
              <a:t>Selection (Branching)</a:t>
            </a:r>
          </a:p>
          <a:p>
            <a:pPr lvl="2"/>
            <a:r>
              <a:rPr lang="en-GB" sz="2400" dirty="0"/>
              <a:t>Selection allows a program to make decisions based on conditions. </a:t>
            </a:r>
          </a:p>
          <a:p>
            <a:pPr lvl="2"/>
            <a:r>
              <a:rPr lang="en-GB" sz="2400" dirty="0"/>
              <a:t>Depending on whether a condition is true or false, different code paths are executed.</a:t>
            </a:r>
            <a:endParaRPr lang="en-US" altLang="en-US" sz="2400" dirty="0"/>
          </a:p>
          <a:p>
            <a:pPr lvl="2"/>
            <a:r>
              <a:rPr lang="en-US" altLang="en-US" sz="2400" b="1" dirty="0"/>
              <a:t>  e.g. if</a:t>
            </a:r>
            <a:r>
              <a:rPr lang="en-US" altLang="en-US" sz="2400" dirty="0"/>
              <a:t> statement, </a:t>
            </a:r>
            <a:r>
              <a:rPr lang="en-US" altLang="en-US" sz="2400" b="1" dirty="0"/>
              <a:t>switch</a:t>
            </a:r>
            <a:r>
              <a:rPr lang="en-US" altLang="en-US" sz="2400" dirty="0"/>
              <a:t> statement</a:t>
            </a:r>
          </a:p>
          <a:p>
            <a:pPr lvl="2"/>
            <a:endParaRPr lang="en-US" altLang="en-US" sz="2400" dirty="0"/>
          </a:p>
          <a:p>
            <a:pPr lvl="1"/>
            <a:r>
              <a:rPr lang="en-US" altLang="en-US" sz="2400" dirty="0"/>
              <a:t>Repetition/Iteration (Loop)</a:t>
            </a:r>
          </a:p>
          <a:p>
            <a:pPr lvl="2"/>
            <a:r>
              <a:rPr lang="en-GB" sz="2400" dirty="0"/>
              <a:t>Repetition or iteration allows a program to execute a block of code repeatedly.</a:t>
            </a:r>
          </a:p>
          <a:p>
            <a:pPr lvl="2"/>
            <a:r>
              <a:rPr lang="en-GB" sz="2400" dirty="0"/>
              <a:t> Loops are used when you want to perform the same task multiple times.</a:t>
            </a:r>
            <a:endParaRPr lang="en-US" altLang="en-US" sz="2400" dirty="0"/>
          </a:p>
          <a:p>
            <a:pPr lvl="2"/>
            <a:r>
              <a:rPr lang="en-US" altLang="en-US" sz="2400" b="1" dirty="0"/>
              <a:t>e.g. while</a:t>
            </a:r>
            <a:r>
              <a:rPr lang="en-US" altLang="en-US" sz="2400" dirty="0"/>
              <a:t> loop, </a:t>
            </a:r>
            <a:r>
              <a:rPr lang="en-US" altLang="en-US" sz="2400" b="1" dirty="0"/>
              <a:t>do-while</a:t>
            </a:r>
            <a:r>
              <a:rPr lang="en-US" altLang="en-US" sz="2400" dirty="0"/>
              <a:t> loop, </a:t>
            </a:r>
            <a:r>
              <a:rPr lang="en-US" altLang="en-US" sz="2400" b="1" dirty="0"/>
              <a:t>for</a:t>
            </a:r>
            <a:r>
              <a:rPr lang="en-US" altLang="en-US" sz="2400" dirty="0"/>
              <a:t> loop</a:t>
            </a:r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985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a9a8b8c-3ea3-4799-a43e-5510398e7a3b}" enabled="0" method="" siteId="{ca9a8b8c-3ea3-4799-a43e-5510398e7a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3483</TotalTime>
  <Words>1790</Words>
  <Application>Microsoft Office PowerPoint</Application>
  <PresentationFormat>A4 Paper (210x297 mm)</PresentationFormat>
  <Paragraphs>295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Arial MT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Duraan, Franciska</dc:creator>
  <cp:lastModifiedBy>Sewisha Thabo Lehong</cp:lastModifiedBy>
  <cp:revision>116</cp:revision>
  <dcterms:created xsi:type="dcterms:W3CDTF">2023-03-27T09:07:22Z</dcterms:created>
  <dcterms:modified xsi:type="dcterms:W3CDTF">2026-04-21T10:19:21Z</dcterms:modified>
</cp:coreProperties>
</file>