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8" r:id="rId2"/>
    <p:sldId id="266" r:id="rId3"/>
    <p:sldId id="267" r:id="rId4"/>
    <p:sldId id="287" r:id="rId5"/>
    <p:sldId id="402" r:id="rId6"/>
    <p:sldId id="288" r:id="rId7"/>
    <p:sldId id="289" r:id="rId8"/>
    <p:sldId id="403" r:id="rId9"/>
    <p:sldId id="404" r:id="rId10"/>
    <p:sldId id="405" r:id="rId11"/>
    <p:sldId id="406" r:id="rId12"/>
    <p:sldId id="407" r:id="rId13"/>
    <p:sldId id="408" r:id="rId14"/>
    <p:sldId id="409" r:id="rId15"/>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53" d="100"/>
          <a:sy n="53" d="100"/>
        </p:scale>
        <p:origin x="202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438951E-0A73-476C-B990-BA3D65A812C5}" type="datetimeFigureOut">
              <a:rPr lang="en-ZA" smtClean="0"/>
              <a:t>2026/06/04</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3441363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38951E-0A73-476C-B990-BA3D65A812C5}" type="datetimeFigureOut">
              <a:rPr lang="en-ZA" smtClean="0"/>
              <a:t>2026/06/04</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13564290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38951E-0A73-476C-B990-BA3D65A812C5}" type="datetimeFigureOut">
              <a:rPr lang="en-ZA" smtClean="0"/>
              <a:t>2026/06/04</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35720608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438951E-0A73-476C-B990-BA3D65A812C5}" type="datetimeFigureOut">
              <a:rPr lang="en-ZA" smtClean="0"/>
              <a:t>2026/06/04</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31329634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438951E-0A73-476C-B990-BA3D65A812C5}" type="datetimeFigureOut">
              <a:rPr lang="en-ZA" smtClean="0"/>
              <a:t>2026/06/04</a:t>
            </a:fld>
            <a:endParaRPr lang="en-ZA"/>
          </a:p>
        </p:txBody>
      </p:sp>
      <p:sp>
        <p:nvSpPr>
          <p:cNvPr id="8" name="Footer Placeholder 7"/>
          <p:cNvSpPr>
            <a:spLocks noGrp="1"/>
          </p:cNvSpPr>
          <p:nvPr>
            <p:ph type="ftr" sz="quarter" idx="11"/>
          </p:nvPr>
        </p:nvSpPr>
        <p:spPr/>
        <p:txBody>
          <a:bodyPr/>
          <a:lstStyle/>
          <a:p>
            <a:endParaRPr lang="en-ZA"/>
          </a:p>
        </p:txBody>
      </p:sp>
      <p:sp>
        <p:nvSpPr>
          <p:cNvPr id="9" name="Slide Number Placeholder 8"/>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41613378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438951E-0A73-476C-B990-BA3D65A812C5}" type="datetimeFigureOut">
              <a:rPr lang="en-ZA" smtClean="0"/>
              <a:t>2026/06/04</a:t>
            </a:fld>
            <a:endParaRPr lang="en-ZA"/>
          </a:p>
        </p:txBody>
      </p:sp>
      <p:sp>
        <p:nvSpPr>
          <p:cNvPr id="4" name="Footer Placeholder 3"/>
          <p:cNvSpPr>
            <a:spLocks noGrp="1"/>
          </p:cNvSpPr>
          <p:nvPr>
            <p:ph type="ftr" sz="quarter" idx="11"/>
          </p:nvPr>
        </p:nvSpPr>
        <p:spPr/>
        <p:txBody>
          <a:bodyPr/>
          <a:lstStyle/>
          <a:p>
            <a:endParaRPr lang="en-ZA"/>
          </a:p>
        </p:txBody>
      </p:sp>
      <p:sp>
        <p:nvSpPr>
          <p:cNvPr id="5" name="Slide Number Placeholder 4"/>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36985040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38951E-0A73-476C-B990-BA3D65A812C5}" type="datetimeFigureOut">
              <a:rPr lang="en-ZA" smtClean="0"/>
              <a:t>2026/06/04</a:t>
            </a:fld>
            <a:endParaRPr lang="en-ZA"/>
          </a:p>
        </p:txBody>
      </p:sp>
      <p:sp>
        <p:nvSpPr>
          <p:cNvPr id="3" name="Footer Placeholder 2"/>
          <p:cNvSpPr>
            <a:spLocks noGrp="1"/>
          </p:cNvSpPr>
          <p:nvPr>
            <p:ph type="ftr" sz="quarter" idx="11"/>
          </p:nvPr>
        </p:nvSpPr>
        <p:spPr/>
        <p:txBody>
          <a:bodyPr/>
          <a:lstStyle/>
          <a:p>
            <a:endParaRPr lang="en-ZA"/>
          </a:p>
        </p:txBody>
      </p:sp>
      <p:sp>
        <p:nvSpPr>
          <p:cNvPr id="4" name="Slide Number Placeholder 3"/>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25465132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1438951E-0A73-476C-B990-BA3D65A812C5}" type="datetimeFigureOut">
              <a:rPr lang="en-ZA" smtClean="0"/>
              <a:t>2026/06/04</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38889070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1438951E-0A73-476C-B990-BA3D65A812C5}" type="datetimeFigureOut">
              <a:rPr lang="en-ZA" smtClean="0"/>
              <a:t>2026/06/04</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38021828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38951E-0A73-476C-B990-BA3D65A812C5}" type="datetimeFigureOut">
              <a:rPr lang="en-ZA" smtClean="0"/>
              <a:t>2026/06/04</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40097951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38951E-0A73-476C-B990-BA3D65A812C5}" type="datetimeFigureOut">
              <a:rPr lang="en-ZA" smtClean="0"/>
              <a:t>2026/06/04</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14852315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1438951E-0A73-476C-B990-BA3D65A812C5}" type="datetimeFigureOut">
              <a:rPr lang="en-ZA" smtClean="0"/>
              <a:t>2026/06/04</a:t>
            </a:fld>
            <a:endParaRPr lang="en-ZA"/>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ZA"/>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5031DDEB-C667-44B1-BE9C-E4923D28CA10}" type="slidenum">
              <a:rPr lang="en-ZA" smtClean="0"/>
              <a:t>‹#›</a:t>
            </a:fld>
            <a:endParaRPr lang="en-ZA"/>
          </a:p>
        </p:txBody>
      </p:sp>
    </p:spTree>
    <p:extLst>
      <p:ext uri="{BB962C8B-B14F-4D97-AF65-F5344CB8AC3E}">
        <p14:creationId xmlns:p14="http://schemas.microsoft.com/office/powerpoint/2010/main" val="3058345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3E509FF9-BDD9-A1BF-5237-538EDDB6BC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0"/>
            <a:ext cx="6930551" cy="10058400"/>
          </a:xfrm>
          <a:prstGeom prst="rect">
            <a:avLst/>
          </a:prstGeom>
        </p:spPr>
      </p:pic>
      <p:sp>
        <p:nvSpPr>
          <p:cNvPr id="4" name="TextBox 3">
            <a:extLst>
              <a:ext uri="{FF2B5EF4-FFF2-40B4-BE49-F238E27FC236}">
                <a16:creationId xmlns:a16="http://schemas.microsoft.com/office/drawing/2014/main" id="{D8BA4A3A-9CBD-44CA-33BC-CBAF4E859677}"/>
              </a:ext>
            </a:extLst>
          </p:cNvPr>
          <p:cNvSpPr txBox="1"/>
          <p:nvPr/>
        </p:nvSpPr>
        <p:spPr>
          <a:xfrm>
            <a:off x="0" y="65927"/>
            <a:ext cx="6858000" cy="1200329"/>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COS1512 – Online Class Session – 04 JUNE 2026</a:t>
            </a:r>
            <a:endParaRPr lang="en-ZA" sz="3600" b="1" dirty="0">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58C44F4B-5D92-BFC5-653C-CD4E349F6C3A}"/>
              </a:ext>
            </a:extLst>
          </p:cNvPr>
          <p:cNvSpPr txBox="1">
            <a:spLocks/>
          </p:cNvSpPr>
          <p:nvPr/>
        </p:nvSpPr>
        <p:spPr>
          <a:xfrm>
            <a:off x="467916" y="2469624"/>
            <a:ext cx="5915025" cy="2483376"/>
          </a:xfrm>
          <a:prstGeom prst="rect">
            <a:avLst/>
          </a:prstGeom>
        </p:spPr>
        <p:txBody>
          <a:bodyPr vert="horz" lIns="91440" tIns="45720" rIns="91440" bIns="45720" rtlCol="0" anchor="b">
            <a:normAutofit lnSpcReduction="10000"/>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n-US" sz="4800" b="1" dirty="0"/>
              <a:t>COS1512 – INTRODUCTION TO PROGRAMMING II – Using C++</a:t>
            </a:r>
            <a:endParaRPr lang="en-ZA" b="1" dirty="0"/>
          </a:p>
        </p:txBody>
      </p:sp>
      <p:sp>
        <p:nvSpPr>
          <p:cNvPr id="3" name="Text Placeholder 2">
            <a:extLst>
              <a:ext uri="{FF2B5EF4-FFF2-40B4-BE49-F238E27FC236}">
                <a16:creationId xmlns:a16="http://schemas.microsoft.com/office/drawing/2014/main" id="{7B3CD2F3-FE1E-ECCE-5428-E1525056D51E}"/>
              </a:ext>
            </a:extLst>
          </p:cNvPr>
          <p:cNvSpPr txBox="1">
            <a:spLocks/>
          </p:cNvSpPr>
          <p:nvPr/>
        </p:nvSpPr>
        <p:spPr>
          <a:xfrm>
            <a:off x="467916" y="5789289"/>
            <a:ext cx="5915025" cy="857269"/>
          </a:xfrm>
          <a:prstGeom prst="rect">
            <a:avLst/>
          </a:prstGeom>
        </p:spPr>
        <p:txBody>
          <a:bodyPr vert="horz" lIns="91440" tIns="45720" rIns="91440" bIns="45720" rtlCol="0">
            <a:normAutofit fontScale="70000" lnSpcReduction="200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r>
              <a:rPr lang="en-US" sz="2400" b="1" i="1" dirty="0"/>
              <a:t>Academic Year: 2026</a:t>
            </a:r>
          </a:p>
          <a:p>
            <a:r>
              <a:rPr lang="en-US" sz="2400" b="1" i="1" dirty="0"/>
              <a:t>Date: 04 JUNE 2026</a:t>
            </a:r>
          </a:p>
          <a:p>
            <a:r>
              <a:rPr lang="en-US" sz="2400" b="1" i="1" dirty="0"/>
              <a:t>Time: 17:00 PM to 19:00 PM</a:t>
            </a:r>
            <a:endParaRPr lang="en-ZA" sz="2400" b="1" i="1" dirty="0"/>
          </a:p>
        </p:txBody>
      </p:sp>
    </p:spTree>
    <p:extLst>
      <p:ext uri="{BB962C8B-B14F-4D97-AF65-F5344CB8AC3E}">
        <p14:creationId xmlns:p14="http://schemas.microsoft.com/office/powerpoint/2010/main" val="4965932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A1252-968A-A97A-6796-E8553F19BEFD}"/>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7BF1D3AB-2F2A-1FCB-96ED-9EF33DE562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0"/>
            <a:ext cx="6930551" cy="10058400"/>
          </a:xfrm>
          <a:prstGeom prst="rect">
            <a:avLst/>
          </a:prstGeom>
        </p:spPr>
      </p:pic>
      <p:sp>
        <p:nvSpPr>
          <p:cNvPr id="4" name="TextBox 3">
            <a:extLst>
              <a:ext uri="{FF2B5EF4-FFF2-40B4-BE49-F238E27FC236}">
                <a16:creationId xmlns:a16="http://schemas.microsoft.com/office/drawing/2014/main" id="{1B2EFCF2-CB78-E497-F9BE-A5AC45242B2A}"/>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Topics</a:t>
            </a:r>
            <a:endParaRPr lang="en-ZA" sz="3600" b="1" dirty="0">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69E19299-7E0C-EB3F-6C39-08CDCDA7A501}"/>
              </a:ext>
            </a:extLst>
          </p:cNvPr>
          <p:cNvSpPr txBox="1">
            <a:spLocks/>
          </p:cNvSpPr>
          <p:nvPr/>
        </p:nvSpPr>
        <p:spPr>
          <a:xfrm>
            <a:off x="467916" y="2469624"/>
            <a:ext cx="5915025" cy="2483376"/>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n-US" sz="4800" b="1" dirty="0">
                <a:latin typeface="Arial" panose="020B0604020202020204" pitchFamily="34" charset="0"/>
                <a:cs typeface="Arial" panose="020B0604020202020204" pitchFamily="34" charset="0"/>
              </a:rPr>
              <a:t>Chapter 6</a:t>
            </a:r>
            <a:endParaRPr lang="en-US" sz="4800" b="1" dirty="0"/>
          </a:p>
        </p:txBody>
      </p:sp>
      <p:sp>
        <p:nvSpPr>
          <p:cNvPr id="3" name="Text Placeholder 2">
            <a:extLst>
              <a:ext uri="{FF2B5EF4-FFF2-40B4-BE49-F238E27FC236}">
                <a16:creationId xmlns:a16="http://schemas.microsoft.com/office/drawing/2014/main" id="{0E07602D-94A4-AD8F-019E-D2D062AF4298}"/>
              </a:ext>
            </a:extLst>
          </p:cNvPr>
          <p:cNvSpPr txBox="1">
            <a:spLocks/>
          </p:cNvSpPr>
          <p:nvPr/>
        </p:nvSpPr>
        <p:spPr>
          <a:xfrm>
            <a:off x="467916" y="5789289"/>
            <a:ext cx="5915025" cy="857269"/>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endParaRPr lang="en-ZA" b="1" i="1" dirty="0"/>
          </a:p>
        </p:txBody>
      </p:sp>
      <p:sp>
        <p:nvSpPr>
          <p:cNvPr id="6" name="Title 1">
            <a:extLst>
              <a:ext uri="{FF2B5EF4-FFF2-40B4-BE49-F238E27FC236}">
                <a16:creationId xmlns:a16="http://schemas.microsoft.com/office/drawing/2014/main" id="{D083F84A-C93A-7FC6-3E47-AA5B244F21FC}"/>
              </a:ext>
            </a:extLst>
          </p:cNvPr>
          <p:cNvSpPr txBox="1">
            <a:spLocks/>
          </p:cNvSpPr>
          <p:nvPr/>
        </p:nvSpPr>
        <p:spPr>
          <a:xfrm>
            <a:off x="435211" y="5789289"/>
            <a:ext cx="5915025" cy="2483376"/>
          </a:xfrm>
          <a:prstGeom prst="rect">
            <a:avLst/>
          </a:prstGeom>
        </p:spPr>
        <p:txBody>
          <a:bodyPr vert="horz" lIns="91440" tIns="45720" rIns="91440" bIns="45720" rtlCol="0" anchor="b">
            <a:normAutofit lnSpcReduction="10000"/>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n-US" sz="4800" b="1" dirty="0">
                <a:latin typeface="Arial" panose="020B0604020202020204" pitchFamily="34" charset="0"/>
                <a:cs typeface="Arial" panose="020B0604020202020204" pitchFamily="34" charset="0"/>
              </a:rPr>
              <a:t>I/O as an Introduction to Objects and Classes</a:t>
            </a:r>
            <a:endParaRPr lang="en-US" sz="4800" b="1" dirty="0"/>
          </a:p>
        </p:txBody>
      </p:sp>
    </p:spTree>
    <p:extLst>
      <p:ext uri="{BB962C8B-B14F-4D97-AF65-F5344CB8AC3E}">
        <p14:creationId xmlns:p14="http://schemas.microsoft.com/office/powerpoint/2010/main" val="25913274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EBD26-80FA-7F66-3987-963EB7F23A91}"/>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CC44998F-9DCE-2AE0-4144-F073D5F733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D4EE4FF0-8370-A7DC-3EEE-615C5BB6B375}"/>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Contents</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4CD28D54-B58B-08EC-2E1B-772D6B1BFB63}"/>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marL="457200" indent="-457200" algn="l">
              <a:buFont typeface="+mj-lt"/>
              <a:buAutoNum type="arabicPeriod"/>
            </a:pPr>
            <a:r>
              <a:rPr lang="en-US" sz="2800" b="1" dirty="0"/>
              <a:t>File I/O - Intro</a:t>
            </a:r>
          </a:p>
          <a:p>
            <a:pPr marL="457200" indent="-457200" algn="l">
              <a:buFont typeface="+mj-lt"/>
              <a:buAutoNum type="arabicPeriod"/>
            </a:pPr>
            <a:r>
              <a:rPr lang="en-US" sz="2800" b="1" dirty="0"/>
              <a:t>File I/O Streams</a:t>
            </a:r>
          </a:p>
          <a:p>
            <a:pPr marL="457200" indent="-457200" algn="l">
              <a:buFont typeface="+mj-lt"/>
              <a:buAutoNum type="arabicPeriod"/>
            </a:pPr>
            <a:r>
              <a:rPr lang="en-US" sz="2800" b="1" dirty="0"/>
              <a:t>File I/O – Five Steps Process</a:t>
            </a:r>
          </a:p>
          <a:p>
            <a:pPr marL="457200" indent="-457200" algn="l">
              <a:buFont typeface="+mj-lt"/>
              <a:buAutoNum type="arabicPeriod"/>
            </a:pPr>
            <a:r>
              <a:rPr lang="en-ZA" sz="2800" b="1" dirty="0"/>
              <a:t>CHARACTER I/O</a:t>
            </a:r>
            <a:endParaRPr lang="en-US" sz="2800" b="1" dirty="0"/>
          </a:p>
          <a:p>
            <a:pPr marL="457200" indent="-457200" algn="l">
              <a:buFont typeface="+mj-lt"/>
              <a:buAutoNum type="arabicPeriod"/>
            </a:pPr>
            <a:endParaRPr lang="en-US" sz="2800" b="1" dirty="0"/>
          </a:p>
          <a:p>
            <a:pPr marL="285750" indent="-285750">
              <a:buFont typeface="Arial" panose="020B0604020202020204" pitchFamily="34" charset="0"/>
              <a:buChar char="•"/>
            </a:pPr>
            <a:endParaRPr lang="en-US" sz="2400" b="1" dirty="0"/>
          </a:p>
        </p:txBody>
      </p:sp>
    </p:spTree>
    <p:extLst>
      <p:ext uri="{BB962C8B-B14F-4D97-AF65-F5344CB8AC3E}">
        <p14:creationId xmlns:p14="http://schemas.microsoft.com/office/powerpoint/2010/main" val="33164230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75BB3-8A95-B419-4513-6AB3F7C63FDA}"/>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836B6F60-F7FC-B7D3-46D6-18C36EEA7A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FA861DBF-F41A-DB56-D827-0F0F733FC315}"/>
              </a:ext>
            </a:extLst>
          </p:cNvPr>
          <p:cNvSpPr txBox="1"/>
          <p:nvPr/>
        </p:nvSpPr>
        <p:spPr>
          <a:xfrm>
            <a:off x="0" y="65927"/>
            <a:ext cx="6858000" cy="1200329"/>
          </a:xfrm>
          <a:prstGeom prst="rect">
            <a:avLst/>
          </a:prstGeom>
          <a:noFill/>
        </p:spPr>
        <p:txBody>
          <a:bodyPr wrap="square" rtlCol="0">
            <a:spAutoFit/>
          </a:bodyPr>
          <a:lstStyle/>
          <a:p>
            <a:r>
              <a:rPr lang="en-US" sz="3600" b="1" dirty="0"/>
              <a:t>Introduction to Understanding Files I/O</a:t>
            </a:r>
          </a:p>
        </p:txBody>
      </p:sp>
      <p:sp>
        <p:nvSpPr>
          <p:cNvPr id="2" name="Content Placeholder 2">
            <a:extLst>
              <a:ext uri="{FF2B5EF4-FFF2-40B4-BE49-F238E27FC236}">
                <a16:creationId xmlns:a16="http://schemas.microsoft.com/office/drawing/2014/main" id="{F9C0EDF9-73E6-3C00-45D7-B7F0CFC0CF7B}"/>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400" dirty="0"/>
              <a:t>Input / Output (I/O) refers to program input and output.</a:t>
            </a:r>
          </a:p>
          <a:p>
            <a:pPr algn="l"/>
            <a:endParaRPr lang="en-US" sz="2400" dirty="0"/>
          </a:p>
          <a:p>
            <a:pPr algn="l"/>
            <a:r>
              <a:rPr lang="en-US" sz="2400" b="1" dirty="0"/>
              <a:t>Input</a:t>
            </a:r>
            <a:r>
              <a:rPr lang="en-US" sz="2400" dirty="0"/>
              <a:t> can be taken from the </a:t>
            </a:r>
            <a:r>
              <a:rPr lang="en-US" sz="2400" i="1" dirty="0"/>
              <a:t>keyboard</a:t>
            </a:r>
            <a:r>
              <a:rPr lang="en-US" sz="2400" dirty="0"/>
              <a:t> </a:t>
            </a:r>
            <a:r>
              <a:rPr lang="en-ZA" sz="2400" dirty="0"/>
              <a:t>or from a </a:t>
            </a:r>
            <a:r>
              <a:rPr lang="en-ZA" sz="2400" i="1" dirty="0"/>
              <a:t>file</a:t>
            </a:r>
            <a:r>
              <a:rPr lang="en-ZA" sz="2400" dirty="0"/>
              <a:t>. </a:t>
            </a:r>
            <a:r>
              <a:rPr lang="en-US" sz="2400" dirty="0"/>
              <a:t>Similarly, </a:t>
            </a:r>
            <a:r>
              <a:rPr lang="en-US" sz="2400" b="1" dirty="0"/>
              <a:t>output</a:t>
            </a:r>
            <a:r>
              <a:rPr lang="en-US" sz="2400" dirty="0"/>
              <a:t> can be sent to the </a:t>
            </a:r>
            <a:r>
              <a:rPr lang="en-US" sz="2400" i="1" dirty="0"/>
              <a:t>screen</a:t>
            </a:r>
            <a:r>
              <a:rPr lang="en-US" sz="2400" dirty="0"/>
              <a:t> or to a </a:t>
            </a:r>
            <a:r>
              <a:rPr lang="en-US" sz="2400" i="1" dirty="0"/>
              <a:t>file</a:t>
            </a:r>
            <a:r>
              <a:rPr lang="en-US" sz="2400" dirty="0"/>
              <a:t>. </a:t>
            </a:r>
          </a:p>
          <a:p>
            <a:pPr algn="l"/>
            <a:endParaRPr lang="en-US" sz="2400" dirty="0"/>
          </a:p>
          <a:p>
            <a:pPr algn="l"/>
            <a:r>
              <a:rPr lang="en-US" sz="2400" dirty="0"/>
              <a:t>This chapter explains how you can write your programs to take input from a file and send output to another file.</a:t>
            </a:r>
            <a:endParaRPr lang="en-US" altLang="en-US" sz="2400" dirty="0"/>
          </a:p>
          <a:p>
            <a:pPr marL="457200" indent="-457200" algn="l">
              <a:buFont typeface="+mj-lt"/>
              <a:buAutoNum type="arabicPeriod"/>
            </a:pPr>
            <a:endParaRPr lang="en-US" sz="2800" b="1" dirty="0"/>
          </a:p>
          <a:p>
            <a:pPr marL="457200" indent="-457200" algn="l">
              <a:buFont typeface="+mj-lt"/>
              <a:buAutoNum type="arabicPeriod"/>
            </a:pPr>
            <a:endParaRPr lang="en-US" sz="2800" b="1" dirty="0"/>
          </a:p>
          <a:p>
            <a:pPr marL="285750" indent="-285750">
              <a:buFont typeface="Arial" panose="020B0604020202020204" pitchFamily="34" charset="0"/>
              <a:buChar char="•"/>
            </a:pPr>
            <a:endParaRPr lang="en-US" sz="2400" b="1" dirty="0"/>
          </a:p>
        </p:txBody>
      </p:sp>
    </p:spTree>
    <p:extLst>
      <p:ext uri="{BB962C8B-B14F-4D97-AF65-F5344CB8AC3E}">
        <p14:creationId xmlns:p14="http://schemas.microsoft.com/office/powerpoint/2010/main" val="41409636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81680-B10D-B2BC-6C54-4EE6E600392E}"/>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CDFB8D5B-3AC6-F1C3-8D73-E6E8ED34A1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4E1BD468-3F06-3772-F186-CC5CF7E6C13A}"/>
              </a:ext>
            </a:extLst>
          </p:cNvPr>
          <p:cNvSpPr txBox="1"/>
          <p:nvPr/>
        </p:nvSpPr>
        <p:spPr>
          <a:xfrm>
            <a:off x="0" y="65927"/>
            <a:ext cx="6858000" cy="1200329"/>
          </a:xfrm>
          <a:prstGeom prst="rect">
            <a:avLst/>
          </a:prstGeom>
          <a:noFill/>
        </p:spPr>
        <p:txBody>
          <a:bodyPr wrap="square" rtlCol="0">
            <a:spAutoFit/>
          </a:bodyPr>
          <a:lstStyle/>
          <a:p>
            <a:r>
              <a:rPr lang="en-US" sz="3600" b="1" dirty="0"/>
              <a:t>Introduction to Understanding Files I/O</a:t>
            </a:r>
          </a:p>
        </p:txBody>
      </p:sp>
      <p:sp>
        <p:nvSpPr>
          <p:cNvPr id="2" name="Content Placeholder 2">
            <a:extLst>
              <a:ext uri="{FF2B5EF4-FFF2-40B4-BE49-F238E27FC236}">
                <a16:creationId xmlns:a16="http://schemas.microsoft.com/office/drawing/2014/main" id="{94E4949E-1C85-80CD-B43D-F8CD2CAF39F6}"/>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400" dirty="0"/>
              <a:t>Input / Output (I/O) refers to program input and output.</a:t>
            </a:r>
          </a:p>
          <a:p>
            <a:pPr algn="l"/>
            <a:endParaRPr lang="en-US" sz="2400" dirty="0"/>
          </a:p>
          <a:p>
            <a:pPr algn="l"/>
            <a:r>
              <a:rPr lang="en-US" sz="2400" b="1" dirty="0"/>
              <a:t>Input</a:t>
            </a:r>
            <a:r>
              <a:rPr lang="en-US" sz="2400" dirty="0"/>
              <a:t> can be taken from the </a:t>
            </a:r>
            <a:r>
              <a:rPr lang="en-US" sz="2400" i="1" dirty="0"/>
              <a:t>keyboard</a:t>
            </a:r>
            <a:r>
              <a:rPr lang="en-US" sz="2400" dirty="0"/>
              <a:t> </a:t>
            </a:r>
            <a:r>
              <a:rPr lang="en-ZA" sz="2400" dirty="0"/>
              <a:t>or from a </a:t>
            </a:r>
            <a:r>
              <a:rPr lang="en-ZA" sz="2400" i="1" dirty="0"/>
              <a:t>file</a:t>
            </a:r>
            <a:r>
              <a:rPr lang="en-ZA" sz="2400" dirty="0"/>
              <a:t>. </a:t>
            </a:r>
            <a:r>
              <a:rPr lang="en-US" sz="2400" dirty="0"/>
              <a:t>Similarly, </a:t>
            </a:r>
            <a:r>
              <a:rPr lang="en-US" sz="2400" b="1" dirty="0"/>
              <a:t>output</a:t>
            </a:r>
            <a:r>
              <a:rPr lang="en-US" sz="2400" dirty="0"/>
              <a:t> can be sent to the </a:t>
            </a:r>
            <a:r>
              <a:rPr lang="en-US" sz="2400" i="1" dirty="0"/>
              <a:t>screen</a:t>
            </a:r>
            <a:r>
              <a:rPr lang="en-US" sz="2400" dirty="0"/>
              <a:t> or to a </a:t>
            </a:r>
            <a:r>
              <a:rPr lang="en-US" sz="2400" i="1" dirty="0"/>
              <a:t>file</a:t>
            </a:r>
            <a:r>
              <a:rPr lang="en-US" sz="2400" dirty="0"/>
              <a:t>. </a:t>
            </a:r>
          </a:p>
          <a:p>
            <a:pPr algn="l"/>
            <a:endParaRPr lang="en-US" sz="2400" dirty="0"/>
          </a:p>
          <a:p>
            <a:pPr algn="l"/>
            <a:r>
              <a:rPr lang="en-US" sz="2400" dirty="0"/>
              <a:t>This chapter explains how you can write your programs to take input from a file and send output to another file.</a:t>
            </a:r>
            <a:endParaRPr lang="en-US" altLang="en-US" sz="2400" dirty="0"/>
          </a:p>
          <a:p>
            <a:pPr marL="457200" indent="-457200" algn="l">
              <a:buFont typeface="+mj-lt"/>
              <a:buAutoNum type="arabicPeriod"/>
            </a:pPr>
            <a:endParaRPr lang="en-US" sz="2800" b="1" dirty="0"/>
          </a:p>
          <a:p>
            <a:pPr marL="457200" indent="-457200" algn="l">
              <a:buFont typeface="+mj-lt"/>
              <a:buAutoNum type="arabicPeriod"/>
            </a:pPr>
            <a:endParaRPr lang="en-US" sz="2800" b="1" dirty="0"/>
          </a:p>
          <a:p>
            <a:pPr marL="285750" indent="-285750">
              <a:buFont typeface="Arial" panose="020B0604020202020204" pitchFamily="34" charset="0"/>
              <a:buChar char="•"/>
            </a:pPr>
            <a:endParaRPr lang="en-US" sz="2400" b="1" dirty="0"/>
          </a:p>
        </p:txBody>
      </p:sp>
    </p:spTree>
    <p:extLst>
      <p:ext uri="{BB962C8B-B14F-4D97-AF65-F5344CB8AC3E}">
        <p14:creationId xmlns:p14="http://schemas.microsoft.com/office/powerpoint/2010/main" val="34024326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E2DEC-6475-F371-90FD-8ECC7EA929B4}"/>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81E6F2AB-E172-71BC-6796-C2E7191447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517B7B2E-3896-CF35-E344-CCB458487BC5}"/>
              </a:ext>
            </a:extLst>
          </p:cNvPr>
          <p:cNvSpPr txBox="1"/>
          <p:nvPr/>
        </p:nvSpPr>
        <p:spPr>
          <a:xfrm>
            <a:off x="0" y="65927"/>
            <a:ext cx="6858000" cy="646331"/>
          </a:xfrm>
          <a:prstGeom prst="rect">
            <a:avLst/>
          </a:prstGeom>
          <a:noFill/>
        </p:spPr>
        <p:txBody>
          <a:bodyPr wrap="square" rtlCol="0">
            <a:spAutoFit/>
          </a:bodyPr>
          <a:lstStyle/>
          <a:p>
            <a:r>
              <a:rPr lang="en-US" sz="3600" b="1" dirty="0"/>
              <a:t>File I/O Streams</a:t>
            </a:r>
          </a:p>
        </p:txBody>
      </p:sp>
      <p:sp>
        <p:nvSpPr>
          <p:cNvPr id="2" name="Content Placeholder 2">
            <a:extLst>
              <a:ext uri="{FF2B5EF4-FFF2-40B4-BE49-F238E27FC236}">
                <a16:creationId xmlns:a16="http://schemas.microsoft.com/office/drawing/2014/main" id="{7898307D-9C35-F207-842D-218A4A840CFB}"/>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400" dirty="0"/>
              <a:t>To use files, we need the header the header file </a:t>
            </a:r>
            <a:r>
              <a:rPr lang="en-US" sz="2400" b="1" dirty="0" err="1"/>
              <a:t>fstream</a:t>
            </a:r>
            <a:r>
              <a:rPr lang="en-US" sz="2400" dirty="0"/>
              <a:t> does not declare </a:t>
            </a:r>
            <a:r>
              <a:rPr lang="en-ZA" sz="2400" dirty="0"/>
              <a:t>variables to use them.</a:t>
            </a:r>
            <a:endParaRPr lang="en-US" sz="2400" dirty="0"/>
          </a:p>
          <a:p>
            <a:pPr algn="l"/>
            <a:r>
              <a:rPr lang="en-US" sz="2400" dirty="0"/>
              <a:t>With Files, you must declare variables called </a:t>
            </a:r>
            <a:r>
              <a:rPr lang="en-US" sz="2400" b="1" dirty="0"/>
              <a:t>file stream variables</a:t>
            </a:r>
            <a:r>
              <a:rPr lang="en-US" sz="2400" dirty="0"/>
              <a:t>, which include </a:t>
            </a:r>
            <a:r>
              <a:rPr lang="en-US" sz="2400" b="1" dirty="0" err="1"/>
              <a:t>ifstream</a:t>
            </a:r>
            <a:r>
              <a:rPr lang="en-US" sz="2400" b="1" dirty="0"/>
              <a:t> </a:t>
            </a:r>
            <a:r>
              <a:rPr lang="en-US" sz="2400" dirty="0"/>
              <a:t>variables for input and </a:t>
            </a:r>
            <a:r>
              <a:rPr lang="en-US" sz="2400" b="1" dirty="0" err="1"/>
              <a:t>ofstream</a:t>
            </a:r>
            <a:r>
              <a:rPr lang="en-US" sz="2400" b="1" dirty="0"/>
              <a:t> </a:t>
            </a:r>
            <a:r>
              <a:rPr lang="en-US" sz="2400" dirty="0"/>
              <a:t>variables for output.</a:t>
            </a:r>
            <a:endParaRPr lang="en-US" sz="2400" b="1" dirty="0"/>
          </a:p>
          <a:p>
            <a:pPr algn="l"/>
            <a:r>
              <a:rPr lang="en-US" sz="2400" dirty="0"/>
              <a:t>C++ does not automatically initialize user-defined variables. Once you declare the </a:t>
            </a:r>
            <a:r>
              <a:rPr lang="en-US" sz="2400" b="1" dirty="0" err="1"/>
              <a:t>fstream</a:t>
            </a:r>
            <a:r>
              <a:rPr lang="en-US" sz="2400" b="1" dirty="0"/>
              <a:t> </a:t>
            </a:r>
            <a:r>
              <a:rPr lang="en-US" sz="2400" dirty="0"/>
              <a:t>variables, you must associate these file variables with the I/O sources.</a:t>
            </a:r>
            <a:endParaRPr lang="en-US" sz="2400" b="1" dirty="0"/>
          </a:p>
          <a:p>
            <a:pPr algn="l"/>
            <a:endParaRPr lang="en-US" altLang="en-US" sz="2400" b="1" dirty="0"/>
          </a:p>
          <a:p>
            <a:pPr algn="l"/>
            <a:endParaRPr lang="en-US" altLang="en-US" sz="2400" b="1" dirty="0"/>
          </a:p>
          <a:p>
            <a:pPr marL="457200" indent="-457200" algn="l">
              <a:buFont typeface="+mj-lt"/>
              <a:buAutoNum type="arabicPeriod"/>
            </a:pPr>
            <a:endParaRPr lang="en-US" sz="2800" b="1" dirty="0"/>
          </a:p>
          <a:p>
            <a:pPr marL="457200" indent="-457200" algn="l">
              <a:buFont typeface="+mj-lt"/>
              <a:buAutoNum type="arabicPeriod"/>
            </a:pPr>
            <a:endParaRPr lang="en-US" sz="2800" b="1" dirty="0"/>
          </a:p>
          <a:p>
            <a:pPr marL="285750" indent="-285750">
              <a:buFont typeface="Arial" panose="020B0604020202020204" pitchFamily="34" charset="0"/>
              <a:buChar char="•"/>
            </a:pPr>
            <a:endParaRPr lang="en-US" sz="2400" b="1" dirty="0"/>
          </a:p>
        </p:txBody>
      </p:sp>
    </p:spTree>
    <p:extLst>
      <p:ext uri="{BB962C8B-B14F-4D97-AF65-F5344CB8AC3E}">
        <p14:creationId xmlns:p14="http://schemas.microsoft.com/office/powerpoint/2010/main" val="17856264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19629-B7F5-CEFA-2821-D2DFCEF3DD7D}"/>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6BA33300-F636-C976-433F-07FB7F3268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5A3F2489-ECE6-0130-694D-F7FFF7509B05}"/>
              </a:ext>
            </a:extLst>
          </p:cNvPr>
          <p:cNvSpPr txBox="1"/>
          <p:nvPr/>
        </p:nvSpPr>
        <p:spPr>
          <a:xfrm>
            <a:off x="0" y="65927"/>
            <a:ext cx="6858000" cy="646331"/>
          </a:xfrm>
          <a:prstGeom prst="rect">
            <a:avLst/>
          </a:prstGeom>
          <a:noFill/>
        </p:spPr>
        <p:txBody>
          <a:bodyPr wrap="square" rtlCol="0">
            <a:spAutoFit/>
          </a:bodyPr>
          <a:lstStyle/>
          <a:p>
            <a:r>
              <a:rPr lang="en-US" sz="3600" b="1" dirty="0"/>
              <a:t>File I/O is a five-step process</a:t>
            </a:r>
          </a:p>
        </p:txBody>
      </p:sp>
      <p:sp>
        <p:nvSpPr>
          <p:cNvPr id="2" name="Content Placeholder 2">
            <a:extLst>
              <a:ext uri="{FF2B5EF4-FFF2-40B4-BE49-F238E27FC236}">
                <a16:creationId xmlns:a16="http://schemas.microsoft.com/office/drawing/2014/main" id="{6AD17718-F0F3-510B-1E6A-DF293DC6D8B7}"/>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400" dirty="0"/>
              <a:t>1. Include the header file </a:t>
            </a:r>
            <a:r>
              <a:rPr lang="en-US" sz="2400" b="1" dirty="0" err="1"/>
              <a:t>fstream</a:t>
            </a:r>
            <a:r>
              <a:rPr lang="en-US" sz="2400" b="1" dirty="0"/>
              <a:t> </a:t>
            </a:r>
            <a:r>
              <a:rPr lang="en-US" sz="2400" dirty="0"/>
              <a:t>in the program.</a:t>
            </a:r>
          </a:p>
          <a:p>
            <a:pPr algn="l"/>
            <a:r>
              <a:rPr lang="en-US" sz="2400" dirty="0"/>
              <a:t>2. Declare file stream variables.</a:t>
            </a:r>
          </a:p>
          <a:p>
            <a:pPr algn="l"/>
            <a:r>
              <a:rPr lang="en-US" sz="2400" dirty="0"/>
              <a:t>3. Associate the file stream variables with the I/O sources (as per the problem scenario).</a:t>
            </a:r>
          </a:p>
          <a:p>
            <a:pPr algn="l"/>
            <a:r>
              <a:rPr lang="en-US" sz="2400" dirty="0"/>
              <a:t>4. Use the file stream variables with </a:t>
            </a:r>
            <a:r>
              <a:rPr lang="en-US" sz="2400" b="1" dirty="0"/>
              <a:t>&gt;&gt;</a:t>
            </a:r>
            <a:r>
              <a:rPr lang="en-US" sz="2400" dirty="0"/>
              <a:t>, </a:t>
            </a:r>
            <a:r>
              <a:rPr lang="en-US" sz="2400" b="1" dirty="0"/>
              <a:t>&lt;&lt;</a:t>
            </a:r>
            <a:r>
              <a:rPr lang="en-US" sz="2400" dirty="0"/>
              <a:t>, or other I/O functions.</a:t>
            </a:r>
          </a:p>
          <a:p>
            <a:pPr algn="l"/>
            <a:r>
              <a:rPr lang="en-ZA" sz="2400" dirty="0"/>
              <a:t>5. Close the files.</a:t>
            </a:r>
            <a:endParaRPr lang="en-US" sz="2400" b="1" dirty="0"/>
          </a:p>
          <a:p>
            <a:pPr marL="457200" indent="-457200" algn="l">
              <a:buFont typeface="+mj-lt"/>
              <a:buAutoNum type="arabicPeriod"/>
            </a:pPr>
            <a:endParaRPr lang="en-US" sz="2800" b="1" dirty="0"/>
          </a:p>
          <a:p>
            <a:pPr marL="285750" indent="-285750">
              <a:buFont typeface="Arial" panose="020B0604020202020204" pitchFamily="34" charset="0"/>
              <a:buChar char="•"/>
            </a:pPr>
            <a:endParaRPr lang="en-US" sz="2400" b="1" dirty="0"/>
          </a:p>
        </p:txBody>
      </p:sp>
    </p:spTree>
    <p:extLst>
      <p:ext uri="{BB962C8B-B14F-4D97-AF65-F5344CB8AC3E}">
        <p14:creationId xmlns:p14="http://schemas.microsoft.com/office/powerpoint/2010/main" val="25507276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5CF0B2-8F99-38ED-CD31-25CBC7E38408}"/>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61E73395-F9C7-240F-28C6-0B9064A458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A662F3F7-B525-A40C-61F8-F609BD32ED6B}"/>
              </a:ext>
            </a:extLst>
          </p:cNvPr>
          <p:cNvSpPr txBox="1"/>
          <p:nvPr/>
        </p:nvSpPr>
        <p:spPr>
          <a:xfrm>
            <a:off x="0" y="65927"/>
            <a:ext cx="6858000" cy="646331"/>
          </a:xfrm>
          <a:prstGeom prst="rect">
            <a:avLst/>
          </a:prstGeom>
          <a:noFill/>
        </p:spPr>
        <p:txBody>
          <a:bodyPr wrap="square" rtlCol="0">
            <a:spAutoFit/>
          </a:bodyPr>
          <a:lstStyle/>
          <a:p>
            <a:r>
              <a:rPr lang="en-US" sz="3600" b="1" dirty="0"/>
              <a:t>File I/O five-steps in detail</a:t>
            </a:r>
          </a:p>
        </p:txBody>
      </p:sp>
      <p:sp>
        <p:nvSpPr>
          <p:cNvPr id="2" name="Content Placeholder 2">
            <a:extLst>
              <a:ext uri="{FF2B5EF4-FFF2-40B4-BE49-F238E27FC236}">
                <a16:creationId xmlns:a16="http://schemas.microsoft.com/office/drawing/2014/main" id="{C579949E-E4A7-FB07-384E-A0A89A7AEE9D}"/>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400" b="1" dirty="0"/>
              <a:t>Step 1 </a:t>
            </a:r>
            <a:r>
              <a:rPr lang="en-US" sz="2400" dirty="0"/>
              <a:t>requires that the header file </a:t>
            </a:r>
            <a:r>
              <a:rPr lang="en-US" sz="2400" b="1" dirty="0" err="1"/>
              <a:t>fstream</a:t>
            </a:r>
            <a:r>
              <a:rPr lang="en-US" sz="2400" b="1" dirty="0"/>
              <a:t> </a:t>
            </a:r>
            <a:r>
              <a:rPr lang="en-US" sz="2400" dirty="0"/>
              <a:t>be included in the program. The following </a:t>
            </a:r>
            <a:r>
              <a:rPr lang="en-ZA" sz="2400" dirty="0"/>
              <a:t>statement accomplishes this task:</a:t>
            </a:r>
          </a:p>
          <a:p>
            <a:pPr lvl="1" algn="l"/>
            <a:r>
              <a:rPr lang="en-ZA" sz="2000" b="1" dirty="0">
                <a:solidFill>
                  <a:srgbClr val="00B050"/>
                </a:solidFill>
              </a:rPr>
              <a:t>#include &lt;</a:t>
            </a:r>
            <a:r>
              <a:rPr lang="en-ZA" sz="2000" b="1" dirty="0" err="1">
                <a:solidFill>
                  <a:srgbClr val="00B050"/>
                </a:solidFill>
              </a:rPr>
              <a:t>fstream</a:t>
            </a:r>
            <a:r>
              <a:rPr lang="en-ZA" sz="2000" b="1" dirty="0">
                <a:solidFill>
                  <a:srgbClr val="00B050"/>
                </a:solidFill>
              </a:rPr>
              <a:t>&gt;</a:t>
            </a:r>
          </a:p>
          <a:p>
            <a:pPr algn="l"/>
            <a:r>
              <a:rPr lang="en-US" sz="2400" b="1" dirty="0"/>
              <a:t>Step 2 </a:t>
            </a:r>
            <a:r>
              <a:rPr lang="en-US" sz="2400" dirty="0"/>
              <a:t>requires you to declare file stream variables. Consider the following </a:t>
            </a:r>
            <a:r>
              <a:rPr lang="en-ZA" sz="2400" dirty="0"/>
              <a:t>statements:</a:t>
            </a:r>
          </a:p>
          <a:p>
            <a:pPr lvl="1" algn="l"/>
            <a:r>
              <a:rPr lang="en-ZA" sz="2000" b="1" dirty="0" err="1">
                <a:solidFill>
                  <a:srgbClr val="00B050"/>
                </a:solidFill>
              </a:rPr>
              <a:t>ifstream</a:t>
            </a:r>
            <a:r>
              <a:rPr lang="en-ZA" sz="2000" b="1" dirty="0">
                <a:solidFill>
                  <a:srgbClr val="00B050"/>
                </a:solidFill>
              </a:rPr>
              <a:t> </a:t>
            </a:r>
            <a:r>
              <a:rPr lang="en-ZA" sz="2000" b="1" dirty="0" err="1">
                <a:solidFill>
                  <a:srgbClr val="00B050"/>
                </a:solidFill>
              </a:rPr>
              <a:t>inData</a:t>
            </a:r>
            <a:r>
              <a:rPr lang="en-ZA" sz="2000" b="1" dirty="0">
                <a:solidFill>
                  <a:srgbClr val="00B050"/>
                </a:solidFill>
              </a:rPr>
              <a:t>;</a:t>
            </a:r>
          </a:p>
          <a:p>
            <a:pPr lvl="1" algn="l"/>
            <a:r>
              <a:rPr lang="en-ZA" sz="2000" b="1" dirty="0" err="1">
                <a:solidFill>
                  <a:srgbClr val="00B050"/>
                </a:solidFill>
              </a:rPr>
              <a:t>ofstream</a:t>
            </a:r>
            <a:r>
              <a:rPr lang="en-ZA" sz="2000" b="1" dirty="0">
                <a:solidFill>
                  <a:srgbClr val="00B050"/>
                </a:solidFill>
              </a:rPr>
              <a:t> </a:t>
            </a:r>
            <a:r>
              <a:rPr lang="en-ZA" sz="2000" b="1" dirty="0" err="1">
                <a:solidFill>
                  <a:srgbClr val="00B050"/>
                </a:solidFill>
              </a:rPr>
              <a:t>outData</a:t>
            </a:r>
            <a:r>
              <a:rPr lang="en-ZA" sz="2000" b="1" dirty="0">
                <a:solidFill>
                  <a:srgbClr val="00B050"/>
                </a:solidFill>
              </a:rPr>
              <a:t>;</a:t>
            </a:r>
          </a:p>
          <a:p>
            <a:pPr algn="l"/>
            <a:r>
              <a:rPr lang="en-US" sz="2400" dirty="0"/>
              <a:t>The first statement declares </a:t>
            </a:r>
            <a:r>
              <a:rPr lang="en-US" sz="2400" b="1" dirty="0" err="1"/>
              <a:t>inData</a:t>
            </a:r>
            <a:r>
              <a:rPr lang="en-US" sz="2400" b="1" dirty="0"/>
              <a:t> </a:t>
            </a:r>
            <a:r>
              <a:rPr lang="en-US" sz="2400" dirty="0"/>
              <a:t>to be an input file stream variable. The second statement declares </a:t>
            </a:r>
            <a:r>
              <a:rPr lang="en-US" sz="2400" b="1" dirty="0" err="1"/>
              <a:t>outData</a:t>
            </a:r>
            <a:r>
              <a:rPr lang="en-US" sz="2400" b="1" dirty="0"/>
              <a:t> </a:t>
            </a:r>
            <a:r>
              <a:rPr lang="en-US" sz="2400" dirty="0"/>
              <a:t>to be an output file stream variable.</a:t>
            </a:r>
            <a:endParaRPr lang="en-US" sz="2400" b="1" dirty="0"/>
          </a:p>
          <a:p>
            <a:pPr marL="285750" indent="-285750">
              <a:buFont typeface="Arial" panose="020B0604020202020204" pitchFamily="34" charset="0"/>
              <a:buChar char="•"/>
            </a:pPr>
            <a:endParaRPr lang="en-US" sz="2400" b="1" dirty="0"/>
          </a:p>
        </p:txBody>
      </p:sp>
    </p:spTree>
    <p:extLst>
      <p:ext uri="{BB962C8B-B14F-4D97-AF65-F5344CB8AC3E}">
        <p14:creationId xmlns:p14="http://schemas.microsoft.com/office/powerpoint/2010/main" val="13676309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9D32C-C7D3-01D0-99E6-422C55235958}"/>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6AA2C255-16F0-C5C1-19BD-38D40AF480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8AC7B040-FE40-522B-A135-4940D84C8A4A}"/>
              </a:ext>
            </a:extLst>
          </p:cNvPr>
          <p:cNvSpPr txBox="1"/>
          <p:nvPr/>
        </p:nvSpPr>
        <p:spPr>
          <a:xfrm>
            <a:off x="0" y="65927"/>
            <a:ext cx="6858000" cy="646331"/>
          </a:xfrm>
          <a:prstGeom prst="rect">
            <a:avLst/>
          </a:prstGeom>
          <a:noFill/>
        </p:spPr>
        <p:txBody>
          <a:bodyPr wrap="square" rtlCol="0">
            <a:spAutoFit/>
          </a:bodyPr>
          <a:lstStyle/>
          <a:p>
            <a:r>
              <a:rPr lang="en-US" sz="3600" b="1" dirty="0"/>
              <a:t>File I/O five-steps in detail</a:t>
            </a:r>
          </a:p>
        </p:txBody>
      </p:sp>
      <p:sp>
        <p:nvSpPr>
          <p:cNvPr id="2" name="Content Placeholder 2">
            <a:extLst>
              <a:ext uri="{FF2B5EF4-FFF2-40B4-BE49-F238E27FC236}">
                <a16:creationId xmlns:a16="http://schemas.microsoft.com/office/drawing/2014/main" id="{9C144CEF-3CE4-70B2-7DAF-2C0BAFBF2CF8}"/>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400" dirty="0"/>
              <a:t>Step 3 requires you to associate file stream variables with the I/O sources. This step is called </a:t>
            </a:r>
            <a:r>
              <a:rPr lang="en-US" sz="2400" b="1" dirty="0"/>
              <a:t>opening the files</a:t>
            </a:r>
            <a:r>
              <a:rPr lang="en-US" sz="2400" dirty="0"/>
              <a:t>. The stream member function </a:t>
            </a:r>
            <a:r>
              <a:rPr lang="en-US" sz="2400" b="1" dirty="0"/>
              <a:t>open </a:t>
            </a:r>
            <a:r>
              <a:rPr lang="en-US" sz="2400" dirty="0"/>
              <a:t>is used to open files.</a:t>
            </a:r>
          </a:p>
          <a:p>
            <a:pPr algn="l"/>
            <a:r>
              <a:rPr lang="en-US" sz="2400" dirty="0"/>
              <a:t>The syntax for opening a file is:</a:t>
            </a:r>
          </a:p>
          <a:p>
            <a:pPr lvl="1" algn="l"/>
            <a:r>
              <a:rPr lang="en-ZA" sz="2000" b="1" dirty="0" err="1">
                <a:solidFill>
                  <a:srgbClr val="00B050"/>
                </a:solidFill>
              </a:rPr>
              <a:t>fileStreamVariable.open</a:t>
            </a:r>
            <a:r>
              <a:rPr lang="en-ZA" sz="2000" b="1" dirty="0">
                <a:solidFill>
                  <a:srgbClr val="00B050"/>
                </a:solidFill>
              </a:rPr>
              <a:t>(</a:t>
            </a:r>
            <a:r>
              <a:rPr lang="en-ZA" sz="2000" b="1" dirty="0" err="1">
                <a:solidFill>
                  <a:srgbClr val="00B050"/>
                </a:solidFill>
              </a:rPr>
              <a:t>sourceName</a:t>
            </a:r>
            <a:r>
              <a:rPr lang="en-ZA" sz="2000" b="1" dirty="0">
                <a:solidFill>
                  <a:srgbClr val="00B050"/>
                </a:solidFill>
              </a:rPr>
              <a:t>);</a:t>
            </a:r>
          </a:p>
          <a:p>
            <a:pPr lvl="1" algn="l"/>
            <a:endParaRPr lang="en-ZA" sz="2400" b="1" dirty="0"/>
          </a:p>
          <a:p>
            <a:pPr algn="l"/>
            <a:r>
              <a:rPr lang="en-US" sz="2400" dirty="0"/>
              <a:t>Here, </a:t>
            </a:r>
            <a:r>
              <a:rPr lang="en-US" sz="2400" b="1" dirty="0" err="1"/>
              <a:t>fileStreamVariable</a:t>
            </a:r>
            <a:r>
              <a:rPr lang="en-US" sz="2400" b="1" dirty="0"/>
              <a:t> </a:t>
            </a:r>
            <a:r>
              <a:rPr lang="en-US" sz="2400" dirty="0"/>
              <a:t>is a file stream variable, and </a:t>
            </a:r>
            <a:r>
              <a:rPr lang="en-US" sz="2400" b="1" dirty="0" err="1"/>
              <a:t>sourceName</a:t>
            </a:r>
            <a:r>
              <a:rPr lang="en-US" sz="2400" b="1" dirty="0"/>
              <a:t> </a:t>
            </a:r>
            <a:r>
              <a:rPr lang="en-US" sz="2400" dirty="0"/>
              <a:t>is the name of </a:t>
            </a:r>
            <a:r>
              <a:rPr lang="en-ZA" sz="2400" dirty="0"/>
              <a:t>the I/O file.</a:t>
            </a:r>
          </a:p>
          <a:p>
            <a:pPr algn="l"/>
            <a:r>
              <a:rPr lang="en-ZA" sz="2400" b="1" dirty="0"/>
              <a:t>Example:</a:t>
            </a:r>
            <a:endParaRPr lang="en-ZA" sz="2000" b="1" dirty="0"/>
          </a:p>
          <a:p>
            <a:pPr lvl="1" algn="l"/>
            <a:r>
              <a:rPr lang="en-US" sz="2000" b="1" dirty="0" err="1">
                <a:solidFill>
                  <a:srgbClr val="00B050"/>
                </a:solidFill>
              </a:rPr>
              <a:t>inData.open</a:t>
            </a:r>
            <a:r>
              <a:rPr lang="en-US" sz="2000" b="1" dirty="0">
                <a:solidFill>
                  <a:srgbClr val="00B050"/>
                </a:solidFill>
              </a:rPr>
              <a:t>("prog.dat"); //open the input file;</a:t>
            </a:r>
          </a:p>
          <a:p>
            <a:pPr lvl="1" algn="l"/>
            <a:r>
              <a:rPr lang="en-US" sz="2000" b="1" dirty="0" err="1">
                <a:solidFill>
                  <a:srgbClr val="00B050"/>
                </a:solidFill>
              </a:rPr>
              <a:t>outData.open</a:t>
            </a:r>
            <a:r>
              <a:rPr lang="en-US" sz="2000" b="1" dirty="0">
                <a:solidFill>
                  <a:srgbClr val="00B050"/>
                </a:solidFill>
              </a:rPr>
              <a:t>("</a:t>
            </a:r>
            <a:r>
              <a:rPr lang="en-US" sz="2000" b="1" dirty="0" err="1">
                <a:solidFill>
                  <a:srgbClr val="00B050"/>
                </a:solidFill>
              </a:rPr>
              <a:t>prog.out</a:t>
            </a:r>
            <a:r>
              <a:rPr lang="en-US" sz="2000" b="1" dirty="0">
                <a:solidFill>
                  <a:srgbClr val="00B050"/>
                </a:solidFill>
              </a:rPr>
              <a:t>"); //open the output file;</a:t>
            </a:r>
            <a:endParaRPr lang="en-ZA" sz="2000" b="1" dirty="0">
              <a:solidFill>
                <a:srgbClr val="00B050"/>
              </a:solidFill>
            </a:endParaRPr>
          </a:p>
          <a:p>
            <a:pPr algn="l"/>
            <a:endParaRPr lang="en-US" sz="2400" b="1" dirty="0"/>
          </a:p>
          <a:p>
            <a:pPr algn="l"/>
            <a:r>
              <a:rPr lang="en-US" sz="2400" b="1" dirty="0"/>
              <a:t>Open the input file for reading data from it.</a:t>
            </a:r>
          </a:p>
          <a:p>
            <a:pPr algn="l"/>
            <a:r>
              <a:rPr lang="en-US" sz="2400" b="1" dirty="0"/>
              <a:t>Open the output file for writing data to it.</a:t>
            </a:r>
          </a:p>
        </p:txBody>
      </p:sp>
    </p:spTree>
    <p:extLst>
      <p:ext uri="{BB962C8B-B14F-4D97-AF65-F5344CB8AC3E}">
        <p14:creationId xmlns:p14="http://schemas.microsoft.com/office/powerpoint/2010/main" val="15551606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42106-107F-CFF5-03AD-4D0DE3BE017E}"/>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D8D91B37-C648-CE40-04B8-6854E1C8FB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410E2C6E-4005-6189-E02F-4AD9CDA276B0}"/>
              </a:ext>
            </a:extLst>
          </p:cNvPr>
          <p:cNvSpPr txBox="1"/>
          <p:nvPr/>
        </p:nvSpPr>
        <p:spPr>
          <a:xfrm>
            <a:off x="0" y="65927"/>
            <a:ext cx="6858000" cy="646331"/>
          </a:xfrm>
          <a:prstGeom prst="rect">
            <a:avLst/>
          </a:prstGeom>
          <a:noFill/>
        </p:spPr>
        <p:txBody>
          <a:bodyPr wrap="square" rtlCol="0">
            <a:spAutoFit/>
          </a:bodyPr>
          <a:lstStyle/>
          <a:p>
            <a:r>
              <a:rPr lang="en-US" sz="3600" b="1" dirty="0"/>
              <a:t>Example: </a:t>
            </a:r>
            <a:r>
              <a:rPr lang="en-ZA" sz="3600" b="1" dirty="0"/>
              <a:t>Student Grade</a:t>
            </a:r>
            <a:endParaRPr lang="en-US" sz="3600" b="1" dirty="0"/>
          </a:p>
        </p:txBody>
      </p:sp>
      <p:sp>
        <p:nvSpPr>
          <p:cNvPr id="2" name="Content Placeholder 2">
            <a:extLst>
              <a:ext uri="{FF2B5EF4-FFF2-40B4-BE49-F238E27FC236}">
                <a16:creationId xmlns:a16="http://schemas.microsoft.com/office/drawing/2014/main" id="{B01A7994-C2E8-070A-58D6-3991FE61534C}"/>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400" dirty="0"/>
              <a:t>Write a program that reads a student name followed by five test scores. The program should output the student name, the five test scores, and the average test score. Output the average test score with two decimal places.</a:t>
            </a:r>
          </a:p>
          <a:p>
            <a:pPr algn="l"/>
            <a:r>
              <a:rPr lang="en-US" sz="2400" dirty="0"/>
              <a:t>The data to be read is stored in a file called </a:t>
            </a:r>
            <a:r>
              <a:rPr lang="en-US" sz="2400" b="1" dirty="0"/>
              <a:t>test.dat</a:t>
            </a:r>
            <a:r>
              <a:rPr lang="en-US" sz="2400" dirty="0"/>
              <a:t>. The output should be stored in a file called </a:t>
            </a:r>
            <a:r>
              <a:rPr lang="en-US" sz="2400" b="1" dirty="0"/>
              <a:t>testavg.dat</a:t>
            </a:r>
            <a:r>
              <a:rPr lang="en-US" sz="2400" dirty="0"/>
              <a:t>. </a:t>
            </a:r>
          </a:p>
          <a:p>
            <a:pPr algn="l"/>
            <a:r>
              <a:rPr lang="en-US" sz="2400" b="1" dirty="0"/>
              <a:t>Input - </a:t>
            </a:r>
            <a:r>
              <a:rPr lang="en-US" sz="2400" dirty="0"/>
              <a:t>A file containing the student name and the five test scores. A sample </a:t>
            </a:r>
            <a:r>
              <a:rPr lang="en-ZA" sz="2400" dirty="0"/>
              <a:t>input is:</a:t>
            </a:r>
          </a:p>
          <a:p>
            <a:pPr lvl="1" algn="l"/>
            <a:r>
              <a:rPr lang="en-ZA" sz="2400" b="1" dirty="0"/>
              <a:t>Andrew Miller 87.50 89 65.75 37 98.50</a:t>
            </a:r>
          </a:p>
          <a:p>
            <a:pPr algn="l"/>
            <a:r>
              <a:rPr lang="en-US" sz="2400" b="1" dirty="0"/>
              <a:t>Output - </a:t>
            </a:r>
            <a:r>
              <a:rPr lang="en-US" sz="2400" dirty="0"/>
              <a:t>The student name, the five test scores, and the average of the five test scores, saved to a file.</a:t>
            </a:r>
            <a:endParaRPr lang="en-US" sz="2400" b="1" dirty="0"/>
          </a:p>
        </p:txBody>
      </p:sp>
    </p:spTree>
    <p:extLst>
      <p:ext uri="{BB962C8B-B14F-4D97-AF65-F5344CB8AC3E}">
        <p14:creationId xmlns:p14="http://schemas.microsoft.com/office/powerpoint/2010/main" val="16466591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E38FEA-10AC-D457-EE81-7DD0551A6159}"/>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70A2C039-81E8-2F06-ADC1-04D32B48D6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13E7BFDE-5EE8-4D5B-927C-7A552E6A1913}"/>
              </a:ext>
            </a:extLst>
          </p:cNvPr>
          <p:cNvSpPr txBox="1"/>
          <p:nvPr/>
        </p:nvSpPr>
        <p:spPr>
          <a:xfrm>
            <a:off x="0" y="65927"/>
            <a:ext cx="6858000" cy="1200329"/>
          </a:xfrm>
          <a:prstGeom prst="rect">
            <a:avLst/>
          </a:prstGeom>
          <a:noFill/>
        </p:spPr>
        <p:txBody>
          <a:bodyPr wrap="square" rtlCol="0">
            <a:spAutoFit/>
          </a:bodyPr>
          <a:lstStyle/>
          <a:p>
            <a:r>
              <a:rPr lang="en-US" sz="3600" b="1" dirty="0"/>
              <a:t>Example: </a:t>
            </a:r>
            <a:r>
              <a:rPr lang="en-ZA" sz="3600" b="1" dirty="0"/>
              <a:t>Student Grade: An Algorithm to solve the problem</a:t>
            </a:r>
            <a:endParaRPr lang="en-US" sz="3600" b="1" dirty="0"/>
          </a:p>
        </p:txBody>
      </p:sp>
      <p:sp>
        <p:nvSpPr>
          <p:cNvPr id="2" name="Content Placeholder 2">
            <a:extLst>
              <a:ext uri="{FF2B5EF4-FFF2-40B4-BE49-F238E27FC236}">
                <a16:creationId xmlns:a16="http://schemas.microsoft.com/office/drawing/2014/main" id="{8FF9DE77-F2CC-D240-07E6-D2DECC2C75CE}"/>
              </a:ext>
            </a:extLst>
          </p:cNvPr>
          <p:cNvSpPr txBox="1">
            <a:spLocks/>
          </p:cNvSpPr>
          <p:nvPr/>
        </p:nvSpPr>
        <p:spPr>
          <a:xfrm>
            <a:off x="471488" y="2153653"/>
            <a:ext cx="5915025" cy="6918158"/>
          </a:xfrm>
          <a:prstGeom prst="rect">
            <a:avLst/>
          </a:prstGeom>
        </p:spPr>
        <p:txBody>
          <a:bodyPr vert="horz" lIns="91440" tIns="45720" rIns="91440" bIns="45720" rtlCol="0">
            <a:no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ZA" sz="2400" dirty="0"/>
              <a:t>1. Declare the variables.</a:t>
            </a:r>
          </a:p>
          <a:p>
            <a:pPr algn="l"/>
            <a:r>
              <a:rPr lang="en-US" sz="2400" dirty="0"/>
              <a:t>2. Open the input file.</a:t>
            </a:r>
          </a:p>
          <a:p>
            <a:pPr algn="l"/>
            <a:r>
              <a:rPr lang="en-US" sz="2400" dirty="0"/>
              <a:t>3. Open the output file.</a:t>
            </a:r>
          </a:p>
          <a:p>
            <a:pPr algn="l"/>
            <a:r>
              <a:rPr lang="en-US" sz="2400" dirty="0"/>
              <a:t>4. Format the output. To output the floating-point numbers in a fixed decimal format with a decimal point and trailing zeros, set the manipulators </a:t>
            </a:r>
            <a:r>
              <a:rPr lang="en-US" sz="2400" b="1" dirty="0"/>
              <a:t>fixed </a:t>
            </a:r>
            <a:r>
              <a:rPr lang="en-US" sz="2400" dirty="0"/>
              <a:t>and </a:t>
            </a:r>
            <a:r>
              <a:rPr lang="en-US" sz="2400" b="1" dirty="0" err="1"/>
              <a:t>showpoint</a:t>
            </a:r>
            <a:r>
              <a:rPr lang="en-US" sz="2400" dirty="0"/>
              <a:t>. Also, to output the floating-point numbers with two decimal places, set the precision to two decimal places.</a:t>
            </a:r>
          </a:p>
          <a:p>
            <a:pPr algn="l"/>
            <a:r>
              <a:rPr lang="en-US" sz="2400" dirty="0"/>
              <a:t>5. Read the student name.</a:t>
            </a:r>
          </a:p>
          <a:p>
            <a:pPr algn="l"/>
            <a:r>
              <a:rPr lang="en-US" sz="2400" dirty="0"/>
              <a:t>6. Output the student name.</a:t>
            </a:r>
          </a:p>
          <a:p>
            <a:pPr algn="l"/>
            <a:r>
              <a:rPr lang="en-US" sz="2400" dirty="0"/>
              <a:t>7. Read the five test scores.</a:t>
            </a:r>
          </a:p>
          <a:p>
            <a:pPr algn="l"/>
            <a:r>
              <a:rPr lang="en-US" sz="2400" dirty="0"/>
              <a:t>8. Output the five test scores.</a:t>
            </a:r>
          </a:p>
          <a:p>
            <a:pPr algn="l"/>
            <a:r>
              <a:rPr lang="en-US" sz="2400" dirty="0"/>
              <a:t>9. Find the average test score.</a:t>
            </a:r>
          </a:p>
          <a:p>
            <a:pPr algn="l"/>
            <a:r>
              <a:rPr lang="en-US" sz="2400" dirty="0"/>
              <a:t>10. Output the average test score.</a:t>
            </a:r>
          </a:p>
          <a:p>
            <a:pPr algn="l"/>
            <a:r>
              <a:rPr lang="en-US" sz="2400" dirty="0"/>
              <a:t>11. Close the input and output files.</a:t>
            </a:r>
            <a:endParaRPr lang="en-US" sz="2400" b="1" dirty="0"/>
          </a:p>
        </p:txBody>
      </p:sp>
    </p:spTree>
    <p:extLst>
      <p:ext uri="{BB962C8B-B14F-4D97-AF65-F5344CB8AC3E}">
        <p14:creationId xmlns:p14="http://schemas.microsoft.com/office/powerpoint/2010/main" val="18269130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29A18-4D79-2AEE-84C9-C27B9BD69EC7}"/>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DFFDE9A7-1482-065B-2F2B-DEF3D8C189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0B420974-7BE3-4E40-4103-812A85D31F0C}"/>
              </a:ext>
            </a:extLst>
          </p:cNvPr>
          <p:cNvSpPr txBox="1"/>
          <p:nvPr/>
        </p:nvSpPr>
        <p:spPr>
          <a:xfrm>
            <a:off x="0" y="65927"/>
            <a:ext cx="6858000" cy="646331"/>
          </a:xfrm>
          <a:prstGeom prst="rect">
            <a:avLst/>
          </a:prstGeom>
          <a:noFill/>
        </p:spPr>
        <p:txBody>
          <a:bodyPr wrap="square" rtlCol="0">
            <a:spAutoFit/>
          </a:bodyPr>
          <a:lstStyle/>
          <a:p>
            <a:r>
              <a:rPr lang="en-US" sz="3600" b="1" dirty="0"/>
              <a:t>Example: </a:t>
            </a:r>
            <a:r>
              <a:rPr lang="en-ZA" sz="3600" b="1" dirty="0"/>
              <a:t>Student Grade: Solution</a:t>
            </a:r>
            <a:endParaRPr lang="en-US" sz="3600" b="1" dirty="0"/>
          </a:p>
        </p:txBody>
      </p:sp>
      <p:sp>
        <p:nvSpPr>
          <p:cNvPr id="2" name="Content Placeholder 2">
            <a:extLst>
              <a:ext uri="{FF2B5EF4-FFF2-40B4-BE49-F238E27FC236}">
                <a16:creationId xmlns:a16="http://schemas.microsoft.com/office/drawing/2014/main" id="{FF409B64-D099-541B-434B-88757CD422DA}"/>
              </a:ext>
            </a:extLst>
          </p:cNvPr>
          <p:cNvSpPr txBox="1">
            <a:spLocks/>
          </p:cNvSpPr>
          <p:nvPr/>
        </p:nvSpPr>
        <p:spPr>
          <a:xfrm>
            <a:off x="471488" y="2153653"/>
            <a:ext cx="5915025" cy="6918158"/>
          </a:xfrm>
          <a:prstGeom prst="rect">
            <a:avLst/>
          </a:prstGeom>
        </p:spPr>
        <p:txBody>
          <a:bodyPr vert="horz" lIns="91440" tIns="45720" rIns="91440" bIns="45720" rtlCol="0">
            <a:no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marL="457200" indent="-457200" algn="l">
              <a:buAutoNum type="arabicPeriod"/>
            </a:pPr>
            <a:r>
              <a:rPr lang="en-ZA" sz="1500" dirty="0"/>
              <a:t>#include &lt;iostream&gt;</a:t>
            </a:r>
          </a:p>
          <a:p>
            <a:pPr marL="457200" indent="-457200" algn="l">
              <a:buAutoNum type="arabicPeriod"/>
            </a:pPr>
            <a:r>
              <a:rPr lang="en-ZA" sz="1500" dirty="0"/>
              <a:t>#include &lt;</a:t>
            </a:r>
            <a:r>
              <a:rPr lang="en-ZA" sz="1500" dirty="0" err="1"/>
              <a:t>fstream</a:t>
            </a:r>
            <a:r>
              <a:rPr lang="en-ZA" sz="1500" dirty="0"/>
              <a:t>&gt;</a:t>
            </a:r>
          </a:p>
          <a:p>
            <a:pPr marL="457200" indent="-457200" algn="l">
              <a:buAutoNum type="arabicPeriod"/>
            </a:pPr>
            <a:r>
              <a:rPr lang="en-ZA" sz="1500" dirty="0"/>
              <a:t>#include &lt;</a:t>
            </a:r>
            <a:r>
              <a:rPr lang="en-ZA" sz="1500" dirty="0" err="1"/>
              <a:t>iomanip</a:t>
            </a:r>
            <a:r>
              <a:rPr lang="en-ZA" sz="1500" dirty="0"/>
              <a:t>&gt;</a:t>
            </a:r>
          </a:p>
          <a:p>
            <a:pPr marL="457200" indent="-457200" algn="l">
              <a:buAutoNum type="arabicPeriod"/>
            </a:pPr>
            <a:r>
              <a:rPr lang="en-ZA" sz="1500" dirty="0"/>
              <a:t>#include &lt;string&gt;</a:t>
            </a:r>
          </a:p>
          <a:p>
            <a:pPr marL="457200" indent="-457200" algn="l">
              <a:buAutoNum type="arabicPeriod"/>
            </a:pPr>
            <a:endParaRPr lang="en-ZA" sz="1500" dirty="0"/>
          </a:p>
          <a:p>
            <a:pPr marL="457200" indent="-457200" algn="l">
              <a:buAutoNum type="arabicPeriod"/>
            </a:pPr>
            <a:r>
              <a:rPr lang="en-ZA" sz="1500" dirty="0"/>
              <a:t>using namespace std;</a:t>
            </a:r>
          </a:p>
          <a:p>
            <a:pPr marL="457200" indent="-457200" algn="l">
              <a:buAutoNum type="arabicPeriod"/>
            </a:pPr>
            <a:r>
              <a:rPr lang="en-ZA" sz="1500" dirty="0"/>
              <a:t>int main()</a:t>
            </a:r>
          </a:p>
          <a:p>
            <a:pPr marL="457200" indent="-457200" algn="l">
              <a:buAutoNum type="arabicPeriod"/>
            </a:pPr>
            <a:r>
              <a:rPr lang="en-ZA" sz="1500" dirty="0"/>
              <a:t>{</a:t>
            </a:r>
          </a:p>
          <a:p>
            <a:pPr marL="457200" indent="-457200" algn="l">
              <a:buAutoNum type="arabicPeriod"/>
            </a:pPr>
            <a:r>
              <a:rPr lang="en-ZA" sz="1500" dirty="0"/>
              <a:t>    // Declare variables;</a:t>
            </a:r>
          </a:p>
          <a:p>
            <a:pPr marL="457200" indent="-457200" algn="l">
              <a:buAutoNum type="arabicPeriod"/>
            </a:pPr>
            <a:r>
              <a:rPr lang="en-ZA" sz="1500" dirty="0"/>
              <a:t>    </a:t>
            </a:r>
            <a:r>
              <a:rPr lang="en-ZA" sz="1500" dirty="0" err="1"/>
              <a:t>ifstream</a:t>
            </a:r>
            <a:r>
              <a:rPr lang="en-ZA" sz="1500" dirty="0"/>
              <a:t> </a:t>
            </a:r>
            <a:r>
              <a:rPr lang="en-ZA" sz="1500" dirty="0" err="1"/>
              <a:t>inFile</a:t>
            </a:r>
            <a:r>
              <a:rPr lang="en-ZA" sz="1500" dirty="0"/>
              <a:t>; // input file stream variable</a:t>
            </a:r>
          </a:p>
          <a:p>
            <a:pPr marL="457200" indent="-457200" algn="l">
              <a:buAutoNum type="arabicPeriod"/>
            </a:pPr>
            <a:r>
              <a:rPr lang="en-ZA" sz="1500" dirty="0"/>
              <a:t>    </a:t>
            </a:r>
            <a:r>
              <a:rPr lang="en-ZA" sz="1500" dirty="0" err="1"/>
              <a:t>ofstream</a:t>
            </a:r>
            <a:r>
              <a:rPr lang="en-ZA" sz="1500" dirty="0"/>
              <a:t> </a:t>
            </a:r>
            <a:r>
              <a:rPr lang="en-ZA" sz="1500" dirty="0" err="1"/>
              <a:t>outFile</a:t>
            </a:r>
            <a:r>
              <a:rPr lang="en-ZA" sz="1500" dirty="0"/>
              <a:t>; // output file stream variable</a:t>
            </a:r>
          </a:p>
          <a:p>
            <a:pPr marL="457200" indent="-457200" algn="l">
              <a:buAutoNum type="arabicPeriod"/>
            </a:pPr>
            <a:r>
              <a:rPr lang="en-ZA" sz="1500" dirty="0"/>
              <a:t>    double test1, test2, test3, test4, test5;</a:t>
            </a:r>
          </a:p>
          <a:p>
            <a:pPr marL="457200" indent="-457200" algn="l">
              <a:buAutoNum type="arabicPeriod"/>
            </a:pPr>
            <a:r>
              <a:rPr lang="en-ZA" sz="1500" dirty="0"/>
              <a:t>    double average;</a:t>
            </a:r>
          </a:p>
          <a:p>
            <a:pPr marL="457200" indent="-457200" algn="l">
              <a:buAutoNum type="arabicPeriod"/>
            </a:pPr>
            <a:r>
              <a:rPr lang="en-ZA" sz="1500" dirty="0"/>
              <a:t>    string </a:t>
            </a:r>
            <a:r>
              <a:rPr lang="en-ZA" sz="1500" dirty="0" err="1"/>
              <a:t>firstName</a:t>
            </a:r>
            <a:r>
              <a:rPr lang="en-ZA" sz="1500" dirty="0"/>
              <a:t>;</a:t>
            </a:r>
          </a:p>
          <a:p>
            <a:pPr marL="457200" indent="-457200" algn="l">
              <a:buAutoNum type="arabicPeriod"/>
            </a:pPr>
            <a:r>
              <a:rPr lang="en-ZA" sz="1500" dirty="0"/>
              <a:t>    string </a:t>
            </a:r>
            <a:r>
              <a:rPr lang="en-ZA" sz="1500" dirty="0" err="1"/>
              <a:t>lastName</a:t>
            </a:r>
            <a:r>
              <a:rPr lang="en-ZA" sz="1500" dirty="0"/>
              <a:t>;</a:t>
            </a:r>
          </a:p>
          <a:p>
            <a:pPr marL="457200" indent="-457200" algn="l">
              <a:buAutoNum type="arabicPeriod"/>
            </a:pPr>
            <a:endParaRPr lang="en-ZA" sz="1500" dirty="0"/>
          </a:p>
          <a:p>
            <a:pPr marL="457200" indent="-457200" algn="l">
              <a:buAutoNum type="arabicPeriod"/>
            </a:pPr>
            <a:r>
              <a:rPr lang="en-ZA" sz="1500" dirty="0"/>
              <a:t>    </a:t>
            </a:r>
            <a:r>
              <a:rPr lang="en-ZA" sz="1500" dirty="0" err="1"/>
              <a:t>inFile.open</a:t>
            </a:r>
            <a:r>
              <a:rPr lang="en-ZA" sz="1500" dirty="0"/>
              <a:t>("test.dat"); // open input file for reading data from it</a:t>
            </a:r>
          </a:p>
          <a:p>
            <a:pPr marL="457200" indent="-457200" algn="l">
              <a:buAutoNum type="arabicPeriod"/>
            </a:pPr>
            <a:r>
              <a:rPr lang="en-ZA" sz="1500" dirty="0"/>
              <a:t>    </a:t>
            </a:r>
            <a:r>
              <a:rPr lang="en-ZA" sz="1500" dirty="0" err="1"/>
              <a:t>outFile.open</a:t>
            </a:r>
            <a:r>
              <a:rPr lang="en-ZA" sz="1500" dirty="0"/>
              <a:t>("testavg.dat"); // open input file for writing into it</a:t>
            </a:r>
          </a:p>
          <a:p>
            <a:pPr marL="457200" indent="-457200" algn="l">
              <a:buAutoNum type="arabicPeriod"/>
            </a:pPr>
            <a:endParaRPr lang="en-ZA" sz="1500" dirty="0"/>
          </a:p>
          <a:p>
            <a:pPr marL="457200" indent="-457200" algn="l">
              <a:buAutoNum type="arabicPeriod"/>
            </a:pPr>
            <a:r>
              <a:rPr lang="en-ZA" sz="1500" dirty="0"/>
              <a:t>    // format output data</a:t>
            </a:r>
          </a:p>
          <a:p>
            <a:pPr marL="457200" indent="-457200" algn="l">
              <a:buAutoNum type="arabicPeriod"/>
            </a:pPr>
            <a:r>
              <a:rPr lang="en-ZA" sz="1500" dirty="0"/>
              <a:t>    </a:t>
            </a:r>
            <a:r>
              <a:rPr lang="en-ZA" sz="1500" dirty="0" err="1"/>
              <a:t>outFile</a:t>
            </a:r>
            <a:r>
              <a:rPr lang="en-ZA" sz="1500" dirty="0"/>
              <a:t> &lt;&lt; fixed &lt;&lt; </a:t>
            </a:r>
            <a:r>
              <a:rPr lang="en-ZA" sz="1500" dirty="0" err="1"/>
              <a:t>showpoint</a:t>
            </a:r>
            <a:r>
              <a:rPr lang="en-ZA" sz="1500" dirty="0"/>
              <a:t>;</a:t>
            </a:r>
          </a:p>
          <a:p>
            <a:pPr marL="457200" indent="-457200" algn="l">
              <a:buAutoNum type="arabicPeriod"/>
            </a:pPr>
            <a:r>
              <a:rPr lang="en-ZA" sz="1500" dirty="0"/>
              <a:t>    </a:t>
            </a:r>
            <a:r>
              <a:rPr lang="en-ZA" sz="1500" dirty="0" err="1"/>
              <a:t>outFile</a:t>
            </a:r>
            <a:r>
              <a:rPr lang="en-ZA" sz="1500" dirty="0"/>
              <a:t> &lt;&lt; </a:t>
            </a:r>
            <a:r>
              <a:rPr lang="en-ZA" sz="1500" dirty="0" err="1"/>
              <a:t>setprecision</a:t>
            </a:r>
            <a:r>
              <a:rPr lang="en-ZA" sz="1500" dirty="0"/>
              <a:t>(2);</a:t>
            </a:r>
          </a:p>
        </p:txBody>
      </p:sp>
    </p:spTree>
    <p:extLst>
      <p:ext uri="{BB962C8B-B14F-4D97-AF65-F5344CB8AC3E}">
        <p14:creationId xmlns:p14="http://schemas.microsoft.com/office/powerpoint/2010/main" val="22286222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CA631-4C66-AEE1-FE04-1F81237DC678}"/>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64C93834-03F7-1211-CC4A-4AAA7F57BB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DC72E05D-D87D-85CA-C108-449A4461468F}"/>
              </a:ext>
            </a:extLst>
          </p:cNvPr>
          <p:cNvSpPr txBox="1"/>
          <p:nvPr/>
        </p:nvSpPr>
        <p:spPr>
          <a:xfrm>
            <a:off x="0" y="65927"/>
            <a:ext cx="6858000" cy="646331"/>
          </a:xfrm>
          <a:prstGeom prst="rect">
            <a:avLst/>
          </a:prstGeom>
          <a:noFill/>
        </p:spPr>
        <p:txBody>
          <a:bodyPr wrap="square" rtlCol="0">
            <a:spAutoFit/>
          </a:bodyPr>
          <a:lstStyle/>
          <a:p>
            <a:r>
              <a:rPr lang="en-US" sz="3600" b="1" dirty="0"/>
              <a:t>Example: </a:t>
            </a:r>
            <a:r>
              <a:rPr lang="en-ZA" sz="3600" b="1" dirty="0"/>
              <a:t>Student Grade: Solution</a:t>
            </a:r>
            <a:endParaRPr lang="en-US" sz="3600" b="1" dirty="0"/>
          </a:p>
        </p:txBody>
      </p:sp>
      <p:sp>
        <p:nvSpPr>
          <p:cNvPr id="2" name="Content Placeholder 2">
            <a:extLst>
              <a:ext uri="{FF2B5EF4-FFF2-40B4-BE49-F238E27FC236}">
                <a16:creationId xmlns:a16="http://schemas.microsoft.com/office/drawing/2014/main" id="{B1A54DFB-D88A-933F-93B5-CB80E377D01B}"/>
              </a:ext>
            </a:extLst>
          </p:cNvPr>
          <p:cNvSpPr txBox="1">
            <a:spLocks/>
          </p:cNvSpPr>
          <p:nvPr/>
        </p:nvSpPr>
        <p:spPr>
          <a:xfrm>
            <a:off x="471488" y="2153653"/>
            <a:ext cx="5915025" cy="6918158"/>
          </a:xfrm>
          <a:prstGeom prst="rect">
            <a:avLst/>
          </a:prstGeom>
        </p:spPr>
        <p:txBody>
          <a:bodyPr vert="horz" lIns="91440" tIns="45720" rIns="91440" bIns="45720" rtlCol="0">
            <a:no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marL="457200" indent="-457200" algn="l">
              <a:buAutoNum type="arabicPeriod"/>
            </a:pPr>
            <a:r>
              <a:rPr lang="en-US" sz="1500" dirty="0"/>
              <a:t>// associate file input data with problem source variables</a:t>
            </a:r>
          </a:p>
          <a:p>
            <a:pPr marL="457200" indent="-457200" algn="l">
              <a:buAutoNum type="arabicPeriod"/>
            </a:pPr>
            <a:r>
              <a:rPr lang="en-US" sz="1500" dirty="0"/>
              <a:t>    </a:t>
            </a:r>
            <a:r>
              <a:rPr lang="en-US" sz="1500" dirty="0" err="1"/>
              <a:t>cout</a:t>
            </a:r>
            <a:r>
              <a:rPr lang="en-US" sz="1500" dirty="0"/>
              <a:t> &lt;&lt; "Processing data" &lt;&lt; </a:t>
            </a:r>
            <a:r>
              <a:rPr lang="en-US" sz="1500" dirty="0" err="1"/>
              <a:t>endl</a:t>
            </a:r>
            <a:r>
              <a:rPr lang="en-US" sz="1500" dirty="0"/>
              <a:t>;</a:t>
            </a:r>
          </a:p>
          <a:p>
            <a:pPr marL="457200" indent="-457200" algn="l">
              <a:buAutoNum type="arabicPeriod"/>
            </a:pPr>
            <a:r>
              <a:rPr lang="en-US" sz="1500" dirty="0"/>
              <a:t>    </a:t>
            </a:r>
            <a:r>
              <a:rPr lang="en-US" sz="1500" dirty="0" err="1"/>
              <a:t>inFile</a:t>
            </a:r>
            <a:r>
              <a:rPr lang="en-US" sz="1500" dirty="0"/>
              <a:t> &gt;&gt; </a:t>
            </a:r>
            <a:r>
              <a:rPr lang="en-US" sz="1500" dirty="0" err="1"/>
              <a:t>firstName</a:t>
            </a:r>
            <a:r>
              <a:rPr lang="en-US" sz="1500" dirty="0"/>
              <a:t> &gt;&gt; </a:t>
            </a:r>
            <a:r>
              <a:rPr lang="en-US" sz="1500" dirty="0" err="1"/>
              <a:t>lastName</a:t>
            </a:r>
            <a:r>
              <a:rPr lang="en-US" sz="1500" dirty="0"/>
              <a:t>;</a:t>
            </a:r>
          </a:p>
          <a:p>
            <a:pPr marL="457200" indent="-457200" algn="l">
              <a:buAutoNum type="arabicPeriod"/>
            </a:pPr>
            <a:r>
              <a:rPr lang="en-US" sz="1500" dirty="0"/>
              <a:t>    </a:t>
            </a:r>
            <a:r>
              <a:rPr lang="en-US" sz="1500" dirty="0" err="1"/>
              <a:t>outFile</a:t>
            </a:r>
            <a:r>
              <a:rPr lang="en-US" sz="1500" dirty="0"/>
              <a:t> &lt;&lt; "Student name: " &lt;&lt; </a:t>
            </a:r>
            <a:r>
              <a:rPr lang="en-US" sz="1500" dirty="0" err="1"/>
              <a:t>firstName</a:t>
            </a:r>
            <a:endParaRPr lang="en-US" sz="1500" dirty="0"/>
          </a:p>
          <a:p>
            <a:pPr marL="457200" indent="-457200" algn="l">
              <a:buAutoNum type="arabicPeriod"/>
            </a:pPr>
            <a:r>
              <a:rPr lang="en-US" sz="1500" dirty="0"/>
              <a:t>    &lt;&lt; " " &lt;&lt; </a:t>
            </a:r>
            <a:r>
              <a:rPr lang="en-US" sz="1500" dirty="0" err="1"/>
              <a:t>lastName</a:t>
            </a:r>
            <a:r>
              <a:rPr lang="en-US" sz="1500" dirty="0"/>
              <a:t> &lt;&lt; </a:t>
            </a:r>
            <a:r>
              <a:rPr lang="en-US" sz="1500" dirty="0" err="1"/>
              <a:t>endl</a:t>
            </a:r>
            <a:r>
              <a:rPr lang="en-US" sz="1500" dirty="0"/>
              <a:t>;</a:t>
            </a:r>
          </a:p>
          <a:p>
            <a:pPr marL="457200" indent="-457200" algn="l">
              <a:buAutoNum type="arabicPeriod"/>
            </a:pPr>
            <a:r>
              <a:rPr lang="en-US" sz="1500" dirty="0"/>
              <a:t>    </a:t>
            </a:r>
            <a:r>
              <a:rPr lang="en-US" sz="1500" dirty="0" err="1"/>
              <a:t>inFile</a:t>
            </a:r>
            <a:r>
              <a:rPr lang="en-US" sz="1500" dirty="0"/>
              <a:t> &gt;&gt; test1 &gt;&gt; test2 &gt;&gt; test3 &gt;&gt; test4 &gt;&gt; test5;</a:t>
            </a:r>
          </a:p>
          <a:p>
            <a:pPr marL="457200" indent="-457200" algn="l">
              <a:buAutoNum type="arabicPeriod"/>
            </a:pPr>
            <a:endParaRPr lang="en-US" sz="1500" dirty="0"/>
          </a:p>
          <a:p>
            <a:pPr marL="457200" indent="-457200" algn="l">
              <a:buAutoNum type="arabicPeriod"/>
            </a:pPr>
            <a:r>
              <a:rPr lang="en-US" sz="1500" dirty="0"/>
              <a:t>    // output test scores to a file</a:t>
            </a:r>
          </a:p>
          <a:p>
            <a:pPr marL="457200" indent="-457200" algn="l">
              <a:buAutoNum type="arabicPeriod"/>
            </a:pPr>
            <a:r>
              <a:rPr lang="en-US" sz="1500" dirty="0"/>
              <a:t>    // implement </a:t>
            </a:r>
            <a:r>
              <a:rPr lang="en-US" sz="1500" dirty="0" err="1"/>
              <a:t>setw</a:t>
            </a:r>
            <a:r>
              <a:rPr lang="en-US" sz="1500" dirty="0"/>
              <a:t>() function to format the output</a:t>
            </a:r>
          </a:p>
          <a:p>
            <a:pPr marL="457200" indent="-457200" algn="l">
              <a:buAutoNum type="arabicPeriod"/>
            </a:pPr>
            <a:r>
              <a:rPr lang="en-US" sz="1500" dirty="0"/>
              <a:t>    </a:t>
            </a:r>
            <a:r>
              <a:rPr lang="en-US" sz="1500" dirty="0" err="1"/>
              <a:t>outFile</a:t>
            </a:r>
            <a:r>
              <a:rPr lang="en-US" sz="1500" dirty="0"/>
              <a:t> &lt;&lt; "Test scores: " &lt;&lt; </a:t>
            </a:r>
            <a:r>
              <a:rPr lang="en-US" sz="1500" dirty="0" err="1"/>
              <a:t>setw</a:t>
            </a:r>
            <a:r>
              <a:rPr lang="en-US" sz="1500" dirty="0"/>
              <a:t>(6) &lt;&lt; test1</a:t>
            </a:r>
          </a:p>
          <a:p>
            <a:pPr marL="457200" indent="-457200" algn="l">
              <a:buAutoNum type="arabicPeriod"/>
            </a:pPr>
            <a:r>
              <a:rPr lang="en-US" sz="1500" dirty="0"/>
              <a:t>                            &lt;&lt; </a:t>
            </a:r>
            <a:r>
              <a:rPr lang="en-US" sz="1500" dirty="0" err="1"/>
              <a:t>setw</a:t>
            </a:r>
            <a:r>
              <a:rPr lang="en-US" sz="1500" dirty="0"/>
              <a:t>(6) &lt;&lt; test2 &lt;&lt; </a:t>
            </a:r>
            <a:r>
              <a:rPr lang="en-US" sz="1500" dirty="0" err="1"/>
              <a:t>setw</a:t>
            </a:r>
            <a:r>
              <a:rPr lang="en-US" sz="1500" dirty="0"/>
              <a:t>(6) &lt;&lt; test3</a:t>
            </a:r>
          </a:p>
          <a:p>
            <a:pPr marL="457200" indent="-457200" algn="l">
              <a:buAutoNum type="arabicPeriod"/>
            </a:pPr>
            <a:r>
              <a:rPr lang="en-US" sz="1500" dirty="0"/>
              <a:t>                            &lt;&lt; </a:t>
            </a:r>
            <a:r>
              <a:rPr lang="en-US" sz="1500" dirty="0" err="1"/>
              <a:t>setw</a:t>
            </a:r>
            <a:r>
              <a:rPr lang="en-US" sz="1500" dirty="0"/>
              <a:t>(6) &lt;&lt; test4 &lt;&lt; </a:t>
            </a:r>
            <a:r>
              <a:rPr lang="en-US" sz="1500" dirty="0" err="1"/>
              <a:t>setw</a:t>
            </a:r>
            <a:r>
              <a:rPr lang="en-US" sz="1500" dirty="0"/>
              <a:t>(6) &lt;&lt; test5</a:t>
            </a:r>
          </a:p>
          <a:p>
            <a:pPr marL="457200" indent="-457200" algn="l">
              <a:buAutoNum type="arabicPeriod"/>
            </a:pPr>
            <a:r>
              <a:rPr lang="en-US" sz="1500" dirty="0"/>
              <a:t>                            &lt;&lt; </a:t>
            </a:r>
            <a:r>
              <a:rPr lang="en-US" sz="1500" dirty="0" err="1"/>
              <a:t>endl</a:t>
            </a:r>
            <a:r>
              <a:rPr lang="en-US" sz="1500" dirty="0"/>
              <a:t>;</a:t>
            </a:r>
          </a:p>
          <a:p>
            <a:pPr marL="457200" indent="-457200" algn="l">
              <a:buAutoNum type="arabicPeriod"/>
            </a:pPr>
            <a:endParaRPr lang="en-US" sz="1500" dirty="0"/>
          </a:p>
          <a:p>
            <a:pPr marL="457200" indent="-457200" algn="l">
              <a:buAutoNum type="arabicPeriod"/>
            </a:pPr>
            <a:r>
              <a:rPr lang="en-US" sz="1500" dirty="0"/>
              <a:t>    // calculate the average</a:t>
            </a:r>
          </a:p>
          <a:p>
            <a:pPr marL="457200" indent="-457200" algn="l">
              <a:buAutoNum type="arabicPeriod"/>
            </a:pPr>
            <a:r>
              <a:rPr lang="en-US" sz="1500" dirty="0"/>
              <a:t>    average = (test1 + test2 + test3 + test4 + test5) / 5.0;</a:t>
            </a:r>
          </a:p>
          <a:p>
            <a:pPr marL="457200" indent="-457200" algn="l">
              <a:buAutoNum type="arabicPeriod"/>
            </a:pPr>
            <a:endParaRPr lang="en-US" sz="1500" dirty="0"/>
          </a:p>
        </p:txBody>
      </p:sp>
    </p:spTree>
    <p:extLst>
      <p:ext uri="{BB962C8B-B14F-4D97-AF65-F5344CB8AC3E}">
        <p14:creationId xmlns:p14="http://schemas.microsoft.com/office/powerpoint/2010/main" val="20769860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C3A0A-4930-7840-7195-72A67872F9F6}"/>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52395DC9-2DCB-6CCD-6730-2DA82F0F5B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52A5CC37-4018-B74B-FD88-3E65D7F5D932}"/>
              </a:ext>
            </a:extLst>
          </p:cNvPr>
          <p:cNvSpPr txBox="1"/>
          <p:nvPr/>
        </p:nvSpPr>
        <p:spPr>
          <a:xfrm>
            <a:off x="0" y="65927"/>
            <a:ext cx="6858000" cy="646331"/>
          </a:xfrm>
          <a:prstGeom prst="rect">
            <a:avLst/>
          </a:prstGeom>
          <a:noFill/>
        </p:spPr>
        <p:txBody>
          <a:bodyPr wrap="square" rtlCol="0">
            <a:spAutoFit/>
          </a:bodyPr>
          <a:lstStyle/>
          <a:p>
            <a:r>
              <a:rPr lang="en-US" sz="3600" b="1" dirty="0"/>
              <a:t>Example: </a:t>
            </a:r>
            <a:r>
              <a:rPr lang="en-ZA" sz="3600" b="1" dirty="0"/>
              <a:t>Student Grade: Solution</a:t>
            </a:r>
            <a:endParaRPr lang="en-US" sz="3600" b="1" dirty="0"/>
          </a:p>
        </p:txBody>
      </p:sp>
      <p:sp>
        <p:nvSpPr>
          <p:cNvPr id="2" name="Content Placeholder 2">
            <a:extLst>
              <a:ext uri="{FF2B5EF4-FFF2-40B4-BE49-F238E27FC236}">
                <a16:creationId xmlns:a16="http://schemas.microsoft.com/office/drawing/2014/main" id="{FC73CED9-CEF2-C671-2050-7E2922F4E29C}"/>
              </a:ext>
            </a:extLst>
          </p:cNvPr>
          <p:cNvSpPr txBox="1">
            <a:spLocks/>
          </p:cNvSpPr>
          <p:nvPr/>
        </p:nvSpPr>
        <p:spPr>
          <a:xfrm>
            <a:off x="471488" y="2153653"/>
            <a:ext cx="5915025" cy="6918158"/>
          </a:xfrm>
          <a:prstGeom prst="rect">
            <a:avLst/>
          </a:prstGeom>
        </p:spPr>
        <p:txBody>
          <a:bodyPr vert="horz" lIns="91440" tIns="45720" rIns="91440" bIns="45720" rtlCol="0">
            <a:no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marL="457200" indent="-457200" algn="l">
              <a:buAutoNum type="arabicPeriod"/>
            </a:pPr>
            <a:r>
              <a:rPr lang="en-US" sz="1500" dirty="0"/>
              <a:t>// display the average output to a file</a:t>
            </a:r>
          </a:p>
          <a:p>
            <a:pPr marL="457200" indent="-457200" algn="l">
              <a:buAutoNum type="arabicPeriod"/>
            </a:pPr>
            <a:r>
              <a:rPr lang="en-US" sz="1500" dirty="0"/>
              <a:t>    </a:t>
            </a:r>
            <a:r>
              <a:rPr lang="en-US" sz="1500" dirty="0" err="1"/>
              <a:t>outFile</a:t>
            </a:r>
            <a:r>
              <a:rPr lang="en-US" sz="1500" dirty="0"/>
              <a:t> &lt;&lt; "Average test score: " &lt;&lt; </a:t>
            </a:r>
            <a:r>
              <a:rPr lang="en-US" sz="1500" dirty="0" err="1"/>
              <a:t>setw</a:t>
            </a:r>
            <a:r>
              <a:rPr lang="en-US" sz="1500" dirty="0"/>
              <a:t>(6) &lt;&lt; average &lt;&lt; </a:t>
            </a:r>
            <a:r>
              <a:rPr lang="en-US" sz="1500" dirty="0" err="1"/>
              <a:t>endl</a:t>
            </a:r>
            <a:r>
              <a:rPr lang="en-US" sz="1500" dirty="0"/>
              <a:t>;</a:t>
            </a:r>
          </a:p>
          <a:p>
            <a:pPr marL="457200" indent="-457200" algn="l">
              <a:buAutoNum type="arabicPeriod"/>
            </a:pPr>
            <a:endParaRPr lang="en-US" sz="1500" dirty="0"/>
          </a:p>
          <a:p>
            <a:pPr marL="457200" indent="-457200" algn="l">
              <a:buAutoNum type="arabicPeriod"/>
            </a:pPr>
            <a:r>
              <a:rPr lang="en-US" sz="1500" dirty="0"/>
              <a:t>    // once finished with the files, close them</a:t>
            </a:r>
          </a:p>
          <a:p>
            <a:pPr marL="457200" indent="-457200" algn="l">
              <a:buAutoNum type="arabicPeriod"/>
            </a:pPr>
            <a:r>
              <a:rPr lang="en-US" sz="1500" dirty="0"/>
              <a:t>    </a:t>
            </a:r>
            <a:r>
              <a:rPr lang="en-US" sz="1500" dirty="0" err="1"/>
              <a:t>inFile.close</a:t>
            </a:r>
            <a:r>
              <a:rPr lang="en-US" sz="1500" dirty="0"/>
              <a:t>();</a:t>
            </a:r>
          </a:p>
          <a:p>
            <a:pPr marL="457200" indent="-457200" algn="l">
              <a:buAutoNum type="arabicPeriod"/>
            </a:pPr>
            <a:r>
              <a:rPr lang="en-US" sz="1500" dirty="0"/>
              <a:t>    </a:t>
            </a:r>
            <a:r>
              <a:rPr lang="en-US" sz="1500" dirty="0" err="1"/>
              <a:t>outFile.close</a:t>
            </a:r>
            <a:r>
              <a:rPr lang="en-US" sz="1500" dirty="0"/>
              <a:t>();</a:t>
            </a:r>
          </a:p>
          <a:p>
            <a:pPr marL="457200" indent="-457200" algn="l">
              <a:buAutoNum type="arabicPeriod"/>
            </a:pPr>
            <a:endParaRPr lang="en-US" sz="1500" dirty="0"/>
          </a:p>
          <a:p>
            <a:pPr marL="457200" indent="-457200" algn="l">
              <a:buAutoNum type="arabicPeriod"/>
            </a:pPr>
            <a:r>
              <a:rPr lang="en-US" sz="1500" dirty="0"/>
              <a:t>    return 0;</a:t>
            </a:r>
          </a:p>
          <a:p>
            <a:pPr marL="457200" indent="-457200" algn="l">
              <a:buAutoNum type="arabicPeriod"/>
            </a:pPr>
            <a:r>
              <a:rPr lang="en-US" sz="1500" dirty="0"/>
              <a:t>}</a:t>
            </a:r>
          </a:p>
        </p:txBody>
      </p:sp>
    </p:spTree>
    <p:extLst>
      <p:ext uri="{BB962C8B-B14F-4D97-AF65-F5344CB8AC3E}">
        <p14:creationId xmlns:p14="http://schemas.microsoft.com/office/powerpoint/2010/main" val="259517286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ca9a8b8c-3ea3-4799-a43e-5510398e7a3b}" enabled="0" method="" siteId="{ca9a8b8c-3ea3-4799-a43e-5510398e7a3b}" removed="1"/>
</clbl:labelList>
</file>

<file path=docProps/app.xml><?xml version="1.0" encoding="utf-8"?>
<Properties xmlns="http://schemas.openxmlformats.org/officeDocument/2006/extended-properties" xmlns:vt="http://schemas.openxmlformats.org/officeDocument/2006/docPropsVTypes">
  <Template>Office Theme</Template>
  <TotalTime>5165</TotalTime>
  <Words>1175</Words>
  <Application>Microsoft Office PowerPoint</Application>
  <PresentationFormat>A4 Paper (210x297 mm)</PresentationFormat>
  <Paragraphs>127</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Duraan, Franciska</dc:creator>
  <cp:lastModifiedBy>Sewisha Thabo Lehong</cp:lastModifiedBy>
  <cp:revision>507</cp:revision>
  <dcterms:created xsi:type="dcterms:W3CDTF">2023-03-27T09:07:22Z</dcterms:created>
  <dcterms:modified xsi:type="dcterms:W3CDTF">2026-06-04T16:56:13Z</dcterms:modified>
</cp:coreProperties>
</file>