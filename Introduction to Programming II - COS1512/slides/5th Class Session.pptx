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287" r:id="rId5"/>
    <p:sldId id="359" r:id="rId6"/>
    <p:sldId id="358" r:id="rId7"/>
    <p:sldId id="360" r:id="rId8"/>
    <p:sldId id="362" r:id="rId9"/>
    <p:sldId id="363" r:id="rId10"/>
    <p:sldId id="364" r:id="rId11"/>
    <p:sldId id="365" r:id="rId12"/>
    <p:sldId id="366" r:id="rId13"/>
    <p:sldId id="367" r:id="rId14"/>
    <p:sldId id="368" r:id="rId15"/>
    <p:sldId id="361" r:id="rId16"/>
    <p:sldId id="369" r:id="rId17"/>
    <p:sldId id="370" r:id="rId18"/>
    <p:sldId id="371" r:id="rId19"/>
    <p:sldId id="374" r:id="rId20"/>
    <p:sldId id="372" r:id="rId21"/>
    <p:sldId id="400" r:id="rId22"/>
    <p:sldId id="401" r:id="rId23"/>
    <p:sldId id="373" r:id="rId24"/>
    <p:sldId id="399" r:id="rId25"/>
    <p:sldId id="375" r:id="rId26"/>
    <p:sldId id="376" r:id="rId27"/>
    <p:sldId id="377" r:id="rId28"/>
    <p:sldId id="378" r:id="rId29"/>
    <p:sldId id="384" r:id="rId30"/>
    <p:sldId id="380" r:id="rId31"/>
    <p:sldId id="381" r:id="rId32"/>
    <p:sldId id="379" r:id="rId33"/>
    <p:sldId id="385" r:id="rId34"/>
    <p:sldId id="382" r:id="rId35"/>
    <p:sldId id="383" r:id="rId36"/>
    <p:sldId id="386" r:id="rId37"/>
    <p:sldId id="387" r:id="rId38"/>
    <p:sldId id="388" r:id="rId39"/>
    <p:sldId id="389" r:id="rId40"/>
    <p:sldId id="390" r:id="rId41"/>
    <p:sldId id="391" r:id="rId42"/>
    <p:sldId id="392" r:id="rId43"/>
    <p:sldId id="393" r:id="rId44"/>
    <p:sldId id="394" r:id="rId45"/>
    <p:sldId id="395" r:id="rId46"/>
    <p:sldId id="396" r:id="rId47"/>
    <p:sldId id="397" r:id="rId48"/>
    <p:sldId id="398" r:id="rId49"/>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3" d="100"/>
          <a:sy n="53" d="100"/>
        </p:scale>
        <p:origin x="20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2026/05/22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2026/05/22</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2026/05/22</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2026/05/22</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2026/05/22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2026/05/22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2026/05/22</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11 MAY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22 MAY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Topics</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4</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
        <p:nvSpPr>
          <p:cNvPr id="6" name="Title 1">
            <a:extLst>
              <a:ext uri="{FF2B5EF4-FFF2-40B4-BE49-F238E27FC236}">
                <a16:creationId xmlns:a16="http://schemas.microsoft.com/office/drawing/2014/main" id="{D083F84A-C93A-7FC6-3E47-AA5B244F21FC}"/>
              </a:ext>
            </a:extLst>
          </p:cNvPr>
          <p:cNvSpPr txBox="1">
            <a:spLocks/>
          </p:cNvSpPr>
          <p:nvPr/>
        </p:nvSpPr>
        <p:spPr>
          <a:xfrm>
            <a:off x="435211" y="5789289"/>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Procedural Abstraction and Functions That Return Value</a:t>
            </a:r>
            <a:endParaRPr lang="en-US" sz="4800" b="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Contents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US" sz="2800" b="1" dirty="0"/>
              <a:t>Top-Down Design</a:t>
            </a:r>
          </a:p>
          <a:p>
            <a:pPr marL="457200" indent="-457200" algn="l">
              <a:buFont typeface="+mj-lt"/>
              <a:buAutoNum type="arabicPeriod"/>
            </a:pPr>
            <a:r>
              <a:rPr lang="en-US" sz="2800" b="1" dirty="0"/>
              <a:t>Predefined Functions</a:t>
            </a:r>
          </a:p>
          <a:p>
            <a:pPr marL="457200" indent="-457200" algn="l">
              <a:buFont typeface="+mj-lt"/>
              <a:buAutoNum type="arabicPeriod"/>
            </a:pPr>
            <a:r>
              <a:rPr lang="en-US" sz="2800" b="1" dirty="0"/>
              <a:t>Programmer Defined Functions</a:t>
            </a:r>
          </a:p>
          <a:p>
            <a:pPr marL="457200" indent="-457200" algn="l">
              <a:buFont typeface="+mj-lt"/>
              <a:buAutoNum type="arabicPeriod"/>
            </a:pPr>
            <a:r>
              <a:rPr lang="en-US" sz="2800" b="1" dirty="0"/>
              <a:t>Procedural Abstraction</a:t>
            </a:r>
          </a:p>
          <a:p>
            <a:pPr marL="457200" indent="-457200" algn="l">
              <a:buFont typeface="+mj-lt"/>
              <a:buAutoNum type="arabicPeriod"/>
            </a:pPr>
            <a:r>
              <a:rPr lang="en-US" sz="2800" b="1" dirty="0"/>
              <a:t>Scope and Local Variables</a:t>
            </a:r>
          </a:p>
          <a:p>
            <a:pPr marL="457200" indent="-457200" algn="l">
              <a:buFont typeface="+mj-lt"/>
              <a:buAutoNum type="arabicPeriod"/>
            </a:pPr>
            <a:r>
              <a:rPr lang="en-US" sz="2800" b="1" dirty="0"/>
              <a:t>Overloading Function Names</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5BB3-8A95-B419-4513-6AB3F7C63FD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36B6F60-F7FC-B7D3-46D6-18C36EEA7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A861DBF-F41A-DB56-D827-0F0F733FC315}"/>
              </a:ext>
            </a:extLst>
          </p:cNvPr>
          <p:cNvSpPr txBox="1"/>
          <p:nvPr/>
        </p:nvSpPr>
        <p:spPr>
          <a:xfrm>
            <a:off x="0" y="65927"/>
            <a:ext cx="6858000" cy="646331"/>
          </a:xfrm>
          <a:prstGeom prst="rect">
            <a:avLst/>
          </a:prstGeom>
          <a:noFill/>
        </p:spPr>
        <p:txBody>
          <a:bodyPr wrap="square" rtlCol="0">
            <a:spAutoFit/>
          </a:bodyPr>
          <a:lstStyle/>
          <a:p>
            <a:r>
              <a:rPr lang="en-US" sz="3600" b="1" dirty="0"/>
              <a:t>Top-Down Design</a:t>
            </a:r>
          </a:p>
        </p:txBody>
      </p:sp>
      <p:sp>
        <p:nvSpPr>
          <p:cNvPr id="2" name="Content Placeholder 2">
            <a:extLst>
              <a:ext uri="{FF2B5EF4-FFF2-40B4-BE49-F238E27FC236}">
                <a16:creationId xmlns:a16="http://schemas.microsoft.com/office/drawing/2014/main" id="{F9C0EDF9-73E6-3C00-45D7-B7F0CFC0CF7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Algorithm</a:t>
            </a:r>
            <a:r>
              <a:rPr lang="en-ZA" sz="2400" dirty="0"/>
              <a:t> – step by step way (set of instructions) of solving the problem. </a:t>
            </a:r>
          </a:p>
          <a:p>
            <a:pPr algn="l"/>
            <a:r>
              <a:rPr lang="en-ZA" sz="2400" b="1" dirty="0"/>
              <a:t>Top-down design</a:t>
            </a:r>
            <a:r>
              <a:rPr lang="en-ZA" sz="2400" dirty="0"/>
              <a:t> – </a:t>
            </a:r>
            <a:r>
              <a:rPr lang="en-US" sz="2400" dirty="0"/>
              <a:t>design of the algorithm in a way of breaking down the task to be accomplished into a few subtasks, decompose each of these subtasks into smaller subtasks, and </a:t>
            </a:r>
            <a:r>
              <a:rPr lang="en-ZA" sz="2400" dirty="0"/>
              <a:t>so forth. This method is also called </a:t>
            </a:r>
            <a:r>
              <a:rPr lang="en-US" sz="2400" dirty="0"/>
              <a:t>called </a:t>
            </a:r>
            <a:r>
              <a:rPr lang="en-US" sz="2400" b="1" dirty="0"/>
              <a:t>stepwise refinement</a:t>
            </a:r>
            <a:r>
              <a:rPr lang="en-US" sz="2400" dirty="0"/>
              <a:t> or </a:t>
            </a:r>
            <a:r>
              <a:rPr lang="en-US" sz="2400" b="1" dirty="0"/>
              <a:t>divide and </a:t>
            </a:r>
            <a:r>
              <a:rPr lang="en-ZA" sz="2400" b="1" dirty="0"/>
              <a:t>conquer.</a:t>
            </a:r>
          </a:p>
          <a:p>
            <a:pPr algn="l"/>
            <a:endParaRPr lang="en-ZA" sz="2400" b="1" dirty="0"/>
          </a:p>
          <a:p>
            <a:pPr algn="l"/>
            <a:r>
              <a:rPr lang="en-ZA" sz="2400" b="1" dirty="0"/>
              <a:t>This design makes it:</a:t>
            </a:r>
          </a:p>
          <a:p>
            <a:pPr marL="285750" indent="-285750" algn="l">
              <a:buFont typeface="Arial" panose="020B0604020202020204" pitchFamily="34" charset="0"/>
              <a:buChar char="•"/>
            </a:pPr>
            <a:r>
              <a:rPr lang="en-US" sz="2400" dirty="0"/>
              <a:t>easier to understand the program, </a:t>
            </a:r>
          </a:p>
          <a:p>
            <a:pPr marL="285750" indent="-285750" algn="l">
              <a:buFont typeface="Arial" panose="020B0604020202020204" pitchFamily="34" charset="0"/>
              <a:buChar char="•"/>
            </a:pPr>
            <a:r>
              <a:rPr lang="en-US" sz="2400" dirty="0"/>
              <a:t>easier to change the program, if need be, and,</a:t>
            </a:r>
          </a:p>
          <a:p>
            <a:pPr marL="285750" indent="-285750" algn="l">
              <a:buFont typeface="Arial" panose="020B0604020202020204" pitchFamily="34" charset="0"/>
              <a:buChar char="•"/>
            </a:pPr>
            <a:r>
              <a:rPr lang="en-US" sz="2400" dirty="0"/>
              <a:t>easier to write, test, debug, and maintain the program.</a:t>
            </a:r>
          </a:p>
          <a:p>
            <a:pPr algn="l"/>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414096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178DD-1272-7671-EE3D-09D56D31FAB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423CBD2-7A92-8CA4-5759-8B8458644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A6B27DA-242E-8C99-8412-C66029E22D66}"/>
              </a:ext>
            </a:extLst>
          </p:cNvPr>
          <p:cNvSpPr txBox="1"/>
          <p:nvPr/>
        </p:nvSpPr>
        <p:spPr>
          <a:xfrm>
            <a:off x="0" y="65927"/>
            <a:ext cx="6858000" cy="646331"/>
          </a:xfrm>
          <a:prstGeom prst="rect">
            <a:avLst/>
          </a:prstGeom>
          <a:noFill/>
        </p:spPr>
        <p:txBody>
          <a:bodyPr wrap="square" rtlCol="0">
            <a:spAutoFit/>
          </a:bodyPr>
          <a:lstStyle/>
          <a:p>
            <a:r>
              <a:rPr lang="en-US" sz="3600" b="1" dirty="0"/>
              <a:t>Top-Down Design</a:t>
            </a:r>
          </a:p>
        </p:txBody>
      </p:sp>
      <p:sp>
        <p:nvSpPr>
          <p:cNvPr id="2" name="Content Placeholder 2">
            <a:extLst>
              <a:ext uri="{FF2B5EF4-FFF2-40B4-BE49-F238E27FC236}">
                <a16:creationId xmlns:a16="http://schemas.microsoft.com/office/drawing/2014/main" id="{53F748C3-FF91-C384-C274-19AF045B70D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00000"/>
              </a:lnSpc>
            </a:pPr>
            <a:r>
              <a:rPr lang="en-US" sz="2400" dirty="0"/>
              <a:t>C++ has facilities to include separate subparts inside of a program. These subparts are called </a:t>
            </a:r>
            <a:r>
              <a:rPr lang="en-US" sz="2400" b="1" dirty="0"/>
              <a:t>functions. Functions are also </a:t>
            </a:r>
            <a:r>
              <a:rPr lang="en-US" sz="2400" dirty="0"/>
              <a:t>called </a:t>
            </a:r>
            <a:r>
              <a:rPr lang="en-US" sz="2400" i="1" dirty="0"/>
              <a:t>subprograms, procedures</a:t>
            </a:r>
            <a:r>
              <a:rPr lang="en-US" sz="2400" dirty="0"/>
              <a:t>, or </a:t>
            </a:r>
            <a:r>
              <a:rPr lang="en-US" sz="2400" i="1" dirty="0"/>
              <a:t>methods.</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517716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2C0E1-579E-A2A4-FBB5-A0C3FA711AD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5DA5666-D207-7C2F-22D4-BEAA22301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AFFD771-0A76-E01C-C80A-F5EC52C7D3E1}"/>
              </a:ext>
            </a:extLst>
          </p:cNvPr>
          <p:cNvSpPr txBox="1"/>
          <p:nvPr/>
        </p:nvSpPr>
        <p:spPr>
          <a:xfrm>
            <a:off x="0" y="65927"/>
            <a:ext cx="6858000" cy="646331"/>
          </a:xfrm>
          <a:prstGeom prst="rect">
            <a:avLst/>
          </a:prstGeom>
          <a:noFill/>
        </p:spPr>
        <p:txBody>
          <a:bodyPr wrap="square" rtlCol="0">
            <a:spAutoFit/>
          </a:bodyPr>
          <a:lstStyle/>
          <a:p>
            <a:pPr algn="ctr"/>
            <a:r>
              <a:rPr lang="en-US" sz="3600" b="1" dirty="0"/>
              <a:t>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4B45C03-C768-9F71-79C5-E38EC9F10A9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What is a Function?</a:t>
            </a:r>
          </a:p>
          <a:p>
            <a:pPr algn="l"/>
            <a:r>
              <a:rPr lang="en-US" sz="2400" dirty="0"/>
              <a:t>A function is a reusable block of code designed to perform a specific task. Think of it as a “method" that you write once and can use whenever you need it.</a:t>
            </a:r>
            <a:endParaRPr lang="en-US" sz="2400" b="1" dirty="0"/>
          </a:p>
          <a:p>
            <a:pPr algn="l"/>
            <a:endParaRPr lang="en-US" sz="2400" b="1" dirty="0"/>
          </a:p>
          <a:p>
            <a:pPr algn="l"/>
            <a:r>
              <a:rPr lang="en-US" sz="2400" b="1" dirty="0"/>
              <a:t>We have:</a:t>
            </a:r>
          </a:p>
          <a:p>
            <a:pPr marL="342900" indent="-342900" algn="l">
              <a:buFont typeface="Arial" panose="020B0604020202020204" pitchFamily="34" charset="0"/>
              <a:buChar char="•"/>
            </a:pPr>
            <a:r>
              <a:rPr lang="en-US" sz="2400" dirty="0"/>
              <a:t>Predefined functions and,</a:t>
            </a:r>
          </a:p>
          <a:p>
            <a:pPr marL="342900" indent="-342900" algn="l">
              <a:buFont typeface="Arial" panose="020B0604020202020204" pitchFamily="34" charset="0"/>
              <a:buChar char="•"/>
            </a:pPr>
            <a:r>
              <a:rPr lang="en-US" sz="2400" dirty="0"/>
              <a:t>Programmer defined functions.</a:t>
            </a: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75977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E90B7-ACFA-5BB2-94EC-9285BCC39CE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7060D03-1F27-9F41-C75E-0114C666E8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B442EFA-47FB-AB26-AE82-652E18A985C7}"/>
              </a:ext>
            </a:extLst>
          </p:cNvPr>
          <p:cNvSpPr txBox="1"/>
          <p:nvPr/>
        </p:nvSpPr>
        <p:spPr>
          <a:xfrm>
            <a:off x="0" y="65927"/>
            <a:ext cx="6858000" cy="646331"/>
          </a:xfrm>
          <a:prstGeom prst="rect">
            <a:avLst/>
          </a:prstGeom>
          <a:noFill/>
        </p:spPr>
        <p:txBody>
          <a:bodyPr wrap="square" rtlCol="0">
            <a:spAutoFit/>
          </a:bodyPr>
          <a:lstStyle/>
          <a:p>
            <a:pPr algn="ctr"/>
            <a:r>
              <a:rPr lang="en-US" sz="3600" b="1" dirty="0"/>
              <a:t>Predefined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353AA20-AC4D-AB3C-148B-5B68F207B7C4}"/>
              </a:ext>
            </a:extLst>
          </p:cNvPr>
          <p:cNvSpPr txBox="1">
            <a:spLocks/>
          </p:cNvSpPr>
          <p:nvPr/>
        </p:nvSpPr>
        <p:spPr>
          <a:xfrm>
            <a:off x="471488" y="2941607"/>
            <a:ext cx="5915025" cy="526211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Predefined functions </a:t>
            </a:r>
            <a:r>
              <a:rPr lang="en-US" sz="2400" dirty="0"/>
              <a:t>– functions that are already defined for you to use. For example, sqrt, pow, exp, min, max, etc. C++ programmers already defined these predefined functions for us to use. They are defined inside the libraries or preprocessor directives.</a:t>
            </a:r>
          </a:p>
        </p:txBody>
      </p:sp>
    </p:spTree>
    <p:extLst>
      <p:ext uri="{BB962C8B-B14F-4D97-AF65-F5344CB8AC3E}">
        <p14:creationId xmlns:p14="http://schemas.microsoft.com/office/powerpoint/2010/main" val="2081121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6D814-4214-7998-3C05-5CE422AA71A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791DE09-C099-2B5E-0BDE-48B76365E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312F3B0-E4CD-A6F7-CB30-0E5F97FE2599}"/>
              </a:ext>
            </a:extLst>
          </p:cNvPr>
          <p:cNvSpPr txBox="1"/>
          <p:nvPr/>
        </p:nvSpPr>
        <p:spPr>
          <a:xfrm>
            <a:off x="0" y="65927"/>
            <a:ext cx="6858000" cy="646331"/>
          </a:xfrm>
          <a:prstGeom prst="rect">
            <a:avLst/>
          </a:prstGeom>
          <a:noFill/>
        </p:spPr>
        <p:txBody>
          <a:bodyPr wrap="square" rtlCol="0">
            <a:spAutoFit/>
          </a:bodyPr>
          <a:lstStyle/>
          <a:p>
            <a:pPr algn="ctr"/>
            <a:r>
              <a:rPr lang="en-US" sz="3600" b="1" dirty="0"/>
              <a:t>Predefined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8A154953-D327-7C14-48FF-BBA6F6BE6240}"/>
              </a:ext>
            </a:extLst>
          </p:cNvPr>
          <p:cNvSpPr txBox="1">
            <a:spLocks/>
          </p:cNvSpPr>
          <p:nvPr/>
        </p:nvSpPr>
        <p:spPr>
          <a:xfrm>
            <a:off x="471488" y="2087591"/>
            <a:ext cx="5915025" cy="683468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Examples of Predefined functions</a:t>
            </a: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1F671217-7FAD-7300-6F60-10C15B2FBA04}"/>
              </a:ext>
            </a:extLst>
          </p:cNvPr>
          <p:cNvPicPr>
            <a:picLocks noChangeAspect="1"/>
          </p:cNvPicPr>
          <p:nvPr/>
        </p:nvPicPr>
        <p:blipFill>
          <a:blip r:embed="rId3"/>
          <a:stretch>
            <a:fillRect/>
          </a:stretch>
        </p:blipFill>
        <p:spPr>
          <a:xfrm>
            <a:off x="0" y="2861926"/>
            <a:ext cx="6930551" cy="5816247"/>
          </a:xfrm>
          <a:prstGeom prst="rect">
            <a:avLst/>
          </a:prstGeom>
        </p:spPr>
      </p:pic>
    </p:spTree>
    <p:extLst>
      <p:ext uri="{BB962C8B-B14F-4D97-AF65-F5344CB8AC3E}">
        <p14:creationId xmlns:p14="http://schemas.microsoft.com/office/powerpoint/2010/main" val="4153957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3F49-3668-9E3F-3B58-8B3D447E631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7E20390-2552-490A-DC64-82A54DD90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3823D1A-8BA9-480A-5FC3-43C8C1B445B1}"/>
              </a:ext>
            </a:extLst>
          </p:cNvPr>
          <p:cNvSpPr txBox="1"/>
          <p:nvPr/>
        </p:nvSpPr>
        <p:spPr>
          <a:xfrm>
            <a:off x="0" y="65927"/>
            <a:ext cx="6858000" cy="646331"/>
          </a:xfrm>
          <a:prstGeom prst="rect">
            <a:avLst/>
          </a:prstGeom>
          <a:noFill/>
        </p:spPr>
        <p:txBody>
          <a:bodyPr wrap="square" rtlCol="0">
            <a:spAutoFit/>
          </a:bodyPr>
          <a:lstStyle/>
          <a:p>
            <a:pPr algn="ctr"/>
            <a:r>
              <a:rPr lang="en-US" sz="3600" b="1" dirty="0"/>
              <a:t>Using Predefined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61B5D1D-1507-00E1-EA62-814E72CA0AEF}"/>
              </a:ext>
            </a:extLst>
          </p:cNvPr>
          <p:cNvSpPr txBox="1">
            <a:spLocks/>
          </p:cNvSpPr>
          <p:nvPr/>
        </p:nvSpPr>
        <p:spPr>
          <a:xfrm>
            <a:off x="471488" y="2432649"/>
            <a:ext cx="5915025" cy="648963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 of Using Predefined functions</a:t>
            </a:r>
          </a:p>
          <a:p>
            <a:pPr marL="342900" indent="-342900" algn="l">
              <a:lnSpc>
                <a:spcPct val="100000"/>
              </a:lnSpc>
              <a:buFont typeface="Arial" panose="020B0604020202020204" pitchFamily="34" charset="0"/>
              <a:buChar char="•"/>
            </a:pPr>
            <a:r>
              <a:rPr lang="en-US" sz="2400" dirty="0"/>
              <a:t>Libraries / preprocessor directives</a:t>
            </a:r>
          </a:p>
          <a:p>
            <a:pPr marL="342900" indent="-342900" algn="l">
              <a:lnSpc>
                <a:spcPct val="100000"/>
              </a:lnSpc>
              <a:buFont typeface="Arial" panose="020B0604020202020204" pitchFamily="34" charset="0"/>
              <a:buChar char="•"/>
            </a:pPr>
            <a:r>
              <a:rPr lang="en-US" sz="2400" dirty="0"/>
              <a:t>Function call</a:t>
            </a:r>
          </a:p>
        </p:txBody>
      </p:sp>
      <p:pic>
        <p:nvPicPr>
          <p:cNvPr id="9" name="Picture 8">
            <a:extLst>
              <a:ext uri="{FF2B5EF4-FFF2-40B4-BE49-F238E27FC236}">
                <a16:creationId xmlns:a16="http://schemas.microsoft.com/office/drawing/2014/main" id="{060C5FE1-8DBF-B15D-FE64-0FF31D9FE9A7}"/>
              </a:ext>
            </a:extLst>
          </p:cNvPr>
          <p:cNvPicPr>
            <a:picLocks noChangeAspect="1"/>
          </p:cNvPicPr>
          <p:nvPr/>
        </p:nvPicPr>
        <p:blipFill>
          <a:blip r:embed="rId3"/>
          <a:stretch>
            <a:fillRect/>
          </a:stretch>
        </p:blipFill>
        <p:spPr>
          <a:xfrm>
            <a:off x="435211" y="3856008"/>
            <a:ext cx="5915025" cy="5290559"/>
          </a:xfrm>
          <a:prstGeom prst="rect">
            <a:avLst/>
          </a:prstGeom>
        </p:spPr>
      </p:pic>
    </p:spTree>
    <p:extLst>
      <p:ext uri="{BB962C8B-B14F-4D97-AF65-F5344CB8AC3E}">
        <p14:creationId xmlns:p14="http://schemas.microsoft.com/office/powerpoint/2010/main" val="971168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9BB8A-3518-8827-A190-1CF15589356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2EB0243-2518-1A07-63DC-BED7184BE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0679282-3571-D225-6ED6-1E136A2668AC}"/>
              </a:ext>
            </a:extLst>
          </p:cNvPr>
          <p:cNvSpPr txBox="1"/>
          <p:nvPr/>
        </p:nvSpPr>
        <p:spPr>
          <a:xfrm>
            <a:off x="0" y="65927"/>
            <a:ext cx="6858000" cy="646331"/>
          </a:xfrm>
          <a:prstGeom prst="rect">
            <a:avLst/>
          </a:prstGeom>
          <a:noFill/>
        </p:spPr>
        <p:txBody>
          <a:bodyPr wrap="square" rtlCol="0">
            <a:spAutoFit/>
          </a:bodyPr>
          <a:lstStyle/>
          <a:p>
            <a:pPr algn="ctr"/>
            <a:r>
              <a:rPr lang="en-US" sz="3600" b="1" dirty="0"/>
              <a:t>Using Predefined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853FEE8-D6B6-4349-6169-351C048F1524}"/>
              </a:ext>
            </a:extLst>
          </p:cNvPr>
          <p:cNvSpPr txBox="1">
            <a:spLocks/>
          </p:cNvSpPr>
          <p:nvPr/>
        </p:nvSpPr>
        <p:spPr>
          <a:xfrm>
            <a:off x="471488" y="2432649"/>
            <a:ext cx="5915025" cy="648963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Using Predefined functions</a:t>
            </a:r>
          </a:p>
          <a:p>
            <a:pPr algn="l"/>
            <a:endParaRPr lang="en-US" sz="2400" b="1" dirty="0"/>
          </a:p>
          <a:p>
            <a:pPr algn="l"/>
            <a:r>
              <a:rPr lang="en-US" sz="2400" b="1" dirty="0"/>
              <a:t>Results of the previous code:</a:t>
            </a:r>
          </a:p>
          <a:p>
            <a:pPr algn="l"/>
            <a:endParaRPr lang="en-US" sz="2400" b="1" dirty="0"/>
          </a:p>
          <a:p>
            <a:pPr algn="l"/>
            <a:endParaRPr lang="en-US" sz="2400" b="1" dirty="0"/>
          </a:p>
          <a:p>
            <a:pPr algn="l"/>
            <a:endParaRPr lang="en-US" sz="2400" b="1" dirty="0"/>
          </a:p>
          <a:p>
            <a:pPr algn="l"/>
            <a:endParaRPr lang="en-US" sz="2400" b="1" dirty="0"/>
          </a:p>
          <a:p>
            <a:pPr algn="l"/>
            <a:endParaRPr lang="en-US" sz="2400" b="1" dirty="0"/>
          </a:p>
          <a:p>
            <a:pPr algn="l"/>
            <a:r>
              <a:rPr lang="en-US" sz="2400" b="1" dirty="0"/>
              <a:t>Another example of predefined function:</a:t>
            </a:r>
          </a:p>
          <a:p>
            <a:pPr algn="l"/>
            <a:endParaRPr lang="en-US" sz="2400" b="1" dirty="0"/>
          </a:p>
          <a:p>
            <a:pPr algn="l"/>
            <a:r>
              <a:rPr lang="en-ZA" i="1" dirty="0">
                <a:solidFill>
                  <a:srgbClr val="00B0F0"/>
                </a:solidFill>
              </a:rPr>
              <a:t>double</a:t>
            </a:r>
            <a:r>
              <a:rPr lang="en-ZA" i="1" dirty="0"/>
              <a:t> </a:t>
            </a:r>
            <a:r>
              <a:rPr lang="en-ZA" dirty="0"/>
              <a:t>result, x = 3.0, y = 2.0;</a:t>
            </a:r>
          </a:p>
          <a:p>
            <a:pPr algn="l"/>
            <a:r>
              <a:rPr lang="en-ZA" dirty="0"/>
              <a:t>result = pow(x, y);</a:t>
            </a:r>
          </a:p>
          <a:p>
            <a:pPr algn="l"/>
            <a:r>
              <a:rPr lang="en-ZA" dirty="0" err="1"/>
              <a:t>cout</a:t>
            </a:r>
            <a:r>
              <a:rPr lang="en-ZA" dirty="0"/>
              <a:t> &lt;&lt; result;</a:t>
            </a:r>
            <a:endParaRPr lang="en-US" sz="2400" b="1" dirty="0"/>
          </a:p>
        </p:txBody>
      </p:sp>
      <p:pic>
        <p:nvPicPr>
          <p:cNvPr id="6" name="Picture 5">
            <a:extLst>
              <a:ext uri="{FF2B5EF4-FFF2-40B4-BE49-F238E27FC236}">
                <a16:creationId xmlns:a16="http://schemas.microsoft.com/office/drawing/2014/main" id="{06FF2BE8-A77A-08A6-57AD-6967C52E8F0C}"/>
              </a:ext>
            </a:extLst>
          </p:cNvPr>
          <p:cNvPicPr>
            <a:picLocks noChangeAspect="1"/>
          </p:cNvPicPr>
          <p:nvPr/>
        </p:nvPicPr>
        <p:blipFill>
          <a:blip r:embed="rId3"/>
          <a:stretch>
            <a:fillRect/>
          </a:stretch>
        </p:blipFill>
        <p:spPr>
          <a:xfrm>
            <a:off x="436483" y="4226943"/>
            <a:ext cx="5627888" cy="1406106"/>
          </a:xfrm>
          <a:prstGeom prst="rect">
            <a:avLst/>
          </a:prstGeom>
        </p:spPr>
      </p:pic>
    </p:spTree>
    <p:extLst>
      <p:ext uri="{BB962C8B-B14F-4D97-AF65-F5344CB8AC3E}">
        <p14:creationId xmlns:p14="http://schemas.microsoft.com/office/powerpoint/2010/main" val="378406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98D1C-761C-89B7-D0CF-088559FBF04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5D262A6-AEBD-28C1-55D0-35A6CA9E50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7A2A47A-E41C-1AA5-4634-0DD007FFBF50}"/>
              </a:ext>
            </a:extLst>
          </p:cNvPr>
          <p:cNvSpPr txBox="1"/>
          <p:nvPr/>
        </p:nvSpPr>
        <p:spPr>
          <a:xfrm>
            <a:off x="0" y="65927"/>
            <a:ext cx="6858000" cy="646331"/>
          </a:xfrm>
          <a:prstGeom prst="rect">
            <a:avLst/>
          </a:prstGeom>
          <a:noFill/>
        </p:spPr>
        <p:txBody>
          <a:bodyPr wrap="square" rtlCol="0">
            <a:spAutoFit/>
          </a:bodyPr>
          <a:lstStyle/>
          <a:p>
            <a:pPr algn="ctr"/>
            <a:r>
              <a:rPr lang="en-US" sz="3600" b="1" dirty="0"/>
              <a:t>Using Predefined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937A1DA-C718-7347-FF66-C1471E633F15}"/>
              </a:ext>
            </a:extLst>
          </p:cNvPr>
          <p:cNvSpPr txBox="1">
            <a:spLocks/>
          </p:cNvSpPr>
          <p:nvPr/>
        </p:nvSpPr>
        <p:spPr>
          <a:xfrm>
            <a:off x="471488" y="2432649"/>
            <a:ext cx="5915025" cy="6489631"/>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Using Predefined functions</a:t>
            </a:r>
          </a:p>
          <a:p>
            <a:pPr algn="l"/>
            <a:endParaRPr lang="en-US" sz="2400" b="1" dirty="0"/>
          </a:p>
          <a:p>
            <a:pPr algn="l"/>
            <a:r>
              <a:rPr lang="en-ZA" sz="2400" b="1" dirty="0"/>
              <a:t>Random Number Generation</a:t>
            </a:r>
            <a:r>
              <a:rPr lang="en-US" sz="2400" b="1" dirty="0"/>
              <a:t>:</a:t>
            </a:r>
          </a:p>
          <a:p>
            <a:pPr algn="l"/>
            <a:endParaRPr lang="en-US" sz="2400" b="1" dirty="0"/>
          </a:p>
          <a:p>
            <a:pPr algn="l"/>
            <a:r>
              <a:rPr lang="en-US" sz="2400" dirty="0"/>
              <a:t>C++ has a predefined function to generate </a:t>
            </a:r>
            <a:r>
              <a:rPr lang="en-US" sz="2400" i="1" dirty="0"/>
              <a:t>pseudorandom numbers</a:t>
            </a:r>
            <a:r>
              <a:rPr lang="en-US" sz="2400" dirty="0"/>
              <a:t>.</a:t>
            </a:r>
            <a:endParaRPr lang="en-US" sz="2400" b="1" dirty="0"/>
          </a:p>
          <a:p>
            <a:pPr algn="l"/>
            <a:r>
              <a:rPr lang="en-US" sz="2400" dirty="0"/>
              <a:t>pseudorandom number is one that appears to be random but is really determined </a:t>
            </a:r>
            <a:r>
              <a:rPr lang="en-ZA" sz="2400" dirty="0"/>
              <a:t>by a predictable formula.</a:t>
            </a:r>
          </a:p>
          <a:p>
            <a:endParaRPr lang="en-ZA" sz="2400" b="1" dirty="0"/>
          </a:p>
          <a:p>
            <a:pPr algn="l"/>
            <a:r>
              <a:rPr lang="en-US" sz="2400" dirty="0"/>
              <a:t>To seed C++’s random number generator use the predefined method </a:t>
            </a:r>
            <a:r>
              <a:rPr lang="en-US" sz="2400" b="1" dirty="0" err="1"/>
              <a:t>srand</a:t>
            </a:r>
            <a:r>
              <a:rPr lang="en-US" sz="2400" dirty="0"/>
              <a:t>. It returns no value and takes as input an unsigned integer that is the initial seed value. To always seed the random number generator with the value 35, we would use:</a:t>
            </a:r>
          </a:p>
          <a:p>
            <a:pPr algn="l"/>
            <a:endParaRPr lang="en-US" sz="2400" dirty="0"/>
          </a:p>
          <a:p>
            <a:pPr algn="l"/>
            <a:r>
              <a:rPr lang="en-ZA" sz="2400" dirty="0" err="1"/>
              <a:t>srand</a:t>
            </a:r>
            <a:r>
              <a:rPr lang="en-ZA" sz="2400" dirty="0"/>
              <a:t>(35);</a:t>
            </a:r>
            <a:endParaRPr lang="en-US" sz="2400" b="1" dirty="0"/>
          </a:p>
        </p:txBody>
      </p:sp>
    </p:spTree>
    <p:extLst>
      <p:ext uri="{BB962C8B-B14F-4D97-AF65-F5344CB8AC3E}">
        <p14:creationId xmlns:p14="http://schemas.microsoft.com/office/powerpoint/2010/main" val="3916866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A464D-A687-506E-878D-F3812CD5707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E7A33D7-1222-EA40-B892-F5C5E98F4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DA36A36-AF93-7DC3-E6A2-277320948A0D}"/>
              </a:ext>
            </a:extLst>
          </p:cNvPr>
          <p:cNvSpPr txBox="1"/>
          <p:nvPr/>
        </p:nvSpPr>
        <p:spPr>
          <a:xfrm>
            <a:off x="0" y="65927"/>
            <a:ext cx="6858000" cy="646331"/>
          </a:xfrm>
          <a:prstGeom prst="rect">
            <a:avLst/>
          </a:prstGeom>
          <a:noFill/>
        </p:spPr>
        <p:txBody>
          <a:bodyPr wrap="square" rtlCol="0">
            <a:spAutoFit/>
          </a:bodyPr>
          <a:lstStyle/>
          <a:p>
            <a:pPr algn="ctr"/>
            <a:r>
              <a:rPr lang="en-US" sz="3600" b="1" dirty="0"/>
              <a:t>Using Predefined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559853D3-5EFC-729A-4349-387409871BE2}"/>
              </a:ext>
            </a:extLst>
          </p:cNvPr>
          <p:cNvSpPr txBox="1">
            <a:spLocks/>
          </p:cNvSpPr>
          <p:nvPr/>
        </p:nvSpPr>
        <p:spPr>
          <a:xfrm>
            <a:off x="471488" y="2432649"/>
            <a:ext cx="5915025" cy="648963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Using Predefined functions</a:t>
            </a:r>
          </a:p>
          <a:p>
            <a:pPr algn="l"/>
            <a:endParaRPr lang="en-US" sz="2400" b="1" dirty="0"/>
          </a:p>
          <a:p>
            <a:pPr algn="l"/>
            <a:r>
              <a:rPr lang="en-ZA" sz="2400" b="1" dirty="0"/>
              <a:t>Random Number Generation</a:t>
            </a:r>
            <a:r>
              <a:rPr lang="en-US" sz="2400" b="1" dirty="0"/>
              <a:t>:</a:t>
            </a:r>
          </a:p>
          <a:p>
            <a:pPr algn="l"/>
            <a:r>
              <a:rPr lang="en-US" dirty="0"/>
              <a:t>To vary the random number sequence every time the program is executed, we can seed the random number generator with the time of day. Invoking the predefined function time(0) returns the number of seconds that have elapsed since January 1, 1970 on most systems. The time function requires you to </a:t>
            </a:r>
            <a:r>
              <a:rPr lang="en-ZA" dirty="0"/>
              <a:t>include the </a:t>
            </a:r>
            <a:r>
              <a:rPr lang="en-ZA" b="1" dirty="0" err="1"/>
              <a:t>ctime</a:t>
            </a:r>
            <a:r>
              <a:rPr lang="en-ZA" dirty="0"/>
              <a:t> library.</a:t>
            </a:r>
            <a:endParaRPr lang="en-ZA" sz="2400" b="1" dirty="0"/>
          </a:p>
          <a:p>
            <a:pPr algn="l"/>
            <a:r>
              <a:rPr lang="en-ZA" dirty="0"/>
              <a:t>#include &lt;</a:t>
            </a:r>
            <a:r>
              <a:rPr lang="en-ZA" dirty="0" err="1"/>
              <a:t>cstdlib</a:t>
            </a:r>
            <a:r>
              <a:rPr lang="en-ZA" dirty="0"/>
              <a:t>&gt;</a:t>
            </a:r>
          </a:p>
          <a:p>
            <a:pPr algn="l"/>
            <a:r>
              <a:rPr lang="en-ZA" dirty="0"/>
              <a:t>#include &lt;</a:t>
            </a:r>
            <a:r>
              <a:rPr lang="en-ZA" dirty="0" err="1"/>
              <a:t>ctime</a:t>
            </a:r>
            <a:r>
              <a:rPr lang="en-ZA" dirty="0"/>
              <a:t>&gt;</a:t>
            </a:r>
          </a:p>
          <a:p>
            <a:pPr algn="l"/>
            <a:r>
              <a:rPr lang="en-ZA" dirty="0"/>
              <a:t>...</a:t>
            </a:r>
          </a:p>
          <a:p>
            <a:pPr algn="l"/>
            <a:r>
              <a:rPr lang="en-ZA" dirty="0" err="1"/>
              <a:t>srand</a:t>
            </a:r>
            <a:r>
              <a:rPr lang="en-ZA" dirty="0"/>
              <a:t>(time(0));</a:t>
            </a:r>
          </a:p>
          <a:p>
            <a:pPr algn="l"/>
            <a:endParaRPr lang="en-ZA" sz="2400" dirty="0"/>
          </a:p>
          <a:p>
            <a:pPr algn="l"/>
            <a:r>
              <a:rPr lang="en-US" dirty="0"/>
              <a:t>For example, to simulate rolling a six sided die we could use the following:</a:t>
            </a:r>
          </a:p>
          <a:p>
            <a:pPr algn="l"/>
            <a:r>
              <a:rPr lang="de-DE" i="1" dirty="0">
                <a:solidFill>
                  <a:srgbClr val="00B0F0"/>
                </a:solidFill>
              </a:rPr>
              <a:t>int</a:t>
            </a:r>
            <a:r>
              <a:rPr lang="de-DE" i="1" dirty="0"/>
              <a:t> </a:t>
            </a:r>
            <a:r>
              <a:rPr lang="de-DE" dirty="0"/>
              <a:t>die = (rand() % 6) + 1;</a:t>
            </a:r>
            <a:endParaRPr lang="en-ZA" sz="2400" dirty="0"/>
          </a:p>
        </p:txBody>
      </p:sp>
    </p:spTree>
    <p:extLst>
      <p:ext uri="{BB962C8B-B14F-4D97-AF65-F5344CB8AC3E}">
        <p14:creationId xmlns:p14="http://schemas.microsoft.com/office/powerpoint/2010/main" val="3488375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007FC-A535-BCC2-3BAB-8221DBB7F29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F0923A-A6F0-7C4B-24A4-0E4A98B73D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7D3A569-4AA9-67E3-CA5E-08BDC418C1AE}"/>
              </a:ext>
            </a:extLst>
          </p:cNvPr>
          <p:cNvSpPr txBox="1"/>
          <p:nvPr/>
        </p:nvSpPr>
        <p:spPr>
          <a:xfrm>
            <a:off x="0" y="65927"/>
            <a:ext cx="6858000" cy="646331"/>
          </a:xfrm>
          <a:prstGeom prst="rect">
            <a:avLst/>
          </a:prstGeom>
          <a:noFill/>
        </p:spPr>
        <p:txBody>
          <a:bodyPr wrap="square" rtlCol="0">
            <a:spAutoFit/>
          </a:bodyPr>
          <a:lstStyle/>
          <a:p>
            <a:r>
              <a:rPr lang="en-ZA" sz="3600" b="1" dirty="0"/>
              <a:t>Type Casting</a:t>
            </a:r>
          </a:p>
        </p:txBody>
      </p:sp>
      <p:sp>
        <p:nvSpPr>
          <p:cNvPr id="2" name="Content Placeholder 2">
            <a:extLst>
              <a:ext uri="{FF2B5EF4-FFF2-40B4-BE49-F238E27FC236}">
                <a16:creationId xmlns:a16="http://schemas.microsoft.com/office/drawing/2014/main" id="{1DAA91C3-E905-8C8E-0791-FD4DCEE78163}"/>
              </a:ext>
            </a:extLst>
          </p:cNvPr>
          <p:cNvSpPr txBox="1">
            <a:spLocks/>
          </p:cNvSpPr>
          <p:nvPr/>
        </p:nvSpPr>
        <p:spPr>
          <a:xfrm>
            <a:off x="471488" y="2432649"/>
            <a:ext cx="5915025" cy="648963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Type Casting</a:t>
            </a:r>
          </a:p>
          <a:p>
            <a:pPr algn="l"/>
            <a:r>
              <a:rPr lang="en-ZA" sz="2400" dirty="0"/>
              <a:t>A way of changing from one data type value to another or a different data type.</a:t>
            </a:r>
          </a:p>
          <a:p>
            <a:pPr algn="l"/>
            <a:endParaRPr lang="en-ZA" sz="2400" dirty="0"/>
          </a:p>
          <a:p>
            <a:pPr algn="l"/>
            <a:r>
              <a:rPr lang="en-ZA" sz="2400" dirty="0"/>
              <a:t>For example, changing from an int value to double value.</a:t>
            </a:r>
          </a:p>
          <a:p>
            <a:pPr algn="l"/>
            <a:r>
              <a:rPr lang="en-ZA" i="1" dirty="0" err="1">
                <a:solidFill>
                  <a:srgbClr val="00B0F0"/>
                </a:solidFill>
              </a:rPr>
              <a:t>static_cast</a:t>
            </a:r>
            <a:r>
              <a:rPr lang="en-ZA" dirty="0">
                <a:solidFill>
                  <a:srgbClr val="00B0F0"/>
                </a:solidFill>
              </a:rPr>
              <a:t>&lt;</a:t>
            </a:r>
            <a:r>
              <a:rPr lang="en-ZA" i="1" dirty="0">
                <a:solidFill>
                  <a:srgbClr val="00B0F0"/>
                </a:solidFill>
              </a:rPr>
              <a:t>double</a:t>
            </a:r>
            <a:r>
              <a:rPr lang="en-ZA" dirty="0">
                <a:solidFill>
                  <a:srgbClr val="00B0F0"/>
                </a:solidFill>
              </a:rPr>
              <a:t>&gt;(9)</a:t>
            </a:r>
            <a:endParaRPr lang="en-ZA" sz="2400" dirty="0">
              <a:solidFill>
                <a:srgbClr val="00B0F0"/>
              </a:solidFill>
            </a:endParaRPr>
          </a:p>
          <a:p>
            <a:pPr algn="l"/>
            <a:endParaRPr lang="en-ZA" sz="2400" b="1" dirty="0"/>
          </a:p>
        </p:txBody>
      </p:sp>
    </p:spTree>
    <p:extLst>
      <p:ext uri="{BB962C8B-B14F-4D97-AF65-F5344CB8AC3E}">
        <p14:creationId xmlns:p14="http://schemas.microsoft.com/office/powerpoint/2010/main" val="375916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15642-4276-79BB-9BE0-B0E771B7D8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CA6D7C-5367-22C9-581B-738663EABB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89CFCD2-6ABC-DA4A-7171-4D26B9C16D93}"/>
              </a:ext>
            </a:extLst>
          </p:cNvPr>
          <p:cNvSpPr txBox="1"/>
          <p:nvPr/>
        </p:nvSpPr>
        <p:spPr>
          <a:xfrm>
            <a:off x="0" y="65927"/>
            <a:ext cx="6858000" cy="646331"/>
          </a:xfrm>
          <a:prstGeom prst="rect">
            <a:avLst/>
          </a:prstGeom>
          <a:noFill/>
        </p:spPr>
        <p:txBody>
          <a:bodyPr wrap="square" rtlCol="0">
            <a:spAutoFit/>
          </a:bodyPr>
          <a:lstStyle/>
          <a:p>
            <a:r>
              <a:rPr lang="en-ZA" sz="3600" b="1" dirty="0"/>
              <a:t>Exercises</a:t>
            </a:r>
          </a:p>
        </p:txBody>
      </p:sp>
      <p:sp>
        <p:nvSpPr>
          <p:cNvPr id="2" name="Content Placeholder 2">
            <a:extLst>
              <a:ext uri="{FF2B5EF4-FFF2-40B4-BE49-F238E27FC236}">
                <a16:creationId xmlns:a16="http://schemas.microsoft.com/office/drawing/2014/main" id="{1CDEC96E-D7F5-E9C6-7CC1-4E2E00A1F700}"/>
              </a:ext>
            </a:extLst>
          </p:cNvPr>
          <p:cNvSpPr txBox="1">
            <a:spLocks/>
          </p:cNvSpPr>
          <p:nvPr/>
        </p:nvSpPr>
        <p:spPr>
          <a:xfrm>
            <a:off x="471488" y="2432649"/>
            <a:ext cx="5915025" cy="648963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ZA" sz="2400" b="1" dirty="0"/>
          </a:p>
        </p:txBody>
      </p:sp>
      <p:pic>
        <p:nvPicPr>
          <p:cNvPr id="6" name="Picture 5">
            <a:extLst>
              <a:ext uri="{FF2B5EF4-FFF2-40B4-BE49-F238E27FC236}">
                <a16:creationId xmlns:a16="http://schemas.microsoft.com/office/drawing/2014/main" id="{99809F34-E960-05B7-2159-D8CED237E349}"/>
              </a:ext>
            </a:extLst>
          </p:cNvPr>
          <p:cNvPicPr>
            <a:picLocks noChangeAspect="1"/>
          </p:cNvPicPr>
          <p:nvPr/>
        </p:nvPicPr>
        <p:blipFill>
          <a:blip r:embed="rId3"/>
          <a:stretch>
            <a:fillRect/>
          </a:stretch>
        </p:blipFill>
        <p:spPr>
          <a:xfrm>
            <a:off x="471487" y="2536166"/>
            <a:ext cx="5915025" cy="4037162"/>
          </a:xfrm>
          <a:prstGeom prst="rect">
            <a:avLst/>
          </a:prstGeom>
        </p:spPr>
      </p:pic>
    </p:spTree>
    <p:extLst>
      <p:ext uri="{BB962C8B-B14F-4D97-AF65-F5344CB8AC3E}">
        <p14:creationId xmlns:p14="http://schemas.microsoft.com/office/powerpoint/2010/main" val="3396245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210C7-7B5B-C7FB-EEDA-5B9ED8A18A8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CD863C6-C797-0F55-732A-A35A0F4B9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491D760-346B-79F3-DA0F-72334603F6FB}"/>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23611B89-8FE8-F25E-E547-17142C27317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Programmer defined functions </a:t>
            </a:r>
            <a:r>
              <a:rPr lang="en-US" sz="2400" dirty="0"/>
              <a:t>- functions that were written by somebody else. For example, </a:t>
            </a:r>
            <a:r>
              <a:rPr lang="en-US" sz="2400" dirty="0" err="1"/>
              <a:t>CalcAverage</a:t>
            </a:r>
            <a:r>
              <a:rPr lang="en-US" sz="2400" dirty="0"/>
              <a:t>(), Addition(), Subtraction(), </a:t>
            </a:r>
            <a:r>
              <a:rPr lang="en-US" sz="2400" dirty="0" err="1"/>
              <a:t>DaysOfMonth</a:t>
            </a:r>
            <a:r>
              <a:rPr lang="en-US" sz="2400" dirty="0"/>
              <a:t>(), etc. The programmer should define these functions. They are also referred to as user defined functions.</a:t>
            </a:r>
          </a:p>
          <a:p>
            <a:pPr algn="l"/>
            <a:endParaRPr lang="en-US" sz="2400" dirty="0"/>
          </a:p>
          <a:p>
            <a:pPr algn="l"/>
            <a:r>
              <a:rPr lang="en-US" sz="2400" dirty="0"/>
              <a:t>You can define your own functions, either in the same file as the main part of your program or in a separate file so that the functions can be used by several </a:t>
            </a:r>
            <a:r>
              <a:rPr lang="en-ZA" sz="2400" dirty="0"/>
              <a:t>different programs.</a:t>
            </a:r>
            <a:endParaRPr lang="en-US" sz="2400"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272583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AEB20-BA22-F78E-22ED-3257A4EFA35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79A5D6E-A93B-1BCE-386B-CA732F5F1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3E60DF2-1EE0-0326-7CE4-4C05C2055A38}"/>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0A8EAEB-73E2-58B2-C68C-B170C972DAC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 of Programmer defined functions</a:t>
            </a: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DA38204A-171A-80DD-66A0-5EAEA1F12564}"/>
              </a:ext>
            </a:extLst>
          </p:cNvPr>
          <p:cNvPicPr>
            <a:picLocks noChangeAspect="1"/>
          </p:cNvPicPr>
          <p:nvPr/>
        </p:nvPicPr>
        <p:blipFill>
          <a:blip r:embed="rId3"/>
          <a:stretch>
            <a:fillRect/>
          </a:stretch>
        </p:blipFill>
        <p:spPr>
          <a:xfrm>
            <a:off x="471487" y="3720261"/>
            <a:ext cx="6045511" cy="4673840"/>
          </a:xfrm>
          <a:prstGeom prst="rect">
            <a:avLst/>
          </a:prstGeom>
        </p:spPr>
      </p:pic>
    </p:spTree>
    <p:extLst>
      <p:ext uri="{BB962C8B-B14F-4D97-AF65-F5344CB8AC3E}">
        <p14:creationId xmlns:p14="http://schemas.microsoft.com/office/powerpoint/2010/main" val="780832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164FE-0ECF-14A9-5D22-3ED5E0AFC51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A238AE2-0E96-FBAA-988B-8CCD35BCD8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517AC03-AF8B-0B82-A82F-4149B39F235C}"/>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F19AEA1-3E4B-E544-C630-AB889010A435}"/>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 of Programmer defined functions</a:t>
            </a: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7" name="Picture 6">
            <a:extLst>
              <a:ext uri="{FF2B5EF4-FFF2-40B4-BE49-F238E27FC236}">
                <a16:creationId xmlns:a16="http://schemas.microsoft.com/office/drawing/2014/main" id="{C58997D9-B4FD-84D2-CFA6-B55F756E804A}"/>
              </a:ext>
            </a:extLst>
          </p:cNvPr>
          <p:cNvPicPr>
            <a:picLocks noChangeAspect="1"/>
          </p:cNvPicPr>
          <p:nvPr/>
        </p:nvPicPr>
        <p:blipFill>
          <a:blip r:embed="rId3"/>
          <a:stretch>
            <a:fillRect/>
          </a:stretch>
        </p:blipFill>
        <p:spPr>
          <a:xfrm>
            <a:off x="323690" y="3359067"/>
            <a:ext cx="6210619" cy="4775641"/>
          </a:xfrm>
          <a:prstGeom prst="rect">
            <a:avLst/>
          </a:prstGeom>
        </p:spPr>
      </p:pic>
    </p:spTree>
    <p:extLst>
      <p:ext uri="{BB962C8B-B14F-4D97-AF65-F5344CB8AC3E}">
        <p14:creationId xmlns:p14="http://schemas.microsoft.com/office/powerpoint/2010/main" val="1569832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CA3B5-07E4-9836-0713-F4D1B932CBB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2DA2AD0-9AD2-8353-6F61-4238AD740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2E2ABD2-CE14-50D4-BC28-52E0FCB732DF}"/>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5F16D3C-542B-1F27-DC55-6742117E309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Programmer defined functions – Function Declaration</a:t>
            </a: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1BFB9B9D-E2F5-0674-1D53-C2D182340ABD}"/>
              </a:ext>
            </a:extLst>
          </p:cNvPr>
          <p:cNvPicPr>
            <a:picLocks noChangeAspect="1"/>
          </p:cNvPicPr>
          <p:nvPr/>
        </p:nvPicPr>
        <p:blipFill>
          <a:blip r:embed="rId3"/>
          <a:stretch>
            <a:fillRect/>
          </a:stretch>
        </p:blipFill>
        <p:spPr>
          <a:xfrm>
            <a:off x="534838" y="5829164"/>
            <a:ext cx="5779697" cy="3036143"/>
          </a:xfrm>
          <a:prstGeom prst="rect">
            <a:avLst/>
          </a:prstGeom>
        </p:spPr>
      </p:pic>
      <p:pic>
        <p:nvPicPr>
          <p:cNvPr id="9" name="Picture 8">
            <a:extLst>
              <a:ext uri="{FF2B5EF4-FFF2-40B4-BE49-F238E27FC236}">
                <a16:creationId xmlns:a16="http://schemas.microsoft.com/office/drawing/2014/main" id="{914599B2-F761-48BD-A83E-C6476FD3F830}"/>
              </a:ext>
            </a:extLst>
          </p:cNvPr>
          <p:cNvPicPr>
            <a:picLocks noChangeAspect="1"/>
          </p:cNvPicPr>
          <p:nvPr/>
        </p:nvPicPr>
        <p:blipFill>
          <a:blip r:embed="rId4"/>
          <a:stretch>
            <a:fillRect/>
          </a:stretch>
        </p:blipFill>
        <p:spPr>
          <a:xfrm>
            <a:off x="534838" y="3459192"/>
            <a:ext cx="5710687" cy="2313000"/>
          </a:xfrm>
          <a:prstGeom prst="rect">
            <a:avLst/>
          </a:prstGeom>
        </p:spPr>
      </p:pic>
    </p:spTree>
    <p:extLst>
      <p:ext uri="{BB962C8B-B14F-4D97-AF65-F5344CB8AC3E}">
        <p14:creationId xmlns:p14="http://schemas.microsoft.com/office/powerpoint/2010/main" val="1797690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AA056-BD8C-C827-DB50-1B9F7AE506B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1F63C1D-7F4C-611C-A3D8-FE9E5265E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337844D-8F52-F9E0-0EFB-F406E2379935}"/>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79BE651-44FE-1AC5-E2F7-7A69A4ACADF5}"/>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Programmer defined functions  – Function Declaration and Definition</a:t>
            </a:r>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7" name="Picture 6">
            <a:extLst>
              <a:ext uri="{FF2B5EF4-FFF2-40B4-BE49-F238E27FC236}">
                <a16:creationId xmlns:a16="http://schemas.microsoft.com/office/drawing/2014/main" id="{A8AD9E70-CE4F-E4B4-02F8-9C86B9368943}"/>
              </a:ext>
            </a:extLst>
          </p:cNvPr>
          <p:cNvPicPr>
            <a:picLocks noChangeAspect="1"/>
          </p:cNvPicPr>
          <p:nvPr/>
        </p:nvPicPr>
        <p:blipFill>
          <a:blip r:embed="rId3"/>
          <a:stretch>
            <a:fillRect/>
          </a:stretch>
        </p:blipFill>
        <p:spPr>
          <a:xfrm>
            <a:off x="0" y="4050484"/>
            <a:ext cx="6858000" cy="4596063"/>
          </a:xfrm>
          <a:prstGeom prst="rect">
            <a:avLst/>
          </a:prstGeom>
        </p:spPr>
      </p:pic>
    </p:spTree>
    <p:extLst>
      <p:ext uri="{BB962C8B-B14F-4D97-AF65-F5344CB8AC3E}">
        <p14:creationId xmlns:p14="http://schemas.microsoft.com/office/powerpoint/2010/main" val="2650736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D4CBE-02B3-4F6C-631E-8F9AAD325FA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2502784-A386-7124-60A4-CC4E7E85B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C95747E-8C30-8D2D-1374-C46F1CF72C81}"/>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D1CA45D-E13C-216E-3BCA-6FAB8998F02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Understanding Programmer defined functions</a:t>
            </a:r>
          </a:p>
          <a:p>
            <a:pPr algn="l"/>
            <a:endParaRPr lang="en-US" sz="2400" b="1" dirty="0"/>
          </a:p>
          <a:p>
            <a:pPr algn="l"/>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7" name="Picture 6">
            <a:extLst>
              <a:ext uri="{FF2B5EF4-FFF2-40B4-BE49-F238E27FC236}">
                <a16:creationId xmlns:a16="http://schemas.microsoft.com/office/drawing/2014/main" id="{13819AB8-5D7C-E8DB-9139-7BE66306F815}"/>
              </a:ext>
            </a:extLst>
          </p:cNvPr>
          <p:cNvPicPr>
            <a:picLocks noChangeAspect="1"/>
          </p:cNvPicPr>
          <p:nvPr/>
        </p:nvPicPr>
        <p:blipFill>
          <a:blip r:embed="rId3"/>
          <a:stretch>
            <a:fillRect/>
          </a:stretch>
        </p:blipFill>
        <p:spPr>
          <a:xfrm>
            <a:off x="0" y="3514650"/>
            <a:ext cx="6858000" cy="5407630"/>
          </a:xfrm>
          <a:prstGeom prst="rect">
            <a:avLst/>
          </a:prstGeom>
        </p:spPr>
      </p:pic>
    </p:spTree>
    <p:extLst>
      <p:ext uri="{BB962C8B-B14F-4D97-AF65-F5344CB8AC3E}">
        <p14:creationId xmlns:p14="http://schemas.microsoft.com/office/powerpoint/2010/main" val="3755619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C2E76-0882-16DD-B420-B45BBCFB3B5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2A954F7-4F3C-4348-A302-1D92D4D75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85B8710-C635-9F40-0F79-D0D1F37D0A60}"/>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BA5E703-F118-87C2-8C92-F32F05733DC3}"/>
              </a:ext>
            </a:extLst>
          </p:cNvPr>
          <p:cNvSpPr txBox="1">
            <a:spLocks/>
          </p:cNvSpPr>
          <p:nvPr/>
        </p:nvSpPr>
        <p:spPr>
          <a:xfrm>
            <a:off x="471488" y="1672389"/>
            <a:ext cx="5915025" cy="7543800"/>
          </a:xfrm>
          <a:prstGeom prst="rect">
            <a:avLst/>
          </a:prstGeom>
        </p:spPr>
        <p:txBody>
          <a:bodyPr vert="horz" lIns="91440" tIns="45720" rIns="91440" bIns="45720" rtlCol="0">
            <a:normAutofit fontScale="4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5100" b="1" dirty="0"/>
              <a:t>Programmer defined functions – Example:</a:t>
            </a:r>
          </a:p>
          <a:p>
            <a:pPr algn="l"/>
            <a:endParaRPr lang="en-US" sz="5100" b="1" dirty="0"/>
          </a:p>
          <a:p>
            <a:pPr algn="l"/>
            <a:r>
              <a:rPr lang="en-ZA" sz="3300" b="1" dirty="0">
                <a:solidFill>
                  <a:srgbClr val="0DD767"/>
                </a:solidFill>
                <a:latin typeface="CourierStd-Bold"/>
              </a:rPr>
              <a:t>// determine the largest </a:t>
            </a:r>
            <a:r>
              <a:rPr lang="en-US" sz="3300" b="1" dirty="0">
                <a:solidFill>
                  <a:srgbClr val="0DD767"/>
                </a:solidFill>
                <a:latin typeface="CourierStd-Bold"/>
              </a:rPr>
              <a:t>number from a</a:t>
            </a:r>
          </a:p>
          <a:p>
            <a:pPr algn="l"/>
            <a:r>
              <a:rPr lang="en-US" sz="3300" b="1" dirty="0">
                <a:solidFill>
                  <a:srgbClr val="0DD767"/>
                </a:solidFill>
                <a:latin typeface="CourierStd-Bold"/>
              </a:rPr>
              <a:t>// between two numbers</a:t>
            </a:r>
          </a:p>
          <a:p>
            <a:pPr algn="l"/>
            <a:r>
              <a:rPr lang="en-ZA" sz="3300" b="1" i="0" u="none" strike="noStrike" baseline="0" dirty="0">
                <a:solidFill>
                  <a:srgbClr val="0DD767"/>
                </a:solidFill>
                <a:latin typeface="CourierStd-Bold"/>
              </a:rPr>
              <a:t>// Function prototype</a:t>
            </a:r>
          </a:p>
          <a:p>
            <a:pPr algn="l"/>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larger(</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a:t>
            </a:r>
          </a:p>
          <a:p>
            <a:pPr algn="l"/>
            <a:endParaRPr lang="en-ZA" sz="3300" b="1" dirty="0">
              <a:solidFill>
                <a:srgbClr val="0DD767"/>
              </a:solidFill>
              <a:latin typeface="CourierStd-Bold"/>
            </a:endParaRPr>
          </a:p>
          <a:p>
            <a:pPr algn="l"/>
            <a:r>
              <a:rPr lang="en-ZA" sz="3300" b="1" dirty="0">
                <a:solidFill>
                  <a:srgbClr val="0DD767"/>
                </a:solidFill>
                <a:latin typeface="CourierStd-Bold"/>
              </a:rPr>
              <a:t>// determine the largest </a:t>
            </a:r>
            <a:r>
              <a:rPr lang="en-US" sz="3300" b="1" dirty="0">
                <a:solidFill>
                  <a:srgbClr val="0DD767"/>
                </a:solidFill>
                <a:latin typeface="CourierStd-Bold"/>
              </a:rPr>
              <a:t>number from a</a:t>
            </a:r>
          </a:p>
          <a:p>
            <a:pPr algn="l"/>
            <a:r>
              <a:rPr lang="en-US" sz="3300" b="1" dirty="0">
                <a:solidFill>
                  <a:srgbClr val="0DD767"/>
                </a:solidFill>
                <a:latin typeface="CourierStd-Bold"/>
              </a:rPr>
              <a:t>// between two numbers</a:t>
            </a:r>
          </a:p>
          <a:p>
            <a:pPr algn="l"/>
            <a:r>
              <a:rPr lang="en-ZA" sz="3300" b="1" dirty="0">
                <a:solidFill>
                  <a:srgbClr val="0DD767"/>
                </a:solidFill>
                <a:latin typeface="CourierStd-Bold"/>
              </a:rPr>
              <a:t>// Function prototype</a:t>
            </a:r>
            <a:endParaRPr lang="en-ZA" sz="3300" b="1" i="0" u="none" strike="noStrike" baseline="0" dirty="0">
              <a:solidFill>
                <a:srgbClr val="0DD767"/>
              </a:solidFill>
              <a:latin typeface="CourierStd-Bold"/>
            </a:endParaRPr>
          </a:p>
          <a:p>
            <a:pPr algn="l"/>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err="1">
                <a:solidFill>
                  <a:srgbClr val="211808"/>
                </a:solidFill>
                <a:latin typeface="CourierStd-Bold"/>
              </a:rPr>
              <a:t>compareThree</a:t>
            </a:r>
            <a:r>
              <a:rPr lang="en-ZA" sz="3300" b="1" i="0" u="none" strike="noStrike" baseline="0" dirty="0">
                <a:solidFill>
                  <a:srgbClr val="211808"/>
                </a:solidFill>
                <a:latin typeface="CourierStd-Bold"/>
              </a:rPr>
              <a:t>(</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z);</a:t>
            </a:r>
          </a:p>
          <a:p>
            <a:pPr algn="l"/>
            <a:endParaRPr lang="en-ZA" sz="3300" b="1" dirty="0">
              <a:solidFill>
                <a:srgbClr val="211808"/>
              </a:solidFill>
              <a:latin typeface="CourierStd-Bold"/>
            </a:endParaRPr>
          </a:p>
          <a:p>
            <a:pPr algn="l"/>
            <a:r>
              <a:rPr lang="en-ZA" sz="3300" b="1" dirty="0">
                <a:solidFill>
                  <a:srgbClr val="0DD767"/>
                </a:solidFill>
                <a:latin typeface="CourierStd-Bold"/>
              </a:rPr>
              <a:t>// Function implementation</a:t>
            </a:r>
            <a:endParaRPr lang="en-ZA" sz="3300" b="1" dirty="0">
              <a:solidFill>
                <a:srgbClr val="211808"/>
              </a:solidFill>
              <a:latin typeface="CourierStd-Bold"/>
            </a:endParaRPr>
          </a:p>
          <a:p>
            <a:pPr algn="l"/>
            <a:r>
              <a:rPr lang="fr-FR" sz="3300" b="1" i="0" u="none" strike="noStrike" baseline="0" dirty="0">
                <a:solidFill>
                  <a:srgbClr val="0070C0"/>
                </a:solidFill>
                <a:latin typeface="CourierStd-Bold"/>
              </a:rPr>
              <a:t>double</a:t>
            </a:r>
            <a:r>
              <a:rPr lang="fr-FR" sz="3300" b="1" i="0" u="none" strike="noStrike" baseline="0" dirty="0">
                <a:solidFill>
                  <a:srgbClr val="6A8899"/>
                </a:solidFill>
                <a:latin typeface="CourierStd-Bold"/>
              </a:rPr>
              <a:t> </a:t>
            </a:r>
            <a:r>
              <a:rPr lang="fr-FR" sz="3300" b="1" i="0" u="none" strike="noStrike" baseline="0" dirty="0" err="1">
                <a:solidFill>
                  <a:srgbClr val="211808"/>
                </a:solidFill>
                <a:latin typeface="CourierStd-Bold"/>
              </a:rPr>
              <a:t>larger</a:t>
            </a:r>
            <a:r>
              <a:rPr lang="fr-FR" sz="3300" b="1" i="0" u="none" strike="noStrike" baseline="0" dirty="0">
                <a:solidFill>
                  <a:srgbClr val="211808"/>
                </a:solidFill>
                <a:latin typeface="CourierStd-Bold"/>
              </a:rPr>
              <a:t>(</a:t>
            </a:r>
            <a:r>
              <a:rPr lang="fr-FR" sz="3300" b="1" i="0" u="none" strike="noStrike" baseline="0" dirty="0">
                <a:solidFill>
                  <a:srgbClr val="0070C0"/>
                </a:solidFill>
                <a:latin typeface="CourierStd-Bold"/>
              </a:rPr>
              <a:t>double</a:t>
            </a:r>
            <a:r>
              <a:rPr lang="fr-FR" sz="3300" b="1" i="0" u="none" strike="noStrike" baseline="0" dirty="0">
                <a:solidFill>
                  <a:srgbClr val="6A8899"/>
                </a:solidFill>
                <a:latin typeface="CourierStd-Bold"/>
              </a:rPr>
              <a:t> </a:t>
            </a:r>
            <a:r>
              <a:rPr lang="fr-FR" sz="3300" b="1" i="0" u="none" strike="noStrike" baseline="0" dirty="0">
                <a:solidFill>
                  <a:srgbClr val="211808"/>
                </a:solidFill>
                <a:latin typeface="CourierStd-Bold"/>
              </a:rPr>
              <a:t>x, </a:t>
            </a:r>
            <a:r>
              <a:rPr lang="fr-FR" sz="3300" b="1" i="0" u="none" strike="noStrike" baseline="0" dirty="0">
                <a:solidFill>
                  <a:srgbClr val="0070C0"/>
                </a:solidFill>
                <a:latin typeface="CourierStd-Bold"/>
              </a:rPr>
              <a:t>double</a:t>
            </a:r>
            <a:r>
              <a:rPr lang="fr-FR" sz="3300" b="1" i="0" u="none" strike="noStrike" baseline="0" dirty="0">
                <a:solidFill>
                  <a:srgbClr val="6A8899"/>
                </a:solidFill>
                <a:latin typeface="CourierStd-Bold"/>
              </a:rPr>
              <a:t> </a:t>
            </a:r>
            <a:r>
              <a:rPr lang="fr-FR" sz="3300" b="1" i="0" u="none" strike="noStrike" baseline="0" dirty="0">
                <a:solidFill>
                  <a:srgbClr val="211808"/>
                </a:solidFill>
                <a:latin typeface="CourierStd-Bold"/>
              </a:rPr>
              <a:t>y)</a:t>
            </a:r>
          </a:p>
          <a:p>
            <a:pPr algn="l"/>
            <a:r>
              <a:rPr lang="en-ZA" sz="3300" b="1" i="0" u="none" strike="noStrike" baseline="0" dirty="0">
                <a:solidFill>
                  <a:srgbClr val="211808"/>
                </a:solidFill>
                <a:latin typeface="CourierStd-Bold"/>
              </a:rPr>
              <a:t>{</a:t>
            </a:r>
          </a:p>
          <a:p>
            <a:pPr lvl="1" algn="l"/>
            <a:r>
              <a:rPr lang="en-ZA" sz="3300" b="1" i="0" u="none" strike="noStrike" baseline="0" dirty="0">
                <a:solidFill>
                  <a:srgbClr val="0070C0"/>
                </a:solidFill>
                <a:latin typeface="CourierStd-Bold"/>
              </a:rPr>
              <a:t>if</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&gt;= y)</a:t>
            </a:r>
          </a:p>
          <a:p>
            <a:pPr lvl="1" algn="l"/>
            <a:r>
              <a:rPr lang="en-ZA" sz="3300" b="1" i="0" u="none" strike="noStrike" baseline="0" dirty="0">
                <a:solidFill>
                  <a:srgbClr val="0070C0"/>
                </a:solidFill>
                <a:latin typeface="CourierStd-Bold"/>
              </a:rPr>
              <a:t>	return</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a:t>
            </a:r>
          </a:p>
          <a:p>
            <a:pPr lvl="1" algn="l"/>
            <a:r>
              <a:rPr lang="en-ZA" sz="3300" b="1" i="0" u="none" strike="noStrike" baseline="0" dirty="0">
                <a:solidFill>
                  <a:srgbClr val="0070C0"/>
                </a:solidFill>
                <a:latin typeface="CourierStd-Bold"/>
              </a:rPr>
              <a:t>else</a:t>
            </a:r>
          </a:p>
          <a:p>
            <a:pPr lvl="1" algn="l"/>
            <a:r>
              <a:rPr lang="en-ZA" sz="3300" b="1" i="0" u="none" strike="noStrike" baseline="0" dirty="0">
                <a:solidFill>
                  <a:srgbClr val="0070C0"/>
                </a:solidFill>
                <a:latin typeface="CourierStd-Bold"/>
              </a:rPr>
              <a:t>	return</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a:t>
            </a:r>
          </a:p>
          <a:p>
            <a:pPr algn="l"/>
            <a:r>
              <a:rPr lang="en-ZA" sz="3300" b="1" i="0" u="none" strike="noStrike" baseline="0" dirty="0">
                <a:solidFill>
                  <a:srgbClr val="211808"/>
                </a:solidFill>
                <a:latin typeface="CourierStd-Bold"/>
              </a:rPr>
              <a:t>}</a:t>
            </a:r>
            <a:endParaRPr lang="en-US" sz="3300" b="1" dirty="0"/>
          </a:p>
          <a:p>
            <a:pPr algn="l"/>
            <a:endParaRPr lang="en-US" sz="3300" b="1" dirty="0"/>
          </a:p>
          <a:p>
            <a:pPr algn="l"/>
            <a:r>
              <a:rPr lang="en-ZA" sz="3300" b="1" dirty="0">
                <a:solidFill>
                  <a:srgbClr val="0DD767"/>
                </a:solidFill>
                <a:latin typeface="CourierStd-Bold"/>
              </a:rPr>
              <a:t>// Function implementation</a:t>
            </a:r>
          </a:p>
          <a:p>
            <a:pPr algn="l"/>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err="1">
                <a:solidFill>
                  <a:srgbClr val="211808"/>
                </a:solidFill>
                <a:latin typeface="CourierStd-Bold"/>
              </a:rPr>
              <a:t>compareThree</a:t>
            </a:r>
            <a:r>
              <a:rPr lang="en-ZA" sz="3300" b="1" i="0" u="none" strike="noStrike" baseline="0" dirty="0">
                <a:solidFill>
                  <a:srgbClr val="211808"/>
                </a:solidFill>
                <a:latin typeface="CourierStd-Bold"/>
              </a:rPr>
              <a:t>(</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z)</a:t>
            </a:r>
          </a:p>
          <a:p>
            <a:pPr algn="l"/>
            <a:r>
              <a:rPr lang="en-ZA" sz="3300" b="1" i="0" u="none" strike="noStrike" baseline="0" dirty="0">
                <a:solidFill>
                  <a:srgbClr val="211808"/>
                </a:solidFill>
                <a:latin typeface="CourierStd-Bold"/>
              </a:rPr>
              <a:t>{</a:t>
            </a:r>
          </a:p>
          <a:p>
            <a:pPr algn="l"/>
            <a:r>
              <a:rPr lang="en-ZA" sz="3300" b="1" dirty="0">
                <a:solidFill>
                  <a:srgbClr val="0DD767"/>
                </a:solidFill>
                <a:latin typeface="CourierStd-Bold"/>
              </a:rPr>
              <a:t>// Call function larger inside 	</a:t>
            </a:r>
          </a:p>
          <a:p>
            <a:pPr algn="l"/>
            <a:r>
              <a:rPr lang="en-ZA" sz="3300" b="1" dirty="0">
                <a:solidFill>
                  <a:srgbClr val="0DD767"/>
                </a:solidFill>
                <a:latin typeface="CourierStd-Bold"/>
              </a:rPr>
              <a:t>// function </a:t>
            </a:r>
            <a:r>
              <a:rPr lang="en-ZA" sz="3300" b="1" dirty="0" err="1">
                <a:solidFill>
                  <a:srgbClr val="0DD767"/>
                </a:solidFill>
                <a:latin typeface="CourierStd-Bold"/>
              </a:rPr>
              <a:t>compareThree</a:t>
            </a:r>
            <a:r>
              <a:rPr lang="en-ZA" sz="3300" b="1" dirty="0">
                <a:solidFill>
                  <a:srgbClr val="0DD767"/>
                </a:solidFill>
                <a:latin typeface="CourierStd-Bold"/>
              </a:rPr>
              <a:t> to perform		</a:t>
            </a:r>
          </a:p>
          <a:p>
            <a:pPr algn="l"/>
            <a:r>
              <a:rPr lang="en-ZA" sz="3300" b="1" dirty="0">
                <a:solidFill>
                  <a:srgbClr val="0DD767"/>
                </a:solidFill>
                <a:latin typeface="CourierStd-Bold"/>
              </a:rPr>
              <a:t>// the comparison between y and z</a:t>
            </a:r>
            <a:endParaRPr lang="en-ZA" sz="3300" b="1" i="0" u="none" strike="noStrike" baseline="0" dirty="0">
              <a:solidFill>
                <a:srgbClr val="211808"/>
              </a:solidFill>
              <a:latin typeface="CourierStd-Bold"/>
            </a:endParaRPr>
          </a:p>
          <a:p>
            <a:pPr algn="l"/>
            <a:r>
              <a:rPr lang="en-ZA" sz="3300" b="1" i="0" u="none" strike="noStrike" baseline="0" dirty="0">
                <a:solidFill>
                  <a:srgbClr val="0070C0"/>
                </a:solidFill>
                <a:latin typeface="CourierStd-Bold"/>
              </a:rPr>
              <a:t>	return</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larger(x, larger(y, z));</a:t>
            </a:r>
          </a:p>
          <a:p>
            <a:pPr algn="l"/>
            <a:r>
              <a:rPr lang="en-ZA" sz="3300" b="1" i="0" u="none" strike="noStrike" baseline="0" dirty="0">
                <a:solidFill>
                  <a:srgbClr val="211808"/>
                </a:solidFill>
                <a:latin typeface="CourierStd-Bold"/>
              </a:rPr>
              <a:t>}</a:t>
            </a:r>
            <a:endParaRPr lang="en-US" sz="3300" b="1" dirty="0"/>
          </a:p>
        </p:txBody>
      </p:sp>
    </p:spTree>
    <p:extLst>
      <p:ext uri="{BB962C8B-B14F-4D97-AF65-F5344CB8AC3E}">
        <p14:creationId xmlns:p14="http://schemas.microsoft.com/office/powerpoint/2010/main" val="2708529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010EB-0769-738D-F51D-9FB17A349E4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CAB7B80-599C-2A81-BB07-05DB36FF2E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0949F2A-7F40-BDB7-98DA-E811B1ADFC40}"/>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EF9B4BD-ED4B-0082-DBBF-654BD9C7C0A1}"/>
              </a:ext>
            </a:extLst>
          </p:cNvPr>
          <p:cNvSpPr txBox="1">
            <a:spLocks/>
          </p:cNvSpPr>
          <p:nvPr/>
        </p:nvSpPr>
        <p:spPr>
          <a:xfrm>
            <a:off x="471488" y="1672389"/>
            <a:ext cx="5915025" cy="724989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Programmer defined functions  –</a:t>
            </a:r>
            <a:r>
              <a:rPr lang="en-US" sz="2800" dirty="0"/>
              <a:t>Various parts of the function </a:t>
            </a:r>
            <a:r>
              <a:rPr lang="en-US" sz="2800" b="1" dirty="0"/>
              <a:t>abs</a:t>
            </a:r>
          </a:p>
          <a:p>
            <a:pPr algn="l"/>
            <a:endParaRPr lang="en-US" sz="2800" b="1" dirty="0"/>
          </a:p>
          <a:p>
            <a:pPr algn="l"/>
            <a:endParaRPr lang="en-US" sz="2800" b="1" dirty="0"/>
          </a:p>
          <a:p>
            <a:pPr algn="l"/>
            <a:endParaRPr lang="en-US" sz="2800" b="1" dirty="0"/>
          </a:p>
          <a:p>
            <a:pPr algn="l"/>
            <a:endParaRPr lang="en-US" sz="2800" b="1" dirty="0"/>
          </a:p>
          <a:p>
            <a:pPr algn="l"/>
            <a:endParaRPr lang="en-US" sz="2800" b="1" dirty="0"/>
          </a:p>
          <a:p>
            <a:pPr algn="l"/>
            <a:endParaRPr lang="en-US" sz="2800" b="1" dirty="0"/>
          </a:p>
          <a:p>
            <a:pPr algn="l"/>
            <a:endParaRPr lang="en-US" sz="2800" b="1" dirty="0"/>
          </a:p>
          <a:p>
            <a:pPr algn="l"/>
            <a:r>
              <a:rPr lang="en-US" sz="2800" dirty="0"/>
              <a:t>Various parts of the function </a:t>
            </a:r>
            <a:r>
              <a:rPr lang="en-US" sz="2800" b="1" dirty="0"/>
              <a:t>larger</a:t>
            </a:r>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F1F27DF4-5887-5D99-5A62-46D9704195D9}"/>
              </a:ext>
            </a:extLst>
          </p:cNvPr>
          <p:cNvPicPr>
            <a:picLocks noChangeAspect="1"/>
          </p:cNvPicPr>
          <p:nvPr/>
        </p:nvPicPr>
        <p:blipFill>
          <a:blip r:embed="rId3"/>
          <a:stretch>
            <a:fillRect/>
          </a:stretch>
        </p:blipFill>
        <p:spPr>
          <a:xfrm>
            <a:off x="197785" y="2630905"/>
            <a:ext cx="6267669" cy="2935705"/>
          </a:xfrm>
          <a:prstGeom prst="rect">
            <a:avLst/>
          </a:prstGeom>
        </p:spPr>
      </p:pic>
      <p:pic>
        <p:nvPicPr>
          <p:cNvPr id="9" name="Picture 8">
            <a:extLst>
              <a:ext uri="{FF2B5EF4-FFF2-40B4-BE49-F238E27FC236}">
                <a16:creationId xmlns:a16="http://schemas.microsoft.com/office/drawing/2014/main" id="{EF05A24D-015F-2427-A5FF-54D5723E4686}"/>
              </a:ext>
            </a:extLst>
          </p:cNvPr>
          <p:cNvPicPr>
            <a:picLocks noChangeAspect="1"/>
          </p:cNvPicPr>
          <p:nvPr/>
        </p:nvPicPr>
        <p:blipFill>
          <a:blip r:embed="rId4"/>
          <a:stretch>
            <a:fillRect/>
          </a:stretch>
        </p:blipFill>
        <p:spPr>
          <a:xfrm>
            <a:off x="197785" y="6525126"/>
            <a:ext cx="6188727" cy="2739190"/>
          </a:xfrm>
          <a:prstGeom prst="rect">
            <a:avLst/>
          </a:prstGeom>
        </p:spPr>
      </p:pic>
    </p:spTree>
    <p:extLst>
      <p:ext uri="{BB962C8B-B14F-4D97-AF65-F5344CB8AC3E}">
        <p14:creationId xmlns:p14="http://schemas.microsoft.com/office/powerpoint/2010/main" val="2795200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05EB1-85C3-A9AD-2322-D97D0EC0155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4F79C1B-77CF-98C0-B5EB-36336123C2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E3F5AF9-5EDF-DC55-B799-AD477AC5AB23}"/>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0DB1BE13-2CB4-085D-FFCF-CBB117F575B2}"/>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 of Programmer defined functions</a:t>
            </a:r>
          </a:p>
          <a:p>
            <a:pPr algn="l"/>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7" name="Picture 6">
            <a:extLst>
              <a:ext uri="{FF2B5EF4-FFF2-40B4-BE49-F238E27FC236}">
                <a16:creationId xmlns:a16="http://schemas.microsoft.com/office/drawing/2014/main" id="{627DB06E-A67F-B068-A6F5-2D6D61E34CA0}"/>
              </a:ext>
            </a:extLst>
          </p:cNvPr>
          <p:cNvPicPr>
            <a:picLocks noChangeAspect="1"/>
          </p:cNvPicPr>
          <p:nvPr/>
        </p:nvPicPr>
        <p:blipFill>
          <a:blip r:embed="rId3"/>
          <a:stretch>
            <a:fillRect/>
          </a:stretch>
        </p:blipFill>
        <p:spPr>
          <a:xfrm>
            <a:off x="-72551" y="2319182"/>
            <a:ext cx="6930551" cy="5699988"/>
          </a:xfrm>
          <a:prstGeom prst="rect">
            <a:avLst/>
          </a:prstGeom>
        </p:spPr>
      </p:pic>
      <p:pic>
        <p:nvPicPr>
          <p:cNvPr id="10" name="Picture 9">
            <a:extLst>
              <a:ext uri="{FF2B5EF4-FFF2-40B4-BE49-F238E27FC236}">
                <a16:creationId xmlns:a16="http://schemas.microsoft.com/office/drawing/2014/main" id="{C2454001-FBD6-688A-90AB-E4C63D0BADB6}"/>
              </a:ext>
            </a:extLst>
          </p:cNvPr>
          <p:cNvPicPr>
            <a:picLocks noChangeAspect="1"/>
          </p:cNvPicPr>
          <p:nvPr/>
        </p:nvPicPr>
        <p:blipFill>
          <a:blip r:embed="rId4"/>
          <a:stretch>
            <a:fillRect/>
          </a:stretch>
        </p:blipFill>
        <p:spPr>
          <a:xfrm>
            <a:off x="-72554" y="8019170"/>
            <a:ext cx="6930554" cy="1600672"/>
          </a:xfrm>
          <a:prstGeom prst="rect">
            <a:avLst/>
          </a:prstGeom>
        </p:spPr>
      </p:pic>
    </p:spTree>
    <p:extLst>
      <p:ext uri="{BB962C8B-B14F-4D97-AF65-F5344CB8AC3E}">
        <p14:creationId xmlns:p14="http://schemas.microsoft.com/office/powerpoint/2010/main" val="2132366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E4453-FAEA-F922-C278-D86160C12BA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8B19F9A-D998-9161-599C-D70BDAC2D4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1F43035-FE5C-E915-FEA0-C0BB5F6F2BFF}"/>
              </a:ext>
            </a:extLst>
          </p:cNvPr>
          <p:cNvSpPr txBox="1"/>
          <p:nvPr/>
        </p:nvSpPr>
        <p:spPr>
          <a:xfrm>
            <a:off x="0" y="65927"/>
            <a:ext cx="6858000" cy="646331"/>
          </a:xfrm>
          <a:prstGeom prst="rect">
            <a:avLst/>
          </a:prstGeom>
          <a:noFill/>
        </p:spPr>
        <p:txBody>
          <a:bodyPr wrap="square" rtlCol="0">
            <a:spAutoFit/>
          </a:bodyPr>
          <a:lstStyle/>
          <a:p>
            <a:pPr algn="ctr"/>
            <a:r>
              <a:rPr lang="en-US" sz="3600" b="1" dirty="0"/>
              <a:t>Exercises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1822C52F-314B-8551-615A-2ECA3ED095C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000" b="1" dirty="0"/>
              <a:t>1. </a:t>
            </a:r>
            <a:r>
              <a:rPr lang="en-US" sz="2000" dirty="0"/>
              <a:t>Write a function declaration and a function definition for a function that takes three arguments, all of type </a:t>
            </a:r>
            <a:r>
              <a:rPr lang="en-US" sz="2000" i="1" dirty="0"/>
              <a:t>int</a:t>
            </a:r>
            <a:r>
              <a:rPr lang="en-US" sz="2000" dirty="0"/>
              <a:t>, and that returns the sum of its three </a:t>
            </a:r>
            <a:r>
              <a:rPr lang="en-ZA" sz="2000" dirty="0"/>
              <a:t>arguments.</a:t>
            </a:r>
            <a:endParaRPr lang="en-ZA" sz="2000" b="1" dirty="0"/>
          </a:p>
          <a:p>
            <a:pPr algn="l"/>
            <a:r>
              <a:rPr lang="en-US" sz="2000" b="1" dirty="0"/>
              <a:t>2. </a:t>
            </a:r>
            <a:r>
              <a:rPr lang="en-US" sz="2000" dirty="0"/>
              <a:t>Write a function definition for a function called even that takes one argument of type </a:t>
            </a:r>
            <a:r>
              <a:rPr lang="en-US" sz="2000" i="1" dirty="0"/>
              <a:t>int </a:t>
            </a:r>
            <a:r>
              <a:rPr lang="en-US" sz="2000" dirty="0"/>
              <a:t>and returns a </a:t>
            </a:r>
            <a:r>
              <a:rPr lang="en-US" sz="2000" i="1" dirty="0"/>
              <a:t>bool </a:t>
            </a:r>
            <a:r>
              <a:rPr lang="en-US" sz="2000" dirty="0"/>
              <a:t>value. The function returns </a:t>
            </a:r>
            <a:r>
              <a:rPr lang="en-US" sz="2000" i="1" dirty="0"/>
              <a:t>true </a:t>
            </a:r>
            <a:r>
              <a:rPr lang="en-US" sz="2000" dirty="0"/>
              <a:t>if its one argument is an even number; otherwise, it returns </a:t>
            </a:r>
            <a:r>
              <a:rPr lang="en-US" sz="2000" i="1" dirty="0"/>
              <a:t>false</a:t>
            </a:r>
            <a:r>
              <a:rPr lang="en-US" sz="2000" dirty="0"/>
              <a:t>.</a:t>
            </a:r>
          </a:p>
          <a:p>
            <a:pPr algn="l"/>
            <a:r>
              <a:rPr lang="en-US" sz="2000" b="1" dirty="0"/>
              <a:t>3. </a:t>
            </a:r>
            <a:r>
              <a:rPr lang="en-US" sz="2000" dirty="0"/>
              <a:t>What is the output produced by the following program?</a:t>
            </a:r>
            <a:endParaRPr lang="en-US" sz="20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25885EFB-36A1-F6A8-865F-5D48008E39BC}"/>
              </a:ext>
            </a:extLst>
          </p:cNvPr>
          <p:cNvPicPr>
            <a:picLocks noChangeAspect="1"/>
          </p:cNvPicPr>
          <p:nvPr/>
        </p:nvPicPr>
        <p:blipFill>
          <a:blip r:embed="rId3"/>
          <a:stretch>
            <a:fillRect/>
          </a:stretch>
        </p:blipFill>
        <p:spPr>
          <a:xfrm>
            <a:off x="1636296" y="5438274"/>
            <a:ext cx="4644188" cy="3801979"/>
          </a:xfrm>
          <a:prstGeom prst="rect">
            <a:avLst/>
          </a:prstGeom>
        </p:spPr>
      </p:pic>
    </p:spTree>
    <p:extLst>
      <p:ext uri="{BB962C8B-B14F-4D97-AF65-F5344CB8AC3E}">
        <p14:creationId xmlns:p14="http://schemas.microsoft.com/office/powerpoint/2010/main" val="148701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866AF-9306-CE78-11B0-023CBF6D5FB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34C4DC3-E927-9390-91E8-57BB9550D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58BD894-F2E8-2FCB-1692-72968435C4E0}"/>
              </a:ext>
            </a:extLst>
          </p:cNvPr>
          <p:cNvSpPr txBox="1"/>
          <p:nvPr/>
        </p:nvSpPr>
        <p:spPr>
          <a:xfrm>
            <a:off x="0" y="65927"/>
            <a:ext cx="6858000" cy="646331"/>
          </a:xfrm>
          <a:prstGeom prst="rect">
            <a:avLst/>
          </a:prstGeom>
          <a:noFill/>
        </p:spPr>
        <p:txBody>
          <a:bodyPr wrap="square" rtlCol="0">
            <a:spAutoFit/>
          </a:bodyPr>
          <a:lstStyle/>
          <a:p>
            <a:pPr algn="ctr"/>
            <a:r>
              <a:rPr lang="en-US" sz="3600" b="1" dirty="0"/>
              <a:t>Procedural Abstraction</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B3E4BCD-D0A1-B4E2-AFBD-B42DBBC056F7}"/>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The Black-Box Analogy</a:t>
            </a:r>
          </a:p>
          <a:p>
            <a:pPr algn="l"/>
            <a:endParaRPr lang="en-ZA" sz="2400" b="1" dirty="0"/>
          </a:p>
          <a:p>
            <a:pPr algn="l"/>
            <a:r>
              <a:rPr lang="en-US" sz="2400" dirty="0"/>
              <a:t>A programmer who uses a function in a program needs to know </a:t>
            </a:r>
            <a:r>
              <a:rPr lang="en-ZA" sz="2400" i="1" dirty="0"/>
              <a:t>what </a:t>
            </a:r>
            <a:r>
              <a:rPr lang="en-ZA" sz="2400" dirty="0"/>
              <a:t>the function does (such as calculate the sum of 3 numbers) </a:t>
            </a:r>
            <a:r>
              <a:rPr lang="en-US" sz="2400" dirty="0"/>
              <a:t>but should not need to know </a:t>
            </a:r>
            <a:r>
              <a:rPr lang="en-US" sz="2400" i="1" dirty="0"/>
              <a:t>how </a:t>
            </a:r>
            <a:r>
              <a:rPr lang="en-US" sz="2400" dirty="0"/>
              <a:t>the function accomplishes its task. This is often referred to as treating the function like a </a:t>
            </a:r>
            <a:r>
              <a:rPr lang="en-US" sz="2400" i="1" dirty="0"/>
              <a:t>black box</a:t>
            </a:r>
            <a:r>
              <a:rPr lang="en-US" sz="2400" dirty="0"/>
              <a:t>.</a:t>
            </a:r>
          </a:p>
          <a:p>
            <a:pPr algn="l"/>
            <a:endParaRPr lang="en-US" sz="2400" b="1" dirty="0"/>
          </a:p>
          <a:p>
            <a:pPr algn="l"/>
            <a:r>
              <a:rPr lang="en-US" sz="2400" dirty="0"/>
              <a:t>Designing a function so that it can be used as a black box is sometimes called </a:t>
            </a:r>
            <a:r>
              <a:rPr lang="en-US" sz="2400" b="1" dirty="0"/>
              <a:t>information hiding </a:t>
            </a:r>
            <a:r>
              <a:rPr lang="en-US" sz="2400" dirty="0"/>
              <a:t>to emphasize that the programmer acts as if the body of the function were hidden from view.</a:t>
            </a:r>
          </a:p>
          <a:p>
            <a:pPr algn="l"/>
            <a:endParaRPr lang="en-US" sz="2400" b="1" dirty="0"/>
          </a:p>
          <a:p>
            <a:pPr algn="l"/>
            <a:r>
              <a:rPr lang="en-US" sz="2400" dirty="0"/>
              <a:t>Writing and using functions as if they were black boxes is also called </a:t>
            </a:r>
            <a:r>
              <a:rPr lang="en-US" sz="2400" b="1" dirty="0"/>
              <a:t>procedural </a:t>
            </a:r>
            <a:r>
              <a:rPr lang="en-ZA" sz="2400" b="1" dirty="0"/>
              <a:t>abstraction (or a </a:t>
            </a:r>
            <a:r>
              <a:rPr lang="en-ZA" sz="2400" b="1" i="1" dirty="0"/>
              <a:t>functional abstraction</a:t>
            </a:r>
            <a:r>
              <a:rPr lang="en-ZA" sz="2400" b="1" dirty="0"/>
              <a:t>).</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1893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C2FB7-0012-9433-3D9B-77DC694CC23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8394627-4D36-0B6E-E359-032525A67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681E01D-D3F8-2148-9950-ABBE8A3C9A5B}"/>
              </a:ext>
            </a:extLst>
          </p:cNvPr>
          <p:cNvSpPr txBox="1"/>
          <p:nvPr/>
        </p:nvSpPr>
        <p:spPr>
          <a:xfrm>
            <a:off x="0" y="65927"/>
            <a:ext cx="6858000" cy="646331"/>
          </a:xfrm>
          <a:prstGeom prst="rect">
            <a:avLst/>
          </a:prstGeom>
          <a:noFill/>
        </p:spPr>
        <p:txBody>
          <a:bodyPr wrap="square" rtlCol="0">
            <a:spAutoFit/>
          </a:bodyPr>
          <a:lstStyle/>
          <a:p>
            <a:pPr algn="ctr"/>
            <a:r>
              <a:rPr lang="en-US" sz="3600" b="1" dirty="0"/>
              <a:t>Procedural Abstraction</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82AA6A0-DFCA-B350-6C83-3C222B8E2C44}"/>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The Black-Box Analogy</a:t>
            </a:r>
          </a:p>
          <a:p>
            <a:pPr algn="l"/>
            <a:endParaRPr lang="en-US" sz="2400" dirty="0"/>
          </a:p>
          <a:p>
            <a:pPr algn="l"/>
            <a:r>
              <a:rPr lang="en-US" sz="2400" dirty="0"/>
              <a:t>Writing and using functions as if they were black boxes is also called </a:t>
            </a:r>
            <a:r>
              <a:rPr lang="en-US" sz="2400" b="1" dirty="0"/>
              <a:t>procedural </a:t>
            </a:r>
            <a:r>
              <a:rPr lang="en-ZA" sz="2400" b="1" dirty="0"/>
              <a:t>abstraction (or </a:t>
            </a:r>
            <a:r>
              <a:rPr lang="en-ZA" sz="2400" b="1" i="1" dirty="0"/>
              <a:t>functional abstraction</a:t>
            </a:r>
            <a:r>
              <a:rPr lang="en-ZA" sz="2400" b="1" dirty="0"/>
              <a:t>). </a:t>
            </a:r>
            <a:r>
              <a:rPr lang="en-ZA" sz="2400" dirty="0"/>
              <a:t>The term </a:t>
            </a:r>
            <a:r>
              <a:rPr lang="en-US" sz="2400" i="1" dirty="0"/>
              <a:t>abstraction </a:t>
            </a:r>
            <a:r>
              <a:rPr lang="en-US" sz="2400" dirty="0"/>
              <a:t>is intended to convey the idea that when you use a function as a black box, you are </a:t>
            </a:r>
            <a:r>
              <a:rPr lang="en-US" sz="2400" i="1" dirty="0"/>
              <a:t>abstracting away (</a:t>
            </a:r>
            <a:r>
              <a:rPr lang="en-ZA" sz="2400" i="1" dirty="0"/>
              <a:t>ignoring or omitting specific</a:t>
            </a:r>
            <a:r>
              <a:rPr lang="en-US" sz="2400" i="1" dirty="0"/>
              <a:t>)</a:t>
            </a:r>
            <a:r>
              <a:rPr lang="en-US" sz="2400" dirty="0"/>
              <a:t> the details of the code contained in the function body. You can call this technique </a:t>
            </a:r>
            <a:r>
              <a:rPr lang="en-US" sz="2400" i="1" dirty="0"/>
              <a:t>the black-box principle </a:t>
            </a:r>
            <a:r>
              <a:rPr lang="en-US" sz="2400" dirty="0"/>
              <a:t>or </a:t>
            </a:r>
            <a:r>
              <a:rPr lang="en-US" sz="2400" i="1" dirty="0"/>
              <a:t>the principle of procedural abstraction </a:t>
            </a:r>
            <a:r>
              <a:rPr lang="en-US" sz="2400" dirty="0"/>
              <a:t>or </a:t>
            </a:r>
            <a:r>
              <a:rPr lang="en-US" sz="2400" i="1" dirty="0"/>
              <a:t>information hiding</a:t>
            </a:r>
            <a:r>
              <a:rPr lang="en-US" sz="2400" dirty="0"/>
              <a:t>. The three terms mean the same </a:t>
            </a:r>
            <a:r>
              <a:rPr lang="en-ZA" sz="2400" dirty="0"/>
              <a:t>thing.</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521709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E516-3DA1-43C3-5BA9-2A1054FF4A4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0ACDD62-00B2-7158-E04E-56BA6B6AE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35ACB72-1750-757C-9770-C561570F15BA}"/>
              </a:ext>
            </a:extLst>
          </p:cNvPr>
          <p:cNvSpPr txBox="1"/>
          <p:nvPr/>
        </p:nvSpPr>
        <p:spPr>
          <a:xfrm>
            <a:off x="0" y="65927"/>
            <a:ext cx="6858000" cy="646331"/>
          </a:xfrm>
          <a:prstGeom prst="rect">
            <a:avLst/>
          </a:prstGeom>
          <a:noFill/>
        </p:spPr>
        <p:txBody>
          <a:bodyPr wrap="square" rtlCol="0">
            <a:spAutoFit/>
          </a:bodyPr>
          <a:lstStyle/>
          <a:p>
            <a:pPr algn="ctr"/>
            <a:r>
              <a:rPr lang="en-US" sz="3600" b="1" dirty="0"/>
              <a:t>Procedural Abstraction</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61DF247-2DCE-858C-8039-A780B4095266}"/>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74BF10BE-D3A9-19FE-0D4D-12A549FDA7BB}"/>
              </a:ext>
            </a:extLst>
          </p:cNvPr>
          <p:cNvPicPr>
            <a:picLocks noChangeAspect="1"/>
          </p:cNvPicPr>
          <p:nvPr/>
        </p:nvPicPr>
        <p:blipFill>
          <a:blip r:embed="rId3"/>
          <a:stretch>
            <a:fillRect/>
          </a:stretch>
        </p:blipFill>
        <p:spPr>
          <a:xfrm>
            <a:off x="553453" y="1973135"/>
            <a:ext cx="5807657" cy="2526675"/>
          </a:xfrm>
          <a:prstGeom prst="rect">
            <a:avLst/>
          </a:prstGeom>
        </p:spPr>
      </p:pic>
      <p:pic>
        <p:nvPicPr>
          <p:cNvPr id="7" name="Picture 6">
            <a:extLst>
              <a:ext uri="{FF2B5EF4-FFF2-40B4-BE49-F238E27FC236}">
                <a16:creationId xmlns:a16="http://schemas.microsoft.com/office/drawing/2014/main" id="{DD7B75FF-F0DD-D5BD-053B-806FBD1F0CA2}"/>
              </a:ext>
            </a:extLst>
          </p:cNvPr>
          <p:cNvPicPr>
            <a:picLocks noChangeAspect="1"/>
          </p:cNvPicPr>
          <p:nvPr/>
        </p:nvPicPr>
        <p:blipFill>
          <a:blip r:embed="rId4"/>
          <a:stretch>
            <a:fillRect/>
          </a:stretch>
        </p:blipFill>
        <p:spPr>
          <a:xfrm>
            <a:off x="553453" y="4343399"/>
            <a:ext cx="5833059" cy="4705772"/>
          </a:xfrm>
          <a:prstGeom prst="rect">
            <a:avLst/>
          </a:prstGeom>
        </p:spPr>
      </p:pic>
    </p:spTree>
    <p:extLst>
      <p:ext uri="{BB962C8B-B14F-4D97-AF65-F5344CB8AC3E}">
        <p14:creationId xmlns:p14="http://schemas.microsoft.com/office/powerpoint/2010/main" val="961042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3A6E-443B-7B62-C1C1-BBA06B2410B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9136DBC-FF45-5423-093A-86393274F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64F5F5F-3BAD-4E12-2743-44F5AE6D91B2}"/>
              </a:ext>
            </a:extLst>
          </p:cNvPr>
          <p:cNvSpPr txBox="1"/>
          <p:nvPr/>
        </p:nvSpPr>
        <p:spPr>
          <a:xfrm>
            <a:off x="0" y="65927"/>
            <a:ext cx="6858000" cy="646331"/>
          </a:xfrm>
          <a:prstGeom prst="rect">
            <a:avLst/>
          </a:prstGeom>
          <a:noFill/>
        </p:spPr>
        <p:txBody>
          <a:bodyPr wrap="square" rtlCol="0">
            <a:spAutoFit/>
          </a:bodyPr>
          <a:lstStyle/>
          <a:p>
            <a:pPr algn="ctr"/>
            <a:r>
              <a:rPr lang="en-US" sz="3600" b="1" dirty="0"/>
              <a:t>Procedural Abstraction</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F41563A-F44A-03FA-3061-640B00112F8C}"/>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Exercise</a:t>
            </a:r>
          </a:p>
          <a:p>
            <a:pPr algn="l"/>
            <a:endParaRPr lang="en-ZA" sz="2400" b="1" dirty="0"/>
          </a:p>
          <a:p>
            <a:pPr algn="l"/>
            <a:endParaRPr lang="en-ZA" sz="2400" b="1" dirty="0"/>
          </a:p>
          <a:p>
            <a:pPr algn="l"/>
            <a:endParaRPr lang="en-US" sz="2400" dirty="0"/>
          </a:p>
          <a:p>
            <a:pPr algn="l"/>
            <a:endParaRPr lang="en-US" sz="2800" b="1" dirty="0"/>
          </a:p>
          <a:p>
            <a:pPr marL="285750" indent="-285750">
              <a:buFont typeface="Arial" panose="020B0604020202020204" pitchFamily="34" charset="0"/>
              <a:buChar char="•"/>
            </a:pPr>
            <a:endParaRPr lang="en-US" sz="2400" b="1" dirty="0"/>
          </a:p>
        </p:txBody>
      </p:sp>
      <p:pic>
        <p:nvPicPr>
          <p:cNvPr id="8" name="Picture 7">
            <a:extLst>
              <a:ext uri="{FF2B5EF4-FFF2-40B4-BE49-F238E27FC236}">
                <a16:creationId xmlns:a16="http://schemas.microsoft.com/office/drawing/2014/main" id="{DAEA86A4-75BA-5879-D72E-D3DC61A17D2E}"/>
              </a:ext>
            </a:extLst>
          </p:cNvPr>
          <p:cNvPicPr>
            <a:picLocks noChangeAspect="1"/>
          </p:cNvPicPr>
          <p:nvPr/>
        </p:nvPicPr>
        <p:blipFill>
          <a:blip r:embed="rId3"/>
          <a:stretch>
            <a:fillRect/>
          </a:stretch>
        </p:blipFill>
        <p:spPr>
          <a:xfrm>
            <a:off x="-72551" y="2646947"/>
            <a:ext cx="6930551" cy="4259179"/>
          </a:xfrm>
          <a:prstGeom prst="rect">
            <a:avLst/>
          </a:prstGeom>
        </p:spPr>
      </p:pic>
    </p:spTree>
    <p:extLst>
      <p:ext uri="{BB962C8B-B14F-4D97-AF65-F5344CB8AC3E}">
        <p14:creationId xmlns:p14="http://schemas.microsoft.com/office/powerpoint/2010/main" val="1791350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4459C-2B3B-3828-4BDA-C0C3F2EE622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E22AC18-7B2E-206D-429D-A7FFFD1319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FE77852-9BBF-FFC6-4D4E-FFAD53AFB191}"/>
              </a:ext>
            </a:extLst>
          </p:cNvPr>
          <p:cNvSpPr txBox="1"/>
          <p:nvPr/>
        </p:nvSpPr>
        <p:spPr>
          <a:xfrm>
            <a:off x="0" y="65927"/>
            <a:ext cx="6858000" cy="646331"/>
          </a:xfrm>
          <a:prstGeom prst="rect">
            <a:avLst/>
          </a:prstGeom>
          <a:noFill/>
        </p:spPr>
        <p:txBody>
          <a:bodyPr wrap="square" rtlCol="0">
            <a:spAutoFit/>
          </a:bodyPr>
          <a:lstStyle/>
          <a:p>
            <a:pPr algn="ctr"/>
            <a:r>
              <a:rPr lang="en-US" sz="3600" b="1" dirty="0"/>
              <a:t>Procedural Abstraction</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2AB9B9C-EA6E-29D5-88AC-535F3749A944}"/>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Simpler Formal Parameter Names</a:t>
            </a:r>
          </a:p>
          <a:p>
            <a:pPr algn="l"/>
            <a:endParaRPr lang="en-US" sz="2400" dirty="0"/>
          </a:p>
          <a:p>
            <a:pPr algn="l"/>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00B34100-F23E-E25D-2D5E-A42065491E8A}"/>
              </a:ext>
            </a:extLst>
          </p:cNvPr>
          <p:cNvPicPr>
            <a:picLocks noChangeAspect="1"/>
          </p:cNvPicPr>
          <p:nvPr/>
        </p:nvPicPr>
        <p:blipFill>
          <a:blip r:embed="rId3"/>
          <a:stretch>
            <a:fillRect/>
          </a:stretch>
        </p:blipFill>
        <p:spPr>
          <a:xfrm>
            <a:off x="180474" y="2562726"/>
            <a:ext cx="6304547" cy="4235115"/>
          </a:xfrm>
          <a:prstGeom prst="rect">
            <a:avLst/>
          </a:prstGeom>
        </p:spPr>
      </p:pic>
    </p:spTree>
    <p:extLst>
      <p:ext uri="{BB962C8B-B14F-4D97-AF65-F5344CB8AC3E}">
        <p14:creationId xmlns:p14="http://schemas.microsoft.com/office/powerpoint/2010/main" val="3409582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9A4F3-D2DF-7539-F40A-C6BDD0CABC7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F17E42B-7C86-227B-0958-E4013167F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50E164-DE33-E516-89F7-41D46B60DE54}"/>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Case Study</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BFD90275-B11C-8B93-5B4D-5C215E51CBFD}"/>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Case Study pg. 243</a:t>
            </a:r>
          </a:p>
          <a:p>
            <a:pPr algn="l"/>
            <a:endParaRPr lang="en-US" sz="2400" dirty="0"/>
          </a:p>
          <a:p>
            <a:pPr algn="l"/>
            <a:endParaRPr lang="en-US" sz="2800" b="1" dirty="0"/>
          </a:p>
          <a:p>
            <a:pPr marL="285750" indent="-285750">
              <a:buFont typeface="Arial" panose="020B0604020202020204" pitchFamily="34" charset="0"/>
              <a:buChar char="•"/>
            </a:pPr>
            <a:endParaRPr lang="en-US" sz="2400" b="1" dirty="0"/>
          </a:p>
        </p:txBody>
      </p:sp>
      <p:pic>
        <p:nvPicPr>
          <p:cNvPr id="10" name="Picture 9">
            <a:extLst>
              <a:ext uri="{FF2B5EF4-FFF2-40B4-BE49-F238E27FC236}">
                <a16:creationId xmlns:a16="http://schemas.microsoft.com/office/drawing/2014/main" id="{9DA4C354-B6F6-6AF3-008F-49A4BD52679D}"/>
              </a:ext>
            </a:extLst>
          </p:cNvPr>
          <p:cNvPicPr>
            <a:picLocks noChangeAspect="1"/>
          </p:cNvPicPr>
          <p:nvPr/>
        </p:nvPicPr>
        <p:blipFill>
          <a:blip r:embed="rId3"/>
          <a:stretch>
            <a:fillRect/>
          </a:stretch>
        </p:blipFill>
        <p:spPr>
          <a:xfrm>
            <a:off x="-72551" y="2466475"/>
            <a:ext cx="6930551" cy="4211052"/>
          </a:xfrm>
          <a:prstGeom prst="rect">
            <a:avLst/>
          </a:prstGeom>
        </p:spPr>
      </p:pic>
    </p:spTree>
    <p:extLst>
      <p:ext uri="{BB962C8B-B14F-4D97-AF65-F5344CB8AC3E}">
        <p14:creationId xmlns:p14="http://schemas.microsoft.com/office/powerpoint/2010/main" val="365066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8E64A-D7A9-45DC-E0F9-573CE97F72C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EC8B603-B1A7-93EF-F040-9B86F092B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E60AE2A-4630-ED6C-9DD6-F59A8C954A18}"/>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Case Study</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AF6BCFA-89A6-554C-6A66-57212FE61122}"/>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Case Study pg. 243</a:t>
            </a:r>
          </a:p>
          <a:p>
            <a:pPr algn="l"/>
            <a:endParaRPr lang="en-US" sz="2400" dirty="0"/>
          </a:p>
          <a:p>
            <a:pPr algn="l"/>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3E73CE5C-115A-FFF5-1426-D1F1878FEB87}"/>
              </a:ext>
            </a:extLst>
          </p:cNvPr>
          <p:cNvPicPr>
            <a:picLocks noChangeAspect="1"/>
          </p:cNvPicPr>
          <p:nvPr/>
        </p:nvPicPr>
        <p:blipFill>
          <a:blip r:embed="rId3"/>
          <a:stretch>
            <a:fillRect/>
          </a:stretch>
        </p:blipFill>
        <p:spPr>
          <a:xfrm>
            <a:off x="1" y="2598820"/>
            <a:ext cx="6773778" cy="6148137"/>
          </a:xfrm>
          <a:prstGeom prst="rect">
            <a:avLst/>
          </a:prstGeom>
        </p:spPr>
      </p:pic>
    </p:spTree>
    <p:extLst>
      <p:ext uri="{BB962C8B-B14F-4D97-AF65-F5344CB8AC3E}">
        <p14:creationId xmlns:p14="http://schemas.microsoft.com/office/powerpoint/2010/main" val="2747350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46BCD-27F1-3558-798E-3807BD94AB0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2DD9715-CB28-0FD7-3235-C5F0651A4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3832504-611C-8293-94A1-219BA8924D44}"/>
              </a:ext>
            </a:extLst>
          </p:cNvPr>
          <p:cNvSpPr txBox="1"/>
          <p:nvPr/>
        </p:nvSpPr>
        <p:spPr>
          <a:xfrm>
            <a:off x="0" y="65927"/>
            <a:ext cx="6858000" cy="646331"/>
          </a:xfrm>
          <a:prstGeom prst="rect">
            <a:avLst/>
          </a:prstGeom>
          <a:noFill/>
        </p:spPr>
        <p:txBody>
          <a:bodyPr wrap="square" rtlCol="0">
            <a:spAutoFit/>
          </a:bodyPr>
          <a:lstStyle/>
          <a:p>
            <a:pPr algn="ctr"/>
            <a:r>
              <a:rPr lang="en-US" sz="3600" b="1" dirty="0"/>
              <a:t>Scope and Local Variables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224F228-6F06-0FD5-8410-B06D7A5D4E74}"/>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Variables that are declared within the body of a function definition are said to be </a:t>
            </a:r>
            <a:r>
              <a:rPr lang="en-US" sz="2400" b="1" dirty="0"/>
              <a:t>local to that function </a:t>
            </a:r>
            <a:r>
              <a:rPr lang="en-US" sz="2400" dirty="0"/>
              <a:t>or to have that function as their </a:t>
            </a:r>
            <a:r>
              <a:rPr lang="en-US" sz="2400" b="1" dirty="0"/>
              <a:t>scope.</a:t>
            </a:r>
          </a:p>
          <a:p>
            <a:pPr algn="l"/>
            <a:endParaRPr lang="en-US" sz="2400" b="1" dirty="0"/>
          </a:p>
          <a:p>
            <a:pPr algn="l"/>
            <a:r>
              <a:rPr lang="en-US" sz="2400" dirty="0"/>
              <a:t>Variables that are defined within the main body of the program are said to be </a:t>
            </a:r>
            <a:r>
              <a:rPr lang="en-US" sz="2400" b="1" dirty="0"/>
              <a:t>local to the main part of the program </a:t>
            </a:r>
            <a:r>
              <a:rPr lang="en-US" sz="2400" dirty="0"/>
              <a:t>or to have the main part of the program </a:t>
            </a:r>
            <a:r>
              <a:rPr lang="en-ZA" sz="2400" dirty="0"/>
              <a:t>as their </a:t>
            </a:r>
            <a:r>
              <a:rPr lang="en-ZA" sz="2400" b="1" dirty="0"/>
              <a:t>scope</a:t>
            </a:r>
            <a:r>
              <a:rPr lang="en-ZA" sz="2400" dirty="0"/>
              <a:t>.</a:t>
            </a:r>
            <a:endParaRPr lang="en-US" sz="2400" b="1" dirty="0"/>
          </a:p>
          <a:p>
            <a:pPr marL="285750" indent="-285750" algn="l">
              <a:buFont typeface="Arial" panose="020B0604020202020204" pitchFamily="34" charset="0"/>
              <a:buChar char="•"/>
            </a:pPr>
            <a:endParaRPr lang="en-US" sz="2400" b="1" dirty="0"/>
          </a:p>
          <a:p>
            <a:pPr algn="l"/>
            <a:r>
              <a:rPr lang="en-US" sz="2400" dirty="0"/>
              <a:t>When we say that a variable is a </a:t>
            </a:r>
            <a:r>
              <a:rPr lang="en-US" sz="2400" b="1" dirty="0"/>
              <a:t>local variable </a:t>
            </a:r>
            <a:r>
              <a:rPr lang="en-US" sz="2400" dirty="0"/>
              <a:t>without any mention of a function and without any mention of the main part of the program, we mean that the variable is local to some function definition.</a:t>
            </a:r>
            <a:endParaRPr lang="en-US" sz="2400" b="1" dirty="0"/>
          </a:p>
        </p:txBody>
      </p:sp>
    </p:spTree>
    <p:extLst>
      <p:ext uri="{BB962C8B-B14F-4D97-AF65-F5344CB8AC3E}">
        <p14:creationId xmlns:p14="http://schemas.microsoft.com/office/powerpoint/2010/main" val="2143200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2FD8D-83B9-D50B-5031-5AEDEC172FB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75B518B-7F2E-627E-9C63-A8CBF7B47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538CBEC-E0C4-12C3-5D23-396861DB97C3}"/>
              </a:ext>
            </a:extLst>
          </p:cNvPr>
          <p:cNvSpPr txBox="1"/>
          <p:nvPr/>
        </p:nvSpPr>
        <p:spPr>
          <a:xfrm>
            <a:off x="0" y="65927"/>
            <a:ext cx="6858000" cy="1200329"/>
          </a:xfrm>
          <a:prstGeom prst="rect">
            <a:avLst/>
          </a:prstGeom>
          <a:noFill/>
        </p:spPr>
        <p:txBody>
          <a:bodyPr wrap="square" rtlCol="0">
            <a:spAutoFit/>
          </a:bodyPr>
          <a:lstStyle/>
          <a:p>
            <a:pPr algn="ctr"/>
            <a:r>
              <a:rPr lang="en-US" sz="3600" b="1" dirty="0"/>
              <a:t>Example: Scope and Local Variables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39A7EA01-946A-C372-A700-D5D72759CC38}"/>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pic>
        <p:nvPicPr>
          <p:cNvPr id="6" name="Picture 5">
            <a:extLst>
              <a:ext uri="{FF2B5EF4-FFF2-40B4-BE49-F238E27FC236}">
                <a16:creationId xmlns:a16="http://schemas.microsoft.com/office/drawing/2014/main" id="{F9BA811C-1BAA-04BB-279D-59CB67E99936}"/>
              </a:ext>
            </a:extLst>
          </p:cNvPr>
          <p:cNvPicPr>
            <a:picLocks noChangeAspect="1"/>
          </p:cNvPicPr>
          <p:nvPr/>
        </p:nvPicPr>
        <p:blipFill>
          <a:blip r:embed="rId3"/>
          <a:stretch>
            <a:fillRect/>
          </a:stretch>
        </p:blipFill>
        <p:spPr>
          <a:xfrm>
            <a:off x="168442" y="1828800"/>
            <a:ext cx="6521116" cy="4848313"/>
          </a:xfrm>
          <a:prstGeom prst="rect">
            <a:avLst/>
          </a:prstGeom>
        </p:spPr>
      </p:pic>
      <p:pic>
        <p:nvPicPr>
          <p:cNvPr id="8" name="Picture 7">
            <a:extLst>
              <a:ext uri="{FF2B5EF4-FFF2-40B4-BE49-F238E27FC236}">
                <a16:creationId xmlns:a16="http://schemas.microsoft.com/office/drawing/2014/main" id="{0FEE5053-58D0-F9E4-2C78-0A00440748FF}"/>
              </a:ext>
            </a:extLst>
          </p:cNvPr>
          <p:cNvPicPr>
            <a:picLocks noChangeAspect="1"/>
          </p:cNvPicPr>
          <p:nvPr/>
        </p:nvPicPr>
        <p:blipFill>
          <a:blip r:embed="rId4"/>
          <a:stretch>
            <a:fillRect/>
          </a:stretch>
        </p:blipFill>
        <p:spPr>
          <a:xfrm>
            <a:off x="168442" y="6815136"/>
            <a:ext cx="6521117" cy="2340896"/>
          </a:xfrm>
          <a:prstGeom prst="rect">
            <a:avLst/>
          </a:prstGeom>
        </p:spPr>
      </p:pic>
    </p:spTree>
    <p:extLst>
      <p:ext uri="{BB962C8B-B14F-4D97-AF65-F5344CB8AC3E}">
        <p14:creationId xmlns:p14="http://schemas.microsoft.com/office/powerpoint/2010/main" val="3603437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79EFB-034A-F6FC-AF53-D7E10FD36CC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D000F04-DA89-E91F-441D-314DAFB7E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A6159AB-218D-3E90-BA35-9CD5FAFD2D12}"/>
              </a:ext>
            </a:extLst>
          </p:cNvPr>
          <p:cNvSpPr txBox="1"/>
          <p:nvPr/>
        </p:nvSpPr>
        <p:spPr>
          <a:xfrm>
            <a:off x="0" y="65927"/>
            <a:ext cx="6858000" cy="1200329"/>
          </a:xfrm>
          <a:prstGeom prst="rect">
            <a:avLst/>
          </a:prstGeom>
          <a:noFill/>
        </p:spPr>
        <p:txBody>
          <a:bodyPr wrap="square" rtlCol="0">
            <a:spAutoFit/>
          </a:bodyPr>
          <a:lstStyle/>
          <a:p>
            <a:pPr algn="ctr"/>
            <a:r>
              <a:rPr lang="en-ZA" sz="3600" b="1" dirty="0"/>
              <a:t>Global Constants and Global Variables pg. 253</a:t>
            </a:r>
          </a:p>
        </p:txBody>
      </p:sp>
      <p:sp>
        <p:nvSpPr>
          <p:cNvPr id="2" name="Content Placeholder 2">
            <a:extLst>
              <a:ext uri="{FF2B5EF4-FFF2-40B4-BE49-F238E27FC236}">
                <a16:creationId xmlns:a16="http://schemas.microsoft.com/office/drawing/2014/main" id="{DD7FBFEE-3FA6-B5EA-52BB-CEEF7F8C6902}"/>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NB. </a:t>
            </a:r>
            <a:r>
              <a:rPr lang="en-US" sz="2400" dirty="0"/>
              <a:t>You can place these declarations for naming constants inside the body of the functions. This works out fine because each named constant will be used by only one function. </a:t>
            </a:r>
          </a:p>
          <a:p>
            <a:pPr algn="l"/>
            <a:r>
              <a:rPr lang="en-US" sz="2400" b="1" dirty="0"/>
              <a:t>NB.</a:t>
            </a:r>
            <a:r>
              <a:rPr lang="en-US" sz="2400" dirty="0"/>
              <a:t> However, it can easily happen that more than one function uses a named constant. In that case you can place the declaration for naming a constant at the beginning of your program, outside of the body of all the functions and outside the body of the main part of your program. The named constant is then said to be a </a:t>
            </a:r>
            <a:r>
              <a:rPr lang="en-US" sz="2400" b="1" dirty="0"/>
              <a:t>global named constant, </a:t>
            </a:r>
            <a:r>
              <a:rPr lang="en-US" sz="2400" dirty="0"/>
              <a:t>and the named constant can be used in any function definition that follows the constant declaration.</a:t>
            </a:r>
            <a:endParaRPr lang="en-US" sz="2400" b="1" dirty="0"/>
          </a:p>
        </p:txBody>
      </p:sp>
    </p:spTree>
    <p:extLst>
      <p:ext uri="{BB962C8B-B14F-4D97-AF65-F5344CB8AC3E}">
        <p14:creationId xmlns:p14="http://schemas.microsoft.com/office/powerpoint/2010/main" val="3990877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7987-D6AB-4283-4C9A-D8CFC67B1F8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1C78B8F-78C6-7AC1-4BFF-8A5AB132D2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255ACC5-591B-300F-E3DA-7F34A643D364}"/>
              </a:ext>
            </a:extLst>
          </p:cNvPr>
          <p:cNvSpPr txBox="1"/>
          <p:nvPr/>
        </p:nvSpPr>
        <p:spPr>
          <a:xfrm>
            <a:off x="0" y="65927"/>
            <a:ext cx="6858000" cy="1200329"/>
          </a:xfrm>
          <a:prstGeom prst="rect">
            <a:avLst/>
          </a:prstGeom>
          <a:noFill/>
        </p:spPr>
        <p:txBody>
          <a:bodyPr wrap="square" rtlCol="0">
            <a:spAutoFit/>
          </a:bodyPr>
          <a:lstStyle/>
          <a:p>
            <a:pPr algn="ctr"/>
            <a:r>
              <a:rPr lang="en-ZA" sz="3600" b="1" dirty="0"/>
              <a:t>Global Constants and Global Variables pg.255</a:t>
            </a:r>
          </a:p>
        </p:txBody>
      </p:sp>
      <p:sp>
        <p:nvSpPr>
          <p:cNvPr id="2" name="Content Placeholder 2">
            <a:extLst>
              <a:ext uri="{FF2B5EF4-FFF2-40B4-BE49-F238E27FC236}">
                <a16:creationId xmlns:a16="http://schemas.microsoft.com/office/drawing/2014/main" id="{9923FEF9-4982-0AE0-DCDF-5CC5B682003A}"/>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pic>
        <p:nvPicPr>
          <p:cNvPr id="6" name="Picture 5">
            <a:extLst>
              <a:ext uri="{FF2B5EF4-FFF2-40B4-BE49-F238E27FC236}">
                <a16:creationId xmlns:a16="http://schemas.microsoft.com/office/drawing/2014/main" id="{2CFCBA1D-201D-A702-DB32-3139A1A2846D}"/>
              </a:ext>
            </a:extLst>
          </p:cNvPr>
          <p:cNvPicPr>
            <a:picLocks noChangeAspect="1"/>
          </p:cNvPicPr>
          <p:nvPr/>
        </p:nvPicPr>
        <p:blipFill>
          <a:blip r:embed="rId3"/>
          <a:stretch/>
        </p:blipFill>
        <p:spPr>
          <a:xfrm>
            <a:off x="0" y="2391107"/>
            <a:ext cx="6858000" cy="3874380"/>
          </a:xfrm>
          <a:prstGeom prst="rect">
            <a:avLst/>
          </a:prstGeom>
        </p:spPr>
      </p:pic>
      <p:pic>
        <p:nvPicPr>
          <p:cNvPr id="8" name="Picture 7">
            <a:extLst>
              <a:ext uri="{FF2B5EF4-FFF2-40B4-BE49-F238E27FC236}">
                <a16:creationId xmlns:a16="http://schemas.microsoft.com/office/drawing/2014/main" id="{069187F8-B874-C642-8D42-6DCF55DA02C0}"/>
              </a:ext>
            </a:extLst>
          </p:cNvPr>
          <p:cNvPicPr>
            <a:picLocks noChangeAspect="1"/>
          </p:cNvPicPr>
          <p:nvPr/>
        </p:nvPicPr>
        <p:blipFill>
          <a:blip r:embed="rId4"/>
          <a:stretch/>
        </p:blipFill>
        <p:spPr>
          <a:xfrm>
            <a:off x="-72551" y="6265487"/>
            <a:ext cx="6930551" cy="2857574"/>
          </a:xfrm>
          <a:prstGeom prst="rect">
            <a:avLst/>
          </a:prstGeom>
        </p:spPr>
      </p:pic>
    </p:spTree>
    <p:extLst>
      <p:ext uri="{BB962C8B-B14F-4D97-AF65-F5344CB8AC3E}">
        <p14:creationId xmlns:p14="http://schemas.microsoft.com/office/powerpoint/2010/main" val="2049487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02FF-F8CF-2538-DFE9-196D9FCE4F6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2E74EC0-4390-91BA-F5D4-2F3DBEE9F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F0EBE3B-3211-62E9-2E9B-BC18C756E2B9}"/>
              </a:ext>
            </a:extLst>
          </p:cNvPr>
          <p:cNvSpPr txBox="1"/>
          <p:nvPr/>
        </p:nvSpPr>
        <p:spPr>
          <a:xfrm>
            <a:off x="0" y="65927"/>
            <a:ext cx="6858000" cy="1200329"/>
          </a:xfrm>
          <a:prstGeom prst="rect">
            <a:avLst/>
          </a:prstGeom>
          <a:noFill/>
        </p:spPr>
        <p:txBody>
          <a:bodyPr wrap="square" rtlCol="0">
            <a:spAutoFit/>
          </a:bodyPr>
          <a:lstStyle/>
          <a:p>
            <a:pPr algn="ctr"/>
            <a:r>
              <a:rPr lang="en-US" sz="3600" b="1" dirty="0"/>
              <a:t>Call-by-Value Formal Parameters Are Local Variables</a:t>
            </a:r>
            <a:endParaRPr lang="en-ZA" sz="3600" b="1" dirty="0"/>
          </a:p>
        </p:txBody>
      </p:sp>
      <p:sp>
        <p:nvSpPr>
          <p:cNvPr id="2" name="Content Placeholder 2">
            <a:extLst>
              <a:ext uri="{FF2B5EF4-FFF2-40B4-BE49-F238E27FC236}">
                <a16:creationId xmlns:a16="http://schemas.microsoft.com/office/drawing/2014/main" id="{062236BD-E293-EE3D-B78B-D7792BADED9C}"/>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Formal parameters are actually variables that are local to the function definition, so they can be used just like a local variable that is declared in the function definition.</a:t>
            </a:r>
          </a:p>
          <a:p>
            <a:pPr algn="l"/>
            <a:endParaRPr lang="en-US" sz="2400" b="1" dirty="0"/>
          </a:p>
        </p:txBody>
      </p:sp>
      <p:pic>
        <p:nvPicPr>
          <p:cNvPr id="6" name="Picture 5">
            <a:extLst>
              <a:ext uri="{FF2B5EF4-FFF2-40B4-BE49-F238E27FC236}">
                <a16:creationId xmlns:a16="http://schemas.microsoft.com/office/drawing/2014/main" id="{5917CEEA-2F52-CC63-A739-1E061AC025F5}"/>
              </a:ext>
            </a:extLst>
          </p:cNvPr>
          <p:cNvPicPr>
            <a:picLocks noChangeAspect="1"/>
          </p:cNvPicPr>
          <p:nvPr/>
        </p:nvPicPr>
        <p:blipFill>
          <a:blip r:embed="rId3"/>
          <a:stretch/>
        </p:blipFill>
        <p:spPr>
          <a:xfrm>
            <a:off x="-72551" y="3451757"/>
            <a:ext cx="6930551" cy="4621431"/>
          </a:xfrm>
          <a:prstGeom prst="rect">
            <a:avLst/>
          </a:prstGeom>
        </p:spPr>
      </p:pic>
    </p:spTree>
    <p:extLst>
      <p:ext uri="{BB962C8B-B14F-4D97-AF65-F5344CB8AC3E}">
        <p14:creationId xmlns:p14="http://schemas.microsoft.com/office/powerpoint/2010/main" val="3509396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EBCB6-1A08-4BBC-85A9-9B852A387D2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2491606-22AC-E539-8212-C92D300D9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3871605-C188-439F-CD10-CDAE2F832FA1}"/>
              </a:ext>
            </a:extLst>
          </p:cNvPr>
          <p:cNvSpPr txBox="1"/>
          <p:nvPr/>
        </p:nvSpPr>
        <p:spPr>
          <a:xfrm>
            <a:off x="0" y="65927"/>
            <a:ext cx="6858000" cy="1200329"/>
          </a:xfrm>
          <a:prstGeom prst="rect">
            <a:avLst/>
          </a:prstGeom>
          <a:noFill/>
        </p:spPr>
        <p:txBody>
          <a:bodyPr wrap="square" rtlCol="0">
            <a:spAutoFit/>
          </a:bodyPr>
          <a:lstStyle/>
          <a:p>
            <a:pPr algn="ctr"/>
            <a:r>
              <a:rPr lang="en-US" sz="3600" b="1" dirty="0"/>
              <a:t>Call-by-Value Formal Parameters Are Local Variables</a:t>
            </a:r>
            <a:endParaRPr lang="en-ZA" sz="3600" b="1" dirty="0"/>
          </a:p>
        </p:txBody>
      </p:sp>
      <p:sp>
        <p:nvSpPr>
          <p:cNvPr id="2" name="Content Placeholder 2">
            <a:extLst>
              <a:ext uri="{FF2B5EF4-FFF2-40B4-BE49-F238E27FC236}">
                <a16:creationId xmlns:a16="http://schemas.microsoft.com/office/drawing/2014/main" id="{BEE99DBD-2196-8956-6151-8C5089C91D02}"/>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pic>
        <p:nvPicPr>
          <p:cNvPr id="7" name="Picture 6">
            <a:extLst>
              <a:ext uri="{FF2B5EF4-FFF2-40B4-BE49-F238E27FC236}">
                <a16:creationId xmlns:a16="http://schemas.microsoft.com/office/drawing/2014/main" id="{865F04C6-9C69-9F9D-3D8B-25234E221F84}"/>
              </a:ext>
            </a:extLst>
          </p:cNvPr>
          <p:cNvPicPr>
            <a:picLocks noChangeAspect="1"/>
          </p:cNvPicPr>
          <p:nvPr/>
        </p:nvPicPr>
        <p:blipFill>
          <a:blip r:embed="rId3"/>
          <a:stretch/>
        </p:blipFill>
        <p:spPr>
          <a:xfrm>
            <a:off x="-72551" y="2531904"/>
            <a:ext cx="6930551" cy="5974421"/>
          </a:xfrm>
          <a:prstGeom prst="rect">
            <a:avLst/>
          </a:prstGeom>
        </p:spPr>
      </p:pic>
    </p:spTree>
    <p:extLst>
      <p:ext uri="{BB962C8B-B14F-4D97-AF65-F5344CB8AC3E}">
        <p14:creationId xmlns:p14="http://schemas.microsoft.com/office/powerpoint/2010/main" val="3846646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BB58-0064-7FE2-E323-323CF2D4CDD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2F7E127-2E94-5E47-A14F-B785E94C4C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234511C-655B-3363-AA3C-8F88D86452A4}"/>
              </a:ext>
            </a:extLst>
          </p:cNvPr>
          <p:cNvSpPr txBox="1"/>
          <p:nvPr/>
        </p:nvSpPr>
        <p:spPr>
          <a:xfrm>
            <a:off x="0" y="65927"/>
            <a:ext cx="6858000" cy="1200329"/>
          </a:xfrm>
          <a:prstGeom prst="rect">
            <a:avLst/>
          </a:prstGeom>
          <a:noFill/>
        </p:spPr>
        <p:txBody>
          <a:bodyPr wrap="square" rtlCol="0">
            <a:spAutoFit/>
          </a:bodyPr>
          <a:lstStyle/>
          <a:p>
            <a:pPr algn="ctr"/>
            <a:r>
              <a:rPr lang="en-US" sz="3600" b="1" dirty="0"/>
              <a:t>Example: Call-by-Value Formal Parameters Are Local Variables</a:t>
            </a:r>
            <a:endParaRPr lang="en-ZA" sz="3600" b="1" dirty="0"/>
          </a:p>
        </p:txBody>
      </p:sp>
      <p:sp>
        <p:nvSpPr>
          <p:cNvPr id="2" name="Content Placeholder 2">
            <a:extLst>
              <a:ext uri="{FF2B5EF4-FFF2-40B4-BE49-F238E27FC236}">
                <a16:creationId xmlns:a16="http://schemas.microsoft.com/office/drawing/2014/main" id="{FAE0A9DE-2D43-387C-01BF-44C3C1D318E1}"/>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pic>
        <p:nvPicPr>
          <p:cNvPr id="10" name="Picture 9">
            <a:extLst>
              <a:ext uri="{FF2B5EF4-FFF2-40B4-BE49-F238E27FC236}">
                <a16:creationId xmlns:a16="http://schemas.microsoft.com/office/drawing/2014/main" id="{3951C0FC-51C0-C239-CF78-065E8691B007}"/>
              </a:ext>
            </a:extLst>
          </p:cNvPr>
          <p:cNvPicPr>
            <a:picLocks noChangeAspect="1"/>
          </p:cNvPicPr>
          <p:nvPr/>
        </p:nvPicPr>
        <p:blipFill>
          <a:blip r:embed="rId3"/>
          <a:stretch>
            <a:fillRect/>
          </a:stretch>
        </p:blipFill>
        <p:spPr>
          <a:xfrm>
            <a:off x="96253" y="1408383"/>
            <a:ext cx="6412831" cy="4651419"/>
          </a:xfrm>
          <a:prstGeom prst="rect">
            <a:avLst/>
          </a:prstGeom>
        </p:spPr>
      </p:pic>
      <p:pic>
        <p:nvPicPr>
          <p:cNvPr id="12" name="Picture 11">
            <a:extLst>
              <a:ext uri="{FF2B5EF4-FFF2-40B4-BE49-F238E27FC236}">
                <a16:creationId xmlns:a16="http://schemas.microsoft.com/office/drawing/2014/main" id="{F19CB7A7-0AA2-D10D-48E9-2E470F0C7619}"/>
              </a:ext>
            </a:extLst>
          </p:cNvPr>
          <p:cNvPicPr>
            <a:picLocks noChangeAspect="1"/>
          </p:cNvPicPr>
          <p:nvPr/>
        </p:nvPicPr>
        <p:blipFill>
          <a:blip r:embed="rId4"/>
          <a:stretch>
            <a:fillRect/>
          </a:stretch>
        </p:blipFill>
        <p:spPr>
          <a:xfrm>
            <a:off x="96253" y="6059802"/>
            <a:ext cx="6412831" cy="2862478"/>
          </a:xfrm>
          <a:prstGeom prst="rect">
            <a:avLst/>
          </a:prstGeom>
        </p:spPr>
      </p:pic>
    </p:spTree>
    <p:extLst>
      <p:ext uri="{BB962C8B-B14F-4D97-AF65-F5344CB8AC3E}">
        <p14:creationId xmlns:p14="http://schemas.microsoft.com/office/powerpoint/2010/main" val="1761796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E7915-D591-4DC1-1962-FF2745C623C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769BAC0-C2F2-C497-A222-460467249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8A64939-FEAE-98AA-2017-2DA39C16C526}"/>
              </a:ext>
            </a:extLst>
          </p:cNvPr>
          <p:cNvSpPr txBox="1"/>
          <p:nvPr/>
        </p:nvSpPr>
        <p:spPr>
          <a:xfrm>
            <a:off x="0" y="65927"/>
            <a:ext cx="6858000" cy="646331"/>
          </a:xfrm>
          <a:prstGeom prst="rect">
            <a:avLst/>
          </a:prstGeom>
          <a:noFill/>
        </p:spPr>
        <p:txBody>
          <a:bodyPr wrap="square" rtlCol="0">
            <a:spAutoFit/>
          </a:bodyPr>
          <a:lstStyle/>
          <a:p>
            <a:pPr algn="ctr"/>
            <a:r>
              <a:rPr lang="en-ZA" sz="3600" b="1" dirty="0"/>
              <a:t>Block Scope</a:t>
            </a:r>
          </a:p>
        </p:txBody>
      </p:sp>
      <p:sp>
        <p:nvSpPr>
          <p:cNvPr id="2" name="Content Placeholder 2">
            <a:extLst>
              <a:ext uri="{FF2B5EF4-FFF2-40B4-BE49-F238E27FC236}">
                <a16:creationId xmlns:a16="http://schemas.microsoft.com/office/drawing/2014/main" id="{3F68A92D-55E5-8742-01A9-33F27D67B42F}"/>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F8F74724-B2F7-93CD-428F-B47F940D8965}"/>
              </a:ext>
            </a:extLst>
          </p:cNvPr>
          <p:cNvSpPr txBox="1"/>
          <p:nvPr/>
        </p:nvSpPr>
        <p:spPr>
          <a:xfrm>
            <a:off x="471486" y="1529752"/>
            <a:ext cx="5915025" cy="5078313"/>
          </a:xfrm>
          <a:prstGeom prst="rect">
            <a:avLst/>
          </a:prstGeom>
          <a:noFill/>
        </p:spPr>
        <p:txBody>
          <a:bodyPr wrap="square">
            <a:spAutoFit/>
          </a:bodyPr>
          <a:lstStyle/>
          <a:p>
            <a:pPr algn="l"/>
            <a:r>
              <a:rPr lang="en-US" sz="2400" b="0" i="0" u="none" strike="noStrike" baseline="0" dirty="0">
                <a:latin typeface="GiovanniStd-Book"/>
              </a:rPr>
              <a:t>The scope of a local variable refers to the part of a program that can directly access that variable and is sometimes referred to as </a:t>
            </a:r>
            <a:r>
              <a:rPr lang="en-US" sz="2400" b="1" i="1" u="none" strike="noStrike" baseline="0" dirty="0">
                <a:latin typeface="GiovanniStd-BookItalic"/>
              </a:rPr>
              <a:t>local scope</a:t>
            </a:r>
            <a:r>
              <a:rPr lang="en-US" sz="2400" b="0" i="0" u="none" strike="noStrike" baseline="0" dirty="0">
                <a:latin typeface="GiovanniStd-Book"/>
              </a:rPr>
              <a:t>. Similarly, global identifiers declared at the beginning of your program, outside of the body of all the functions, are sometimes referred to as having </a:t>
            </a:r>
            <a:r>
              <a:rPr lang="en-US" sz="2400" b="1" i="1" u="none" strike="noStrike" baseline="0" dirty="0">
                <a:latin typeface="GiovanniStd-BookItalic"/>
              </a:rPr>
              <a:t>global scope</a:t>
            </a:r>
            <a:r>
              <a:rPr lang="en-US" sz="2400" b="0" i="0" u="none" strike="noStrike" baseline="0" dirty="0">
                <a:latin typeface="GiovanniStd-Book"/>
              </a:rPr>
              <a:t>. Despite their differences, local and global identifiers are really examples of </a:t>
            </a:r>
            <a:r>
              <a:rPr lang="en-US" sz="2400" b="1" i="1" u="none" strike="noStrike" baseline="0" dirty="0">
                <a:latin typeface="GiovanniStd-BookItalic"/>
              </a:rPr>
              <a:t>block scope</a:t>
            </a:r>
            <a:r>
              <a:rPr lang="en-US" sz="2400" b="0" i="1" u="none" strike="noStrike" baseline="0" dirty="0">
                <a:latin typeface="GiovanniStd-BookItalic"/>
              </a:rPr>
              <a:t>.</a:t>
            </a:r>
          </a:p>
          <a:p>
            <a:pPr algn="l"/>
            <a:endParaRPr lang="en-US" sz="2400" b="0" i="1" u="none" strike="noStrike" baseline="0" dirty="0">
              <a:latin typeface="GiovanniStd-BookItalic"/>
            </a:endParaRPr>
          </a:p>
          <a:p>
            <a:r>
              <a:rPr lang="en-US" sz="2400" b="1" i="1" dirty="0">
                <a:latin typeface="GiovanniStd-BookItalic"/>
              </a:rPr>
              <a:t>Block scope </a:t>
            </a:r>
            <a:r>
              <a:rPr lang="en-US" sz="2400" i="1" dirty="0">
                <a:latin typeface="GiovanniStd-BookItalic"/>
              </a:rPr>
              <a:t>is defined by using the opening and closing curly brackets { }.</a:t>
            </a:r>
          </a:p>
          <a:p>
            <a:pPr algn="l"/>
            <a:endParaRPr lang="en-US" i="1" dirty="0">
              <a:latin typeface="GiovanniStd-BookItalic"/>
            </a:endParaRPr>
          </a:p>
          <a:p>
            <a:pPr algn="l"/>
            <a:endParaRPr lang="en-ZA" dirty="0"/>
          </a:p>
        </p:txBody>
      </p:sp>
    </p:spTree>
    <p:extLst>
      <p:ext uri="{BB962C8B-B14F-4D97-AF65-F5344CB8AC3E}">
        <p14:creationId xmlns:p14="http://schemas.microsoft.com/office/powerpoint/2010/main" val="22452041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D244-8CC3-6474-674C-698BC200E3E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59953B5-3F59-E432-0F54-67D5A6626D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F4ABFD1-35D3-B012-6AC8-022E3799DBEE}"/>
              </a:ext>
            </a:extLst>
          </p:cNvPr>
          <p:cNvSpPr txBox="1"/>
          <p:nvPr/>
        </p:nvSpPr>
        <p:spPr>
          <a:xfrm>
            <a:off x="0" y="65927"/>
            <a:ext cx="6858000" cy="646331"/>
          </a:xfrm>
          <a:prstGeom prst="rect">
            <a:avLst/>
          </a:prstGeom>
          <a:noFill/>
        </p:spPr>
        <p:txBody>
          <a:bodyPr wrap="square" rtlCol="0">
            <a:spAutoFit/>
          </a:bodyPr>
          <a:lstStyle/>
          <a:p>
            <a:pPr algn="ctr"/>
            <a:r>
              <a:rPr lang="en-ZA" sz="3600" b="1" dirty="0"/>
              <a:t>Block Scope</a:t>
            </a:r>
          </a:p>
        </p:txBody>
      </p:sp>
      <p:sp>
        <p:nvSpPr>
          <p:cNvPr id="2" name="Content Placeholder 2">
            <a:extLst>
              <a:ext uri="{FF2B5EF4-FFF2-40B4-BE49-F238E27FC236}">
                <a16:creationId xmlns:a16="http://schemas.microsoft.com/office/drawing/2014/main" id="{4AC660AC-60A3-CD6A-6B22-5D2D97821EC6}"/>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ED15D409-3B70-CD69-C8AE-326689A188D4}"/>
              </a:ext>
            </a:extLst>
          </p:cNvPr>
          <p:cNvSpPr txBox="1"/>
          <p:nvPr/>
        </p:nvSpPr>
        <p:spPr>
          <a:xfrm>
            <a:off x="471486" y="1690777"/>
            <a:ext cx="5915025" cy="461665"/>
          </a:xfrm>
          <a:prstGeom prst="rect">
            <a:avLst/>
          </a:prstGeom>
          <a:noFill/>
        </p:spPr>
        <p:txBody>
          <a:bodyPr wrap="square">
            <a:spAutoFit/>
          </a:bodyPr>
          <a:lstStyle/>
          <a:p>
            <a:pPr algn="l"/>
            <a:r>
              <a:rPr lang="en-US" sz="2400" i="1" dirty="0">
                <a:latin typeface="GiovanniStd-BookItalic"/>
              </a:rPr>
              <a:t>Example of Block, Local and Global Scope:</a:t>
            </a:r>
          </a:p>
        </p:txBody>
      </p:sp>
      <p:pic>
        <p:nvPicPr>
          <p:cNvPr id="10" name="Picture 9">
            <a:extLst>
              <a:ext uri="{FF2B5EF4-FFF2-40B4-BE49-F238E27FC236}">
                <a16:creationId xmlns:a16="http://schemas.microsoft.com/office/drawing/2014/main" id="{93B3DA1E-40AA-CCF3-61D3-951685FBA007}"/>
              </a:ext>
            </a:extLst>
          </p:cNvPr>
          <p:cNvPicPr>
            <a:picLocks noChangeAspect="1"/>
          </p:cNvPicPr>
          <p:nvPr/>
        </p:nvPicPr>
        <p:blipFill>
          <a:blip r:embed="rId3"/>
          <a:stretch>
            <a:fillRect/>
          </a:stretch>
        </p:blipFill>
        <p:spPr>
          <a:xfrm>
            <a:off x="0" y="2298032"/>
            <a:ext cx="6858000" cy="6845633"/>
          </a:xfrm>
          <a:prstGeom prst="rect">
            <a:avLst/>
          </a:prstGeom>
        </p:spPr>
      </p:pic>
    </p:spTree>
    <p:extLst>
      <p:ext uri="{BB962C8B-B14F-4D97-AF65-F5344CB8AC3E}">
        <p14:creationId xmlns:p14="http://schemas.microsoft.com/office/powerpoint/2010/main" val="1704376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4773-E9E3-3FBA-79D4-D9817AECDD2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3D83440-89F6-25C4-D13A-0FD982FA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DCD652E-2746-7C9B-59C0-7958A94710A2}"/>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5E437C82-190F-7705-9514-06548482BB25}"/>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9B06BC4A-B395-3FF6-867F-10459FA390D9}"/>
              </a:ext>
            </a:extLst>
          </p:cNvPr>
          <p:cNvSpPr txBox="1"/>
          <p:nvPr/>
        </p:nvSpPr>
        <p:spPr>
          <a:xfrm>
            <a:off x="471486" y="1529752"/>
            <a:ext cx="5915025" cy="7017306"/>
          </a:xfrm>
          <a:prstGeom prst="rect">
            <a:avLst/>
          </a:prstGeom>
          <a:noFill/>
        </p:spPr>
        <p:txBody>
          <a:bodyPr wrap="square">
            <a:spAutoFit/>
          </a:bodyPr>
          <a:lstStyle/>
          <a:p>
            <a:r>
              <a:rPr lang="en-US" sz="2400" b="1" dirty="0">
                <a:cs typeface="Arial" panose="020B0604020202020204" pitchFamily="34" charset="0"/>
              </a:rPr>
              <a:t>Function overloading </a:t>
            </a:r>
            <a:r>
              <a:rPr lang="en-US" sz="2400" dirty="0">
                <a:cs typeface="Arial" panose="020B0604020202020204" pitchFamily="34" charset="0"/>
              </a:rPr>
              <a:t>a way of creating several functions with the same name.</a:t>
            </a:r>
            <a:endParaRPr lang="en-US" sz="2400" i="1" dirty="0">
              <a:cs typeface="Arial" panose="020B0604020202020204" pitchFamily="34" charset="0"/>
            </a:endParaRPr>
          </a:p>
          <a:p>
            <a:pPr algn="l"/>
            <a:endParaRPr lang="en-ZA" sz="2400" dirty="0">
              <a:cs typeface="Arial" panose="020B0604020202020204" pitchFamily="34" charset="0"/>
            </a:endParaRPr>
          </a:p>
          <a:p>
            <a:r>
              <a:rPr lang="en-US" sz="2400" dirty="0">
                <a:cs typeface="Arial" panose="020B0604020202020204" pitchFamily="34" charset="0"/>
              </a:rPr>
              <a:t>If a function’s name is overloaded, then all of the functions in the set have the same name. Therefore, all the functions in the overloaded set must have different formal </a:t>
            </a:r>
            <a:r>
              <a:rPr lang="en-ZA" sz="2400" dirty="0">
                <a:cs typeface="Arial" panose="020B0604020202020204" pitchFamily="34" charset="0"/>
              </a:rPr>
              <a:t>parameter lists.</a:t>
            </a:r>
          </a:p>
          <a:p>
            <a:endParaRPr lang="en-ZA" sz="2400" dirty="0">
              <a:cs typeface="Arial" panose="020B0604020202020204" pitchFamily="34" charset="0"/>
            </a:endParaRPr>
          </a:p>
          <a:p>
            <a:r>
              <a:rPr lang="en-US" sz="2400" dirty="0">
                <a:cs typeface="Arial" panose="020B0604020202020204" pitchFamily="34" charset="0"/>
              </a:rPr>
              <a:t>Two functions are said to have </a:t>
            </a:r>
            <a:r>
              <a:rPr lang="en-US" sz="2400" b="1" dirty="0">
                <a:cs typeface="Arial" panose="020B0604020202020204" pitchFamily="34" charset="0"/>
              </a:rPr>
              <a:t>different formal parameter lists </a:t>
            </a:r>
            <a:r>
              <a:rPr lang="en-US" sz="2400" dirty="0">
                <a:cs typeface="Arial" panose="020B0604020202020204" pitchFamily="34" charset="0"/>
              </a:rPr>
              <a:t>if both functions have </a:t>
            </a:r>
          </a:p>
          <a:p>
            <a:pPr marL="342900" indent="-342900">
              <a:buFont typeface="Arial" panose="020B0604020202020204" pitchFamily="34" charset="0"/>
              <a:buChar char="•"/>
            </a:pPr>
            <a:r>
              <a:rPr lang="en-US" sz="2400" dirty="0">
                <a:cs typeface="Arial" panose="020B0604020202020204" pitchFamily="34" charset="0"/>
              </a:rPr>
              <a:t>A different number of formal parameters or</a:t>
            </a:r>
          </a:p>
          <a:p>
            <a:pPr marL="342900" indent="-342900">
              <a:buFont typeface="Arial" panose="020B0604020202020204" pitchFamily="34" charset="0"/>
              <a:buChar char="•"/>
            </a:pPr>
            <a:r>
              <a:rPr lang="en-US" sz="2400" dirty="0">
                <a:cs typeface="Arial" panose="020B0604020202020204" pitchFamily="34" charset="0"/>
              </a:rPr>
              <a:t>The same number of formal parameters and the data types of the formal parameters, in the order listed, differ in at least one position.</a:t>
            </a:r>
          </a:p>
          <a:p>
            <a:endParaRPr lang="en-US" sz="2400" dirty="0">
              <a:cs typeface="Arial" panose="020B0604020202020204" pitchFamily="34" charset="0"/>
            </a:endParaRPr>
          </a:p>
          <a:p>
            <a:pPr algn="l"/>
            <a:endParaRPr lang="en-ZA" dirty="0"/>
          </a:p>
        </p:txBody>
      </p:sp>
    </p:spTree>
    <p:extLst>
      <p:ext uri="{BB962C8B-B14F-4D97-AF65-F5344CB8AC3E}">
        <p14:creationId xmlns:p14="http://schemas.microsoft.com/office/powerpoint/2010/main" val="1090080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7AF8-A8CC-B9BF-D6D7-90E927C505F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0515315-AFB5-FE48-285F-04BF0466A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1EE644D-0A94-B625-743C-17259D733D01}"/>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028A1549-D4BA-8FD5-CAC7-302800B65C93}"/>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3956006E-5C83-09E6-9B3C-A2F615CCA261}"/>
              </a:ext>
            </a:extLst>
          </p:cNvPr>
          <p:cNvSpPr txBox="1"/>
          <p:nvPr/>
        </p:nvSpPr>
        <p:spPr>
          <a:xfrm>
            <a:off x="435211" y="1118235"/>
            <a:ext cx="5915025" cy="4924425"/>
          </a:xfrm>
          <a:prstGeom prst="rect">
            <a:avLst/>
          </a:prstGeom>
          <a:noFill/>
        </p:spPr>
        <p:txBody>
          <a:bodyPr wrap="square">
            <a:spAutoFit/>
          </a:bodyPr>
          <a:lstStyle/>
          <a:p>
            <a:r>
              <a:rPr lang="en-US" sz="2400" dirty="0">
                <a:solidFill>
                  <a:srgbClr val="211808"/>
                </a:solidFill>
                <a:cs typeface="Arial" panose="020B0604020202020204" pitchFamily="34" charset="0"/>
              </a:rPr>
              <a:t>For example, consider the following function headings:</a:t>
            </a:r>
          </a:p>
          <a:p>
            <a:endParaRPr lang="en-US" sz="2400" dirty="0">
              <a:solidFill>
                <a:srgbClr val="211808"/>
              </a:solidFill>
              <a:cs typeface="Arial" panose="020B0604020202020204" pitchFamily="34" charset="0"/>
            </a:endParaRPr>
          </a:p>
          <a:p>
            <a:r>
              <a:rPr lang="en-ZA" sz="2000" b="1" dirty="0">
                <a:solidFill>
                  <a:srgbClr val="00B0F0"/>
                </a:solidFill>
                <a:latin typeface="CourierStd-Bold"/>
              </a:rPr>
              <a:t>void</a:t>
            </a:r>
            <a:r>
              <a:rPr lang="en-ZA" sz="2000" b="1" dirty="0">
                <a:solidFill>
                  <a:srgbClr val="6A8899"/>
                </a:solidFill>
                <a:latin typeface="CourierStd-Bold"/>
              </a:rPr>
              <a:t> </a:t>
            </a:r>
            <a:r>
              <a:rPr lang="en-ZA" sz="2000" b="1" dirty="0" err="1">
                <a:solidFill>
                  <a:srgbClr val="211808"/>
                </a:solidFill>
                <a:latin typeface="CourierStd-Bold"/>
              </a:rPr>
              <a:t>functionOne</a:t>
            </a:r>
            <a:r>
              <a:rPr lang="en-ZA" sz="2000" b="1" dirty="0">
                <a:solidFill>
                  <a:srgbClr val="211808"/>
                </a:solidFill>
                <a:latin typeface="CourierStd-Bold"/>
              </a:rPr>
              <a:t>(</a:t>
            </a:r>
            <a:r>
              <a:rPr lang="en-ZA" sz="2000" b="1" dirty="0">
                <a:solidFill>
                  <a:srgbClr val="00B0F0"/>
                </a:solidFill>
                <a:latin typeface="CourierStd-Bold"/>
              </a:rPr>
              <a:t>int</a:t>
            </a:r>
            <a:r>
              <a:rPr lang="en-ZA" sz="2000" b="1" dirty="0">
                <a:solidFill>
                  <a:srgbClr val="6A8899"/>
                </a:solidFill>
                <a:latin typeface="CourierStd-Bold"/>
              </a:rPr>
              <a:t> </a:t>
            </a:r>
            <a:r>
              <a:rPr lang="en-ZA" sz="2000" b="1" dirty="0">
                <a:solidFill>
                  <a:srgbClr val="211808"/>
                </a:solidFill>
                <a:latin typeface="CourierStd-Bold"/>
              </a:rPr>
              <a:t>x)</a:t>
            </a:r>
          </a:p>
          <a:p>
            <a:r>
              <a:rPr lang="en-ZA" sz="2000" b="1" dirty="0">
                <a:solidFill>
                  <a:srgbClr val="00B0F0"/>
                </a:solidFill>
                <a:latin typeface="CourierStd-Bold"/>
              </a:rPr>
              <a:t>void</a:t>
            </a:r>
            <a:r>
              <a:rPr lang="en-ZA" sz="2000" b="1" dirty="0">
                <a:solidFill>
                  <a:srgbClr val="6A8899"/>
                </a:solidFill>
                <a:latin typeface="CourierStd-Bold"/>
              </a:rPr>
              <a:t> </a:t>
            </a:r>
            <a:r>
              <a:rPr lang="en-ZA" sz="2000" b="1" dirty="0" err="1">
                <a:solidFill>
                  <a:srgbClr val="211808"/>
                </a:solidFill>
                <a:latin typeface="CourierStd-Bold"/>
              </a:rPr>
              <a:t>functionTwo</a:t>
            </a:r>
            <a:r>
              <a:rPr lang="en-ZA" sz="2000" b="1" dirty="0">
                <a:solidFill>
                  <a:srgbClr val="211808"/>
                </a:solidFill>
                <a:latin typeface="CourierStd-Bold"/>
              </a:rPr>
              <a:t>(</a:t>
            </a:r>
            <a:r>
              <a:rPr lang="en-ZA" sz="2000" b="1" dirty="0">
                <a:solidFill>
                  <a:srgbClr val="00B0F0"/>
                </a:solidFill>
                <a:latin typeface="CourierStd-Bold"/>
              </a:rPr>
              <a:t>int</a:t>
            </a:r>
            <a:r>
              <a:rPr lang="en-ZA" sz="2000" b="1" dirty="0">
                <a:solidFill>
                  <a:srgbClr val="6A8899"/>
                </a:solidFill>
                <a:latin typeface="CourierStd-Bold"/>
              </a:rPr>
              <a:t> </a:t>
            </a:r>
            <a:r>
              <a:rPr lang="en-ZA" sz="2000" b="1" dirty="0">
                <a:solidFill>
                  <a:srgbClr val="211808"/>
                </a:solidFill>
                <a:latin typeface="CourierStd-Bold"/>
              </a:rPr>
              <a:t>x, </a:t>
            </a:r>
            <a:r>
              <a:rPr lang="en-ZA" sz="2000" b="1" dirty="0">
                <a:solidFill>
                  <a:srgbClr val="00B0F0"/>
                </a:solidFill>
                <a:latin typeface="CourierStd-Bold"/>
              </a:rPr>
              <a:t>double</a:t>
            </a:r>
            <a:r>
              <a:rPr lang="en-ZA" sz="2000" b="1" dirty="0">
                <a:solidFill>
                  <a:srgbClr val="6A8899"/>
                </a:solidFill>
                <a:latin typeface="CourierStd-Bold"/>
              </a:rPr>
              <a:t> </a:t>
            </a:r>
            <a:r>
              <a:rPr lang="en-ZA" sz="2000" b="1" dirty="0">
                <a:solidFill>
                  <a:srgbClr val="211808"/>
                </a:solidFill>
                <a:latin typeface="CourierStd-Bold"/>
              </a:rPr>
              <a:t>y)</a:t>
            </a:r>
          </a:p>
          <a:p>
            <a:r>
              <a:rPr lang="en-US" sz="2000" b="1" dirty="0">
                <a:solidFill>
                  <a:srgbClr val="00B0F0"/>
                </a:solidFill>
                <a:latin typeface="CourierStd-Bold"/>
              </a:rPr>
              <a:t>void</a:t>
            </a:r>
            <a:r>
              <a:rPr lang="en-US" sz="2000" b="1" dirty="0">
                <a:solidFill>
                  <a:srgbClr val="6A8899"/>
                </a:solidFill>
                <a:latin typeface="CourierStd-Bold"/>
              </a:rPr>
              <a:t> </a:t>
            </a:r>
            <a:r>
              <a:rPr lang="en-US" sz="2000" b="1" dirty="0" err="1">
                <a:solidFill>
                  <a:srgbClr val="211808"/>
                </a:solidFill>
                <a:latin typeface="CourierStd-Bold"/>
              </a:rPr>
              <a:t>functionThree</a:t>
            </a:r>
            <a:r>
              <a:rPr lang="en-US" sz="2000" b="1" dirty="0">
                <a:solidFill>
                  <a:srgbClr val="211808"/>
                </a:solidFill>
                <a:latin typeface="CourierStd-Bold"/>
              </a:rPr>
              <a:t>(</a:t>
            </a:r>
            <a:r>
              <a:rPr lang="en-US" sz="2000" b="1" dirty="0">
                <a:solidFill>
                  <a:srgbClr val="00B0F0"/>
                </a:solidFill>
                <a:latin typeface="CourierStd-Bold"/>
              </a:rPr>
              <a:t>double</a:t>
            </a:r>
            <a:r>
              <a:rPr lang="en-US" sz="2000" b="1" dirty="0">
                <a:solidFill>
                  <a:srgbClr val="6A8899"/>
                </a:solidFill>
                <a:latin typeface="CourierStd-Bold"/>
              </a:rPr>
              <a:t> </a:t>
            </a:r>
            <a:r>
              <a:rPr lang="en-US" sz="2000" b="1" dirty="0">
                <a:solidFill>
                  <a:srgbClr val="211808"/>
                </a:solidFill>
                <a:latin typeface="CourierStd-Bold"/>
              </a:rPr>
              <a:t>y, </a:t>
            </a:r>
            <a:r>
              <a:rPr lang="en-US" sz="2000" b="1" dirty="0">
                <a:solidFill>
                  <a:srgbClr val="00B0F0"/>
                </a:solidFill>
                <a:latin typeface="CourierStd-Bold"/>
              </a:rPr>
              <a:t>int</a:t>
            </a:r>
            <a:r>
              <a:rPr lang="en-US" sz="2000" b="1" dirty="0">
                <a:solidFill>
                  <a:srgbClr val="6A8899"/>
                </a:solidFill>
                <a:latin typeface="CourierStd-Bold"/>
              </a:rPr>
              <a:t> </a:t>
            </a:r>
            <a:r>
              <a:rPr lang="en-US" sz="2000" b="1" dirty="0">
                <a:solidFill>
                  <a:srgbClr val="211808"/>
                </a:solidFill>
                <a:latin typeface="CourierStd-Bold"/>
              </a:rPr>
              <a:t>x)</a:t>
            </a:r>
          </a:p>
          <a:p>
            <a:r>
              <a:rPr lang="fr-FR" sz="2000" b="1" dirty="0" err="1">
                <a:solidFill>
                  <a:srgbClr val="00B0F0"/>
                </a:solidFill>
                <a:latin typeface="CourierStd-Bold"/>
              </a:rPr>
              <a:t>int</a:t>
            </a:r>
            <a:r>
              <a:rPr lang="fr-FR" sz="2000" b="1" dirty="0">
                <a:solidFill>
                  <a:srgbClr val="6A8899"/>
                </a:solidFill>
                <a:latin typeface="CourierStd-Bold"/>
              </a:rPr>
              <a:t> </a:t>
            </a:r>
            <a:r>
              <a:rPr lang="fr-FR" sz="2000" b="1" dirty="0" err="1">
                <a:solidFill>
                  <a:srgbClr val="211808"/>
                </a:solidFill>
                <a:latin typeface="CourierStd-Bold"/>
              </a:rPr>
              <a:t>functionFour</a:t>
            </a:r>
            <a:r>
              <a:rPr lang="fr-FR" sz="2000" b="1" dirty="0">
                <a:solidFill>
                  <a:srgbClr val="211808"/>
                </a:solidFill>
                <a:latin typeface="CourierStd-Bold"/>
              </a:rPr>
              <a:t>(</a:t>
            </a:r>
            <a:r>
              <a:rPr lang="fr-FR" sz="2000" b="1" dirty="0">
                <a:solidFill>
                  <a:srgbClr val="00B0F0"/>
                </a:solidFill>
                <a:latin typeface="CourierStd-Bold"/>
              </a:rPr>
              <a:t>char</a:t>
            </a:r>
            <a:r>
              <a:rPr lang="fr-FR" sz="2000" b="1" dirty="0">
                <a:solidFill>
                  <a:srgbClr val="6A8899"/>
                </a:solidFill>
                <a:latin typeface="CourierStd-Bold"/>
              </a:rPr>
              <a:t> </a:t>
            </a:r>
            <a:r>
              <a:rPr lang="fr-FR" sz="2000" b="1" dirty="0" err="1">
                <a:solidFill>
                  <a:srgbClr val="211808"/>
                </a:solidFill>
                <a:latin typeface="CourierStd-Bold"/>
              </a:rPr>
              <a:t>ch</a:t>
            </a:r>
            <a:r>
              <a:rPr lang="fr-FR" sz="2000" b="1" dirty="0">
                <a:solidFill>
                  <a:srgbClr val="211808"/>
                </a:solidFill>
                <a:latin typeface="CourierStd-Bold"/>
              </a:rPr>
              <a:t>, </a:t>
            </a:r>
            <a:r>
              <a:rPr lang="fr-FR" sz="2000" b="1" dirty="0" err="1">
                <a:solidFill>
                  <a:srgbClr val="00B0F0"/>
                </a:solidFill>
                <a:latin typeface="CourierStd-Bold"/>
              </a:rPr>
              <a:t>int</a:t>
            </a:r>
            <a:r>
              <a:rPr lang="fr-FR" sz="2000" b="1" dirty="0">
                <a:solidFill>
                  <a:srgbClr val="6A8899"/>
                </a:solidFill>
                <a:latin typeface="CourierStd-Bold"/>
              </a:rPr>
              <a:t> </a:t>
            </a:r>
            <a:r>
              <a:rPr lang="fr-FR" sz="2000" b="1" dirty="0">
                <a:solidFill>
                  <a:srgbClr val="211808"/>
                </a:solidFill>
                <a:latin typeface="CourierStd-Bold"/>
              </a:rPr>
              <a:t>x, </a:t>
            </a:r>
            <a:r>
              <a:rPr lang="fr-FR" sz="2000" b="1" dirty="0">
                <a:solidFill>
                  <a:srgbClr val="00B0F0"/>
                </a:solidFill>
                <a:latin typeface="CourierStd-Bold"/>
              </a:rPr>
              <a:t>double</a:t>
            </a:r>
            <a:r>
              <a:rPr lang="fr-FR" sz="2000" b="1" dirty="0">
                <a:solidFill>
                  <a:srgbClr val="6A8899"/>
                </a:solidFill>
                <a:latin typeface="CourierStd-Bold"/>
              </a:rPr>
              <a:t> </a:t>
            </a:r>
            <a:r>
              <a:rPr lang="fr-FR" sz="2000" b="1" dirty="0">
                <a:solidFill>
                  <a:srgbClr val="211808"/>
                </a:solidFill>
                <a:latin typeface="CourierStd-Bold"/>
              </a:rPr>
              <a:t>y)</a:t>
            </a:r>
          </a:p>
          <a:p>
            <a:r>
              <a:rPr lang="en-US" sz="2000" b="1" dirty="0">
                <a:solidFill>
                  <a:srgbClr val="6A8899"/>
                </a:solidFill>
                <a:latin typeface="CourierStd-Bold"/>
              </a:rPr>
              <a:t>int </a:t>
            </a:r>
            <a:r>
              <a:rPr lang="en-US" sz="2000" b="1" dirty="0" err="1">
                <a:solidFill>
                  <a:srgbClr val="211808"/>
                </a:solidFill>
                <a:latin typeface="CourierStd-Bold"/>
              </a:rPr>
              <a:t>functionFive</a:t>
            </a:r>
            <a:r>
              <a:rPr lang="en-US" sz="2000" b="1" dirty="0">
                <a:solidFill>
                  <a:srgbClr val="211808"/>
                </a:solidFill>
                <a:latin typeface="CourierStd-Bold"/>
              </a:rPr>
              <a:t>(</a:t>
            </a:r>
            <a:r>
              <a:rPr lang="en-US" sz="2000" b="1" dirty="0">
                <a:solidFill>
                  <a:srgbClr val="00B0F0"/>
                </a:solidFill>
                <a:latin typeface="CourierStd-Bold"/>
              </a:rPr>
              <a:t>char</a:t>
            </a:r>
            <a:r>
              <a:rPr lang="en-US" sz="2000" b="1" dirty="0">
                <a:solidFill>
                  <a:srgbClr val="6A8899"/>
                </a:solidFill>
                <a:latin typeface="CourierStd-Bold"/>
              </a:rPr>
              <a:t> </a:t>
            </a:r>
            <a:r>
              <a:rPr lang="en-US" sz="2000" b="1" dirty="0" err="1">
                <a:solidFill>
                  <a:srgbClr val="211808"/>
                </a:solidFill>
                <a:latin typeface="CourierStd-Bold"/>
              </a:rPr>
              <a:t>ch</a:t>
            </a:r>
            <a:r>
              <a:rPr lang="en-US" sz="2000" b="1" dirty="0">
                <a:solidFill>
                  <a:srgbClr val="211808"/>
                </a:solidFill>
                <a:latin typeface="CourierStd-Bold"/>
              </a:rPr>
              <a:t>, </a:t>
            </a:r>
            <a:r>
              <a:rPr lang="en-US" sz="2000" b="1" dirty="0">
                <a:solidFill>
                  <a:srgbClr val="00B0F0"/>
                </a:solidFill>
                <a:latin typeface="CourierStd-Bold"/>
              </a:rPr>
              <a:t>int</a:t>
            </a:r>
            <a:r>
              <a:rPr lang="en-US" sz="2000" b="1" dirty="0">
                <a:solidFill>
                  <a:srgbClr val="6A8899"/>
                </a:solidFill>
                <a:latin typeface="CourierStd-Bold"/>
              </a:rPr>
              <a:t> </a:t>
            </a:r>
            <a:r>
              <a:rPr lang="en-US" sz="2000" b="1" dirty="0">
                <a:solidFill>
                  <a:srgbClr val="211808"/>
                </a:solidFill>
                <a:latin typeface="CourierStd-Bold"/>
              </a:rPr>
              <a:t>x, </a:t>
            </a:r>
            <a:r>
              <a:rPr lang="en-US" sz="2000" b="1" dirty="0">
                <a:solidFill>
                  <a:srgbClr val="00B0F0"/>
                </a:solidFill>
                <a:latin typeface="CourierStd-Bold"/>
              </a:rPr>
              <a:t>string</a:t>
            </a:r>
            <a:r>
              <a:rPr lang="en-US" sz="2000" b="1" dirty="0">
                <a:solidFill>
                  <a:srgbClr val="211808"/>
                </a:solidFill>
                <a:latin typeface="CourierStd-Bold"/>
              </a:rPr>
              <a:t> name)</a:t>
            </a:r>
            <a:endParaRPr lang="en-US" sz="2000" dirty="0">
              <a:solidFill>
                <a:srgbClr val="211808"/>
              </a:solidFill>
              <a:cs typeface="Arial" panose="020B0604020202020204" pitchFamily="34" charset="0"/>
            </a:endParaRPr>
          </a:p>
          <a:p>
            <a:pPr algn="l"/>
            <a:endParaRPr lang="en-US" b="1" dirty="0">
              <a:solidFill>
                <a:srgbClr val="211808"/>
              </a:solidFill>
              <a:latin typeface="CourierStd-Bold"/>
            </a:endParaRPr>
          </a:p>
          <a:p>
            <a:r>
              <a:rPr lang="en-US" sz="2400" dirty="0">
                <a:solidFill>
                  <a:srgbClr val="211808"/>
                </a:solidFill>
                <a:cs typeface="Arial" panose="020B0604020202020204" pitchFamily="34" charset="0"/>
              </a:rPr>
              <a:t>These functions all have different formal parameter lists.</a:t>
            </a:r>
          </a:p>
          <a:p>
            <a:endParaRPr lang="en-US" dirty="0"/>
          </a:p>
          <a:p>
            <a:endParaRPr lang="en-ZA" dirty="0"/>
          </a:p>
        </p:txBody>
      </p:sp>
    </p:spTree>
    <p:extLst>
      <p:ext uri="{BB962C8B-B14F-4D97-AF65-F5344CB8AC3E}">
        <p14:creationId xmlns:p14="http://schemas.microsoft.com/office/powerpoint/2010/main" val="41190929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BB66-8EC7-7A73-8711-6C7C4CD10EE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13EE95A-459A-A053-D0BE-1A4EFEAE4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274FFBF-930F-B6FE-FF35-B32129AC8F58}"/>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C4A2092B-255B-E2FB-F2FA-392B2DA4F594}"/>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97D712B8-A058-A3FD-597C-85BE329FF3C3}"/>
              </a:ext>
            </a:extLst>
          </p:cNvPr>
          <p:cNvSpPr txBox="1"/>
          <p:nvPr/>
        </p:nvSpPr>
        <p:spPr>
          <a:xfrm>
            <a:off x="435211" y="1118235"/>
            <a:ext cx="5915025" cy="6401753"/>
          </a:xfrm>
          <a:prstGeom prst="rect">
            <a:avLst/>
          </a:prstGeom>
          <a:noFill/>
        </p:spPr>
        <p:txBody>
          <a:bodyPr wrap="square">
            <a:spAutoFit/>
          </a:bodyPr>
          <a:lstStyle/>
          <a:p>
            <a:r>
              <a:rPr lang="en-US" sz="2400" dirty="0">
                <a:solidFill>
                  <a:srgbClr val="211808"/>
                </a:solidFill>
                <a:cs typeface="Arial" panose="020B0604020202020204" pitchFamily="34" charset="0"/>
              </a:rPr>
              <a:t>Now consider the following function headings:</a:t>
            </a:r>
          </a:p>
          <a:p>
            <a:endParaRPr lang="en-US" sz="2400" dirty="0">
              <a:solidFill>
                <a:srgbClr val="211808"/>
              </a:solidFill>
              <a:cs typeface="Arial" panose="020B0604020202020204" pitchFamily="34" charset="0"/>
            </a:endParaRPr>
          </a:p>
          <a:p>
            <a:r>
              <a:rPr lang="en-ZA" sz="2000" b="1" dirty="0">
                <a:solidFill>
                  <a:srgbClr val="00B0F0"/>
                </a:solidFill>
                <a:latin typeface="CourierStd-Bold"/>
              </a:rPr>
              <a:t>void</a:t>
            </a:r>
            <a:r>
              <a:rPr lang="en-ZA" sz="2000" b="1" dirty="0">
                <a:solidFill>
                  <a:srgbClr val="6A8899"/>
                </a:solidFill>
                <a:latin typeface="CourierStd-Bold"/>
              </a:rPr>
              <a:t> </a:t>
            </a:r>
            <a:r>
              <a:rPr lang="en-ZA" sz="2000" b="1" dirty="0" err="1">
                <a:solidFill>
                  <a:srgbClr val="211808"/>
                </a:solidFill>
                <a:latin typeface="CourierStd-Bold"/>
              </a:rPr>
              <a:t>functionSix</a:t>
            </a:r>
            <a:r>
              <a:rPr lang="en-ZA" sz="2000" b="1" dirty="0">
                <a:solidFill>
                  <a:srgbClr val="211808"/>
                </a:solidFill>
                <a:latin typeface="CourierStd-Bold"/>
              </a:rPr>
              <a:t>(</a:t>
            </a:r>
            <a:r>
              <a:rPr lang="en-ZA" sz="2000" b="1" dirty="0">
                <a:solidFill>
                  <a:srgbClr val="00B0F0"/>
                </a:solidFill>
                <a:latin typeface="CourierStd-Bold"/>
              </a:rPr>
              <a:t>int</a:t>
            </a:r>
            <a:r>
              <a:rPr lang="en-ZA" sz="2000" b="1" dirty="0">
                <a:solidFill>
                  <a:srgbClr val="6A8899"/>
                </a:solidFill>
                <a:latin typeface="CourierStd-Bold"/>
              </a:rPr>
              <a:t> </a:t>
            </a:r>
            <a:r>
              <a:rPr lang="en-ZA" sz="2000" b="1" dirty="0">
                <a:solidFill>
                  <a:srgbClr val="211808"/>
                </a:solidFill>
                <a:latin typeface="CourierStd-Bold"/>
              </a:rPr>
              <a:t>x, </a:t>
            </a:r>
            <a:r>
              <a:rPr lang="en-ZA" sz="2000" b="1" dirty="0">
                <a:solidFill>
                  <a:srgbClr val="00B0F0"/>
                </a:solidFill>
                <a:latin typeface="CourierStd-Bold"/>
              </a:rPr>
              <a:t>double</a:t>
            </a:r>
            <a:r>
              <a:rPr lang="en-ZA" sz="2000" b="1" dirty="0">
                <a:solidFill>
                  <a:srgbClr val="6A8899"/>
                </a:solidFill>
                <a:latin typeface="CourierStd-Bold"/>
              </a:rPr>
              <a:t> </a:t>
            </a:r>
            <a:r>
              <a:rPr lang="en-ZA" sz="2000" b="1" dirty="0">
                <a:solidFill>
                  <a:srgbClr val="211808"/>
                </a:solidFill>
                <a:latin typeface="CourierStd-Bold"/>
              </a:rPr>
              <a:t>y, </a:t>
            </a:r>
            <a:r>
              <a:rPr lang="en-ZA" sz="2000" b="1" dirty="0">
                <a:solidFill>
                  <a:srgbClr val="00B0F0"/>
                </a:solidFill>
                <a:latin typeface="CourierStd-Bold"/>
              </a:rPr>
              <a:t>char</a:t>
            </a:r>
            <a:r>
              <a:rPr lang="en-ZA" sz="2000" b="1" dirty="0">
                <a:solidFill>
                  <a:srgbClr val="6A8899"/>
                </a:solidFill>
                <a:latin typeface="CourierStd-Bold"/>
              </a:rPr>
              <a:t> </a:t>
            </a:r>
            <a:r>
              <a:rPr lang="en-ZA" sz="2000" b="1" dirty="0" err="1">
                <a:solidFill>
                  <a:srgbClr val="211808"/>
                </a:solidFill>
                <a:latin typeface="CourierStd-Bold"/>
              </a:rPr>
              <a:t>ch</a:t>
            </a:r>
            <a:r>
              <a:rPr lang="en-ZA" sz="2000" b="1" dirty="0">
                <a:solidFill>
                  <a:srgbClr val="211808"/>
                </a:solidFill>
                <a:latin typeface="CourierStd-Bold"/>
              </a:rPr>
              <a:t>)</a:t>
            </a:r>
          </a:p>
          <a:p>
            <a:r>
              <a:rPr lang="en-US" sz="2000" b="1" dirty="0">
                <a:solidFill>
                  <a:srgbClr val="00B0F0"/>
                </a:solidFill>
                <a:latin typeface="CourierStd-Bold"/>
              </a:rPr>
              <a:t>void</a:t>
            </a:r>
            <a:r>
              <a:rPr lang="en-US" sz="2000" b="1" dirty="0">
                <a:solidFill>
                  <a:srgbClr val="6A8899"/>
                </a:solidFill>
                <a:latin typeface="CourierStd-Bold"/>
              </a:rPr>
              <a:t> </a:t>
            </a:r>
            <a:r>
              <a:rPr lang="en-US" sz="2000" b="1" dirty="0" err="1">
                <a:solidFill>
                  <a:srgbClr val="211808"/>
                </a:solidFill>
                <a:latin typeface="CourierStd-Bold"/>
              </a:rPr>
              <a:t>functionSeven</a:t>
            </a:r>
            <a:r>
              <a:rPr lang="en-US" sz="2000" b="1" dirty="0">
                <a:solidFill>
                  <a:srgbClr val="211808"/>
                </a:solidFill>
                <a:latin typeface="CourierStd-Bold"/>
              </a:rPr>
              <a:t>(</a:t>
            </a:r>
            <a:r>
              <a:rPr lang="en-US" sz="2000" b="1" dirty="0">
                <a:solidFill>
                  <a:srgbClr val="00B0F0"/>
                </a:solidFill>
                <a:latin typeface="CourierStd-Bold"/>
              </a:rPr>
              <a:t>int</a:t>
            </a:r>
            <a:r>
              <a:rPr lang="en-US" sz="2000" b="1" dirty="0">
                <a:solidFill>
                  <a:srgbClr val="6A8899"/>
                </a:solidFill>
                <a:latin typeface="CourierStd-Bold"/>
              </a:rPr>
              <a:t> </a:t>
            </a:r>
            <a:r>
              <a:rPr lang="en-US" sz="2000" b="1" dirty="0">
                <a:solidFill>
                  <a:srgbClr val="211808"/>
                </a:solidFill>
                <a:latin typeface="CourierStd-Bold"/>
              </a:rPr>
              <a:t>one, </a:t>
            </a:r>
            <a:r>
              <a:rPr lang="en-US" sz="2000" b="1" dirty="0">
                <a:solidFill>
                  <a:srgbClr val="00B0F0"/>
                </a:solidFill>
                <a:latin typeface="CourierStd-Bold"/>
              </a:rPr>
              <a:t>double</a:t>
            </a:r>
            <a:r>
              <a:rPr lang="en-US" sz="2000" b="1" dirty="0">
                <a:solidFill>
                  <a:srgbClr val="6A8899"/>
                </a:solidFill>
                <a:latin typeface="CourierStd-Bold"/>
              </a:rPr>
              <a:t> </a:t>
            </a:r>
            <a:r>
              <a:rPr lang="en-US" sz="2000" b="1" dirty="0">
                <a:solidFill>
                  <a:srgbClr val="211808"/>
                </a:solidFill>
                <a:latin typeface="CourierStd-Bold"/>
              </a:rPr>
              <a:t>u, </a:t>
            </a:r>
            <a:r>
              <a:rPr lang="en-US" sz="2000" b="1" dirty="0">
                <a:solidFill>
                  <a:srgbClr val="00B0F0"/>
                </a:solidFill>
                <a:latin typeface="CourierStd-Bold"/>
              </a:rPr>
              <a:t>char</a:t>
            </a:r>
            <a:r>
              <a:rPr lang="en-US" sz="2000" b="1" dirty="0">
                <a:solidFill>
                  <a:srgbClr val="6A8899"/>
                </a:solidFill>
                <a:latin typeface="CourierStd-Bold"/>
              </a:rPr>
              <a:t> </a:t>
            </a:r>
            <a:r>
              <a:rPr lang="en-US" sz="2000" b="1" dirty="0" err="1">
                <a:solidFill>
                  <a:srgbClr val="211808"/>
                </a:solidFill>
                <a:latin typeface="CourierStd-Bold"/>
              </a:rPr>
              <a:t>firstCh</a:t>
            </a:r>
            <a:r>
              <a:rPr lang="en-US" sz="2000" b="1" dirty="0">
                <a:solidFill>
                  <a:srgbClr val="211808"/>
                </a:solidFill>
                <a:latin typeface="CourierStd-Bold"/>
              </a:rPr>
              <a:t>)</a:t>
            </a:r>
          </a:p>
          <a:p>
            <a:endParaRPr lang="en-US" sz="2400" b="1" dirty="0">
              <a:solidFill>
                <a:srgbClr val="211808"/>
              </a:solidFill>
              <a:latin typeface="CourierStd-Bold"/>
            </a:endParaRPr>
          </a:p>
          <a:p>
            <a:r>
              <a:rPr lang="en-US" sz="2400" dirty="0"/>
              <a:t>The functions </a:t>
            </a:r>
            <a:r>
              <a:rPr lang="en-US" sz="2400" b="1" dirty="0" err="1"/>
              <a:t>functionSix</a:t>
            </a:r>
            <a:r>
              <a:rPr lang="en-US" sz="2400" b="1" dirty="0"/>
              <a:t> </a:t>
            </a:r>
            <a:r>
              <a:rPr lang="en-US" sz="2400" dirty="0"/>
              <a:t>and </a:t>
            </a:r>
            <a:r>
              <a:rPr lang="en-US" sz="2400" b="1" dirty="0" err="1"/>
              <a:t>functionSeven</a:t>
            </a:r>
            <a:r>
              <a:rPr lang="en-US" sz="2400" b="1" dirty="0"/>
              <a:t> </a:t>
            </a:r>
            <a:r>
              <a:rPr lang="en-US" sz="2400" dirty="0"/>
              <a:t>both have three formal parameters, and the data type of the corresponding parameters is the same. Therefore, these functions have the same formal parameter list. </a:t>
            </a:r>
          </a:p>
          <a:p>
            <a:endParaRPr lang="en-US" sz="2400" dirty="0"/>
          </a:p>
          <a:p>
            <a:r>
              <a:rPr lang="en-US" sz="2400" b="1" dirty="0">
                <a:highlight>
                  <a:srgbClr val="FFFF00"/>
                </a:highlight>
              </a:rPr>
              <a:t>Note that it is the </a:t>
            </a:r>
            <a:r>
              <a:rPr lang="en-US" sz="2400" b="1" i="1" dirty="0">
                <a:highlight>
                  <a:srgbClr val="FFFF00"/>
                </a:highlight>
              </a:rPr>
              <a:t>data types </a:t>
            </a:r>
            <a:r>
              <a:rPr lang="en-US" sz="2400" b="1" dirty="0">
                <a:highlight>
                  <a:srgbClr val="FFFF00"/>
                </a:highlight>
              </a:rPr>
              <a:t>and not the </a:t>
            </a:r>
            <a:r>
              <a:rPr lang="en-US" sz="2400" b="1" i="1" dirty="0">
                <a:highlight>
                  <a:srgbClr val="FFFF00"/>
                </a:highlight>
              </a:rPr>
              <a:t>parameter names </a:t>
            </a:r>
            <a:r>
              <a:rPr lang="en-US" sz="2400" b="1" dirty="0">
                <a:highlight>
                  <a:srgbClr val="FFFF00"/>
                </a:highlight>
              </a:rPr>
              <a:t>or the </a:t>
            </a:r>
            <a:r>
              <a:rPr lang="en-US" sz="2400" b="1" i="1" dirty="0">
                <a:highlight>
                  <a:srgbClr val="FFFF00"/>
                </a:highlight>
              </a:rPr>
              <a:t>return type </a:t>
            </a:r>
            <a:r>
              <a:rPr lang="en-US" sz="2400" b="1" dirty="0">
                <a:highlight>
                  <a:srgbClr val="FFFF00"/>
                </a:highlight>
              </a:rPr>
              <a:t>that are examined.</a:t>
            </a:r>
            <a:endParaRPr lang="en-US" b="1" dirty="0">
              <a:highlight>
                <a:srgbClr val="FFFF00"/>
              </a:highlight>
            </a:endParaRPr>
          </a:p>
          <a:p>
            <a:endParaRPr lang="en-ZA" dirty="0"/>
          </a:p>
        </p:txBody>
      </p:sp>
    </p:spTree>
    <p:extLst>
      <p:ext uri="{BB962C8B-B14F-4D97-AF65-F5344CB8AC3E}">
        <p14:creationId xmlns:p14="http://schemas.microsoft.com/office/powerpoint/2010/main" val="1798172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10D8D-49A8-8C01-AD55-0BF9061E25D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BC8FE3E-B60B-3EA3-48F8-EE80748E3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6E41F9C-2C86-2836-D709-F977057030B8}"/>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E80492B1-EBB0-8307-8847-D4B9E6570A35}"/>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04089B7A-D367-5C60-463F-737BF2C1C4D9}"/>
              </a:ext>
            </a:extLst>
          </p:cNvPr>
          <p:cNvSpPr txBox="1"/>
          <p:nvPr/>
        </p:nvSpPr>
        <p:spPr>
          <a:xfrm>
            <a:off x="435211" y="1118235"/>
            <a:ext cx="5915025" cy="5786199"/>
          </a:xfrm>
          <a:prstGeom prst="rect">
            <a:avLst/>
          </a:prstGeom>
          <a:noFill/>
        </p:spPr>
        <p:txBody>
          <a:bodyPr wrap="square">
            <a:spAutoFit/>
          </a:bodyPr>
          <a:lstStyle/>
          <a:p>
            <a:r>
              <a:rPr lang="en-US" sz="2400" dirty="0"/>
              <a:t>To overload a function name, any two definitions of the function must have different</a:t>
            </a:r>
          </a:p>
          <a:p>
            <a:r>
              <a:rPr lang="en-ZA" sz="2400" dirty="0"/>
              <a:t>formal parameter lists</a:t>
            </a:r>
            <a:r>
              <a:rPr lang="en-US" sz="2400" dirty="0"/>
              <a:t>:</a:t>
            </a:r>
          </a:p>
          <a:p>
            <a:endParaRPr lang="en-US" sz="2400" dirty="0"/>
          </a:p>
          <a:p>
            <a:pPr algn="l"/>
            <a:r>
              <a:rPr lang="en-US" sz="2400" dirty="0"/>
              <a:t>If a function’s name is overloaded, then all of the functions in the set have the same name. Therefore, all the functions in the overloaded set must have different formal parameter lists. Thus, the following function headings correctly overload the function </a:t>
            </a:r>
            <a:r>
              <a:rPr lang="en-ZA" sz="2000" b="1" dirty="0" err="1">
                <a:solidFill>
                  <a:srgbClr val="211808"/>
                </a:solidFill>
                <a:latin typeface="CourierStd-Bold"/>
              </a:rPr>
              <a:t>functionXYZ</a:t>
            </a:r>
            <a:r>
              <a:rPr lang="en-ZA" sz="2000" b="0" i="0" u="none" strike="noStrike" baseline="0" dirty="0">
                <a:solidFill>
                  <a:srgbClr val="211808"/>
                </a:solidFill>
              </a:rPr>
              <a:t>:</a:t>
            </a:r>
          </a:p>
          <a:p>
            <a:pPr algn="l"/>
            <a:endParaRPr lang="en-ZA" sz="2000" b="0" i="0" u="none" strike="noStrike" baseline="0" dirty="0">
              <a:solidFill>
                <a:srgbClr val="211808"/>
              </a:solidFill>
            </a:endParaRPr>
          </a:p>
          <a:p>
            <a:pPr algn="l"/>
            <a:r>
              <a:rPr lang="en-ZA" sz="2000" b="1" dirty="0">
                <a:solidFill>
                  <a:srgbClr val="00B0F0"/>
                </a:solidFill>
                <a:latin typeface="CourierStd-Bold"/>
              </a:rPr>
              <a:t>void</a:t>
            </a:r>
            <a:r>
              <a:rPr lang="en-ZA" sz="2000" b="1" i="0" u="none" strike="noStrike" baseline="0" dirty="0">
                <a:solidFill>
                  <a:srgbClr val="6A8899"/>
                </a:solidFill>
              </a:rPr>
              <a:t> </a:t>
            </a:r>
            <a:r>
              <a:rPr lang="en-ZA" sz="2000" b="1" dirty="0" err="1">
                <a:solidFill>
                  <a:srgbClr val="211808"/>
                </a:solidFill>
                <a:latin typeface="CourierStd-Bold"/>
              </a:rPr>
              <a:t>functionXYZ</a:t>
            </a:r>
            <a:r>
              <a:rPr lang="en-ZA" sz="2000" b="1" i="0" u="none" strike="noStrike" baseline="0" dirty="0">
                <a:solidFill>
                  <a:srgbClr val="211808"/>
                </a:solidFill>
              </a:rPr>
              <a:t>()</a:t>
            </a:r>
          </a:p>
          <a:p>
            <a:pPr algn="l"/>
            <a:r>
              <a:rPr lang="fr-FR" sz="2000" b="1" dirty="0" err="1">
                <a:solidFill>
                  <a:srgbClr val="00B0F0"/>
                </a:solidFill>
                <a:latin typeface="CourierStd-Bold"/>
              </a:rPr>
              <a:t>void</a:t>
            </a:r>
            <a:r>
              <a:rPr lang="fr-FR" sz="2000" b="1" i="0" u="none" strike="noStrike" baseline="0" dirty="0">
                <a:solidFill>
                  <a:srgbClr val="6A8899"/>
                </a:solidFill>
              </a:rPr>
              <a:t> </a:t>
            </a:r>
            <a:r>
              <a:rPr lang="fr-FR" sz="2000" b="1" dirty="0" err="1">
                <a:solidFill>
                  <a:srgbClr val="211808"/>
                </a:solidFill>
                <a:latin typeface="CourierStd-Bold"/>
              </a:rPr>
              <a:t>functionXYZ</a:t>
            </a:r>
            <a:r>
              <a:rPr lang="fr-FR" sz="2000" b="1" i="0" u="none" strike="noStrike" baseline="0" dirty="0">
                <a:solidFill>
                  <a:srgbClr val="211808"/>
                </a:solidFill>
              </a:rPr>
              <a:t>(</a:t>
            </a:r>
            <a:r>
              <a:rPr lang="fr-FR" sz="2000" b="1" dirty="0" err="1">
                <a:solidFill>
                  <a:srgbClr val="00B0F0"/>
                </a:solidFill>
                <a:latin typeface="CourierStd-Bold"/>
              </a:rPr>
              <a:t>int</a:t>
            </a:r>
            <a:r>
              <a:rPr lang="fr-FR" sz="2000" b="1" i="0" u="none" strike="noStrike" baseline="0" dirty="0">
                <a:solidFill>
                  <a:srgbClr val="6A8899"/>
                </a:solidFill>
              </a:rPr>
              <a:t> </a:t>
            </a:r>
            <a:r>
              <a:rPr lang="fr-FR" sz="2000" b="1" i="0" u="none" strike="noStrike" baseline="0" dirty="0">
                <a:solidFill>
                  <a:srgbClr val="211808"/>
                </a:solidFill>
              </a:rPr>
              <a:t>x, </a:t>
            </a:r>
            <a:r>
              <a:rPr lang="fr-FR" sz="2000" b="1" dirty="0">
                <a:solidFill>
                  <a:srgbClr val="00B0F0"/>
                </a:solidFill>
                <a:latin typeface="CourierStd-Bold"/>
              </a:rPr>
              <a:t>double</a:t>
            </a:r>
            <a:r>
              <a:rPr lang="fr-FR" sz="2000" b="1" i="0" u="none" strike="noStrike" baseline="0" dirty="0">
                <a:solidFill>
                  <a:srgbClr val="6A8899"/>
                </a:solidFill>
              </a:rPr>
              <a:t> </a:t>
            </a:r>
            <a:r>
              <a:rPr lang="fr-FR" sz="2000" b="1" i="0" u="none" strike="noStrike" baseline="0" dirty="0">
                <a:solidFill>
                  <a:srgbClr val="211808"/>
                </a:solidFill>
              </a:rPr>
              <a:t>y)</a:t>
            </a:r>
          </a:p>
          <a:p>
            <a:pPr algn="l"/>
            <a:r>
              <a:rPr lang="en-US" sz="2000" b="1" dirty="0">
                <a:solidFill>
                  <a:srgbClr val="00B0F0"/>
                </a:solidFill>
                <a:latin typeface="CourierStd-Bold"/>
              </a:rPr>
              <a:t>void</a:t>
            </a:r>
            <a:r>
              <a:rPr lang="en-US" sz="2000" b="1" i="0" u="none" strike="noStrike" baseline="0" dirty="0">
                <a:solidFill>
                  <a:srgbClr val="6A8899"/>
                </a:solidFill>
              </a:rPr>
              <a:t> </a:t>
            </a:r>
            <a:r>
              <a:rPr lang="en-US" sz="2000" b="1" dirty="0" err="1">
                <a:solidFill>
                  <a:srgbClr val="211808"/>
                </a:solidFill>
                <a:latin typeface="CourierStd-Bold"/>
              </a:rPr>
              <a:t>functionXYZ</a:t>
            </a:r>
            <a:r>
              <a:rPr lang="en-US" sz="2000" b="1" i="0" u="none" strike="noStrike" baseline="0" dirty="0">
                <a:solidFill>
                  <a:srgbClr val="211808"/>
                </a:solidFill>
              </a:rPr>
              <a:t>(</a:t>
            </a:r>
            <a:r>
              <a:rPr lang="en-US" sz="2000" b="1" dirty="0">
                <a:solidFill>
                  <a:srgbClr val="00B0F0"/>
                </a:solidFill>
                <a:latin typeface="CourierStd-Bold"/>
              </a:rPr>
              <a:t>double</a:t>
            </a:r>
            <a:r>
              <a:rPr lang="en-US" sz="2000" b="1" i="0" u="none" strike="noStrike" baseline="0" dirty="0">
                <a:solidFill>
                  <a:srgbClr val="6A8899"/>
                </a:solidFill>
              </a:rPr>
              <a:t> </a:t>
            </a:r>
            <a:r>
              <a:rPr lang="en-US" sz="2000" b="1" i="0" u="none" strike="noStrike" baseline="0" dirty="0">
                <a:solidFill>
                  <a:srgbClr val="211808"/>
                </a:solidFill>
              </a:rPr>
              <a:t>one, </a:t>
            </a:r>
            <a:r>
              <a:rPr lang="en-US" sz="2000" b="1" dirty="0">
                <a:solidFill>
                  <a:srgbClr val="00B0F0"/>
                </a:solidFill>
                <a:latin typeface="CourierStd-Bold"/>
              </a:rPr>
              <a:t>int</a:t>
            </a:r>
            <a:r>
              <a:rPr lang="en-US" sz="2000" b="1" i="0" u="none" strike="noStrike" baseline="0" dirty="0">
                <a:solidFill>
                  <a:srgbClr val="6A8899"/>
                </a:solidFill>
              </a:rPr>
              <a:t> </a:t>
            </a:r>
            <a:r>
              <a:rPr lang="en-US" sz="2000" b="1" i="0" u="none" strike="noStrike" baseline="0" dirty="0">
                <a:solidFill>
                  <a:srgbClr val="211808"/>
                </a:solidFill>
              </a:rPr>
              <a:t>y)</a:t>
            </a:r>
          </a:p>
          <a:p>
            <a:pPr algn="l"/>
            <a:r>
              <a:rPr lang="en-ZA" sz="2000" b="1" dirty="0">
                <a:solidFill>
                  <a:srgbClr val="00B0F0"/>
                </a:solidFill>
                <a:latin typeface="CourierStd-Bold"/>
              </a:rPr>
              <a:t>void</a:t>
            </a:r>
            <a:r>
              <a:rPr lang="en-ZA" sz="2000" b="1" i="0" u="none" strike="noStrike" baseline="0" dirty="0">
                <a:solidFill>
                  <a:srgbClr val="6A8899"/>
                </a:solidFill>
              </a:rPr>
              <a:t> </a:t>
            </a:r>
            <a:r>
              <a:rPr lang="en-ZA" sz="2000" b="1" dirty="0" err="1">
                <a:solidFill>
                  <a:srgbClr val="211808"/>
                </a:solidFill>
                <a:latin typeface="CourierStd-Bold"/>
              </a:rPr>
              <a:t>functionXYZ</a:t>
            </a:r>
            <a:r>
              <a:rPr lang="en-ZA" sz="2000" b="1" i="0" u="none" strike="noStrike" baseline="0" dirty="0">
                <a:solidFill>
                  <a:srgbClr val="211808"/>
                </a:solidFill>
              </a:rPr>
              <a:t>(</a:t>
            </a:r>
            <a:r>
              <a:rPr lang="en-ZA" sz="2000" b="1" dirty="0">
                <a:solidFill>
                  <a:srgbClr val="00B0F0"/>
                </a:solidFill>
                <a:latin typeface="CourierStd-Bold"/>
              </a:rPr>
              <a:t>int</a:t>
            </a:r>
            <a:r>
              <a:rPr lang="en-ZA" sz="2000" b="1" i="0" u="none" strike="noStrike" baseline="0" dirty="0">
                <a:solidFill>
                  <a:srgbClr val="6A8899"/>
                </a:solidFill>
              </a:rPr>
              <a:t> </a:t>
            </a:r>
            <a:r>
              <a:rPr lang="en-ZA" sz="2000" b="1" i="0" u="none" strike="noStrike" baseline="0" dirty="0">
                <a:solidFill>
                  <a:srgbClr val="211808"/>
                </a:solidFill>
              </a:rPr>
              <a:t>x, </a:t>
            </a:r>
            <a:r>
              <a:rPr lang="en-ZA" sz="2000" b="1" dirty="0">
                <a:solidFill>
                  <a:srgbClr val="00B0F0"/>
                </a:solidFill>
                <a:latin typeface="CourierStd-Bold"/>
              </a:rPr>
              <a:t>double</a:t>
            </a:r>
            <a:r>
              <a:rPr lang="en-ZA" sz="2000" b="1" i="0" u="none" strike="noStrike" baseline="0" dirty="0">
                <a:solidFill>
                  <a:srgbClr val="6A8899"/>
                </a:solidFill>
              </a:rPr>
              <a:t> </a:t>
            </a:r>
            <a:r>
              <a:rPr lang="en-ZA" sz="2000" b="1" i="0" u="none" strike="noStrike" baseline="0" dirty="0">
                <a:solidFill>
                  <a:srgbClr val="211808"/>
                </a:solidFill>
              </a:rPr>
              <a:t>y, </a:t>
            </a:r>
            <a:r>
              <a:rPr lang="en-ZA" sz="2000" b="1" dirty="0">
                <a:solidFill>
                  <a:srgbClr val="00B0F0"/>
                </a:solidFill>
                <a:latin typeface="CourierStd-Bold"/>
              </a:rPr>
              <a:t>char</a:t>
            </a:r>
            <a:r>
              <a:rPr lang="en-ZA" sz="2000" b="1" i="0" u="none" strike="noStrike" baseline="0" dirty="0">
                <a:solidFill>
                  <a:srgbClr val="6A8899"/>
                </a:solidFill>
              </a:rPr>
              <a:t> </a:t>
            </a:r>
            <a:r>
              <a:rPr lang="en-ZA" sz="2000" b="1" i="0" u="none" strike="noStrike" baseline="0" dirty="0" err="1">
                <a:solidFill>
                  <a:srgbClr val="211808"/>
                </a:solidFill>
              </a:rPr>
              <a:t>ch</a:t>
            </a:r>
            <a:r>
              <a:rPr lang="en-ZA" sz="2000" b="1" i="0" u="none" strike="noStrike" baseline="0" dirty="0">
                <a:solidFill>
                  <a:srgbClr val="211808"/>
                </a:solidFill>
              </a:rPr>
              <a:t>)</a:t>
            </a:r>
          </a:p>
          <a:p>
            <a:pPr algn="l"/>
            <a:endParaRPr lang="en-ZA" sz="1200" b="1" dirty="0">
              <a:solidFill>
                <a:srgbClr val="211808"/>
              </a:solidFill>
              <a:latin typeface="CourierStd-Bold"/>
            </a:endParaRPr>
          </a:p>
          <a:p>
            <a:pPr algn="l"/>
            <a:endParaRPr lang="en-ZA" dirty="0"/>
          </a:p>
        </p:txBody>
      </p:sp>
    </p:spTree>
    <p:extLst>
      <p:ext uri="{BB962C8B-B14F-4D97-AF65-F5344CB8AC3E}">
        <p14:creationId xmlns:p14="http://schemas.microsoft.com/office/powerpoint/2010/main" val="20949105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6C6D0-F61C-25CB-23E8-FA15F927813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4908217-7C34-2FDE-5279-38BE9B2C86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3B1B166-AD13-05D2-97C2-26728CF99CC3}"/>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37CB1E08-228C-8B79-FAA1-6F1A8F263EE7}"/>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60A13180-7A34-D887-29B9-F9341071BF12}"/>
              </a:ext>
            </a:extLst>
          </p:cNvPr>
          <p:cNvSpPr txBox="1"/>
          <p:nvPr/>
        </p:nvSpPr>
        <p:spPr>
          <a:xfrm>
            <a:off x="435211" y="1118235"/>
            <a:ext cx="5915025" cy="5478423"/>
          </a:xfrm>
          <a:prstGeom prst="rect">
            <a:avLst/>
          </a:prstGeom>
          <a:noFill/>
        </p:spPr>
        <p:txBody>
          <a:bodyPr wrap="square">
            <a:spAutoFit/>
          </a:bodyPr>
          <a:lstStyle/>
          <a:p>
            <a:pPr algn="l"/>
            <a:r>
              <a:rPr lang="en-US" sz="2400" dirty="0"/>
              <a:t>Consider the following function headings to overload the function </a:t>
            </a:r>
            <a:r>
              <a:rPr lang="en-ZA" sz="2000" b="1" dirty="0" err="1">
                <a:solidFill>
                  <a:srgbClr val="211808"/>
                </a:solidFill>
                <a:latin typeface="CourierStd-Bold"/>
              </a:rPr>
              <a:t>functionABC</a:t>
            </a:r>
            <a:r>
              <a:rPr lang="en-ZA" sz="2800" b="0" i="0" u="none" strike="noStrike" baseline="0" dirty="0">
                <a:solidFill>
                  <a:srgbClr val="211808"/>
                </a:solidFill>
                <a:latin typeface="WarnockPro-Regular"/>
              </a:rPr>
              <a:t>:</a:t>
            </a:r>
          </a:p>
          <a:p>
            <a:pPr algn="l"/>
            <a:endParaRPr lang="en-ZA" sz="2400" b="0" i="0" u="none" strike="noStrike" baseline="0" dirty="0">
              <a:solidFill>
                <a:srgbClr val="211808"/>
              </a:solidFill>
              <a:latin typeface="WarnockPro-Regular"/>
            </a:endParaRPr>
          </a:p>
          <a:p>
            <a:pPr algn="l"/>
            <a:r>
              <a:rPr lang="en-ZA" sz="2000" b="1" dirty="0">
                <a:solidFill>
                  <a:srgbClr val="00B0F0"/>
                </a:solidFill>
                <a:latin typeface="CourierStd-Bold"/>
              </a:rPr>
              <a:t>void</a:t>
            </a:r>
            <a:r>
              <a:rPr lang="en-ZA" sz="2000" b="1" i="0" u="none" strike="noStrike" baseline="0" dirty="0">
                <a:solidFill>
                  <a:srgbClr val="6A8899"/>
                </a:solidFill>
                <a:latin typeface="CourierStd-Bold"/>
              </a:rPr>
              <a:t> </a:t>
            </a:r>
            <a:r>
              <a:rPr lang="en-ZA" sz="2000" b="1" i="0" u="none" strike="noStrike" baseline="0" dirty="0" err="1">
                <a:solidFill>
                  <a:srgbClr val="211808"/>
                </a:solidFill>
                <a:latin typeface="CourierStd-Bold"/>
              </a:rPr>
              <a:t>functionABC</a:t>
            </a:r>
            <a:r>
              <a:rPr lang="en-ZA" sz="2000" b="1" i="0" u="none" strike="noStrike" baseline="0" dirty="0">
                <a:solidFill>
                  <a:srgbClr val="211808"/>
                </a:solidFill>
                <a:latin typeface="CourierStd-Bold"/>
              </a:rPr>
              <a:t>(</a:t>
            </a:r>
            <a:r>
              <a:rPr lang="en-ZA" sz="2000" b="1" dirty="0">
                <a:solidFill>
                  <a:srgbClr val="00B0F0"/>
                </a:solidFill>
                <a:latin typeface="CourierStd-Bold"/>
              </a:rPr>
              <a:t>int</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x, </a:t>
            </a:r>
            <a:r>
              <a:rPr lang="en-ZA" sz="2000" b="1" i="0" u="none" strike="noStrike" baseline="0" dirty="0">
                <a:solidFill>
                  <a:srgbClr val="00B0F0"/>
                </a:solidFill>
                <a:latin typeface="CourierStd-Bold"/>
              </a:rPr>
              <a:t>double</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y)</a:t>
            </a:r>
          </a:p>
          <a:p>
            <a:pPr algn="l"/>
            <a:r>
              <a:rPr lang="fr-FR" sz="2000" b="1"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err="1">
                <a:solidFill>
                  <a:srgbClr val="211808"/>
                </a:solidFill>
                <a:latin typeface="CourierStd-Bold"/>
              </a:rPr>
              <a:t>functionABC</a:t>
            </a:r>
            <a:r>
              <a:rPr lang="fr-FR" sz="2000" b="1" i="0" u="none" strike="noStrike" baseline="0" dirty="0">
                <a:solidFill>
                  <a:srgbClr val="211808"/>
                </a:solidFill>
                <a:latin typeface="CourierStd-Bold"/>
              </a:rPr>
              <a:t>(</a:t>
            </a:r>
            <a:r>
              <a:rPr lang="fr-FR" sz="2000" b="1"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x, </a:t>
            </a:r>
            <a:r>
              <a:rPr lang="fr-FR" sz="2000" b="1"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y)</a:t>
            </a:r>
          </a:p>
          <a:p>
            <a:pPr algn="l"/>
            <a:endParaRPr lang="fr-FR" b="1" dirty="0">
              <a:solidFill>
                <a:srgbClr val="211808"/>
              </a:solidFill>
              <a:latin typeface="CourierStd-Bold"/>
            </a:endParaRPr>
          </a:p>
          <a:p>
            <a:r>
              <a:rPr lang="en-US" sz="2400" dirty="0"/>
              <a:t>Both of these function headings have the same name and same formal parameter list.</a:t>
            </a:r>
          </a:p>
          <a:p>
            <a:r>
              <a:rPr lang="en-US" sz="2400" dirty="0"/>
              <a:t>Therefore, these function headings to overload the function </a:t>
            </a:r>
            <a:r>
              <a:rPr lang="en-US" sz="2000" b="1" dirty="0" err="1">
                <a:solidFill>
                  <a:srgbClr val="211808"/>
                </a:solidFill>
                <a:latin typeface="CourierStd-Bold"/>
              </a:rPr>
              <a:t>functionABC</a:t>
            </a:r>
            <a:r>
              <a:rPr lang="en-US" sz="2400" dirty="0"/>
              <a:t> are incorrect.</a:t>
            </a:r>
          </a:p>
          <a:p>
            <a:r>
              <a:rPr lang="en-US" sz="2400" b="1" dirty="0">
                <a:highlight>
                  <a:srgbClr val="FFFF00"/>
                </a:highlight>
              </a:rPr>
              <a:t>In this case, the compiler will generate a syntax error. </a:t>
            </a:r>
            <a:r>
              <a:rPr lang="en-US" sz="2400" dirty="0"/>
              <a:t>(</a:t>
            </a:r>
            <a:r>
              <a:rPr lang="en-US" sz="2400" dirty="0">
                <a:highlight>
                  <a:srgbClr val="FFFF00"/>
                </a:highlight>
              </a:rPr>
              <a:t>Notice that the return</a:t>
            </a:r>
          </a:p>
          <a:p>
            <a:r>
              <a:rPr lang="en-US" sz="2400" dirty="0">
                <a:highlight>
                  <a:srgbClr val="FFFF00"/>
                </a:highlight>
              </a:rPr>
              <a:t>types of these function headings are different.</a:t>
            </a:r>
            <a:r>
              <a:rPr lang="en-US" sz="2400" dirty="0"/>
              <a:t>)</a:t>
            </a:r>
            <a:endParaRPr lang="en-ZA" sz="2400" dirty="0"/>
          </a:p>
        </p:txBody>
      </p:sp>
    </p:spTree>
    <p:extLst>
      <p:ext uri="{BB962C8B-B14F-4D97-AF65-F5344CB8AC3E}">
        <p14:creationId xmlns:p14="http://schemas.microsoft.com/office/powerpoint/2010/main" val="1198059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713B-4882-3927-96BC-3A8921100D3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D4FC943-07CF-1143-E989-0DF4C23C9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3C00F40-64E8-D7EC-FE19-5D784C22D017}"/>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C624E0E8-4E7B-4C2F-578B-5D5362BD2D8F}"/>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79E9A0B2-957D-3D4F-AC77-A6CCDB8EC2C6}"/>
              </a:ext>
            </a:extLst>
          </p:cNvPr>
          <p:cNvSpPr txBox="1"/>
          <p:nvPr/>
        </p:nvSpPr>
        <p:spPr>
          <a:xfrm>
            <a:off x="435211" y="1118235"/>
            <a:ext cx="5915025" cy="7294305"/>
          </a:xfrm>
          <a:prstGeom prst="rect">
            <a:avLst/>
          </a:prstGeom>
          <a:noFill/>
        </p:spPr>
        <p:txBody>
          <a:bodyPr wrap="square">
            <a:spAutoFit/>
          </a:bodyPr>
          <a:lstStyle/>
          <a:p>
            <a:pPr algn="l"/>
            <a:r>
              <a:rPr lang="en-US" sz="2400" b="0" i="0" u="none" strike="noStrike" baseline="0" dirty="0">
                <a:solidFill>
                  <a:srgbClr val="211808"/>
                </a:solidFill>
              </a:rPr>
              <a:t>Suppose you need to write a function that determines the </a:t>
            </a:r>
            <a:r>
              <a:rPr lang="en-US" sz="2400" b="1" i="0" u="none" strike="noStrike" baseline="0" dirty="0">
                <a:solidFill>
                  <a:srgbClr val="211808"/>
                </a:solidFill>
              </a:rPr>
              <a:t>larger</a:t>
            </a:r>
            <a:r>
              <a:rPr lang="en-US" sz="2400" b="0" i="0" u="none" strike="noStrike" baseline="0" dirty="0">
                <a:solidFill>
                  <a:srgbClr val="211808"/>
                </a:solidFill>
              </a:rPr>
              <a:t> of two items. Both</a:t>
            </a:r>
          </a:p>
          <a:p>
            <a:pPr algn="l"/>
            <a:r>
              <a:rPr lang="en-US" sz="2400" b="0" i="0" u="none" strike="noStrike" baseline="0" dirty="0">
                <a:solidFill>
                  <a:srgbClr val="211808"/>
                </a:solidFill>
              </a:rPr>
              <a:t>items can be integers, floating-point numbers, characters, or strings. You could write</a:t>
            </a:r>
          </a:p>
          <a:p>
            <a:pPr algn="l"/>
            <a:r>
              <a:rPr lang="en-ZA" sz="2400" b="0" i="0" u="none" strike="noStrike" baseline="0" dirty="0">
                <a:solidFill>
                  <a:srgbClr val="211808"/>
                </a:solidFill>
              </a:rPr>
              <a:t>several functions as follows:</a:t>
            </a:r>
          </a:p>
          <a:p>
            <a:pPr algn="l"/>
            <a:endParaRPr lang="en-ZA" sz="2400" b="0" i="0" u="none" strike="noStrike" baseline="0" dirty="0">
              <a:solidFill>
                <a:srgbClr val="211808"/>
              </a:solidFill>
              <a:latin typeface="WarnockPro-Regular"/>
            </a:endParaRPr>
          </a:p>
          <a:p>
            <a:pPr algn="l"/>
            <a:r>
              <a:rPr lang="fr-FR" sz="2000" b="1" i="0" u="none" strike="noStrike" baseline="0"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err="1">
                <a:solidFill>
                  <a:srgbClr val="211808"/>
                </a:solidFill>
                <a:latin typeface="CourierStd-Bold"/>
              </a:rPr>
              <a:t>largerInt</a:t>
            </a:r>
            <a:r>
              <a:rPr lang="fr-FR" sz="2000" b="1" i="0" u="none" strike="noStrike" baseline="0" dirty="0">
                <a:solidFill>
                  <a:srgbClr val="211808"/>
                </a:solidFill>
                <a:latin typeface="CourierStd-Bold"/>
              </a:rPr>
              <a:t>(</a:t>
            </a:r>
            <a:r>
              <a:rPr lang="fr-FR" sz="2000" b="1" i="0" u="none" strike="noStrike" baseline="0"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x, </a:t>
            </a:r>
            <a:r>
              <a:rPr lang="fr-FR" sz="2000" b="1" i="0" u="none" strike="noStrike" baseline="0"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y);</a:t>
            </a:r>
          </a:p>
          <a:p>
            <a:pPr algn="l"/>
            <a:r>
              <a:rPr lang="en-ZA" sz="2000" b="1" i="0" u="none" strike="noStrike" baseline="0" dirty="0">
                <a:solidFill>
                  <a:srgbClr val="00B0F0"/>
                </a:solidFill>
                <a:latin typeface="CourierStd-Bold"/>
              </a:rPr>
              <a:t>char</a:t>
            </a:r>
            <a:r>
              <a:rPr lang="en-ZA" sz="2000" b="1" i="0" u="none" strike="noStrike" baseline="0" dirty="0">
                <a:solidFill>
                  <a:srgbClr val="6A8899"/>
                </a:solidFill>
                <a:latin typeface="CourierStd-Bold"/>
              </a:rPr>
              <a:t> </a:t>
            </a:r>
            <a:r>
              <a:rPr lang="en-ZA" sz="2000" b="1" i="0" u="none" strike="noStrike" baseline="0" dirty="0" err="1">
                <a:solidFill>
                  <a:srgbClr val="211808"/>
                </a:solidFill>
                <a:latin typeface="CourierStd-Bold"/>
              </a:rPr>
              <a:t>largerChar</a:t>
            </a:r>
            <a:r>
              <a:rPr lang="en-ZA" sz="2000" b="1" i="0" u="none" strike="noStrike" baseline="0" dirty="0">
                <a:solidFill>
                  <a:srgbClr val="211808"/>
                </a:solidFill>
                <a:latin typeface="CourierStd-Bold"/>
              </a:rPr>
              <a:t>(</a:t>
            </a:r>
            <a:r>
              <a:rPr lang="en-ZA" sz="2000" b="1" i="0" u="none" strike="noStrike" baseline="0" dirty="0">
                <a:solidFill>
                  <a:srgbClr val="00B0F0"/>
                </a:solidFill>
                <a:latin typeface="CourierStd-Bold"/>
              </a:rPr>
              <a:t>char</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first, </a:t>
            </a:r>
            <a:r>
              <a:rPr lang="en-ZA" sz="2000" b="1" i="0" u="none" strike="noStrike" baseline="0" dirty="0">
                <a:solidFill>
                  <a:srgbClr val="00B0F0"/>
                </a:solidFill>
                <a:latin typeface="CourierStd-Bold"/>
              </a:rPr>
              <a:t>char</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second);</a:t>
            </a:r>
          </a:p>
          <a:p>
            <a:pPr algn="l"/>
            <a:r>
              <a:rPr lang="fr-FR" sz="2000" b="1" i="0" u="none" strike="noStrike" baseline="0"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err="1">
                <a:solidFill>
                  <a:srgbClr val="211808"/>
                </a:solidFill>
                <a:latin typeface="CourierStd-Bold"/>
              </a:rPr>
              <a:t>largerDouble</a:t>
            </a:r>
            <a:r>
              <a:rPr lang="fr-FR" sz="2000" b="1" i="0" u="none" strike="noStrike" baseline="0" dirty="0">
                <a:solidFill>
                  <a:srgbClr val="211808"/>
                </a:solidFill>
                <a:latin typeface="CourierStd-Bold"/>
              </a:rPr>
              <a:t>(</a:t>
            </a:r>
            <a:r>
              <a:rPr lang="fr-FR" sz="2000" b="1" i="0" u="none" strike="noStrike" baseline="0"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u, </a:t>
            </a:r>
            <a:r>
              <a:rPr lang="fr-FR" sz="2000" b="1" i="0" u="none" strike="noStrike" baseline="0"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v);</a:t>
            </a:r>
          </a:p>
          <a:p>
            <a:pPr algn="l"/>
            <a:r>
              <a:rPr lang="en-ZA" sz="2000" b="1" i="0" u="none" strike="noStrike" baseline="0" dirty="0">
                <a:solidFill>
                  <a:srgbClr val="00B0F0"/>
                </a:solidFill>
                <a:latin typeface="CourierStd-Bold"/>
              </a:rPr>
              <a:t>string</a:t>
            </a:r>
            <a:r>
              <a:rPr lang="en-ZA" sz="2000" b="1" i="0" u="none" strike="noStrike" baseline="0" dirty="0">
                <a:solidFill>
                  <a:srgbClr val="211808"/>
                </a:solidFill>
                <a:latin typeface="CourierStd-Bold"/>
              </a:rPr>
              <a:t> </a:t>
            </a:r>
            <a:r>
              <a:rPr lang="en-ZA" sz="2000" b="1" i="0" u="none" strike="noStrike" baseline="0" dirty="0" err="1">
                <a:solidFill>
                  <a:srgbClr val="211808"/>
                </a:solidFill>
                <a:latin typeface="CourierStd-Bold"/>
              </a:rPr>
              <a:t>largerString</a:t>
            </a:r>
            <a:r>
              <a:rPr lang="en-ZA" sz="2000" b="1" i="0" u="none" strike="noStrike" baseline="0" dirty="0">
                <a:solidFill>
                  <a:srgbClr val="211808"/>
                </a:solidFill>
                <a:latin typeface="CourierStd-Bold"/>
              </a:rPr>
              <a:t>(</a:t>
            </a:r>
            <a:r>
              <a:rPr lang="en-ZA" sz="2000" b="1" i="0" u="none" strike="noStrike" baseline="0" dirty="0">
                <a:solidFill>
                  <a:srgbClr val="00B0F0"/>
                </a:solidFill>
                <a:latin typeface="CourierStd-Bold"/>
              </a:rPr>
              <a:t>string</a:t>
            </a:r>
            <a:r>
              <a:rPr lang="en-ZA" sz="2000" b="1" i="0" u="none" strike="noStrike" baseline="0" dirty="0">
                <a:solidFill>
                  <a:srgbClr val="211808"/>
                </a:solidFill>
                <a:latin typeface="CourierStd-Bold"/>
              </a:rPr>
              <a:t> first, </a:t>
            </a:r>
            <a:r>
              <a:rPr lang="en-ZA" sz="2000" b="1" i="0" u="none" strike="noStrike" baseline="0" dirty="0">
                <a:solidFill>
                  <a:srgbClr val="00B0F0"/>
                </a:solidFill>
                <a:latin typeface="CourierStd-Bold"/>
              </a:rPr>
              <a:t>string</a:t>
            </a:r>
            <a:r>
              <a:rPr lang="en-ZA" sz="2000" b="1" i="0" u="none" strike="noStrike" baseline="0" dirty="0">
                <a:solidFill>
                  <a:srgbClr val="211808"/>
                </a:solidFill>
                <a:latin typeface="CourierStd-Bold"/>
              </a:rPr>
              <a:t> second);</a:t>
            </a:r>
          </a:p>
          <a:p>
            <a:pPr algn="l"/>
            <a:endParaRPr lang="en-ZA" sz="1600" b="1" dirty="0">
              <a:solidFill>
                <a:srgbClr val="211808"/>
              </a:solidFill>
              <a:latin typeface="CourierStd-Bold"/>
            </a:endParaRPr>
          </a:p>
          <a:p>
            <a:pPr algn="l"/>
            <a:r>
              <a:rPr lang="en-US" sz="2400" dirty="0">
                <a:solidFill>
                  <a:srgbClr val="211808"/>
                </a:solidFill>
              </a:rPr>
              <a:t>All of these functions perform similar operations. Instead of giving different names to these functions, you can use the same name—say, </a:t>
            </a:r>
            <a:r>
              <a:rPr lang="en-US" sz="2400" b="1" dirty="0">
                <a:solidFill>
                  <a:srgbClr val="211808"/>
                </a:solidFill>
              </a:rPr>
              <a:t>larger</a:t>
            </a:r>
            <a:r>
              <a:rPr lang="en-US" sz="2400" dirty="0">
                <a:solidFill>
                  <a:srgbClr val="211808"/>
                </a:solidFill>
              </a:rPr>
              <a:t>—for each function; that is, you can overload the function </a:t>
            </a:r>
            <a:r>
              <a:rPr lang="en-US" sz="2400" b="1" dirty="0">
                <a:solidFill>
                  <a:srgbClr val="211808"/>
                </a:solidFill>
              </a:rPr>
              <a:t>larger</a:t>
            </a:r>
            <a:r>
              <a:rPr lang="en-US" sz="2400" dirty="0">
                <a:solidFill>
                  <a:srgbClr val="211808"/>
                </a:solidFill>
              </a:rPr>
              <a:t>. Thus, you can write the previous function prototypes simply as follows:</a:t>
            </a:r>
          </a:p>
        </p:txBody>
      </p:sp>
    </p:spTree>
    <p:extLst>
      <p:ext uri="{BB962C8B-B14F-4D97-AF65-F5344CB8AC3E}">
        <p14:creationId xmlns:p14="http://schemas.microsoft.com/office/powerpoint/2010/main" val="653556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9D77-DED8-DA72-0616-71715B1BACF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FAA476E-A126-C88E-1135-614CDE3CC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31231EB-B72D-1894-362E-DE2D925B0EBD}"/>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7E427502-F3B5-7886-2C79-CA2AE07911A9}"/>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BB1F9836-DFBB-A367-39FD-B7E8FB5561D9}"/>
              </a:ext>
            </a:extLst>
          </p:cNvPr>
          <p:cNvSpPr txBox="1"/>
          <p:nvPr/>
        </p:nvSpPr>
        <p:spPr>
          <a:xfrm>
            <a:off x="435211" y="1118235"/>
            <a:ext cx="5915025" cy="7848302"/>
          </a:xfrm>
          <a:prstGeom prst="rect">
            <a:avLst/>
          </a:prstGeom>
          <a:noFill/>
        </p:spPr>
        <p:txBody>
          <a:bodyPr wrap="square">
            <a:spAutoFit/>
          </a:bodyPr>
          <a:lstStyle/>
          <a:p>
            <a:pPr algn="l"/>
            <a:r>
              <a:rPr lang="fr-FR" sz="2400" b="1" i="0" u="none" strike="noStrike" baseline="0" dirty="0">
                <a:solidFill>
                  <a:srgbClr val="00B0F0"/>
                </a:solidFill>
              </a:rPr>
              <a:t>……</a:t>
            </a:r>
          </a:p>
          <a:p>
            <a:pPr algn="l"/>
            <a:endParaRPr lang="fr-FR" sz="2400" b="1" i="0" u="none" strike="noStrike" baseline="0" dirty="0">
              <a:solidFill>
                <a:srgbClr val="00B0F0"/>
              </a:solidFill>
            </a:endParaRPr>
          </a:p>
          <a:p>
            <a:r>
              <a:rPr lang="en-US" sz="2400" dirty="0">
                <a:solidFill>
                  <a:srgbClr val="211808"/>
                </a:solidFill>
              </a:rPr>
              <a:t>Thus, you can write the previous function prototypes simply as follows:</a:t>
            </a:r>
          </a:p>
          <a:p>
            <a:endParaRPr lang="fr-FR" sz="2000" b="1" dirty="0">
              <a:solidFill>
                <a:srgbClr val="00B0F0"/>
              </a:solidFill>
              <a:latin typeface="CourierStd-Bold"/>
            </a:endParaRPr>
          </a:p>
          <a:p>
            <a:pPr algn="l"/>
            <a:r>
              <a:rPr lang="fr-FR" sz="2000" b="1" i="0" u="none" strike="noStrike" baseline="0"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err="1">
                <a:solidFill>
                  <a:srgbClr val="211808"/>
                </a:solidFill>
                <a:latin typeface="CourierStd-Bold"/>
              </a:rPr>
              <a:t>larger</a:t>
            </a:r>
            <a:r>
              <a:rPr lang="fr-FR" sz="2000" b="1" i="0" u="none" strike="noStrike" baseline="0" dirty="0">
                <a:solidFill>
                  <a:srgbClr val="211808"/>
                </a:solidFill>
                <a:latin typeface="CourierStd-Bold"/>
              </a:rPr>
              <a:t>(</a:t>
            </a:r>
            <a:r>
              <a:rPr lang="fr-FR" sz="2000" b="1" i="0" u="none" strike="noStrike" baseline="0"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x, </a:t>
            </a:r>
            <a:r>
              <a:rPr lang="fr-FR" sz="2000" b="1" i="0" u="none" strike="noStrike" baseline="0" dirty="0" err="1">
                <a:solidFill>
                  <a:srgbClr val="00B0F0"/>
                </a:solidFill>
                <a:latin typeface="CourierStd-Bold"/>
              </a:rPr>
              <a:t>int</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y);</a:t>
            </a:r>
          </a:p>
          <a:p>
            <a:pPr algn="l"/>
            <a:r>
              <a:rPr lang="en-ZA" sz="2000" b="1" i="0" u="none" strike="noStrike" baseline="0" dirty="0">
                <a:solidFill>
                  <a:srgbClr val="00B0F0"/>
                </a:solidFill>
                <a:latin typeface="CourierStd-Bold"/>
              </a:rPr>
              <a:t>char</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larger(</a:t>
            </a:r>
            <a:r>
              <a:rPr lang="en-ZA" sz="2000" b="1" dirty="0">
                <a:solidFill>
                  <a:srgbClr val="00B0F0"/>
                </a:solidFill>
                <a:latin typeface="CourierStd-Bold"/>
              </a:rPr>
              <a:t>char</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first, </a:t>
            </a:r>
            <a:r>
              <a:rPr lang="en-ZA" sz="2000" b="1" i="0" u="none" strike="noStrike" baseline="0" dirty="0">
                <a:solidFill>
                  <a:srgbClr val="00B0F0"/>
                </a:solidFill>
                <a:latin typeface="CourierStd-Bold"/>
              </a:rPr>
              <a:t>char</a:t>
            </a:r>
            <a:r>
              <a:rPr lang="en-ZA" sz="2000" b="1" i="0" u="none" strike="noStrike" baseline="0" dirty="0">
                <a:solidFill>
                  <a:srgbClr val="6A8899"/>
                </a:solidFill>
                <a:latin typeface="CourierStd-Bold"/>
              </a:rPr>
              <a:t> </a:t>
            </a:r>
            <a:r>
              <a:rPr lang="en-ZA" sz="2000" b="1" i="0" u="none" strike="noStrike" baseline="0" dirty="0">
                <a:solidFill>
                  <a:srgbClr val="211808"/>
                </a:solidFill>
                <a:latin typeface="CourierStd-Bold"/>
              </a:rPr>
              <a:t>second);</a:t>
            </a:r>
          </a:p>
          <a:p>
            <a:pPr algn="l"/>
            <a:r>
              <a:rPr lang="fr-FR" sz="2000" b="1" i="0" u="none" strike="noStrike" baseline="0"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err="1">
                <a:solidFill>
                  <a:srgbClr val="211808"/>
                </a:solidFill>
                <a:latin typeface="CourierStd-Bold"/>
              </a:rPr>
              <a:t>larger</a:t>
            </a:r>
            <a:r>
              <a:rPr lang="fr-FR" sz="2000" b="1" i="0" u="none" strike="noStrike" baseline="0" dirty="0">
                <a:solidFill>
                  <a:srgbClr val="211808"/>
                </a:solidFill>
                <a:latin typeface="CourierStd-Bold"/>
              </a:rPr>
              <a:t>(</a:t>
            </a:r>
            <a:r>
              <a:rPr lang="fr-FR" sz="2000" b="1" i="0" u="none" strike="noStrike" baseline="0"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u, </a:t>
            </a:r>
            <a:r>
              <a:rPr lang="fr-FR" sz="2000" b="1" i="0" u="none" strike="noStrike" baseline="0" dirty="0">
                <a:solidFill>
                  <a:srgbClr val="00B0F0"/>
                </a:solidFill>
                <a:latin typeface="CourierStd-Bold"/>
              </a:rPr>
              <a:t>double</a:t>
            </a:r>
            <a:r>
              <a:rPr lang="fr-FR" sz="2000" b="1" i="0" u="none" strike="noStrike" baseline="0" dirty="0">
                <a:solidFill>
                  <a:srgbClr val="6A8899"/>
                </a:solidFill>
                <a:latin typeface="CourierStd-Bold"/>
              </a:rPr>
              <a:t> </a:t>
            </a:r>
            <a:r>
              <a:rPr lang="fr-FR" sz="2000" b="1" i="0" u="none" strike="noStrike" baseline="0" dirty="0">
                <a:solidFill>
                  <a:srgbClr val="211808"/>
                </a:solidFill>
                <a:latin typeface="CourierStd-Bold"/>
              </a:rPr>
              <a:t>v);</a:t>
            </a:r>
          </a:p>
          <a:p>
            <a:pPr algn="l"/>
            <a:r>
              <a:rPr lang="en-ZA" sz="2000" b="1" i="0" u="none" strike="noStrike" baseline="0" dirty="0">
                <a:solidFill>
                  <a:srgbClr val="00B0F0"/>
                </a:solidFill>
                <a:latin typeface="CourierStd-Bold"/>
              </a:rPr>
              <a:t>string</a:t>
            </a:r>
            <a:r>
              <a:rPr lang="en-ZA" sz="2000" b="1" i="0" u="none" strike="noStrike" baseline="0" dirty="0">
                <a:solidFill>
                  <a:srgbClr val="211808"/>
                </a:solidFill>
                <a:latin typeface="CourierStd-Bold"/>
              </a:rPr>
              <a:t> larger(</a:t>
            </a:r>
            <a:r>
              <a:rPr lang="en-ZA" sz="2000" b="1" i="0" u="none" strike="noStrike" baseline="0" dirty="0">
                <a:solidFill>
                  <a:srgbClr val="00B0F0"/>
                </a:solidFill>
                <a:latin typeface="CourierStd-Bold"/>
              </a:rPr>
              <a:t>string</a:t>
            </a:r>
            <a:r>
              <a:rPr lang="en-ZA" sz="2000" b="1" i="0" u="none" strike="noStrike" baseline="0" dirty="0">
                <a:solidFill>
                  <a:srgbClr val="211808"/>
                </a:solidFill>
                <a:latin typeface="CourierStd-Bold"/>
              </a:rPr>
              <a:t> first, </a:t>
            </a:r>
            <a:r>
              <a:rPr lang="en-ZA" sz="2000" b="1" i="0" u="none" strike="noStrike" baseline="0" dirty="0">
                <a:solidFill>
                  <a:srgbClr val="00B0F0"/>
                </a:solidFill>
                <a:latin typeface="CourierStd-Bold"/>
              </a:rPr>
              <a:t>string</a:t>
            </a:r>
            <a:r>
              <a:rPr lang="en-ZA" sz="2000" b="1" i="0" u="none" strike="noStrike" baseline="0" dirty="0">
                <a:solidFill>
                  <a:srgbClr val="211808"/>
                </a:solidFill>
                <a:latin typeface="CourierStd-Bold"/>
              </a:rPr>
              <a:t> second);</a:t>
            </a:r>
          </a:p>
          <a:p>
            <a:pPr algn="l"/>
            <a:endParaRPr lang="en-ZA" sz="2000" b="1" dirty="0">
              <a:solidFill>
                <a:srgbClr val="211808"/>
              </a:solidFill>
              <a:latin typeface="CourierStd-Bold"/>
            </a:endParaRPr>
          </a:p>
          <a:p>
            <a:pPr algn="l"/>
            <a:endParaRPr lang="en-ZA" sz="2000" b="1" dirty="0">
              <a:solidFill>
                <a:srgbClr val="211808"/>
              </a:solidFill>
              <a:latin typeface="CourierStd-Bold"/>
            </a:endParaRPr>
          </a:p>
          <a:p>
            <a:pPr algn="l"/>
            <a:r>
              <a:rPr lang="en-ZA" sz="2000" b="1" dirty="0">
                <a:solidFill>
                  <a:srgbClr val="211808"/>
                </a:solidFill>
                <a:latin typeface="CourierStd-Bold"/>
              </a:rPr>
              <a:t>If you want to invoke / call these functions in your main()function – which overloaded function will be executed?</a:t>
            </a:r>
            <a:endParaRPr lang="en-ZA" sz="2400" b="1" dirty="0">
              <a:solidFill>
                <a:srgbClr val="211808"/>
              </a:solidFill>
            </a:endParaRPr>
          </a:p>
          <a:p>
            <a:pPr algn="l"/>
            <a:endParaRPr lang="en-ZA" sz="2400" b="1" dirty="0">
              <a:solidFill>
                <a:srgbClr val="211808"/>
              </a:solidFill>
            </a:endParaRPr>
          </a:p>
          <a:p>
            <a:r>
              <a:rPr lang="en-US" sz="2400" dirty="0"/>
              <a:t>If the call is </a:t>
            </a:r>
            <a:r>
              <a:rPr lang="en-US" sz="2400" b="1" dirty="0"/>
              <a:t>larger(5, 3)</a:t>
            </a:r>
            <a:r>
              <a:rPr lang="en-US" sz="2400" dirty="0"/>
              <a:t>, for example, the version having </a:t>
            </a:r>
            <a:r>
              <a:rPr lang="en-US" sz="2400" b="1" dirty="0"/>
              <a:t>int </a:t>
            </a:r>
            <a:r>
              <a:rPr lang="en-US" sz="2400" dirty="0"/>
              <a:t>parameters is executed.</a:t>
            </a:r>
          </a:p>
          <a:p>
            <a:endParaRPr lang="en-US" sz="2400" dirty="0"/>
          </a:p>
          <a:p>
            <a:r>
              <a:rPr lang="en-US" sz="2400" dirty="0"/>
              <a:t>If the call is </a:t>
            </a:r>
            <a:r>
              <a:rPr lang="en-US" sz="2400" b="1" dirty="0"/>
              <a:t>larger('A', '9')</a:t>
            </a:r>
            <a:r>
              <a:rPr lang="en-US" sz="2400" dirty="0"/>
              <a:t>, the version having </a:t>
            </a:r>
            <a:r>
              <a:rPr lang="en-US" sz="2400" b="1" dirty="0"/>
              <a:t>char </a:t>
            </a:r>
            <a:r>
              <a:rPr lang="en-US" sz="2400" dirty="0"/>
              <a:t>parameters is executed, and</a:t>
            </a:r>
          </a:p>
          <a:p>
            <a:r>
              <a:rPr lang="en-ZA" sz="2400" dirty="0"/>
              <a:t>so on.</a:t>
            </a:r>
          </a:p>
        </p:txBody>
      </p:sp>
    </p:spTree>
    <p:extLst>
      <p:ext uri="{BB962C8B-B14F-4D97-AF65-F5344CB8AC3E}">
        <p14:creationId xmlns:p14="http://schemas.microsoft.com/office/powerpoint/2010/main" val="29717573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0E132-82B1-D744-4A36-F61501F5DD4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2EA996C-BF97-022C-BA69-4B9FFB8FE0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E2CAD33-F10D-304B-0D70-703765C62492}"/>
              </a:ext>
            </a:extLst>
          </p:cNvPr>
          <p:cNvSpPr txBox="1"/>
          <p:nvPr/>
        </p:nvSpPr>
        <p:spPr>
          <a:xfrm>
            <a:off x="0" y="65927"/>
            <a:ext cx="6858000" cy="646331"/>
          </a:xfrm>
          <a:prstGeom prst="rect">
            <a:avLst/>
          </a:prstGeom>
          <a:noFill/>
        </p:spPr>
        <p:txBody>
          <a:bodyPr wrap="square" rtlCol="0">
            <a:spAutoFit/>
          </a:bodyPr>
          <a:lstStyle/>
          <a:p>
            <a:pPr algn="ctr"/>
            <a:r>
              <a:rPr lang="en-ZA" sz="3600" b="1" dirty="0"/>
              <a:t>Overloading Functions</a:t>
            </a:r>
          </a:p>
        </p:txBody>
      </p:sp>
      <p:sp>
        <p:nvSpPr>
          <p:cNvPr id="2" name="Content Placeholder 2">
            <a:extLst>
              <a:ext uri="{FF2B5EF4-FFF2-40B4-BE49-F238E27FC236}">
                <a16:creationId xmlns:a16="http://schemas.microsoft.com/office/drawing/2014/main" id="{F909AFE9-8987-5062-FF7B-2E7EE25716CC}"/>
              </a:ext>
            </a:extLst>
          </p:cNvPr>
          <p:cNvSpPr txBox="1">
            <a:spLocks/>
          </p:cNvSpPr>
          <p:nvPr/>
        </p:nvSpPr>
        <p:spPr>
          <a:xfrm>
            <a:off x="471488" y="1690777"/>
            <a:ext cx="5915025" cy="723150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7" name="TextBox 6">
            <a:extLst>
              <a:ext uri="{FF2B5EF4-FFF2-40B4-BE49-F238E27FC236}">
                <a16:creationId xmlns:a16="http://schemas.microsoft.com/office/drawing/2014/main" id="{A3FEFF17-1F37-084F-567E-8D9EF0871137}"/>
              </a:ext>
            </a:extLst>
          </p:cNvPr>
          <p:cNvSpPr txBox="1"/>
          <p:nvPr/>
        </p:nvSpPr>
        <p:spPr>
          <a:xfrm>
            <a:off x="435211" y="1118235"/>
            <a:ext cx="5915025" cy="1477328"/>
          </a:xfrm>
          <a:prstGeom prst="rect">
            <a:avLst/>
          </a:prstGeom>
          <a:noFill/>
        </p:spPr>
        <p:txBody>
          <a:bodyPr wrap="square">
            <a:spAutoFit/>
          </a:bodyPr>
          <a:lstStyle/>
          <a:p>
            <a:r>
              <a:rPr lang="en-ZA" b="1" dirty="0"/>
              <a:t>Example of Overloading a Function Name</a:t>
            </a:r>
          </a:p>
          <a:p>
            <a:endParaRPr lang="en-ZA" sz="2400" b="1" dirty="0"/>
          </a:p>
          <a:p>
            <a:endParaRPr lang="en-ZA" sz="2400" b="1" dirty="0"/>
          </a:p>
          <a:p>
            <a:endParaRPr lang="en-ZA" sz="2400" dirty="0"/>
          </a:p>
        </p:txBody>
      </p:sp>
      <p:pic>
        <p:nvPicPr>
          <p:cNvPr id="6" name="Picture 5">
            <a:extLst>
              <a:ext uri="{FF2B5EF4-FFF2-40B4-BE49-F238E27FC236}">
                <a16:creationId xmlns:a16="http://schemas.microsoft.com/office/drawing/2014/main" id="{FCB37A10-4743-7EB8-CA31-11EAF8D5BC76}"/>
              </a:ext>
            </a:extLst>
          </p:cNvPr>
          <p:cNvPicPr>
            <a:picLocks noChangeAspect="1"/>
          </p:cNvPicPr>
          <p:nvPr/>
        </p:nvPicPr>
        <p:blipFill>
          <a:blip r:embed="rId3"/>
          <a:stretch>
            <a:fillRect/>
          </a:stretch>
        </p:blipFill>
        <p:spPr>
          <a:xfrm>
            <a:off x="177243" y="1436627"/>
            <a:ext cx="6274122" cy="4830598"/>
          </a:xfrm>
          <a:prstGeom prst="rect">
            <a:avLst/>
          </a:prstGeom>
        </p:spPr>
      </p:pic>
      <p:pic>
        <p:nvPicPr>
          <p:cNvPr id="9" name="Picture 8">
            <a:extLst>
              <a:ext uri="{FF2B5EF4-FFF2-40B4-BE49-F238E27FC236}">
                <a16:creationId xmlns:a16="http://schemas.microsoft.com/office/drawing/2014/main" id="{DB01A141-0576-CF16-F82B-BB93DBCA3787}"/>
              </a:ext>
            </a:extLst>
          </p:cNvPr>
          <p:cNvPicPr>
            <a:picLocks noChangeAspect="1"/>
          </p:cNvPicPr>
          <p:nvPr/>
        </p:nvPicPr>
        <p:blipFill>
          <a:blip r:embed="rId4"/>
          <a:stretch>
            <a:fillRect/>
          </a:stretch>
        </p:blipFill>
        <p:spPr>
          <a:xfrm>
            <a:off x="205819" y="6267224"/>
            <a:ext cx="6038570" cy="3173644"/>
          </a:xfrm>
          <a:prstGeom prst="rect">
            <a:avLst/>
          </a:prstGeom>
        </p:spPr>
      </p:pic>
    </p:spTree>
    <p:extLst>
      <p:ext uri="{BB962C8B-B14F-4D97-AF65-F5344CB8AC3E}">
        <p14:creationId xmlns:p14="http://schemas.microsoft.com/office/powerpoint/2010/main" val="24604412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4766</TotalTime>
  <Words>2317</Words>
  <Application>Microsoft Office PowerPoint</Application>
  <PresentationFormat>A4 Paper (210x297 mm)</PresentationFormat>
  <Paragraphs>279</Paragraphs>
  <Slides>48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Calibri Light</vt:lpstr>
      <vt:lpstr>CourierStd-Bold</vt:lpstr>
      <vt:lpstr>GiovanniStd-Book</vt:lpstr>
      <vt:lpstr>GiovanniStd-BookItalic</vt:lpstr>
      <vt:lpstr>WarnockPro-Regular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477</cp:revision>
  <dcterms:created xsi:type="dcterms:W3CDTF">2023-03-27T09:07:22Z</dcterms:created>
  <dcterms:modified xsi:type="dcterms:W3CDTF">2026-05-22T17:12:25Z</dcterms:modified>
</cp:coreProperties>
</file>