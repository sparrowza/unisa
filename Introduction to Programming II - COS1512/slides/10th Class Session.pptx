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6" r:id="rId3"/>
    <p:sldId id="267" r:id="rId4"/>
    <p:sldId id="288" r:id="rId5"/>
    <p:sldId id="403" r:id="rId6"/>
    <p:sldId id="410" r:id="rId7"/>
    <p:sldId id="411" r:id="rId8"/>
    <p:sldId id="405" r:id="rId9"/>
    <p:sldId id="413" r:id="rId10"/>
    <p:sldId id="412" r:id="rId11"/>
    <p:sldId id="406" r:id="rId12"/>
    <p:sldId id="414" r:id="rId13"/>
    <p:sldId id="415" r:id="rId14"/>
    <p:sldId id="407" r:id="rId15"/>
    <p:sldId id="402" r:id="rId16"/>
    <p:sldId id="416" r:id="rId17"/>
    <p:sldId id="419" r:id="rId18"/>
    <p:sldId id="420" r:id="rId19"/>
    <p:sldId id="421" r:id="rId20"/>
    <p:sldId id="418" r:id="rId21"/>
    <p:sldId id="422" r:id="rId22"/>
    <p:sldId id="424" r:id="rId23"/>
    <p:sldId id="425" r:id="rId24"/>
    <p:sldId id="426" r:id="rId25"/>
    <p:sldId id="429" r:id="rId26"/>
    <p:sldId id="430" r:id="rId27"/>
    <p:sldId id="423" r:id="rId28"/>
    <p:sldId id="417" r:id="rId29"/>
    <p:sldId id="427" r:id="rId30"/>
    <p:sldId id="428" r:id="rId31"/>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3" d="100"/>
          <a:sy n="53" d="100"/>
        </p:scale>
        <p:origin x="20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2026/07/07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441363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2026/07/07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35642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8951E-0A73-476C-B990-BA3D65A812C5}" type="datetimeFigureOut">
              <a:rPr lang="en-ZA" smtClean="0"/>
              <a:t>2026/07/07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57206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38951E-0A73-476C-B990-BA3D65A812C5}" type="datetimeFigureOut">
              <a:rPr lang="en-ZA" smtClean="0"/>
              <a:t>2026/07/07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132963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38951E-0A73-476C-B990-BA3D65A812C5}" type="datetimeFigureOut">
              <a:rPr lang="en-ZA" smtClean="0"/>
              <a:t>2026/07/07</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161337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8951E-0A73-476C-B990-BA3D65A812C5}" type="datetimeFigureOut">
              <a:rPr lang="en-ZA" smtClean="0"/>
              <a:t>2026/07/07</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69850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8951E-0A73-476C-B990-BA3D65A812C5}" type="datetimeFigureOut">
              <a:rPr lang="en-ZA" smtClean="0"/>
              <a:t>2026/07/07</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254651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2026/07/07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8890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2026/07/07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02182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2026/07/07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00979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2026/07/07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485231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438951E-0A73-476C-B990-BA3D65A812C5}" type="datetimeFigureOut">
              <a:rPr lang="en-ZA" smtClean="0"/>
              <a:t>2026/07/07</a:t>
            </a:fld>
            <a:endParaRPr lang="en-ZA"/>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5031DDEB-C667-44B1-BE9C-E4923D28CA10}" type="slidenum">
              <a:rPr lang="en-ZA" smtClean="0"/>
              <a:t>‹#›</a:t>
            </a:fld>
            <a:endParaRPr lang="en-ZA"/>
          </a:p>
        </p:txBody>
      </p:sp>
    </p:spTree>
    <p:extLst>
      <p:ext uri="{BB962C8B-B14F-4D97-AF65-F5344CB8AC3E}">
        <p14:creationId xmlns:p14="http://schemas.microsoft.com/office/powerpoint/2010/main" val="305834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E509FF9-BDD9-A1BF-5237-538EDDB6B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D8BA4A3A-9CBD-44CA-33BC-CBAF4E859677}"/>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COS1512 – Online Class Session – 07 July 2026</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8C44F4B-5D92-BFC5-653C-CD4E349F6C3A}"/>
              </a:ext>
            </a:extLst>
          </p:cNvPr>
          <p:cNvSpPr txBox="1">
            <a:spLocks/>
          </p:cNvSpPr>
          <p:nvPr/>
        </p:nvSpPr>
        <p:spPr>
          <a:xfrm>
            <a:off x="467916" y="2469624"/>
            <a:ext cx="5915025" cy="2483376"/>
          </a:xfrm>
          <a:prstGeom prst="rect">
            <a:avLst/>
          </a:prstGeom>
        </p:spPr>
        <p:txBody>
          <a:bodyPr vert="horz" lIns="91440" tIns="45720" rIns="91440" bIns="45720" rtlCol="0" anchor="b">
            <a:normAutofit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t>COS1512 – INTRODUCTION TO PROGRAMMING II – Using C++</a:t>
            </a:r>
            <a:endParaRPr lang="en-ZA" b="1" dirty="0"/>
          </a:p>
        </p:txBody>
      </p:sp>
      <p:sp>
        <p:nvSpPr>
          <p:cNvPr id="3" name="Text Placeholder 2">
            <a:extLst>
              <a:ext uri="{FF2B5EF4-FFF2-40B4-BE49-F238E27FC236}">
                <a16:creationId xmlns:a16="http://schemas.microsoft.com/office/drawing/2014/main" id="{7B3CD2F3-FE1E-ECCE-5428-E1525056D51E}"/>
              </a:ext>
            </a:extLst>
          </p:cNvPr>
          <p:cNvSpPr txBox="1">
            <a:spLocks/>
          </p:cNvSpPr>
          <p:nvPr/>
        </p:nvSpPr>
        <p:spPr>
          <a:xfrm>
            <a:off x="467916" y="5789289"/>
            <a:ext cx="5915025" cy="857269"/>
          </a:xfrm>
          <a:prstGeom prst="rect">
            <a:avLst/>
          </a:prstGeom>
        </p:spPr>
        <p:txBody>
          <a:bodyPr vert="horz" lIns="91440" tIns="45720" rIns="91440" bIns="45720" rtlCol="0">
            <a:normAutofit fontScale="7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2400" b="1" i="1" dirty="0"/>
              <a:t>Academic Year: 2026</a:t>
            </a:r>
          </a:p>
          <a:p>
            <a:r>
              <a:rPr lang="en-US" sz="2400" b="1" i="1" dirty="0"/>
              <a:t>Date: 07 JULY 2026</a:t>
            </a:r>
          </a:p>
          <a:p>
            <a:r>
              <a:rPr lang="en-US" sz="2400" b="1" i="1" dirty="0"/>
              <a:t>Time: 17:00 PM to 19:00 PM</a:t>
            </a:r>
            <a:endParaRPr lang="en-ZA" sz="2400" b="1" i="1" dirty="0"/>
          </a:p>
        </p:txBody>
      </p:sp>
    </p:spTree>
    <p:extLst>
      <p:ext uri="{BB962C8B-B14F-4D97-AF65-F5344CB8AC3E}">
        <p14:creationId xmlns:p14="http://schemas.microsoft.com/office/powerpoint/2010/main" val="496593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1252-968A-A97A-6796-E8553F19BEF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BF1D3AB-2F2A-1FCB-96ED-9EF33DE56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65927"/>
            <a:ext cx="6930551" cy="10058400"/>
          </a:xfrm>
          <a:prstGeom prst="rect">
            <a:avLst/>
          </a:prstGeom>
        </p:spPr>
      </p:pic>
      <p:sp>
        <p:nvSpPr>
          <p:cNvPr id="4" name="TextBox 3">
            <a:extLst>
              <a:ext uri="{FF2B5EF4-FFF2-40B4-BE49-F238E27FC236}">
                <a16:creationId xmlns:a16="http://schemas.microsoft.com/office/drawing/2014/main" id="{1B2EFCF2-CB78-E497-F9BE-A5AC45242B2A}"/>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Topics</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9E19299-7E0C-EB3F-6C39-08CDCDA7A501}"/>
              </a:ext>
            </a:extLst>
          </p:cNvPr>
          <p:cNvSpPr txBox="1">
            <a:spLocks/>
          </p:cNvSpPr>
          <p:nvPr/>
        </p:nvSpPr>
        <p:spPr>
          <a:xfrm>
            <a:off x="467916" y="2469624"/>
            <a:ext cx="5915025" cy="2483376"/>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Chapter 10</a:t>
            </a:r>
            <a:endParaRPr lang="en-US" sz="4800" b="1" dirty="0"/>
          </a:p>
        </p:txBody>
      </p:sp>
      <p:sp>
        <p:nvSpPr>
          <p:cNvPr id="3" name="Text Placeholder 2">
            <a:extLst>
              <a:ext uri="{FF2B5EF4-FFF2-40B4-BE49-F238E27FC236}">
                <a16:creationId xmlns:a16="http://schemas.microsoft.com/office/drawing/2014/main" id="{0E07602D-94A4-AD8F-019E-D2D062AF4298}"/>
              </a:ext>
            </a:extLst>
          </p:cNvPr>
          <p:cNvSpPr txBox="1">
            <a:spLocks/>
          </p:cNvSpPr>
          <p:nvPr/>
        </p:nvSpPr>
        <p:spPr>
          <a:xfrm>
            <a:off x="467916" y="5789289"/>
            <a:ext cx="5915025" cy="85726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endParaRPr lang="en-ZA" b="1" i="1" dirty="0"/>
          </a:p>
        </p:txBody>
      </p:sp>
      <p:sp>
        <p:nvSpPr>
          <p:cNvPr id="6" name="Title 1">
            <a:extLst>
              <a:ext uri="{FF2B5EF4-FFF2-40B4-BE49-F238E27FC236}">
                <a16:creationId xmlns:a16="http://schemas.microsoft.com/office/drawing/2014/main" id="{D083F84A-C93A-7FC6-3E47-AA5B244F21FC}"/>
              </a:ext>
            </a:extLst>
          </p:cNvPr>
          <p:cNvSpPr txBox="1">
            <a:spLocks/>
          </p:cNvSpPr>
          <p:nvPr/>
        </p:nvSpPr>
        <p:spPr>
          <a:xfrm>
            <a:off x="435211" y="5789289"/>
            <a:ext cx="5915025" cy="2483376"/>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Defining to Classes</a:t>
            </a:r>
            <a:endParaRPr lang="en-US" sz="4800" b="1" dirty="0"/>
          </a:p>
        </p:txBody>
      </p:sp>
    </p:spTree>
    <p:extLst>
      <p:ext uri="{BB962C8B-B14F-4D97-AF65-F5344CB8AC3E}">
        <p14:creationId xmlns:p14="http://schemas.microsoft.com/office/powerpoint/2010/main" val="2591327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EBD26-80FA-7F66-3987-963EB7F23A9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C44998F-9DCE-2AE0-4144-F073D5F73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4EE4FF0-8370-A7DC-3EEE-615C5BB6B375}"/>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Contents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CD28D54-B58B-08EC-2E1B-772D6B1BFB6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ZA" sz="2800" b="1" dirty="0"/>
              <a:t>Introduction to Structures</a:t>
            </a:r>
          </a:p>
          <a:p>
            <a:pPr marL="457200" indent="-457200" algn="l">
              <a:buFont typeface="+mj-lt"/>
              <a:buAutoNum type="arabicPeriod"/>
            </a:pPr>
            <a:r>
              <a:rPr lang="en-US" sz="2800" b="1" dirty="0"/>
              <a:t>Defining Structures</a:t>
            </a:r>
          </a:p>
          <a:p>
            <a:pPr marL="457200" indent="-457200" algn="l">
              <a:buFont typeface="+mj-lt"/>
              <a:buAutoNum type="arabicPeriod"/>
            </a:pPr>
            <a:r>
              <a:rPr lang="en-US" sz="2800" b="1" dirty="0"/>
              <a:t>Accessing Structures</a:t>
            </a:r>
          </a:p>
          <a:p>
            <a:pPr marL="457200" indent="-457200" algn="l">
              <a:buFont typeface="+mj-lt"/>
              <a:buAutoNum type="arabicPeriod"/>
            </a:pPr>
            <a:r>
              <a:rPr lang="en-US" sz="2800" b="1" dirty="0"/>
              <a:t>Introduction to Classes</a:t>
            </a:r>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316423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2DEC-6475-F371-90FD-8ECC7EA929B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1E6F2AB-E172-71BC-6796-C2E7191447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17B7B2E-3896-CF35-E344-CCB458487BC5}"/>
              </a:ext>
            </a:extLst>
          </p:cNvPr>
          <p:cNvSpPr txBox="1"/>
          <p:nvPr/>
        </p:nvSpPr>
        <p:spPr>
          <a:xfrm>
            <a:off x="0" y="65927"/>
            <a:ext cx="6858000" cy="646331"/>
          </a:xfrm>
          <a:prstGeom prst="rect">
            <a:avLst/>
          </a:prstGeom>
          <a:noFill/>
        </p:spPr>
        <p:txBody>
          <a:bodyPr wrap="square" rtlCol="0">
            <a:spAutoFit/>
          </a:bodyPr>
          <a:lstStyle/>
          <a:p>
            <a:r>
              <a:rPr lang="en-US" sz="3600" b="1" dirty="0"/>
              <a:t>Structures</a:t>
            </a:r>
          </a:p>
        </p:txBody>
      </p:sp>
      <p:sp>
        <p:nvSpPr>
          <p:cNvPr id="2" name="Content Placeholder 2">
            <a:extLst>
              <a:ext uri="{FF2B5EF4-FFF2-40B4-BE49-F238E27FC236}">
                <a16:creationId xmlns:a16="http://schemas.microsoft.com/office/drawing/2014/main" id="{7898307D-9C35-F207-842D-218A4A840CF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endParaRPr lang="en-ZA" altLang="en-US" sz="4000" b="1" dirty="0"/>
          </a:p>
          <a:p>
            <a:pPr algn="l"/>
            <a:endParaRPr lang="en-ZA" altLang="en-US" sz="2400" b="1" dirty="0"/>
          </a:p>
          <a:p>
            <a:pPr algn="l"/>
            <a:endParaRPr lang="en-US" altLang="en-US" sz="2400" b="1" dirty="0"/>
          </a:p>
          <a:p>
            <a:pPr algn="l"/>
            <a:endParaRPr lang="en-US" altLang="en-US" sz="24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
        <p:nvSpPr>
          <p:cNvPr id="8" name="Title 7">
            <a:extLst>
              <a:ext uri="{FF2B5EF4-FFF2-40B4-BE49-F238E27FC236}">
                <a16:creationId xmlns:a16="http://schemas.microsoft.com/office/drawing/2014/main" id="{53CE2DD6-B474-18A3-4CFE-9DD04CE162FB}"/>
              </a:ext>
            </a:extLst>
          </p:cNvPr>
          <p:cNvSpPr>
            <a:spLocks noGrp="1"/>
          </p:cNvSpPr>
          <p:nvPr>
            <p:ph type="ctrTitle"/>
          </p:nvPr>
        </p:nvSpPr>
        <p:spPr/>
        <p:txBody>
          <a:bodyPr/>
          <a:lstStyle/>
          <a:p>
            <a:r>
              <a:rPr lang="en-US" sz="4800" b="1" dirty="0"/>
              <a:t>Structures</a:t>
            </a:r>
            <a:endParaRPr lang="en-ZA" dirty="0"/>
          </a:p>
        </p:txBody>
      </p:sp>
      <p:sp>
        <p:nvSpPr>
          <p:cNvPr id="9" name="Subtitle 8">
            <a:extLst>
              <a:ext uri="{FF2B5EF4-FFF2-40B4-BE49-F238E27FC236}">
                <a16:creationId xmlns:a16="http://schemas.microsoft.com/office/drawing/2014/main" id="{3F9E80BF-530B-B38F-5F7C-E7B04576CAD8}"/>
              </a:ext>
            </a:extLst>
          </p:cNvPr>
          <p:cNvSpPr>
            <a:spLocks noGrp="1"/>
          </p:cNvSpPr>
          <p:nvPr>
            <p:ph type="subTitle" idx="1"/>
          </p:nvPr>
        </p:nvSpPr>
        <p:spPr/>
        <p:txBody>
          <a:bodyPr/>
          <a:lstStyle/>
          <a:p>
            <a:endParaRPr lang="en-ZA"/>
          </a:p>
        </p:txBody>
      </p:sp>
    </p:spTree>
    <p:extLst>
      <p:ext uri="{BB962C8B-B14F-4D97-AF65-F5344CB8AC3E}">
        <p14:creationId xmlns:p14="http://schemas.microsoft.com/office/powerpoint/2010/main" val="1785626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CF0B2-8F99-38ED-CD31-25CBC7E3840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1E73395-F9C7-240F-28C6-0B9064A45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662F3F7-B525-A40C-61F8-F609BD32ED6B}"/>
              </a:ext>
            </a:extLst>
          </p:cNvPr>
          <p:cNvSpPr txBox="1"/>
          <p:nvPr/>
        </p:nvSpPr>
        <p:spPr>
          <a:xfrm>
            <a:off x="0" y="65927"/>
            <a:ext cx="6858000" cy="646331"/>
          </a:xfrm>
          <a:prstGeom prst="rect">
            <a:avLst/>
          </a:prstGeom>
          <a:noFill/>
        </p:spPr>
        <p:txBody>
          <a:bodyPr wrap="square" rtlCol="0">
            <a:spAutoFit/>
          </a:bodyPr>
          <a:lstStyle/>
          <a:p>
            <a:r>
              <a:rPr lang="en-ZA" sz="3600" b="1" dirty="0"/>
              <a:t>Structures vs Arrays vs Enums</a:t>
            </a:r>
            <a:endParaRPr lang="en-US" sz="3600" b="1" dirty="0"/>
          </a:p>
        </p:txBody>
      </p:sp>
      <p:sp>
        <p:nvSpPr>
          <p:cNvPr id="2" name="Content Placeholder 2">
            <a:extLst>
              <a:ext uri="{FF2B5EF4-FFF2-40B4-BE49-F238E27FC236}">
                <a16:creationId xmlns:a16="http://schemas.microsoft.com/office/drawing/2014/main" id="{C579949E-E4A7-FB07-384E-A0A89A7AEE9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struct</a:t>
            </a:r>
            <a:r>
              <a:rPr lang="en-US" sz="2400" dirty="0"/>
              <a:t>: A collection of a fixed number of components in which the components are accessed by name. The components may be of different types.</a:t>
            </a:r>
          </a:p>
          <a:p>
            <a:pPr algn="l"/>
            <a:endParaRPr lang="en-US" sz="2400" b="1" dirty="0"/>
          </a:p>
          <a:p>
            <a:pPr algn="l"/>
            <a:r>
              <a:rPr lang="en-US" sz="2400" dirty="0"/>
              <a:t>The components of a </a:t>
            </a:r>
            <a:r>
              <a:rPr lang="en-US" sz="2400" b="1" dirty="0"/>
              <a:t>struct </a:t>
            </a:r>
            <a:r>
              <a:rPr lang="en-US" sz="2400" dirty="0"/>
              <a:t>are called the members of the </a:t>
            </a:r>
            <a:r>
              <a:rPr lang="en-US" sz="2400" b="1" dirty="0"/>
              <a:t>struct</a:t>
            </a:r>
            <a:r>
              <a:rPr lang="en-US" sz="2400" dirty="0"/>
              <a:t>.</a:t>
            </a:r>
            <a:endParaRPr lang="en-US" sz="2400" b="1" dirty="0"/>
          </a:p>
        </p:txBody>
      </p:sp>
    </p:spTree>
    <p:extLst>
      <p:ext uri="{BB962C8B-B14F-4D97-AF65-F5344CB8AC3E}">
        <p14:creationId xmlns:p14="http://schemas.microsoft.com/office/powerpoint/2010/main" val="1367630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F0508-DB10-EBB9-CE63-4D59BE13267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5FC9904-668E-708B-8EFC-07FEBBE9A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638B3400-8996-71EA-5EFA-D6AFD97AC5AB}"/>
              </a:ext>
            </a:extLst>
          </p:cNvPr>
          <p:cNvSpPr txBox="1"/>
          <p:nvPr/>
        </p:nvSpPr>
        <p:spPr>
          <a:xfrm>
            <a:off x="0" y="65927"/>
            <a:ext cx="6858000" cy="646331"/>
          </a:xfrm>
          <a:prstGeom prst="rect">
            <a:avLst/>
          </a:prstGeom>
          <a:noFill/>
        </p:spPr>
        <p:txBody>
          <a:bodyPr wrap="square" rtlCol="0">
            <a:spAutoFit/>
          </a:bodyPr>
          <a:lstStyle/>
          <a:p>
            <a:r>
              <a:rPr lang="en-ZA" sz="3600" b="1" dirty="0"/>
              <a:t>Structures</a:t>
            </a:r>
            <a:endParaRPr lang="en-US" sz="3600" b="1" dirty="0"/>
          </a:p>
        </p:txBody>
      </p:sp>
      <p:sp>
        <p:nvSpPr>
          <p:cNvPr id="2" name="Content Placeholder 2">
            <a:extLst>
              <a:ext uri="{FF2B5EF4-FFF2-40B4-BE49-F238E27FC236}">
                <a16:creationId xmlns:a16="http://schemas.microsoft.com/office/drawing/2014/main" id="{950AA7F4-23F8-3A9E-9080-64C29433D8D1}"/>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342900" indent="-342900" algn="l">
              <a:buClr>
                <a:srgbClr val="C00000"/>
              </a:buClr>
              <a:buFont typeface="Arial" panose="020B0604020202020204" pitchFamily="34" charset="0"/>
              <a:buChar char="•"/>
            </a:pPr>
            <a:r>
              <a:rPr lang="en-US" sz="2400" dirty="0">
                <a:latin typeface="GiovanniStd-Book"/>
              </a:rPr>
              <a:t>A structure (struct) is used to group related variables (often of different types) into a single compound data type.</a:t>
            </a:r>
          </a:p>
          <a:p>
            <a:pPr marL="342900" indent="-342900" algn="l">
              <a:buClr>
                <a:srgbClr val="C00000"/>
              </a:buClr>
              <a:buFont typeface="Arial" panose="020B0604020202020204" pitchFamily="34" charset="0"/>
              <a:buChar char="•"/>
            </a:pPr>
            <a:r>
              <a:rPr lang="en-US" sz="2400" dirty="0">
                <a:latin typeface="GiovanniStd-Book"/>
              </a:rPr>
              <a:t>Consists of a collection of values of different types which are treated as a single item.</a:t>
            </a:r>
            <a:endParaRPr lang="en-US" sz="2400" dirty="0">
              <a:solidFill>
                <a:srgbClr val="000000"/>
              </a:solidFill>
              <a:latin typeface="-apple-system"/>
            </a:endParaRPr>
          </a:p>
          <a:p>
            <a:pPr marL="342900" indent="-342900" algn="l">
              <a:buClr>
                <a:srgbClr val="C00000"/>
              </a:buClr>
              <a:buFont typeface="Arial" panose="020B0604020202020204" pitchFamily="34" charset="0"/>
              <a:buChar char="•"/>
            </a:pPr>
            <a:r>
              <a:rPr lang="en-US" sz="2400" dirty="0">
                <a:latin typeface="GiovanniStd-Book"/>
              </a:rPr>
              <a:t>A structure can be thought of as an object without any member functions.</a:t>
            </a:r>
          </a:p>
          <a:p>
            <a:pPr marL="342900" indent="-342900" algn="l">
              <a:buClr>
                <a:srgbClr val="C00000"/>
              </a:buClr>
              <a:buFont typeface="Arial" panose="020B0604020202020204" pitchFamily="34" charset="0"/>
              <a:buChar char="•"/>
            </a:pPr>
            <a:r>
              <a:rPr lang="en-US" sz="2400" dirty="0">
                <a:latin typeface="GiovanniStd-Book"/>
              </a:rPr>
              <a:t>It is especially </a:t>
            </a:r>
            <a:r>
              <a:rPr lang="en-US" sz="2400" dirty="0"/>
              <a:t>useful for modeling real-world entities.</a:t>
            </a:r>
            <a:endParaRPr lang="en-US" sz="2400" dirty="0">
              <a:latin typeface="Arial" panose="020B0604020202020204" pitchFamily="34" charset="0"/>
              <a:cs typeface="Arial" panose="020B0604020202020204" pitchFamily="34" charset="0"/>
            </a:endParaRPr>
          </a:p>
          <a:p>
            <a:pPr algn="l"/>
            <a:endParaRPr lang="en-US" sz="2400" b="1" dirty="0"/>
          </a:p>
          <a:p>
            <a:pPr algn="l"/>
            <a:endParaRPr lang="en-US" sz="2400" b="1" dirty="0"/>
          </a:p>
        </p:txBody>
      </p:sp>
    </p:spTree>
    <p:extLst>
      <p:ext uri="{BB962C8B-B14F-4D97-AF65-F5344CB8AC3E}">
        <p14:creationId xmlns:p14="http://schemas.microsoft.com/office/powerpoint/2010/main" val="3466461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0768F-FA23-45B0-A41F-4CD4D2FF33C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AA0DF47-04F1-54D8-8A6C-85162C618D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5542DAF-968B-6B98-6BF5-244AF836377A}"/>
              </a:ext>
            </a:extLst>
          </p:cNvPr>
          <p:cNvSpPr txBox="1"/>
          <p:nvPr/>
        </p:nvSpPr>
        <p:spPr>
          <a:xfrm>
            <a:off x="0" y="65927"/>
            <a:ext cx="6858000" cy="646331"/>
          </a:xfrm>
          <a:prstGeom prst="rect">
            <a:avLst/>
          </a:prstGeom>
          <a:noFill/>
        </p:spPr>
        <p:txBody>
          <a:bodyPr wrap="square" rtlCol="0">
            <a:spAutoFit/>
          </a:bodyPr>
          <a:lstStyle/>
          <a:p>
            <a:r>
              <a:rPr lang="en-ZA" sz="3600" b="1" dirty="0"/>
              <a:t>Structure’s General Syntax</a:t>
            </a:r>
            <a:endParaRPr lang="en-US" sz="3600" b="1" dirty="0"/>
          </a:p>
        </p:txBody>
      </p:sp>
      <p:sp>
        <p:nvSpPr>
          <p:cNvPr id="2" name="Content Placeholder 2">
            <a:extLst>
              <a:ext uri="{FF2B5EF4-FFF2-40B4-BE49-F238E27FC236}">
                <a16:creationId xmlns:a16="http://schemas.microsoft.com/office/drawing/2014/main" id="{4ED7BCEA-C98F-8F49-A47B-E3CF8D793070}"/>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ZA" sz="2400" dirty="0"/>
              <a:t>The general syntax </a:t>
            </a:r>
            <a:r>
              <a:rPr lang="en-US" sz="2400" dirty="0"/>
              <a:t>of a </a:t>
            </a:r>
            <a:r>
              <a:rPr lang="en-US" sz="2400" b="1" dirty="0"/>
              <a:t>struct </a:t>
            </a:r>
            <a:r>
              <a:rPr lang="en-US" sz="2400" dirty="0"/>
              <a:t>in C++ is:</a:t>
            </a:r>
          </a:p>
          <a:p>
            <a:endParaRPr lang="en-US" sz="2400" b="1" dirty="0"/>
          </a:p>
          <a:p>
            <a:endParaRPr lang="en-US" sz="2400" b="1" dirty="0"/>
          </a:p>
          <a:p>
            <a:pPr algn="l"/>
            <a:endParaRPr lang="en-US" sz="2400" b="1" dirty="0"/>
          </a:p>
        </p:txBody>
      </p:sp>
      <p:pic>
        <p:nvPicPr>
          <p:cNvPr id="6" name="Picture 5">
            <a:extLst>
              <a:ext uri="{FF2B5EF4-FFF2-40B4-BE49-F238E27FC236}">
                <a16:creationId xmlns:a16="http://schemas.microsoft.com/office/drawing/2014/main" id="{55B1A7F1-828B-D8C8-A611-66036CC246D9}"/>
              </a:ext>
            </a:extLst>
          </p:cNvPr>
          <p:cNvPicPr>
            <a:picLocks noChangeAspect="1"/>
          </p:cNvPicPr>
          <p:nvPr/>
        </p:nvPicPr>
        <p:blipFill>
          <a:blip r:embed="rId3"/>
          <a:stretch>
            <a:fillRect/>
          </a:stretch>
        </p:blipFill>
        <p:spPr>
          <a:xfrm>
            <a:off x="513319" y="3421975"/>
            <a:ext cx="5273869" cy="3423993"/>
          </a:xfrm>
          <a:prstGeom prst="rect">
            <a:avLst/>
          </a:prstGeom>
        </p:spPr>
      </p:pic>
    </p:spTree>
    <p:extLst>
      <p:ext uri="{BB962C8B-B14F-4D97-AF65-F5344CB8AC3E}">
        <p14:creationId xmlns:p14="http://schemas.microsoft.com/office/powerpoint/2010/main" val="2344148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6B5DF-0323-8DF4-CA20-0E14CC28DA2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5A7CCA6-2C11-19CC-E371-F8A8CB0BE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CD94348-6E83-B72D-4ACA-6D9C70FCB8A9}"/>
              </a:ext>
            </a:extLst>
          </p:cNvPr>
          <p:cNvSpPr txBox="1"/>
          <p:nvPr/>
        </p:nvSpPr>
        <p:spPr>
          <a:xfrm>
            <a:off x="0" y="65927"/>
            <a:ext cx="6858000" cy="646331"/>
          </a:xfrm>
          <a:prstGeom prst="rect">
            <a:avLst/>
          </a:prstGeom>
          <a:noFill/>
        </p:spPr>
        <p:txBody>
          <a:bodyPr wrap="square" rtlCol="0">
            <a:spAutoFit/>
          </a:bodyPr>
          <a:lstStyle/>
          <a:p>
            <a:r>
              <a:rPr lang="en-US" sz="3600" b="1" dirty="0"/>
              <a:t>Definition of a Structure</a:t>
            </a:r>
          </a:p>
        </p:txBody>
      </p:sp>
      <p:sp>
        <p:nvSpPr>
          <p:cNvPr id="2" name="Content Placeholder 2">
            <a:extLst>
              <a:ext uri="{FF2B5EF4-FFF2-40B4-BE49-F238E27FC236}">
                <a16:creationId xmlns:a16="http://schemas.microsoft.com/office/drawing/2014/main" id="{C35BBF53-131D-C3FE-5AEA-C24EC048D632}"/>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pic>
        <p:nvPicPr>
          <p:cNvPr id="6" name="Picture 5">
            <a:extLst>
              <a:ext uri="{FF2B5EF4-FFF2-40B4-BE49-F238E27FC236}">
                <a16:creationId xmlns:a16="http://schemas.microsoft.com/office/drawing/2014/main" id="{C1E4C4A0-14B8-84D7-9EF6-6301DA7DEB89}"/>
              </a:ext>
            </a:extLst>
          </p:cNvPr>
          <p:cNvPicPr>
            <a:picLocks noChangeAspect="1"/>
          </p:cNvPicPr>
          <p:nvPr/>
        </p:nvPicPr>
        <p:blipFill>
          <a:blip r:embed="rId3"/>
          <a:stretch>
            <a:fillRect/>
          </a:stretch>
        </p:blipFill>
        <p:spPr>
          <a:xfrm>
            <a:off x="471487" y="2086227"/>
            <a:ext cx="5450305" cy="3800106"/>
          </a:xfrm>
          <a:prstGeom prst="rect">
            <a:avLst/>
          </a:prstGeom>
        </p:spPr>
      </p:pic>
      <p:sp>
        <p:nvSpPr>
          <p:cNvPr id="8" name="TextBox 7">
            <a:extLst>
              <a:ext uri="{FF2B5EF4-FFF2-40B4-BE49-F238E27FC236}">
                <a16:creationId xmlns:a16="http://schemas.microsoft.com/office/drawing/2014/main" id="{852FF934-C3CF-A515-3A7B-B6300C1B8D5F}"/>
              </a:ext>
            </a:extLst>
          </p:cNvPr>
          <p:cNvSpPr txBox="1"/>
          <p:nvPr/>
        </p:nvSpPr>
        <p:spPr>
          <a:xfrm>
            <a:off x="471487" y="6589112"/>
            <a:ext cx="5664618" cy="2677656"/>
          </a:xfrm>
          <a:prstGeom prst="rect">
            <a:avLst/>
          </a:prstGeom>
          <a:noFill/>
        </p:spPr>
        <p:txBody>
          <a:bodyPr wrap="square">
            <a:spAutoFit/>
          </a:bodyPr>
          <a:lstStyle/>
          <a:p>
            <a:r>
              <a:rPr lang="en-ZA" sz="2400" b="0" i="0" u="none" strike="noStrike" baseline="0" dirty="0">
                <a:solidFill>
                  <a:srgbClr val="211808"/>
                </a:solidFill>
                <a:latin typeface="WarnockPro-Regular"/>
              </a:rPr>
              <a:t>The above statement </a:t>
            </a:r>
            <a:r>
              <a:rPr lang="en-US" sz="2400" dirty="0"/>
              <a:t>defines a </a:t>
            </a:r>
            <a:r>
              <a:rPr lang="en-US" sz="2400" b="1" dirty="0"/>
              <a:t>struct </a:t>
            </a:r>
            <a:r>
              <a:rPr lang="en-US" sz="2400" b="1" dirty="0" err="1"/>
              <a:t>houseType</a:t>
            </a:r>
            <a:r>
              <a:rPr lang="en-US" sz="2400" b="1" dirty="0"/>
              <a:t> </a:t>
            </a:r>
            <a:r>
              <a:rPr lang="en-US" sz="2400" dirty="0"/>
              <a:t>with eight members.</a:t>
            </a:r>
          </a:p>
          <a:p>
            <a:endParaRPr lang="en-US" sz="2400" dirty="0"/>
          </a:p>
          <a:p>
            <a:r>
              <a:rPr lang="en-US" sz="2400" dirty="0"/>
              <a:t>Like any type definition, a </a:t>
            </a:r>
            <a:r>
              <a:rPr lang="en-US" sz="2400" b="1" dirty="0"/>
              <a:t>struct </a:t>
            </a:r>
            <a:r>
              <a:rPr lang="en-US" sz="2400" dirty="0"/>
              <a:t>is a definition, not a declaration. That is, it defines only a data type; no memory is allocated.</a:t>
            </a:r>
            <a:endParaRPr lang="en-ZA" sz="2400" dirty="0"/>
          </a:p>
        </p:txBody>
      </p:sp>
    </p:spTree>
    <p:extLst>
      <p:ext uri="{BB962C8B-B14F-4D97-AF65-F5344CB8AC3E}">
        <p14:creationId xmlns:p14="http://schemas.microsoft.com/office/powerpoint/2010/main" val="4228428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4668F-7067-64CC-A783-7E93E1BC29A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22CF82C-DA3F-B12C-E4BF-05EC0E0BB2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4FF7305-3D44-3861-8CB6-0ADB3FABD8EC}"/>
              </a:ext>
            </a:extLst>
          </p:cNvPr>
          <p:cNvSpPr txBox="1"/>
          <p:nvPr/>
        </p:nvSpPr>
        <p:spPr>
          <a:xfrm>
            <a:off x="0" y="65927"/>
            <a:ext cx="6858000" cy="646331"/>
          </a:xfrm>
          <a:prstGeom prst="rect">
            <a:avLst/>
          </a:prstGeom>
          <a:noFill/>
        </p:spPr>
        <p:txBody>
          <a:bodyPr wrap="square" rtlCol="0">
            <a:spAutoFit/>
          </a:bodyPr>
          <a:lstStyle/>
          <a:p>
            <a:r>
              <a:rPr lang="en-US" sz="3600" b="1" dirty="0"/>
              <a:t>Definition of a Structure</a:t>
            </a:r>
          </a:p>
        </p:txBody>
      </p:sp>
      <p:sp>
        <p:nvSpPr>
          <p:cNvPr id="2" name="Content Placeholder 2">
            <a:extLst>
              <a:ext uri="{FF2B5EF4-FFF2-40B4-BE49-F238E27FC236}">
                <a16:creationId xmlns:a16="http://schemas.microsoft.com/office/drawing/2014/main" id="{5C68BB70-F795-8454-ADA9-F1BEACF30240}"/>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8" name="TextBox 7">
            <a:extLst>
              <a:ext uri="{FF2B5EF4-FFF2-40B4-BE49-F238E27FC236}">
                <a16:creationId xmlns:a16="http://schemas.microsoft.com/office/drawing/2014/main" id="{856158D2-CDC4-3DD7-3BC4-E21C76E9AEA8}"/>
              </a:ext>
            </a:extLst>
          </p:cNvPr>
          <p:cNvSpPr txBox="1"/>
          <p:nvPr/>
        </p:nvSpPr>
        <p:spPr>
          <a:xfrm>
            <a:off x="471487" y="2637014"/>
            <a:ext cx="5664618" cy="4154984"/>
          </a:xfrm>
          <a:prstGeom prst="rect">
            <a:avLst/>
          </a:prstGeom>
          <a:noFill/>
        </p:spPr>
        <p:txBody>
          <a:bodyPr wrap="square">
            <a:spAutoFit/>
          </a:bodyPr>
          <a:lstStyle/>
          <a:p>
            <a:r>
              <a:rPr lang="en-US" sz="2400" dirty="0"/>
              <a:t>For example, the following statement defines </a:t>
            </a:r>
            <a:r>
              <a:rPr lang="en-US" sz="2400" b="1" dirty="0" err="1"/>
              <a:t>newHouse</a:t>
            </a:r>
            <a:r>
              <a:rPr lang="en-US" sz="2400" b="1" dirty="0"/>
              <a:t> </a:t>
            </a:r>
            <a:r>
              <a:rPr lang="en-US" sz="2400" dirty="0"/>
              <a:t>to be a </a:t>
            </a:r>
            <a:r>
              <a:rPr lang="en-US" sz="2400" b="1" dirty="0"/>
              <a:t>struct </a:t>
            </a:r>
            <a:r>
              <a:rPr lang="en-US" sz="2400" dirty="0"/>
              <a:t>variable of </a:t>
            </a:r>
            <a:r>
              <a:rPr lang="en-ZA" sz="2400" dirty="0"/>
              <a:t>type </a:t>
            </a:r>
            <a:r>
              <a:rPr lang="en-ZA" sz="2400" b="1" dirty="0" err="1"/>
              <a:t>houseType</a:t>
            </a:r>
            <a:r>
              <a:rPr lang="en-ZA" sz="2400" dirty="0"/>
              <a:t>:</a:t>
            </a:r>
          </a:p>
          <a:p>
            <a:r>
              <a:rPr lang="en-ZA" sz="2400" b="1" dirty="0"/>
              <a:t>//variable declaration</a:t>
            </a:r>
          </a:p>
          <a:p>
            <a:r>
              <a:rPr lang="en-ZA" sz="2400" b="1" dirty="0" err="1"/>
              <a:t>houseType</a:t>
            </a:r>
            <a:r>
              <a:rPr lang="en-ZA" sz="2400" b="1" dirty="0"/>
              <a:t> </a:t>
            </a:r>
            <a:r>
              <a:rPr lang="en-ZA" sz="2400" b="1" dirty="0" err="1"/>
              <a:t>newHouse</a:t>
            </a:r>
            <a:r>
              <a:rPr lang="en-ZA" sz="2400" b="1" dirty="0"/>
              <a:t>;</a:t>
            </a:r>
          </a:p>
          <a:p>
            <a:endParaRPr lang="en-ZA" sz="2400" b="1" dirty="0"/>
          </a:p>
          <a:p>
            <a:r>
              <a:rPr lang="en-US" sz="2400" dirty="0"/>
              <a:t>The memory allocated is large enough to store </a:t>
            </a:r>
            <a:r>
              <a:rPr lang="en-US" sz="2400" b="1" dirty="0"/>
              <a:t>style</a:t>
            </a:r>
            <a:r>
              <a:rPr lang="en-US" sz="2400" dirty="0"/>
              <a:t>, </a:t>
            </a:r>
            <a:r>
              <a:rPr lang="en-US" sz="2400" b="1" dirty="0" err="1"/>
              <a:t>numOfBedrooms</a:t>
            </a:r>
            <a:r>
              <a:rPr lang="en-US" sz="2400" dirty="0"/>
              <a:t>, </a:t>
            </a:r>
            <a:r>
              <a:rPr lang="en-ZA" sz="2400" b="1" dirty="0" err="1"/>
              <a:t>numOfBathrooms</a:t>
            </a:r>
            <a:r>
              <a:rPr lang="en-ZA" sz="2400" dirty="0"/>
              <a:t>, </a:t>
            </a:r>
            <a:r>
              <a:rPr lang="en-ZA" sz="2400" b="1" dirty="0" err="1"/>
              <a:t>numOfCarsGarage</a:t>
            </a:r>
            <a:r>
              <a:rPr lang="en-ZA" sz="2400" dirty="0"/>
              <a:t>, </a:t>
            </a:r>
            <a:r>
              <a:rPr lang="en-ZA" sz="2400" b="1" dirty="0" err="1"/>
              <a:t>yearBuilt</a:t>
            </a:r>
            <a:r>
              <a:rPr lang="en-ZA" sz="2400" dirty="0"/>
              <a:t>, </a:t>
            </a:r>
            <a:r>
              <a:rPr lang="en-ZA" sz="2400" b="1" dirty="0" err="1"/>
              <a:t>finishedSquareFootage</a:t>
            </a:r>
            <a:r>
              <a:rPr lang="en-ZA" sz="2400" dirty="0"/>
              <a:t>, </a:t>
            </a:r>
            <a:r>
              <a:rPr lang="en-ZA" sz="2400" b="1" dirty="0"/>
              <a:t>price</a:t>
            </a:r>
            <a:r>
              <a:rPr lang="en-ZA" sz="2400" dirty="0"/>
              <a:t>, and </a:t>
            </a:r>
            <a:r>
              <a:rPr lang="en-ZA" sz="2400" b="1" dirty="0"/>
              <a:t>tax</a:t>
            </a:r>
            <a:endParaRPr lang="en-ZA" sz="2400" dirty="0"/>
          </a:p>
        </p:txBody>
      </p:sp>
      <p:pic>
        <p:nvPicPr>
          <p:cNvPr id="7" name="Picture 6">
            <a:extLst>
              <a:ext uri="{FF2B5EF4-FFF2-40B4-BE49-F238E27FC236}">
                <a16:creationId xmlns:a16="http://schemas.microsoft.com/office/drawing/2014/main" id="{63E30A7A-3EF8-63FF-3772-3638CDB1C90F}"/>
              </a:ext>
            </a:extLst>
          </p:cNvPr>
          <p:cNvPicPr>
            <a:picLocks noChangeAspect="1"/>
          </p:cNvPicPr>
          <p:nvPr/>
        </p:nvPicPr>
        <p:blipFill>
          <a:blip r:embed="rId3"/>
          <a:stretch>
            <a:fillRect/>
          </a:stretch>
        </p:blipFill>
        <p:spPr>
          <a:xfrm>
            <a:off x="1660357" y="6533147"/>
            <a:ext cx="4114801" cy="2614099"/>
          </a:xfrm>
          <a:prstGeom prst="rect">
            <a:avLst/>
          </a:prstGeom>
        </p:spPr>
      </p:pic>
    </p:spTree>
    <p:extLst>
      <p:ext uri="{BB962C8B-B14F-4D97-AF65-F5344CB8AC3E}">
        <p14:creationId xmlns:p14="http://schemas.microsoft.com/office/powerpoint/2010/main" val="3339063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14709-0F70-EF27-38C7-71B722861FD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E2E723D-3C75-D514-CD8F-F8C06F26CF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8A3B8E4-9F0A-60B7-9810-38851F7E1266}"/>
              </a:ext>
            </a:extLst>
          </p:cNvPr>
          <p:cNvSpPr txBox="1"/>
          <p:nvPr/>
        </p:nvSpPr>
        <p:spPr>
          <a:xfrm>
            <a:off x="0" y="65927"/>
            <a:ext cx="6858000" cy="646331"/>
          </a:xfrm>
          <a:prstGeom prst="rect">
            <a:avLst/>
          </a:prstGeom>
          <a:noFill/>
        </p:spPr>
        <p:txBody>
          <a:bodyPr wrap="square" rtlCol="0">
            <a:spAutoFit/>
          </a:bodyPr>
          <a:lstStyle/>
          <a:p>
            <a:r>
              <a:rPr lang="en-US" sz="3600" b="1" dirty="0"/>
              <a:t>Definition of a Structure</a:t>
            </a:r>
          </a:p>
        </p:txBody>
      </p:sp>
      <p:sp>
        <p:nvSpPr>
          <p:cNvPr id="2" name="Content Placeholder 2">
            <a:extLst>
              <a:ext uri="{FF2B5EF4-FFF2-40B4-BE49-F238E27FC236}">
                <a16:creationId xmlns:a16="http://schemas.microsoft.com/office/drawing/2014/main" id="{EEC48D1C-56B9-B2A6-A33C-F04F88750581}"/>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8" name="TextBox 7">
            <a:extLst>
              <a:ext uri="{FF2B5EF4-FFF2-40B4-BE49-F238E27FC236}">
                <a16:creationId xmlns:a16="http://schemas.microsoft.com/office/drawing/2014/main" id="{9F57E902-A34F-492F-FFB0-35AB319B7B19}"/>
              </a:ext>
            </a:extLst>
          </p:cNvPr>
          <p:cNvSpPr txBox="1"/>
          <p:nvPr/>
        </p:nvSpPr>
        <p:spPr>
          <a:xfrm>
            <a:off x="560415" y="6044893"/>
            <a:ext cx="5664618" cy="3416320"/>
          </a:xfrm>
          <a:prstGeom prst="rect">
            <a:avLst/>
          </a:prstGeom>
          <a:noFill/>
        </p:spPr>
        <p:txBody>
          <a:bodyPr wrap="square">
            <a:spAutoFit/>
          </a:bodyPr>
          <a:lstStyle/>
          <a:p>
            <a:r>
              <a:rPr lang="en-US" sz="2400" dirty="0"/>
              <a:t>The keyword </a:t>
            </a:r>
            <a:r>
              <a:rPr lang="en-US" sz="2400" i="1" dirty="0"/>
              <a:t>struct </a:t>
            </a:r>
            <a:r>
              <a:rPr lang="en-US" sz="2400" dirty="0"/>
              <a:t>announces that this is a structure type definition.</a:t>
            </a:r>
          </a:p>
          <a:p>
            <a:r>
              <a:rPr lang="en-US" sz="2400" dirty="0"/>
              <a:t>The identifier </a:t>
            </a:r>
            <a:r>
              <a:rPr lang="en-US" sz="2400" dirty="0" err="1"/>
              <a:t>CDAccount</a:t>
            </a:r>
            <a:r>
              <a:rPr lang="en-US" sz="2400" dirty="0"/>
              <a:t> is the name of the structure type. The name of a structure type is called the </a:t>
            </a:r>
            <a:r>
              <a:rPr lang="en-US" sz="2400" b="1" dirty="0"/>
              <a:t>structure tag. </a:t>
            </a:r>
            <a:r>
              <a:rPr lang="en-US" sz="2400" dirty="0"/>
              <a:t>The tag can be any legal identifier </a:t>
            </a:r>
            <a:r>
              <a:rPr lang="en-ZA" sz="2400" dirty="0"/>
              <a:t>(but not a keyword).</a:t>
            </a:r>
          </a:p>
          <a:p>
            <a:endParaRPr lang="en-ZA" sz="2400" dirty="0"/>
          </a:p>
          <a:p>
            <a:r>
              <a:rPr lang="en-US" sz="2400" dirty="0"/>
              <a:t>The identifiers declared inside the braces, {}, are called </a:t>
            </a:r>
            <a:r>
              <a:rPr lang="en-US" sz="2400" b="1" dirty="0"/>
              <a:t>member names.</a:t>
            </a:r>
            <a:endParaRPr lang="en-US" sz="2400" dirty="0"/>
          </a:p>
        </p:txBody>
      </p:sp>
      <p:pic>
        <p:nvPicPr>
          <p:cNvPr id="7" name="Picture 6">
            <a:extLst>
              <a:ext uri="{FF2B5EF4-FFF2-40B4-BE49-F238E27FC236}">
                <a16:creationId xmlns:a16="http://schemas.microsoft.com/office/drawing/2014/main" id="{91194910-7690-20D1-51DD-BDFBF64FB133}"/>
              </a:ext>
            </a:extLst>
          </p:cNvPr>
          <p:cNvPicPr>
            <a:picLocks noChangeAspect="1"/>
          </p:cNvPicPr>
          <p:nvPr/>
        </p:nvPicPr>
        <p:blipFill>
          <a:blip r:embed="rId3"/>
          <a:stretch>
            <a:fillRect/>
          </a:stretch>
        </p:blipFill>
        <p:spPr>
          <a:xfrm>
            <a:off x="471487" y="2382121"/>
            <a:ext cx="5915025" cy="3147071"/>
          </a:xfrm>
          <a:prstGeom prst="rect">
            <a:avLst/>
          </a:prstGeom>
        </p:spPr>
      </p:pic>
    </p:spTree>
    <p:extLst>
      <p:ext uri="{BB962C8B-B14F-4D97-AF65-F5344CB8AC3E}">
        <p14:creationId xmlns:p14="http://schemas.microsoft.com/office/powerpoint/2010/main" val="3110950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F198B-20AF-3B51-936A-8201BFC950D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6EDEF5E-2528-8079-7E8A-18596B15D6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8DB691F-9DA4-DFF4-FBA0-08416CD9E1BA}"/>
              </a:ext>
            </a:extLst>
          </p:cNvPr>
          <p:cNvSpPr txBox="1"/>
          <p:nvPr/>
        </p:nvSpPr>
        <p:spPr>
          <a:xfrm>
            <a:off x="0" y="65927"/>
            <a:ext cx="6858000" cy="1200329"/>
          </a:xfrm>
          <a:prstGeom prst="rect">
            <a:avLst/>
          </a:prstGeom>
          <a:noFill/>
        </p:spPr>
        <p:txBody>
          <a:bodyPr wrap="square" rtlCol="0">
            <a:spAutoFit/>
          </a:bodyPr>
          <a:lstStyle/>
          <a:p>
            <a:r>
              <a:rPr lang="en-ZA" sz="3600" b="1" dirty="0"/>
              <a:t>Where to place a structure definition</a:t>
            </a:r>
          </a:p>
        </p:txBody>
      </p:sp>
      <p:sp>
        <p:nvSpPr>
          <p:cNvPr id="2" name="Content Placeholder 2">
            <a:extLst>
              <a:ext uri="{FF2B5EF4-FFF2-40B4-BE49-F238E27FC236}">
                <a16:creationId xmlns:a16="http://schemas.microsoft.com/office/drawing/2014/main" id="{70782A5F-39F8-3832-17D5-D25C87B4E878}"/>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6" name="TextBox 5">
            <a:extLst>
              <a:ext uri="{FF2B5EF4-FFF2-40B4-BE49-F238E27FC236}">
                <a16:creationId xmlns:a16="http://schemas.microsoft.com/office/drawing/2014/main" id="{DFF1FDAD-0BE9-779C-41C0-58C0057ED430}"/>
              </a:ext>
            </a:extLst>
          </p:cNvPr>
          <p:cNvSpPr txBox="1"/>
          <p:nvPr/>
        </p:nvSpPr>
        <p:spPr>
          <a:xfrm>
            <a:off x="782053" y="2051630"/>
            <a:ext cx="5342021" cy="2677656"/>
          </a:xfrm>
          <a:prstGeom prst="rect">
            <a:avLst/>
          </a:prstGeom>
          <a:noFill/>
        </p:spPr>
        <p:txBody>
          <a:bodyPr wrap="square">
            <a:spAutoFit/>
          </a:bodyPr>
          <a:lstStyle/>
          <a:p>
            <a:pPr algn="l"/>
            <a:r>
              <a:rPr lang="en-US" sz="2400" dirty="0"/>
              <a:t>A structure definition is usually placed outside of any function definition</a:t>
            </a:r>
          </a:p>
          <a:p>
            <a:r>
              <a:rPr lang="en-US" sz="2400" dirty="0"/>
              <a:t>(in the same way that globally defined constant declarations are placed outside of all function definitions). The structure type is then available to all the code that follows the structure definition.</a:t>
            </a:r>
            <a:endParaRPr lang="en-US" sz="2400" dirty="0">
              <a:solidFill>
                <a:srgbClr val="000000"/>
              </a:solidFill>
              <a:latin typeface="AGaramond-Regular"/>
            </a:endParaRPr>
          </a:p>
        </p:txBody>
      </p:sp>
      <p:pic>
        <p:nvPicPr>
          <p:cNvPr id="7" name="Picture 6">
            <a:extLst>
              <a:ext uri="{FF2B5EF4-FFF2-40B4-BE49-F238E27FC236}">
                <a16:creationId xmlns:a16="http://schemas.microsoft.com/office/drawing/2014/main" id="{63E483AC-70C4-B6C4-41EB-A4968D0CE3BB}"/>
              </a:ext>
            </a:extLst>
          </p:cNvPr>
          <p:cNvPicPr>
            <a:picLocks noChangeAspect="1"/>
          </p:cNvPicPr>
          <p:nvPr/>
        </p:nvPicPr>
        <p:blipFill>
          <a:blip r:embed="rId3"/>
          <a:stretch>
            <a:fillRect/>
          </a:stretch>
        </p:blipFill>
        <p:spPr>
          <a:xfrm>
            <a:off x="372748" y="4909889"/>
            <a:ext cx="2696022" cy="1647322"/>
          </a:xfrm>
          <a:prstGeom prst="rect">
            <a:avLst/>
          </a:prstGeom>
        </p:spPr>
      </p:pic>
      <p:pic>
        <p:nvPicPr>
          <p:cNvPr id="10" name="Picture 9">
            <a:extLst>
              <a:ext uri="{FF2B5EF4-FFF2-40B4-BE49-F238E27FC236}">
                <a16:creationId xmlns:a16="http://schemas.microsoft.com/office/drawing/2014/main" id="{CC34F257-610E-9BE8-8398-E7F8715A7F37}"/>
              </a:ext>
            </a:extLst>
          </p:cNvPr>
          <p:cNvPicPr>
            <a:picLocks noChangeAspect="1"/>
          </p:cNvPicPr>
          <p:nvPr/>
        </p:nvPicPr>
        <p:blipFill>
          <a:blip r:embed="rId4"/>
          <a:stretch>
            <a:fillRect/>
          </a:stretch>
        </p:blipFill>
        <p:spPr>
          <a:xfrm>
            <a:off x="3429000" y="4903302"/>
            <a:ext cx="2695074" cy="1947716"/>
          </a:xfrm>
          <a:prstGeom prst="rect">
            <a:avLst/>
          </a:prstGeom>
        </p:spPr>
      </p:pic>
      <p:pic>
        <p:nvPicPr>
          <p:cNvPr id="12" name="Picture 11">
            <a:extLst>
              <a:ext uri="{FF2B5EF4-FFF2-40B4-BE49-F238E27FC236}">
                <a16:creationId xmlns:a16="http://schemas.microsoft.com/office/drawing/2014/main" id="{D4770F11-0720-53C4-168E-4B2121E4EB51}"/>
              </a:ext>
            </a:extLst>
          </p:cNvPr>
          <p:cNvPicPr>
            <a:picLocks noChangeAspect="1"/>
          </p:cNvPicPr>
          <p:nvPr/>
        </p:nvPicPr>
        <p:blipFill>
          <a:blip r:embed="rId5"/>
          <a:stretch>
            <a:fillRect/>
          </a:stretch>
        </p:blipFill>
        <p:spPr>
          <a:xfrm>
            <a:off x="306069" y="6851018"/>
            <a:ext cx="2894331" cy="2449393"/>
          </a:xfrm>
          <a:prstGeom prst="rect">
            <a:avLst/>
          </a:prstGeom>
        </p:spPr>
      </p:pic>
    </p:spTree>
    <p:extLst>
      <p:ext uri="{BB962C8B-B14F-4D97-AF65-F5344CB8AC3E}">
        <p14:creationId xmlns:p14="http://schemas.microsoft.com/office/powerpoint/2010/main" val="1780152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D0462-66E0-DCB9-3F1F-9F27BF3A246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2FCCE256-52C8-0D43-495B-9FE3589411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EC3DD0D-23A2-FE09-DE2A-2F588B842557}"/>
              </a:ext>
            </a:extLst>
          </p:cNvPr>
          <p:cNvSpPr txBox="1"/>
          <p:nvPr/>
        </p:nvSpPr>
        <p:spPr>
          <a:xfrm>
            <a:off x="0" y="65927"/>
            <a:ext cx="6858000" cy="1200329"/>
          </a:xfrm>
          <a:prstGeom prst="rect">
            <a:avLst/>
          </a:prstGeom>
          <a:noFill/>
        </p:spPr>
        <p:txBody>
          <a:bodyPr wrap="square" rtlCol="0">
            <a:spAutoFit/>
          </a:bodyPr>
          <a:lstStyle/>
          <a:p>
            <a:r>
              <a:rPr lang="en-ZA" sz="3600" b="1" dirty="0"/>
              <a:t>Where to place a structure definition</a:t>
            </a:r>
          </a:p>
        </p:txBody>
      </p:sp>
      <p:sp>
        <p:nvSpPr>
          <p:cNvPr id="2" name="Content Placeholder 2">
            <a:extLst>
              <a:ext uri="{FF2B5EF4-FFF2-40B4-BE49-F238E27FC236}">
                <a16:creationId xmlns:a16="http://schemas.microsoft.com/office/drawing/2014/main" id="{F97234BC-A8CF-BC6E-A525-74DBE034ACD8}"/>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6" name="TextBox 5">
            <a:extLst>
              <a:ext uri="{FF2B5EF4-FFF2-40B4-BE49-F238E27FC236}">
                <a16:creationId xmlns:a16="http://schemas.microsoft.com/office/drawing/2014/main" id="{A81A4C5D-50D4-338B-EC23-2AF994EA17C1}"/>
              </a:ext>
            </a:extLst>
          </p:cNvPr>
          <p:cNvSpPr txBox="1"/>
          <p:nvPr/>
        </p:nvSpPr>
        <p:spPr>
          <a:xfrm>
            <a:off x="782053" y="2051630"/>
            <a:ext cx="5342021" cy="461665"/>
          </a:xfrm>
          <a:prstGeom prst="rect">
            <a:avLst/>
          </a:prstGeom>
          <a:noFill/>
        </p:spPr>
        <p:txBody>
          <a:bodyPr wrap="square">
            <a:spAutoFit/>
          </a:bodyPr>
          <a:lstStyle/>
          <a:p>
            <a:pPr algn="l"/>
            <a:r>
              <a:rPr lang="en-US" sz="2400" dirty="0"/>
              <a:t>A structure definition is usually placed</a:t>
            </a:r>
            <a:endParaRPr lang="en-US" sz="2400" dirty="0">
              <a:solidFill>
                <a:srgbClr val="000000"/>
              </a:solidFill>
              <a:latin typeface="AGaramond-Regular"/>
            </a:endParaRPr>
          </a:p>
        </p:txBody>
      </p:sp>
      <p:pic>
        <p:nvPicPr>
          <p:cNvPr id="8" name="Picture 7">
            <a:extLst>
              <a:ext uri="{FF2B5EF4-FFF2-40B4-BE49-F238E27FC236}">
                <a16:creationId xmlns:a16="http://schemas.microsoft.com/office/drawing/2014/main" id="{BB5E760D-05EE-A12F-F3DA-72B2729CBF44}"/>
              </a:ext>
            </a:extLst>
          </p:cNvPr>
          <p:cNvPicPr>
            <a:picLocks noChangeAspect="1"/>
          </p:cNvPicPr>
          <p:nvPr/>
        </p:nvPicPr>
        <p:blipFill>
          <a:blip r:embed="rId3"/>
          <a:stretch>
            <a:fillRect/>
          </a:stretch>
        </p:blipFill>
        <p:spPr>
          <a:xfrm>
            <a:off x="3535985" y="2932144"/>
            <a:ext cx="2672310" cy="4922226"/>
          </a:xfrm>
          <a:prstGeom prst="rect">
            <a:avLst/>
          </a:prstGeom>
        </p:spPr>
      </p:pic>
      <p:pic>
        <p:nvPicPr>
          <p:cNvPr id="11" name="Picture 10">
            <a:extLst>
              <a:ext uri="{FF2B5EF4-FFF2-40B4-BE49-F238E27FC236}">
                <a16:creationId xmlns:a16="http://schemas.microsoft.com/office/drawing/2014/main" id="{3CBA5A26-3266-97F1-33A0-73B94ACD867E}"/>
              </a:ext>
            </a:extLst>
          </p:cNvPr>
          <p:cNvPicPr>
            <a:picLocks noChangeAspect="1"/>
          </p:cNvPicPr>
          <p:nvPr/>
        </p:nvPicPr>
        <p:blipFill>
          <a:blip r:embed="rId4"/>
          <a:stretch>
            <a:fillRect/>
          </a:stretch>
        </p:blipFill>
        <p:spPr>
          <a:xfrm>
            <a:off x="444379" y="2932144"/>
            <a:ext cx="2178162" cy="2730640"/>
          </a:xfrm>
          <a:prstGeom prst="rect">
            <a:avLst/>
          </a:prstGeom>
        </p:spPr>
      </p:pic>
      <p:pic>
        <p:nvPicPr>
          <p:cNvPr id="14" name="Picture 13">
            <a:extLst>
              <a:ext uri="{FF2B5EF4-FFF2-40B4-BE49-F238E27FC236}">
                <a16:creationId xmlns:a16="http://schemas.microsoft.com/office/drawing/2014/main" id="{11D51D75-3949-65D2-524E-D8D4A909AC18}"/>
              </a:ext>
            </a:extLst>
          </p:cNvPr>
          <p:cNvPicPr>
            <a:picLocks noChangeAspect="1"/>
          </p:cNvPicPr>
          <p:nvPr/>
        </p:nvPicPr>
        <p:blipFill>
          <a:blip r:embed="rId5"/>
          <a:stretch>
            <a:fillRect/>
          </a:stretch>
        </p:blipFill>
        <p:spPr>
          <a:xfrm>
            <a:off x="444379" y="5957914"/>
            <a:ext cx="2406774" cy="2044805"/>
          </a:xfrm>
          <a:prstGeom prst="rect">
            <a:avLst/>
          </a:prstGeom>
        </p:spPr>
      </p:pic>
    </p:spTree>
    <p:extLst>
      <p:ext uri="{BB962C8B-B14F-4D97-AF65-F5344CB8AC3E}">
        <p14:creationId xmlns:p14="http://schemas.microsoft.com/office/powerpoint/2010/main" val="2651849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8562E-D47A-FAF3-E6F8-1427337D3CB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DBA3CC7-6BFA-3120-27E5-4C8C56DABD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F5B9486-41D0-F6BE-913D-D52F51C82B02}"/>
              </a:ext>
            </a:extLst>
          </p:cNvPr>
          <p:cNvSpPr txBox="1"/>
          <p:nvPr/>
        </p:nvSpPr>
        <p:spPr>
          <a:xfrm>
            <a:off x="0" y="65927"/>
            <a:ext cx="6858000" cy="1200329"/>
          </a:xfrm>
          <a:prstGeom prst="rect">
            <a:avLst/>
          </a:prstGeom>
          <a:noFill/>
        </p:spPr>
        <p:txBody>
          <a:bodyPr wrap="square" rtlCol="0">
            <a:spAutoFit/>
          </a:bodyPr>
          <a:lstStyle/>
          <a:p>
            <a:r>
              <a:rPr lang="en-ZA" sz="3600" b="1" dirty="0"/>
              <a:t>Where to place a structure definition</a:t>
            </a:r>
          </a:p>
        </p:txBody>
      </p:sp>
      <p:sp>
        <p:nvSpPr>
          <p:cNvPr id="2" name="Content Placeholder 2">
            <a:extLst>
              <a:ext uri="{FF2B5EF4-FFF2-40B4-BE49-F238E27FC236}">
                <a16:creationId xmlns:a16="http://schemas.microsoft.com/office/drawing/2014/main" id="{A971C932-F706-2EC0-379C-621327406A34}"/>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pic>
        <p:nvPicPr>
          <p:cNvPr id="7" name="Picture 6">
            <a:extLst>
              <a:ext uri="{FF2B5EF4-FFF2-40B4-BE49-F238E27FC236}">
                <a16:creationId xmlns:a16="http://schemas.microsoft.com/office/drawing/2014/main" id="{D7B94802-C5DC-0769-7A6B-43E955072B01}"/>
              </a:ext>
            </a:extLst>
          </p:cNvPr>
          <p:cNvPicPr>
            <a:picLocks noChangeAspect="1"/>
          </p:cNvPicPr>
          <p:nvPr/>
        </p:nvPicPr>
        <p:blipFill>
          <a:blip r:embed="rId3"/>
          <a:stretch>
            <a:fillRect/>
          </a:stretch>
        </p:blipFill>
        <p:spPr>
          <a:xfrm>
            <a:off x="1118696" y="1178176"/>
            <a:ext cx="3381115" cy="5201845"/>
          </a:xfrm>
          <a:prstGeom prst="rect">
            <a:avLst/>
          </a:prstGeom>
        </p:spPr>
      </p:pic>
      <p:pic>
        <p:nvPicPr>
          <p:cNvPr id="13" name="Picture 12">
            <a:extLst>
              <a:ext uri="{FF2B5EF4-FFF2-40B4-BE49-F238E27FC236}">
                <a16:creationId xmlns:a16="http://schemas.microsoft.com/office/drawing/2014/main" id="{7BCA57A1-9907-A5AC-88E1-DB19DCC994A9}"/>
              </a:ext>
            </a:extLst>
          </p:cNvPr>
          <p:cNvPicPr>
            <a:picLocks noChangeAspect="1"/>
          </p:cNvPicPr>
          <p:nvPr/>
        </p:nvPicPr>
        <p:blipFill>
          <a:blip r:embed="rId4"/>
          <a:stretch>
            <a:fillRect/>
          </a:stretch>
        </p:blipFill>
        <p:spPr>
          <a:xfrm>
            <a:off x="1148301" y="6380022"/>
            <a:ext cx="3321904" cy="2210526"/>
          </a:xfrm>
          <a:prstGeom prst="rect">
            <a:avLst/>
          </a:prstGeom>
        </p:spPr>
      </p:pic>
    </p:spTree>
    <p:extLst>
      <p:ext uri="{BB962C8B-B14F-4D97-AF65-F5344CB8AC3E}">
        <p14:creationId xmlns:p14="http://schemas.microsoft.com/office/powerpoint/2010/main" val="1384415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1260C-1857-F3DA-B8FA-35DE3A0ADCA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62B71BA-9212-27C4-013F-5357AD062A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7BD4C2F-D240-F0AA-C4C8-03FD4FFED3D8}"/>
              </a:ext>
            </a:extLst>
          </p:cNvPr>
          <p:cNvSpPr txBox="1"/>
          <p:nvPr/>
        </p:nvSpPr>
        <p:spPr>
          <a:xfrm>
            <a:off x="0" y="65927"/>
            <a:ext cx="6858000" cy="646331"/>
          </a:xfrm>
          <a:prstGeom prst="rect">
            <a:avLst/>
          </a:prstGeom>
          <a:noFill/>
        </p:spPr>
        <p:txBody>
          <a:bodyPr wrap="square" rtlCol="0">
            <a:spAutoFit/>
          </a:bodyPr>
          <a:lstStyle/>
          <a:p>
            <a:r>
              <a:rPr lang="en-ZA" sz="3600" b="1" dirty="0"/>
              <a:t>Accessing struct Members</a:t>
            </a:r>
          </a:p>
        </p:txBody>
      </p:sp>
      <p:sp>
        <p:nvSpPr>
          <p:cNvPr id="2" name="Content Placeholder 2">
            <a:extLst>
              <a:ext uri="{FF2B5EF4-FFF2-40B4-BE49-F238E27FC236}">
                <a16:creationId xmlns:a16="http://schemas.microsoft.com/office/drawing/2014/main" id="{2F42F63C-5343-0328-9233-5A355C0F7A95}"/>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
        <p:nvSpPr>
          <p:cNvPr id="6" name="TextBox 5">
            <a:extLst>
              <a:ext uri="{FF2B5EF4-FFF2-40B4-BE49-F238E27FC236}">
                <a16:creationId xmlns:a16="http://schemas.microsoft.com/office/drawing/2014/main" id="{E8ED6880-32FA-D58C-13C4-6D59BED3F899}"/>
              </a:ext>
            </a:extLst>
          </p:cNvPr>
          <p:cNvSpPr txBox="1"/>
          <p:nvPr/>
        </p:nvSpPr>
        <p:spPr>
          <a:xfrm>
            <a:off x="471487" y="2871083"/>
            <a:ext cx="5915025" cy="3046988"/>
          </a:xfrm>
          <a:prstGeom prst="rect">
            <a:avLst/>
          </a:prstGeom>
          <a:noFill/>
        </p:spPr>
        <p:txBody>
          <a:bodyPr wrap="square">
            <a:spAutoFit/>
          </a:bodyPr>
          <a:lstStyle/>
          <a:p>
            <a:r>
              <a:rPr lang="en-US" sz="2400" dirty="0"/>
              <a:t>To access a structure member (component), you use the </a:t>
            </a:r>
            <a:r>
              <a:rPr lang="en-US" sz="2400" b="1" dirty="0"/>
              <a:t>struct </a:t>
            </a:r>
            <a:r>
              <a:rPr lang="en-US" sz="2400" dirty="0"/>
              <a:t>variable name together with the member name; these names are separated by a dot (period). </a:t>
            </a:r>
          </a:p>
          <a:p>
            <a:r>
              <a:rPr lang="en-US" sz="2400" dirty="0"/>
              <a:t>In C++, the dot (</a:t>
            </a:r>
            <a:r>
              <a:rPr lang="en-US" sz="2400" b="1" dirty="0"/>
              <a:t>.</a:t>
            </a:r>
            <a:r>
              <a:rPr lang="en-US" sz="2400" dirty="0"/>
              <a:t>) is an operator called the </a:t>
            </a:r>
            <a:r>
              <a:rPr lang="en-US" sz="2400" b="1" dirty="0"/>
              <a:t>member access operator</a:t>
            </a:r>
            <a:r>
              <a:rPr lang="en-US" sz="2400" dirty="0"/>
              <a:t>.</a:t>
            </a:r>
          </a:p>
          <a:p>
            <a:endParaRPr lang="en-US" sz="2400" dirty="0"/>
          </a:p>
          <a:p>
            <a:r>
              <a:rPr lang="en-US" sz="2400" dirty="0"/>
              <a:t>The syntax for accessing a </a:t>
            </a:r>
            <a:r>
              <a:rPr lang="en-US" sz="2400" b="1" dirty="0"/>
              <a:t>struct </a:t>
            </a:r>
            <a:r>
              <a:rPr lang="en-US" sz="2400" dirty="0"/>
              <a:t>member is:</a:t>
            </a:r>
            <a:endParaRPr lang="en-ZA" sz="2400" dirty="0"/>
          </a:p>
        </p:txBody>
      </p:sp>
      <p:pic>
        <p:nvPicPr>
          <p:cNvPr id="7" name="Picture 6">
            <a:extLst>
              <a:ext uri="{FF2B5EF4-FFF2-40B4-BE49-F238E27FC236}">
                <a16:creationId xmlns:a16="http://schemas.microsoft.com/office/drawing/2014/main" id="{762B63F5-AF49-078C-9B8A-AB52A554710B}"/>
              </a:ext>
            </a:extLst>
          </p:cNvPr>
          <p:cNvPicPr>
            <a:picLocks noChangeAspect="1"/>
          </p:cNvPicPr>
          <p:nvPr/>
        </p:nvPicPr>
        <p:blipFill>
          <a:blip r:embed="rId3"/>
          <a:stretch>
            <a:fillRect/>
          </a:stretch>
        </p:blipFill>
        <p:spPr>
          <a:xfrm>
            <a:off x="1070811" y="6088946"/>
            <a:ext cx="4439471" cy="1009685"/>
          </a:xfrm>
          <a:prstGeom prst="rect">
            <a:avLst/>
          </a:prstGeom>
        </p:spPr>
      </p:pic>
    </p:spTree>
    <p:extLst>
      <p:ext uri="{BB962C8B-B14F-4D97-AF65-F5344CB8AC3E}">
        <p14:creationId xmlns:p14="http://schemas.microsoft.com/office/powerpoint/2010/main" val="55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81680-B10D-B2BC-6C54-4EE6E600392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DFB8D5B-3AC6-F1C3-8D73-E6E8ED34A1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9021"/>
            <a:ext cx="6930551" cy="10058400"/>
          </a:xfrm>
          <a:prstGeom prst="rect">
            <a:avLst/>
          </a:prstGeom>
        </p:spPr>
      </p:pic>
      <p:sp>
        <p:nvSpPr>
          <p:cNvPr id="4" name="TextBox 3">
            <a:extLst>
              <a:ext uri="{FF2B5EF4-FFF2-40B4-BE49-F238E27FC236}">
                <a16:creationId xmlns:a16="http://schemas.microsoft.com/office/drawing/2014/main" id="{4E1BD468-3F06-3772-F186-CC5CF7E6C13A}"/>
              </a:ext>
            </a:extLst>
          </p:cNvPr>
          <p:cNvSpPr txBox="1"/>
          <p:nvPr/>
        </p:nvSpPr>
        <p:spPr>
          <a:xfrm>
            <a:off x="0" y="65927"/>
            <a:ext cx="6858000" cy="646331"/>
          </a:xfrm>
          <a:prstGeom prst="rect">
            <a:avLst/>
          </a:prstGeom>
          <a:noFill/>
        </p:spPr>
        <p:txBody>
          <a:bodyPr wrap="square" rtlCol="0">
            <a:spAutoFit/>
          </a:bodyPr>
          <a:lstStyle/>
          <a:p>
            <a:r>
              <a:rPr lang="en-US" sz="3600" b="1" dirty="0"/>
              <a:t>Class and an Object</a:t>
            </a:r>
          </a:p>
        </p:txBody>
      </p:sp>
      <p:sp>
        <p:nvSpPr>
          <p:cNvPr id="2" name="Content Placeholder 2">
            <a:extLst>
              <a:ext uri="{FF2B5EF4-FFF2-40B4-BE49-F238E27FC236}">
                <a16:creationId xmlns:a16="http://schemas.microsoft.com/office/drawing/2014/main" id="{94E4949E-1C85-80CD-B43D-F8CD2CAF39F6}"/>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
        <p:nvSpPr>
          <p:cNvPr id="7" name="Title 6">
            <a:extLst>
              <a:ext uri="{FF2B5EF4-FFF2-40B4-BE49-F238E27FC236}">
                <a16:creationId xmlns:a16="http://schemas.microsoft.com/office/drawing/2014/main" id="{E5EF56A3-8B1F-91C4-FEFC-50354CB1AC29}"/>
              </a:ext>
            </a:extLst>
          </p:cNvPr>
          <p:cNvSpPr>
            <a:spLocks noGrp="1"/>
          </p:cNvSpPr>
          <p:nvPr>
            <p:ph type="ctrTitle"/>
          </p:nvPr>
        </p:nvSpPr>
        <p:spPr/>
        <p:txBody>
          <a:bodyPr/>
          <a:lstStyle/>
          <a:p>
            <a:r>
              <a:rPr lang="en-ZA" b="1" dirty="0"/>
              <a:t>Classes and Objects</a:t>
            </a:r>
          </a:p>
        </p:txBody>
      </p:sp>
      <p:sp>
        <p:nvSpPr>
          <p:cNvPr id="8" name="Subtitle 7">
            <a:extLst>
              <a:ext uri="{FF2B5EF4-FFF2-40B4-BE49-F238E27FC236}">
                <a16:creationId xmlns:a16="http://schemas.microsoft.com/office/drawing/2014/main" id="{C1AA5B2D-1467-B945-0FFC-A4A98FAA7126}"/>
              </a:ext>
            </a:extLst>
          </p:cNvPr>
          <p:cNvSpPr>
            <a:spLocks noGrp="1"/>
          </p:cNvSpPr>
          <p:nvPr>
            <p:ph type="subTitle" idx="1"/>
          </p:nvPr>
        </p:nvSpPr>
        <p:spPr/>
        <p:txBody>
          <a:bodyPr/>
          <a:lstStyle/>
          <a:p>
            <a:endParaRPr lang="en-ZA"/>
          </a:p>
        </p:txBody>
      </p:sp>
    </p:spTree>
    <p:extLst>
      <p:ext uri="{BB962C8B-B14F-4D97-AF65-F5344CB8AC3E}">
        <p14:creationId xmlns:p14="http://schemas.microsoft.com/office/powerpoint/2010/main" val="3402432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1E3CD-6D8B-8B61-5292-2D1DADFDA702}"/>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B1A1C1B-3177-E582-38A9-F209EF75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F6BE622-5F7A-7766-C3C6-51F53786D7CE}"/>
              </a:ext>
            </a:extLst>
          </p:cNvPr>
          <p:cNvSpPr txBox="1"/>
          <p:nvPr/>
        </p:nvSpPr>
        <p:spPr>
          <a:xfrm>
            <a:off x="0" y="65927"/>
            <a:ext cx="6858000" cy="1200329"/>
          </a:xfrm>
          <a:prstGeom prst="rect">
            <a:avLst/>
          </a:prstGeom>
          <a:noFill/>
        </p:spPr>
        <p:txBody>
          <a:bodyPr wrap="square" rtlCol="0">
            <a:spAutoFit/>
          </a:bodyPr>
          <a:lstStyle/>
          <a:p>
            <a:r>
              <a:rPr lang="en-US" sz="3600" b="1" dirty="0"/>
              <a:t>Understanding a Class and an Object</a:t>
            </a:r>
          </a:p>
        </p:txBody>
      </p:sp>
      <p:sp>
        <p:nvSpPr>
          <p:cNvPr id="2" name="Content Placeholder 2">
            <a:extLst>
              <a:ext uri="{FF2B5EF4-FFF2-40B4-BE49-F238E27FC236}">
                <a16:creationId xmlns:a16="http://schemas.microsoft.com/office/drawing/2014/main" id="{5206B10B-BA66-51EF-E5A9-A72E42AE7702}"/>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An object is a variable that has member functions, and </a:t>
            </a:r>
          </a:p>
          <a:p>
            <a:pPr algn="l"/>
            <a:r>
              <a:rPr lang="en-US" sz="2400" dirty="0"/>
              <a:t>A class is a data type whose variables are objects. </a:t>
            </a:r>
          </a:p>
          <a:p>
            <a:pPr algn="l"/>
            <a:endParaRPr lang="en-US" sz="2400" dirty="0"/>
          </a:p>
          <a:p>
            <a:pPr algn="l"/>
            <a:r>
              <a:rPr lang="en-US" sz="2400" dirty="0"/>
              <a:t>Thus, the definition of a class should be a data type definition that describes two things: </a:t>
            </a:r>
          </a:p>
          <a:p>
            <a:pPr marL="342900" indent="-342900" algn="l">
              <a:buAutoNum type="arabicParenBoth"/>
            </a:pPr>
            <a:r>
              <a:rPr lang="en-US" sz="2400" dirty="0"/>
              <a:t> what kinds of values the variables can hold and </a:t>
            </a:r>
          </a:p>
          <a:p>
            <a:pPr marL="342900" indent="-342900" algn="l">
              <a:buAutoNum type="arabicParenBoth"/>
            </a:pPr>
            <a:r>
              <a:rPr lang="en-US" sz="2400" dirty="0"/>
              <a:t> what the member functions are. </a:t>
            </a:r>
          </a:p>
          <a:p>
            <a:pPr marL="342900" indent="-342900" algn="l">
              <a:buAutoNum type="arabicParenBoth"/>
            </a:pPr>
            <a:endParaRPr lang="en-US" sz="2400" dirty="0"/>
          </a:p>
          <a:p>
            <a:pPr algn="l"/>
            <a:r>
              <a:rPr lang="en-US" sz="2400" dirty="0"/>
              <a:t>We will approach class definitions in two steps (i.e., by defining attributes and </a:t>
            </a:r>
            <a:r>
              <a:rPr lang="en-US" sz="2400" dirty="0" err="1"/>
              <a:t>behaviours</a:t>
            </a:r>
            <a:r>
              <a:rPr lang="en-US" sz="2400" dirty="0"/>
              <a:t>).</a:t>
            </a:r>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83882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029EF-1E35-608F-042B-E0A8CA735A6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22D1CE8-E00A-BA09-0793-DA273DAF5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B8EBAB3-B4A0-2A4F-0D55-43E3529531BE}"/>
              </a:ext>
            </a:extLst>
          </p:cNvPr>
          <p:cNvSpPr txBox="1"/>
          <p:nvPr/>
        </p:nvSpPr>
        <p:spPr>
          <a:xfrm>
            <a:off x="0" y="65927"/>
            <a:ext cx="6858000" cy="1200329"/>
          </a:xfrm>
          <a:prstGeom prst="rect">
            <a:avLst/>
          </a:prstGeom>
          <a:noFill/>
        </p:spPr>
        <p:txBody>
          <a:bodyPr wrap="square" rtlCol="0">
            <a:spAutoFit/>
          </a:bodyPr>
          <a:lstStyle/>
          <a:p>
            <a:r>
              <a:rPr lang="en-US" sz="3600" b="1" dirty="0"/>
              <a:t>Understanding a Class and an Object</a:t>
            </a:r>
          </a:p>
        </p:txBody>
      </p:sp>
      <p:sp>
        <p:nvSpPr>
          <p:cNvPr id="2" name="Content Placeholder 2">
            <a:extLst>
              <a:ext uri="{FF2B5EF4-FFF2-40B4-BE49-F238E27FC236}">
                <a16:creationId xmlns:a16="http://schemas.microsoft.com/office/drawing/2014/main" id="{1B311624-BC89-35E9-769F-B50D9CEB307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buClr>
                <a:srgbClr val="C00000"/>
              </a:buClr>
            </a:pPr>
            <a:r>
              <a:rPr lang="en-US" sz="2400" dirty="0">
                <a:latin typeface="GiovanniStd-Book"/>
                <a:cs typeface="Arial" panose="020B0604020202020204" pitchFamily="34" charset="0"/>
              </a:rPr>
              <a:t>A </a:t>
            </a:r>
            <a:r>
              <a:rPr lang="en-US" sz="2400" b="1" dirty="0">
                <a:latin typeface="GiovanniStd-Book"/>
                <a:cs typeface="Arial" panose="020B0604020202020204" pitchFamily="34" charset="0"/>
              </a:rPr>
              <a:t>class</a:t>
            </a:r>
            <a:r>
              <a:rPr lang="en-US" sz="2400" dirty="0">
                <a:latin typeface="GiovanniStd-Book"/>
                <a:cs typeface="Arial" panose="020B0604020202020204" pitchFamily="34" charset="0"/>
              </a:rPr>
              <a:t> is a data type whose variables are objects. </a:t>
            </a:r>
          </a:p>
          <a:p>
            <a:pPr algn="l">
              <a:buClr>
                <a:srgbClr val="C00000"/>
              </a:buClr>
            </a:pPr>
            <a:r>
              <a:rPr lang="en-US" sz="2400" dirty="0">
                <a:latin typeface="GiovanniStd-Book"/>
                <a:cs typeface="Arial" panose="020B0604020202020204" pitchFamily="34" charset="0"/>
              </a:rPr>
              <a:t>The class definition specifies : </a:t>
            </a:r>
          </a:p>
          <a:p>
            <a:pPr marL="1165225" indent="-447675" algn="l">
              <a:buClr>
                <a:srgbClr val="C00000"/>
              </a:buClr>
              <a:tabLst>
                <a:tab pos="1165225" algn="l"/>
              </a:tabLst>
            </a:pPr>
            <a:r>
              <a:rPr lang="en-US" sz="2400" dirty="0">
                <a:latin typeface="GiovanniStd-Book"/>
                <a:cs typeface="Arial" panose="020B0604020202020204" pitchFamily="34" charset="0"/>
              </a:rPr>
              <a:t>(1) what attributes the data type has i.e. the type of values the variables can hold AND</a:t>
            </a:r>
          </a:p>
          <a:p>
            <a:pPr marL="739775" indent="-49213" algn="l">
              <a:buClr>
                <a:srgbClr val="C00000"/>
              </a:buClr>
            </a:pPr>
            <a:r>
              <a:rPr lang="en-US" sz="2400" dirty="0">
                <a:latin typeface="GiovanniStd-Book"/>
                <a:cs typeface="Arial" panose="020B0604020202020204" pitchFamily="34" charset="0"/>
              </a:rPr>
              <a:t>(2) its behaviour (member functions) i.e. what it can do. </a:t>
            </a:r>
          </a:p>
          <a:p>
            <a:pPr algn="l">
              <a:buClr>
                <a:srgbClr val="C00000"/>
              </a:buClr>
            </a:pPr>
            <a:r>
              <a:rPr lang="en-US" sz="2400" dirty="0">
                <a:latin typeface="GiovanniStd-Book"/>
                <a:cs typeface="Arial" panose="020B0604020202020204" pitchFamily="34" charset="0"/>
              </a:rPr>
              <a:t>When we declare variables of a specific class, we say </a:t>
            </a:r>
            <a:r>
              <a:rPr lang="en-US" sz="2400" b="1" dirty="0">
                <a:latin typeface="GiovanniStd-Book"/>
                <a:cs typeface="Arial" panose="020B0604020202020204" pitchFamily="34" charset="0"/>
              </a:rPr>
              <a:t>we instantiate objects of the class</a:t>
            </a:r>
            <a:r>
              <a:rPr lang="en-US" sz="2400" dirty="0">
                <a:latin typeface="GiovanniStd-Book"/>
                <a:cs typeface="Arial" panose="020B0604020202020204" pitchFamily="34" charset="0"/>
              </a:rPr>
              <a:t>. That is, an object is an instance of a class.</a:t>
            </a: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799835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19EFD-F655-CCFD-D6BE-2D43A597266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3F482BB-B0D4-B715-9EDA-C6260DDA95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096F1E6-1D35-920A-24A9-B5A13867783E}"/>
              </a:ext>
            </a:extLst>
          </p:cNvPr>
          <p:cNvSpPr txBox="1"/>
          <p:nvPr/>
        </p:nvSpPr>
        <p:spPr>
          <a:xfrm>
            <a:off x="0" y="65927"/>
            <a:ext cx="6858000" cy="646331"/>
          </a:xfrm>
          <a:prstGeom prst="rect">
            <a:avLst/>
          </a:prstGeom>
          <a:noFill/>
        </p:spPr>
        <p:txBody>
          <a:bodyPr wrap="square" rtlCol="0">
            <a:spAutoFit/>
          </a:bodyPr>
          <a:lstStyle/>
          <a:p>
            <a:r>
              <a:rPr lang="en-US" sz="3600" b="1" dirty="0"/>
              <a:t>Class vs Struct</a:t>
            </a:r>
          </a:p>
        </p:txBody>
      </p:sp>
      <p:sp>
        <p:nvSpPr>
          <p:cNvPr id="2" name="Content Placeholder 2">
            <a:extLst>
              <a:ext uri="{FF2B5EF4-FFF2-40B4-BE49-F238E27FC236}">
                <a16:creationId xmlns:a16="http://schemas.microsoft.com/office/drawing/2014/main" id="{7E153556-F5FA-58BE-C696-856729B2599A}"/>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285750" indent="-285750">
              <a:buFont typeface="Arial" panose="020B0604020202020204" pitchFamily="34" charset="0"/>
              <a:buChar char="•"/>
            </a:pPr>
            <a:endParaRPr lang="en-US" sz="2400" b="1" dirty="0"/>
          </a:p>
        </p:txBody>
      </p:sp>
      <p:graphicFrame>
        <p:nvGraphicFramePr>
          <p:cNvPr id="3" name="Table 2">
            <a:extLst>
              <a:ext uri="{FF2B5EF4-FFF2-40B4-BE49-F238E27FC236}">
                <a16:creationId xmlns:a16="http://schemas.microsoft.com/office/drawing/2014/main" id="{0231CB52-AD39-DDB7-E240-E29FB3196A6D}"/>
              </a:ext>
            </a:extLst>
          </p:cNvPr>
          <p:cNvGraphicFramePr>
            <a:graphicFrameLocks noGrp="1"/>
          </p:cNvGraphicFramePr>
          <p:nvPr>
            <p:extLst>
              <p:ext uri="{D42A27DB-BD31-4B8C-83A1-F6EECF244321}">
                <p14:modId xmlns:p14="http://schemas.microsoft.com/office/powerpoint/2010/main" val="2861209806"/>
              </p:ext>
            </p:extLst>
          </p:nvPr>
        </p:nvGraphicFramePr>
        <p:xfrm>
          <a:off x="-72551" y="2538663"/>
          <a:ext cx="6930551" cy="5221705"/>
        </p:xfrm>
        <a:graphic>
          <a:graphicData uri="http://schemas.openxmlformats.org/drawingml/2006/table">
            <a:tbl>
              <a:tblPr firstRow="1" bandRow="1">
                <a:tableStyleId>{5C22544A-7EE6-4342-B048-85BDC9FD1C3A}</a:tableStyleId>
              </a:tblPr>
              <a:tblGrid>
                <a:gridCol w="3282314">
                  <a:extLst>
                    <a:ext uri="{9D8B030D-6E8A-4147-A177-3AD203B41FA5}">
                      <a16:colId xmlns:a16="http://schemas.microsoft.com/office/drawing/2014/main" val="4121910780"/>
                    </a:ext>
                  </a:extLst>
                </a:gridCol>
                <a:gridCol w="3648237">
                  <a:extLst>
                    <a:ext uri="{9D8B030D-6E8A-4147-A177-3AD203B41FA5}">
                      <a16:colId xmlns:a16="http://schemas.microsoft.com/office/drawing/2014/main" val="2830459158"/>
                    </a:ext>
                  </a:extLst>
                </a:gridCol>
              </a:tblGrid>
              <a:tr h="480686">
                <a:tc>
                  <a:txBody>
                    <a:bodyPr/>
                    <a:lstStyle/>
                    <a:p>
                      <a:r>
                        <a:rPr lang="en-US" dirty="0"/>
                        <a:t>STRUCT</a:t>
                      </a:r>
                      <a:endParaRPr lang="en-ZA" dirty="0"/>
                    </a:p>
                  </a:txBody>
                  <a:tcPr/>
                </a:tc>
                <a:tc>
                  <a:txBody>
                    <a:bodyPr/>
                    <a:lstStyle/>
                    <a:p>
                      <a:r>
                        <a:rPr lang="en-US" dirty="0"/>
                        <a:t>CLASS</a:t>
                      </a:r>
                      <a:endParaRPr lang="en-ZA" dirty="0"/>
                    </a:p>
                  </a:txBody>
                  <a:tcPr/>
                </a:tc>
                <a:extLst>
                  <a:ext uri="{0D108BD9-81ED-4DB2-BD59-A6C34878D82A}">
                    <a16:rowId xmlns:a16="http://schemas.microsoft.com/office/drawing/2014/main" val="3270494048"/>
                  </a:ext>
                </a:extLst>
              </a:tr>
              <a:tr h="1540831">
                <a:tc>
                  <a:txBody>
                    <a:bodyPr/>
                    <a:lstStyle/>
                    <a:p>
                      <a:r>
                        <a:rPr lang="en-ZA" sz="1800" kern="1200" dirty="0">
                          <a:solidFill>
                            <a:schemeClr val="dk1"/>
                          </a:solidFill>
                          <a:effectLst/>
                          <a:latin typeface="+mn-lt"/>
                          <a:ea typeface="+mn-ea"/>
                          <a:cs typeface="+mn-cs"/>
                        </a:rPr>
                        <a:t>User-defined data type: combines logically related data items of different data types </a:t>
                      </a:r>
                      <a:endParaRPr lang="en-ZA" dirty="0"/>
                    </a:p>
                  </a:txBody>
                  <a:tcPr/>
                </a:tc>
                <a:tc>
                  <a:txBody>
                    <a:bodyPr/>
                    <a:lstStyle/>
                    <a:p>
                      <a:r>
                        <a:rPr lang="en-ZA" sz="1800" kern="1200" dirty="0">
                          <a:solidFill>
                            <a:schemeClr val="dk1"/>
                          </a:solidFill>
                          <a:effectLst/>
                          <a:latin typeface="+mn-lt"/>
                          <a:ea typeface="+mn-ea"/>
                          <a:cs typeface="+mn-cs"/>
                        </a:rPr>
                        <a:t>User-defined data type: set of instructions to build a specific type of object [should be defined as an abstract data type]</a:t>
                      </a:r>
                      <a:endParaRPr lang="en-ZA" dirty="0"/>
                    </a:p>
                  </a:txBody>
                  <a:tcPr/>
                </a:tc>
                <a:extLst>
                  <a:ext uri="{0D108BD9-81ED-4DB2-BD59-A6C34878D82A}">
                    <a16:rowId xmlns:a16="http://schemas.microsoft.com/office/drawing/2014/main" val="1069751066"/>
                  </a:ext>
                </a:extLst>
              </a:tr>
              <a:tr h="385208">
                <a:tc>
                  <a:txBody>
                    <a:bodyPr/>
                    <a:lstStyle/>
                    <a:p>
                      <a:r>
                        <a:rPr lang="en-US" dirty="0"/>
                        <a:t>Uses keyword </a:t>
                      </a:r>
                      <a:r>
                        <a:rPr lang="en-US" b="1" dirty="0"/>
                        <a:t>struct</a:t>
                      </a:r>
                      <a:endParaRPr lang="en-ZA" b="1" dirty="0"/>
                    </a:p>
                  </a:txBody>
                  <a:tcPr/>
                </a:tc>
                <a:tc>
                  <a:txBody>
                    <a:bodyPr/>
                    <a:lstStyle/>
                    <a:p>
                      <a:r>
                        <a:rPr lang="en-US" dirty="0"/>
                        <a:t>Uses keyword </a:t>
                      </a:r>
                      <a:r>
                        <a:rPr lang="en-US" b="1" dirty="0"/>
                        <a:t>class</a:t>
                      </a:r>
                      <a:endParaRPr lang="en-ZA" b="1" dirty="0"/>
                    </a:p>
                  </a:txBody>
                  <a:tcPr/>
                </a:tc>
                <a:extLst>
                  <a:ext uri="{0D108BD9-81ED-4DB2-BD59-A6C34878D82A}">
                    <a16:rowId xmlns:a16="http://schemas.microsoft.com/office/drawing/2014/main" val="4195630955"/>
                  </a:ext>
                </a:extLst>
              </a:tr>
              <a:tr h="385208">
                <a:tc>
                  <a:txBody>
                    <a:bodyPr/>
                    <a:lstStyle/>
                    <a:p>
                      <a:r>
                        <a:rPr lang="en-US" dirty="0"/>
                        <a:t>Defines member variables</a:t>
                      </a:r>
                      <a:endParaRPr lang="en-ZA" dirty="0"/>
                    </a:p>
                  </a:txBody>
                  <a:tcPr/>
                </a:tc>
                <a:tc>
                  <a:txBody>
                    <a:bodyPr/>
                    <a:lstStyle/>
                    <a:p>
                      <a:r>
                        <a:rPr lang="en-US" dirty="0"/>
                        <a:t>Defines member variables and member functions</a:t>
                      </a:r>
                      <a:endParaRPr lang="en-ZA" dirty="0"/>
                    </a:p>
                  </a:txBody>
                  <a:tcPr/>
                </a:tc>
                <a:extLst>
                  <a:ext uri="{0D108BD9-81ED-4DB2-BD59-A6C34878D82A}">
                    <a16:rowId xmlns:a16="http://schemas.microsoft.com/office/drawing/2014/main" val="48101585"/>
                  </a:ext>
                </a:extLst>
              </a:tr>
              <a:tr h="2429772">
                <a:tc>
                  <a:txBody>
                    <a:bodyPr/>
                    <a:lstStyle/>
                    <a:p>
                      <a:r>
                        <a:rPr lang="en-US" dirty="0"/>
                        <a:t>Syntax:</a:t>
                      </a:r>
                    </a:p>
                    <a:p>
                      <a:pPr marL="0" indent="347663"/>
                      <a:r>
                        <a:rPr lang="en-ZA" sz="1800" kern="1200" dirty="0">
                          <a:solidFill>
                            <a:srgbClr val="C00000"/>
                          </a:solidFill>
                          <a:effectLst/>
                          <a:latin typeface="+mn-lt"/>
                          <a:ea typeface="+mn-ea"/>
                          <a:cs typeface="+mn-cs"/>
                        </a:rPr>
                        <a:t>struct </a:t>
                      </a:r>
                      <a:r>
                        <a:rPr lang="en-ZA" sz="1800" kern="1200" dirty="0" err="1">
                          <a:solidFill>
                            <a:srgbClr val="C00000"/>
                          </a:solidFill>
                          <a:effectLst/>
                          <a:latin typeface="+mn-lt"/>
                          <a:ea typeface="+mn-ea"/>
                          <a:cs typeface="+mn-cs"/>
                        </a:rPr>
                        <a:t>struct_name</a:t>
                      </a:r>
                      <a:endParaRPr lang="en-ZA" sz="1800" kern="1200" dirty="0">
                        <a:solidFill>
                          <a:srgbClr val="C00000"/>
                        </a:solidFill>
                        <a:effectLst/>
                        <a:latin typeface="+mn-lt"/>
                        <a:ea typeface="+mn-ea"/>
                        <a:cs typeface="+mn-cs"/>
                      </a:endParaRPr>
                    </a:p>
                    <a:p>
                      <a:pPr marL="0" indent="347663"/>
                      <a:r>
                        <a:rPr lang="en-ZA" sz="1800" kern="1200" dirty="0">
                          <a:solidFill>
                            <a:srgbClr val="C00000"/>
                          </a:solidFill>
                          <a:effectLst/>
                          <a:latin typeface="+mn-lt"/>
                          <a:ea typeface="+mn-ea"/>
                          <a:cs typeface="+mn-cs"/>
                        </a:rPr>
                        <a:t>{</a:t>
                      </a:r>
                    </a:p>
                    <a:p>
                      <a:pPr marL="0" indent="347663"/>
                      <a:r>
                        <a:rPr lang="en-ZA" sz="1800" kern="1200" dirty="0">
                          <a:solidFill>
                            <a:srgbClr val="C00000"/>
                          </a:solidFill>
                          <a:effectLst/>
                          <a:latin typeface="+mn-lt"/>
                          <a:ea typeface="+mn-ea"/>
                          <a:cs typeface="+mn-cs"/>
                        </a:rPr>
                        <a:t>     // struct data members</a:t>
                      </a:r>
                    </a:p>
                    <a:p>
                      <a:pPr marL="0" indent="347663"/>
                      <a:r>
                        <a:rPr lang="en-ZA" sz="1800" kern="1200" dirty="0">
                          <a:solidFill>
                            <a:srgbClr val="C00000"/>
                          </a:solidFill>
                          <a:effectLst/>
                          <a:latin typeface="+mn-lt"/>
                          <a:ea typeface="+mn-ea"/>
                          <a:cs typeface="+mn-cs"/>
                        </a:rPr>
                        <a:t>};</a:t>
                      </a:r>
                    </a:p>
                    <a:p>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Syntax:</a:t>
                      </a:r>
                    </a:p>
                    <a:p>
                      <a:pPr marL="0" indent="288925"/>
                      <a:r>
                        <a:rPr lang="en-ZA" sz="1800" kern="1200" dirty="0">
                          <a:solidFill>
                            <a:srgbClr val="C00000"/>
                          </a:solidFill>
                          <a:effectLst/>
                          <a:latin typeface="+mn-lt"/>
                          <a:ea typeface="+mn-ea"/>
                          <a:cs typeface="+mn-cs"/>
                        </a:rPr>
                        <a:t>class class-name</a:t>
                      </a:r>
                    </a:p>
                    <a:p>
                      <a:pPr marL="0" indent="288925"/>
                      <a:r>
                        <a:rPr lang="en-ZA" sz="1800" kern="1200" dirty="0">
                          <a:solidFill>
                            <a:srgbClr val="C00000"/>
                          </a:solidFill>
                          <a:effectLst/>
                          <a:latin typeface="+mn-lt"/>
                          <a:ea typeface="+mn-ea"/>
                          <a:cs typeface="+mn-cs"/>
                        </a:rPr>
                        <a:t>{</a:t>
                      </a:r>
                    </a:p>
                    <a:p>
                      <a:pPr marL="0" indent="288925"/>
                      <a:r>
                        <a:rPr lang="en-ZA" sz="1800" kern="1200" dirty="0">
                          <a:solidFill>
                            <a:srgbClr val="C00000"/>
                          </a:solidFill>
                          <a:effectLst/>
                          <a:latin typeface="+mn-lt"/>
                          <a:ea typeface="+mn-ea"/>
                          <a:cs typeface="+mn-cs"/>
                        </a:rPr>
                        <a:t>       // data</a:t>
                      </a:r>
                    </a:p>
                    <a:p>
                      <a:pPr marL="0" indent="288925"/>
                      <a:r>
                        <a:rPr lang="en-ZA" sz="1800" kern="1200" dirty="0">
                          <a:solidFill>
                            <a:srgbClr val="C00000"/>
                          </a:solidFill>
                          <a:effectLst/>
                          <a:latin typeface="+mn-lt"/>
                          <a:ea typeface="+mn-ea"/>
                          <a:cs typeface="+mn-cs"/>
                        </a:rPr>
                        <a:t>      // functions</a:t>
                      </a:r>
                    </a:p>
                    <a:p>
                      <a:pPr marL="0" indent="288925"/>
                      <a:r>
                        <a:rPr lang="en-ZA" sz="1800" kern="1200" dirty="0">
                          <a:solidFill>
                            <a:srgbClr val="C00000"/>
                          </a:solidFill>
                          <a:effectLst/>
                          <a:latin typeface="+mn-lt"/>
                          <a:ea typeface="+mn-ea"/>
                          <a:cs typeface="+mn-cs"/>
                        </a:rPr>
                        <a:t>};</a:t>
                      </a:r>
                    </a:p>
                    <a:p>
                      <a:endParaRPr lang="en-ZA" dirty="0"/>
                    </a:p>
                  </a:txBody>
                  <a:tcPr/>
                </a:tc>
                <a:extLst>
                  <a:ext uri="{0D108BD9-81ED-4DB2-BD59-A6C34878D82A}">
                    <a16:rowId xmlns:a16="http://schemas.microsoft.com/office/drawing/2014/main" val="3357109157"/>
                  </a:ext>
                </a:extLst>
              </a:tr>
            </a:tbl>
          </a:graphicData>
        </a:graphic>
      </p:graphicFrame>
    </p:spTree>
    <p:extLst>
      <p:ext uri="{BB962C8B-B14F-4D97-AF65-F5344CB8AC3E}">
        <p14:creationId xmlns:p14="http://schemas.microsoft.com/office/powerpoint/2010/main" val="2938168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926A1-DAFF-D4FD-770D-6E2606DA821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6AAB844-8B52-8A9D-9113-F7EA5B031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47971BD-21EB-3B5F-4DBF-852839A0EBE3}"/>
              </a:ext>
            </a:extLst>
          </p:cNvPr>
          <p:cNvSpPr txBox="1"/>
          <p:nvPr/>
        </p:nvSpPr>
        <p:spPr>
          <a:xfrm>
            <a:off x="0" y="65927"/>
            <a:ext cx="6858000" cy="646331"/>
          </a:xfrm>
          <a:prstGeom prst="rect">
            <a:avLst/>
          </a:prstGeom>
          <a:noFill/>
        </p:spPr>
        <p:txBody>
          <a:bodyPr wrap="square" rtlCol="0">
            <a:spAutoFit/>
          </a:bodyPr>
          <a:lstStyle/>
          <a:p>
            <a:r>
              <a:rPr lang="en-US" sz="3600" b="1" dirty="0"/>
              <a:t>Converting a Struct to a Class</a:t>
            </a:r>
          </a:p>
        </p:txBody>
      </p:sp>
      <p:sp>
        <p:nvSpPr>
          <p:cNvPr id="2" name="Content Placeholder 2">
            <a:extLst>
              <a:ext uri="{FF2B5EF4-FFF2-40B4-BE49-F238E27FC236}">
                <a16:creationId xmlns:a16="http://schemas.microsoft.com/office/drawing/2014/main" id="{0518F7A1-A436-9326-A72D-A4A4A4901287}"/>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lvl="1" algn="l"/>
            <a:r>
              <a:rPr lang="en-US" altLang="en-US" sz="1125" b="1" dirty="0">
                <a:latin typeface="Courier New" panose="02070309020205020404" pitchFamily="49" charset="0"/>
              </a:rPr>
              <a:t>// Declaration</a:t>
            </a:r>
          </a:p>
          <a:p>
            <a:pPr lvl="1" algn="l"/>
            <a:r>
              <a:rPr lang="en-US" altLang="en-US" sz="1125" b="1" dirty="0">
                <a:latin typeface="Courier New" panose="02070309020205020404" pitchFamily="49" charset="0"/>
              </a:rPr>
              <a:t>class Student</a:t>
            </a:r>
          </a:p>
          <a:p>
            <a:pPr lvl="1" algn="l"/>
            <a:r>
              <a:rPr lang="en-US" altLang="en-US" sz="1125" b="1" dirty="0">
                <a:latin typeface="Courier New" panose="02070309020205020404" pitchFamily="49" charset="0"/>
              </a:rPr>
              <a:t>{		</a:t>
            </a:r>
          </a:p>
          <a:p>
            <a:pPr algn="l"/>
            <a:r>
              <a:rPr lang="en-US" altLang="en-US" sz="1425" b="1" dirty="0">
                <a:latin typeface="Courier New" panose="02070309020205020404" pitchFamily="49" charset="0"/>
              </a:rPr>
              <a:t>	public:</a:t>
            </a:r>
          </a:p>
          <a:p>
            <a:pPr algn="l"/>
            <a:r>
              <a:rPr lang="en-US" altLang="en-US" sz="1425" b="1" dirty="0">
                <a:latin typeface="Courier New" panose="02070309020205020404" pitchFamily="49" charset="0"/>
              </a:rPr>
              <a:t>		Student();</a:t>
            </a:r>
          </a:p>
          <a:p>
            <a:pPr algn="l"/>
            <a:endParaRPr lang="en-US" altLang="en-US" sz="1425" b="1" dirty="0">
              <a:latin typeface="Courier New" panose="02070309020205020404" pitchFamily="49" charset="0"/>
            </a:endParaRPr>
          </a:p>
          <a:p>
            <a:pPr algn="l"/>
            <a:r>
              <a:rPr lang="en-US" altLang="en-US" sz="1425" b="1" dirty="0">
                <a:latin typeface="Courier New" panose="02070309020205020404" pitchFamily="49" charset="0"/>
              </a:rPr>
              <a:t>		Student(int </a:t>
            </a:r>
            <a:r>
              <a:rPr lang="en-US" altLang="en-US" sz="1425" b="1" dirty="0" err="1">
                <a:latin typeface="Courier New" panose="02070309020205020404" pitchFamily="49" charset="0"/>
              </a:rPr>
              <a:t>studID</a:t>
            </a:r>
            <a:r>
              <a:rPr lang="en-US" altLang="en-US" sz="1425" b="1" dirty="0">
                <a:latin typeface="Courier New" panose="02070309020205020404" pitchFamily="49" charset="0"/>
              </a:rPr>
              <a:t>, string n, int 				y, </a:t>
            </a:r>
            <a:r>
              <a:rPr lang="en-US" altLang="en-US" sz="1425" b="1">
                <a:latin typeface="Courier New" panose="02070309020205020404" pitchFamily="49" charset="0"/>
              </a:rPr>
              <a:t>double ave);</a:t>
            </a:r>
            <a:endParaRPr lang="en-US" altLang="en-US" sz="1425" b="1" dirty="0">
              <a:latin typeface="Courier New" panose="02070309020205020404" pitchFamily="49" charset="0"/>
            </a:endParaRPr>
          </a:p>
          <a:p>
            <a:pPr algn="l"/>
            <a:r>
              <a:rPr lang="en-US" altLang="en-US" sz="1425" b="1" dirty="0">
                <a:latin typeface="Courier New" panose="02070309020205020404" pitchFamily="49" charset="0"/>
              </a:rPr>
              <a:t>);</a:t>
            </a:r>
          </a:p>
          <a:p>
            <a:pPr algn="l"/>
            <a:r>
              <a:rPr lang="en-US" altLang="en-US" sz="1425" b="1" dirty="0">
                <a:latin typeface="Courier New" panose="02070309020205020404" pitchFamily="49" charset="0"/>
              </a:rPr>
              <a:t>		void </a:t>
            </a:r>
            <a:r>
              <a:rPr lang="en-US" altLang="en-US" sz="1425" b="1" dirty="0" err="1">
                <a:latin typeface="Courier New" panose="02070309020205020404" pitchFamily="49" charset="0"/>
              </a:rPr>
              <a:t>setStudentID</a:t>
            </a:r>
            <a:r>
              <a:rPr lang="en-US" altLang="en-US" sz="1425" b="1" dirty="0">
                <a:latin typeface="Courier New" panose="02070309020205020404" pitchFamily="49" charset="0"/>
              </a:rPr>
              <a:t>(string ID);</a:t>
            </a:r>
          </a:p>
          <a:p>
            <a:pPr algn="l"/>
            <a:r>
              <a:rPr lang="en-US" altLang="en-US" sz="1425" b="1" dirty="0">
                <a:latin typeface="Courier New" panose="02070309020205020404" pitchFamily="49" charset="0"/>
              </a:rPr>
              <a:t>		void </a:t>
            </a:r>
            <a:r>
              <a:rPr lang="en-US" altLang="en-US" sz="1425" b="1" dirty="0" err="1">
                <a:latin typeface="Courier New" panose="02070309020205020404" pitchFamily="49" charset="0"/>
              </a:rPr>
              <a:t>setName</a:t>
            </a:r>
            <a:r>
              <a:rPr lang="en-US" altLang="en-US" sz="1425" b="1" dirty="0">
                <a:latin typeface="Courier New" panose="02070309020205020404" pitchFamily="49" charset="0"/>
              </a:rPr>
              <a:t>(string </a:t>
            </a:r>
            <a:r>
              <a:rPr lang="en-US" altLang="en-US" sz="1425" b="1" dirty="0" err="1">
                <a:latin typeface="Courier New" panose="02070309020205020404" pitchFamily="49" charset="0"/>
              </a:rPr>
              <a:t>nam</a:t>
            </a:r>
            <a:r>
              <a:rPr lang="en-US" altLang="en-US" sz="1425" b="1" dirty="0">
                <a:latin typeface="Courier New" panose="02070309020205020404" pitchFamily="49" charset="0"/>
              </a:rPr>
              <a:t>);</a:t>
            </a:r>
          </a:p>
          <a:p>
            <a:pPr algn="l"/>
            <a:r>
              <a:rPr lang="en-US" altLang="en-US" sz="1425" b="1" dirty="0">
                <a:latin typeface="Courier New" panose="02070309020205020404" pitchFamily="49" charset="0"/>
              </a:rPr>
              <a:t>		void </a:t>
            </a:r>
            <a:r>
              <a:rPr lang="en-US" altLang="en-US" sz="1425" b="1" dirty="0" err="1">
                <a:latin typeface="Courier New" panose="02070309020205020404" pitchFamily="49" charset="0"/>
              </a:rPr>
              <a:t>setYear</a:t>
            </a:r>
            <a:r>
              <a:rPr lang="en-US" altLang="en-US" sz="1425" b="1" dirty="0">
                <a:latin typeface="Courier New" panose="02070309020205020404" pitchFamily="49" charset="0"/>
              </a:rPr>
              <a:t>(int yr);</a:t>
            </a:r>
          </a:p>
          <a:p>
            <a:pPr algn="l"/>
            <a:r>
              <a:rPr lang="en-US" altLang="en-US" sz="1425" b="1" dirty="0">
                <a:latin typeface="Courier New" panose="02070309020205020404" pitchFamily="49" charset="0"/>
              </a:rPr>
              <a:t>		void </a:t>
            </a:r>
            <a:r>
              <a:rPr lang="en-US" altLang="en-US" sz="1425" b="1" dirty="0" err="1">
                <a:latin typeface="Courier New" panose="02070309020205020404" pitchFamily="49" charset="0"/>
              </a:rPr>
              <a:t>setAverage</a:t>
            </a:r>
            <a:r>
              <a:rPr lang="en-US" altLang="en-US" sz="1425" b="1" dirty="0">
                <a:latin typeface="Courier New" panose="02070309020205020404" pitchFamily="49" charset="0"/>
              </a:rPr>
              <a:t>(double a);</a:t>
            </a:r>
          </a:p>
          <a:p>
            <a:pPr algn="l"/>
            <a:r>
              <a:rPr lang="en-US" altLang="en-US" sz="1425" b="1" dirty="0">
                <a:latin typeface="Courier New" panose="02070309020205020404" pitchFamily="49" charset="0"/>
              </a:rPr>
              <a:t>		int </a:t>
            </a:r>
            <a:r>
              <a:rPr lang="en-US" altLang="en-US" sz="1425" b="1" dirty="0" err="1">
                <a:latin typeface="Courier New" panose="02070309020205020404" pitchFamily="49" charset="0"/>
              </a:rPr>
              <a:t>getStudentID</a:t>
            </a:r>
            <a:r>
              <a:rPr lang="en-US" altLang="en-US" sz="1425" b="1" dirty="0">
                <a:latin typeface="Courier New" panose="02070309020205020404" pitchFamily="49" charset="0"/>
              </a:rPr>
              <a:t>() const;</a:t>
            </a:r>
          </a:p>
          <a:p>
            <a:pPr algn="l"/>
            <a:r>
              <a:rPr lang="en-US" altLang="en-US" sz="1425" b="1" dirty="0">
                <a:latin typeface="Courier New" panose="02070309020205020404" pitchFamily="49" charset="0"/>
              </a:rPr>
              <a:t>		string </a:t>
            </a:r>
            <a:r>
              <a:rPr lang="en-US" altLang="en-US" sz="1425" b="1" dirty="0" err="1">
                <a:latin typeface="Courier New" panose="02070309020205020404" pitchFamily="49" charset="0"/>
              </a:rPr>
              <a:t>getName</a:t>
            </a:r>
            <a:r>
              <a:rPr lang="en-US" altLang="en-US" sz="1425" b="1" dirty="0">
                <a:latin typeface="Courier New" panose="02070309020205020404" pitchFamily="49" charset="0"/>
              </a:rPr>
              <a:t>() const;</a:t>
            </a:r>
          </a:p>
          <a:p>
            <a:pPr algn="l"/>
            <a:r>
              <a:rPr lang="en-US" altLang="en-US" sz="1425" b="1" dirty="0">
                <a:latin typeface="Courier New" panose="02070309020205020404" pitchFamily="49" charset="0"/>
              </a:rPr>
              <a:t>		double </a:t>
            </a:r>
            <a:r>
              <a:rPr lang="en-US" altLang="en-US" sz="1425" b="1" dirty="0" err="1">
                <a:latin typeface="Courier New" panose="02070309020205020404" pitchFamily="49" charset="0"/>
              </a:rPr>
              <a:t>getAverage</a:t>
            </a:r>
            <a:r>
              <a:rPr lang="en-US" altLang="en-US" sz="1425" b="1" dirty="0">
                <a:latin typeface="Courier New" panose="02070309020205020404" pitchFamily="49" charset="0"/>
              </a:rPr>
              <a:t>() const;</a:t>
            </a:r>
          </a:p>
          <a:p>
            <a:pPr algn="l"/>
            <a:endParaRPr lang="en-US" altLang="en-US" sz="1425" b="1" dirty="0">
              <a:latin typeface="Courier New" panose="02070309020205020404" pitchFamily="49" charset="0"/>
            </a:endParaRPr>
          </a:p>
          <a:p>
            <a:pPr algn="l"/>
            <a:r>
              <a:rPr lang="en-US" altLang="en-US" sz="1425" b="1" dirty="0">
                <a:latin typeface="Courier New" panose="02070309020205020404" pitchFamily="49" charset="0"/>
              </a:rPr>
              <a:t>	private:</a:t>
            </a:r>
          </a:p>
          <a:p>
            <a:pPr algn="l"/>
            <a:r>
              <a:rPr lang="en-US" altLang="en-US" sz="1425" b="1" dirty="0">
                <a:latin typeface="Courier New" panose="02070309020205020404" pitchFamily="49" charset="0"/>
              </a:rPr>
              <a:t>		int </a:t>
            </a:r>
            <a:r>
              <a:rPr lang="en-US" altLang="en-US" sz="1425" b="1" dirty="0" err="1">
                <a:latin typeface="Courier New" panose="02070309020205020404" pitchFamily="49" charset="0"/>
              </a:rPr>
              <a:t>studentID</a:t>
            </a:r>
            <a:r>
              <a:rPr lang="en-US" altLang="en-US" sz="1425" b="1" dirty="0">
                <a:latin typeface="Courier New" panose="02070309020205020404" pitchFamily="49" charset="0"/>
              </a:rPr>
              <a:t>;</a:t>
            </a:r>
          </a:p>
          <a:p>
            <a:pPr algn="l"/>
            <a:r>
              <a:rPr lang="en-US" altLang="en-US" sz="1425" b="1" dirty="0">
                <a:latin typeface="Courier New" panose="02070309020205020404" pitchFamily="49" charset="0"/>
              </a:rPr>
              <a:t>		string name;</a:t>
            </a:r>
          </a:p>
          <a:p>
            <a:pPr algn="l"/>
            <a:r>
              <a:rPr lang="en-US" altLang="en-US" sz="1425" b="1" dirty="0">
                <a:latin typeface="Courier New" panose="02070309020205020404" pitchFamily="49" charset="0"/>
              </a:rPr>
              <a:t>   		int year;</a:t>
            </a:r>
          </a:p>
          <a:p>
            <a:pPr algn="l"/>
            <a:r>
              <a:rPr lang="en-US" altLang="en-US" sz="1425" b="1" dirty="0">
                <a:latin typeface="Courier New" panose="02070309020205020404" pitchFamily="49" charset="0"/>
              </a:rPr>
              <a:t>   		double average;</a:t>
            </a:r>
          </a:p>
          <a:p>
            <a:pPr lvl="1" algn="l"/>
            <a:r>
              <a:rPr lang="en-US" altLang="en-US" sz="1125" b="1" dirty="0">
                <a:latin typeface="Courier New" panose="02070309020205020404" pitchFamily="49" charset="0"/>
              </a:rPr>
              <a:t>};</a:t>
            </a:r>
          </a:p>
          <a:p>
            <a:pPr marL="285750" indent="-285750">
              <a:buFont typeface="Arial" panose="020B0604020202020204" pitchFamily="34" charset="0"/>
              <a:buChar char="•"/>
            </a:pPr>
            <a:endParaRPr lang="en-US" sz="2400" b="1" dirty="0"/>
          </a:p>
        </p:txBody>
      </p:sp>
      <p:sp>
        <p:nvSpPr>
          <p:cNvPr id="8" name="TextBox 7">
            <a:extLst>
              <a:ext uri="{FF2B5EF4-FFF2-40B4-BE49-F238E27FC236}">
                <a16:creationId xmlns:a16="http://schemas.microsoft.com/office/drawing/2014/main" id="{FADF9D86-0FEB-1C41-1E6B-45C73F0EBA35}"/>
              </a:ext>
            </a:extLst>
          </p:cNvPr>
          <p:cNvSpPr txBox="1"/>
          <p:nvPr/>
        </p:nvSpPr>
        <p:spPr>
          <a:xfrm>
            <a:off x="3392724" y="2977230"/>
            <a:ext cx="2837606" cy="248209"/>
          </a:xfrm>
          <a:prstGeom prst="rect">
            <a:avLst/>
          </a:prstGeom>
          <a:noFill/>
        </p:spPr>
        <p:txBody>
          <a:bodyPr wrap="square" rtlCol="0">
            <a:spAutoFit/>
          </a:bodyPr>
          <a:lstStyle/>
          <a:p>
            <a:r>
              <a:rPr lang="en-US" sz="1013" dirty="0">
                <a:solidFill>
                  <a:srgbClr val="C00000"/>
                </a:solidFill>
              </a:rPr>
              <a:t>Constructor – ALWAYS same name as class.</a:t>
            </a:r>
            <a:endParaRPr lang="en-ZA" sz="1013" dirty="0">
              <a:solidFill>
                <a:srgbClr val="C00000"/>
              </a:solidFill>
            </a:endParaRPr>
          </a:p>
        </p:txBody>
      </p:sp>
      <p:sp>
        <p:nvSpPr>
          <p:cNvPr id="10" name="TextBox 9">
            <a:extLst>
              <a:ext uri="{FF2B5EF4-FFF2-40B4-BE49-F238E27FC236}">
                <a16:creationId xmlns:a16="http://schemas.microsoft.com/office/drawing/2014/main" id="{0D92B555-6ABF-21B3-D8BC-B9E1D5E19119}"/>
              </a:ext>
            </a:extLst>
          </p:cNvPr>
          <p:cNvSpPr txBox="1"/>
          <p:nvPr/>
        </p:nvSpPr>
        <p:spPr>
          <a:xfrm>
            <a:off x="158696" y="4443003"/>
            <a:ext cx="1898248" cy="369332"/>
          </a:xfrm>
          <a:prstGeom prst="rect">
            <a:avLst/>
          </a:prstGeom>
          <a:noFill/>
        </p:spPr>
        <p:txBody>
          <a:bodyPr wrap="square" rtlCol="0">
            <a:spAutoFit/>
          </a:bodyPr>
          <a:lstStyle/>
          <a:p>
            <a:r>
              <a:rPr lang="en-US" dirty="0">
                <a:solidFill>
                  <a:srgbClr val="C00000"/>
                </a:solidFill>
              </a:rPr>
              <a:t>Mutators</a:t>
            </a:r>
            <a:endParaRPr lang="en-ZA" dirty="0">
              <a:solidFill>
                <a:srgbClr val="C00000"/>
              </a:solidFill>
            </a:endParaRPr>
          </a:p>
        </p:txBody>
      </p:sp>
      <p:sp>
        <p:nvSpPr>
          <p:cNvPr id="12" name="TextBox 11">
            <a:extLst>
              <a:ext uri="{FF2B5EF4-FFF2-40B4-BE49-F238E27FC236}">
                <a16:creationId xmlns:a16="http://schemas.microsoft.com/office/drawing/2014/main" id="{CEA9FC70-FA68-6C08-2012-80B876A0FEBC}"/>
              </a:ext>
            </a:extLst>
          </p:cNvPr>
          <p:cNvSpPr txBox="1"/>
          <p:nvPr/>
        </p:nvSpPr>
        <p:spPr>
          <a:xfrm>
            <a:off x="158696" y="5410315"/>
            <a:ext cx="1898248" cy="369332"/>
          </a:xfrm>
          <a:prstGeom prst="rect">
            <a:avLst/>
          </a:prstGeom>
          <a:noFill/>
        </p:spPr>
        <p:txBody>
          <a:bodyPr wrap="square" rtlCol="0">
            <a:spAutoFit/>
          </a:bodyPr>
          <a:lstStyle/>
          <a:p>
            <a:r>
              <a:rPr lang="en-US" dirty="0">
                <a:solidFill>
                  <a:srgbClr val="C00000"/>
                </a:solidFill>
              </a:rPr>
              <a:t>Accessors</a:t>
            </a:r>
            <a:endParaRPr lang="en-ZA" dirty="0">
              <a:solidFill>
                <a:srgbClr val="C00000"/>
              </a:solidFill>
            </a:endParaRPr>
          </a:p>
        </p:txBody>
      </p:sp>
      <p:sp>
        <p:nvSpPr>
          <p:cNvPr id="14" name="TextBox 13">
            <a:extLst>
              <a:ext uri="{FF2B5EF4-FFF2-40B4-BE49-F238E27FC236}">
                <a16:creationId xmlns:a16="http://schemas.microsoft.com/office/drawing/2014/main" id="{CC6A116F-7E07-84E7-B98F-C495D934CD0E}"/>
              </a:ext>
            </a:extLst>
          </p:cNvPr>
          <p:cNvSpPr txBox="1"/>
          <p:nvPr/>
        </p:nvSpPr>
        <p:spPr>
          <a:xfrm>
            <a:off x="2454442" y="7864187"/>
            <a:ext cx="3585410" cy="923330"/>
          </a:xfrm>
          <a:prstGeom prst="rect">
            <a:avLst/>
          </a:prstGeom>
          <a:noFill/>
        </p:spPr>
        <p:txBody>
          <a:bodyPr wrap="square">
            <a:spAutoFit/>
          </a:bodyPr>
          <a:lstStyle/>
          <a:p>
            <a:r>
              <a:rPr lang="en-US" dirty="0">
                <a:solidFill>
                  <a:srgbClr val="C00000"/>
                </a:solidFill>
              </a:rPr>
              <a:t>Private member variables – cannot be DIRECTLY accessed outside this class</a:t>
            </a:r>
            <a:endParaRPr lang="en-ZA" dirty="0">
              <a:solidFill>
                <a:srgbClr val="C00000"/>
              </a:solidFill>
            </a:endParaRPr>
          </a:p>
        </p:txBody>
      </p:sp>
    </p:spTree>
    <p:extLst>
      <p:ext uri="{BB962C8B-B14F-4D97-AF65-F5344CB8AC3E}">
        <p14:creationId xmlns:p14="http://schemas.microsoft.com/office/powerpoint/2010/main" val="31508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432B1-E587-3D3A-BDDD-E30611D4A1F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FEAFEFF-06F2-F00A-EF9B-6F6F4D9A11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5D6932C-E89A-E6E8-3FEF-D68FEE1491C5}"/>
              </a:ext>
            </a:extLst>
          </p:cNvPr>
          <p:cNvSpPr txBox="1"/>
          <p:nvPr/>
        </p:nvSpPr>
        <p:spPr>
          <a:xfrm>
            <a:off x="0" y="65927"/>
            <a:ext cx="6858000" cy="646331"/>
          </a:xfrm>
          <a:prstGeom prst="rect">
            <a:avLst/>
          </a:prstGeom>
          <a:noFill/>
        </p:spPr>
        <p:txBody>
          <a:bodyPr wrap="square" rtlCol="0">
            <a:spAutoFit/>
          </a:bodyPr>
          <a:lstStyle/>
          <a:p>
            <a:r>
              <a:rPr lang="en-US" sz="3600" b="1" dirty="0"/>
              <a:t>Classes</a:t>
            </a:r>
          </a:p>
        </p:txBody>
      </p:sp>
      <p:sp>
        <p:nvSpPr>
          <p:cNvPr id="2" name="Content Placeholder 2">
            <a:extLst>
              <a:ext uri="{FF2B5EF4-FFF2-40B4-BE49-F238E27FC236}">
                <a16:creationId xmlns:a16="http://schemas.microsoft.com/office/drawing/2014/main" id="{2348D599-71BE-9A9A-E775-AC9C93D613B6}"/>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285750" indent="-285750" algn="l">
              <a:buClr>
                <a:srgbClr val="C00000"/>
              </a:buClr>
              <a:buFont typeface="Arial" panose="020B0604020202020204" pitchFamily="34" charset="0"/>
              <a:buChar char="•"/>
            </a:pPr>
            <a:r>
              <a:rPr lang="en-US" sz="2400" dirty="0">
                <a:latin typeface="GiovanniStd-Book"/>
                <a:cs typeface="Arial" panose="020B0604020202020204" pitchFamily="34" charset="0"/>
              </a:rPr>
              <a:t>The keyword </a:t>
            </a:r>
            <a:r>
              <a:rPr lang="en-US" sz="2400" dirty="0">
                <a:solidFill>
                  <a:srgbClr val="C00000"/>
                </a:solidFill>
                <a:latin typeface="GiovanniStd-Book"/>
                <a:cs typeface="Arial" panose="020B0604020202020204" pitchFamily="34" charset="0"/>
              </a:rPr>
              <a:t>class</a:t>
            </a:r>
            <a:r>
              <a:rPr lang="en-US" sz="2400" dirty="0">
                <a:latin typeface="GiovanniStd-Book"/>
                <a:cs typeface="Arial" panose="020B0604020202020204" pitchFamily="34" charset="0"/>
              </a:rPr>
              <a:t> is used to create a class called Student.</a:t>
            </a:r>
          </a:p>
          <a:p>
            <a:pPr marL="285750" indent="-285750" algn="l">
              <a:buClr>
                <a:srgbClr val="C00000"/>
              </a:buClr>
              <a:buFont typeface="Arial" panose="020B0604020202020204" pitchFamily="34" charset="0"/>
              <a:buChar char="•"/>
            </a:pPr>
            <a:r>
              <a:rPr lang="en-US" sz="2400" dirty="0">
                <a:latin typeface="GiovanniStd-Book"/>
                <a:cs typeface="Arial" panose="020B0604020202020204" pitchFamily="34" charset="0"/>
              </a:rPr>
              <a:t>The public keyword is an access specifier, which specifies that members (attributes and methods) of the class are accessible from outside the class. You will learn more about access specifiers later.</a:t>
            </a:r>
          </a:p>
          <a:p>
            <a:pPr marL="285750" indent="-285750" algn="l">
              <a:buClr>
                <a:srgbClr val="C00000"/>
              </a:buClr>
              <a:buFont typeface="Arial" panose="020B0604020202020204" pitchFamily="34" charset="0"/>
              <a:buChar char="•"/>
            </a:pPr>
            <a:r>
              <a:rPr lang="en-US" sz="2400" dirty="0">
                <a:latin typeface="GiovanniStd-Book"/>
                <a:cs typeface="Arial" panose="020B0604020202020204" pitchFamily="34" charset="0"/>
              </a:rPr>
              <a:t>The variables name, </a:t>
            </a:r>
            <a:r>
              <a:rPr lang="en-US" sz="2400" dirty="0" err="1">
                <a:latin typeface="GiovanniStd-Book"/>
                <a:cs typeface="Arial" panose="020B0604020202020204" pitchFamily="34" charset="0"/>
              </a:rPr>
              <a:t>studentID</a:t>
            </a:r>
            <a:r>
              <a:rPr lang="en-US" sz="2400" dirty="0">
                <a:latin typeface="GiovanniStd-Book"/>
                <a:cs typeface="Arial" panose="020B0604020202020204" pitchFamily="34" charset="0"/>
              </a:rPr>
              <a:t>, year and average are declared inside the class.</a:t>
            </a:r>
          </a:p>
          <a:p>
            <a:pPr marL="285750" indent="-285750" algn="l">
              <a:buClr>
                <a:srgbClr val="C00000"/>
              </a:buClr>
              <a:buFont typeface="Arial" panose="020B0604020202020204" pitchFamily="34" charset="0"/>
              <a:buChar char="•"/>
            </a:pPr>
            <a:r>
              <a:rPr lang="en-US" sz="2400" dirty="0">
                <a:latin typeface="GiovanniStd-Book"/>
                <a:cs typeface="Arial" panose="020B0604020202020204" pitchFamily="34" charset="0"/>
              </a:rPr>
              <a:t>When variables are declared within a class, they are called attributes.</a:t>
            </a:r>
          </a:p>
          <a:p>
            <a:pPr marL="285750" indent="-285750" algn="l">
              <a:buClr>
                <a:srgbClr val="C00000"/>
              </a:buClr>
              <a:buFont typeface="Arial" panose="020B0604020202020204" pitchFamily="34" charset="0"/>
              <a:buChar char="•"/>
            </a:pPr>
            <a:r>
              <a:rPr lang="en-US" sz="2400" dirty="0">
                <a:latin typeface="GiovanniStd-Book"/>
                <a:cs typeface="Arial" panose="020B0604020202020204" pitchFamily="34" charset="0"/>
              </a:rPr>
              <a:t>Note: end the class definition with a semicolon </a:t>
            </a:r>
            <a:r>
              <a:rPr lang="en-US" sz="2400" dirty="0">
                <a:solidFill>
                  <a:srgbClr val="C00000"/>
                </a:solidFill>
                <a:latin typeface="GiovanniStd-Book"/>
                <a:cs typeface="Arial" panose="020B0604020202020204" pitchFamily="34" charset="0"/>
              </a:rPr>
              <a:t>;</a:t>
            </a:r>
            <a:r>
              <a:rPr lang="en-US" sz="2400" dirty="0">
                <a:latin typeface="GiovanniStd-Book"/>
                <a:cs typeface="Arial" panose="020B0604020202020204" pitchFamily="34" charset="0"/>
              </a:rPr>
              <a:t>.</a:t>
            </a:r>
            <a:endParaRPr lang="en-ZA" sz="2400" dirty="0">
              <a:latin typeface="GiovanniStd-Book"/>
              <a:cs typeface="Arial" panose="020B0604020202020204" pitchFamily="34" charset="0"/>
            </a:endParaRPr>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913828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F14C4-1C1E-7FFF-2BD5-223E4F4AC47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E7B90B9-346D-13E6-5344-35EACF902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B2C1049-31F9-FE09-FE46-B26EDADF324C}"/>
              </a:ext>
            </a:extLst>
          </p:cNvPr>
          <p:cNvSpPr txBox="1"/>
          <p:nvPr/>
        </p:nvSpPr>
        <p:spPr>
          <a:xfrm>
            <a:off x="0" y="65927"/>
            <a:ext cx="6858000" cy="646331"/>
          </a:xfrm>
          <a:prstGeom prst="rect">
            <a:avLst/>
          </a:prstGeom>
          <a:noFill/>
        </p:spPr>
        <p:txBody>
          <a:bodyPr wrap="square" rtlCol="0">
            <a:spAutoFit/>
          </a:bodyPr>
          <a:lstStyle/>
          <a:p>
            <a:r>
              <a:rPr lang="en-US" sz="3600" b="1" dirty="0"/>
              <a:t>Constructors</a:t>
            </a:r>
          </a:p>
        </p:txBody>
      </p:sp>
      <p:sp>
        <p:nvSpPr>
          <p:cNvPr id="2" name="Content Placeholder 2">
            <a:extLst>
              <a:ext uri="{FF2B5EF4-FFF2-40B4-BE49-F238E27FC236}">
                <a16:creationId xmlns:a16="http://schemas.microsoft.com/office/drawing/2014/main" id="{8B01DFBD-3459-1F35-D175-10CECCB605B2}"/>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285750" indent="-285750" algn="l">
              <a:buClr>
                <a:srgbClr val="C00000"/>
              </a:buClr>
              <a:buFont typeface="Arial" panose="020B0604020202020204" pitchFamily="34" charset="0"/>
              <a:buChar char="•"/>
            </a:pPr>
            <a:r>
              <a:rPr lang="en-US" sz="2400" dirty="0">
                <a:latin typeface="GiovanniStd-Book"/>
                <a:cs typeface="Arial" panose="020B0604020202020204" pitchFamily="34" charset="0"/>
              </a:rPr>
              <a:t>Constructors are special class members which are called by the compiler every time an object of that class is instantiated.</a:t>
            </a:r>
          </a:p>
          <a:p>
            <a:pPr marL="285750" indent="-285750" algn="l">
              <a:buClr>
                <a:srgbClr val="C00000"/>
              </a:buClr>
              <a:buFont typeface="Arial" panose="020B0604020202020204" pitchFamily="34" charset="0"/>
              <a:buChar char="•"/>
            </a:pPr>
            <a:r>
              <a:rPr lang="en-ZA" sz="2400" b="1" dirty="0">
                <a:latin typeface="GiovanniStd-Book"/>
                <a:cs typeface="Arial" panose="020B0604020202020204" pitchFamily="34" charset="0"/>
              </a:rPr>
              <a:t>Student studObj1;</a:t>
            </a:r>
            <a:r>
              <a:rPr lang="en-US" sz="2400" b="1" dirty="0">
                <a:latin typeface="GiovanniStd-Book"/>
                <a:cs typeface="Arial" panose="020B0604020202020204" pitchFamily="34" charset="0"/>
              </a:rPr>
              <a:t> </a:t>
            </a:r>
            <a:r>
              <a:rPr lang="en-US" sz="2400" dirty="0">
                <a:latin typeface="GiovanniStd-Book"/>
                <a:cs typeface="Arial" panose="020B0604020202020204" pitchFamily="34" charset="0"/>
              </a:rPr>
              <a:t>- default constructor assigns default values.</a:t>
            </a:r>
          </a:p>
          <a:p>
            <a:pPr marL="285750" indent="-285750" algn="l">
              <a:buClr>
                <a:srgbClr val="C00000"/>
              </a:buClr>
              <a:buFont typeface="Arial" panose="020B0604020202020204" pitchFamily="34" charset="0"/>
              <a:buChar char="•"/>
            </a:pPr>
            <a:r>
              <a:rPr lang="en-ZA" sz="2400" b="1" dirty="0">
                <a:latin typeface="GiovanniStd-Book"/>
                <a:cs typeface="Arial" panose="020B0604020202020204" pitchFamily="34" charset="0"/>
              </a:rPr>
              <a:t>Student studObj2 = new Student("</a:t>
            </a:r>
            <a:r>
              <a:rPr lang="en-ZA" sz="2400" b="1" dirty="0" err="1">
                <a:latin typeface="GiovanniStd-Book"/>
                <a:cs typeface="Arial" panose="020B0604020202020204" pitchFamily="34" charset="0"/>
              </a:rPr>
              <a:t>MyName</a:t>
            </a:r>
            <a:r>
              <a:rPr lang="en-ZA" sz="2400" b="1" dirty="0">
                <a:latin typeface="GiovanniStd-Book"/>
                <a:cs typeface="Arial" panose="020B0604020202020204" pitchFamily="34" charset="0"/>
              </a:rPr>
              <a:t>", 2, 2023, 34.52); </a:t>
            </a:r>
            <a:r>
              <a:rPr lang="en-ZA" sz="2400" dirty="0">
                <a:latin typeface="GiovanniStd-Book"/>
                <a:cs typeface="Arial" panose="020B0604020202020204" pitchFamily="34" charset="0"/>
              </a:rPr>
              <a:t>- uses parameterized constructor to assign values to the object.</a:t>
            </a:r>
            <a:endParaRPr lang="en-US" sz="2400" dirty="0">
              <a:latin typeface="GiovanniStd-Book"/>
              <a:cs typeface="Arial" panose="020B0604020202020204" pitchFamily="34" charset="0"/>
            </a:endParaRPr>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142370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BB784-C0C4-F0BA-BBA3-839B1EDD2042}"/>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CE3700C-F812-7AFC-CC13-CF14D31493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3DD687B-35C1-373C-992C-0A6E19660E0F}"/>
              </a:ext>
            </a:extLst>
          </p:cNvPr>
          <p:cNvSpPr txBox="1"/>
          <p:nvPr/>
        </p:nvSpPr>
        <p:spPr>
          <a:xfrm>
            <a:off x="0" y="65927"/>
            <a:ext cx="6858000" cy="646331"/>
          </a:xfrm>
          <a:prstGeom prst="rect">
            <a:avLst/>
          </a:prstGeom>
          <a:noFill/>
        </p:spPr>
        <p:txBody>
          <a:bodyPr wrap="square" rtlCol="0">
            <a:spAutoFit/>
          </a:bodyPr>
          <a:lstStyle/>
          <a:p>
            <a:r>
              <a:rPr lang="en-US" sz="3600" b="1" dirty="0"/>
              <a:t>Member Functions</a:t>
            </a:r>
          </a:p>
        </p:txBody>
      </p:sp>
      <p:sp>
        <p:nvSpPr>
          <p:cNvPr id="2" name="Content Placeholder 2">
            <a:extLst>
              <a:ext uri="{FF2B5EF4-FFF2-40B4-BE49-F238E27FC236}">
                <a16:creationId xmlns:a16="http://schemas.microsoft.com/office/drawing/2014/main" id="{21B0C59E-0B84-4D50-B868-4E253774B91C}"/>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398463" indent="-398463" algn="l">
              <a:buClr>
                <a:srgbClr val="C00000"/>
              </a:buClr>
              <a:buFont typeface="Arial" panose="020B0604020202020204" pitchFamily="34" charset="0"/>
              <a:buChar char="•"/>
            </a:pPr>
            <a:r>
              <a:rPr lang="en-US" sz="2400" dirty="0">
                <a:latin typeface="GiovanniStd-Book"/>
                <a:cs typeface="Arial" panose="020B0604020202020204" pitchFamily="34" charset="0"/>
              </a:rPr>
              <a:t>Ideal class definition: you should be able to change the details of</a:t>
            </a:r>
          </a:p>
          <a:p>
            <a:pPr marL="684213" indent="-285750" algn="l">
              <a:buClr>
                <a:srgbClr val="C00000"/>
              </a:buClr>
              <a:buFont typeface="Arial" panose="020B0604020202020204" pitchFamily="34" charset="0"/>
              <a:buChar char="•"/>
            </a:pPr>
            <a:r>
              <a:rPr lang="en-US" sz="2400" dirty="0">
                <a:latin typeface="GiovanniStd-Book"/>
                <a:cs typeface="Arial" panose="020B0604020202020204" pitchFamily="34" charset="0"/>
              </a:rPr>
              <a:t>how the class is implemented and the only things you should need to change in any program that uses the class are the definitions of the member functions.</a:t>
            </a:r>
          </a:p>
          <a:p>
            <a:pPr marL="398463" indent="-398463" algn="l">
              <a:buClr>
                <a:srgbClr val="C00000"/>
              </a:buClr>
              <a:buFont typeface="Arial" panose="020B0604020202020204" pitchFamily="34" charset="0"/>
              <a:buChar char="•"/>
            </a:pPr>
            <a:r>
              <a:rPr lang="en-US" sz="2400" dirty="0">
                <a:latin typeface="GiovanniStd-Book"/>
                <a:cs typeface="Arial" panose="020B0604020202020204" pitchFamily="34" charset="0"/>
              </a:rPr>
              <a:t>To realize this ideal, you must have member functions so that you</a:t>
            </a:r>
          </a:p>
          <a:p>
            <a:pPr marL="684213" indent="-285750" algn="l">
              <a:buClr>
                <a:srgbClr val="C00000"/>
              </a:buClr>
              <a:buFont typeface="Arial" panose="020B0604020202020204" pitchFamily="34" charset="0"/>
              <a:buChar char="•"/>
            </a:pPr>
            <a:r>
              <a:rPr lang="en-US" sz="2400" dirty="0">
                <a:latin typeface="GiovanniStd-Book"/>
                <a:cs typeface="Arial" panose="020B0604020202020204" pitchFamily="34" charset="0"/>
              </a:rPr>
              <a:t>never need to access the member variables directly but access them only through the member functions. </a:t>
            </a:r>
          </a:p>
          <a:p>
            <a:pPr marL="398463" indent="-398463" algn="l">
              <a:buClr>
                <a:srgbClr val="C00000"/>
              </a:buClr>
              <a:buFont typeface="Arial" panose="020B0604020202020204" pitchFamily="34" charset="0"/>
              <a:buChar char="•"/>
            </a:pPr>
            <a:r>
              <a:rPr lang="en-US" sz="2400" dirty="0">
                <a:latin typeface="GiovanniStd-Book"/>
                <a:cs typeface="Arial" panose="020B0604020202020204" pitchFamily="34" charset="0"/>
              </a:rPr>
              <a:t>Then, if you change the member variables, you need change only the definitions of the member functions to match your changes to the member variables, and nothing else in your programs need change.</a:t>
            </a:r>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007552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1B05D-4456-DCA2-E896-1FE4F4C8276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6C0CD0B-E651-90C4-D5D5-F59CB294B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D5B950E-0077-8B83-56B9-2FD9EF498152}"/>
              </a:ext>
            </a:extLst>
          </p:cNvPr>
          <p:cNvSpPr txBox="1"/>
          <p:nvPr/>
        </p:nvSpPr>
        <p:spPr>
          <a:xfrm>
            <a:off x="0" y="65927"/>
            <a:ext cx="6858000" cy="646331"/>
          </a:xfrm>
          <a:prstGeom prst="rect">
            <a:avLst/>
          </a:prstGeom>
          <a:noFill/>
        </p:spPr>
        <p:txBody>
          <a:bodyPr wrap="square" rtlCol="0">
            <a:spAutoFit/>
          </a:bodyPr>
          <a:lstStyle/>
          <a:p>
            <a:r>
              <a:rPr lang="en-US" sz="3600" b="1" dirty="0"/>
              <a:t>Member Functions</a:t>
            </a:r>
          </a:p>
        </p:txBody>
      </p:sp>
      <p:sp>
        <p:nvSpPr>
          <p:cNvPr id="2" name="Content Placeholder 2">
            <a:extLst>
              <a:ext uri="{FF2B5EF4-FFF2-40B4-BE49-F238E27FC236}">
                <a16:creationId xmlns:a16="http://schemas.microsoft.com/office/drawing/2014/main" id="{68619E4A-1500-F632-DABA-6AFB4CA2F119}"/>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An accessor - public member function in a class that gets (accesses) the value of a private member variable.</a:t>
            </a:r>
          </a:p>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A mutator - public member function in a class that sets (mutates) the value of a private member variable.</a:t>
            </a:r>
          </a:p>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The default constructor - a constructor that either has no parameters or if it has parameters, all the parameters have default values for their data types.</a:t>
            </a:r>
          </a:p>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An overloaded constructor - We can have more than one constructor in a class provided each has a different list of arguments (overloading).</a:t>
            </a:r>
          </a:p>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Destructor: function typically used to deallocate memory and do other cleanup functions for a class object and its class members when the object is destroyed. A destructor is called for a class object when that object passes out of scope or is explicitly deleted.</a:t>
            </a:r>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023369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94A55-C40F-4B8D-7676-E30789C8C1A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672F0B9-635A-593A-35B1-826694025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0637224-9A0C-F644-76B4-23E09FEDBFD9}"/>
              </a:ext>
            </a:extLst>
          </p:cNvPr>
          <p:cNvSpPr txBox="1"/>
          <p:nvPr/>
        </p:nvSpPr>
        <p:spPr>
          <a:xfrm>
            <a:off x="0" y="65927"/>
            <a:ext cx="6858000" cy="646331"/>
          </a:xfrm>
          <a:prstGeom prst="rect">
            <a:avLst/>
          </a:prstGeom>
          <a:noFill/>
        </p:spPr>
        <p:txBody>
          <a:bodyPr wrap="square" rtlCol="0">
            <a:spAutoFit/>
          </a:bodyPr>
          <a:lstStyle/>
          <a:p>
            <a:r>
              <a:rPr lang="en-US" sz="3600" b="1" dirty="0">
                <a:latin typeface="GiovanniStd-Book"/>
                <a:cs typeface="Arial" panose="020B0604020202020204" pitchFamily="34" charset="0"/>
              </a:rPr>
              <a:t>Scope resolution operator :: </a:t>
            </a:r>
            <a:endParaRPr lang="en-US" sz="3600" b="1" dirty="0"/>
          </a:p>
        </p:txBody>
      </p:sp>
      <p:sp>
        <p:nvSpPr>
          <p:cNvPr id="2" name="Content Placeholder 2">
            <a:extLst>
              <a:ext uri="{FF2B5EF4-FFF2-40B4-BE49-F238E27FC236}">
                <a16:creationId xmlns:a16="http://schemas.microsoft.com/office/drawing/2014/main" id="{91AE6645-8501-B50E-0872-8F1A99E1449C}"/>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The </a:t>
            </a:r>
            <a:r>
              <a:rPr lang="en-US" sz="2400" b="1" dirty="0">
                <a:latin typeface="GiovanniStd-Book"/>
                <a:cs typeface="Arial" panose="020B0604020202020204" pitchFamily="34" charset="0"/>
              </a:rPr>
              <a:t>scope resolution operator :: </a:t>
            </a:r>
            <a:r>
              <a:rPr lang="en-US" sz="2400" dirty="0">
                <a:latin typeface="GiovanniStd-Book"/>
                <a:cs typeface="Arial" panose="020B0604020202020204" pitchFamily="34" charset="0"/>
              </a:rPr>
              <a:t>is used with a class name, whereas</a:t>
            </a:r>
          </a:p>
          <a:p>
            <a:pPr marL="800100" indent="-342900"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the dot operator is used with objects (that is, with class variables). </a:t>
            </a:r>
          </a:p>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The scope resolution operator consists of two colons with no space between them. </a:t>
            </a:r>
          </a:p>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The class name that precedes the scope resolution operator is called a type qualifier because it specializes (“qualifies”) the function name to one particular type.</a:t>
            </a:r>
          </a:p>
          <a:p>
            <a:pPr algn="l">
              <a:lnSpc>
                <a:spcPct val="80000"/>
              </a:lnSpc>
              <a:buClr>
                <a:srgbClr val="C00000"/>
              </a:buClr>
            </a:pPr>
            <a:r>
              <a:rPr lang="en-US" sz="2400" dirty="0">
                <a:latin typeface="GiovanniStd-Book"/>
                <a:cs typeface="Arial" panose="020B0604020202020204" pitchFamily="34" charset="0"/>
              </a:rPr>
              <a:t>	For example:</a:t>
            </a:r>
          </a:p>
          <a:p>
            <a:pPr algn="l">
              <a:lnSpc>
                <a:spcPct val="80000"/>
              </a:lnSpc>
              <a:buClr>
                <a:srgbClr val="C00000"/>
              </a:buClr>
            </a:pPr>
            <a:r>
              <a:rPr lang="en-US" sz="2400" dirty="0">
                <a:latin typeface="GiovanniStd-Book"/>
                <a:cs typeface="Arial" panose="020B0604020202020204" pitchFamily="34" charset="0"/>
              </a:rPr>
              <a:t>	    Student :: </a:t>
            </a:r>
            <a:r>
              <a:rPr lang="en-US" sz="2400" dirty="0" err="1">
                <a:latin typeface="GiovanniStd-Book"/>
                <a:cs typeface="Arial" panose="020B0604020202020204" pitchFamily="34" charset="0"/>
              </a:rPr>
              <a:t>getName</a:t>
            </a:r>
            <a:r>
              <a:rPr lang="en-US" sz="2400" dirty="0">
                <a:latin typeface="GiovanniStd-Book"/>
                <a:cs typeface="Arial" panose="020B0604020202020204" pitchFamily="34" charset="0"/>
              </a:rPr>
              <a:t>() {</a:t>
            </a:r>
          </a:p>
          <a:p>
            <a:pPr algn="l">
              <a:lnSpc>
                <a:spcPct val="80000"/>
              </a:lnSpc>
              <a:buClr>
                <a:srgbClr val="C00000"/>
              </a:buClr>
            </a:pPr>
            <a:r>
              <a:rPr lang="en-US" sz="2400" dirty="0">
                <a:latin typeface="GiovanniStd-Book"/>
                <a:cs typeface="Arial" panose="020B0604020202020204" pitchFamily="34" charset="0"/>
              </a:rPr>
              <a:t>	     }</a:t>
            </a:r>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7924701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78A02-D9C9-9693-5C9A-9D228A343D5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4813547-AD2C-9A57-F6BC-322862F51B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F90F321-F375-63E0-BD14-15BB51CBD9CA}"/>
              </a:ext>
            </a:extLst>
          </p:cNvPr>
          <p:cNvSpPr txBox="1"/>
          <p:nvPr/>
        </p:nvSpPr>
        <p:spPr>
          <a:xfrm>
            <a:off x="0" y="65927"/>
            <a:ext cx="6858000" cy="646331"/>
          </a:xfrm>
          <a:prstGeom prst="rect">
            <a:avLst/>
          </a:prstGeom>
          <a:noFill/>
        </p:spPr>
        <p:txBody>
          <a:bodyPr wrap="square" rtlCol="0">
            <a:spAutoFit/>
          </a:bodyPr>
          <a:lstStyle/>
          <a:p>
            <a:r>
              <a:rPr lang="en-US" sz="3600" b="1" dirty="0"/>
              <a:t>Member Functions</a:t>
            </a:r>
          </a:p>
        </p:txBody>
      </p:sp>
      <p:sp>
        <p:nvSpPr>
          <p:cNvPr id="2" name="Content Placeholder 2">
            <a:extLst>
              <a:ext uri="{FF2B5EF4-FFF2-40B4-BE49-F238E27FC236}">
                <a16:creationId xmlns:a16="http://schemas.microsoft.com/office/drawing/2014/main" id="{F7AE8A33-8EE4-894E-F92E-D5EF338AB9B7}"/>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Notice that in the function definitions, we use the member names by themselves without giving the object and dot operator. </a:t>
            </a:r>
          </a:p>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At this point we are simply defining the member functions. </a:t>
            </a:r>
          </a:p>
          <a:p>
            <a:pPr marL="398463" indent="-398463"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These definitions will apply to all objects of type Student, but at this</a:t>
            </a:r>
          </a:p>
          <a:p>
            <a:pPr marL="800100" indent="-342900"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point we do not know the names of the objects of type Student that</a:t>
            </a:r>
          </a:p>
          <a:p>
            <a:pPr marL="800100" indent="-342900"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we will use, so we cannot give their names. </a:t>
            </a:r>
          </a:p>
          <a:p>
            <a:pPr marL="457200" indent="-457200" algn="l">
              <a:lnSpc>
                <a:spcPct val="80000"/>
              </a:lnSpc>
              <a:buClr>
                <a:srgbClr val="C00000"/>
              </a:buClr>
              <a:buFont typeface="Arial" panose="020B0604020202020204" pitchFamily="34" charset="0"/>
              <a:buChar char="•"/>
            </a:pPr>
            <a:r>
              <a:rPr lang="en-US" sz="2400" dirty="0">
                <a:latin typeface="GiovanniStd-Book"/>
                <a:cs typeface="Arial" panose="020B0604020202020204" pitchFamily="34" charset="0"/>
              </a:rPr>
              <a:t>When the member function is called, for example:</a:t>
            </a:r>
          </a:p>
          <a:p>
            <a:pPr algn="l">
              <a:lnSpc>
                <a:spcPct val="80000"/>
              </a:lnSpc>
              <a:buClr>
                <a:srgbClr val="C00000"/>
              </a:buClr>
            </a:pPr>
            <a:r>
              <a:rPr lang="en-US" sz="2400" dirty="0">
                <a:latin typeface="GiovanniStd-Book"/>
                <a:cs typeface="Arial" panose="020B0604020202020204" pitchFamily="34" charset="0"/>
              </a:rPr>
              <a:t>           studObj1.getName();</a:t>
            </a:r>
          </a:p>
          <a:p>
            <a:pPr algn="l">
              <a:lnSpc>
                <a:spcPct val="80000"/>
              </a:lnSpc>
              <a:buClr>
                <a:srgbClr val="C00000"/>
              </a:buClr>
            </a:pPr>
            <a:r>
              <a:rPr lang="en-US" sz="2400" dirty="0">
                <a:latin typeface="GiovanniStd-Book"/>
                <a:cs typeface="Arial" panose="020B0604020202020204" pitchFamily="34" charset="0"/>
              </a:rPr>
              <a:t>       the member name in the function 	definition is specialized to the name of 	the calling object.</a:t>
            </a:r>
            <a:endParaRPr lang="en-ZA" sz="2400" dirty="0">
              <a:latin typeface="GiovanniStd-Book"/>
              <a:cs typeface="Arial" panose="020B0604020202020204" pitchFamily="34" charset="0"/>
            </a:endParaRPr>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174990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492B8-0F5E-7E46-D083-CCE999456F9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B6F1E80-226B-2582-5A52-867CB65CBC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B1B00CAF-9BB5-126F-512B-5256BA43BCA6}"/>
              </a:ext>
            </a:extLst>
          </p:cNvPr>
          <p:cNvSpPr txBox="1"/>
          <p:nvPr/>
        </p:nvSpPr>
        <p:spPr>
          <a:xfrm>
            <a:off x="0" y="65927"/>
            <a:ext cx="6858000" cy="1200329"/>
          </a:xfrm>
          <a:prstGeom prst="rect">
            <a:avLst/>
          </a:prstGeom>
          <a:noFill/>
        </p:spPr>
        <p:txBody>
          <a:bodyPr wrap="square" rtlCol="0">
            <a:spAutoFit/>
          </a:bodyPr>
          <a:lstStyle/>
          <a:p>
            <a:r>
              <a:rPr lang="en-US" sz="3600" b="1" dirty="0">
                <a:latin typeface="Arial" panose="020B0604020202020204" pitchFamily="34" charset="0"/>
                <a:cs typeface="Arial" panose="020B0604020202020204" pitchFamily="34" charset="0"/>
              </a:rPr>
              <a:t>When to use Structures vs Class</a:t>
            </a:r>
            <a:endParaRPr lang="en-US" sz="3600" b="1" dirty="0"/>
          </a:p>
        </p:txBody>
      </p:sp>
      <p:sp>
        <p:nvSpPr>
          <p:cNvPr id="2" name="Content Placeholder 2">
            <a:extLst>
              <a:ext uri="{FF2B5EF4-FFF2-40B4-BE49-F238E27FC236}">
                <a16:creationId xmlns:a16="http://schemas.microsoft.com/office/drawing/2014/main" id="{773184AF-F654-1EC9-3450-FDC0B2CE4282}"/>
              </a:ext>
            </a:extLst>
          </p:cNvPr>
          <p:cNvSpPr txBox="1">
            <a:spLocks/>
          </p:cNvSpPr>
          <p:nvPr/>
        </p:nvSpPr>
        <p:spPr>
          <a:xfrm>
            <a:off x="471488" y="2637014"/>
            <a:ext cx="5915025" cy="2837354"/>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15000"/>
              </a:lnSpc>
              <a:spcAft>
                <a:spcPts val="1000"/>
              </a:spcAft>
            </a:pPr>
            <a:r>
              <a:rPr lang="en-ZA" sz="2400" b="1" dirty="0">
                <a:latin typeface="Cambria" panose="02040503050406030204" pitchFamily="18" charset="0"/>
                <a:ea typeface="MS Mincho" panose="02020609040205080304" pitchFamily="49" charset="-128"/>
                <a:cs typeface="Arial" panose="020B0604020202020204" pitchFamily="34" charset="0"/>
              </a:rPr>
              <a:t>Rule of Thumb</a:t>
            </a:r>
            <a:endParaRPr lang="en-ZA" sz="2400" dirty="0">
              <a:latin typeface="Cambria" panose="02040503050406030204" pitchFamily="18" charset="0"/>
              <a:ea typeface="MS Mincho" panose="02020609040205080304" pitchFamily="49" charset="-128"/>
              <a:cs typeface="Arial" panose="020B0604020202020204" pitchFamily="34" charset="0"/>
            </a:endParaRPr>
          </a:p>
          <a:p>
            <a:pPr marL="342900" lvl="0" indent="-342900" algn="l">
              <a:lnSpc>
                <a:spcPct val="115000"/>
              </a:lnSpc>
              <a:spcAft>
                <a:spcPts val="1000"/>
              </a:spcAft>
              <a:buSzPts val="1000"/>
              <a:buFont typeface="Symbol" panose="05050102010706020507" pitchFamily="18" charset="2"/>
              <a:buChar char=""/>
              <a:tabLst>
                <a:tab pos="457200" algn="l"/>
              </a:tabLst>
            </a:pPr>
            <a:r>
              <a:rPr lang="en-ZA" sz="2400" dirty="0">
                <a:latin typeface="Cambria" panose="02040503050406030204" pitchFamily="18" charset="0"/>
                <a:ea typeface="MS Mincho" panose="02020609040205080304" pitchFamily="49" charset="-128"/>
                <a:cs typeface="Arial" panose="020B0604020202020204" pitchFamily="34" charset="0"/>
              </a:rPr>
              <a:t>Use </a:t>
            </a:r>
            <a:r>
              <a:rPr lang="en-ZA" sz="2400" dirty="0">
                <a:solidFill>
                  <a:srgbClr val="C00000"/>
                </a:solidFill>
                <a:latin typeface="Cambria" panose="02040503050406030204" pitchFamily="18" charset="0"/>
                <a:ea typeface="MS Mincho" panose="02020609040205080304" pitchFamily="49" charset="-128"/>
                <a:cs typeface="Arial" panose="020B0604020202020204" pitchFamily="34" charset="0"/>
              </a:rPr>
              <a:t>struct</a:t>
            </a:r>
            <a:r>
              <a:rPr lang="en-ZA" sz="2400" dirty="0">
                <a:latin typeface="Cambria" panose="02040503050406030204" pitchFamily="18" charset="0"/>
                <a:ea typeface="MS Mincho" panose="02020609040205080304" pitchFamily="49" charset="-128"/>
                <a:cs typeface="Arial" panose="020B0604020202020204" pitchFamily="34" charset="0"/>
              </a:rPr>
              <a:t> for </a:t>
            </a:r>
            <a:r>
              <a:rPr lang="en-ZA" sz="2400" b="1" dirty="0">
                <a:latin typeface="Cambria" panose="02040503050406030204" pitchFamily="18" charset="0"/>
                <a:ea typeface="MS Mincho" panose="02020609040205080304" pitchFamily="49" charset="-128"/>
                <a:cs typeface="Arial" panose="020B0604020202020204" pitchFamily="34" charset="0"/>
              </a:rPr>
              <a:t>plain data structures</a:t>
            </a:r>
            <a:r>
              <a:rPr lang="en-ZA" sz="2400" dirty="0">
                <a:latin typeface="Cambria" panose="02040503050406030204" pitchFamily="18" charset="0"/>
                <a:ea typeface="MS Mincho" panose="02020609040205080304" pitchFamily="49" charset="-128"/>
                <a:cs typeface="Arial" panose="020B0604020202020204" pitchFamily="34" charset="0"/>
              </a:rPr>
              <a:t> (like rows in a table).</a:t>
            </a:r>
          </a:p>
          <a:p>
            <a:pPr marL="342900" lvl="0" indent="-342900" algn="l">
              <a:lnSpc>
                <a:spcPct val="115000"/>
              </a:lnSpc>
              <a:spcAft>
                <a:spcPts val="1000"/>
              </a:spcAft>
              <a:buSzPts val="1000"/>
              <a:buFont typeface="Symbol" panose="05050102010706020507" pitchFamily="18" charset="2"/>
              <a:buChar char=""/>
              <a:tabLst>
                <a:tab pos="457200" algn="l"/>
              </a:tabLst>
            </a:pPr>
            <a:r>
              <a:rPr lang="en-ZA" sz="2400" dirty="0">
                <a:latin typeface="Cambria" panose="02040503050406030204" pitchFamily="18" charset="0"/>
                <a:ea typeface="MS Mincho" panose="02020609040205080304" pitchFamily="49" charset="-128"/>
                <a:cs typeface="Arial" panose="020B0604020202020204" pitchFamily="34" charset="0"/>
              </a:rPr>
              <a:t>Use </a:t>
            </a:r>
            <a:r>
              <a:rPr lang="en-ZA" sz="2400" dirty="0">
                <a:solidFill>
                  <a:srgbClr val="C00000"/>
                </a:solidFill>
                <a:latin typeface="Cambria" panose="02040503050406030204" pitchFamily="18" charset="0"/>
                <a:ea typeface="MS Mincho" panose="02020609040205080304" pitchFamily="49" charset="-128"/>
                <a:cs typeface="Arial" panose="020B0604020202020204" pitchFamily="34" charset="0"/>
              </a:rPr>
              <a:t>class</a:t>
            </a:r>
            <a:r>
              <a:rPr lang="en-ZA" sz="2400" dirty="0">
                <a:latin typeface="Cambria" panose="02040503050406030204" pitchFamily="18" charset="0"/>
                <a:ea typeface="MS Mincho" panose="02020609040205080304" pitchFamily="49" charset="-128"/>
                <a:cs typeface="Arial" panose="020B0604020202020204" pitchFamily="34" charset="0"/>
              </a:rPr>
              <a:t> for </a:t>
            </a:r>
            <a:r>
              <a:rPr lang="en-ZA" sz="2400" b="1" dirty="0">
                <a:latin typeface="Cambria" panose="02040503050406030204" pitchFamily="18" charset="0"/>
                <a:ea typeface="MS Mincho" panose="02020609040205080304" pitchFamily="49" charset="-128"/>
                <a:cs typeface="Arial" panose="020B0604020202020204" pitchFamily="34" charset="0"/>
              </a:rPr>
              <a:t>objects that encapsulate both data and behaviour</a:t>
            </a:r>
            <a:r>
              <a:rPr lang="en-ZA" sz="2400" dirty="0">
                <a:latin typeface="Cambria" panose="02040503050406030204" pitchFamily="18" charset="0"/>
                <a:ea typeface="MS Mincho" panose="02020609040205080304" pitchFamily="49" charset="-128"/>
                <a:cs typeface="Arial" panose="020B0604020202020204" pitchFamily="34" charset="0"/>
              </a:rPr>
              <a:t>.</a:t>
            </a:r>
          </a:p>
          <a:p>
            <a:pPr marL="285750" indent="-285750">
              <a:buFont typeface="Arial" panose="020B0604020202020204" pitchFamily="34" charset="0"/>
              <a:buChar char="•"/>
            </a:pPr>
            <a:endParaRPr lang="en-US" sz="2400" b="1" dirty="0"/>
          </a:p>
        </p:txBody>
      </p:sp>
      <p:graphicFrame>
        <p:nvGraphicFramePr>
          <p:cNvPr id="3" name="Content Placeholder 3">
            <a:extLst>
              <a:ext uri="{FF2B5EF4-FFF2-40B4-BE49-F238E27FC236}">
                <a16:creationId xmlns:a16="http://schemas.microsoft.com/office/drawing/2014/main" id="{361913F5-9660-C019-181F-E2D978BEB375}"/>
              </a:ext>
            </a:extLst>
          </p:cNvPr>
          <p:cNvGraphicFramePr>
            <a:graphicFrameLocks/>
          </p:cNvGraphicFramePr>
          <p:nvPr>
            <p:extLst>
              <p:ext uri="{D42A27DB-BD31-4B8C-83A1-F6EECF244321}">
                <p14:modId xmlns:p14="http://schemas.microsoft.com/office/powerpoint/2010/main" val="3249687131"/>
              </p:ext>
            </p:extLst>
          </p:nvPr>
        </p:nvGraphicFramePr>
        <p:xfrm>
          <a:off x="-72551" y="5503244"/>
          <a:ext cx="6930552" cy="3212255"/>
        </p:xfrm>
        <a:graphic>
          <a:graphicData uri="http://schemas.openxmlformats.org/drawingml/2006/table">
            <a:tbl>
              <a:tblPr firstRow="1" bandRow="1">
                <a:tableStyleId>{5C22544A-7EE6-4342-B048-85BDC9FD1C3A}</a:tableStyleId>
              </a:tblPr>
              <a:tblGrid>
                <a:gridCol w="3465276">
                  <a:extLst>
                    <a:ext uri="{9D8B030D-6E8A-4147-A177-3AD203B41FA5}">
                      <a16:colId xmlns:a16="http://schemas.microsoft.com/office/drawing/2014/main" val="3797080465"/>
                    </a:ext>
                  </a:extLst>
                </a:gridCol>
                <a:gridCol w="3465276">
                  <a:extLst>
                    <a:ext uri="{9D8B030D-6E8A-4147-A177-3AD203B41FA5}">
                      <a16:colId xmlns:a16="http://schemas.microsoft.com/office/drawing/2014/main" val="1173201428"/>
                    </a:ext>
                  </a:extLst>
                </a:gridCol>
              </a:tblGrid>
              <a:tr h="564057">
                <a:tc>
                  <a:txBody>
                    <a:bodyPr/>
                    <a:lstStyle/>
                    <a:p>
                      <a:r>
                        <a:rPr lang="en-US" sz="1800" b="1" kern="1200" dirty="0">
                          <a:solidFill>
                            <a:schemeClr val="lt1"/>
                          </a:solidFill>
                          <a:effectLst/>
                        </a:rPr>
                        <a:t>Use struct when…</a:t>
                      </a:r>
                      <a:endParaRPr lang="en-ZA" dirty="0"/>
                    </a:p>
                  </a:txBody>
                  <a:tcPr/>
                </a:tc>
                <a:tc>
                  <a:txBody>
                    <a:bodyPr/>
                    <a:lstStyle/>
                    <a:p>
                      <a:r>
                        <a:rPr lang="en-US" sz="1800" b="1" kern="1200" dirty="0">
                          <a:solidFill>
                            <a:schemeClr val="lt1"/>
                          </a:solidFill>
                          <a:effectLst/>
                        </a:rPr>
                        <a:t>Use class when…</a:t>
                      </a:r>
                      <a:endParaRPr lang="en-ZA" dirty="0"/>
                    </a:p>
                  </a:txBody>
                  <a:tcPr/>
                </a:tc>
                <a:extLst>
                  <a:ext uri="{0D108BD9-81ED-4DB2-BD59-A6C34878D82A}">
                    <a16:rowId xmlns:a16="http://schemas.microsoft.com/office/drawing/2014/main" val="2573609349"/>
                  </a:ext>
                </a:extLst>
              </a:tr>
              <a:tr h="973579">
                <a:tc>
                  <a:txBody>
                    <a:bodyPr/>
                    <a:lstStyle/>
                    <a:p>
                      <a:r>
                        <a:rPr lang="en-US" sz="2000" kern="1200" dirty="0">
                          <a:solidFill>
                            <a:schemeClr val="dk1"/>
                          </a:solidFill>
                          <a:effectLst/>
                        </a:rPr>
                        <a:t>You just need to store data</a:t>
                      </a:r>
                      <a:endParaRPr lang="en-ZA" sz="2000" dirty="0"/>
                    </a:p>
                  </a:txBody>
                  <a:tcPr/>
                </a:tc>
                <a:tc>
                  <a:txBody>
                    <a:bodyPr/>
                    <a:lstStyle/>
                    <a:p>
                      <a:r>
                        <a:rPr lang="en-US" sz="2000" kern="1200" dirty="0">
                          <a:solidFill>
                            <a:schemeClr val="dk1"/>
                          </a:solidFill>
                          <a:effectLst/>
                        </a:rPr>
                        <a:t>You need behaviour (methods) and abstraction</a:t>
                      </a:r>
                      <a:endParaRPr lang="en-ZA" sz="2000" dirty="0"/>
                    </a:p>
                  </a:txBody>
                  <a:tcPr/>
                </a:tc>
                <a:extLst>
                  <a:ext uri="{0D108BD9-81ED-4DB2-BD59-A6C34878D82A}">
                    <a16:rowId xmlns:a16="http://schemas.microsoft.com/office/drawing/2014/main" val="355636238"/>
                  </a:ext>
                </a:extLst>
              </a:tr>
              <a:tr h="973579">
                <a:tc>
                  <a:txBody>
                    <a:bodyPr/>
                    <a:lstStyle/>
                    <a:p>
                      <a:r>
                        <a:rPr lang="en-US" sz="2000" kern="1200" dirty="0">
                          <a:solidFill>
                            <a:schemeClr val="dk1"/>
                          </a:solidFill>
                          <a:effectLst/>
                        </a:rPr>
                        <a:t>All members should be public</a:t>
                      </a:r>
                      <a:endParaRPr lang="en-ZA" sz="2000" dirty="0"/>
                    </a:p>
                  </a:txBody>
                  <a:tcPr/>
                </a:tc>
                <a:tc>
                  <a:txBody>
                    <a:bodyPr/>
                    <a:lstStyle/>
                    <a:p>
                      <a:r>
                        <a:rPr lang="en-US" sz="2000" kern="1200" dirty="0">
                          <a:solidFill>
                            <a:schemeClr val="dk1"/>
                          </a:solidFill>
                          <a:effectLst/>
                        </a:rPr>
                        <a:t>You want encapsulation (private members)</a:t>
                      </a:r>
                      <a:endParaRPr lang="en-ZA" sz="2000" dirty="0"/>
                    </a:p>
                  </a:txBody>
                  <a:tcPr/>
                </a:tc>
                <a:extLst>
                  <a:ext uri="{0D108BD9-81ED-4DB2-BD59-A6C34878D82A}">
                    <a16:rowId xmlns:a16="http://schemas.microsoft.com/office/drawing/2014/main" val="3523967779"/>
                  </a:ext>
                </a:extLst>
              </a:tr>
              <a:tr h="564057">
                <a:tc>
                  <a:txBody>
                    <a:bodyPr/>
                    <a:lstStyle/>
                    <a:p>
                      <a:r>
                        <a:rPr lang="en-US" sz="2000" kern="1200" dirty="0">
                          <a:solidFill>
                            <a:schemeClr val="dk1"/>
                          </a:solidFill>
                          <a:effectLst/>
                        </a:rPr>
                        <a:t>You want a C-style or plain old data</a:t>
                      </a:r>
                      <a:endParaRPr lang="en-ZA" sz="2000" dirty="0"/>
                    </a:p>
                  </a:txBody>
                  <a:tcPr/>
                </a:tc>
                <a:tc>
                  <a:txBody>
                    <a:bodyPr/>
                    <a:lstStyle/>
                    <a:p>
                      <a:r>
                        <a:rPr lang="en-ZA" sz="2000" dirty="0"/>
                        <a:t>You’re designing full-featured objects</a:t>
                      </a:r>
                    </a:p>
                  </a:txBody>
                  <a:tcPr/>
                </a:tc>
                <a:extLst>
                  <a:ext uri="{0D108BD9-81ED-4DB2-BD59-A6C34878D82A}">
                    <a16:rowId xmlns:a16="http://schemas.microsoft.com/office/drawing/2014/main" val="1619796591"/>
                  </a:ext>
                </a:extLst>
              </a:tr>
            </a:tbl>
          </a:graphicData>
        </a:graphic>
      </p:graphicFrame>
    </p:spTree>
    <p:extLst>
      <p:ext uri="{BB962C8B-B14F-4D97-AF65-F5344CB8AC3E}">
        <p14:creationId xmlns:p14="http://schemas.microsoft.com/office/powerpoint/2010/main" val="1312505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2032E-9A28-0010-9FD4-5E7DB60B45E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43EAD28-4A00-031A-25BA-92E960A9C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8263801-03CF-1AC1-4643-9B68ED3ECDBC}"/>
              </a:ext>
            </a:extLst>
          </p:cNvPr>
          <p:cNvSpPr txBox="1"/>
          <p:nvPr/>
        </p:nvSpPr>
        <p:spPr>
          <a:xfrm>
            <a:off x="0" y="65927"/>
            <a:ext cx="6858000" cy="646331"/>
          </a:xfrm>
          <a:prstGeom prst="rect">
            <a:avLst/>
          </a:prstGeom>
          <a:noFill/>
        </p:spPr>
        <p:txBody>
          <a:bodyPr wrap="square" rtlCol="0">
            <a:spAutoFit/>
          </a:bodyPr>
          <a:lstStyle/>
          <a:p>
            <a:r>
              <a:rPr lang="en-US" sz="3600" b="1" dirty="0"/>
              <a:t>Object Oriented Programming</a:t>
            </a:r>
          </a:p>
        </p:txBody>
      </p:sp>
      <p:sp>
        <p:nvSpPr>
          <p:cNvPr id="2" name="Content Placeholder 2">
            <a:extLst>
              <a:ext uri="{FF2B5EF4-FFF2-40B4-BE49-F238E27FC236}">
                <a16:creationId xmlns:a16="http://schemas.microsoft.com/office/drawing/2014/main" id="{854B3F8D-DAD3-6AB5-0BE8-9855339C245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342900" indent="-342900" algn="l">
              <a:lnSpc>
                <a:spcPct val="150000"/>
              </a:lnSpc>
              <a:buClr>
                <a:schemeClr val="accent6">
                  <a:lumMod val="75000"/>
                </a:schemeClr>
              </a:buClr>
              <a:buFont typeface="Arial" panose="020B0604020202020204" pitchFamily="34" charset="0"/>
              <a:buChar char="•"/>
            </a:pPr>
            <a:r>
              <a:rPr lang="en-US" dirty="0"/>
              <a:t>Object-oriented programming (OOP) is a computer programming model / framework that organizes software design around data or objects. An object can be defined as a data attribute that has unique attributes and behaviors / methods.</a:t>
            </a:r>
          </a:p>
          <a:p>
            <a:pPr marL="342900" indent="-342900" algn="l">
              <a:lnSpc>
                <a:spcPct val="150000"/>
              </a:lnSpc>
              <a:buClr>
                <a:schemeClr val="accent6">
                  <a:lumMod val="75000"/>
                </a:schemeClr>
              </a:buClr>
              <a:buFont typeface="Arial" panose="020B0604020202020204" pitchFamily="34" charset="0"/>
              <a:buChar char="•"/>
            </a:pPr>
            <a:r>
              <a:rPr lang="en-US" dirty="0"/>
              <a:t>OOP focuses on the objects that developers want to manipulate rather than the logic required to manipulate them.</a:t>
            </a:r>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9183530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5CDAE-CF7D-4E31-E0F7-47FBB1F4741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7475334-DC6C-1A02-02EE-D54AD863A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B7FD3C9-552F-9EF5-07CE-54A9A50E6975}"/>
              </a:ext>
            </a:extLst>
          </p:cNvPr>
          <p:cNvSpPr txBox="1"/>
          <p:nvPr/>
        </p:nvSpPr>
        <p:spPr>
          <a:xfrm>
            <a:off x="0" y="65927"/>
            <a:ext cx="6858000" cy="646331"/>
          </a:xfrm>
          <a:prstGeom prst="rect">
            <a:avLst/>
          </a:prstGeom>
          <a:noFill/>
        </p:spPr>
        <p:txBody>
          <a:bodyPr wrap="square" rtlCol="0">
            <a:spAutoFit/>
          </a:bodyPr>
          <a:lstStyle/>
          <a:p>
            <a:r>
              <a:rPr lang="en-US" sz="3600" b="1" dirty="0"/>
              <a:t>Basic OOP Concepts</a:t>
            </a:r>
          </a:p>
        </p:txBody>
      </p:sp>
      <p:sp>
        <p:nvSpPr>
          <p:cNvPr id="2" name="Content Placeholder 2">
            <a:extLst>
              <a:ext uri="{FF2B5EF4-FFF2-40B4-BE49-F238E27FC236}">
                <a16:creationId xmlns:a16="http://schemas.microsoft.com/office/drawing/2014/main" id="{6C569D77-0B00-D1A3-FD3B-A6A9120F0FDF}"/>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342900" indent="-342900" algn="l">
              <a:lnSpc>
                <a:spcPct val="150000"/>
              </a:lnSpc>
              <a:buClr>
                <a:schemeClr val="accent6">
                  <a:lumMod val="75000"/>
                </a:schemeClr>
              </a:buClr>
              <a:buFont typeface="Arial" panose="020B0604020202020204" pitchFamily="34" charset="0"/>
              <a:buChar char="•"/>
            </a:pPr>
            <a:r>
              <a:rPr lang="en-ZA" sz="2400" dirty="0"/>
              <a:t>Class</a:t>
            </a:r>
          </a:p>
          <a:p>
            <a:pPr marL="342900" indent="-342900" algn="l">
              <a:lnSpc>
                <a:spcPct val="150000"/>
              </a:lnSpc>
              <a:buClr>
                <a:schemeClr val="accent6">
                  <a:lumMod val="75000"/>
                </a:schemeClr>
              </a:buClr>
              <a:buFont typeface="Arial" panose="020B0604020202020204" pitchFamily="34" charset="0"/>
              <a:buChar char="•"/>
            </a:pPr>
            <a:r>
              <a:rPr lang="en-ZA" sz="2400" dirty="0"/>
              <a:t>Object</a:t>
            </a:r>
          </a:p>
          <a:p>
            <a:pPr marL="342900" indent="-342900" algn="l">
              <a:lnSpc>
                <a:spcPct val="150000"/>
              </a:lnSpc>
              <a:buClr>
                <a:schemeClr val="accent6">
                  <a:lumMod val="75000"/>
                </a:schemeClr>
              </a:buClr>
              <a:buFont typeface="Arial" panose="020B0604020202020204" pitchFamily="34" charset="0"/>
              <a:buChar char="•"/>
            </a:pPr>
            <a:r>
              <a:rPr lang="en-ZA" sz="2400" dirty="0"/>
              <a:t>Attributes and methods / functions</a:t>
            </a:r>
          </a:p>
          <a:p>
            <a:pPr marL="342900" indent="-342900" algn="l">
              <a:lnSpc>
                <a:spcPct val="150000"/>
              </a:lnSpc>
              <a:buClr>
                <a:schemeClr val="accent6">
                  <a:lumMod val="75000"/>
                </a:schemeClr>
              </a:buClr>
              <a:buFont typeface="Arial" panose="020B0604020202020204" pitchFamily="34" charset="0"/>
              <a:buChar char="•"/>
            </a:pPr>
            <a:r>
              <a:rPr lang="en-ZA" sz="2400" dirty="0"/>
              <a:t>Encapsulation</a:t>
            </a:r>
          </a:p>
          <a:p>
            <a:pPr marL="342900" indent="-342900" algn="l">
              <a:lnSpc>
                <a:spcPct val="150000"/>
              </a:lnSpc>
              <a:buClr>
                <a:schemeClr val="accent6">
                  <a:lumMod val="75000"/>
                </a:schemeClr>
              </a:buClr>
              <a:buFont typeface="Arial" panose="020B0604020202020204" pitchFamily="34" charset="0"/>
              <a:buChar char="•"/>
            </a:pPr>
            <a:r>
              <a:rPr lang="en-ZA" sz="2400" dirty="0"/>
              <a:t>Abstraction</a:t>
            </a:r>
          </a:p>
          <a:p>
            <a:pPr marL="342900" indent="-342900" algn="l">
              <a:lnSpc>
                <a:spcPct val="150000"/>
              </a:lnSpc>
              <a:buClr>
                <a:schemeClr val="accent6">
                  <a:lumMod val="75000"/>
                </a:schemeClr>
              </a:buClr>
              <a:buFont typeface="Arial" panose="020B0604020202020204" pitchFamily="34" charset="0"/>
              <a:buChar char="•"/>
            </a:pPr>
            <a:r>
              <a:rPr lang="en-ZA" sz="2400" dirty="0"/>
              <a:t>Polymorphism</a:t>
            </a:r>
          </a:p>
          <a:p>
            <a:pPr marL="342900" indent="-342900" algn="l">
              <a:lnSpc>
                <a:spcPct val="150000"/>
              </a:lnSpc>
              <a:buClr>
                <a:schemeClr val="accent6">
                  <a:lumMod val="75000"/>
                </a:schemeClr>
              </a:buClr>
              <a:buFont typeface="Arial" panose="020B0604020202020204" pitchFamily="34" charset="0"/>
              <a:buChar char="•"/>
            </a:pPr>
            <a:r>
              <a:rPr lang="en-ZA" sz="2400" dirty="0"/>
              <a:t>Inheritance</a:t>
            </a:r>
            <a:endParaRPr lang="en-US" sz="24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4156155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605C-1C92-EBFA-1B53-FF2E650C0C4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73052F2-6319-6F3C-D64B-2B8CAE974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5A6A23F-0CE1-FEB4-96D6-50F8AEE92016}"/>
              </a:ext>
            </a:extLst>
          </p:cNvPr>
          <p:cNvSpPr txBox="1"/>
          <p:nvPr/>
        </p:nvSpPr>
        <p:spPr>
          <a:xfrm>
            <a:off x="0" y="65927"/>
            <a:ext cx="6858000" cy="646331"/>
          </a:xfrm>
          <a:prstGeom prst="rect">
            <a:avLst/>
          </a:prstGeom>
          <a:noFill/>
        </p:spPr>
        <p:txBody>
          <a:bodyPr wrap="square" rtlCol="0">
            <a:spAutoFit/>
          </a:bodyPr>
          <a:lstStyle/>
          <a:p>
            <a:r>
              <a:rPr lang="en-US" sz="3600" b="1" dirty="0"/>
              <a:t>Basic OOP Concepts</a:t>
            </a:r>
          </a:p>
        </p:txBody>
      </p:sp>
      <p:pic>
        <p:nvPicPr>
          <p:cNvPr id="6" name="Picture 5">
            <a:extLst>
              <a:ext uri="{FF2B5EF4-FFF2-40B4-BE49-F238E27FC236}">
                <a16:creationId xmlns:a16="http://schemas.microsoft.com/office/drawing/2014/main" id="{62EF5124-C494-563B-4043-C20862F00F90}"/>
              </a:ext>
            </a:extLst>
          </p:cNvPr>
          <p:cNvPicPr>
            <a:picLocks noChangeAspect="1"/>
          </p:cNvPicPr>
          <p:nvPr/>
        </p:nvPicPr>
        <p:blipFill>
          <a:blip r:embed="rId3"/>
          <a:stretch>
            <a:fillRect/>
          </a:stretch>
        </p:blipFill>
        <p:spPr>
          <a:xfrm>
            <a:off x="0" y="2473395"/>
            <a:ext cx="6713950" cy="5323562"/>
          </a:xfrm>
          <a:prstGeom prst="rect">
            <a:avLst/>
          </a:prstGeom>
        </p:spPr>
      </p:pic>
    </p:spTree>
    <p:extLst>
      <p:ext uri="{BB962C8B-B14F-4D97-AF65-F5344CB8AC3E}">
        <p14:creationId xmlns:p14="http://schemas.microsoft.com/office/powerpoint/2010/main" val="4115502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CB25D-1680-EA07-64AE-F66C92D38C0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A5FF00F-5F3F-EDDD-24E5-39FF11B57E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B8A5DB00-816F-42E9-F1CC-E58F11D05906}"/>
              </a:ext>
            </a:extLst>
          </p:cNvPr>
          <p:cNvSpPr txBox="1"/>
          <p:nvPr/>
        </p:nvSpPr>
        <p:spPr>
          <a:xfrm>
            <a:off x="0" y="65927"/>
            <a:ext cx="6858000" cy="646331"/>
          </a:xfrm>
          <a:prstGeom prst="rect">
            <a:avLst/>
          </a:prstGeom>
          <a:noFill/>
        </p:spPr>
        <p:txBody>
          <a:bodyPr wrap="square" rtlCol="0">
            <a:spAutoFit/>
          </a:bodyPr>
          <a:lstStyle/>
          <a:p>
            <a:r>
              <a:rPr lang="en-US" sz="3600" b="1" dirty="0"/>
              <a:t>UML Class Diagram</a:t>
            </a:r>
          </a:p>
        </p:txBody>
      </p:sp>
      <p:pic>
        <p:nvPicPr>
          <p:cNvPr id="3" name="Picture 2">
            <a:extLst>
              <a:ext uri="{FF2B5EF4-FFF2-40B4-BE49-F238E27FC236}">
                <a16:creationId xmlns:a16="http://schemas.microsoft.com/office/drawing/2014/main" id="{B9919AC5-E8F1-0239-F112-FD3C793B07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177715"/>
            <a:ext cx="6509084" cy="5618747"/>
          </a:xfrm>
          <a:prstGeom prst="rect">
            <a:avLst/>
          </a:prstGeom>
        </p:spPr>
      </p:pic>
    </p:spTree>
    <p:extLst>
      <p:ext uri="{BB962C8B-B14F-4D97-AF65-F5344CB8AC3E}">
        <p14:creationId xmlns:p14="http://schemas.microsoft.com/office/powerpoint/2010/main" val="4601415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a9a8b8c-3ea3-4799-a43e-5510398e7a3b}" enabled="0" method="" siteId="{ca9a8b8c-3ea3-4799-a43e-5510398e7a3b}" removed="1"/>
</clbl:labelList>
</file>

<file path=docProps/app.xml><?xml version="1.0" encoding="utf-8"?>
<Properties xmlns="http://schemas.openxmlformats.org/officeDocument/2006/extended-properties" xmlns:vt="http://schemas.openxmlformats.org/officeDocument/2006/docPropsVTypes">
  <Template>Office Theme</Template>
  <TotalTime>6200</TotalTime>
  <Words>1627</Words>
  <Application>Microsoft Office PowerPoint</Application>
  <PresentationFormat>A4 Paper (210x297 mm)</PresentationFormat>
  <Paragraphs>187</Paragraphs>
  <Slides>30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30</vt:i4>
      </vt:variant>
    </vt:vector>
  </HeadingPairs>
  <TitlesOfParts>
    <vt:vector size="41" baseType="lpstr">
      <vt:lpstr>AGaramond-Regular</vt:lpstr>
      <vt:lpstr>-apple-system</vt:lpstr>
      <vt:lpstr>Arial</vt:lpstr>
      <vt:lpstr>Calibri</vt:lpstr>
      <vt:lpstr>Calibri Light</vt:lpstr>
      <vt:lpstr>Cambria</vt:lpstr>
      <vt:lpstr>Courier New</vt:lpstr>
      <vt:lpstr>GiovanniStd-Book</vt:lpstr>
      <vt:lpstr>Symbol</vt:lpstr>
      <vt:lpstr>WarnockPro-Regular</vt:lpstr>
      <vt:lpstr>Office Theme</vt:lpstr>
      <vt:lpstr>PowerPoint Presentation</vt:lpstr>
      <vt:lpstr>PowerPoint Presentation</vt:lpstr>
      <vt:lpstr>PowerPoint Presentation</vt:lpstr>
      <vt:lpstr>Structures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Classes and Objects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Duraan, Franciska</dc:creator>
  <cp:lastModifiedBy>Sewisha Thabo Lehong</cp:lastModifiedBy>
  <cp:revision>557</cp:revision>
  <dcterms:created xsi:type="dcterms:W3CDTF">2023-03-27T09:07:22Z</dcterms:created>
  <dcterms:modified xsi:type="dcterms:W3CDTF">2026-07-07T15:45:53Z</dcterms:modified>
</cp:coreProperties>
</file>