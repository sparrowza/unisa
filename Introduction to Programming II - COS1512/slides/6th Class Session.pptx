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66" r:id="rId3"/>
    <p:sldId id="267" r:id="rId4"/>
    <p:sldId id="287" r:id="rId5"/>
    <p:sldId id="288" r:id="rId6"/>
    <p:sldId id="289" r:id="rId7"/>
    <p:sldId id="290" r:id="rId8"/>
    <p:sldId id="295" r:id="rId9"/>
    <p:sldId id="291" r:id="rId10"/>
    <p:sldId id="296" r:id="rId11"/>
    <p:sldId id="292" r:id="rId12"/>
    <p:sldId id="293" r:id="rId13"/>
    <p:sldId id="294" r:id="rId14"/>
    <p:sldId id="400" r:id="rId15"/>
    <p:sldId id="401" r:id="rId16"/>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53" d="100"/>
          <a:sy n="53" d="100"/>
        </p:scale>
        <p:origin x="20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441363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356429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438951E-0A73-476C-B990-BA3D65A812C5}" type="datetimeFigureOut">
              <a:rPr lang="en-ZA" smtClean="0"/>
              <a:t>2026/05/22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572060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38951E-0A73-476C-B990-BA3D65A812C5}" type="datetimeFigureOut">
              <a:rPr lang="en-ZA" smtClean="0"/>
              <a:t>2026/05/22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1329634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38951E-0A73-476C-B990-BA3D65A812C5}" type="datetimeFigureOut">
              <a:rPr lang="en-ZA" smtClean="0"/>
              <a:t>2026/05/22</a:t>
            </a:fld>
            <a:endParaRPr lang="en-ZA"/>
          </a:p>
        </p:txBody>
      </p:sp>
      <p:sp>
        <p:nvSpPr>
          <p:cNvPr id="8" name="Footer Placeholder 7"/>
          <p:cNvSpPr>
            <a:spLocks noGrp="1"/>
          </p:cNvSpPr>
          <p:nvPr>
            <p:ph type="ftr" sz="quarter" idx="11"/>
          </p:nvPr>
        </p:nvSpPr>
        <p:spPr/>
        <p:txBody>
          <a:bodyPr/>
          <a:lstStyle/>
          <a:p>
            <a:endParaRPr lang="en-ZA"/>
          </a:p>
        </p:txBody>
      </p:sp>
      <p:sp>
        <p:nvSpPr>
          <p:cNvPr id="9" name="Slide Number Placeholder 8"/>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161337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38951E-0A73-476C-B990-BA3D65A812C5}" type="datetimeFigureOut">
              <a:rPr lang="en-ZA" smtClean="0"/>
              <a:t>2026/05/22</a:t>
            </a:fld>
            <a:endParaRPr lang="en-ZA"/>
          </a:p>
        </p:txBody>
      </p:sp>
      <p:sp>
        <p:nvSpPr>
          <p:cNvPr id="4" name="Footer Placeholder 3"/>
          <p:cNvSpPr>
            <a:spLocks noGrp="1"/>
          </p:cNvSpPr>
          <p:nvPr>
            <p:ph type="ftr" sz="quarter" idx="11"/>
          </p:nvPr>
        </p:nvSpPr>
        <p:spPr/>
        <p:txBody>
          <a:bodyPr/>
          <a:lstStyle/>
          <a:p>
            <a:endParaRPr lang="en-ZA"/>
          </a:p>
        </p:txBody>
      </p:sp>
      <p:sp>
        <p:nvSpPr>
          <p:cNvPr id="5" name="Slide Number Placeholder 4"/>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698504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38951E-0A73-476C-B990-BA3D65A812C5}" type="datetimeFigureOut">
              <a:rPr lang="en-ZA" smtClean="0"/>
              <a:t>2026/05/22</a:t>
            </a:fld>
            <a:endParaRPr lang="en-ZA"/>
          </a:p>
        </p:txBody>
      </p:sp>
      <p:sp>
        <p:nvSpPr>
          <p:cNvPr id="3" name="Footer Placeholder 2"/>
          <p:cNvSpPr>
            <a:spLocks noGrp="1"/>
          </p:cNvSpPr>
          <p:nvPr>
            <p:ph type="ftr" sz="quarter" idx="11"/>
          </p:nvPr>
        </p:nvSpPr>
        <p:spPr/>
        <p:txBody>
          <a:bodyPr/>
          <a:lstStyle/>
          <a:p>
            <a:endParaRPr lang="en-ZA"/>
          </a:p>
        </p:txBody>
      </p:sp>
      <p:sp>
        <p:nvSpPr>
          <p:cNvPr id="4" name="Slide Number Placeholder 3"/>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2546513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2026/05/22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88907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438951E-0A73-476C-B990-BA3D65A812C5}" type="datetimeFigureOut">
              <a:rPr lang="en-ZA" smtClean="0"/>
              <a:t>2026/05/22</a:t>
            </a:fld>
            <a:endParaRPr lang="en-ZA"/>
          </a:p>
        </p:txBody>
      </p:sp>
      <p:sp>
        <p:nvSpPr>
          <p:cNvPr id="6" name="Footer Placeholder 5"/>
          <p:cNvSpPr>
            <a:spLocks noGrp="1"/>
          </p:cNvSpPr>
          <p:nvPr>
            <p:ph type="ftr" sz="quarter" idx="11"/>
          </p:nvPr>
        </p:nvSpPr>
        <p:spPr/>
        <p:txBody>
          <a:bodyPr/>
          <a:lstStyle/>
          <a:p>
            <a:endParaRPr lang="en-ZA"/>
          </a:p>
        </p:txBody>
      </p:sp>
      <p:sp>
        <p:nvSpPr>
          <p:cNvPr id="7" name="Slide Number Placeholder 6"/>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38021828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40097951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38951E-0A73-476C-B990-BA3D65A812C5}" type="datetimeFigureOut">
              <a:rPr lang="en-ZA" smtClean="0"/>
              <a:t>2026/05/22</a:t>
            </a:fld>
            <a:endParaRPr lang="en-ZA"/>
          </a:p>
        </p:txBody>
      </p:sp>
      <p:sp>
        <p:nvSpPr>
          <p:cNvPr id="5" name="Footer Placeholder 4"/>
          <p:cNvSpPr>
            <a:spLocks noGrp="1"/>
          </p:cNvSpPr>
          <p:nvPr>
            <p:ph type="ftr" sz="quarter" idx="11"/>
          </p:nvPr>
        </p:nvSpPr>
        <p:spPr/>
        <p:txBody>
          <a:bodyPr/>
          <a:lstStyle/>
          <a:p>
            <a:endParaRPr lang="en-ZA"/>
          </a:p>
        </p:txBody>
      </p:sp>
      <p:sp>
        <p:nvSpPr>
          <p:cNvPr id="6" name="Slide Number Placeholder 5"/>
          <p:cNvSpPr>
            <a:spLocks noGrp="1"/>
          </p:cNvSpPr>
          <p:nvPr>
            <p:ph type="sldNum" sz="quarter" idx="12"/>
          </p:nvPr>
        </p:nvSpPr>
        <p:spPr/>
        <p:txBody>
          <a:bodyPr/>
          <a:lstStyle/>
          <a:p>
            <a:fld id="{5031DDEB-C667-44B1-BE9C-E4923D28CA10}" type="slidenum">
              <a:rPr lang="en-ZA" smtClean="0"/>
              <a:t>‹#›</a:t>
            </a:fld>
            <a:endParaRPr lang="en-ZA"/>
          </a:p>
        </p:txBody>
      </p:sp>
    </p:spTree>
    <p:extLst>
      <p:ext uri="{BB962C8B-B14F-4D97-AF65-F5344CB8AC3E}">
        <p14:creationId xmlns:p14="http://schemas.microsoft.com/office/powerpoint/2010/main" val="1485231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1438951E-0A73-476C-B990-BA3D65A812C5}" type="datetimeFigureOut">
              <a:rPr lang="en-ZA" smtClean="0"/>
              <a:t>2026/05/22</a:t>
            </a:fld>
            <a:endParaRPr lang="en-ZA"/>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ZA"/>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5031DDEB-C667-44B1-BE9C-E4923D28CA10}" type="slidenum">
              <a:rPr lang="en-ZA" smtClean="0"/>
              <a:t>‹#›</a:t>
            </a:fld>
            <a:endParaRPr lang="en-ZA"/>
          </a:p>
        </p:txBody>
      </p:sp>
    </p:spTree>
    <p:extLst>
      <p:ext uri="{BB962C8B-B14F-4D97-AF65-F5344CB8AC3E}">
        <p14:creationId xmlns:p14="http://schemas.microsoft.com/office/powerpoint/2010/main" val="3058345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3E509FF9-BDD9-A1BF-5237-538EDDB6BC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D8BA4A3A-9CBD-44CA-33BC-CBAF4E859677}"/>
              </a:ext>
            </a:extLst>
          </p:cNvPr>
          <p:cNvSpPr txBox="1"/>
          <p:nvPr/>
        </p:nvSpPr>
        <p:spPr>
          <a:xfrm>
            <a:off x="0" y="65927"/>
            <a:ext cx="6858000" cy="1200329"/>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COS1512 – Online Class Session – 11 MAY 2026</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58C44F4B-5D92-BFC5-653C-CD4E349F6C3A}"/>
              </a:ext>
            </a:extLst>
          </p:cNvPr>
          <p:cNvSpPr txBox="1">
            <a:spLocks/>
          </p:cNvSpPr>
          <p:nvPr/>
        </p:nvSpPr>
        <p:spPr>
          <a:xfrm>
            <a:off x="467916" y="2469624"/>
            <a:ext cx="5915025" cy="2483376"/>
          </a:xfrm>
          <a:prstGeom prst="rect">
            <a:avLst/>
          </a:prstGeom>
        </p:spPr>
        <p:txBody>
          <a:bodyPr vert="horz" lIns="91440" tIns="45720" rIns="91440" bIns="45720" rtlCol="0" anchor="b">
            <a:normAutofit lnSpcReduction="10000"/>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t>COS1512 – INTRODUCTION TO PROGRAMMING II – Using C++</a:t>
            </a:r>
            <a:endParaRPr lang="en-ZA" b="1" dirty="0"/>
          </a:p>
        </p:txBody>
      </p:sp>
      <p:sp>
        <p:nvSpPr>
          <p:cNvPr id="3" name="Text Placeholder 2">
            <a:extLst>
              <a:ext uri="{FF2B5EF4-FFF2-40B4-BE49-F238E27FC236}">
                <a16:creationId xmlns:a16="http://schemas.microsoft.com/office/drawing/2014/main" id="{7B3CD2F3-FE1E-ECCE-5428-E1525056D51E}"/>
              </a:ext>
            </a:extLst>
          </p:cNvPr>
          <p:cNvSpPr txBox="1">
            <a:spLocks/>
          </p:cNvSpPr>
          <p:nvPr/>
        </p:nvSpPr>
        <p:spPr>
          <a:xfrm>
            <a:off x="467916" y="5789289"/>
            <a:ext cx="5915025" cy="857269"/>
          </a:xfrm>
          <a:prstGeom prst="rect">
            <a:avLst/>
          </a:prstGeom>
        </p:spPr>
        <p:txBody>
          <a:bodyPr vert="horz" lIns="91440" tIns="45720" rIns="91440" bIns="45720" rtlCol="0">
            <a:normAutofit fontScale="7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lang="en-US" sz="2400" b="1" i="1" dirty="0"/>
              <a:t>Academic Year: 2026</a:t>
            </a:r>
          </a:p>
          <a:p>
            <a:r>
              <a:rPr lang="en-US" sz="2400" b="1" i="1" dirty="0"/>
              <a:t>Date: 22 MAY 2026</a:t>
            </a:r>
          </a:p>
          <a:p>
            <a:r>
              <a:rPr lang="en-US" sz="2400" b="1" i="1" dirty="0"/>
              <a:t>Time: 17:00 PM to 19:00 PM</a:t>
            </a:r>
            <a:endParaRPr lang="en-ZA" sz="2400" b="1" i="1" dirty="0"/>
          </a:p>
        </p:txBody>
      </p:sp>
    </p:spTree>
    <p:extLst>
      <p:ext uri="{BB962C8B-B14F-4D97-AF65-F5344CB8AC3E}">
        <p14:creationId xmlns:p14="http://schemas.microsoft.com/office/powerpoint/2010/main" val="4965932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A1252-968A-A97A-6796-E8553F19BEF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7BF1D3AB-2F2A-1FCB-96ED-9EF33DE56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0"/>
            <a:ext cx="6930551" cy="10058400"/>
          </a:xfrm>
          <a:prstGeom prst="rect">
            <a:avLst/>
          </a:prstGeom>
        </p:spPr>
      </p:pic>
      <p:sp>
        <p:nvSpPr>
          <p:cNvPr id="4" name="TextBox 3">
            <a:extLst>
              <a:ext uri="{FF2B5EF4-FFF2-40B4-BE49-F238E27FC236}">
                <a16:creationId xmlns:a16="http://schemas.microsoft.com/office/drawing/2014/main" id="{1B2EFCF2-CB78-E497-F9BE-A5AC45242B2A}"/>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Topics</a:t>
            </a:r>
            <a:endParaRPr lang="en-ZA" sz="36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69E19299-7E0C-EB3F-6C39-08CDCDA7A501}"/>
              </a:ext>
            </a:extLst>
          </p:cNvPr>
          <p:cNvSpPr txBox="1">
            <a:spLocks/>
          </p:cNvSpPr>
          <p:nvPr/>
        </p:nvSpPr>
        <p:spPr>
          <a:xfrm>
            <a:off x="467916" y="2469624"/>
            <a:ext cx="5915025" cy="2483376"/>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Chapter 5</a:t>
            </a:r>
            <a:endParaRPr lang="en-US" sz="4800" b="1" dirty="0"/>
          </a:p>
        </p:txBody>
      </p:sp>
      <p:sp>
        <p:nvSpPr>
          <p:cNvPr id="3" name="Text Placeholder 2">
            <a:extLst>
              <a:ext uri="{FF2B5EF4-FFF2-40B4-BE49-F238E27FC236}">
                <a16:creationId xmlns:a16="http://schemas.microsoft.com/office/drawing/2014/main" id="{0E07602D-94A4-AD8F-019E-D2D062AF4298}"/>
              </a:ext>
            </a:extLst>
          </p:cNvPr>
          <p:cNvSpPr txBox="1">
            <a:spLocks/>
          </p:cNvSpPr>
          <p:nvPr/>
        </p:nvSpPr>
        <p:spPr>
          <a:xfrm>
            <a:off x="467916" y="5789289"/>
            <a:ext cx="5915025" cy="857269"/>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endParaRPr lang="en-ZA" b="1" i="1" dirty="0"/>
          </a:p>
        </p:txBody>
      </p:sp>
      <p:sp>
        <p:nvSpPr>
          <p:cNvPr id="6" name="Title 1">
            <a:extLst>
              <a:ext uri="{FF2B5EF4-FFF2-40B4-BE49-F238E27FC236}">
                <a16:creationId xmlns:a16="http://schemas.microsoft.com/office/drawing/2014/main" id="{D083F84A-C93A-7FC6-3E47-AA5B244F21FC}"/>
              </a:ext>
            </a:extLst>
          </p:cNvPr>
          <p:cNvSpPr txBox="1">
            <a:spLocks/>
          </p:cNvSpPr>
          <p:nvPr/>
        </p:nvSpPr>
        <p:spPr>
          <a:xfrm>
            <a:off x="435211" y="5789289"/>
            <a:ext cx="5915025" cy="2483376"/>
          </a:xfrm>
          <a:prstGeom prst="rect">
            <a:avLst/>
          </a:prstGeom>
        </p:spPr>
        <p:txBody>
          <a:bodyPr vert="horz" lIns="91440" tIns="45720" rIns="91440" bIns="45720" rtlCol="0" anchor="b">
            <a:norm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r>
              <a:rPr lang="en-US" sz="4800" b="1" dirty="0">
                <a:latin typeface="Arial" panose="020B0604020202020204" pitchFamily="34" charset="0"/>
                <a:cs typeface="Arial" panose="020B0604020202020204" pitchFamily="34" charset="0"/>
              </a:rPr>
              <a:t>Functions for All Subtasks</a:t>
            </a:r>
            <a:endParaRPr lang="en-US" sz="4800" b="1" dirty="0"/>
          </a:p>
        </p:txBody>
      </p:sp>
    </p:spTree>
    <p:extLst>
      <p:ext uri="{BB962C8B-B14F-4D97-AF65-F5344CB8AC3E}">
        <p14:creationId xmlns:p14="http://schemas.microsoft.com/office/powerpoint/2010/main" val="2591327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EBD26-80FA-7F66-3987-963EB7F23A91}"/>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C44998F-9DCE-2AE0-4144-F073D5F733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D4EE4FF0-8370-A7DC-3EEE-615C5BB6B375}"/>
              </a:ext>
            </a:extLst>
          </p:cNvPr>
          <p:cNvSpPr txBox="1"/>
          <p:nvPr/>
        </p:nvSpPr>
        <p:spPr>
          <a:xfrm>
            <a:off x="0" y="65927"/>
            <a:ext cx="6858000" cy="646331"/>
          </a:xfrm>
          <a:prstGeom prst="rect">
            <a:avLst/>
          </a:prstGeom>
          <a:noFill/>
        </p:spPr>
        <p:txBody>
          <a:bodyPr wrap="square" rtlCol="0">
            <a:spAutoFit/>
          </a:bodyPr>
          <a:lstStyle/>
          <a:p>
            <a:pPr algn="ctr"/>
            <a:r>
              <a:rPr lang="en-US" sz="3600" b="1" dirty="0">
                <a:latin typeface="Arial" panose="020B0604020202020204" pitchFamily="34" charset="0"/>
                <a:cs typeface="Arial" panose="020B0604020202020204" pitchFamily="34" charset="0"/>
              </a:rPr>
              <a:t>Contents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4CD28D54-B58B-08EC-2E1B-772D6B1BFB63}"/>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marL="457200" indent="-457200" algn="l">
              <a:buFont typeface="+mj-lt"/>
              <a:buAutoNum type="arabicPeriod"/>
            </a:pPr>
            <a:r>
              <a:rPr lang="en-US" sz="2800" b="1" dirty="0"/>
              <a:t>void Functions</a:t>
            </a:r>
          </a:p>
          <a:p>
            <a:pPr marL="457200" indent="-457200" algn="l">
              <a:buFont typeface="+mj-lt"/>
              <a:buAutoNum type="arabicPeriod"/>
            </a:pPr>
            <a:r>
              <a:rPr lang="en-US" sz="2800" b="1" dirty="0"/>
              <a:t>Call-by-Reference Parameters</a:t>
            </a:r>
          </a:p>
          <a:p>
            <a:pPr marL="457200" indent="-457200" algn="l">
              <a:buFont typeface="+mj-lt"/>
              <a:buAutoNum type="arabicPeriod"/>
            </a:pPr>
            <a:r>
              <a:rPr lang="en-US" sz="2800" b="1" dirty="0"/>
              <a:t>Using Procedural Abstraction</a:t>
            </a:r>
          </a:p>
          <a:p>
            <a:pPr marL="457200" indent="-457200" algn="l">
              <a:buFont typeface="+mj-lt"/>
              <a:buAutoNum type="arabicPeriod"/>
            </a:pPr>
            <a:r>
              <a:rPr lang="en-US" sz="2800" b="1" dirty="0"/>
              <a:t>Testing and Debugging Functions</a:t>
            </a:r>
          </a:p>
          <a:p>
            <a:pPr marL="457200" indent="-457200" algn="l">
              <a:buFont typeface="+mj-lt"/>
              <a:buAutoNum type="arabicPeriod"/>
            </a:pPr>
            <a:r>
              <a:rPr lang="en-US" sz="2800" b="1" dirty="0"/>
              <a:t>General Debugging Techniques</a:t>
            </a:r>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33164230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75BB3-8A95-B419-4513-6AB3F7C63FD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36B6F60-F7FC-B7D3-46D6-18C36EEA7A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A861DBF-F41A-DB56-D827-0F0F733FC315}"/>
              </a:ext>
            </a:extLst>
          </p:cNvPr>
          <p:cNvSpPr txBox="1"/>
          <p:nvPr/>
        </p:nvSpPr>
        <p:spPr>
          <a:xfrm>
            <a:off x="0" y="65927"/>
            <a:ext cx="6858000" cy="646331"/>
          </a:xfrm>
          <a:prstGeom prst="rect">
            <a:avLst/>
          </a:prstGeom>
          <a:noFill/>
        </p:spPr>
        <p:txBody>
          <a:bodyPr wrap="square" rtlCol="0">
            <a:spAutoFit/>
          </a:bodyPr>
          <a:lstStyle/>
          <a:p>
            <a:r>
              <a:rPr lang="en-US" sz="3600" b="1" dirty="0"/>
              <a:t>void Functions</a:t>
            </a:r>
          </a:p>
        </p:txBody>
      </p:sp>
      <p:sp>
        <p:nvSpPr>
          <p:cNvPr id="2" name="Content Placeholder 2">
            <a:extLst>
              <a:ext uri="{FF2B5EF4-FFF2-40B4-BE49-F238E27FC236}">
                <a16:creationId xmlns:a16="http://schemas.microsoft.com/office/drawing/2014/main" id="{F9C0EDF9-73E6-3C00-45D7-B7F0CFC0CF7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void</a:t>
            </a:r>
            <a:r>
              <a:rPr lang="en-US" sz="2400" dirty="0"/>
              <a:t> functions and value-returning functions have similar structures.</a:t>
            </a:r>
          </a:p>
          <a:p>
            <a:pPr algn="l"/>
            <a:endParaRPr lang="en-US" altLang="en-US" sz="2400" dirty="0"/>
          </a:p>
          <a:p>
            <a:pPr algn="l"/>
            <a:r>
              <a:rPr lang="en-US" sz="2400" dirty="0"/>
              <a:t>Because </a:t>
            </a:r>
            <a:r>
              <a:rPr lang="en-US" sz="2400" b="1" dirty="0"/>
              <a:t>void</a:t>
            </a:r>
            <a:r>
              <a:rPr lang="en-US" sz="2400" dirty="0"/>
              <a:t> functions do not have a data type such as </a:t>
            </a:r>
            <a:r>
              <a:rPr lang="en-US" sz="2400" i="1" dirty="0"/>
              <a:t>int</a:t>
            </a:r>
            <a:r>
              <a:rPr lang="en-US" sz="2400" dirty="0"/>
              <a:t>, </a:t>
            </a:r>
            <a:r>
              <a:rPr lang="en-US" sz="2400" i="1" dirty="0"/>
              <a:t>double</a:t>
            </a:r>
            <a:r>
              <a:rPr lang="en-US" sz="2400" dirty="0"/>
              <a:t> or </a:t>
            </a:r>
            <a:r>
              <a:rPr lang="en-US" sz="2400" i="1" dirty="0"/>
              <a:t>bool</a:t>
            </a:r>
            <a:r>
              <a:rPr lang="en-US" sz="2400" dirty="0"/>
              <a:t>, they are not used (called) in an expression. A call to a void function is a stand-alone statement. Thus, to call a void function, you use the function name together with the actual parameters (if any) in </a:t>
            </a:r>
            <a:r>
              <a:rPr lang="en-ZA" sz="2400" dirty="0"/>
              <a:t>a stand-alone statement.</a:t>
            </a:r>
          </a:p>
          <a:p>
            <a:pPr algn="l"/>
            <a:endParaRPr lang="en-ZA" altLang="en-US" sz="2400" dirty="0"/>
          </a:p>
          <a:p>
            <a:pPr algn="l"/>
            <a:r>
              <a:rPr lang="en-ZA" altLang="en-US" sz="2400" dirty="0"/>
              <a:t>Remember you call a function in a main() function or another function.</a:t>
            </a:r>
            <a:endParaRPr lang="en-US" altLang="en-US" sz="2400" dirty="0"/>
          </a:p>
          <a:p>
            <a:pPr algn="l"/>
            <a:endParaRPr lang="en-US" altLang="en-US" sz="24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4140963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2DEC-6475-F371-90FD-8ECC7EA929B4}"/>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1E6F2AB-E172-71BC-6796-C2E7191447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17B7B2E-3896-CF35-E344-CCB458487BC5}"/>
              </a:ext>
            </a:extLst>
          </p:cNvPr>
          <p:cNvSpPr txBox="1"/>
          <p:nvPr/>
        </p:nvSpPr>
        <p:spPr>
          <a:xfrm>
            <a:off x="0" y="65927"/>
            <a:ext cx="6858000" cy="646331"/>
          </a:xfrm>
          <a:prstGeom prst="rect">
            <a:avLst/>
          </a:prstGeom>
          <a:noFill/>
        </p:spPr>
        <p:txBody>
          <a:bodyPr wrap="square" rtlCol="0">
            <a:spAutoFit/>
          </a:bodyPr>
          <a:lstStyle/>
          <a:p>
            <a:r>
              <a:rPr lang="en-US" sz="3600" b="1" dirty="0"/>
              <a:t>void Functions</a:t>
            </a:r>
          </a:p>
        </p:txBody>
      </p:sp>
      <p:sp>
        <p:nvSpPr>
          <p:cNvPr id="2" name="Content Placeholder 2">
            <a:extLst>
              <a:ext uri="{FF2B5EF4-FFF2-40B4-BE49-F238E27FC236}">
                <a16:creationId xmlns:a16="http://schemas.microsoft.com/office/drawing/2014/main" id="{7898307D-9C35-F207-842D-218A4A840CFB}"/>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Syntax for a </a:t>
            </a:r>
            <a:r>
              <a:rPr lang="en-US" sz="2400" b="1" i="1" dirty="0"/>
              <a:t>void </a:t>
            </a:r>
            <a:r>
              <a:rPr lang="en-US" sz="2400" b="1" dirty="0"/>
              <a:t>Function Definition</a:t>
            </a:r>
          </a:p>
          <a:p>
            <a:pPr algn="l"/>
            <a:endParaRPr lang="en-US" altLang="en-US" sz="2400" b="1" dirty="0"/>
          </a:p>
          <a:p>
            <a:pPr algn="l"/>
            <a:endParaRPr lang="en-US" altLang="en-US" sz="24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CFC6AA01-A841-1C4B-206C-E3BA1968563E}"/>
              </a:ext>
            </a:extLst>
          </p:cNvPr>
          <p:cNvPicPr>
            <a:picLocks noChangeAspect="1"/>
          </p:cNvPicPr>
          <p:nvPr/>
        </p:nvPicPr>
        <p:blipFill>
          <a:blip r:embed="rId3"/>
          <a:stretch>
            <a:fillRect/>
          </a:stretch>
        </p:blipFill>
        <p:spPr>
          <a:xfrm>
            <a:off x="-72550" y="3645569"/>
            <a:ext cx="6930550" cy="4668252"/>
          </a:xfrm>
          <a:prstGeom prst="rect">
            <a:avLst/>
          </a:prstGeom>
        </p:spPr>
      </p:pic>
    </p:spTree>
    <p:extLst>
      <p:ext uri="{BB962C8B-B14F-4D97-AF65-F5344CB8AC3E}">
        <p14:creationId xmlns:p14="http://schemas.microsoft.com/office/powerpoint/2010/main" val="1785626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19629-B7F5-CEFA-2821-D2DFCEF3DD7D}"/>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6BA33300-F636-C976-433F-07FB7F3268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5A3F2489-ECE6-0130-694D-F7FFF7509B05}"/>
              </a:ext>
            </a:extLst>
          </p:cNvPr>
          <p:cNvSpPr txBox="1"/>
          <p:nvPr/>
        </p:nvSpPr>
        <p:spPr>
          <a:xfrm>
            <a:off x="0" y="65927"/>
            <a:ext cx="6858000" cy="646331"/>
          </a:xfrm>
          <a:prstGeom prst="rect">
            <a:avLst/>
          </a:prstGeom>
          <a:noFill/>
        </p:spPr>
        <p:txBody>
          <a:bodyPr wrap="square" rtlCol="0">
            <a:spAutoFit/>
          </a:bodyPr>
          <a:lstStyle/>
          <a:p>
            <a:r>
              <a:rPr lang="en-US" sz="3600" b="1" dirty="0"/>
              <a:t>void Functions</a:t>
            </a:r>
          </a:p>
        </p:txBody>
      </p:sp>
      <p:sp>
        <p:nvSpPr>
          <p:cNvPr id="2" name="Content Placeholder 2">
            <a:extLst>
              <a:ext uri="{FF2B5EF4-FFF2-40B4-BE49-F238E27FC236}">
                <a16:creationId xmlns:a16="http://schemas.microsoft.com/office/drawing/2014/main" id="{6AD17718-F0F3-510B-1E6A-DF293DC6D8B7}"/>
              </a:ext>
            </a:extLst>
          </p:cNvPr>
          <p:cNvSpPr txBox="1">
            <a:spLocks/>
          </p:cNvSpPr>
          <p:nvPr/>
        </p:nvSpPr>
        <p:spPr>
          <a:xfrm>
            <a:off x="471488" y="2637014"/>
            <a:ext cx="5915025" cy="6285266"/>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 of a </a:t>
            </a:r>
            <a:r>
              <a:rPr lang="en-US" sz="2400" b="1" i="1" dirty="0"/>
              <a:t>void </a:t>
            </a:r>
            <a:r>
              <a:rPr lang="en-US" sz="2400" b="1" dirty="0"/>
              <a:t>Function Definition</a:t>
            </a:r>
          </a:p>
          <a:p>
            <a:pPr algn="l"/>
            <a:endParaRPr lang="en-US" altLang="en-US" sz="2400" b="1" dirty="0"/>
          </a:p>
          <a:p>
            <a:pPr algn="l"/>
            <a:r>
              <a:rPr lang="en-US" altLang="en-US" sz="2400" b="1" dirty="0"/>
              <a:t>// void function definition</a:t>
            </a:r>
          </a:p>
          <a:p>
            <a:pPr algn="l"/>
            <a:r>
              <a:rPr lang="en-US" sz="2000" b="0" i="1" u="none" strike="noStrike" baseline="0" dirty="0">
                <a:solidFill>
                  <a:srgbClr val="00AEF0"/>
                </a:solidFill>
                <a:latin typeface="ArialMonoMTPro-Oblique"/>
              </a:rPr>
              <a:t>void </a:t>
            </a:r>
            <a:r>
              <a:rPr lang="en-US" sz="2000" b="0" i="0" u="none" strike="noStrike" baseline="0" dirty="0" err="1">
                <a:solidFill>
                  <a:srgbClr val="000000"/>
                </a:solidFill>
                <a:latin typeface="ArialMonoMTPro"/>
              </a:rPr>
              <a:t>showResults</a:t>
            </a:r>
            <a:r>
              <a:rPr lang="en-US" sz="2000" b="0" i="0" u="none" strike="noStrike" baseline="0" dirty="0">
                <a:solidFill>
                  <a:srgbClr val="000000"/>
                </a:solidFill>
                <a:latin typeface="ArialMonoMTPro"/>
              </a:rPr>
              <a:t>(</a:t>
            </a:r>
            <a:r>
              <a:rPr lang="en-US" sz="2000" b="0" i="1" u="none" strike="noStrike" baseline="0" dirty="0">
                <a:solidFill>
                  <a:srgbClr val="00AEF0"/>
                </a:solidFill>
                <a:latin typeface="ArialMonoMTPro-Oblique"/>
              </a:rPr>
              <a:t>double </a:t>
            </a:r>
            <a:r>
              <a:rPr lang="en-US" sz="2000" b="0" i="0" u="none" strike="noStrike" baseline="0" dirty="0" err="1">
                <a:solidFill>
                  <a:srgbClr val="000000"/>
                </a:solidFill>
                <a:latin typeface="ArialMonoMTPro"/>
              </a:rPr>
              <a:t>fDegrees</a:t>
            </a:r>
            <a:r>
              <a:rPr lang="en-US" sz="2000" b="0" i="0" u="none" strike="noStrike" baseline="0" dirty="0">
                <a:solidFill>
                  <a:srgbClr val="000000"/>
                </a:solidFill>
                <a:latin typeface="ArialMonoMTPro"/>
              </a:rPr>
              <a:t>, </a:t>
            </a:r>
            <a:r>
              <a:rPr lang="en-US" sz="2000" b="0" i="1" u="none" strike="noStrike" baseline="0" dirty="0">
                <a:solidFill>
                  <a:srgbClr val="00AEF0"/>
                </a:solidFill>
                <a:latin typeface="ArialMonoMTPro-Oblique"/>
              </a:rPr>
              <a:t>double </a:t>
            </a:r>
            <a:r>
              <a:rPr lang="en-US" sz="2000" b="0" i="0" u="none" strike="noStrike" baseline="0" dirty="0" err="1">
                <a:solidFill>
                  <a:srgbClr val="000000"/>
                </a:solidFill>
                <a:latin typeface="ArialMonoMTPro"/>
              </a:rPr>
              <a:t>cDegrees</a:t>
            </a:r>
            <a:r>
              <a:rPr lang="en-US" sz="2000" b="0" i="0" u="none" strike="noStrike" baseline="0" dirty="0">
                <a:solidFill>
                  <a:srgbClr val="000000"/>
                </a:solidFill>
                <a:latin typeface="ArialMonoMTPro"/>
              </a:rPr>
              <a:t>)</a:t>
            </a:r>
          </a:p>
          <a:p>
            <a:pPr algn="l"/>
            <a:r>
              <a:rPr lang="en-ZA" sz="2000" b="0" i="0" u="none" strike="noStrike" baseline="0" dirty="0">
                <a:solidFill>
                  <a:srgbClr val="000000"/>
                </a:solidFill>
                <a:latin typeface="ArialMonoMTPro"/>
              </a:rPr>
              <a:t>{</a:t>
            </a:r>
          </a:p>
          <a:p>
            <a:pPr lvl="1" algn="l"/>
            <a:r>
              <a:rPr lang="en-ZA" sz="2000" b="0" i="1" u="none" strike="noStrike" baseline="0" dirty="0">
                <a:solidFill>
                  <a:srgbClr val="00AEF0"/>
                </a:solidFill>
                <a:latin typeface="ArialMonoMTPro-Oblique"/>
              </a:rPr>
              <a:t>using namespace </a:t>
            </a:r>
            <a:r>
              <a:rPr lang="en-ZA" sz="2000" b="0" i="0" u="none" strike="noStrike" baseline="0" dirty="0">
                <a:solidFill>
                  <a:srgbClr val="000000"/>
                </a:solidFill>
                <a:latin typeface="ArialMonoMTPro"/>
              </a:rPr>
              <a:t>std;</a:t>
            </a:r>
          </a:p>
          <a:p>
            <a:pPr lvl="1" algn="l"/>
            <a:r>
              <a:rPr lang="en-ZA" sz="2000" b="0" i="0" u="none" strike="noStrike" baseline="0" dirty="0" err="1">
                <a:solidFill>
                  <a:srgbClr val="000000"/>
                </a:solidFill>
                <a:latin typeface="ArialMonoMTPro"/>
              </a:rPr>
              <a:t>cout.setf</a:t>
            </a:r>
            <a:r>
              <a:rPr lang="en-ZA" sz="2000" b="0" i="0" u="none" strike="noStrike" baseline="0" dirty="0">
                <a:solidFill>
                  <a:srgbClr val="000000"/>
                </a:solidFill>
                <a:latin typeface="ArialMonoMTPro"/>
              </a:rPr>
              <a:t>(</a:t>
            </a:r>
            <a:r>
              <a:rPr lang="en-ZA" sz="2000" b="0" i="0" u="none" strike="noStrike" baseline="0" dirty="0" err="1">
                <a:solidFill>
                  <a:srgbClr val="000000"/>
                </a:solidFill>
                <a:latin typeface="ArialMonoMTPro"/>
              </a:rPr>
              <a:t>ios</a:t>
            </a:r>
            <a:r>
              <a:rPr lang="en-ZA" sz="2000" b="0" i="0" u="none" strike="noStrike" baseline="0" dirty="0">
                <a:solidFill>
                  <a:srgbClr val="000000"/>
                </a:solidFill>
                <a:latin typeface="ArialMonoMTPro"/>
              </a:rPr>
              <a:t>::fixed);</a:t>
            </a:r>
          </a:p>
          <a:p>
            <a:pPr lvl="1" algn="l"/>
            <a:r>
              <a:rPr lang="en-ZA" sz="2000" b="0" i="0" u="none" strike="noStrike" baseline="0" dirty="0" err="1">
                <a:solidFill>
                  <a:srgbClr val="000000"/>
                </a:solidFill>
                <a:latin typeface="ArialMonoMTPro"/>
              </a:rPr>
              <a:t>cout.setf</a:t>
            </a:r>
            <a:r>
              <a:rPr lang="en-ZA" sz="2000" b="0" i="0" u="none" strike="noStrike" baseline="0" dirty="0">
                <a:solidFill>
                  <a:srgbClr val="000000"/>
                </a:solidFill>
                <a:latin typeface="ArialMonoMTPro"/>
              </a:rPr>
              <a:t>(</a:t>
            </a:r>
            <a:r>
              <a:rPr lang="en-ZA" sz="2000" b="0" i="0" u="none" strike="noStrike" baseline="0" dirty="0" err="1">
                <a:solidFill>
                  <a:srgbClr val="000000"/>
                </a:solidFill>
                <a:latin typeface="ArialMonoMTPro"/>
              </a:rPr>
              <a:t>ios</a:t>
            </a:r>
            <a:r>
              <a:rPr lang="en-ZA" sz="2000" b="0" i="0" u="none" strike="noStrike" baseline="0" dirty="0">
                <a:solidFill>
                  <a:srgbClr val="000000"/>
                </a:solidFill>
                <a:latin typeface="ArialMonoMTPro"/>
              </a:rPr>
              <a:t>::</a:t>
            </a:r>
            <a:r>
              <a:rPr lang="en-ZA" sz="2000" b="0" i="0" u="none" strike="noStrike" baseline="0" dirty="0" err="1">
                <a:solidFill>
                  <a:srgbClr val="000000"/>
                </a:solidFill>
                <a:latin typeface="ArialMonoMTPro"/>
              </a:rPr>
              <a:t>showpoint</a:t>
            </a:r>
            <a:r>
              <a:rPr lang="en-ZA" sz="2000" b="0" i="0" u="none" strike="noStrike" baseline="0" dirty="0">
                <a:solidFill>
                  <a:srgbClr val="000000"/>
                </a:solidFill>
                <a:latin typeface="ArialMonoMTPro"/>
              </a:rPr>
              <a:t>);</a:t>
            </a:r>
          </a:p>
          <a:p>
            <a:pPr lvl="1" algn="l"/>
            <a:r>
              <a:rPr lang="en-ZA" sz="2000" b="0" i="0" u="none" strike="noStrike" baseline="0" dirty="0" err="1">
                <a:solidFill>
                  <a:srgbClr val="000000"/>
                </a:solidFill>
                <a:latin typeface="ArialMonoMTPro"/>
              </a:rPr>
              <a:t>cout.precision</a:t>
            </a:r>
            <a:r>
              <a:rPr lang="en-ZA" sz="2000" b="0" i="0" u="none" strike="noStrike" baseline="0" dirty="0">
                <a:solidFill>
                  <a:srgbClr val="000000"/>
                </a:solidFill>
                <a:latin typeface="ArialMonoMTPro"/>
              </a:rPr>
              <a:t>(1);</a:t>
            </a:r>
          </a:p>
          <a:p>
            <a:pPr lvl="1" algn="l"/>
            <a:r>
              <a:rPr lang="en-ZA" sz="2000" b="0" i="0" u="none" strike="noStrike" baseline="0" dirty="0" err="1">
                <a:solidFill>
                  <a:srgbClr val="000000"/>
                </a:solidFill>
                <a:latin typeface="ArialMonoMTPro"/>
              </a:rPr>
              <a:t>cout</a:t>
            </a:r>
            <a:r>
              <a:rPr lang="en-ZA" sz="2000" b="0" i="0" u="none" strike="noStrike" baseline="0" dirty="0">
                <a:solidFill>
                  <a:srgbClr val="000000"/>
                </a:solidFill>
                <a:latin typeface="ArialMonoMTPro"/>
              </a:rPr>
              <a:t> &lt;&lt; </a:t>
            </a:r>
            <a:r>
              <a:rPr lang="en-ZA" sz="2000" b="0" i="0" u="none" strike="noStrike" baseline="0" dirty="0" err="1">
                <a:solidFill>
                  <a:srgbClr val="000000"/>
                </a:solidFill>
                <a:latin typeface="ArialMonoMTPro"/>
              </a:rPr>
              <a:t>fDegrees</a:t>
            </a:r>
            <a:endParaRPr lang="en-ZA" sz="2000" b="0" i="0" u="none" strike="noStrike" baseline="0" dirty="0">
              <a:solidFill>
                <a:srgbClr val="000000"/>
              </a:solidFill>
              <a:latin typeface="ArialMonoMTPro"/>
            </a:endParaRPr>
          </a:p>
          <a:p>
            <a:pPr lvl="1" algn="l"/>
            <a:r>
              <a:rPr lang="en-US" sz="2000" b="0" i="0" u="none" strike="noStrike" baseline="0" dirty="0">
                <a:solidFill>
                  <a:srgbClr val="000000"/>
                </a:solidFill>
                <a:latin typeface="ArialMonoMTPro"/>
              </a:rPr>
              <a:t>&lt;&lt; " degrees Fahrenheit is equivalent to\n"</a:t>
            </a:r>
          </a:p>
          <a:p>
            <a:pPr lvl="1" algn="l"/>
            <a:r>
              <a:rPr lang="en-ZA" sz="2000" b="0" i="0" u="none" strike="noStrike" baseline="0" dirty="0">
                <a:solidFill>
                  <a:srgbClr val="000000"/>
                </a:solidFill>
                <a:latin typeface="ArialMonoMTPro"/>
              </a:rPr>
              <a:t>&lt;&lt; </a:t>
            </a:r>
            <a:r>
              <a:rPr lang="en-ZA" sz="2000" b="0" i="0" u="none" strike="noStrike" baseline="0" dirty="0" err="1">
                <a:solidFill>
                  <a:srgbClr val="000000"/>
                </a:solidFill>
                <a:latin typeface="ArialMonoMTPro"/>
              </a:rPr>
              <a:t>cDegrees</a:t>
            </a:r>
            <a:r>
              <a:rPr lang="en-ZA" sz="2000" b="0" i="0" u="none" strike="noStrike" baseline="0" dirty="0">
                <a:solidFill>
                  <a:srgbClr val="000000"/>
                </a:solidFill>
                <a:latin typeface="ArialMonoMTPro"/>
              </a:rPr>
              <a:t> &lt;&lt; " degrees Celsius.\n";</a:t>
            </a:r>
          </a:p>
          <a:p>
            <a:pPr lvl="1" algn="l"/>
            <a:endParaRPr lang="en-ZA" sz="2000" b="0" i="0" u="none" strike="noStrike" baseline="0" dirty="0">
              <a:solidFill>
                <a:srgbClr val="000000"/>
              </a:solidFill>
              <a:latin typeface="ArialMonoMTPro"/>
            </a:endParaRPr>
          </a:p>
          <a:p>
            <a:pPr algn="l"/>
            <a:r>
              <a:rPr lang="en-ZA" sz="2000" b="0" i="0" u="none" strike="noStrike" baseline="0" dirty="0">
                <a:solidFill>
                  <a:srgbClr val="000000"/>
                </a:solidFill>
                <a:latin typeface="ArialMonoMTPro"/>
              </a:rPr>
              <a:t>}</a:t>
            </a:r>
            <a:endParaRPr lang="en-US" altLang="en-US" sz="20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550727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3B059-1BB0-670E-DDC6-6FBA6F659660}"/>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8B2272D-42A8-DD0A-BA1D-278EFCD7D3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F4B89F4-B53F-A3CE-EC6F-506B9708F686}"/>
              </a:ext>
            </a:extLst>
          </p:cNvPr>
          <p:cNvSpPr txBox="1"/>
          <p:nvPr/>
        </p:nvSpPr>
        <p:spPr>
          <a:xfrm>
            <a:off x="0" y="65927"/>
            <a:ext cx="6858000" cy="646331"/>
          </a:xfrm>
          <a:prstGeom prst="rect">
            <a:avLst/>
          </a:prstGeom>
          <a:noFill/>
        </p:spPr>
        <p:txBody>
          <a:bodyPr wrap="square" rtlCol="0">
            <a:spAutoFit/>
          </a:bodyPr>
          <a:lstStyle/>
          <a:p>
            <a:r>
              <a:rPr lang="en-US" sz="3600" b="1" dirty="0"/>
              <a:t>void Functions</a:t>
            </a:r>
          </a:p>
        </p:txBody>
      </p:sp>
      <p:sp>
        <p:nvSpPr>
          <p:cNvPr id="2" name="Content Placeholder 2">
            <a:extLst>
              <a:ext uri="{FF2B5EF4-FFF2-40B4-BE49-F238E27FC236}">
                <a16:creationId xmlns:a16="http://schemas.microsoft.com/office/drawing/2014/main" id="{8794E7DE-F333-0341-A3B8-D1C1D717B376}"/>
              </a:ext>
            </a:extLst>
          </p:cNvPr>
          <p:cNvSpPr txBox="1">
            <a:spLocks/>
          </p:cNvSpPr>
          <p:nvPr/>
        </p:nvSpPr>
        <p:spPr>
          <a:xfrm>
            <a:off x="471488" y="1696453"/>
            <a:ext cx="5915025" cy="7225827"/>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 of a </a:t>
            </a:r>
            <a:r>
              <a:rPr lang="en-US" sz="2400" b="1" i="1" dirty="0"/>
              <a:t>void </a:t>
            </a:r>
            <a:r>
              <a:rPr lang="en-US" sz="2400" b="1" dirty="0"/>
              <a:t>Function Definition</a:t>
            </a:r>
          </a:p>
          <a:p>
            <a:pPr algn="l"/>
            <a:endParaRPr lang="en-US" altLang="en-US" sz="2400" b="1" dirty="0"/>
          </a:p>
          <a:p>
            <a:pPr algn="l"/>
            <a:r>
              <a:rPr lang="en-US" altLang="en-US" sz="2400" b="1" dirty="0"/>
              <a:t>// void function definition</a:t>
            </a:r>
          </a:p>
          <a:p>
            <a:pPr algn="l"/>
            <a:r>
              <a:rPr lang="en-US" sz="2000" b="0" i="1" u="none" strike="noStrike" baseline="0" dirty="0">
                <a:solidFill>
                  <a:srgbClr val="00AEF0"/>
                </a:solidFill>
                <a:latin typeface="ArialMonoMTPro-Oblique"/>
              </a:rPr>
              <a:t>void </a:t>
            </a:r>
            <a:r>
              <a:rPr lang="en-US" sz="2000" b="0" i="0" u="none" strike="noStrike" baseline="0" dirty="0" err="1">
                <a:solidFill>
                  <a:srgbClr val="000000"/>
                </a:solidFill>
                <a:latin typeface="ArialMonoMTPro"/>
              </a:rPr>
              <a:t>showResults</a:t>
            </a:r>
            <a:r>
              <a:rPr lang="en-US" sz="2000" b="0" i="0" u="none" strike="noStrike" baseline="0" dirty="0">
                <a:solidFill>
                  <a:srgbClr val="000000"/>
                </a:solidFill>
                <a:latin typeface="ArialMonoMTPro"/>
              </a:rPr>
              <a:t>(</a:t>
            </a:r>
            <a:r>
              <a:rPr lang="en-US" sz="2000" b="0" i="1" u="none" strike="noStrike" baseline="0" dirty="0">
                <a:solidFill>
                  <a:srgbClr val="00AEF0"/>
                </a:solidFill>
                <a:latin typeface="ArialMonoMTPro-Oblique"/>
              </a:rPr>
              <a:t>double </a:t>
            </a:r>
            <a:r>
              <a:rPr lang="en-US" sz="2000" b="0" i="0" u="none" strike="noStrike" baseline="0" dirty="0" err="1">
                <a:solidFill>
                  <a:srgbClr val="000000"/>
                </a:solidFill>
                <a:latin typeface="ArialMonoMTPro"/>
              </a:rPr>
              <a:t>fDegrees</a:t>
            </a:r>
            <a:r>
              <a:rPr lang="en-US" sz="2000" b="0" i="0" u="none" strike="noStrike" baseline="0" dirty="0">
                <a:solidFill>
                  <a:srgbClr val="000000"/>
                </a:solidFill>
                <a:latin typeface="ArialMonoMTPro"/>
              </a:rPr>
              <a:t>, </a:t>
            </a:r>
            <a:r>
              <a:rPr lang="en-US" sz="2000" b="0" i="1" u="none" strike="noStrike" baseline="0" dirty="0">
                <a:solidFill>
                  <a:srgbClr val="00AEF0"/>
                </a:solidFill>
                <a:latin typeface="ArialMonoMTPro-Oblique"/>
              </a:rPr>
              <a:t>double </a:t>
            </a:r>
            <a:r>
              <a:rPr lang="en-US" sz="2000" b="0" i="0" u="none" strike="noStrike" baseline="0" dirty="0" err="1">
                <a:solidFill>
                  <a:srgbClr val="000000"/>
                </a:solidFill>
                <a:latin typeface="ArialMonoMTPro"/>
              </a:rPr>
              <a:t>cDegrees</a:t>
            </a:r>
            <a:r>
              <a:rPr lang="en-US" sz="2000" b="0" i="0" u="none" strike="noStrike" baseline="0" dirty="0">
                <a:solidFill>
                  <a:srgbClr val="000000"/>
                </a:solidFill>
                <a:latin typeface="ArialMonoMTPro"/>
              </a:rPr>
              <a:t>)</a:t>
            </a:r>
          </a:p>
          <a:p>
            <a:pPr algn="l"/>
            <a:r>
              <a:rPr lang="en-ZA" sz="2000" b="0" i="0" u="none" strike="noStrike" baseline="0" dirty="0">
                <a:solidFill>
                  <a:srgbClr val="000000"/>
                </a:solidFill>
                <a:latin typeface="ArialMonoMTPro"/>
              </a:rPr>
              <a:t>{</a:t>
            </a:r>
          </a:p>
          <a:p>
            <a:pPr lvl="1" algn="l"/>
            <a:r>
              <a:rPr lang="en-ZA" sz="2000" b="0" i="1" u="none" strike="noStrike" baseline="0" dirty="0">
                <a:solidFill>
                  <a:srgbClr val="00AEF0"/>
                </a:solidFill>
                <a:latin typeface="ArialMonoMTPro-Oblique"/>
              </a:rPr>
              <a:t>using namespace </a:t>
            </a:r>
            <a:r>
              <a:rPr lang="en-ZA" sz="2000" b="0" i="0" u="none" strike="noStrike" baseline="0" dirty="0">
                <a:solidFill>
                  <a:srgbClr val="000000"/>
                </a:solidFill>
                <a:latin typeface="ArialMonoMTPro"/>
              </a:rPr>
              <a:t>std;</a:t>
            </a:r>
          </a:p>
          <a:p>
            <a:pPr lvl="1" algn="l"/>
            <a:r>
              <a:rPr lang="en-ZA" sz="2000" b="0" i="0" u="none" strike="noStrike" baseline="0" dirty="0" err="1">
                <a:solidFill>
                  <a:srgbClr val="000000"/>
                </a:solidFill>
                <a:latin typeface="ArialMonoMTPro"/>
              </a:rPr>
              <a:t>cout.setf</a:t>
            </a:r>
            <a:r>
              <a:rPr lang="en-ZA" sz="2000" b="0" i="0" u="none" strike="noStrike" baseline="0" dirty="0">
                <a:solidFill>
                  <a:srgbClr val="000000"/>
                </a:solidFill>
                <a:latin typeface="ArialMonoMTPro"/>
              </a:rPr>
              <a:t>(</a:t>
            </a:r>
            <a:r>
              <a:rPr lang="en-ZA" sz="2000" b="0" i="0" u="none" strike="noStrike" baseline="0" dirty="0" err="1">
                <a:solidFill>
                  <a:srgbClr val="000000"/>
                </a:solidFill>
                <a:latin typeface="ArialMonoMTPro"/>
              </a:rPr>
              <a:t>ios</a:t>
            </a:r>
            <a:r>
              <a:rPr lang="en-ZA" sz="2000" b="0" i="0" u="none" strike="noStrike" baseline="0" dirty="0">
                <a:solidFill>
                  <a:srgbClr val="000000"/>
                </a:solidFill>
                <a:latin typeface="ArialMonoMTPro"/>
              </a:rPr>
              <a:t>::fixed);</a:t>
            </a:r>
          </a:p>
          <a:p>
            <a:pPr lvl="1" algn="l"/>
            <a:r>
              <a:rPr lang="en-ZA" sz="2000" b="0" i="0" u="none" strike="noStrike" baseline="0" dirty="0" err="1">
                <a:solidFill>
                  <a:srgbClr val="000000"/>
                </a:solidFill>
                <a:latin typeface="ArialMonoMTPro"/>
              </a:rPr>
              <a:t>cout.setf</a:t>
            </a:r>
            <a:r>
              <a:rPr lang="en-ZA" sz="2000" b="0" i="0" u="none" strike="noStrike" baseline="0" dirty="0">
                <a:solidFill>
                  <a:srgbClr val="000000"/>
                </a:solidFill>
                <a:latin typeface="ArialMonoMTPro"/>
              </a:rPr>
              <a:t>(</a:t>
            </a:r>
            <a:r>
              <a:rPr lang="en-ZA" sz="2000" b="0" i="0" u="none" strike="noStrike" baseline="0" dirty="0" err="1">
                <a:solidFill>
                  <a:srgbClr val="000000"/>
                </a:solidFill>
                <a:latin typeface="ArialMonoMTPro"/>
              </a:rPr>
              <a:t>ios</a:t>
            </a:r>
            <a:r>
              <a:rPr lang="en-ZA" sz="2000" b="0" i="0" u="none" strike="noStrike" baseline="0" dirty="0">
                <a:solidFill>
                  <a:srgbClr val="000000"/>
                </a:solidFill>
                <a:latin typeface="ArialMonoMTPro"/>
              </a:rPr>
              <a:t>::</a:t>
            </a:r>
            <a:r>
              <a:rPr lang="en-ZA" sz="2000" b="0" i="0" u="none" strike="noStrike" baseline="0" dirty="0" err="1">
                <a:solidFill>
                  <a:srgbClr val="000000"/>
                </a:solidFill>
                <a:latin typeface="ArialMonoMTPro"/>
              </a:rPr>
              <a:t>showpoint</a:t>
            </a:r>
            <a:r>
              <a:rPr lang="en-ZA" sz="2000" b="0" i="0" u="none" strike="noStrike" baseline="0" dirty="0">
                <a:solidFill>
                  <a:srgbClr val="000000"/>
                </a:solidFill>
                <a:latin typeface="ArialMonoMTPro"/>
              </a:rPr>
              <a:t>);</a:t>
            </a:r>
          </a:p>
          <a:p>
            <a:pPr lvl="1" algn="l"/>
            <a:r>
              <a:rPr lang="en-ZA" sz="2000" b="0" i="0" u="none" strike="noStrike" baseline="0" dirty="0" err="1">
                <a:solidFill>
                  <a:srgbClr val="000000"/>
                </a:solidFill>
                <a:latin typeface="ArialMonoMTPro"/>
              </a:rPr>
              <a:t>cout.precision</a:t>
            </a:r>
            <a:r>
              <a:rPr lang="en-ZA" sz="2000" b="0" i="0" u="none" strike="noStrike" baseline="0" dirty="0">
                <a:solidFill>
                  <a:srgbClr val="000000"/>
                </a:solidFill>
                <a:latin typeface="ArialMonoMTPro"/>
              </a:rPr>
              <a:t>(1);</a:t>
            </a:r>
          </a:p>
          <a:p>
            <a:pPr lvl="1" algn="l"/>
            <a:r>
              <a:rPr lang="en-ZA" sz="2000" b="0" i="0" u="none" strike="noStrike" baseline="0" dirty="0" err="1">
                <a:solidFill>
                  <a:srgbClr val="000000"/>
                </a:solidFill>
                <a:latin typeface="ArialMonoMTPro"/>
              </a:rPr>
              <a:t>cout</a:t>
            </a:r>
            <a:r>
              <a:rPr lang="en-ZA" sz="2000" b="0" i="0" u="none" strike="noStrike" baseline="0" dirty="0">
                <a:solidFill>
                  <a:srgbClr val="000000"/>
                </a:solidFill>
                <a:latin typeface="ArialMonoMTPro"/>
              </a:rPr>
              <a:t> &lt;&lt; </a:t>
            </a:r>
            <a:r>
              <a:rPr lang="en-ZA" sz="2000" b="0" i="0" u="none" strike="noStrike" baseline="0" dirty="0" err="1">
                <a:solidFill>
                  <a:srgbClr val="000000"/>
                </a:solidFill>
                <a:latin typeface="ArialMonoMTPro"/>
              </a:rPr>
              <a:t>fDegrees</a:t>
            </a:r>
            <a:endParaRPr lang="en-ZA" sz="2000" b="0" i="0" u="none" strike="noStrike" baseline="0" dirty="0">
              <a:solidFill>
                <a:srgbClr val="000000"/>
              </a:solidFill>
              <a:latin typeface="ArialMonoMTPro"/>
            </a:endParaRPr>
          </a:p>
          <a:p>
            <a:pPr lvl="1" algn="l"/>
            <a:r>
              <a:rPr lang="en-US" sz="2000" b="0" i="0" u="none" strike="noStrike" baseline="0" dirty="0">
                <a:solidFill>
                  <a:srgbClr val="000000"/>
                </a:solidFill>
                <a:latin typeface="ArialMonoMTPro"/>
              </a:rPr>
              <a:t>&lt;&lt; " degrees Fahrenheit is equivalent to\n"</a:t>
            </a:r>
          </a:p>
          <a:p>
            <a:pPr lvl="1" algn="l"/>
            <a:r>
              <a:rPr lang="en-ZA" sz="2000" b="0" i="0" u="none" strike="noStrike" baseline="0" dirty="0">
                <a:solidFill>
                  <a:srgbClr val="000000"/>
                </a:solidFill>
                <a:latin typeface="ArialMonoMTPro"/>
              </a:rPr>
              <a:t>&lt;&lt; </a:t>
            </a:r>
            <a:r>
              <a:rPr lang="en-ZA" sz="2000" b="0" i="0" u="none" strike="noStrike" baseline="0" dirty="0" err="1">
                <a:solidFill>
                  <a:srgbClr val="000000"/>
                </a:solidFill>
                <a:latin typeface="ArialMonoMTPro"/>
              </a:rPr>
              <a:t>cDegrees</a:t>
            </a:r>
            <a:r>
              <a:rPr lang="en-ZA" sz="2000" b="0" i="0" u="none" strike="noStrike" baseline="0" dirty="0">
                <a:solidFill>
                  <a:srgbClr val="000000"/>
                </a:solidFill>
                <a:latin typeface="ArialMonoMTPro"/>
              </a:rPr>
              <a:t> &lt;&lt; " degrees Celsius.\n";</a:t>
            </a:r>
          </a:p>
          <a:p>
            <a:pPr lvl="1" algn="l"/>
            <a:r>
              <a:rPr lang="en-ZA" sz="2000" b="0" i="1" u="none" strike="noStrike" baseline="0" dirty="0">
                <a:solidFill>
                  <a:srgbClr val="00AEF0"/>
                </a:solidFill>
                <a:latin typeface="ArialMonoMTPro-Oblique"/>
              </a:rPr>
              <a:t>return</a:t>
            </a:r>
            <a:r>
              <a:rPr lang="en-ZA" sz="2000" b="0" i="0" u="none" strike="noStrike" baseline="0" dirty="0">
                <a:solidFill>
                  <a:srgbClr val="000000"/>
                </a:solidFill>
                <a:latin typeface="ArialMonoMTPro"/>
              </a:rPr>
              <a:t>;</a:t>
            </a:r>
          </a:p>
          <a:p>
            <a:pPr algn="l"/>
            <a:r>
              <a:rPr lang="en-ZA" sz="2000" b="0" i="0" u="none" strike="noStrike" baseline="0" dirty="0">
                <a:solidFill>
                  <a:srgbClr val="000000"/>
                </a:solidFill>
                <a:latin typeface="ArialMonoMTPro"/>
              </a:rPr>
              <a:t>}</a:t>
            </a:r>
          </a:p>
          <a:p>
            <a:pPr algn="l"/>
            <a:endParaRPr lang="en-ZA" altLang="en-US" sz="2000" dirty="0">
              <a:solidFill>
                <a:srgbClr val="000000"/>
              </a:solidFill>
              <a:latin typeface="ArialMonoMTPro"/>
            </a:endParaRPr>
          </a:p>
          <a:p>
            <a:pPr algn="l"/>
            <a:r>
              <a:rPr lang="en-ZA" altLang="en-US" sz="2400" b="1" dirty="0">
                <a:solidFill>
                  <a:srgbClr val="000000"/>
                </a:solidFill>
                <a:latin typeface="ArialMonoMTPro"/>
              </a:rPr>
              <a:t>In main() function</a:t>
            </a:r>
          </a:p>
          <a:p>
            <a:pPr algn="l"/>
            <a:r>
              <a:rPr lang="en-ZA" sz="2000" dirty="0" err="1">
                <a:solidFill>
                  <a:srgbClr val="000000"/>
                </a:solidFill>
                <a:latin typeface="ArialMonoMTPro"/>
              </a:rPr>
              <a:t>showResults</a:t>
            </a:r>
            <a:r>
              <a:rPr lang="en-ZA" sz="2000" dirty="0">
                <a:solidFill>
                  <a:srgbClr val="000000"/>
                </a:solidFill>
                <a:latin typeface="ArialMonoMTPro"/>
              </a:rPr>
              <a:t>(32.5, 0.3); // Function call</a:t>
            </a:r>
            <a:endParaRPr lang="en-US" altLang="en-US" sz="2000" dirty="0">
              <a:solidFill>
                <a:srgbClr val="000000"/>
              </a:solidFill>
              <a:latin typeface="ArialMonoMTPro"/>
            </a:endParaRPr>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2057062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F79F9-238C-5618-73BF-6B2118A062BF}"/>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9D0F323-E9EC-A952-0C1F-49BD11BD03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BB8BB95B-C3E1-F392-C9C5-05A296F5EFF7}"/>
              </a:ext>
            </a:extLst>
          </p:cNvPr>
          <p:cNvSpPr txBox="1"/>
          <p:nvPr/>
        </p:nvSpPr>
        <p:spPr>
          <a:xfrm>
            <a:off x="0" y="65927"/>
            <a:ext cx="6858000" cy="646331"/>
          </a:xfrm>
          <a:prstGeom prst="rect">
            <a:avLst/>
          </a:prstGeom>
          <a:noFill/>
        </p:spPr>
        <p:txBody>
          <a:bodyPr wrap="square" rtlCol="0">
            <a:spAutoFit/>
          </a:bodyPr>
          <a:lstStyle/>
          <a:p>
            <a:r>
              <a:rPr lang="en-US" sz="3600" b="1" dirty="0"/>
              <a:t>void Functions</a:t>
            </a:r>
          </a:p>
        </p:txBody>
      </p:sp>
      <p:sp>
        <p:nvSpPr>
          <p:cNvPr id="2" name="Content Placeholder 2">
            <a:extLst>
              <a:ext uri="{FF2B5EF4-FFF2-40B4-BE49-F238E27FC236}">
                <a16:creationId xmlns:a16="http://schemas.microsoft.com/office/drawing/2014/main" id="{46A53DE9-C235-A07C-7D41-D6C08A05AAE3}"/>
              </a:ext>
            </a:extLst>
          </p:cNvPr>
          <p:cNvSpPr txBox="1">
            <a:spLocks/>
          </p:cNvSpPr>
          <p:nvPr/>
        </p:nvSpPr>
        <p:spPr>
          <a:xfrm>
            <a:off x="471488" y="1696453"/>
            <a:ext cx="5915025" cy="7225827"/>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i="1" dirty="0"/>
              <a:t>return</a:t>
            </a:r>
            <a:r>
              <a:rPr lang="en-US" sz="2400" b="1" dirty="0"/>
              <a:t> Statements </a:t>
            </a:r>
            <a:r>
              <a:rPr lang="en-US" sz="2400" dirty="0"/>
              <a:t>in</a:t>
            </a:r>
            <a:r>
              <a:rPr lang="en-US" sz="2400" b="1" dirty="0"/>
              <a:t> void Function Definition</a:t>
            </a:r>
          </a:p>
          <a:p>
            <a:pPr algn="l"/>
            <a:endParaRPr lang="en-US" altLang="en-US" sz="2400" b="1" dirty="0"/>
          </a:p>
          <a:p>
            <a:pPr algn="l"/>
            <a:r>
              <a:rPr lang="en-US" altLang="en-US" sz="2400" b="1" dirty="0"/>
              <a:t>// void function definition</a:t>
            </a:r>
          </a:p>
          <a:p>
            <a:pPr algn="l"/>
            <a:endParaRPr lang="en-US" altLang="en-US" sz="2400" b="1" dirty="0"/>
          </a:p>
          <a:p>
            <a:pPr algn="l"/>
            <a:r>
              <a:rPr lang="en-ZA" sz="2400" b="0" i="0" u="none" strike="noStrike" baseline="0" dirty="0">
                <a:latin typeface="GiovanniStd-Book"/>
              </a:rPr>
              <a:t>The </a:t>
            </a:r>
            <a:r>
              <a:rPr lang="en-ZA" sz="2400" b="0" i="1" u="none" strike="noStrike" baseline="0" dirty="0">
                <a:latin typeface="ArialMonoMTPro-Oblique"/>
              </a:rPr>
              <a:t>return </a:t>
            </a:r>
            <a:r>
              <a:rPr lang="en-ZA" sz="2400" b="0" i="0" u="none" strike="noStrike" baseline="0" dirty="0">
                <a:latin typeface="GiovanniStd-Book"/>
              </a:rPr>
              <a:t>statement </a:t>
            </a:r>
            <a:r>
              <a:rPr lang="en-US" sz="2400" b="0" i="0" u="none" strike="noStrike" baseline="0" dirty="0">
                <a:latin typeface="GiovanniStd-Book"/>
              </a:rPr>
              <a:t>simply ends the function call.</a:t>
            </a:r>
          </a:p>
          <a:p>
            <a:pPr algn="l"/>
            <a:r>
              <a:rPr lang="en-US" sz="2400" dirty="0">
                <a:latin typeface="GiovanniStd-Book"/>
              </a:rPr>
              <a:t>E</a:t>
            </a:r>
            <a:r>
              <a:rPr lang="en-US" sz="2400" b="0" i="0" u="none" strike="noStrike" baseline="0" dirty="0">
                <a:latin typeface="GiovanniStd-Book"/>
              </a:rPr>
              <a:t>very function that returns a value must end by executing a </a:t>
            </a:r>
            <a:r>
              <a:rPr lang="en-US" sz="2400" b="0" i="1" u="none" strike="noStrike" baseline="0" dirty="0">
                <a:latin typeface="ArialMonoMTPro-Oblique"/>
              </a:rPr>
              <a:t>return </a:t>
            </a:r>
            <a:r>
              <a:rPr lang="en-US" sz="2400" b="0" i="0" u="none" strike="noStrike" baseline="0" dirty="0">
                <a:latin typeface="GiovanniStd-Book"/>
              </a:rPr>
              <a:t>statement.</a:t>
            </a:r>
          </a:p>
          <a:p>
            <a:pPr algn="l"/>
            <a:endParaRPr lang="en-US" sz="2400" b="0" i="0" u="none" strike="noStrike" baseline="0" dirty="0">
              <a:latin typeface="GiovanniStd-Book"/>
            </a:endParaRPr>
          </a:p>
          <a:p>
            <a:pPr algn="l"/>
            <a:r>
              <a:rPr lang="en-US" sz="2400" b="0" i="0" u="none" strike="noStrike" baseline="0" dirty="0">
                <a:latin typeface="GiovanniStd-Book"/>
              </a:rPr>
              <a:t>However, a </a:t>
            </a:r>
            <a:r>
              <a:rPr lang="en-US" sz="2400" b="0" i="1" u="none" strike="noStrike" baseline="0" dirty="0">
                <a:latin typeface="ArialMonoMTPro-Oblique"/>
              </a:rPr>
              <a:t>void </a:t>
            </a:r>
            <a:r>
              <a:rPr lang="en-US" sz="2400" b="0" i="0" u="none" strike="noStrike" baseline="0" dirty="0">
                <a:latin typeface="GiovanniStd-Book"/>
              </a:rPr>
              <a:t>function need not contain a </a:t>
            </a:r>
            <a:r>
              <a:rPr lang="en-US" sz="2400" b="0" i="1" u="none" strike="noStrike" baseline="0" dirty="0">
                <a:latin typeface="ArialMonoMTPro-Oblique"/>
              </a:rPr>
              <a:t>return </a:t>
            </a:r>
            <a:r>
              <a:rPr lang="en-US" sz="2400" b="0" i="0" u="none" strike="noStrike" baseline="0" dirty="0">
                <a:latin typeface="GiovanniStd-Book"/>
              </a:rPr>
              <a:t>statement. If it does not contain a </a:t>
            </a:r>
            <a:r>
              <a:rPr lang="en-US" sz="2400" b="0" i="1" u="none" strike="noStrike" baseline="0" dirty="0">
                <a:latin typeface="ArialMonoMTPro-Oblique"/>
              </a:rPr>
              <a:t>return </a:t>
            </a:r>
            <a:r>
              <a:rPr lang="en-US" sz="2400" b="0" i="0" u="none" strike="noStrike" baseline="0" dirty="0">
                <a:latin typeface="GiovanniStd-Book"/>
              </a:rPr>
              <a:t>statement, it will end after executing the code in the function </a:t>
            </a:r>
            <a:r>
              <a:rPr lang="en-ZA" sz="2400" b="0" i="0" u="none" strike="noStrike" baseline="0" dirty="0">
                <a:latin typeface="GiovanniStd-Book"/>
              </a:rPr>
              <a:t>body.</a:t>
            </a:r>
          </a:p>
        </p:txBody>
      </p:sp>
    </p:spTree>
    <p:extLst>
      <p:ext uri="{BB962C8B-B14F-4D97-AF65-F5344CB8AC3E}">
        <p14:creationId xmlns:p14="http://schemas.microsoft.com/office/powerpoint/2010/main" val="2879355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68271-B861-8292-E426-7F1DE5E8AA1A}"/>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B905505E-B92F-AD85-9B70-D435718B44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2904A3E-028A-996B-2731-B8ABB0A2DAA9}"/>
              </a:ext>
            </a:extLst>
          </p:cNvPr>
          <p:cNvSpPr txBox="1"/>
          <p:nvPr/>
        </p:nvSpPr>
        <p:spPr>
          <a:xfrm>
            <a:off x="0" y="65927"/>
            <a:ext cx="6858000" cy="646331"/>
          </a:xfrm>
          <a:prstGeom prst="rect">
            <a:avLst/>
          </a:prstGeom>
          <a:noFill/>
        </p:spPr>
        <p:txBody>
          <a:bodyPr wrap="square" rtlCol="0">
            <a:spAutoFit/>
          </a:bodyPr>
          <a:lstStyle/>
          <a:p>
            <a:r>
              <a:rPr lang="en-US" sz="3600" b="1" dirty="0"/>
              <a:t>Call-by-Reference Parameters</a:t>
            </a:r>
          </a:p>
        </p:txBody>
      </p:sp>
      <p:sp>
        <p:nvSpPr>
          <p:cNvPr id="2" name="Content Placeholder 2">
            <a:extLst>
              <a:ext uri="{FF2B5EF4-FFF2-40B4-BE49-F238E27FC236}">
                <a16:creationId xmlns:a16="http://schemas.microsoft.com/office/drawing/2014/main" id="{455E7F8F-BE10-D280-FD56-107E35431417}"/>
              </a:ext>
            </a:extLst>
          </p:cNvPr>
          <p:cNvSpPr txBox="1">
            <a:spLocks/>
          </p:cNvSpPr>
          <p:nvPr/>
        </p:nvSpPr>
        <p:spPr>
          <a:xfrm>
            <a:off x="471488" y="1696453"/>
            <a:ext cx="5915025" cy="7225827"/>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dirty="0"/>
              <a:t>When a function is called, </a:t>
            </a:r>
            <a:r>
              <a:rPr lang="en-US" sz="2400" i="1" dirty="0"/>
              <a:t>memory for its formal parameter</a:t>
            </a:r>
            <a:r>
              <a:rPr lang="en-US" sz="2400" dirty="0"/>
              <a:t>s and </a:t>
            </a:r>
            <a:r>
              <a:rPr lang="en-US" sz="2400" i="1" dirty="0"/>
              <a:t>variables declared in the body of the function</a:t>
            </a:r>
            <a:r>
              <a:rPr lang="en-US" sz="2400" dirty="0"/>
              <a:t> (called </a:t>
            </a:r>
            <a:r>
              <a:rPr lang="en-US" sz="2400" b="1" dirty="0"/>
              <a:t>local variables</a:t>
            </a:r>
            <a:r>
              <a:rPr lang="en-US" sz="2400" dirty="0"/>
              <a:t>) is allocated in the function data area. </a:t>
            </a:r>
          </a:p>
          <a:p>
            <a:pPr algn="l"/>
            <a:endParaRPr lang="en-US" sz="2400" dirty="0"/>
          </a:p>
          <a:p>
            <a:pPr algn="l"/>
            <a:r>
              <a:rPr lang="en-US" sz="2400" dirty="0"/>
              <a:t>Recall that in the case of a </a:t>
            </a:r>
            <a:r>
              <a:rPr lang="en-US" sz="2400" b="1" dirty="0"/>
              <a:t>value parameter</a:t>
            </a:r>
            <a:r>
              <a:rPr lang="en-US" sz="2400" dirty="0"/>
              <a:t>, the value of the actual parameter is copied into the memory cell of its corresponding formal parameter. </a:t>
            </a:r>
          </a:p>
          <a:p>
            <a:pPr algn="l"/>
            <a:endParaRPr lang="en-US" sz="2400" dirty="0"/>
          </a:p>
          <a:p>
            <a:pPr algn="l"/>
            <a:r>
              <a:rPr lang="en-US" sz="2400" dirty="0"/>
              <a:t>In the case of a </a:t>
            </a:r>
            <a:r>
              <a:rPr lang="en-US" sz="2400" b="1" dirty="0"/>
              <a:t>reference parameter</a:t>
            </a:r>
            <a:r>
              <a:rPr lang="en-US" sz="2400" dirty="0"/>
              <a:t>, the address of the actual parameter passes to the formal parameter. That is, the content of the formal parameter is an address.</a:t>
            </a:r>
            <a:endParaRPr lang="en-US" altLang="en-US" sz="2400" b="1" dirty="0"/>
          </a:p>
          <a:p>
            <a:pPr marL="457200" indent="-457200" algn="l">
              <a:buFont typeface="+mj-lt"/>
              <a:buAutoNum type="arabicPeriod"/>
            </a:pPr>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spTree>
    <p:extLst>
      <p:ext uri="{BB962C8B-B14F-4D97-AF65-F5344CB8AC3E}">
        <p14:creationId xmlns:p14="http://schemas.microsoft.com/office/powerpoint/2010/main" val="1877240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E02D8-F2EA-293B-EF8A-9E63D6B2B1C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B7D93CD-33ED-089C-4F90-2495777346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453F96C9-CDA1-2BBD-AC79-952AD80766FF}"/>
              </a:ext>
            </a:extLst>
          </p:cNvPr>
          <p:cNvSpPr txBox="1"/>
          <p:nvPr/>
        </p:nvSpPr>
        <p:spPr>
          <a:xfrm>
            <a:off x="0" y="65927"/>
            <a:ext cx="6858000" cy="646331"/>
          </a:xfrm>
          <a:prstGeom prst="rect">
            <a:avLst/>
          </a:prstGeom>
          <a:noFill/>
        </p:spPr>
        <p:txBody>
          <a:bodyPr wrap="square" rtlCol="0">
            <a:spAutoFit/>
          </a:bodyPr>
          <a:lstStyle/>
          <a:p>
            <a:r>
              <a:rPr lang="en-US" sz="3600" b="1" dirty="0"/>
              <a:t>Call-by-Reference Parameters</a:t>
            </a:r>
          </a:p>
        </p:txBody>
      </p:sp>
      <p:sp>
        <p:nvSpPr>
          <p:cNvPr id="2" name="Content Placeholder 2">
            <a:extLst>
              <a:ext uri="{FF2B5EF4-FFF2-40B4-BE49-F238E27FC236}">
                <a16:creationId xmlns:a16="http://schemas.microsoft.com/office/drawing/2014/main" id="{F45A66BD-940E-8B2D-E9D7-5B57BD362504}"/>
              </a:ext>
            </a:extLst>
          </p:cNvPr>
          <p:cNvSpPr txBox="1">
            <a:spLocks/>
          </p:cNvSpPr>
          <p:nvPr/>
        </p:nvSpPr>
        <p:spPr>
          <a:xfrm>
            <a:off x="471488" y="1696453"/>
            <a:ext cx="5915025" cy="7225827"/>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000" b="1" i="0" u="none" strike="noStrike" baseline="0" dirty="0">
                <a:solidFill>
                  <a:schemeClr val="accent1"/>
                </a:solidFill>
                <a:latin typeface="CourierStd-Bold"/>
              </a:rPr>
              <a:t>void</a:t>
            </a:r>
            <a:r>
              <a:rPr lang="en-US" sz="2000" b="1" i="0" u="none" strike="noStrike" baseline="0" dirty="0">
                <a:solidFill>
                  <a:srgbClr val="6A8899"/>
                </a:solidFill>
                <a:latin typeface="CourierStd-Bold"/>
              </a:rPr>
              <a:t> </a:t>
            </a:r>
            <a:r>
              <a:rPr lang="en-US" sz="2000" b="1" i="0" u="none" strike="noStrike" baseline="0" dirty="0" err="1">
                <a:solidFill>
                  <a:srgbClr val="211808"/>
                </a:solidFill>
                <a:latin typeface="CourierStd-Bold"/>
              </a:rPr>
              <a:t>areaAndPerimeter</a:t>
            </a:r>
            <a:r>
              <a:rPr lang="en-US" sz="2000" b="1" i="0" u="none" strike="noStrike" baseline="0" dirty="0">
                <a:solidFill>
                  <a:srgbClr val="211808"/>
                </a:solidFill>
                <a:latin typeface="CourierStd-Bold"/>
              </a:rPr>
              <a:t>(</a:t>
            </a:r>
            <a:r>
              <a:rPr lang="en-US" sz="2000" b="1" i="0" u="none" strike="noStrike" baseline="0" dirty="0">
                <a:solidFill>
                  <a:schemeClr val="accent1"/>
                </a:solidFill>
                <a:latin typeface="CourierStd-Bold"/>
              </a:rPr>
              <a:t>double</a:t>
            </a:r>
            <a:r>
              <a:rPr lang="en-US" sz="2000" b="1" i="0" u="none" strike="noStrike" baseline="0" dirty="0">
                <a:solidFill>
                  <a:srgbClr val="6A8899"/>
                </a:solidFill>
                <a:latin typeface="CourierStd-Bold"/>
              </a:rPr>
              <a:t> </a:t>
            </a:r>
            <a:r>
              <a:rPr lang="en-US" sz="2000" b="1" i="0" u="none" strike="noStrike" baseline="0" dirty="0">
                <a:solidFill>
                  <a:srgbClr val="211808"/>
                </a:solidFill>
                <a:latin typeface="CourierStd-Bold"/>
              </a:rPr>
              <a:t>length, </a:t>
            </a:r>
            <a:r>
              <a:rPr lang="en-US" sz="2000" b="1" i="0" u="none" strike="noStrike" baseline="0" dirty="0">
                <a:solidFill>
                  <a:schemeClr val="accent1"/>
                </a:solidFill>
                <a:latin typeface="CourierStd-Bold"/>
              </a:rPr>
              <a:t>double</a:t>
            </a:r>
            <a:r>
              <a:rPr lang="en-US" sz="2000" b="1" i="0" u="none" strike="noStrike" baseline="0" dirty="0">
                <a:solidFill>
                  <a:srgbClr val="6A8899"/>
                </a:solidFill>
                <a:latin typeface="CourierStd-Bold"/>
              </a:rPr>
              <a:t> </a:t>
            </a:r>
            <a:r>
              <a:rPr lang="en-US" sz="2000" b="1" i="0" u="none" strike="noStrike" baseline="0" dirty="0">
                <a:solidFill>
                  <a:srgbClr val="211808"/>
                </a:solidFill>
                <a:latin typeface="CourierStd-Bold"/>
              </a:rPr>
              <a:t>width, </a:t>
            </a:r>
            <a:r>
              <a:rPr lang="en-ZA" sz="2000" b="1" i="0" u="none" strike="noStrike" baseline="0" dirty="0">
                <a:solidFill>
                  <a:schemeClr val="accent1"/>
                </a:solidFill>
                <a:latin typeface="CourierStd-Bold"/>
              </a:rPr>
              <a:t>double</a:t>
            </a:r>
            <a:r>
              <a:rPr lang="en-ZA" sz="2000" b="1" i="0" u="none" strike="noStrike" baseline="0" dirty="0">
                <a:solidFill>
                  <a:srgbClr val="211808"/>
                </a:solidFill>
                <a:latin typeface="CourierStd-Bold"/>
              </a:rPr>
              <a:t>&amp; area, </a:t>
            </a:r>
            <a:r>
              <a:rPr lang="en-ZA" sz="2000" b="1" i="0" u="none" strike="noStrike" baseline="0" dirty="0">
                <a:solidFill>
                  <a:schemeClr val="accent1"/>
                </a:solidFill>
                <a:latin typeface="CourierStd-Bold"/>
              </a:rPr>
              <a:t>double</a:t>
            </a:r>
            <a:r>
              <a:rPr lang="en-ZA" sz="2000" b="1" i="0" u="none" strike="noStrike" baseline="0" dirty="0">
                <a:solidFill>
                  <a:srgbClr val="211808"/>
                </a:solidFill>
                <a:latin typeface="CourierStd-Bold"/>
              </a:rPr>
              <a:t>&amp; perimeter)</a:t>
            </a:r>
          </a:p>
          <a:p>
            <a:pPr algn="l"/>
            <a:r>
              <a:rPr lang="en-ZA" sz="2000" b="1" i="0" u="none" strike="noStrike" baseline="0" dirty="0">
                <a:solidFill>
                  <a:srgbClr val="211808"/>
                </a:solidFill>
                <a:latin typeface="CourierStd-Bold"/>
              </a:rPr>
              <a:t>{</a:t>
            </a:r>
          </a:p>
          <a:p>
            <a:pPr algn="l"/>
            <a:r>
              <a:rPr lang="en-ZA" sz="2000" b="1" i="0" u="none" strike="noStrike" baseline="0" dirty="0">
                <a:solidFill>
                  <a:srgbClr val="211808"/>
                </a:solidFill>
                <a:latin typeface="CourierStd-Bold"/>
              </a:rPr>
              <a:t>	area = length * width;</a:t>
            </a:r>
          </a:p>
          <a:p>
            <a:pPr algn="l"/>
            <a:r>
              <a:rPr lang="en-ZA" sz="2000" b="1" i="0" u="none" strike="noStrike" baseline="0" dirty="0">
                <a:solidFill>
                  <a:srgbClr val="211808"/>
                </a:solidFill>
                <a:latin typeface="CourierStd-Bold"/>
              </a:rPr>
              <a:t>	perimeter = 2 * (length + width);</a:t>
            </a:r>
          </a:p>
          <a:p>
            <a:pPr algn="l"/>
            <a:r>
              <a:rPr lang="en-ZA" sz="2000" b="1" i="0" u="none" strike="noStrike" baseline="0" dirty="0">
                <a:solidFill>
                  <a:srgbClr val="211808"/>
                </a:solidFill>
                <a:latin typeface="CourierStd-Bold"/>
              </a:rPr>
              <a:t>}</a:t>
            </a:r>
            <a:endParaRPr lang="en-US" sz="2000" b="1" dirty="0"/>
          </a:p>
          <a:p>
            <a:pPr algn="l"/>
            <a:endParaRPr lang="en-US" sz="2800" b="1" dirty="0"/>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CFD71EAB-2038-884D-5318-8BABB6A3D7BE}"/>
              </a:ext>
            </a:extLst>
          </p:cNvPr>
          <p:cNvPicPr>
            <a:picLocks noChangeAspect="1"/>
          </p:cNvPicPr>
          <p:nvPr/>
        </p:nvPicPr>
        <p:blipFill>
          <a:blip r:embed="rId3"/>
          <a:stretch>
            <a:fillRect/>
          </a:stretch>
        </p:blipFill>
        <p:spPr>
          <a:xfrm>
            <a:off x="-72551" y="4331369"/>
            <a:ext cx="6858000" cy="3597442"/>
          </a:xfrm>
          <a:prstGeom prst="rect">
            <a:avLst/>
          </a:prstGeom>
        </p:spPr>
      </p:pic>
    </p:spTree>
    <p:extLst>
      <p:ext uri="{BB962C8B-B14F-4D97-AF65-F5344CB8AC3E}">
        <p14:creationId xmlns:p14="http://schemas.microsoft.com/office/powerpoint/2010/main" val="2321830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BAFB1-6052-34CB-CC1E-F8ACFB642C1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C6B49712-9D7E-96F7-EA48-57BA7F2484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1B328DE7-986C-9A49-55FB-7A99A98A4E97}"/>
              </a:ext>
            </a:extLst>
          </p:cNvPr>
          <p:cNvSpPr txBox="1"/>
          <p:nvPr/>
        </p:nvSpPr>
        <p:spPr>
          <a:xfrm>
            <a:off x="0" y="65927"/>
            <a:ext cx="6858000" cy="646331"/>
          </a:xfrm>
          <a:prstGeom prst="rect">
            <a:avLst/>
          </a:prstGeom>
          <a:noFill/>
        </p:spPr>
        <p:txBody>
          <a:bodyPr wrap="square" rtlCol="0">
            <a:spAutoFit/>
          </a:bodyPr>
          <a:lstStyle/>
          <a:p>
            <a:r>
              <a:rPr lang="en-US" sz="3600" b="1" dirty="0"/>
              <a:t>Call-by-Reference Parameters</a:t>
            </a:r>
          </a:p>
        </p:txBody>
      </p:sp>
      <p:sp>
        <p:nvSpPr>
          <p:cNvPr id="2" name="Content Placeholder 2">
            <a:extLst>
              <a:ext uri="{FF2B5EF4-FFF2-40B4-BE49-F238E27FC236}">
                <a16:creationId xmlns:a16="http://schemas.microsoft.com/office/drawing/2014/main" id="{76247DC0-68F2-CCF1-86CD-4E6C916A305D}"/>
              </a:ext>
            </a:extLst>
          </p:cNvPr>
          <p:cNvSpPr txBox="1">
            <a:spLocks/>
          </p:cNvSpPr>
          <p:nvPr/>
        </p:nvSpPr>
        <p:spPr>
          <a:xfrm>
            <a:off x="471488" y="1696453"/>
            <a:ext cx="5915025" cy="7531768"/>
          </a:xfrm>
          <a:prstGeom prst="rect">
            <a:avLst/>
          </a:prstGeom>
        </p:spPr>
        <p:txBody>
          <a:bodyPr vert="horz" lIns="91440" tIns="45720" rIns="91440" bIns="45720" rtlCol="0">
            <a:normAutofit lnSpcReduction="1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Example:</a:t>
            </a:r>
          </a:p>
          <a:p>
            <a:pPr algn="l"/>
            <a:endParaRPr lang="en-US" sz="2400" dirty="0"/>
          </a:p>
          <a:p>
            <a:pPr algn="l"/>
            <a:r>
              <a:rPr lang="en-US" sz="1600" dirty="0"/>
              <a:t>// function declarations or prototypes</a:t>
            </a:r>
          </a:p>
          <a:p>
            <a:pPr algn="l"/>
            <a:r>
              <a:rPr lang="en-US" sz="1600" b="1" i="0" u="none" strike="noStrike" baseline="0" dirty="0">
                <a:solidFill>
                  <a:srgbClr val="00B0F0"/>
                </a:solidFill>
                <a:latin typeface="CourierStd-Bold"/>
              </a:rPr>
              <a:t>void</a:t>
            </a:r>
            <a:r>
              <a:rPr lang="en-US" sz="1600" b="1" i="0" u="none" strike="noStrike" baseline="0" dirty="0">
                <a:solidFill>
                  <a:srgbClr val="6A8899"/>
                </a:solidFill>
                <a:latin typeface="CourierStd-Bold"/>
              </a:rPr>
              <a:t> </a:t>
            </a:r>
            <a:r>
              <a:rPr lang="en-US" sz="1600" b="1" i="0" u="none" strike="noStrike" baseline="0" dirty="0" err="1">
                <a:solidFill>
                  <a:srgbClr val="211808"/>
                </a:solidFill>
                <a:latin typeface="CourierStd-Bold"/>
              </a:rPr>
              <a:t>funOne</a:t>
            </a:r>
            <a:r>
              <a:rPr lang="en-US" sz="1600" b="1" i="0" u="none" strike="noStrike" baseline="0" dirty="0">
                <a:solidFill>
                  <a:srgbClr val="211808"/>
                </a:solidFill>
                <a:latin typeface="CourierStd-Bold"/>
              </a:rPr>
              <a:t>(</a:t>
            </a:r>
            <a:r>
              <a:rPr lang="en-US" sz="1600" b="1" i="0" u="none" strike="noStrike" baseline="0" dirty="0">
                <a:solidFill>
                  <a:srgbClr val="00B0F0"/>
                </a:solidFill>
                <a:latin typeface="CourierStd-Bold"/>
              </a:rPr>
              <a:t>int</a:t>
            </a:r>
            <a:r>
              <a:rPr lang="en-US" sz="1600" b="1" i="0" u="none" strike="noStrike" baseline="0" dirty="0">
                <a:solidFill>
                  <a:srgbClr val="6A8899"/>
                </a:solidFill>
                <a:latin typeface="CourierStd-Bold"/>
              </a:rPr>
              <a:t> </a:t>
            </a:r>
            <a:r>
              <a:rPr lang="en-US" sz="1600" b="1" i="0" u="none" strike="noStrike" baseline="0" dirty="0">
                <a:solidFill>
                  <a:srgbClr val="211808"/>
                </a:solidFill>
                <a:latin typeface="CourierStd-Bold"/>
              </a:rPr>
              <a:t>a, </a:t>
            </a:r>
            <a:r>
              <a:rPr lang="en-US" sz="1600" b="1" i="0" u="none" strike="noStrike" baseline="0" dirty="0">
                <a:solidFill>
                  <a:srgbClr val="00B0F0"/>
                </a:solidFill>
                <a:latin typeface="CourierStd-Bold"/>
              </a:rPr>
              <a:t>int</a:t>
            </a:r>
            <a:r>
              <a:rPr lang="en-US" sz="1600" b="1" i="0" u="none" strike="noStrike" baseline="0" dirty="0">
                <a:solidFill>
                  <a:srgbClr val="211808"/>
                </a:solidFill>
                <a:latin typeface="CourierStd-Bold"/>
              </a:rPr>
              <a:t>&amp; b, </a:t>
            </a:r>
            <a:r>
              <a:rPr lang="en-US" sz="1600" b="1" i="0" u="none" strike="noStrike" baseline="0" dirty="0">
                <a:solidFill>
                  <a:srgbClr val="00B0F0"/>
                </a:solidFill>
                <a:latin typeface="CourierStd-Bold"/>
              </a:rPr>
              <a:t>char</a:t>
            </a:r>
            <a:r>
              <a:rPr lang="en-US" sz="1600" b="1" i="0" u="none" strike="noStrike" baseline="0" dirty="0">
                <a:solidFill>
                  <a:srgbClr val="6A8899"/>
                </a:solidFill>
                <a:latin typeface="CourierStd-Bold"/>
              </a:rPr>
              <a:t> </a:t>
            </a:r>
            <a:r>
              <a:rPr lang="en-US" sz="1600" b="1" i="0" u="none" strike="noStrike" baseline="0" dirty="0">
                <a:solidFill>
                  <a:srgbClr val="211808"/>
                </a:solidFill>
                <a:latin typeface="CourierStd-Bold"/>
              </a:rPr>
              <a:t>v);</a:t>
            </a:r>
            <a:endParaRPr lang="en-US" sz="1600" b="1" i="0" u="none" strike="noStrike" baseline="0" dirty="0">
              <a:solidFill>
                <a:srgbClr val="0DD767"/>
              </a:solidFill>
              <a:latin typeface="CourierStd-Bold"/>
            </a:endParaRPr>
          </a:p>
          <a:p>
            <a:pPr algn="l"/>
            <a:r>
              <a:rPr lang="en-US" sz="1600" b="1" i="0" u="none" strike="noStrike" baseline="0" dirty="0">
                <a:solidFill>
                  <a:srgbClr val="00B0F0"/>
                </a:solidFill>
                <a:latin typeface="CourierStd-Bold"/>
              </a:rPr>
              <a:t>void</a:t>
            </a:r>
            <a:r>
              <a:rPr lang="en-US" sz="1600" b="1" i="0" u="none" strike="noStrike" baseline="0" dirty="0">
                <a:solidFill>
                  <a:srgbClr val="6A8899"/>
                </a:solidFill>
                <a:latin typeface="CourierStd-Bold"/>
              </a:rPr>
              <a:t> </a:t>
            </a:r>
            <a:r>
              <a:rPr lang="en-US" sz="1600" b="1" i="0" u="none" strike="noStrike" baseline="0" dirty="0" err="1">
                <a:solidFill>
                  <a:srgbClr val="211808"/>
                </a:solidFill>
                <a:latin typeface="CourierStd-Bold"/>
              </a:rPr>
              <a:t>funTwo</a:t>
            </a:r>
            <a:r>
              <a:rPr lang="en-US" sz="1600" b="1" i="0" u="none" strike="noStrike" baseline="0" dirty="0">
                <a:solidFill>
                  <a:srgbClr val="211808"/>
                </a:solidFill>
                <a:latin typeface="CourierStd-Bold"/>
              </a:rPr>
              <a:t>(</a:t>
            </a:r>
            <a:r>
              <a:rPr lang="en-US" sz="1600" b="1" i="0" u="none" strike="noStrike" baseline="0" dirty="0">
                <a:solidFill>
                  <a:srgbClr val="00B0F0"/>
                </a:solidFill>
                <a:latin typeface="CourierStd-Bold"/>
              </a:rPr>
              <a:t>int</a:t>
            </a:r>
            <a:r>
              <a:rPr lang="en-US" sz="1600" b="1" i="0" u="none" strike="noStrike" baseline="0" dirty="0">
                <a:solidFill>
                  <a:srgbClr val="211808"/>
                </a:solidFill>
                <a:latin typeface="CourierStd-Bold"/>
              </a:rPr>
              <a:t>&amp; x, </a:t>
            </a:r>
            <a:r>
              <a:rPr lang="en-US" sz="1600" b="1" i="0" u="none" strike="noStrike" baseline="0" dirty="0">
                <a:solidFill>
                  <a:srgbClr val="00B0F0"/>
                </a:solidFill>
                <a:latin typeface="CourierStd-Bold"/>
              </a:rPr>
              <a:t>int</a:t>
            </a:r>
            <a:r>
              <a:rPr lang="en-US" sz="1600" b="1" i="0" u="none" strike="noStrike" baseline="0" dirty="0">
                <a:solidFill>
                  <a:srgbClr val="6A8899"/>
                </a:solidFill>
                <a:latin typeface="CourierStd-Bold"/>
              </a:rPr>
              <a:t> </a:t>
            </a:r>
            <a:r>
              <a:rPr lang="en-US" sz="1600" b="1" i="0" u="none" strike="noStrike" baseline="0" dirty="0">
                <a:solidFill>
                  <a:srgbClr val="211808"/>
                </a:solidFill>
                <a:latin typeface="CourierStd-Bold"/>
              </a:rPr>
              <a:t>y, </a:t>
            </a:r>
            <a:r>
              <a:rPr lang="en-US" sz="1600" b="1" i="0" u="none" strike="noStrike" baseline="0" dirty="0">
                <a:solidFill>
                  <a:srgbClr val="00B0F0"/>
                </a:solidFill>
                <a:latin typeface="CourierStd-Bold"/>
              </a:rPr>
              <a:t>char</a:t>
            </a:r>
            <a:r>
              <a:rPr lang="en-US" sz="1600" b="1" i="0" u="none" strike="noStrike" baseline="0" dirty="0">
                <a:solidFill>
                  <a:srgbClr val="211808"/>
                </a:solidFill>
                <a:latin typeface="CourierStd-Bold"/>
              </a:rPr>
              <a:t>&amp; w);</a:t>
            </a:r>
            <a:endParaRPr lang="en-US" sz="1600" b="1" dirty="0"/>
          </a:p>
          <a:p>
            <a:pPr algn="l"/>
            <a:endParaRPr lang="en-US" sz="1600" b="1" dirty="0"/>
          </a:p>
          <a:p>
            <a:pPr algn="l"/>
            <a:r>
              <a:rPr lang="en-US" sz="1600" b="1" dirty="0">
                <a:solidFill>
                  <a:srgbClr val="211808"/>
                </a:solidFill>
                <a:latin typeface="CourierStd-Bold"/>
              </a:rPr>
              <a:t>// function definition</a:t>
            </a:r>
          </a:p>
          <a:p>
            <a:pPr algn="l"/>
            <a:r>
              <a:rPr lang="en-US" sz="1600" b="1" i="0" u="none" strike="noStrike" baseline="0" dirty="0">
                <a:solidFill>
                  <a:srgbClr val="00B0F0"/>
                </a:solidFill>
                <a:latin typeface="CourierStd-Bold"/>
              </a:rPr>
              <a:t>void</a:t>
            </a:r>
            <a:r>
              <a:rPr lang="en-US" sz="1600" b="1" i="0" u="none" strike="noStrike" baseline="0" dirty="0">
                <a:solidFill>
                  <a:srgbClr val="6A8899"/>
                </a:solidFill>
                <a:latin typeface="CourierStd-Bold"/>
              </a:rPr>
              <a:t> </a:t>
            </a:r>
            <a:r>
              <a:rPr lang="en-US" sz="1600" b="1" i="0" u="none" strike="noStrike" baseline="0" dirty="0" err="1">
                <a:solidFill>
                  <a:srgbClr val="211808"/>
                </a:solidFill>
                <a:latin typeface="CourierStd-Bold"/>
              </a:rPr>
              <a:t>funOne</a:t>
            </a:r>
            <a:r>
              <a:rPr lang="en-US" sz="1600" b="1" i="0" u="none" strike="noStrike" baseline="0" dirty="0">
                <a:solidFill>
                  <a:srgbClr val="211808"/>
                </a:solidFill>
                <a:latin typeface="CourierStd-Bold"/>
              </a:rPr>
              <a:t>(</a:t>
            </a:r>
            <a:r>
              <a:rPr lang="en-US" sz="1600" b="1" i="0" u="none" strike="noStrike" baseline="0" dirty="0">
                <a:solidFill>
                  <a:srgbClr val="00B0F0"/>
                </a:solidFill>
                <a:latin typeface="CourierStd-Bold"/>
              </a:rPr>
              <a:t>int</a:t>
            </a:r>
            <a:r>
              <a:rPr lang="en-US" sz="1600" b="1" i="0" u="none" strike="noStrike" baseline="0" dirty="0">
                <a:solidFill>
                  <a:srgbClr val="6A8899"/>
                </a:solidFill>
                <a:latin typeface="CourierStd-Bold"/>
              </a:rPr>
              <a:t> </a:t>
            </a:r>
            <a:r>
              <a:rPr lang="en-US" sz="1600" b="1" i="0" u="none" strike="noStrike" baseline="0" dirty="0">
                <a:solidFill>
                  <a:srgbClr val="211808"/>
                </a:solidFill>
                <a:latin typeface="CourierStd-Bold"/>
              </a:rPr>
              <a:t>a, </a:t>
            </a:r>
            <a:r>
              <a:rPr lang="en-US" sz="1600" b="1" i="0" u="none" strike="noStrike" baseline="0" dirty="0">
                <a:solidFill>
                  <a:srgbClr val="00B0F0"/>
                </a:solidFill>
                <a:latin typeface="CourierStd-Bold"/>
              </a:rPr>
              <a:t>int</a:t>
            </a:r>
            <a:r>
              <a:rPr lang="en-US" sz="1600" b="1" i="0" u="none" strike="noStrike" baseline="0" dirty="0">
                <a:solidFill>
                  <a:srgbClr val="211808"/>
                </a:solidFill>
                <a:latin typeface="CourierStd-Bold"/>
              </a:rPr>
              <a:t>&amp; b, </a:t>
            </a:r>
            <a:r>
              <a:rPr lang="en-US" sz="1600" b="1" i="0" u="none" strike="noStrike" baseline="0" dirty="0">
                <a:solidFill>
                  <a:srgbClr val="00B0F0"/>
                </a:solidFill>
                <a:latin typeface="CourierStd-Bold"/>
              </a:rPr>
              <a:t>char</a:t>
            </a:r>
            <a:r>
              <a:rPr lang="en-US" sz="1600" b="1" i="0" u="none" strike="noStrike" baseline="0" dirty="0">
                <a:solidFill>
                  <a:srgbClr val="6A8899"/>
                </a:solidFill>
                <a:latin typeface="CourierStd-Bold"/>
              </a:rPr>
              <a:t> </a:t>
            </a:r>
            <a:r>
              <a:rPr lang="en-US" sz="1600" b="1" i="0" u="none" strike="noStrike" baseline="0" dirty="0">
                <a:solidFill>
                  <a:srgbClr val="211808"/>
                </a:solidFill>
                <a:latin typeface="CourierStd-Bold"/>
              </a:rPr>
              <a:t>v)</a:t>
            </a:r>
            <a:endParaRPr lang="en-US" sz="1600" b="1" i="0" u="none" strike="noStrike" baseline="0" dirty="0">
              <a:solidFill>
                <a:srgbClr val="0DD767"/>
              </a:solidFill>
              <a:latin typeface="CourierStd-Bold"/>
            </a:endParaRPr>
          </a:p>
          <a:p>
            <a:pPr algn="l"/>
            <a:r>
              <a:rPr lang="en-ZA" sz="1600" b="1" i="0" u="none" strike="noStrike" baseline="0" dirty="0">
                <a:solidFill>
                  <a:srgbClr val="211808"/>
                </a:solidFill>
                <a:latin typeface="CourierStd-Bold"/>
              </a:rPr>
              <a:t>{</a:t>
            </a:r>
            <a:endParaRPr lang="en-ZA" sz="1600" b="1" i="0" u="none" strike="noStrike" baseline="0" dirty="0">
              <a:solidFill>
                <a:srgbClr val="0DD767"/>
              </a:solidFill>
              <a:latin typeface="CourierStd-Bold"/>
            </a:endParaRPr>
          </a:p>
          <a:p>
            <a:pPr lvl="1" algn="l"/>
            <a:r>
              <a:rPr lang="en-ZA" sz="1600" b="1" i="0" u="none" strike="noStrike" baseline="0" dirty="0">
                <a:solidFill>
                  <a:srgbClr val="00B0F0"/>
                </a:solidFill>
                <a:latin typeface="CourierStd-Bold"/>
              </a:rPr>
              <a:t>int</a:t>
            </a:r>
            <a:r>
              <a:rPr lang="en-ZA" sz="1600" b="1" i="0" u="none" strike="noStrike" baseline="0" dirty="0">
                <a:solidFill>
                  <a:srgbClr val="6A8899"/>
                </a:solidFill>
                <a:latin typeface="CourierStd-Bold"/>
              </a:rPr>
              <a:t> </a:t>
            </a:r>
            <a:r>
              <a:rPr lang="en-ZA" sz="1600" b="1" i="0" u="none" strike="noStrike" baseline="0" dirty="0">
                <a:solidFill>
                  <a:srgbClr val="211808"/>
                </a:solidFill>
                <a:latin typeface="CourierStd-Bold"/>
              </a:rPr>
              <a:t>one; one = a; a++;</a:t>
            </a:r>
            <a:endParaRPr lang="en-ZA" sz="1600" b="1" i="0" u="none" strike="noStrike" baseline="0" dirty="0">
              <a:solidFill>
                <a:srgbClr val="0DD767"/>
              </a:solidFill>
              <a:latin typeface="CourierStd-Bold"/>
            </a:endParaRPr>
          </a:p>
          <a:p>
            <a:pPr lvl="1" algn="l"/>
            <a:r>
              <a:rPr lang="en-US" sz="1600" b="1" i="0" u="none" strike="noStrike" baseline="0" dirty="0">
                <a:solidFill>
                  <a:srgbClr val="211808"/>
                </a:solidFill>
                <a:latin typeface="CourierStd-Bold"/>
              </a:rPr>
              <a:t>b = b * 2;</a:t>
            </a:r>
            <a:endParaRPr lang="en-US" sz="1600" b="1" i="0" u="none" strike="noStrike" baseline="0" dirty="0">
              <a:solidFill>
                <a:srgbClr val="0DD767"/>
              </a:solidFill>
              <a:latin typeface="CourierStd-Bold"/>
            </a:endParaRPr>
          </a:p>
          <a:p>
            <a:pPr lvl="1" algn="l"/>
            <a:r>
              <a:rPr lang="en-ZA" sz="1600" b="1" i="0" u="none" strike="noStrike" baseline="0" dirty="0">
                <a:solidFill>
                  <a:srgbClr val="211808"/>
                </a:solidFill>
                <a:latin typeface="CourierStd-Bold"/>
              </a:rPr>
              <a:t>v = 'B’;</a:t>
            </a:r>
          </a:p>
          <a:p>
            <a:pPr lvl="1" algn="l"/>
            <a:r>
              <a:rPr lang="en-US" sz="1600" b="1" i="0" u="none" strike="noStrike" baseline="0" dirty="0" err="1">
                <a:solidFill>
                  <a:srgbClr val="211808"/>
                </a:solidFill>
                <a:latin typeface="CourierStd-Bold"/>
              </a:rPr>
              <a:t>cout</a:t>
            </a:r>
            <a:r>
              <a:rPr lang="en-US" sz="1600" b="1" i="0" u="none" strike="noStrike" baseline="0" dirty="0">
                <a:solidFill>
                  <a:srgbClr val="211808"/>
                </a:solidFill>
                <a:latin typeface="CourierStd-Bold"/>
              </a:rPr>
              <a:t> &lt;&lt; "Inside </a:t>
            </a:r>
            <a:r>
              <a:rPr lang="en-US" sz="1600" b="1" i="0" u="none" strike="noStrike" baseline="0" dirty="0" err="1">
                <a:solidFill>
                  <a:srgbClr val="211808"/>
                </a:solidFill>
                <a:latin typeface="CourierStd-Bold"/>
              </a:rPr>
              <a:t>funOne</a:t>
            </a:r>
            <a:r>
              <a:rPr lang="en-US" sz="1600" b="1" i="0" u="none" strike="noStrike" baseline="0" dirty="0">
                <a:solidFill>
                  <a:srgbClr val="211808"/>
                </a:solidFill>
                <a:latin typeface="CourierStd-Bold"/>
              </a:rPr>
              <a:t>: a = " &lt;&lt; a</a:t>
            </a:r>
          </a:p>
          <a:p>
            <a:pPr lvl="1" algn="l"/>
            <a:r>
              <a:rPr lang="en-ZA" sz="1600" b="1" i="0" u="none" strike="noStrike" baseline="0" dirty="0">
                <a:solidFill>
                  <a:srgbClr val="211808"/>
                </a:solidFill>
                <a:latin typeface="CourierStd-Bold"/>
              </a:rPr>
              <a:t>&lt;&lt; ", b = " &lt;&lt; b &lt;&lt; ", v = " &lt;&lt; v</a:t>
            </a:r>
          </a:p>
          <a:p>
            <a:pPr lvl="1" algn="l"/>
            <a:r>
              <a:rPr lang="en-US" sz="1600" b="1" i="0" u="none" strike="noStrike" baseline="0" dirty="0">
                <a:solidFill>
                  <a:srgbClr val="211808"/>
                </a:solidFill>
                <a:latin typeface="CourierStd-Bold"/>
              </a:rPr>
              <a:t>&lt;&lt; ", and one = " &lt;&lt; one &lt;&lt; </a:t>
            </a:r>
            <a:r>
              <a:rPr lang="en-US" sz="1600" b="1" i="0" u="none" strike="noStrike" baseline="0" dirty="0" err="1">
                <a:solidFill>
                  <a:srgbClr val="211808"/>
                </a:solidFill>
                <a:latin typeface="CourierStd-Bold"/>
              </a:rPr>
              <a:t>endl</a:t>
            </a:r>
            <a:r>
              <a:rPr lang="en-US" sz="1600" b="1" i="0" u="none" strike="noStrike" baseline="0" dirty="0">
                <a:solidFill>
                  <a:srgbClr val="211808"/>
                </a:solidFill>
                <a:latin typeface="CourierStd-Bold"/>
              </a:rPr>
              <a:t>;</a:t>
            </a:r>
            <a:endParaRPr lang="en-US" sz="1600" b="1" i="0" u="none" strike="noStrike" baseline="0" dirty="0">
              <a:solidFill>
                <a:srgbClr val="0DD767"/>
              </a:solidFill>
              <a:latin typeface="CourierStd-Bold"/>
            </a:endParaRPr>
          </a:p>
          <a:p>
            <a:pPr algn="l"/>
            <a:r>
              <a:rPr lang="en-ZA" sz="1600" b="1" i="0" u="none" strike="noStrike" baseline="0" dirty="0">
                <a:solidFill>
                  <a:srgbClr val="211808"/>
                </a:solidFill>
                <a:latin typeface="CourierStd-Bold"/>
              </a:rPr>
              <a:t>}</a:t>
            </a:r>
          </a:p>
          <a:p>
            <a:pPr algn="l"/>
            <a:endParaRPr lang="en-ZA" sz="1600" b="1" i="0" u="none" strike="noStrike" baseline="0" dirty="0">
              <a:solidFill>
                <a:srgbClr val="211808"/>
              </a:solidFill>
              <a:latin typeface="CourierStd-Bold"/>
            </a:endParaRPr>
          </a:p>
          <a:p>
            <a:pPr algn="l"/>
            <a:r>
              <a:rPr lang="en-ZA" sz="1600" b="1" dirty="0">
                <a:solidFill>
                  <a:srgbClr val="211808"/>
                </a:solidFill>
                <a:latin typeface="CourierStd-Bold"/>
              </a:rPr>
              <a:t>// function definition</a:t>
            </a:r>
            <a:endParaRPr lang="en-ZA" sz="1600" b="1" i="0" u="none" strike="noStrike" baseline="0" dirty="0">
              <a:solidFill>
                <a:srgbClr val="211808"/>
              </a:solidFill>
              <a:latin typeface="CourierStd-Bold"/>
            </a:endParaRPr>
          </a:p>
          <a:p>
            <a:pPr algn="l"/>
            <a:r>
              <a:rPr lang="en-US" sz="1600" b="1" dirty="0">
                <a:solidFill>
                  <a:srgbClr val="00B0F0"/>
                </a:solidFill>
                <a:latin typeface="CourierStd-Bold"/>
              </a:rPr>
              <a:t>void</a:t>
            </a:r>
            <a:r>
              <a:rPr lang="en-US" sz="1600" b="1" dirty="0">
                <a:solidFill>
                  <a:srgbClr val="6A8899"/>
                </a:solidFill>
                <a:latin typeface="CourierStd-Bold"/>
              </a:rPr>
              <a:t> </a:t>
            </a:r>
            <a:r>
              <a:rPr lang="en-US" sz="1600" b="1" dirty="0" err="1">
                <a:solidFill>
                  <a:srgbClr val="211808"/>
                </a:solidFill>
                <a:latin typeface="CourierStd-Bold"/>
              </a:rPr>
              <a:t>funTwo</a:t>
            </a:r>
            <a:r>
              <a:rPr lang="en-US" sz="1600" b="1" dirty="0">
                <a:solidFill>
                  <a:srgbClr val="211808"/>
                </a:solidFill>
                <a:latin typeface="CourierStd-Bold"/>
              </a:rPr>
              <a:t>(</a:t>
            </a:r>
            <a:r>
              <a:rPr lang="en-US" sz="1600" b="1" dirty="0">
                <a:solidFill>
                  <a:srgbClr val="00B0F0"/>
                </a:solidFill>
                <a:latin typeface="CourierStd-Bold"/>
              </a:rPr>
              <a:t>int</a:t>
            </a:r>
            <a:r>
              <a:rPr lang="en-US" sz="1600" b="1" dirty="0">
                <a:solidFill>
                  <a:srgbClr val="211808"/>
                </a:solidFill>
                <a:latin typeface="CourierStd-Bold"/>
              </a:rPr>
              <a:t>&amp; x, </a:t>
            </a:r>
            <a:r>
              <a:rPr lang="en-US" sz="1600" b="1" dirty="0">
                <a:solidFill>
                  <a:srgbClr val="00B0F0"/>
                </a:solidFill>
                <a:latin typeface="CourierStd-Bold"/>
              </a:rPr>
              <a:t>int</a:t>
            </a:r>
            <a:r>
              <a:rPr lang="en-US" sz="1600" b="1" dirty="0">
                <a:solidFill>
                  <a:srgbClr val="6A8899"/>
                </a:solidFill>
                <a:latin typeface="CourierStd-Bold"/>
              </a:rPr>
              <a:t> </a:t>
            </a:r>
            <a:r>
              <a:rPr lang="en-US" sz="1600" b="1" dirty="0">
                <a:solidFill>
                  <a:srgbClr val="211808"/>
                </a:solidFill>
                <a:latin typeface="CourierStd-Bold"/>
              </a:rPr>
              <a:t>y, </a:t>
            </a:r>
            <a:r>
              <a:rPr lang="en-US" sz="1600" b="1" dirty="0">
                <a:solidFill>
                  <a:srgbClr val="00B0F0"/>
                </a:solidFill>
                <a:latin typeface="CourierStd-Bold"/>
              </a:rPr>
              <a:t>char</a:t>
            </a:r>
            <a:r>
              <a:rPr lang="en-US" sz="1600" b="1" dirty="0">
                <a:solidFill>
                  <a:srgbClr val="211808"/>
                </a:solidFill>
                <a:latin typeface="CourierStd-Bold"/>
              </a:rPr>
              <a:t>&amp; w)</a:t>
            </a:r>
            <a:endParaRPr lang="en-US" sz="1600" b="1" dirty="0">
              <a:solidFill>
                <a:srgbClr val="0DD767"/>
              </a:solidFill>
              <a:latin typeface="CourierStd-Bold"/>
            </a:endParaRPr>
          </a:p>
          <a:p>
            <a:pPr algn="l"/>
            <a:r>
              <a:rPr lang="en-ZA" sz="1600" b="1" dirty="0">
                <a:solidFill>
                  <a:srgbClr val="211808"/>
                </a:solidFill>
                <a:latin typeface="CourierStd-Bold"/>
              </a:rPr>
              <a:t>{</a:t>
            </a:r>
            <a:endParaRPr lang="en-ZA" sz="1600" b="1" dirty="0">
              <a:solidFill>
                <a:srgbClr val="0DD767"/>
              </a:solidFill>
              <a:latin typeface="CourierStd-Bold"/>
            </a:endParaRPr>
          </a:p>
          <a:p>
            <a:pPr lvl="1" algn="l"/>
            <a:r>
              <a:rPr lang="en-ZA" sz="1600" b="1" dirty="0">
                <a:solidFill>
                  <a:srgbClr val="211808"/>
                </a:solidFill>
                <a:latin typeface="CourierStd-Bold"/>
              </a:rPr>
              <a:t>x++; </a:t>
            </a:r>
            <a:r>
              <a:rPr lang="es-ES" sz="1600" b="1" dirty="0">
                <a:solidFill>
                  <a:srgbClr val="211808"/>
                </a:solidFill>
                <a:latin typeface="CourierStd-Bold"/>
              </a:rPr>
              <a:t>y = y * 2; </a:t>
            </a:r>
            <a:r>
              <a:rPr lang="en-ZA" sz="1600" b="1" dirty="0">
                <a:solidFill>
                  <a:srgbClr val="211808"/>
                </a:solidFill>
                <a:latin typeface="CourierStd-Bold"/>
              </a:rPr>
              <a:t>w = 'G';</a:t>
            </a:r>
            <a:endParaRPr lang="en-ZA" sz="1600" b="1" dirty="0">
              <a:solidFill>
                <a:srgbClr val="0DD767"/>
              </a:solidFill>
              <a:latin typeface="CourierStd-Bold"/>
            </a:endParaRPr>
          </a:p>
          <a:p>
            <a:pPr lvl="1" algn="l"/>
            <a:r>
              <a:rPr lang="en-US" sz="1600" b="1" dirty="0" err="1">
                <a:solidFill>
                  <a:srgbClr val="211808"/>
                </a:solidFill>
                <a:latin typeface="CourierStd-Bold"/>
              </a:rPr>
              <a:t>cout</a:t>
            </a:r>
            <a:r>
              <a:rPr lang="en-US" sz="1600" b="1" dirty="0">
                <a:solidFill>
                  <a:srgbClr val="211808"/>
                </a:solidFill>
                <a:latin typeface="CourierStd-Bold"/>
              </a:rPr>
              <a:t> &lt;&lt; "Inside </a:t>
            </a:r>
            <a:r>
              <a:rPr lang="en-US" sz="1600" b="1" dirty="0" err="1">
                <a:solidFill>
                  <a:srgbClr val="211808"/>
                </a:solidFill>
                <a:latin typeface="CourierStd-Bold"/>
              </a:rPr>
              <a:t>funTwo</a:t>
            </a:r>
            <a:r>
              <a:rPr lang="en-US" sz="1600" b="1" dirty="0">
                <a:solidFill>
                  <a:srgbClr val="211808"/>
                </a:solidFill>
                <a:latin typeface="CourierStd-Bold"/>
              </a:rPr>
              <a:t>: x = " &lt;&lt; x</a:t>
            </a:r>
          </a:p>
          <a:p>
            <a:pPr lvl="1" algn="l"/>
            <a:r>
              <a:rPr lang="en-ZA" sz="1600" b="1" dirty="0">
                <a:solidFill>
                  <a:srgbClr val="211808"/>
                </a:solidFill>
                <a:latin typeface="CourierStd-Bold"/>
              </a:rPr>
              <a:t>&lt;&lt; ", y = " &lt;&lt; y &lt;&lt; ", and w = " &lt;&lt; w</a:t>
            </a:r>
          </a:p>
          <a:p>
            <a:pPr lvl="1" algn="l"/>
            <a:r>
              <a:rPr lang="en-ZA" sz="1600" b="1" dirty="0">
                <a:solidFill>
                  <a:srgbClr val="211808"/>
                </a:solidFill>
                <a:latin typeface="CourierStd-Bold"/>
              </a:rPr>
              <a:t>&lt;&lt; </a:t>
            </a:r>
            <a:r>
              <a:rPr lang="en-ZA" sz="1600" b="1" dirty="0" err="1">
                <a:solidFill>
                  <a:srgbClr val="211808"/>
                </a:solidFill>
                <a:latin typeface="CourierStd-Bold"/>
              </a:rPr>
              <a:t>endl</a:t>
            </a:r>
            <a:r>
              <a:rPr lang="en-ZA" sz="1600" b="1" dirty="0">
                <a:solidFill>
                  <a:srgbClr val="211808"/>
                </a:solidFill>
                <a:latin typeface="CourierStd-Bold"/>
              </a:rPr>
              <a:t>;</a:t>
            </a:r>
            <a:endParaRPr lang="en-ZA" sz="1600" b="1" dirty="0">
              <a:solidFill>
                <a:srgbClr val="0DD767"/>
              </a:solidFill>
              <a:latin typeface="CourierStd-Bold"/>
            </a:endParaRPr>
          </a:p>
          <a:p>
            <a:pPr algn="l"/>
            <a:r>
              <a:rPr lang="en-ZA" sz="1600" b="1" dirty="0">
                <a:solidFill>
                  <a:srgbClr val="211808"/>
                </a:solidFill>
                <a:latin typeface="CourierStd-Bold"/>
              </a:rPr>
              <a:t>}</a:t>
            </a:r>
          </a:p>
        </p:txBody>
      </p:sp>
    </p:spTree>
    <p:extLst>
      <p:ext uri="{BB962C8B-B14F-4D97-AF65-F5344CB8AC3E}">
        <p14:creationId xmlns:p14="http://schemas.microsoft.com/office/powerpoint/2010/main" val="3435966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DF695-3AAA-422A-ABD8-2575756130E8}"/>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EB339884-ED14-D3D5-855B-2A9990F45A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3CA1628E-DCF5-5335-35D0-E551B22BC7FE}"/>
              </a:ext>
            </a:extLst>
          </p:cNvPr>
          <p:cNvSpPr txBox="1"/>
          <p:nvPr/>
        </p:nvSpPr>
        <p:spPr>
          <a:xfrm>
            <a:off x="0" y="65927"/>
            <a:ext cx="6858000" cy="646331"/>
          </a:xfrm>
          <a:prstGeom prst="rect">
            <a:avLst/>
          </a:prstGeom>
          <a:noFill/>
        </p:spPr>
        <p:txBody>
          <a:bodyPr wrap="square" rtlCol="0">
            <a:spAutoFit/>
          </a:bodyPr>
          <a:lstStyle/>
          <a:p>
            <a:r>
              <a:rPr lang="en-US" sz="3600" b="1" dirty="0"/>
              <a:t>Call-by-Reference Parameters</a:t>
            </a:r>
          </a:p>
        </p:txBody>
      </p:sp>
      <p:sp>
        <p:nvSpPr>
          <p:cNvPr id="2" name="Content Placeholder 2">
            <a:extLst>
              <a:ext uri="{FF2B5EF4-FFF2-40B4-BE49-F238E27FC236}">
                <a16:creationId xmlns:a16="http://schemas.microsoft.com/office/drawing/2014/main" id="{6AFAB07A-300D-98E8-4EC5-3B8FAD6AAAB5}"/>
              </a:ext>
            </a:extLst>
          </p:cNvPr>
          <p:cNvSpPr txBox="1">
            <a:spLocks/>
          </p:cNvSpPr>
          <p:nvPr/>
        </p:nvSpPr>
        <p:spPr>
          <a:xfrm>
            <a:off x="0" y="1215190"/>
            <a:ext cx="6857999" cy="869081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ZA" sz="1500" b="1" i="0" u="none" strike="noStrike" baseline="0" dirty="0">
                <a:solidFill>
                  <a:srgbClr val="00B0F0"/>
                </a:solidFill>
                <a:latin typeface="CourierStd-Bold"/>
              </a:rPr>
              <a:t>int</a:t>
            </a:r>
            <a:r>
              <a:rPr lang="en-ZA" sz="1500" b="1" i="0" u="none" strike="noStrike" baseline="0" dirty="0">
                <a:solidFill>
                  <a:srgbClr val="6A8899"/>
                </a:solidFill>
                <a:latin typeface="CourierStd-Bold"/>
              </a:rPr>
              <a:t> </a:t>
            </a:r>
            <a:r>
              <a:rPr lang="en-ZA" sz="1500" b="1" i="0" u="none" strike="noStrike" baseline="0" dirty="0">
                <a:solidFill>
                  <a:srgbClr val="211808"/>
                </a:solidFill>
                <a:latin typeface="CourierStd-Bold"/>
              </a:rPr>
              <a:t>main()</a:t>
            </a:r>
            <a:endParaRPr lang="en-ZA" sz="1500" b="1" i="0" u="none" strike="noStrike" baseline="0" dirty="0">
              <a:solidFill>
                <a:srgbClr val="0DD767"/>
              </a:solidFill>
              <a:latin typeface="CourierStd-Bold"/>
            </a:endParaRPr>
          </a:p>
          <a:p>
            <a:pPr algn="l"/>
            <a:r>
              <a:rPr lang="en-ZA" sz="1500" b="1" i="0" u="none" strike="noStrike" baseline="0" dirty="0">
                <a:solidFill>
                  <a:srgbClr val="211808"/>
                </a:solidFill>
                <a:latin typeface="CourierStd-Bold"/>
              </a:rPr>
              <a:t>{</a:t>
            </a:r>
            <a:endParaRPr lang="en-ZA" sz="1500" b="1" i="0" u="none" strike="noStrike" baseline="0" dirty="0">
              <a:solidFill>
                <a:srgbClr val="0DD767"/>
              </a:solidFill>
              <a:latin typeface="CourierStd-Bold"/>
            </a:endParaRPr>
          </a:p>
          <a:p>
            <a:pPr lvl="1" algn="l"/>
            <a:r>
              <a:rPr lang="pt-BR" b="1" i="0" u="none" strike="noStrike" baseline="0" dirty="0">
                <a:solidFill>
                  <a:srgbClr val="00B0F0"/>
                </a:solidFill>
                <a:latin typeface="CourierStd-Bold"/>
              </a:rPr>
              <a:t>int</a:t>
            </a:r>
            <a:r>
              <a:rPr lang="pt-BR" b="1" i="0" u="none" strike="noStrike" baseline="0" dirty="0">
                <a:solidFill>
                  <a:srgbClr val="6A8899"/>
                </a:solidFill>
                <a:latin typeface="CourierStd-Bold"/>
              </a:rPr>
              <a:t> </a:t>
            </a:r>
            <a:r>
              <a:rPr lang="pt-BR" b="1" i="0" u="none" strike="noStrike" baseline="0" dirty="0">
                <a:solidFill>
                  <a:srgbClr val="211808"/>
                </a:solidFill>
                <a:latin typeface="CourierStd-Bold"/>
              </a:rPr>
              <a:t>num1, num2; </a:t>
            </a:r>
            <a:r>
              <a:rPr lang="en-ZA" b="1" i="0" u="none" strike="noStrike" baseline="0" dirty="0">
                <a:solidFill>
                  <a:srgbClr val="00B0F0"/>
                </a:solidFill>
                <a:latin typeface="CourierStd-Bold"/>
              </a:rPr>
              <a:t>char</a:t>
            </a:r>
            <a:r>
              <a:rPr lang="en-ZA" b="1" i="0" u="none" strike="noStrike" baseline="0" dirty="0">
                <a:solidFill>
                  <a:srgbClr val="6A8899"/>
                </a:solidFill>
                <a:latin typeface="CourierStd-Bold"/>
              </a:rPr>
              <a:t> </a:t>
            </a:r>
            <a:r>
              <a:rPr lang="en-ZA" b="1" i="0" u="none" strike="noStrike" baseline="0" dirty="0" err="1">
                <a:solidFill>
                  <a:srgbClr val="211808"/>
                </a:solidFill>
                <a:latin typeface="CourierStd-Bold"/>
              </a:rPr>
              <a:t>ch</a:t>
            </a:r>
            <a:r>
              <a:rPr lang="en-ZA" b="1" i="0" u="none" strike="noStrike" baseline="0" dirty="0">
                <a:solidFill>
                  <a:srgbClr val="211808"/>
                </a:solidFill>
                <a:latin typeface="CourierStd-Bold"/>
              </a:rPr>
              <a:t>;</a:t>
            </a:r>
            <a:endParaRPr lang="en-ZA" b="1" i="0" u="none" strike="noStrike" baseline="0" dirty="0">
              <a:solidFill>
                <a:srgbClr val="0DD767"/>
              </a:solidFill>
              <a:latin typeface="CourierStd-Bold"/>
            </a:endParaRPr>
          </a:p>
          <a:p>
            <a:pPr lvl="1" algn="l"/>
            <a:r>
              <a:rPr lang="en-ZA" b="1" i="0" u="none" strike="noStrike" baseline="0" dirty="0">
                <a:solidFill>
                  <a:srgbClr val="211808"/>
                </a:solidFill>
                <a:latin typeface="CourierStd-Bold"/>
              </a:rPr>
              <a:t>num1 = 10;</a:t>
            </a:r>
            <a:endParaRPr lang="en-ZA" b="1" i="0" u="none" strike="noStrike" baseline="0" dirty="0">
              <a:solidFill>
                <a:srgbClr val="0DD767"/>
              </a:solidFill>
              <a:latin typeface="CourierStd-Bold"/>
            </a:endParaRPr>
          </a:p>
          <a:p>
            <a:pPr lvl="1" algn="l"/>
            <a:r>
              <a:rPr lang="en-ZA" b="1" i="0" u="none" strike="noStrike" baseline="0" dirty="0">
                <a:solidFill>
                  <a:srgbClr val="211808"/>
                </a:solidFill>
                <a:latin typeface="CourierStd-Bold"/>
              </a:rPr>
              <a:t>num2 = 15;</a:t>
            </a:r>
            <a:endParaRPr lang="en-ZA" b="1" i="0" u="none" strike="noStrike" baseline="0" dirty="0">
              <a:solidFill>
                <a:srgbClr val="0DD767"/>
              </a:solidFill>
              <a:latin typeface="CourierStd-Bold"/>
            </a:endParaRPr>
          </a:p>
          <a:p>
            <a:pPr lvl="1" algn="l"/>
            <a:r>
              <a:rPr lang="en-ZA" b="1" i="0" u="none" strike="noStrike" baseline="0" dirty="0" err="1">
                <a:solidFill>
                  <a:srgbClr val="211808"/>
                </a:solidFill>
                <a:latin typeface="CourierStd-Bold"/>
              </a:rPr>
              <a:t>ch</a:t>
            </a:r>
            <a:r>
              <a:rPr lang="en-ZA" b="1" i="0" u="none" strike="noStrike" baseline="0" dirty="0">
                <a:solidFill>
                  <a:srgbClr val="211808"/>
                </a:solidFill>
                <a:latin typeface="CourierStd-Bold"/>
              </a:rPr>
              <a:t> = ‘A’;</a:t>
            </a:r>
          </a:p>
          <a:p>
            <a:pPr lvl="1" algn="l"/>
            <a:endParaRPr lang="en-ZA" b="1" i="0" u="none" strike="noStrike" baseline="0" dirty="0">
              <a:solidFill>
                <a:srgbClr val="211808"/>
              </a:solidFill>
              <a:latin typeface="CourierStd-Bold"/>
            </a:endParaRPr>
          </a:p>
          <a:p>
            <a:pPr lvl="1" algn="l"/>
            <a:r>
              <a:rPr lang="en-ZA" b="1" i="0" u="none" strike="noStrike" baseline="0" dirty="0" err="1">
                <a:solidFill>
                  <a:srgbClr val="211808"/>
                </a:solidFill>
                <a:latin typeface="CourierStd-Bold"/>
              </a:rPr>
              <a:t>cout</a:t>
            </a:r>
            <a:r>
              <a:rPr lang="en-ZA" b="1" i="0" u="none" strike="noStrike" baseline="0" dirty="0">
                <a:solidFill>
                  <a:srgbClr val="211808"/>
                </a:solidFill>
                <a:latin typeface="CourierStd-Bold"/>
              </a:rPr>
              <a:t> &lt;&lt; "Inside main: num1 = " &lt;&lt; num1</a:t>
            </a:r>
          </a:p>
          <a:p>
            <a:pPr lvl="1" algn="l"/>
            <a:r>
              <a:rPr lang="en-ZA" b="1" i="0" u="none" strike="noStrike" baseline="0" dirty="0">
                <a:solidFill>
                  <a:srgbClr val="211808"/>
                </a:solidFill>
                <a:latin typeface="CourierStd-Bold"/>
              </a:rPr>
              <a:t>&lt;&lt; ", num2 = " &lt;&lt; num2 &lt;&lt; ", and </a:t>
            </a:r>
            <a:r>
              <a:rPr lang="en-ZA" b="1" i="0" u="none" strike="noStrike" baseline="0" dirty="0" err="1">
                <a:solidFill>
                  <a:srgbClr val="211808"/>
                </a:solidFill>
                <a:latin typeface="CourierStd-Bold"/>
              </a:rPr>
              <a:t>ch</a:t>
            </a:r>
            <a:r>
              <a:rPr lang="en-ZA" b="1" i="0" u="none" strike="noStrike" baseline="0" dirty="0">
                <a:solidFill>
                  <a:srgbClr val="211808"/>
                </a:solidFill>
                <a:latin typeface="CourierStd-Bold"/>
              </a:rPr>
              <a:t> = "</a:t>
            </a:r>
          </a:p>
          <a:p>
            <a:pPr lvl="1" algn="l"/>
            <a:r>
              <a:rPr lang="en-ZA" b="1" i="0" u="none" strike="noStrike" baseline="0" dirty="0">
                <a:solidFill>
                  <a:srgbClr val="211808"/>
                </a:solidFill>
                <a:latin typeface="CourierStd-Bold"/>
              </a:rPr>
              <a:t>&lt;&lt; </a:t>
            </a:r>
            <a:r>
              <a:rPr lang="en-ZA" b="1" i="0" u="none" strike="noStrike" baseline="0" dirty="0" err="1">
                <a:solidFill>
                  <a:srgbClr val="211808"/>
                </a:solidFill>
                <a:latin typeface="CourierStd-Bold"/>
              </a:rPr>
              <a:t>ch</a:t>
            </a:r>
            <a:r>
              <a:rPr lang="en-ZA" b="1" i="0" u="none" strike="noStrike" baseline="0" dirty="0">
                <a:solidFill>
                  <a:srgbClr val="211808"/>
                </a:solidFill>
                <a:latin typeface="CourierStd-Bold"/>
              </a:rPr>
              <a:t> &lt;&lt; </a:t>
            </a:r>
            <a:r>
              <a:rPr lang="en-ZA" b="1" i="0" u="none" strike="noStrike" baseline="0" dirty="0" err="1">
                <a:solidFill>
                  <a:srgbClr val="211808"/>
                </a:solidFill>
                <a:latin typeface="CourierStd-Bold"/>
              </a:rPr>
              <a:t>endl</a:t>
            </a:r>
            <a:r>
              <a:rPr lang="en-ZA" b="1" i="0" u="none" strike="noStrike" baseline="0" dirty="0">
                <a:solidFill>
                  <a:srgbClr val="211808"/>
                </a:solidFill>
                <a:latin typeface="CourierStd-Bold"/>
              </a:rPr>
              <a:t>;</a:t>
            </a:r>
            <a:endParaRPr lang="en-ZA" b="1" i="0" u="none" strike="noStrike" baseline="0" dirty="0">
              <a:solidFill>
                <a:srgbClr val="0DD767"/>
              </a:solidFill>
              <a:latin typeface="CourierStd-Bold"/>
            </a:endParaRPr>
          </a:p>
          <a:p>
            <a:pPr lvl="1" algn="l"/>
            <a:r>
              <a:rPr lang="pt-BR" b="1" i="0" u="none" strike="noStrike" baseline="0" dirty="0">
                <a:solidFill>
                  <a:srgbClr val="211808"/>
                </a:solidFill>
                <a:latin typeface="CourierStd-Bold"/>
              </a:rPr>
              <a:t>funOne(num1, num2, ch); </a:t>
            </a:r>
            <a:r>
              <a:rPr lang="pt-BR" b="1" i="0" u="none" strike="noStrike" baseline="0" dirty="0">
                <a:solidFill>
                  <a:srgbClr val="00B050"/>
                </a:solidFill>
                <a:latin typeface="CourierStd-Bold"/>
              </a:rPr>
              <a:t>// call funOne</a:t>
            </a:r>
          </a:p>
          <a:p>
            <a:pPr lvl="1" algn="l"/>
            <a:endParaRPr lang="pt-BR" b="1" i="0" u="none" strike="noStrike" baseline="0" dirty="0">
              <a:solidFill>
                <a:srgbClr val="0DD767"/>
              </a:solidFill>
              <a:latin typeface="CourierStd-Bold"/>
            </a:endParaRPr>
          </a:p>
          <a:p>
            <a:pPr lvl="1" algn="l"/>
            <a:r>
              <a:rPr lang="en-US" b="1" i="0" u="none" strike="noStrike" baseline="0" dirty="0" err="1">
                <a:solidFill>
                  <a:srgbClr val="211808"/>
                </a:solidFill>
                <a:latin typeface="CourierStd-Bold"/>
              </a:rPr>
              <a:t>cout</a:t>
            </a:r>
            <a:r>
              <a:rPr lang="en-US" b="1" i="0" u="none" strike="noStrike" baseline="0" dirty="0">
                <a:solidFill>
                  <a:srgbClr val="211808"/>
                </a:solidFill>
                <a:latin typeface="CourierStd-Bold"/>
              </a:rPr>
              <a:t> &lt;&lt; "After </a:t>
            </a:r>
            <a:r>
              <a:rPr lang="en-US" b="1" i="0" u="none" strike="noStrike" baseline="0" dirty="0" err="1">
                <a:solidFill>
                  <a:srgbClr val="211808"/>
                </a:solidFill>
                <a:latin typeface="CourierStd-Bold"/>
              </a:rPr>
              <a:t>funOne</a:t>
            </a:r>
            <a:r>
              <a:rPr lang="en-US" b="1" i="0" u="none" strike="noStrike" baseline="0" dirty="0">
                <a:solidFill>
                  <a:srgbClr val="211808"/>
                </a:solidFill>
                <a:latin typeface="CourierStd-Bold"/>
              </a:rPr>
              <a:t>: num1 = " &lt;&lt; num1</a:t>
            </a:r>
          </a:p>
          <a:p>
            <a:pPr lvl="1" algn="l"/>
            <a:r>
              <a:rPr lang="en-ZA" b="1" i="0" u="none" strike="noStrike" baseline="0" dirty="0">
                <a:solidFill>
                  <a:srgbClr val="211808"/>
                </a:solidFill>
                <a:latin typeface="CourierStd-Bold"/>
              </a:rPr>
              <a:t>&lt;&lt; ", num2 = " &lt;&lt; num2 &lt;&lt; ", and </a:t>
            </a:r>
            <a:r>
              <a:rPr lang="en-ZA" b="1" i="0" u="none" strike="noStrike" baseline="0" dirty="0" err="1">
                <a:solidFill>
                  <a:srgbClr val="211808"/>
                </a:solidFill>
                <a:latin typeface="CourierStd-Bold"/>
              </a:rPr>
              <a:t>ch</a:t>
            </a:r>
            <a:r>
              <a:rPr lang="en-ZA" b="1" i="0" u="none" strike="noStrike" baseline="0" dirty="0">
                <a:solidFill>
                  <a:srgbClr val="211808"/>
                </a:solidFill>
                <a:latin typeface="CourierStd-Bold"/>
              </a:rPr>
              <a:t> = "</a:t>
            </a:r>
          </a:p>
          <a:p>
            <a:pPr lvl="1" algn="l"/>
            <a:r>
              <a:rPr lang="en-ZA" b="1" i="0" u="none" strike="noStrike" baseline="0" dirty="0">
                <a:solidFill>
                  <a:srgbClr val="211808"/>
                </a:solidFill>
                <a:latin typeface="CourierStd-Bold"/>
              </a:rPr>
              <a:t>&lt;&lt; </a:t>
            </a:r>
            <a:r>
              <a:rPr lang="en-ZA" b="1" i="0" u="none" strike="noStrike" baseline="0" dirty="0" err="1">
                <a:solidFill>
                  <a:srgbClr val="211808"/>
                </a:solidFill>
                <a:latin typeface="CourierStd-Bold"/>
              </a:rPr>
              <a:t>ch</a:t>
            </a:r>
            <a:r>
              <a:rPr lang="en-ZA" b="1" i="0" u="none" strike="noStrike" baseline="0" dirty="0">
                <a:solidFill>
                  <a:srgbClr val="211808"/>
                </a:solidFill>
                <a:latin typeface="CourierStd-Bold"/>
              </a:rPr>
              <a:t> &lt;&lt; </a:t>
            </a:r>
            <a:r>
              <a:rPr lang="en-ZA" b="1" i="0" u="none" strike="noStrike" baseline="0" dirty="0" err="1">
                <a:solidFill>
                  <a:srgbClr val="211808"/>
                </a:solidFill>
                <a:latin typeface="CourierStd-Bold"/>
              </a:rPr>
              <a:t>endl</a:t>
            </a:r>
            <a:r>
              <a:rPr lang="en-ZA" b="1" i="0" u="none" strike="noStrike" baseline="0" dirty="0">
                <a:solidFill>
                  <a:srgbClr val="211808"/>
                </a:solidFill>
                <a:latin typeface="CourierStd-Bold"/>
              </a:rPr>
              <a:t>;</a:t>
            </a:r>
            <a:endParaRPr lang="en-ZA" b="1" i="0" u="none" strike="noStrike" baseline="0" dirty="0">
              <a:solidFill>
                <a:srgbClr val="0DD767"/>
              </a:solidFill>
              <a:latin typeface="CourierStd-Bold"/>
            </a:endParaRPr>
          </a:p>
          <a:p>
            <a:pPr lvl="1" algn="l"/>
            <a:r>
              <a:rPr lang="pt-BR" b="1" i="0" u="none" strike="noStrike" baseline="0" dirty="0">
                <a:solidFill>
                  <a:srgbClr val="211808"/>
                </a:solidFill>
                <a:latin typeface="CourierStd-Bold"/>
              </a:rPr>
              <a:t>funTwo(num2, 25, ch); </a:t>
            </a:r>
            <a:r>
              <a:rPr lang="pt-BR" b="1" dirty="0">
                <a:solidFill>
                  <a:srgbClr val="00B050"/>
                </a:solidFill>
                <a:latin typeface="CourierStd-Bold"/>
              </a:rPr>
              <a:t>// call funTwo</a:t>
            </a:r>
            <a:endParaRPr lang="pt-BR" b="1" i="0" u="none" strike="noStrike" baseline="0" dirty="0">
              <a:solidFill>
                <a:srgbClr val="211808"/>
              </a:solidFill>
              <a:latin typeface="CourierStd-Bold"/>
            </a:endParaRPr>
          </a:p>
          <a:p>
            <a:pPr lvl="1" algn="l"/>
            <a:endParaRPr lang="pt-BR" b="1" i="0" u="none" strike="noStrike" baseline="0" dirty="0">
              <a:solidFill>
                <a:srgbClr val="0DD767"/>
              </a:solidFill>
              <a:latin typeface="CourierStd-Bold"/>
            </a:endParaRPr>
          </a:p>
          <a:p>
            <a:pPr lvl="1" algn="l"/>
            <a:r>
              <a:rPr lang="en-US" b="1" i="0" u="none" strike="noStrike" baseline="0" dirty="0" err="1">
                <a:solidFill>
                  <a:srgbClr val="211808"/>
                </a:solidFill>
                <a:latin typeface="CourierStd-Bold"/>
              </a:rPr>
              <a:t>cout</a:t>
            </a:r>
            <a:r>
              <a:rPr lang="en-US" b="1" i="0" u="none" strike="noStrike" baseline="0" dirty="0">
                <a:solidFill>
                  <a:srgbClr val="211808"/>
                </a:solidFill>
                <a:latin typeface="CourierStd-Bold"/>
              </a:rPr>
              <a:t> &lt;&lt; "After </a:t>
            </a:r>
            <a:r>
              <a:rPr lang="en-US" b="1" i="0" u="none" strike="noStrike" baseline="0" dirty="0" err="1">
                <a:solidFill>
                  <a:srgbClr val="211808"/>
                </a:solidFill>
                <a:latin typeface="CourierStd-Bold"/>
              </a:rPr>
              <a:t>funTwo</a:t>
            </a:r>
            <a:r>
              <a:rPr lang="en-US" b="1" i="0" u="none" strike="noStrike" baseline="0" dirty="0">
                <a:solidFill>
                  <a:srgbClr val="211808"/>
                </a:solidFill>
                <a:latin typeface="CourierStd-Bold"/>
              </a:rPr>
              <a:t>: num1 = " &lt;&lt; num1</a:t>
            </a:r>
          </a:p>
          <a:p>
            <a:pPr lvl="1" algn="l"/>
            <a:r>
              <a:rPr lang="en-ZA" b="1" i="0" u="none" strike="noStrike" baseline="0" dirty="0">
                <a:solidFill>
                  <a:srgbClr val="211808"/>
                </a:solidFill>
                <a:latin typeface="CourierStd-Bold"/>
              </a:rPr>
              <a:t>&lt;&lt; ", num2 = " &lt;&lt; num2 &lt;&lt; ", and </a:t>
            </a:r>
            <a:r>
              <a:rPr lang="en-ZA" b="1" i="0" u="none" strike="noStrike" baseline="0" dirty="0" err="1">
                <a:solidFill>
                  <a:srgbClr val="211808"/>
                </a:solidFill>
                <a:latin typeface="CourierStd-Bold"/>
              </a:rPr>
              <a:t>ch</a:t>
            </a:r>
            <a:r>
              <a:rPr lang="en-ZA" b="1" i="0" u="none" strike="noStrike" baseline="0" dirty="0">
                <a:solidFill>
                  <a:srgbClr val="211808"/>
                </a:solidFill>
                <a:latin typeface="CourierStd-Bold"/>
              </a:rPr>
              <a:t> = "</a:t>
            </a:r>
          </a:p>
          <a:p>
            <a:pPr lvl="1" algn="l"/>
            <a:r>
              <a:rPr lang="en-ZA" b="1" i="0" u="none" strike="noStrike" baseline="0" dirty="0">
                <a:solidFill>
                  <a:srgbClr val="211808"/>
                </a:solidFill>
                <a:latin typeface="CourierStd-Bold"/>
              </a:rPr>
              <a:t>&lt;&lt; </a:t>
            </a:r>
            <a:r>
              <a:rPr lang="en-ZA" b="1" i="0" u="none" strike="noStrike" baseline="0" dirty="0" err="1">
                <a:solidFill>
                  <a:srgbClr val="211808"/>
                </a:solidFill>
                <a:latin typeface="CourierStd-Bold"/>
              </a:rPr>
              <a:t>ch</a:t>
            </a:r>
            <a:r>
              <a:rPr lang="en-ZA" b="1" i="0" u="none" strike="noStrike" baseline="0" dirty="0">
                <a:solidFill>
                  <a:srgbClr val="211808"/>
                </a:solidFill>
                <a:latin typeface="CourierStd-Bold"/>
              </a:rPr>
              <a:t> &lt;&lt; </a:t>
            </a:r>
            <a:r>
              <a:rPr lang="en-ZA" b="1" i="0" u="none" strike="noStrike" baseline="0" dirty="0" err="1">
                <a:solidFill>
                  <a:srgbClr val="211808"/>
                </a:solidFill>
                <a:latin typeface="CourierStd-Bold"/>
              </a:rPr>
              <a:t>endl</a:t>
            </a:r>
            <a:r>
              <a:rPr lang="en-ZA" b="1" i="0" u="none" strike="noStrike" baseline="0" dirty="0">
                <a:solidFill>
                  <a:srgbClr val="211808"/>
                </a:solidFill>
                <a:latin typeface="CourierStd-Bold"/>
              </a:rPr>
              <a:t>;</a:t>
            </a:r>
          </a:p>
          <a:p>
            <a:pPr lvl="1" algn="l"/>
            <a:endParaRPr lang="en-ZA" b="1" i="0" u="none" strike="noStrike" baseline="0" dirty="0">
              <a:solidFill>
                <a:srgbClr val="0DD767"/>
              </a:solidFill>
              <a:latin typeface="CourierStd-Bold"/>
            </a:endParaRPr>
          </a:p>
          <a:p>
            <a:pPr lvl="1" algn="l"/>
            <a:r>
              <a:rPr lang="en-ZA" b="1" i="0" u="none" strike="noStrike" baseline="0" dirty="0">
                <a:solidFill>
                  <a:srgbClr val="00B0F0"/>
                </a:solidFill>
                <a:latin typeface="CourierStd-Bold"/>
              </a:rPr>
              <a:t>return</a:t>
            </a:r>
            <a:r>
              <a:rPr lang="en-ZA" b="1" i="0" u="none" strike="noStrike" baseline="0" dirty="0">
                <a:solidFill>
                  <a:srgbClr val="6A8899"/>
                </a:solidFill>
                <a:latin typeface="CourierStd-Bold"/>
              </a:rPr>
              <a:t> </a:t>
            </a:r>
            <a:r>
              <a:rPr lang="en-ZA" b="1" i="0" u="none" strike="noStrike" baseline="0" dirty="0">
                <a:solidFill>
                  <a:srgbClr val="211808"/>
                </a:solidFill>
                <a:latin typeface="CourierStd-Bold"/>
              </a:rPr>
              <a:t>0;</a:t>
            </a:r>
            <a:endParaRPr lang="en-ZA" b="1" i="0" u="none" strike="noStrike" baseline="0" dirty="0">
              <a:solidFill>
                <a:srgbClr val="0DD767"/>
              </a:solidFill>
              <a:latin typeface="CourierStd-Bold"/>
            </a:endParaRPr>
          </a:p>
          <a:p>
            <a:pPr algn="l"/>
            <a:r>
              <a:rPr lang="en-ZA" sz="1500" b="1" i="0" u="none" strike="noStrike" baseline="0" dirty="0">
                <a:solidFill>
                  <a:srgbClr val="211808"/>
                </a:solidFill>
                <a:latin typeface="CourierStd-Bold"/>
              </a:rPr>
              <a:t>}</a:t>
            </a:r>
          </a:p>
          <a:p>
            <a:pPr algn="l"/>
            <a:endParaRPr lang="en-US" sz="1600" b="1" i="0" u="none" strike="noStrike" baseline="0" dirty="0">
              <a:solidFill>
                <a:srgbClr val="211808"/>
              </a:solidFill>
              <a:latin typeface="CourierStd-Bold"/>
            </a:endParaRPr>
          </a:p>
          <a:p>
            <a:pPr algn="l"/>
            <a:r>
              <a:rPr lang="en-US" sz="1600" b="1" i="0" u="none" strike="noStrike" baseline="0" dirty="0">
                <a:solidFill>
                  <a:srgbClr val="211808"/>
                </a:solidFill>
                <a:latin typeface="CourierStd-Bold"/>
              </a:rPr>
              <a:t>Inside main: num1 = </a:t>
            </a:r>
            <a:r>
              <a:rPr lang="en-US" sz="1600" b="1" dirty="0">
                <a:solidFill>
                  <a:schemeClr val="accent2">
                    <a:lumMod val="75000"/>
                  </a:schemeClr>
                </a:solidFill>
                <a:latin typeface="CourierStd-Bold"/>
              </a:rPr>
              <a:t>10</a:t>
            </a:r>
            <a:r>
              <a:rPr lang="en-US" sz="1600" b="1" i="0" u="none" strike="noStrike" baseline="0" dirty="0">
                <a:solidFill>
                  <a:srgbClr val="211808"/>
                </a:solidFill>
                <a:latin typeface="CourierStd-Bold"/>
              </a:rPr>
              <a:t>, num2 = </a:t>
            </a:r>
            <a:r>
              <a:rPr lang="en-US" sz="1600" b="1" dirty="0">
                <a:solidFill>
                  <a:schemeClr val="accent2">
                    <a:lumMod val="75000"/>
                  </a:schemeClr>
                </a:solidFill>
                <a:latin typeface="CourierStd-Bold"/>
              </a:rPr>
              <a:t>15</a:t>
            </a:r>
            <a:r>
              <a:rPr lang="en-US" sz="1600" b="1" i="0" u="none" strike="noStrike" baseline="0" dirty="0">
                <a:solidFill>
                  <a:srgbClr val="211808"/>
                </a:solidFill>
                <a:latin typeface="CourierStd-Bold"/>
              </a:rPr>
              <a:t>, and </a:t>
            </a:r>
            <a:r>
              <a:rPr lang="en-US" sz="1600" b="1" i="0" u="none" strike="noStrike" baseline="0" dirty="0" err="1">
                <a:solidFill>
                  <a:srgbClr val="211808"/>
                </a:solidFill>
                <a:latin typeface="CourierStd-Bold"/>
              </a:rPr>
              <a:t>ch</a:t>
            </a:r>
            <a:r>
              <a:rPr lang="en-US" sz="1600" b="1" i="0" u="none" strike="noStrike" baseline="0" dirty="0">
                <a:solidFill>
                  <a:srgbClr val="211808"/>
                </a:solidFill>
                <a:latin typeface="CourierStd-Bold"/>
              </a:rPr>
              <a:t> = </a:t>
            </a:r>
            <a:r>
              <a:rPr lang="en-US" sz="1600" b="1" dirty="0">
                <a:solidFill>
                  <a:schemeClr val="accent2">
                    <a:lumMod val="75000"/>
                  </a:schemeClr>
                </a:solidFill>
                <a:latin typeface="CourierStd-Bold"/>
              </a:rPr>
              <a:t>A</a:t>
            </a:r>
          </a:p>
          <a:p>
            <a:pPr algn="l"/>
            <a:r>
              <a:rPr lang="en-US" sz="1600" b="1" i="0" u="none" strike="noStrike" baseline="0" dirty="0">
                <a:solidFill>
                  <a:srgbClr val="211808"/>
                </a:solidFill>
                <a:latin typeface="CourierStd-Bold"/>
              </a:rPr>
              <a:t>Inside </a:t>
            </a:r>
            <a:r>
              <a:rPr lang="en-US" sz="1600" b="1" i="0" u="none" strike="noStrike" baseline="0" dirty="0" err="1">
                <a:solidFill>
                  <a:srgbClr val="211808"/>
                </a:solidFill>
                <a:latin typeface="CourierStd-Bold"/>
              </a:rPr>
              <a:t>funOne</a:t>
            </a:r>
            <a:r>
              <a:rPr lang="en-US" sz="1600" b="1" i="0" u="none" strike="noStrike" baseline="0" dirty="0">
                <a:solidFill>
                  <a:srgbClr val="211808"/>
                </a:solidFill>
                <a:latin typeface="CourierStd-Bold"/>
              </a:rPr>
              <a:t>: a = </a:t>
            </a:r>
            <a:r>
              <a:rPr lang="en-US" sz="1600" b="1" dirty="0">
                <a:solidFill>
                  <a:schemeClr val="accent2">
                    <a:lumMod val="75000"/>
                  </a:schemeClr>
                </a:solidFill>
                <a:latin typeface="CourierStd-Bold"/>
              </a:rPr>
              <a:t>11</a:t>
            </a:r>
            <a:r>
              <a:rPr lang="en-US" sz="1600" b="1" i="0" u="none" strike="noStrike" baseline="0" dirty="0">
                <a:solidFill>
                  <a:srgbClr val="211808"/>
                </a:solidFill>
                <a:latin typeface="CourierStd-Bold"/>
              </a:rPr>
              <a:t>, b = </a:t>
            </a:r>
            <a:r>
              <a:rPr lang="en-US" sz="1600" b="1" dirty="0">
                <a:solidFill>
                  <a:schemeClr val="accent2">
                    <a:lumMod val="75000"/>
                  </a:schemeClr>
                </a:solidFill>
                <a:latin typeface="CourierStd-Bold"/>
              </a:rPr>
              <a:t>30</a:t>
            </a:r>
            <a:r>
              <a:rPr lang="en-US" sz="1600" b="1" i="0" u="none" strike="noStrike" baseline="0" dirty="0">
                <a:solidFill>
                  <a:srgbClr val="211808"/>
                </a:solidFill>
                <a:latin typeface="CourierStd-Bold"/>
              </a:rPr>
              <a:t>, v = </a:t>
            </a:r>
            <a:r>
              <a:rPr lang="en-US" sz="1600" b="1" dirty="0">
                <a:solidFill>
                  <a:schemeClr val="accent2">
                    <a:lumMod val="75000"/>
                  </a:schemeClr>
                </a:solidFill>
                <a:latin typeface="CourierStd-Bold"/>
              </a:rPr>
              <a:t>B</a:t>
            </a:r>
            <a:r>
              <a:rPr lang="en-US" sz="1600" b="1" i="0" u="none" strike="noStrike" baseline="0" dirty="0">
                <a:solidFill>
                  <a:srgbClr val="211808"/>
                </a:solidFill>
                <a:latin typeface="CourierStd-Bold"/>
              </a:rPr>
              <a:t>, and one = </a:t>
            </a:r>
            <a:r>
              <a:rPr lang="en-US" sz="1600" b="1" dirty="0">
                <a:solidFill>
                  <a:schemeClr val="accent2">
                    <a:lumMod val="75000"/>
                  </a:schemeClr>
                </a:solidFill>
                <a:latin typeface="CourierStd-Bold"/>
              </a:rPr>
              <a:t>10</a:t>
            </a:r>
          </a:p>
          <a:p>
            <a:pPr algn="l"/>
            <a:r>
              <a:rPr lang="en-US" sz="1600" b="1" i="0" u="none" strike="noStrike" baseline="0" dirty="0">
                <a:solidFill>
                  <a:srgbClr val="211808"/>
                </a:solidFill>
                <a:latin typeface="CourierStd-Bold"/>
              </a:rPr>
              <a:t>After </a:t>
            </a:r>
            <a:r>
              <a:rPr lang="en-US" sz="1600" b="1" i="0" u="none" strike="noStrike" baseline="0" dirty="0" err="1">
                <a:solidFill>
                  <a:srgbClr val="211808"/>
                </a:solidFill>
                <a:latin typeface="CourierStd-Bold"/>
              </a:rPr>
              <a:t>funOne</a:t>
            </a:r>
            <a:r>
              <a:rPr lang="en-US" sz="1600" b="1" i="0" u="none" strike="noStrike" baseline="0" dirty="0">
                <a:solidFill>
                  <a:srgbClr val="211808"/>
                </a:solidFill>
                <a:latin typeface="CourierStd-Bold"/>
              </a:rPr>
              <a:t>: num1 = </a:t>
            </a:r>
            <a:r>
              <a:rPr lang="en-US" sz="1600" b="1" dirty="0">
                <a:solidFill>
                  <a:schemeClr val="accent2">
                    <a:lumMod val="75000"/>
                  </a:schemeClr>
                </a:solidFill>
                <a:latin typeface="CourierStd-Bold"/>
              </a:rPr>
              <a:t>10</a:t>
            </a:r>
            <a:r>
              <a:rPr lang="en-US" sz="1600" b="1" i="0" u="none" strike="noStrike" baseline="0" dirty="0">
                <a:solidFill>
                  <a:srgbClr val="211808"/>
                </a:solidFill>
                <a:latin typeface="CourierStd-Bold"/>
              </a:rPr>
              <a:t>, num2 = </a:t>
            </a:r>
            <a:r>
              <a:rPr lang="en-US" sz="1600" b="1" dirty="0">
                <a:solidFill>
                  <a:schemeClr val="accent2">
                    <a:lumMod val="75000"/>
                  </a:schemeClr>
                </a:solidFill>
                <a:latin typeface="CourierStd-Bold"/>
              </a:rPr>
              <a:t>30</a:t>
            </a:r>
            <a:r>
              <a:rPr lang="en-US" sz="1600" b="1" i="0" u="none" strike="noStrike" baseline="0" dirty="0">
                <a:solidFill>
                  <a:srgbClr val="211808"/>
                </a:solidFill>
                <a:latin typeface="CourierStd-Bold"/>
              </a:rPr>
              <a:t>, and </a:t>
            </a:r>
            <a:r>
              <a:rPr lang="en-US" sz="1600" b="1" i="0" u="none" strike="noStrike" baseline="0" dirty="0" err="1">
                <a:solidFill>
                  <a:srgbClr val="211808"/>
                </a:solidFill>
                <a:latin typeface="CourierStd-Bold"/>
              </a:rPr>
              <a:t>ch</a:t>
            </a:r>
            <a:r>
              <a:rPr lang="en-US" sz="1600" b="1" i="0" u="none" strike="noStrike" baseline="0" dirty="0">
                <a:solidFill>
                  <a:srgbClr val="211808"/>
                </a:solidFill>
                <a:latin typeface="CourierStd-Bold"/>
              </a:rPr>
              <a:t> = </a:t>
            </a:r>
            <a:r>
              <a:rPr lang="en-US" sz="1600" b="1" dirty="0">
                <a:solidFill>
                  <a:schemeClr val="accent2">
                    <a:lumMod val="75000"/>
                  </a:schemeClr>
                </a:solidFill>
                <a:latin typeface="CourierStd-Bold"/>
              </a:rPr>
              <a:t>A</a:t>
            </a:r>
          </a:p>
          <a:p>
            <a:pPr algn="l"/>
            <a:r>
              <a:rPr lang="en-US" sz="1600" b="1" i="0" u="none" strike="noStrike" baseline="0" dirty="0">
                <a:solidFill>
                  <a:srgbClr val="211808"/>
                </a:solidFill>
                <a:latin typeface="CourierStd-Bold"/>
              </a:rPr>
              <a:t>Inside </a:t>
            </a:r>
            <a:r>
              <a:rPr lang="en-US" sz="1600" b="1" i="0" u="none" strike="noStrike" baseline="0" dirty="0" err="1">
                <a:solidFill>
                  <a:srgbClr val="211808"/>
                </a:solidFill>
                <a:latin typeface="CourierStd-Bold"/>
              </a:rPr>
              <a:t>funTwo</a:t>
            </a:r>
            <a:r>
              <a:rPr lang="en-US" sz="1600" b="1" i="0" u="none" strike="noStrike" baseline="0" dirty="0">
                <a:solidFill>
                  <a:srgbClr val="211808"/>
                </a:solidFill>
                <a:latin typeface="CourierStd-Bold"/>
              </a:rPr>
              <a:t>: x = </a:t>
            </a:r>
            <a:r>
              <a:rPr lang="en-US" sz="1600" b="1" dirty="0">
                <a:solidFill>
                  <a:schemeClr val="accent2">
                    <a:lumMod val="75000"/>
                  </a:schemeClr>
                </a:solidFill>
                <a:latin typeface="CourierStd-Bold"/>
              </a:rPr>
              <a:t>31</a:t>
            </a:r>
            <a:r>
              <a:rPr lang="en-US" sz="1600" b="1" i="0" u="none" strike="noStrike" baseline="0" dirty="0">
                <a:solidFill>
                  <a:srgbClr val="211808"/>
                </a:solidFill>
                <a:latin typeface="CourierStd-Bold"/>
              </a:rPr>
              <a:t>, y = </a:t>
            </a:r>
            <a:r>
              <a:rPr lang="en-US" sz="1600" b="1" dirty="0">
                <a:solidFill>
                  <a:schemeClr val="accent2">
                    <a:lumMod val="75000"/>
                  </a:schemeClr>
                </a:solidFill>
                <a:latin typeface="CourierStd-Bold"/>
              </a:rPr>
              <a:t>50</a:t>
            </a:r>
            <a:r>
              <a:rPr lang="en-US" sz="1600" b="1" i="0" u="none" strike="noStrike" baseline="0" dirty="0">
                <a:solidFill>
                  <a:srgbClr val="211808"/>
                </a:solidFill>
                <a:latin typeface="CourierStd-Bold"/>
              </a:rPr>
              <a:t>, and w = </a:t>
            </a:r>
            <a:r>
              <a:rPr lang="en-US" sz="1600" b="1" dirty="0">
                <a:solidFill>
                  <a:schemeClr val="accent2">
                    <a:lumMod val="75000"/>
                  </a:schemeClr>
                </a:solidFill>
                <a:latin typeface="CourierStd-Bold"/>
              </a:rPr>
              <a:t>G</a:t>
            </a:r>
          </a:p>
          <a:p>
            <a:pPr algn="l"/>
            <a:r>
              <a:rPr lang="en-US" sz="1600" b="1" i="0" u="none" strike="noStrike" baseline="0" dirty="0">
                <a:solidFill>
                  <a:srgbClr val="211808"/>
                </a:solidFill>
                <a:latin typeface="CourierStd-Bold"/>
              </a:rPr>
              <a:t>After </a:t>
            </a:r>
            <a:r>
              <a:rPr lang="en-US" sz="1600" b="1" i="0" u="none" strike="noStrike" baseline="0" dirty="0" err="1">
                <a:solidFill>
                  <a:srgbClr val="211808"/>
                </a:solidFill>
                <a:latin typeface="CourierStd-Bold"/>
              </a:rPr>
              <a:t>funTwo</a:t>
            </a:r>
            <a:r>
              <a:rPr lang="en-US" sz="1600" b="1" i="0" u="none" strike="noStrike" baseline="0" dirty="0">
                <a:solidFill>
                  <a:srgbClr val="211808"/>
                </a:solidFill>
                <a:latin typeface="CourierStd-Bold"/>
              </a:rPr>
              <a:t>: num1 = </a:t>
            </a:r>
            <a:r>
              <a:rPr lang="en-US" sz="1600" b="1" dirty="0">
                <a:solidFill>
                  <a:schemeClr val="accent2">
                    <a:lumMod val="75000"/>
                  </a:schemeClr>
                </a:solidFill>
                <a:latin typeface="CourierStd-Bold"/>
              </a:rPr>
              <a:t>10</a:t>
            </a:r>
            <a:r>
              <a:rPr lang="en-US" sz="1600" b="1" i="0" u="none" strike="noStrike" baseline="0" dirty="0">
                <a:solidFill>
                  <a:srgbClr val="211808"/>
                </a:solidFill>
                <a:latin typeface="CourierStd-Bold"/>
              </a:rPr>
              <a:t>, num2 = </a:t>
            </a:r>
            <a:r>
              <a:rPr lang="en-US" sz="1600" b="1" dirty="0">
                <a:solidFill>
                  <a:schemeClr val="accent2">
                    <a:lumMod val="75000"/>
                  </a:schemeClr>
                </a:solidFill>
                <a:latin typeface="CourierStd-Bold"/>
              </a:rPr>
              <a:t>31</a:t>
            </a:r>
            <a:r>
              <a:rPr lang="en-US" sz="1600" b="1" i="0" u="none" strike="noStrike" baseline="0" dirty="0">
                <a:solidFill>
                  <a:srgbClr val="211808"/>
                </a:solidFill>
                <a:latin typeface="CourierStd-Bold"/>
              </a:rPr>
              <a:t>, and </a:t>
            </a:r>
            <a:r>
              <a:rPr lang="en-US" sz="1600" b="1" i="0" u="none" strike="noStrike" baseline="0" dirty="0" err="1">
                <a:solidFill>
                  <a:srgbClr val="211808"/>
                </a:solidFill>
                <a:latin typeface="CourierStd-Bold"/>
              </a:rPr>
              <a:t>ch</a:t>
            </a:r>
            <a:r>
              <a:rPr lang="en-US" sz="1600" b="1" i="0" u="none" strike="noStrike" baseline="0" dirty="0">
                <a:solidFill>
                  <a:srgbClr val="211808"/>
                </a:solidFill>
                <a:latin typeface="CourierStd-Bold"/>
              </a:rPr>
              <a:t> = </a:t>
            </a:r>
            <a:r>
              <a:rPr lang="en-US" sz="1600" b="1" i="0" u="none" strike="noStrike" baseline="0" dirty="0">
                <a:solidFill>
                  <a:schemeClr val="accent2">
                    <a:lumMod val="75000"/>
                  </a:schemeClr>
                </a:solidFill>
                <a:latin typeface="CourierStd-Bold"/>
              </a:rPr>
              <a:t>G</a:t>
            </a:r>
            <a:endParaRPr lang="en-US" sz="1500" b="1" dirty="0">
              <a:solidFill>
                <a:schemeClr val="accent2">
                  <a:lumMod val="75000"/>
                </a:schemeClr>
              </a:solidFill>
            </a:endParaRPr>
          </a:p>
        </p:txBody>
      </p:sp>
    </p:spTree>
    <p:extLst>
      <p:ext uri="{BB962C8B-B14F-4D97-AF65-F5344CB8AC3E}">
        <p14:creationId xmlns:p14="http://schemas.microsoft.com/office/powerpoint/2010/main" val="18586663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D163D-1B5A-2191-C62D-99B1DF1EA90B}"/>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5551974D-20C9-CAA2-DB82-8C8650FDED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F7C0BE7B-B44F-2F46-AC0D-B53EF281A554}"/>
              </a:ext>
            </a:extLst>
          </p:cNvPr>
          <p:cNvSpPr txBox="1"/>
          <p:nvPr/>
        </p:nvSpPr>
        <p:spPr>
          <a:xfrm>
            <a:off x="0" y="65927"/>
            <a:ext cx="6858000" cy="646331"/>
          </a:xfrm>
          <a:prstGeom prst="rect">
            <a:avLst/>
          </a:prstGeom>
          <a:noFill/>
        </p:spPr>
        <p:txBody>
          <a:bodyPr wrap="square" rtlCol="0">
            <a:spAutoFit/>
          </a:bodyPr>
          <a:lstStyle/>
          <a:p>
            <a:r>
              <a:rPr lang="en-US" sz="3600" b="1" dirty="0"/>
              <a:t>Using Procedural Abstraction</a:t>
            </a:r>
          </a:p>
        </p:txBody>
      </p:sp>
      <p:sp>
        <p:nvSpPr>
          <p:cNvPr id="2" name="Content Placeholder 2">
            <a:extLst>
              <a:ext uri="{FF2B5EF4-FFF2-40B4-BE49-F238E27FC236}">
                <a16:creationId xmlns:a16="http://schemas.microsoft.com/office/drawing/2014/main" id="{B15AF448-ADAC-E420-7914-EDC3A7F68F11}"/>
              </a:ext>
            </a:extLst>
          </p:cNvPr>
          <p:cNvSpPr txBox="1">
            <a:spLocks/>
          </p:cNvSpPr>
          <p:nvPr/>
        </p:nvSpPr>
        <p:spPr>
          <a:xfrm>
            <a:off x="0" y="1215190"/>
            <a:ext cx="6857999" cy="8690810"/>
          </a:xfrm>
          <a:prstGeom prst="rect">
            <a:avLst/>
          </a:prstGeom>
        </p:spPr>
        <p:txBody>
          <a:bodyPr vert="horz" lIns="91440" tIns="45720" rIns="91440" bIns="4572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400" b="1" dirty="0"/>
              <a:t>Using Procedural Abstraction</a:t>
            </a:r>
          </a:p>
          <a:p>
            <a:pPr algn="l"/>
            <a:endParaRPr lang="en-US" sz="2400" b="1" dirty="0"/>
          </a:p>
          <a:p>
            <a:pPr algn="l"/>
            <a:r>
              <a:rPr lang="en-ZA" sz="2400" b="1" dirty="0"/>
              <a:t>Functions Calling Functions</a:t>
            </a:r>
          </a:p>
          <a:p>
            <a:pPr algn="l"/>
            <a:endParaRPr lang="en-ZA" sz="2400" b="1" dirty="0"/>
          </a:p>
          <a:p>
            <a:pPr algn="l"/>
            <a:r>
              <a:rPr lang="en-US" sz="2400" dirty="0"/>
              <a:t>A function body may contain a call to another function. The situation for these sorts of function calls is exactly the same as it would be if the function call had occurred in the main function of the program.</a:t>
            </a:r>
            <a:endParaRPr lang="en-US" sz="2400" b="1" dirty="0"/>
          </a:p>
          <a:p>
            <a:pPr algn="l"/>
            <a:endParaRPr lang="en-US" sz="1500" b="1" dirty="0">
              <a:solidFill>
                <a:schemeClr val="accent2">
                  <a:lumMod val="75000"/>
                </a:schemeClr>
              </a:solidFill>
            </a:endParaRPr>
          </a:p>
        </p:txBody>
      </p:sp>
    </p:spTree>
    <p:extLst>
      <p:ext uri="{BB962C8B-B14F-4D97-AF65-F5344CB8AC3E}">
        <p14:creationId xmlns:p14="http://schemas.microsoft.com/office/powerpoint/2010/main" val="2321188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C2E76-0882-16DD-B420-B45BBCFB3B55}"/>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82A954F7-4F3C-4348-A302-1D92D4D756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285B8710-C635-9F40-0F79-D0D1F37D0A60}"/>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BA5E703-F118-87C2-8C92-F32F05733DC3}"/>
              </a:ext>
            </a:extLst>
          </p:cNvPr>
          <p:cNvSpPr txBox="1">
            <a:spLocks/>
          </p:cNvSpPr>
          <p:nvPr/>
        </p:nvSpPr>
        <p:spPr>
          <a:xfrm>
            <a:off x="471488" y="1672389"/>
            <a:ext cx="5915025" cy="7543800"/>
          </a:xfrm>
          <a:prstGeom prst="rect">
            <a:avLst/>
          </a:prstGeom>
        </p:spPr>
        <p:txBody>
          <a:bodyPr vert="horz" lIns="91440" tIns="45720" rIns="91440" bIns="45720" rtlCol="0">
            <a:normAutofit fontScale="40000" lnSpcReduction="20000"/>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5100" b="1" dirty="0"/>
              <a:t>Programmer defined functions – Example:</a:t>
            </a:r>
          </a:p>
          <a:p>
            <a:pPr algn="l"/>
            <a:endParaRPr lang="en-US" sz="5100" b="1" dirty="0"/>
          </a:p>
          <a:p>
            <a:pPr algn="l"/>
            <a:r>
              <a:rPr lang="en-ZA" sz="3300" b="1" dirty="0">
                <a:solidFill>
                  <a:srgbClr val="0DD767"/>
                </a:solidFill>
                <a:latin typeface="CourierStd-Bold"/>
              </a:rPr>
              <a:t>// determine the largest </a:t>
            </a:r>
            <a:r>
              <a:rPr lang="en-US" sz="3300" b="1" dirty="0">
                <a:solidFill>
                  <a:srgbClr val="0DD767"/>
                </a:solidFill>
                <a:latin typeface="CourierStd-Bold"/>
              </a:rPr>
              <a:t>number from a</a:t>
            </a:r>
          </a:p>
          <a:p>
            <a:pPr algn="l"/>
            <a:r>
              <a:rPr lang="en-US" sz="3300" b="1" dirty="0">
                <a:solidFill>
                  <a:srgbClr val="0DD767"/>
                </a:solidFill>
                <a:latin typeface="CourierStd-Bold"/>
              </a:rPr>
              <a:t>// between two numbers</a:t>
            </a:r>
          </a:p>
          <a:p>
            <a:pPr algn="l"/>
            <a:r>
              <a:rPr lang="en-ZA" sz="3300" b="1" i="0" u="none" strike="noStrike" baseline="0" dirty="0">
                <a:solidFill>
                  <a:srgbClr val="0DD767"/>
                </a:solidFill>
                <a:latin typeface="CourierStd-Bold"/>
              </a:rPr>
              <a:t>// Function prototype</a:t>
            </a:r>
          </a:p>
          <a:p>
            <a:pPr algn="l"/>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larger(</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x, </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y);</a:t>
            </a:r>
          </a:p>
          <a:p>
            <a:pPr algn="l"/>
            <a:endParaRPr lang="en-ZA" sz="3300" b="1" dirty="0">
              <a:solidFill>
                <a:srgbClr val="0DD767"/>
              </a:solidFill>
              <a:latin typeface="CourierStd-Bold"/>
            </a:endParaRPr>
          </a:p>
          <a:p>
            <a:pPr algn="l"/>
            <a:r>
              <a:rPr lang="en-ZA" sz="3300" b="1" dirty="0">
                <a:solidFill>
                  <a:srgbClr val="0DD767"/>
                </a:solidFill>
                <a:latin typeface="CourierStd-Bold"/>
              </a:rPr>
              <a:t>// determine the largest </a:t>
            </a:r>
            <a:r>
              <a:rPr lang="en-US" sz="3300" b="1" dirty="0">
                <a:solidFill>
                  <a:srgbClr val="0DD767"/>
                </a:solidFill>
                <a:latin typeface="CourierStd-Bold"/>
              </a:rPr>
              <a:t>number from a</a:t>
            </a:r>
          </a:p>
          <a:p>
            <a:pPr algn="l"/>
            <a:r>
              <a:rPr lang="en-US" sz="3300" b="1" dirty="0">
                <a:solidFill>
                  <a:srgbClr val="0DD767"/>
                </a:solidFill>
                <a:latin typeface="CourierStd-Bold"/>
              </a:rPr>
              <a:t>// between two numbers</a:t>
            </a:r>
          </a:p>
          <a:p>
            <a:pPr algn="l"/>
            <a:r>
              <a:rPr lang="en-ZA" sz="3300" b="1" dirty="0">
                <a:solidFill>
                  <a:srgbClr val="0DD767"/>
                </a:solidFill>
                <a:latin typeface="CourierStd-Bold"/>
              </a:rPr>
              <a:t>// Function prototype</a:t>
            </a:r>
            <a:endParaRPr lang="en-ZA" sz="3300" b="1" i="0" u="none" strike="noStrike" baseline="0" dirty="0">
              <a:solidFill>
                <a:srgbClr val="0DD767"/>
              </a:solidFill>
              <a:latin typeface="CourierStd-Bold"/>
            </a:endParaRPr>
          </a:p>
          <a:p>
            <a:pPr algn="l"/>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err="1">
                <a:solidFill>
                  <a:srgbClr val="211808"/>
                </a:solidFill>
                <a:latin typeface="CourierStd-Bold"/>
              </a:rPr>
              <a:t>compareThree</a:t>
            </a:r>
            <a:r>
              <a:rPr lang="en-ZA" sz="3300" b="1" i="0" u="none" strike="noStrike" baseline="0" dirty="0">
                <a:solidFill>
                  <a:srgbClr val="211808"/>
                </a:solidFill>
                <a:latin typeface="CourierStd-Bold"/>
              </a:rPr>
              <a:t>(</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x, </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y, </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z);</a:t>
            </a:r>
          </a:p>
          <a:p>
            <a:pPr algn="l"/>
            <a:endParaRPr lang="en-ZA" sz="3300" b="1" dirty="0">
              <a:solidFill>
                <a:srgbClr val="211808"/>
              </a:solidFill>
              <a:latin typeface="CourierStd-Bold"/>
            </a:endParaRPr>
          </a:p>
          <a:p>
            <a:pPr algn="l"/>
            <a:r>
              <a:rPr lang="en-ZA" sz="3300" b="1" dirty="0">
                <a:solidFill>
                  <a:srgbClr val="0DD767"/>
                </a:solidFill>
                <a:latin typeface="CourierStd-Bold"/>
              </a:rPr>
              <a:t>// Function implementation</a:t>
            </a:r>
            <a:endParaRPr lang="en-ZA" sz="3300" b="1" dirty="0">
              <a:solidFill>
                <a:srgbClr val="211808"/>
              </a:solidFill>
              <a:latin typeface="CourierStd-Bold"/>
            </a:endParaRPr>
          </a:p>
          <a:p>
            <a:pPr algn="l"/>
            <a:r>
              <a:rPr lang="fr-FR" sz="3300" b="1" i="0" u="none" strike="noStrike" baseline="0" dirty="0">
                <a:solidFill>
                  <a:srgbClr val="0070C0"/>
                </a:solidFill>
                <a:latin typeface="CourierStd-Bold"/>
              </a:rPr>
              <a:t>double</a:t>
            </a:r>
            <a:r>
              <a:rPr lang="fr-FR" sz="3300" b="1" i="0" u="none" strike="noStrike" baseline="0" dirty="0">
                <a:solidFill>
                  <a:srgbClr val="6A8899"/>
                </a:solidFill>
                <a:latin typeface="CourierStd-Bold"/>
              </a:rPr>
              <a:t> </a:t>
            </a:r>
            <a:r>
              <a:rPr lang="fr-FR" sz="3300" b="1" i="0" u="none" strike="noStrike" baseline="0" dirty="0" err="1">
                <a:solidFill>
                  <a:srgbClr val="211808"/>
                </a:solidFill>
                <a:latin typeface="CourierStd-Bold"/>
              </a:rPr>
              <a:t>larger</a:t>
            </a:r>
            <a:r>
              <a:rPr lang="fr-FR" sz="3300" b="1" i="0" u="none" strike="noStrike" baseline="0" dirty="0">
                <a:solidFill>
                  <a:srgbClr val="211808"/>
                </a:solidFill>
                <a:latin typeface="CourierStd-Bold"/>
              </a:rPr>
              <a:t>(</a:t>
            </a:r>
            <a:r>
              <a:rPr lang="fr-FR" sz="3300" b="1" i="0" u="none" strike="noStrike" baseline="0" dirty="0">
                <a:solidFill>
                  <a:srgbClr val="0070C0"/>
                </a:solidFill>
                <a:latin typeface="CourierStd-Bold"/>
              </a:rPr>
              <a:t>double</a:t>
            </a:r>
            <a:r>
              <a:rPr lang="fr-FR" sz="3300" b="1" i="0" u="none" strike="noStrike" baseline="0" dirty="0">
                <a:solidFill>
                  <a:srgbClr val="6A8899"/>
                </a:solidFill>
                <a:latin typeface="CourierStd-Bold"/>
              </a:rPr>
              <a:t> </a:t>
            </a:r>
            <a:r>
              <a:rPr lang="fr-FR" sz="3300" b="1" i="0" u="none" strike="noStrike" baseline="0" dirty="0">
                <a:solidFill>
                  <a:srgbClr val="211808"/>
                </a:solidFill>
                <a:latin typeface="CourierStd-Bold"/>
              </a:rPr>
              <a:t>x, </a:t>
            </a:r>
            <a:r>
              <a:rPr lang="fr-FR" sz="3300" b="1" i="0" u="none" strike="noStrike" baseline="0" dirty="0">
                <a:solidFill>
                  <a:srgbClr val="0070C0"/>
                </a:solidFill>
                <a:latin typeface="CourierStd-Bold"/>
              </a:rPr>
              <a:t>double</a:t>
            </a:r>
            <a:r>
              <a:rPr lang="fr-FR" sz="3300" b="1" i="0" u="none" strike="noStrike" baseline="0" dirty="0">
                <a:solidFill>
                  <a:srgbClr val="6A8899"/>
                </a:solidFill>
                <a:latin typeface="CourierStd-Bold"/>
              </a:rPr>
              <a:t> </a:t>
            </a:r>
            <a:r>
              <a:rPr lang="fr-FR" sz="3300" b="1" i="0" u="none" strike="noStrike" baseline="0" dirty="0">
                <a:solidFill>
                  <a:srgbClr val="211808"/>
                </a:solidFill>
                <a:latin typeface="CourierStd-Bold"/>
              </a:rPr>
              <a:t>y)</a:t>
            </a:r>
          </a:p>
          <a:p>
            <a:pPr algn="l"/>
            <a:r>
              <a:rPr lang="en-ZA" sz="3300" b="1" i="0" u="none" strike="noStrike" baseline="0" dirty="0">
                <a:solidFill>
                  <a:srgbClr val="211808"/>
                </a:solidFill>
                <a:latin typeface="CourierStd-Bold"/>
              </a:rPr>
              <a:t>{</a:t>
            </a:r>
          </a:p>
          <a:p>
            <a:pPr lvl="1" algn="l"/>
            <a:r>
              <a:rPr lang="en-ZA" sz="3300" b="1" i="0" u="none" strike="noStrike" baseline="0" dirty="0">
                <a:solidFill>
                  <a:srgbClr val="0070C0"/>
                </a:solidFill>
                <a:latin typeface="CourierStd-Bold"/>
              </a:rPr>
              <a:t>if</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(x &gt;= y)</a:t>
            </a:r>
          </a:p>
          <a:p>
            <a:pPr lvl="1" algn="l"/>
            <a:r>
              <a:rPr lang="en-ZA" sz="3300" b="1" i="0" u="none" strike="noStrike" baseline="0" dirty="0">
                <a:solidFill>
                  <a:srgbClr val="0070C0"/>
                </a:solidFill>
                <a:latin typeface="CourierStd-Bold"/>
              </a:rPr>
              <a:t>	return</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x;</a:t>
            </a:r>
          </a:p>
          <a:p>
            <a:pPr lvl="1" algn="l"/>
            <a:r>
              <a:rPr lang="en-ZA" sz="3300" b="1" i="0" u="none" strike="noStrike" baseline="0" dirty="0">
                <a:solidFill>
                  <a:srgbClr val="0070C0"/>
                </a:solidFill>
                <a:latin typeface="CourierStd-Bold"/>
              </a:rPr>
              <a:t>else</a:t>
            </a:r>
          </a:p>
          <a:p>
            <a:pPr lvl="1" algn="l"/>
            <a:r>
              <a:rPr lang="en-ZA" sz="3300" b="1" i="0" u="none" strike="noStrike" baseline="0" dirty="0">
                <a:solidFill>
                  <a:srgbClr val="0070C0"/>
                </a:solidFill>
                <a:latin typeface="CourierStd-Bold"/>
              </a:rPr>
              <a:t>	return</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y;</a:t>
            </a:r>
          </a:p>
          <a:p>
            <a:pPr algn="l"/>
            <a:r>
              <a:rPr lang="en-ZA" sz="3300" b="1" i="0" u="none" strike="noStrike" baseline="0" dirty="0">
                <a:solidFill>
                  <a:srgbClr val="211808"/>
                </a:solidFill>
                <a:latin typeface="CourierStd-Bold"/>
              </a:rPr>
              <a:t>}</a:t>
            </a:r>
            <a:endParaRPr lang="en-US" sz="3300" b="1" dirty="0"/>
          </a:p>
          <a:p>
            <a:pPr algn="l"/>
            <a:endParaRPr lang="en-US" sz="3300" b="1" dirty="0"/>
          </a:p>
          <a:p>
            <a:pPr algn="l"/>
            <a:r>
              <a:rPr lang="en-ZA" sz="3300" b="1" dirty="0">
                <a:solidFill>
                  <a:srgbClr val="0DD767"/>
                </a:solidFill>
                <a:latin typeface="CourierStd-Bold"/>
              </a:rPr>
              <a:t>// Function implementation</a:t>
            </a:r>
          </a:p>
          <a:p>
            <a:pPr algn="l"/>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err="1">
                <a:solidFill>
                  <a:srgbClr val="211808"/>
                </a:solidFill>
                <a:latin typeface="CourierStd-Bold"/>
              </a:rPr>
              <a:t>compareThree</a:t>
            </a:r>
            <a:r>
              <a:rPr lang="en-ZA" sz="3300" b="1" i="0" u="none" strike="noStrike" baseline="0" dirty="0">
                <a:solidFill>
                  <a:srgbClr val="211808"/>
                </a:solidFill>
                <a:latin typeface="CourierStd-Bold"/>
              </a:rPr>
              <a:t>(</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x, </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y, </a:t>
            </a:r>
            <a:r>
              <a:rPr lang="en-ZA" sz="3300" b="1" i="0" u="none" strike="noStrike" baseline="0" dirty="0">
                <a:solidFill>
                  <a:srgbClr val="0070C0"/>
                </a:solidFill>
                <a:latin typeface="CourierStd-Bold"/>
              </a:rPr>
              <a:t>double</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z)</a:t>
            </a:r>
          </a:p>
          <a:p>
            <a:pPr algn="l"/>
            <a:r>
              <a:rPr lang="en-ZA" sz="3300" b="1" i="0" u="none" strike="noStrike" baseline="0" dirty="0">
                <a:solidFill>
                  <a:srgbClr val="211808"/>
                </a:solidFill>
                <a:latin typeface="CourierStd-Bold"/>
              </a:rPr>
              <a:t>{</a:t>
            </a:r>
          </a:p>
          <a:p>
            <a:pPr algn="l"/>
            <a:r>
              <a:rPr lang="en-ZA" sz="3300" b="1" dirty="0">
                <a:solidFill>
                  <a:srgbClr val="0DD767"/>
                </a:solidFill>
                <a:latin typeface="CourierStd-Bold"/>
              </a:rPr>
              <a:t>// Call function larger inside 	</a:t>
            </a:r>
          </a:p>
          <a:p>
            <a:pPr algn="l"/>
            <a:r>
              <a:rPr lang="en-ZA" sz="3300" b="1" dirty="0">
                <a:solidFill>
                  <a:srgbClr val="0DD767"/>
                </a:solidFill>
                <a:latin typeface="CourierStd-Bold"/>
              </a:rPr>
              <a:t>// function </a:t>
            </a:r>
            <a:r>
              <a:rPr lang="en-ZA" sz="3300" b="1" dirty="0" err="1">
                <a:solidFill>
                  <a:srgbClr val="0DD767"/>
                </a:solidFill>
                <a:latin typeface="CourierStd-Bold"/>
              </a:rPr>
              <a:t>compareThree</a:t>
            </a:r>
            <a:r>
              <a:rPr lang="en-ZA" sz="3300" b="1" dirty="0">
                <a:solidFill>
                  <a:srgbClr val="0DD767"/>
                </a:solidFill>
                <a:latin typeface="CourierStd-Bold"/>
              </a:rPr>
              <a:t> to perform		</a:t>
            </a:r>
          </a:p>
          <a:p>
            <a:pPr algn="l"/>
            <a:r>
              <a:rPr lang="en-ZA" sz="3300" b="1" dirty="0">
                <a:solidFill>
                  <a:srgbClr val="0DD767"/>
                </a:solidFill>
                <a:latin typeface="CourierStd-Bold"/>
              </a:rPr>
              <a:t>// the comparison between y and z</a:t>
            </a:r>
            <a:endParaRPr lang="en-ZA" sz="3300" b="1" i="0" u="none" strike="noStrike" baseline="0" dirty="0">
              <a:solidFill>
                <a:srgbClr val="211808"/>
              </a:solidFill>
              <a:latin typeface="CourierStd-Bold"/>
            </a:endParaRPr>
          </a:p>
          <a:p>
            <a:pPr algn="l"/>
            <a:r>
              <a:rPr lang="en-ZA" sz="3300" b="1" i="0" u="none" strike="noStrike" baseline="0" dirty="0">
                <a:solidFill>
                  <a:srgbClr val="0070C0"/>
                </a:solidFill>
                <a:latin typeface="CourierStd-Bold"/>
              </a:rPr>
              <a:t>	return</a:t>
            </a:r>
            <a:r>
              <a:rPr lang="en-ZA" sz="3300" b="1" i="0" u="none" strike="noStrike" baseline="0" dirty="0">
                <a:solidFill>
                  <a:srgbClr val="6A8899"/>
                </a:solidFill>
                <a:latin typeface="CourierStd-Bold"/>
              </a:rPr>
              <a:t> </a:t>
            </a:r>
            <a:r>
              <a:rPr lang="en-ZA" sz="3300" b="1" i="0" u="none" strike="noStrike" baseline="0" dirty="0">
                <a:solidFill>
                  <a:srgbClr val="211808"/>
                </a:solidFill>
                <a:latin typeface="CourierStd-Bold"/>
              </a:rPr>
              <a:t>larger(x, larger(y, z));</a:t>
            </a:r>
          </a:p>
          <a:p>
            <a:pPr algn="l"/>
            <a:r>
              <a:rPr lang="en-ZA" sz="3300" b="1" i="0" u="none" strike="noStrike" baseline="0" dirty="0">
                <a:solidFill>
                  <a:srgbClr val="211808"/>
                </a:solidFill>
                <a:latin typeface="CourierStd-Bold"/>
              </a:rPr>
              <a:t>}</a:t>
            </a:r>
            <a:endParaRPr lang="en-US" sz="3300" b="1" dirty="0"/>
          </a:p>
        </p:txBody>
      </p:sp>
    </p:spTree>
    <p:extLst>
      <p:ext uri="{BB962C8B-B14F-4D97-AF65-F5344CB8AC3E}">
        <p14:creationId xmlns:p14="http://schemas.microsoft.com/office/powerpoint/2010/main" val="2708529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010EB-0769-738D-F51D-9FB17A349E46}"/>
            </a:ext>
          </a:extLst>
        </p:cNvPr>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ACAB7B80-599C-2A81-BB07-05DB36FF2E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51" y="-76200"/>
            <a:ext cx="6930551" cy="10058400"/>
          </a:xfrm>
          <a:prstGeom prst="rect">
            <a:avLst/>
          </a:prstGeom>
        </p:spPr>
      </p:pic>
      <p:sp>
        <p:nvSpPr>
          <p:cNvPr id="4" name="TextBox 3">
            <a:extLst>
              <a:ext uri="{FF2B5EF4-FFF2-40B4-BE49-F238E27FC236}">
                <a16:creationId xmlns:a16="http://schemas.microsoft.com/office/drawing/2014/main" id="{A0949F2A-7F40-BDB7-98DA-E811B1ADFC40}"/>
              </a:ext>
            </a:extLst>
          </p:cNvPr>
          <p:cNvSpPr txBox="1"/>
          <p:nvPr/>
        </p:nvSpPr>
        <p:spPr>
          <a:xfrm>
            <a:off x="0" y="65927"/>
            <a:ext cx="6858000" cy="646331"/>
          </a:xfrm>
          <a:prstGeom prst="rect">
            <a:avLst/>
          </a:prstGeom>
          <a:noFill/>
        </p:spPr>
        <p:txBody>
          <a:bodyPr wrap="square" rtlCol="0">
            <a:spAutoFit/>
          </a:bodyPr>
          <a:lstStyle/>
          <a:p>
            <a:pPr algn="ctr"/>
            <a:r>
              <a:rPr lang="en-US" sz="3600" b="1" dirty="0"/>
              <a:t>Programmer Defined Functions</a:t>
            </a:r>
            <a:endParaRPr lang="en-ZA" sz="3600" b="1" dirty="0">
              <a:latin typeface="Arial" panose="020B0604020202020204" pitchFamily="34" charset="0"/>
              <a:cs typeface="Arial" panose="020B0604020202020204" pitchFamily="34" charset="0"/>
            </a:endParaRPr>
          </a:p>
        </p:txBody>
      </p:sp>
      <p:sp>
        <p:nvSpPr>
          <p:cNvPr id="2" name="Content Placeholder 2">
            <a:extLst>
              <a:ext uri="{FF2B5EF4-FFF2-40B4-BE49-F238E27FC236}">
                <a16:creationId xmlns:a16="http://schemas.microsoft.com/office/drawing/2014/main" id="{7EF9B4BD-ED4B-0082-DBBF-654BD9C7C0A1}"/>
              </a:ext>
            </a:extLst>
          </p:cNvPr>
          <p:cNvSpPr txBox="1">
            <a:spLocks/>
          </p:cNvSpPr>
          <p:nvPr/>
        </p:nvSpPr>
        <p:spPr>
          <a:xfrm>
            <a:off x="471488" y="1672389"/>
            <a:ext cx="5915025" cy="7249891"/>
          </a:xfrm>
          <a:prstGeom prst="rect">
            <a:avLst/>
          </a:prstGeom>
        </p:spPr>
        <p:txBody>
          <a:bodyPr vert="horz" lIns="91440" tIns="45720" rIns="91440" bIns="45720" rtlCol="0">
            <a:norm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35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pPr algn="l"/>
            <a:r>
              <a:rPr lang="en-US" sz="2800" b="1" dirty="0"/>
              <a:t>Programmer defined functions  –</a:t>
            </a:r>
            <a:r>
              <a:rPr lang="en-US" sz="2800" dirty="0"/>
              <a:t>Various parts of the function </a:t>
            </a:r>
            <a:r>
              <a:rPr lang="en-US" sz="2800" b="1" dirty="0"/>
              <a:t>abs</a:t>
            </a:r>
          </a:p>
          <a:p>
            <a:pPr algn="l"/>
            <a:endParaRPr lang="en-US" sz="2800" b="1" dirty="0"/>
          </a:p>
          <a:p>
            <a:pPr algn="l"/>
            <a:endParaRPr lang="en-US" sz="2800" b="1" dirty="0"/>
          </a:p>
          <a:p>
            <a:pPr algn="l"/>
            <a:endParaRPr lang="en-US" sz="2800" b="1" dirty="0"/>
          </a:p>
          <a:p>
            <a:pPr algn="l"/>
            <a:endParaRPr lang="en-US" sz="2800" b="1" dirty="0"/>
          </a:p>
          <a:p>
            <a:pPr algn="l"/>
            <a:endParaRPr lang="en-US" sz="2800" b="1" dirty="0"/>
          </a:p>
          <a:p>
            <a:pPr algn="l"/>
            <a:endParaRPr lang="en-US" sz="2800" b="1" dirty="0"/>
          </a:p>
          <a:p>
            <a:pPr algn="l"/>
            <a:endParaRPr lang="en-US" sz="2800" b="1" dirty="0"/>
          </a:p>
          <a:p>
            <a:pPr algn="l"/>
            <a:r>
              <a:rPr lang="en-US" sz="2800" dirty="0"/>
              <a:t>Various parts of the function </a:t>
            </a:r>
            <a:r>
              <a:rPr lang="en-US" sz="2800" b="1" dirty="0"/>
              <a:t>larger</a:t>
            </a:r>
          </a:p>
          <a:p>
            <a:pPr marL="457200" indent="-457200" algn="l">
              <a:buFont typeface="+mj-lt"/>
              <a:buAutoNum type="arabicPeriod"/>
            </a:pPr>
            <a:endParaRPr lang="en-US" sz="2800" b="1" dirty="0"/>
          </a:p>
          <a:p>
            <a:pPr marL="285750" indent="-285750">
              <a:buFont typeface="Arial" panose="020B0604020202020204" pitchFamily="34" charset="0"/>
              <a:buChar char="•"/>
            </a:pPr>
            <a:endParaRPr lang="en-US" sz="2400" b="1" dirty="0"/>
          </a:p>
        </p:txBody>
      </p:sp>
      <p:pic>
        <p:nvPicPr>
          <p:cNvPr id="6" name="Picture 5">
            <a:extLst>
              <a:ext uri="{FF2B5EF4-FFF2-40B4-BE49-F238E27FC236}">
                <a16:creationId xmlns:a16="http://schemas.microsoft.com/office/drawing/2014/main" id="{F1F27DF4-5887-5D99-5A62-46D9704195D9}"/>
              </a:ext>
            </a:extLst>
          </p:cNvPr>
          <p:cNvPicPr>
            <a:picLocks noChangeAspect="1"/>
          </p:cNvPicPr>
          <p:nvPr/>
        </p:nvPicPr>
        <p:blipFill>
          <a:blip r:embed="rId3"/>
          <a:stretch>
            <a:fillRect/>
          </a:stretch>
        </p:blipFill>
        <p:spPr>
          <a:xfrm>
            <a:off x="197785" y="2630905"/>
            <a:ext cx="6267669" cy="2935705"/>
          </a:xfrm>
          <a:prstGeom prst="rect">
            <a:avLst/>
          </a:prstGeom>
        </p:spPr>
      </p:pic>
      <p:pic>
        <p:nvPicPr>
          <p:cNvPr id="9" name="Picture 8">
            <a:extLst>
              <a:ext uri="{FF2B5EF4-FFF2-40B4-BE49-F238E27FC236}">
                <a16:creationId xmlns:a16="http://schemas.microsoft.com/office/drawing/2014/main" id="{EF05A24D-015F-2427-A5FF-54D5723E4686}"/>
              </a:ext>
            </a:extLst>
          </p:cNvPr>
          <p:cNvPicPr>
            <a:picLocks noChangeAspect="1"/>
          </p:cNvPicPr>
          <p:nvPr/>
        </p:nvPicPr>
        <p:blipFill>
          <a:blip r:embed="rId4"/>
          <a:stretch>
            <a:fillRect/>
          </a:stretch>
        </p:blipFill>
        <p:spPr>
          <a:xfrm>
            <a:off x="197785" y="6525126"/>
            <a:ext cx="6188727" cy="2739190"/>
          </a:xfrm>
          <a:prstGeom prst="rect">
            <a:avLst/>
          </a:prstGeom>
        </p:spPr>
      </p:pic>
    </p:spTree>
    <p:extLst>
      <p:ext uri="{BB962C8B-B14F-4D97-AF65-F5344CB8AC3E}">
        <p14:creationId xmlns:p14="http://schemas.microsoft.com/office/powerpoint/2010/main" val="279520053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ca9a8b8c-3ea3-4799-a43e-5510398e7a3b}" enabled="0" method="" siteId="{ca9a8b8c-3ea3-4799-a43e-5510398e7a3b}" removed="1"/>
</clbl:labelList>
</file>

<file path=docProps/app.xml><?xml version="1.0" encoding="utf-8"?>
<Properties xmlns="http://schemas.openxmlformats.org/officeDocument/2006/extended-properties" xmlns:vt="http://schemas.openxmlformats.org/officeDocument/2006/docPropsVTypes">
  <Template>Office Theme</Template>
  <TotalTime>4961</TotalTime>
  <Words>1108</Words>
  <Application>Microsoft Office PowerPoint</Application>
  <PresentationFormat>A4 Paper (210x297 mm)</PresentationFormat>
  <Paragraphs>188</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ArialMonoMTPro</vt:lpstr>
      <vt:lpstr>ArialMonoMTPro-Oblique</vt:lpstr>
      <vt:lpstr>Calibri</vt:lpstr>
      <vt:lpstr>Calibri Light</vt:lpstr>
      <vt:lpstr>CourierStd-Bold</vt:lpstr>
      <vt:lpstr>GiovanniStd-Book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Duraan, Franciska</dc:creator>
  <cp:lastModifiedBy>Sewisha Thabo Lehong</cp:lastModifiedBy>
  <cp:revision>488</cp:revision>
  <dcterms:created xsi:type="dcterms:W3CDTF">2023-03-27T09:07:22Z</dcterms:created>
  <dcterms:modified xsi:type="dcterms:W3CDTF">2026-05-22T17:19:12Z</dcterms:modified>
</cp:coreProperties>
</file>