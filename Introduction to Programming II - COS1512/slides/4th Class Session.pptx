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8" r:id="rId2"/>
    <p:sldId id="266" r:id="rId3"/>
    <p:sldId id="267" r:id="rId4"/>
    <p:sldId id="287" r:id="rId5"/>
    <p:sldId id="359" r:id="rId6"/>
    <p:sldId id="358" r:id="rId7"/>
    <p:sldId id="268" r:id="rId8"/>
    <p:sldId id="294" r:id="rId9"/>
    <p:sldId id="295" r:id="rId10"/>
    <p:sldId id="297" r:id="rId11"/>
    <p:sldId id="299" r:id="rId12"/>
    <p:sldId id="300" r:id="rId13"/>
    <p:sldId id="288" r:id="rId14"/>
    <p:sldId id="308" r:id="rId15"/>
    <p:sldId id="278" r:id="rId16"/>
    <p:sldId id="309" r:id="rId17"/>
    <p:sldId id="311" r:id="rId18"/>
    <p:sldId id="312" r:id="rId19"/>
    <p:sldId id="323" r:id="rId20"/>
    <p:sldId id="310" r:id="rId21"/>
    <p:sldId id="280" r:id="rId22"/>
    <p:sldId id="281" r:id="rId23"/>
    <p:sldId id="284" r:id="rId24"/>
    <p:sldId id="286" r:id="rId25"/>
    <p:sldId id="269" r:id="rId26"/>
    <p:sldId id="279" r:id="rId27"/>
    <p:sldId id="303" r:id="rId28"/>
    <p:sldId id="324" r:id="rId29"/>
    <p:sldId id="282" r:id="rId30"/>
    <p:sldId id="289" r:id="rId31"/>
    <p:sldId id="301" r:id="rId32"/>
    <p:sldId id="325" r:id="rId33"/>
    <p:sldId id="290" r:id="rId34"/>
    <p:sldId id="291" r:id="rId35"/>
    <p:sldId id="304" r:id="rId36"/>
    <p:sldId id="307" r:id="rId37"/>
    <p:sldId id="283" r:id="rId38"/>
    <p:sldId id="305" r:id="rId39"/>
    <p:sldId id="306" r:id="rId40"/>
    <p:sldId id="326" r:id="rId41"/>
    <p:sldId id="285" r:id="rId42"/>
    <p:sldId id="316" r:id="rId43"/>
    <p:sldId id="293" r:id="rId44"/>
    <p:sldId id="314" r:id="rId45"/>
    <p:sldId id="320" r:id="rId46"/>
    <p:sldId id="317" r:id="rId47"/>
    <p:sldId id="341" r:id="rId48"/>
    <p:sldId id="321" r:id="rId49"/>
    <p:sldId id="318" r:id="rId50"/>
    <p:sldId id="342" r:id="rId51"/>
    <p:sldId id="343" r:id="rId52"/>
    <p:sldId id="344" r:id="rId53"/>
    <p:sldId id="347" r:id="rId54"/>
    <p:sldId id="351" r:id="rId55"/>
    <p:sldId id="348" r:id="rId56"/>
    <p:sldId id="350" r:id="rId57"/>
    <p:sldId id="349" r:id="rId58"/>
    <p:sldId id="352" r:id="rId59"/>
    <p:sldId id="353" r:id="rId60"/>
    <p:sldId id="327" r:id="rId61"/>
    <p:sldId id="371" r:id="rId62"/>
    <p:sldId id="313" r:id="rId63"/>
    <p:sldId id="340" r:id="rId64"/>
    <p:sldId id="332" r:id="rId65"/>
    <p:sldId id="333" r:id="rId66"/>
    <p:sldId id="331" r:id="rId67"/>
    <p:sldId id="334" r:id="rId68"/>
    <p:sldId id="335" r:id="rId69"/>
    <p:sldId id="372" r:id="rId70"/>
    <p:sldId id="319" r:id="rId71"/>
    <p:sldId id="322" r:id="rId72"/>
    <p:sldId id="328" r:id="rId73"/>
    <p:sldId id="330" r:id="rId74"/>
    <p:sldId id="354" r:id="rId75"/>
    <p:sldId id="329" r:id="rId76"/>
    <p:sldId id="339" r:id="rId77"/>
    <p:sldId id="355" r:id="rId78"/>
    <p:sldId id="363" r:id="rId79"/>
    <p:sldId id="366" r:id="rId80"/>
    <p:sldId id="367" r:id="rId81"/>
    <p:sldId id="368" r:id="rId82"/>
    <p:sldId id="361" r:id="rId83"/>
    <p:sldId id="362" r:id="rId84"/>
    <p:sldId id="356" r:id="rId85"/>
    <p:sldId id="360" r:id="rId86"/>
    <p:sldId id="369" r:id="rId87"/>
    <p:sldId id="370" r:id="rId88"/>
    <p:sldId id="364" r:id="rId89"/>
    <p:sldId id="315" r:id="rId90"/>
    <p:sldId id="373" r:id="rId91"/>
    <p:sldId id="374" r:id="rId92"/>
  </p:sldIdLst>
  <p:sldSz cx="6858000" cy="9906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53" d="100"/>
          <a:sy n="53" d="100"/>
        </p:scale>
        <p:origin x="2024"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theme" Target="theme/theme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438951E-0A73-476C-B990-BA3D65A812C5}" type="datetimeFigureOut">
              <a:rPr lang="en-ZA" smtClean="0"/>
              <a:t>2026/05/06</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5031DDEB-C667-44B1-BE9C-E4923D28CA10}" type="slidenum">
              <a:rPr lang="en-ZA" smtClean="0"/>
              <a:t>‹#›</a:t>
            </a:fld>
            <a:endParaRPr lang="en-ZA"/>
          </a:p>
        </p:txBody>
      </p:sp>
    </p:spTree>
    <p:extLst>
      <p:ext uri="{BB962C8B-B14F-4D97-AF65-F5344CB8AC3E}">
        <p14:creationId xmlns:p14="http://schemas.microsoft.com/office/powerpoint/2010/main" val="3441363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38951E-0A73-476C-B990-BA3D65A812C5}" type="datetimeFigureOut">
              <a:rPr lang="en-ZA" smtClean="0"/>
              <a:t>2026/05/06</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5031DDEB-C667-44B1-BE9C-E4923D28CA10}" type="slidenum">
              <a:rPr lang="en-ZA" smtClean="0"/>
              <a:t>‹#›</a:t>
            </a:fld>
            <a:endParaRPr lang="en-ZA"/>
          </a:p>
        </p:txBody>
      </p:sp>
    </p:spTree>
    <p:extLst>
      <p:ext uri="{BB962C8B-B14F-4D97-AF65-F5344CB8AC3E}">
        <p14:creationId xmlns:p14="http://schemas.microsoft.com/office/powerpoint/2010/main" val="13564290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438951E-0A73-476C-B990-BA3D65A812C5}" type="datetimeFigureOut">
              <a:rPr lang="en-ZA" smtClean="0"/>
              <a:t>2026/05/06</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5031DDEB-C667-44B1-BE9C-E4923D28CA10}" type="slidenum">
              <a:rPr lang="en-ZA" smtClean="0"/>
              <a:t>‹#›</a:t>
            </a:fld>
            <a:endParaRPr lang="en-ZA"/>
          </a:p>
        </p:txBody>
      </p:sp>
    </p:spTree>
    <p:extLst>
      <p:ext uri="{BB962C8B-B14F-4D97-AF65-F5344CB8AC3E}">
        <p14:creationId xmlns:p14="http://schemas.microsoft.com/office/powerpoint/2010/main" val="35720608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438951E-0A73-476C-B990-BA3D65A812C5}" type="datetimeFigureOut">
              <a:rPr lang="en-ZA" smtClean="0"/>
              <a:t>2026/05/06</a:t>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fld id="{5031DDEB-C667-44B1-BE9C-E4923D28CA10}" type="slidenum">
              <a:rPr lang="en-ZA" smtClean="0"/>
              <a:t>‹#›</a:t>
            </a:fld>
            <a:endParaRPr lang="en-ZA"/>
          </a:p>
        </p:txBody>
      </p:sp>
    </p:spTree>
    <p:extLst>
      <p:ext uri="{BB962C8B-B14F-4D97-AF65-F5344CB8AC3E}">
        <p14:creationId xmlns:p14="http://schemas.microsoft.com/office/powerpoint/2010/main" val="31329634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72381" y="3618442"/>
            <a:ext cx="2901255"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71863" y="3618442"/>
            <a:ext cx="2915543"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438951E-0A73-476C-B990-BA3D65A812C5}" type="datetimeFigureOut">
              <a:rPr lang="en-ZA" smtClean="0"/>
              <a:t>2026/05/06</a:t>
            </a:fld>
            <a:endParaRPr lang="en-ZA"/>
          </a:p>
        </p:txBody>
      </p:sp>
      <p:sp>
        <p:nvSpPr>
          <p:cNvPr id="8" name="Footer Placeholder 7"/>
          <p:cNvSpPr>
            <a:spLocks noGrp="1"/>
          </p:cNvSpPr>
          <p:nvPr>
            <p:ph type="ftr" sz="quarter" idx="11"/>
          </p:nvPr>
        </p:nvSpPr>
        <p:spPr/>
        <p:txBody>
          <a:bodyPr/>
          <a:lstStyle/>
          <a:p>
            <a:endParaRPr lang="en-ZA"/>
          </a:p>
        </p:txBody>
      </p:sp>
      <p:sp>
        <p:nvSpPr>
          <p:cNvPr id="9" name="Slide Number Placeholder 8"/>
          <p:cNvSpPr>
            <a:spLocks noGrp="1"/>
          </p:cNvSpPr>
          <p:nvPr>
            <p:ph type="sldNum" sz="quarter" idx="12"/>
          </p:nvPr>
        </p:nvSpPr>
        <p:spPr/>
        <p:txBody>
          <a:bodyPr/>
          <a:lstStyle/>
          <a:p>
            <a:fld id="{5031DDEB-C667-44B1-BE9C-E4923D28CA10}" type="slidenum">
              <a:rPr lang="en-ZA" smtClean="0"/>
              <a:t>‹#›</a:t>
            </a:fld>
            <a:endParaRPr lang="en-ZA"/>
          </a:p>
        </p:txBody>
      </p:sp>
    </p:spTree>
    <p:extLst>
      <p:ext uri="{BB962C8B-B14F-4D97-AF65-F5344CB8AC3E}">
        <p14:creationId xmlns:p14="http://schemas.microsoft.com/office/powerpoint/2010/main" val="41613378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438951E-0A73-476C-B990-BA3D65A812C5}" type="datetimeFigureOut">
              <a:rPr lang="en-ZA" smtClean="0"/>
              <a:t>2026/05/06</a:t>
            </a:fld>
            <a:endParaRPr lang="en-ZA"/>
          </a:p>
        </p:txBody>
      </p:sp>
      <p:sp>
        <p:nvSpPr>
          <p:cNvPr id="4" name="Footer Placeholder 3"/>
          <p:cNvSpPr>
            <a:spLocks noGrp="1"/>
          </p:cNvSpPr>
          <p:nvPr>
            <p:ph type="ftr" sz="quarter" idx="11"/>
          </p:nvPr>
        </p:nvSpPr>
        <p:spPr/>
        <p:txBody>
          <a:bodyPr/>
          <a:lstStyle/>
          <a:p>
            <a:endParaRPr lang="en-ZA"/>
          </a:p>
        </p:txBody>
      </p:sp>
      <p:sp>
        <p:nvSpPr>
          <p:cNvPr id="5" name="Slide Number Placeholder 4"/>
          <p:cNvSpPr>
            <a:spLocks noGrp="1"/>
          </p:cNvSpPr>
          <p:nvPr>
            <p:ph type="sldNum" sz="quarter" idx="12"/>
          </p:nvPr>
        </p:nvSpPr>
        <p:spPr/>
        <p:txBody>
          <a:bodyPr/>
          <a:lstStyle/>
          <a:p>
            <a:fld id="{5031DDEB-C667-44B1-BE9C-E4923D28CA10}" type="slidenum">
              <a:rPr lang="en-ZA" smtClean="0"/>
              <a:t>‹#›</a:t>
            </a:fld>
            <a:endParaRPr lang="en-ZA"/>
          </a:p>
        </p:txBody>
      </p:sp>
    </p:spTree>
    <p:extLst>
      <p:ext uri="{BB962C8B-B14F-4D97-AF65-F5344CB8AC3E}">
        <p14:creationId xmlns:p14="http://schemas.microsoft.com/office/powerpoint/2010/main" val="36985040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438951E-0A73-476C-B990-BA3D65A812C5}" type="datetimeFigureOut">
              <a:rPr lang="en-ZA" smtClean="0"/>
              <a:t>2026/05/06</a:t>
            </a:fld>
            <a:endParaRPr lang="en-ZA"/>
          </a:p>
        </p:txBody>
      </p:sp>
      <p:sp>
        <p:nvSpPr>
          <p:cNvPr id="3" name="Footer Placeholder 2"/>
          <p:cNvSpPr>
            <a:spLocks noGrp="1"/>
          </p:cNvSpPr>
          <p:nvPr>
            <p:ph type="ftr" sz="quarter" idx="11"/>
          </p:nvPr>
        </p:nvSpPr>
        <p:spPr/>
        <p:txBody>
          <a:bodyPr/>
          <a:lstStyle/>
          <a:p>
            <a:endParaRPr lang="en-ZA"/>
          </a:p>
        </p:txBody>
      </p:sp>
      <p:sp>
        <p:nvSpPr>
          <p:cNvPr id="4" name="Slide Number Placeholder 3"/>
          <p:cNvSpPr>
            <a:spLocks noGrp="1"/>
          </p:cNvSpPr>
          <p:nvPr>
            <p:ph type="sldNum" sz="quarter" idx="12"/>
          </p:nvPr>
        </p:nvSpPr>
        <p:spPr/>
        <p:txBody>
          <a:bodyPr/>
          <a:lstStyle/>
          <a:p>
            <a:fld id="{5031DDEB-C667-44B1-BE9C-E4923D28CA10}" type="slidenum">
              <a:rPr lang="en-ZA" smtClean="0"/>
              <a:t>‹#›</a:t>
            </a:fld>
            <a:endParaRPr lang="en-ZA"/>
          </a:p>
        </p:txBody>
      </p:sp>
    </p:spTree>
    <p:extLst>
      <p:ext uri="{BB962C8B-B14F-4D97-AF65-F5344CB8AC3E}">
        <p14:creationId xmlns:p14="http://schemas.microsoft.com/office/powerpoint/2010/main" val="25465132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1438951E-0A73-476C-B990-BA3D65A812C5}" type="datetimeFigureOut">
              <a:rPr lang="en-ZA" smtClean="0"/>
              <a:t>2026/05/06</a:t>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fld id="{5031DDEB-C667-44B1-BE9C-E4923D28CA10}" type="slidenum">
              <a:rPr lang="en-ZA" smtClean="0"/>
              <a:t>‹#›</a:t>
            </a:fld>
            <a:endParaRPr lang="en-ZA"/>
          </a:p>
        </p:txBody>
      </p:sp>
    </p:spTree>
    <p:extLst>
      <p:ext uri="{BB962C8B-B14F-4D97-AF65-F5344CB8AC3E}">
        <p14:creationId xmlns:p14="http://schemas.microsoft.com/office/powerpoint/2010/main" val="38889070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1438951E-0A73-476C-B990-BA3D65A812C5}" type="datetimeFigureOut">
              <a:rPr lang="en-ZA" smtClean="0"/>
              <a:t>2026/05/06</a:t>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fld id="{5031DDEB-C667-44B1-BE9C-E4923D28CA10}" type="slidenum">
              <a:rPr lang="en-ZA" smtClean="0"/>
              <a:t>‹#›</a:t>
            </a:fld>
            <a:endParaRPr lang="en-ZA"/>
          </a:p>
        </p:txBody>
      </p:sp>
    </p:spTree>
    <p:extLst>
      <p:ext uri="{BB962C8B-B14F-4D97-AF65-F5344CB8AC3E}">
        <p14:creationId xmlns:p14="http://schemas.microsoft.com/office/powerpoint/2010/main" val="38021828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38951E-0A73-476C-B990-BA3D65A812C5}" type="datetimeFigureOut">
              <a:rPr lang="en-ZA" smtClean="0"/>
              <a:t>2026/05/06</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5031DDEB-C667-44B1-BE9C-E4923D28CA10}" type="slidenum">
              <a:rPr lang="en-ZA" smtClean="0"/>
              <a:t>‹#›</a:t>
            </a:fld>
            <a:endParaRPr lang="en-ZA"/>
          </a:p>
        </p:txBody>
      </p:sp>
    </p:spTree>
    <p:extLst>
      <p:ext uri="{BB962C8B-B14F-4D97-AF65-F5344CB8AC3E}">
        <p14:creationId xmlns:p14="http://schemas.microsoft.com/office/powerpoint/2010/main" val="40097951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38951E-0A73-476C-B990-BA3D65A812C5}" type="datetimeFigureOut">
              <a:rPr lang="en-ZA" smtClean="0"/>
              <a:t>2026/05/06</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5031DDEB-C667-44B1-BE9C-E4923D28CA10}" type="slidenum">
              <a:rPr lang="en-ZA" smtClean="0"/>
              <a:t>‹#›</a:t>
            </a:fld>
            <a:endParaRPr lang="en-ZA"/>
          </a:p>
        </p:txBody>
      </p:sp>
    </p:spTree>
    <p:extLst>
      <p:ext uri="{BB962C8B-B14F-4D97-AF65-F5344CB8AC3E}">
        <p14:creationId xmlns:p14="http://schemas.microsoft.com/office/powerpoint/2010/main" val="14852315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75000"/>
                  </a:schemeClr>
                </a:solidFill>
              </a:defRPr>
            </a:lvl1pPr>
          </a:lstStyle>
          <a:p>
            <a:fld id="{1438951E-0A73-476C-B990-BA3D65A812C5}" type="datetimeFigureOut">
              <a:rPr lang="en-ZA" smtClean="0"/>
              <a:t>2026/05/06</a:t>
            </a:fld>
            <a:endParaRPr lang="en-ZA"/>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ZA"/>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75000"/>
                  </a:schemeClr>
                </a:solidFill>
              </a:defRPr>
            </a:lvl1pPr>
          </a:lstStyle>
          <a:p>
            <a:fld id="{5031DDEB-C667-44B1-BE9C-E4923D28CA10}" type="slidenum">
              <a:rPr lang="en-ZA" smtClean="0"/>
              <a:t>‹#›</a:t>
            </a:fld>
            <a:endParaRPr lang="en-ZA"/>
          </a:p>
        </p:txBody>
      </p:sp>
    </p:spTree>
    <p:extLst>
      <p:ext uri="{BB962C8B-B14F-4D97-AF65-F5344CB8AC3E}">
        <p14:creationId xmlns:p14="http://schemas.microsoft.com/office/powerpoint/2010/main" val="30583456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jpg"/><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4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jpg"/><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6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4.xml"/></Relationships>
</file>

<file path=ppt/slides/_rels/slide8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3" Type="http://schemas.openxmlformats.org/officeDocument/2006/relationships/hyperlink" Target="https://www.codecademy.com/articles/cpp-object-oriented-programming" TargetMode="External"/><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3" Type="http://schemas.openxmlformats.org/officeDocument/2006/relationships/hyperlink" Target="https://www.codecademy.com/articles/cpp-object-oriented-programming" TargetMode="External"/><Relationship Id="rId2"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hyperlink" Target="https://www.w3schools.com/cpp/cpp_conditions.asp" TargetMode="External"/><Relationship Id="rId5" Type="http://schemas.openxmlformats.org/officeDocument/2006/relationships/hyperlink" Target="https://www.codecademy.com/learn/c-plus-plus-for-programmers/modules/control-flow-cpp/cheatsheet" TargetMode="External"/><Relationship Id="rId4" Type="http://schemas.openxmlformats.org/officeDocument/2006/relationships/hyperlink" Target="https://www.geeksforgeeks.org/computer-science-fundamentals/control-flow-statements-in-programming/"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3E509FF9-BDD9-A1BF-5237-538EDDB6BC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0"/>
            <a:ext cx="6930551" cy="10058400"/>
          </a:xfrm>
          <a:prstGeom prst="rect">
            <a:avLst/>
          </a:prstGeom>
        </p:spPr>
      </p:pic>
      <p:sp>
        <p:nvSpPr>
          <p:cNvPr id="4" name="TextBox 3">
            <a:extLst>
              <a:ext uri="{FF2B5EF4-FFF2-40B4-BE49-F238E27FC236}">
                <a16:creationId xmlns:a16="http://schemas.microsoft.com/office/drawing/2014/main" id="{D8BA4A3A-9CBD-44CA-33BC-CBAF4E859677}"/>
              </a:ext>
            </a:extLst>
          </p:cNvPr>
          <p:cNvSpPr txBox="1"/>
          <p:nvPr/>
        </p:nvSpPr>
        <p:spPr>
          <a:xfrm>
            <a:off x="0" y="65927"/>
            <a:ext cx="6858000" cy="1200329"/>
          </a:xfrm>
          <a:prstGeom prst="rect">
            <a:avLst/>
          </a:prstGeom>
          <a:noFill/>
        </p:spPr>
        <p:txBody>
          <a:bodyPr wrap="square" rtlCol="0">
            <a:spAutoFit/>
          </a:bodyPr>
          <a:lstStyle/>
          <a:p>
            <a:pPr algn="ctr"/>
            <a:r>
              <a:rPr lang="en-US" sz="3600" b="1" dirty="0">
                <a:latin typeface="Arial" panose="020B0604020202020204" pitchFamily="34" charset="0"/>
                <a:cs typeface="Arial" panose="020B0604020202020204" pitchFamily="34" charset="0"/>
              </a:rPr>
              <a:t>COS1512 – Online Class Session – 24 APRIL 2026</a:t>
            </a:r>
            <a:endParaRPr lang="en-ZA" sz="3600" b="1" dirty="0">
              <a:latin typeface="Arial" panose="020B0604020202020204" pitchFamily="34" charset="0"/>
              <a:cs typeface="Arial" panose="020B0604020202020204" pitchFamily="34" charset="0"/>
            </a:endParaRPr>
          </a:p>
        </p:txBody>
      </p:sp>
      <p:sp>
        <p:nvSpPr>
          <p:cNvPr id="2" name="Title 1">
            <a:extLst>
              <a:ext uri="{FF2B5EF4-FFF2-40B4-BE49-F238E27FC236}">
                <a16:creationId xmlns:a16="http://schemas.microsoft.com/office/drawing/2014/main" id="{58C44F4B-5D92-BFC5-653C-CD4E349F6C3A}"/>
              </a:ext>
            </a:extLst>
          </p:cNvPr>
          <p:cNvSpPr txBox="1">
            <a:spLocks/>
          </p:cNvSpPr>
          <p:nvPr/>
        </p:nvSpPr>
        <p:spPr>
          <a:xfrm>
            <a:off x="467916" y="2469624"/>
            <a:ext cx="5915025" cy="2483376"/>
          </a:xfrm>
          <a:prstGeom prst="rect">
            <a:avLst/>
          </a:prstGeom>
        </p:spPr>
        <p:txBody>
          <a:bodyPr vert="horz" lIns="91440" tIns="45720" rIns="91440" bIns="45720" rtlCol="0" anchor="b">
            <a:normAutofit lnSpcReduction="10000"/>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r>
              <a:rPr lang="en-US" sz="4800" b="1" dirty="0"/>
              <a:t>COS1512 – INTRODUCTION TO PROGRAMMING II – Using C++</a:t>
            </a:r>
            <a:endParaRPr lang="en-ZA" b="1" dirty="0"/>
          </a:p>
        </p:txBody>
      </p:sp>
      <p:sp>
        <p:nvSpPr>
          <p:cNvPr id="3" name="Text Placeholder 2">
            <a:extLst>
              <a:ext uri="{FF2B5EF4-FFF2-40B4-BE49-F238E27FC236}">
                <a16:creationId xmlns:a16="http://schemas.microsoft.com/office/drawing/2014/main" id="{7B3CD2F3-FE1E-ECCE-5428-E1525056D51E}"/>
              </a:ext>
            </a:extLst>
          </p:cNvPr>
          <p:cNvSpPr txBox="1">
            <a:spLocks/>
          </p:cNvSpPr>
          <p:nvPr/>
        </p:nvSpPr>
        <p:spPr>
          <a:xfrm>
            <a:off x="467916" y="5789289"/>
            <a:ext cx="5915025" cy="857269"/>
          </a:xfrm>
          <a:prstGeom prst="rect">
            <a:avLst/>
          </a:prstGeom>
        </p:spPr>
        <p:txBody>
          <a:bodyPr vert="horz" lIns="91440" tIns="45720" rIns="91440" bIns="45720" rtlCol="0">
            <a:normAutofit fontScale="70000" lnSpcReduction="20000"/>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r>
              <a:rPr lang="en-US" sz="2400" b="1" i="1" dirty="0"/>
              <a:t>Academic Year: 2026</a:t>
            </a:r>
          </a:p>
          <a:p>
            <a:r>
              <a:rPr lang="en-US" sz="2400" b="1" i="1" dirty="0"/>
              <a:t>Date: 24 APRIL 2026</a:t>
            </a:r>
          </a:p>
          <a:p>
            <a:r>
              <a:rPr lang="en-US" sz="2400" b="1" i="1" dirty="0"/>
              <a:t>Time: 17:00 PM to 19:00 PM</a:t>
            </a:r>
            <a:endParaRPr lang="en-ZA" sz="2400" b="1" i="1" dirty="0"/>
          </a:p>
        </p:txBody>
      </p:sp>
    </p:spTree>
    <p:extLst>
      <p:ext uri="{BB962C8B-B14F-4D97-AF65-F5344CB8AC3E}">
        <p14:creationId xmlns:p14="http://schemas.microsoft.com/office/powerpoint/2010/main" val="4965932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3A1252-968A-A97A-6796-E8553F19BEFD}"/>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7BF1D3AB-2F2A-1FCB-96ED-9EF33DE562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0"/>
            <a:ext cx="6930551" cy="10058400"/>
          </a:xfrm>
          <a:prstGeom prst="rect">
            <a:avLst/>
          </a:prstGeom>
        </p:spPr>
      </p:pic>
      <p:sp>
        <p:nvSpPr>
          <p:cNvPr id="4" name="TextBox 3">
            <a:extLst>
              <a:ext uri="{FF2B5EF4-FFF2-40B4-BE49-F238E27FC236}">
                <a16:creationId xmlns:a16="http://schemas.microsoft.com/office/drawing/2014/main" id="{1B2EFCF2-CB78-E497-F9BE-A5AC45242B2A}"/>
              </a:ext>
            </a:extLst>
          </p:cNvPr>
          <p:cNvSpPr txBox="1"/>
          <p:nvPr/>
        </p:nvSpPr>
        <p:spPr>
          <a:xfrm>
            <a:off x="0" y="65927"/>
            <a:ext cx="6858000" cy="646331"/>
          </a:xfrm>
          <a:prstGeom prst="rect">
            <a:avLst/>
          </a:prstGeom>
          <a:noFill/>
        </p:spPr>
        <p:txBody>
          <a:bodyPr wrap="square" rtlCol="0">
            <a:spAutoFit/>
          </a:bodyPr>
          <a:lstStyle/>
          <a:p>
            <a:pPr algn="ctr"/>
            <a:r>
              <a:rPr lang="en-US" sz="3600" b="1" dirty="0">
                <a:latin typeface="Arial" panose="020B0604020202020204" pitchFamily="34" charset="0"/>
                <a:cs typeface="Arial" panose="020B0604020202020204" pitchFamily="34" charset="0"/>
              </a:rPr>
              <a:t>Topics</a:t>
            </a:r>
            <a:endParaRPr lang="en-ZA" sz="3600" b="1" dirty="0">
              <a:latin typeface="Arial" panose="020B0604020202020204" pitchFamily="34" charset="0"/>
              <a:cs typeface="Arial" panose="020B0604020202020204" pitchFamily="34" charset="0"/>
            </a:endParaRPr>
          </a:p>
        </p:txBody>
      </p:sp>
      <p:sp>
        <p:nvSpPr>
          <p:cNvPr id="2" name="Title 1">
            <a:extLst>
              <a:ext uri="{FF2B5EF4-FFF2-40B4-BE49-F238E27FC236}">
                <a16:creationId xmlns:a16="http://schemas.microsoft.com/office/drawing/2014/main" id="{69E19299-7E0C-EB3F-6C39-08CDCDA7A501}"/>
              </a:ext>
            </a:extLst>
          </p:cNvPr>
          <p:cNvSpPr txBox="1">
            <a:spLocks/>
          </p:cNvSpPr>
          <p:nvPr/>
        </p:nvSpPr>
        <p:spPr>
          <a:xfrm>
            <a:off x="467916" y="2469624"/>
            <a:ext cx="5915025" cy="2483376"/>
          </a:xfrm>
          <a:prstGeom prst="rect">
            <a:avLst/>
          </a:prstGeom>
        </p:spPr>
        <p:txBody>
          <a:bodyPr vert="horz" lIns="91440" tIns="45720" rIns="91440" bIns="45720" rtlCol="0" anchor="b">
            <a:norm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r>
              <a:rPr lang="en-US" sz="4800" b="1" dirty="0">
                <a:latin typeface="Arial" panose="020B0604020202020204" pitchFamily="34" charset="0"/>
                <a:cs typeface="Arial" panose="020B0604020202020204" pitchFamily="34" charset="0"/>
              </a:rPr>
              <a:t>Chapter 2 &amp; 3</a:t>
            </a:r>
            <a:endParaRPr lang="en-US" sz="4800" b="1" dirty="0"/>
          </a:p>
        </p:txBody>
      </p:sp>
      <p:sp>
        <p:nvSpPr>
          <p:cNvPr id="3" name="Text Placeholder 2">
            <a:extLst>
              <a:ext uri="{FF2B5EF4-FFF2-40B4-BE49-F238E27FC236}">
                <a16:creationId xmlns:a16="http://schemas.microsoft.com/office/drawing/2014/main" id="{0E07602D-94A4-AD8F-019E-D2D062AF4298}"/>
              </a:ext>
            </a:extLst>
          </p:cNvPr>
          <p:cNvSpPr txBox="1">
            <a:spLocks/>
          </p:cNvSpPr>
          <p:nvPr/>
        </p:nvSpPr>
        <p:spPr>
          <a:xfrm>
            <a:off x="467916" y="5789289"/>
            <a:ext cx="5915025" cy="857269"/>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endParaRPr lang="en-ZA" b="1" i="1" dirty="0"/>
          </a:p>
        </p:txBody>
      </p:sp>
    </p:spTree>
    <p:extLst>
      <p:ext uri="{BB962C8B-B14F-4D97-AF65-F5344CB8AC3E}">
        <p14:creationId xmlns:p14="http://schemas.microsoft.com/office/powerpoint/2010/main" val="25913274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FEBD26-80FA-7F66-3987-963EB7F23A91}"/>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CC44998F-9DCE-2AE0-4144-F073D5F733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D4EE4FF0-8370-A7DC-3EEE-615C5BB6B375}"/>
              </a:ext>
            </a:extLst>
          </p:cNvPr>
          <p:cNvSpPr txBox="1"/>
          <p:nvPr/>
        </p:nvSpPr>
        <p:spPr>
          <a:xfrm>
            <a:off x="0" y="65927"/>
            <a:ext cx="6858000" cy="646331"/>
          </a:xfrm>
          <a:prstGeom prst="rect">
            <a:avLst/>
          </a:prstGeom>
          <a:noFill/>
        </p:spPr>
        <p:txBody>
          <a:bodyPr wrap="square" rtlCol="0">
            <a:spAutoFit/>
          </a:bodyPr>
          <a:lstStyle/>
          <a:p>
            <a:pPr algn="ctr"/>
            <a:r>
              <a:rPr lang="en-US" sz="3600" b="1" dirty="0">
                <a:latin typeface="Arial" panose="020B0604020202020204" pitchFamily="34" charset="0"/>
                <a:cs typeface="Arial" panose="020B0604020202020204" pitchFamily="34" charset="0"/>
              </a:rPr>
              <a:t>Contents</a:t>
            </a:r>
            <a:endParaRPr lang="en-ZA" sz="3600" b="1" dirty="0">
              <a:latin typeface="Arial" panose="020B0604020202020204" pitchFamily="34" charset="0"/>
              <a:cs typeface="Arial" panose="020B0604020202020204" pitchFamily="34" charset="0"/>
            </a:endParaRPr>
          </a:p>
        </p:txBody>
      </p:sp>
      <p:sp>
        <p:nvSpPr>
          <p:cNvPr id="2" name="Content Placeholder 2">
            <a:extLst>
              <a:ext uri="{FF2B5EF4-FFF2-40B4-BE49-F238E27FC236}">
                <a16:creationId xmlns:a16="http://schemas.microsoft.com/office/drawing/2014/main" id="{4CD28D54-B58B-08EC-2E1B-772D6B1BFB63}"/>
              </a:ext>
            </a:extLst>
          </p:cNvPr>
          <p:cNvSpPr txBox="1">
            <a:spLocks/>
          </p:cNvSpPr>
          <p:nvPr/>
        </p:nvSpPr>
        <p:spPr>
          <a:xfrm>
            <a:off x="471488" y="2637014"/>
            <a:ext cx="5915025" cy="6285266"/>
          </a:xfrm>
          <a:prstGeom prst="rect">
            <a:avLst/>
          </a:prstGeom>
        </p:spPr>
        <p:txBody>
          <a:bodyPr vert="horz" lIns="91440" tIns="45720" rIns="91440" bIns="45720" rtlCol="0">
            <a:normAutofit fontScale="92500" lnSpcReduction="10000"/>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marL="457200" indent="-457200" algn="l">
              <a:buFont typeface="+mj-lt"/>
              <a:buAutoNum type="arabicPeriod"/>
            </a:pPr>
            <a:r>
              <a:rPr lang="en-US" sz="2800" b="1" dirty="0"/>
              <a:t>Assignment Statement / Operators</a:t>
            </a:r>
          </a:p>
          <a:p>
            <a:pPr marL="457200" indent="-457200" algn="l">
              <a:buFont typeface="+mj-lt"/>
              <a:buAutoNum type="arabicPeriod"/>
            </a:pPr>
            <a:r>
              <a:rPr lang="en-US" sz="2800" b="1" dirty="0"/>
              <a:t>Increment and Decrement Operators</a:t>
            </a:r>
          </a:p>
          <a:p>
            <a:pPr marL="457200" indent="-457200" algn="l">
              <a:buFont typeface="+mj-lt"/>
              <a:buAutoNum type="arabicPeriod"/>
            </a:pPr>
            <a:r>
              <a:rPr lang="en-US" sz="2800" b="1" dirty="0"/>
              <a:t>Boolean Operators (both Relational and Logical)</a:t>
            </a:r>
          </a:p>
          <a:p>
            <a:pPr marL="457200" indent="-457200" algn="l">
              <a:buFont typeface="+mj-lt"/>
              <a:buAutoNum type="arabicPeriod"/>
            </a:pPr>
            <a:r>
              <a:rPr lang="en-US" sz="2800" b="1" dirty="0"/>
              <a:t>Relational Operators</a:t>
            </a:r>
          </a:p>
          <a:p>
            <a:pPr marL="457200" indent="-457200" algn="l">
              <a:buFont typeface="+mj-lt"/>
              <a:buAutoNum type="arabicPeriod"/>
            </a:pPr>
            <a:r>
              <a:rPr lang="en-US" sz="2800" b="1" dirty="0"/>
              <a:t>Logical Operators</a:t>
            </a:r>
          </a:p>
          <a:p>
            <a:pPr marL="457200" indent="-457200" algn="l">
              <a:buFont typeface="+mj-lt"/>
              <a:buAutoNum type="arabicPeriod"/>
            </a:pPr>
            <a:r>
              <a:rPr lang="en-US" sz="2800" b="1" dirty="0"/>
              <a:t>Truth Table</a:t>
            </a:r>
          </a:p>
          <a:p>
            <a:pPr marL="457200" indent="-457200" algn="l">
              <a:buFont typeface="+mj-lt"/>
              <a:buAutoNum type="arabicPeriod"/>
            </a:pPr>
            <a:r>
              <a:rPr lang="en-US" sz="2800" b="1" dirty="0"/>
              <a:t>Order of Precedence Rules</a:t>
            </a:r>
          </a:p>
          <a:p>
            <a:pPr marL="457200" indent="-457200" algn="l">
              <a:buFont typeface="+mj-lt"/>
              <a:buAutoNum type="arabicPeriod"/>
            </a:pPr>
            <a:r>
              <a:rPr lang="en-US" sz="2800" b="1" dirty="0"/>
              <a:t>Flow of Control (Control Structures)</a:t>
            </a:r>
          </a:p>
          <a:p>
            <a:pPr marL="457200" indent="-457200" algn="l">
              <a:buFont typeface="+mj-lt"/>
              <a:buAutoNum type="arabicPeriod"/>
            </a:pPr>
            <a:r>
              <a:rPr lang="en-US" sz="2800" b="1" dirty="0"/>
              <a:t>Sequential Control Structure</a:t>
            </a:r>
          </a:p>
          <a:p>
            <a:pPr marL="457200" indent="-457200" algn="l">
              <a:buFont typeface="+mj-lt"/>
              <a:buAutoNum type="arabicPeriod"/>
            </a:pPr>
            <a:r>
              <a:rPr lang="en-US" sz="2800" b="1" dirty="0"/>
              <a:t>Selection Control Structure</a:t>
            </a:r>
          </a:p>
          <a:p>
            <a:pPr marL="457200" indent="-457200" algn="l">
              <a:buFont typeface="+mj-lt"/>
              <a:buAutoNum type="arabicPeriod"/>
            </a:pPr>
            <a:r>
              <a:rPr lang="en-US" sz="2800" b="1" dirty="0"/>
              <a:t> Repetition Control Structure</a:t>
            </a:r>
          </a:p>
          <a:p>
            <a:pPr marL="457200" indent="-457200" algn="l">
              <a:buFont typeface="+mj-lt"/>
              <a:buAutoNum type="arabicPeriod"/>
            </a:pPr>
            <a:r>
              <a:rPr lang="en-US" sz="2800" b="1" dirty="0"/>
              <a:t> break and continue statement</a:t>
            </a:r>
          </a:p>
          <a:p>
            <a:pPr marL="457200" indent="-457200" algn="l">
              <a:buFont typeface="+mj-lt"/>
              <a:buAutoNum type="arabicPeriod"/>
            </a:pPr>
            <a:r>
              <a:rPr lang="en-US" sz="2800" b="1" dirty="0"/>
              <a:t> Nested control structures</a:t>
            </a:r>
          </a:p>
          <a:p>
            <a:pPr marL="457200" indent="-457200" algn="l">
              <a:buFont typeface="+mj-lt"/>
              <a:buAutoNum type="arabicPeriod"/>
            </a:pPr>
            <a:endParaRPr lang="en-US" sz="2800" b="1" dirty="0"/>
          </a:p>
          <a:p>
            <a:pPr marL="457200" indent="-457200" algn="l">
              <a:buFont typeface="+mj-lt"/>
              <a:buAutoNum type="arabicPeriod"/>
            </a:pPr>
            <a:endParaRPr lang="en-US" sz="2800" b="1" dirty="0"/>
          </a:p>
          <a:p>
            <a:pPr marL="285750" indent="-285750">
              <a:buFont typeface="Arial" panose="020B0604020202020204" pitchFamily="34" charset="0"/>
              <a:buChar char="•"/>
            </a:pPr>
            <a:endParaRPr lang="en-US" sz="2400" b="1" dirty="0"/>
          </a:p>
        </p:txBody>
      </p:sp>
    </p:spTree>
    <p:extLst>
      <p:ext uri="{BB962C8B-B14F-4D97-AF65-F5344CB8AC3E}">
        <p14:creationId xmlns:p14="http://schemas.microsoft.com/office/powerpoint/2010/main" val="33164230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C75BB3-8A95-B419-4513-6AB3F7C63FDA}"/>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836B6F60-F7FC-B7D3-46D6-18C36EEA7A4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FA861DBF-F41A-DB56-D827-0F0F733FC315}"/>
              </a:ext>
            </a:extLst>
          </p:cNvPr>
          <p:cNvSpPr txBox="1"/>
          <p:nvPr/>
        </p:nvSpPr>
        <p:spPr>
          <a:xfrm>
            <a:off x="0" y="65927"/>
            <a:ext cx="6858000" cy="646331"/>
          </a:xfrm>
          <a:prstGeom prst="rect">
            <a:avLst/>
          </a:prstGeom>
          <a:noFill/>
        </p:spPr>
        <p:txBody>
          <a:bodyPr wrap="square" rtlCol="0">
            <a:spAutoFit/>
          </a:bodyPr>
          <a:lstStyle/>
          <a:p>
            <a:r>
              <a:rPr lang="en-US" sz="3600" b="1" dirty="0"/>
              <a:t>Assignment Statement / Operators</a:t>
            </a:r>
          </a:p>
        </p:txBody>
      </p:sp>
      <p:sp>
        <p:nvSpPr>
          <p:cNvPr id="2" name="Content Placeholder 2">
            <a:extLst>
              <a:ext uri="{FF2B5EF4-FFF2-40B4-BE49-F238E27FC236}">
                <a16:creationId xmlns:a16="http://schemas.microsoft.com/office/drawing/2014/main" id="{F9C0EDF9-73E6-3C00-45D7-B7F0CFC0CF7B}"/>
              </a:ext>
            </a:extLst>
          </p:cNvPr>
          <p:cNvSpPr txBox="1">
            <a:spLocks/>
          </p:cNvSpPr>
          <p:nvPr/>
        </p:nvSpPr>
        <p:spPr>
          <a:xfrm>
            <a:off x="471488" y="2637014"/>
            <a:ext cx="5915025" cy="6285266"/>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US" sz="2400" dirty="0"/>
              <a:t>There is a shorthand notation that combines the assignment operator (=) and an arithmetic operator so that a given variable can have its value changed by adding, subtracting, multiplying by, or dividing by a specified value. The general</a:t>
            </a:r>
          </a:p>
          <a:p>
            <a:pPr algn="l"/>
            <a:r>
              <a:rPr lang="en-ZA" sz="2400" dirty="0"/>
              <a:t>form is:</a:t>
            </a:r>
          </a:p>
          <a:p>
            <a:pPr algn="l"/>
            <a:r>
              <a:rPr lang="en-ZA" sz="2400" i="1" dirty="0"/>
              <a:t>	Variable Op = Expression</a:t>
            </a:r>
          </a:p>
          <a:p>
            <a:pPr algn="l"/>
            <a:r>
              <a:rPr lang="en-ZA" sz="2400" dirty="0"/>
              <a:t>Following are examples:</a:t>
            </a:r>
            <a:endParaRPr lang="en-US" sz="2400" dirty="0"/>
          </a:p>
          <a:p>
            <a:pPr algn="l"/>
            <a:endParaRPr lang="en-US" altLang="en-US" sz="2400" b="1" dirty="0"/>
          </a:p>
          <a:p>
            <a:pPr algn="l"/>
            <a:endParaRPr lang="en-US" altLang="en-US" sz="2400" b="1" dirty="0"/>
          </a:p>
          <a:p>
            <a:pPr marL="457200" indent="-457200" algn="l">
              <a:buFont typeface="+mj-lt"/>
              <a:buAutoNum type="arabicPeriod"/>
            </a:pPr>
            <a:endParaRPr lang="en-US" sz="2800" b="1" dirty="0"/>
          </a:p>
          <a:p>
            <a:pPr marL="457200" indent="-457200" algn="l">
              <a:buFont typeface="+mj-lt"/>
              <a:buAutoNum type="arabicPeriod"/>
            </a:pPr>
            <a:endParaRPr lang="en-US" sz="2800" b="1" dirty="0"/>
          </a:p>
          <a:p>
            <a:pPr marL="285750" indent="-285750">
              <a:buFont typeface="Arial" panose="020B0604020202020204" pitchFamily="34" charset="0"/>
              <a:buChar char="•"/>
            </a:pPr>
            <a:endParaRPr lang="en-US" sz="2400" b="1" dirty="0"/>
          </a:p>
        </p:txBody>
      </p:sp>
      <p:pic>
        <p:nvPicPr>
          <p:cNvPr id="6" name="Picture 5">
            <a:extLst>
              <a:ext uri="{FF2B5EF4-FFF2-40B4-BE49-F238E27FC236}">
                <a16:creationId xmlns:a16="http://schemas.microsoft.com/office/drawing/2014/main" id="{DCC4DB34-78DE-F07E-4C9E-28EFE7A71E4E}"/>
              </a:ext>
            </a:extLst>
          </p:cNvPr>
          <p:cNvPicPr>
            <a:picLocks noChangeAspect="1"/>
          </p:cNvPicPr>
          <p:nvPr/>
        </p:nvPicPr>
        <p:blipFill>
          <a:blip r:embed="rId3"/>
          <a:stretch>
            <a:fillRect/>
          </a:stretch>
        </p:blipFill>
        <p:spPr>
          <a:xfrm>
            <a:off x="495686" y="6112043"/>
            <a:ext cx="5886517" cy="2810238"/>
          </a:xfrm>
          <a:prstGeom prst="rect">
            <a:avLst/>
          </a:prstGeom>
        </p:spPr>
      </p:pic>
    </p:spTree>
    <p:extLst>
      <p:ext uri="{BB962C8B-B14F-4D97-AF65-F5344CB8AC3E}">
        <p14:creationId xmlns:p14="http://schemas.microsoft.com/office/powerpoint/2010/main" val="41409636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0178DD-1272-7671-EE3D-09D56D31FAB0}"/>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1423CBD2-7A92-8CA4-5759-8B8458644EC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8A6B27DA-242E-8C99-8412-C66029E22D66}"/>
              </a:ext>
            </a:extLst>
          </p:cNvPr>
          <p:cNvSpPr txBox="1"/>
          <p:nvPr/>
        </p:nvSpPr>
        <p:spPr>
          <a:xfrm>
            <a:off x="0" y="65927"/>
            <a:ext cx="6858000" cy="1200329"/>
          </a:xfrm>
          <a:prstGeom prst="rect">
            <a:avLst/>
          </a:prstGeom>
          <a:noFill/>
        </p:spPr>
        <p:txBody>
          <a:bodyPr wrap="square" rtlCol="0">
            <a:spAutoFit/>
          </a:bodyPr>
          <a:lstStyle/>
          <a:p>
            <a:r>
              <a:rPr lang="en-US" sz="3600" b="1" dirty="0"/>
              <a:t>Increment and Decrement Operators</a:t>
            </a:r>
          </a:p>
        </p:txBody>
      </p:sp>
      <p:sp>
        <p:nvSpPr>
          <p:cNvPr id="2" name="Content Placeholder 2">
            <a:extLst>
              <a:ext uri="{FF2B5EF4-FFF2-40B4-BE49-F238E27FC236}">
                <a16:creationId xmlns:a16="http://schemas.microsoft.com/office/drawing/2014/main" id="{53F748C3-FF91-C384-C274-19AF045B70DC}"/>
              </a:ext>
            </a:extLst>
          </p:cNvPr>
          <p:cNvSpPr txBox="1">
            <a:spLocks/>
          </p:cNvSpPr>
          <p:nvPr/>
        </p:nvSpPr>
        <p:spPr>
          <a:xfrm>
            <a:off x="471488" y="2637014"/>
            <a:ext cx="5915025" cy="6285266"/>
          </a:xfrm>
          <a:prstGeom prst="rect">
            <a:avLst/>
          </a:prstGeom>
        </p:spPr>
        <p:txBody>
          <a:bodyPr vert="horz" lIns="91440" tIns="45720" rIns="91440" bIns="45720" rtlCol="0">
            <a:normAutofit fontScale="85000" lnSpcReduction="20000"/>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US" sz="2600" b="1" dirty="0"/>
              <a:t>Binary operators </a:t>
            </a:r>
            <a:r>
              <a:rPr lang="en-US" sz="2600" dirty="0"/>
              <a:t>have two operands.</a:t>
            </a:r>
          </a:p>
          <a:p>
            <a:pPr algn="l"/>
            <a:r>
              <a:rPr lang="en-US" sz="2600" dirty="0"/>
              <a:t>int x = 3, y= 5;</a:t>
            </a:r>
          </a:p>
          <a:p>
            <a:pPr algn="l"/>
            <a:r>
              <a:rPr lang="en-US" sz="2600" dirty="0"/>
              <a:t>int sum = x + y; </a:t>
            </a:r>
            <a:r>
              <a:rPr lang="en-ZA" sz="2800" dirty="0">
                <a:solidFill>
                  <a:srgbClr val="00B050"/>
                </a:solidFill>
              </a:rPr>
              <a:t>// '+' is a binary operator</a:t>
            </a:r>
            <a:endParaRPr lang="en-US" sz="2600" dirty="0">
              <a:solidFill>
                <a:srgbClr val="00B050"/>
              </a:solidFill>
            </a:endParaRPr>
          </a:p>
          <a:p>
            <a:pPr algn="l"/>
            <a:endParaRPr lang="en-US" sz="2600" dirty="0"/>
          </a:p>
          <a:p>
            <a:pPr algn="l"/>
            <a:r>
              <a:rPr lang="en-US" sz="2600" b="1" dirty="0"/>
              <a:t>Unary operators </a:t>
            </a:r>
            <a:r>
              <a:rPr lang="en-US" sz="2600" dirty="0"/>
              <a:t>have only one operand. The C++ language has two other very common unary operators, ++ and −−. The ++ operator is called the </a:t>
            </a:r>
            <a:r>
              <a:rPr lang="en-US" sz="2600" b="1" dirty="0"/>
              <a:t>increment operator </a:t>
            </a:r>
            <a:r>
              <a:rPr lang="en-US" sz="2600" dirty="0"/>
              <a:t>and the −− operator is called the </a:t>
            </a:r>
            <a:r>
              <a:rPr lang="en-US" sz="2600" b="1" dirty="0"/>
              <a:t>decrement operator. </a:t>
            </a:r>
            <a:r>
              <a:rPr lang="en-US" sz="2600" dirty="0"/>
              <a:t>They are usually used with variables of type </a:t>
            </a:r>
            <a:r>
              <a:rPr lang="en-US" sz="2600" i="1" dirty="0"/>
              <a:t>int</a:t>
            </a:r>
            <a:r>
              <a:rPr lang="en-US" sz="2600" dirty="0"/>
              <a:t>. If n is a variable of type </a:t>
            </a:r>
            <a:r>
              <a:rPr lang="en-US" sz="2600" i="1" dirty="0"/>
              <a:t>int</a:t>
            </a:r>
            <a:r>
              <a:rPr lang="en-US" sz="2600" dirty="0"/>
              <a:t>, then n++ increases the value of n by one and n−− decreases the value of n by one. </a:t>
            </a:r>
          </a:p>
          <a:p>
            <a:pPr algn="l"/>
            <a:r>
              <a:rPr lang="en-US" sz="2600" dirty="0"/>
              <a:t>So, n++ and n−− (when followed by a semicolon) are executable statements.</a:t>
            </a:r>
            <a:endParaRPr lang="en-US" altLang="en-US" sz="2600" b="1" dirty="0"/>
          </a:p>
          <a:p>
            <a:pPr algn="l"/>
            <a:endParaRPr lang="en-US" altLang="en-US" sz="2400" b="1" dirty="0"/>
          </a:p>
          <a:p>
            <a:pPr algn="l"/>
            <a:r>
              <a:rPr lang="en-US" altLang="en-US" sz="2400" b="1" dirty="0">
                <a:solidFill>
                  <a:srgbClr val="0070C0"/>
                </a:solidFill>
              </a:rPr>
              <a:t>int</a:t>
            </a:r>
            <a:r>
              <a:rPr lang="en-US" altLang="en-US" sz="2400" b="1" dirty="0"/>
              <a:t> n = 5;</a:t>
            </a:r>
          </a:p>
          <a:p>
            <a:pPr algn="l"/>
            <a:r>
              <a:rPr lang="en-US" altLang="en-US" sz="2400" b="1" dirty="0"/>
              <a:t>n++; </a:t>
            </a:r>
            <a:r>
              <a:rPr lang="en-US" altLang="en-US" sz="2400" b="1" dirty="0">
                <a:solidFill>
                  <a:srgbClr val="00B050"/>
                </a:solidFill>
              </a:rPr>
              <a:t>// equivalent to n = n + 1 = 5 + 1 = 6</a:t>
            </a:r>
          </a:p>
          <a:p>
            <a:pPr algn="l"/>
            <a:endParaRPr lang="en-US" altLang="en-US" sz="2400" b="1" dirty="0"/>
          </a:p>
          <a:p>
            <a:pPr algn="l"/>
            <a:r>
              <a:rPr lang="en-US" altLang="en-US" sz="2400" b="1" dirty="0">
                <a:solidFill>
                  <a:srgbClr val="0070C0"/>
                </a:solidFill>
              </a:rPr>
              <a:t>int</a:t>
            </a:r>
            <a:r>
              <a:rPr lang="en-US" altLang="en-US" sz="2400" b="1" dirty="0"/>
              <a:t> total = 0;</a:t>
            </a:r>
          </a:p>
          <a:p>
            <a:pPr algn="l"/>
            <a:r>
              <a:rPr lang="en-US" altLang="en-US" sz="2400" b="1" dirty="0"/>
              <a:t>total--; </a:t>
            </a:r>
            <a:r>
              <a:rPr lang="en-US" altLang="en-US" sz="2400" b="1" dirty="0">
                <a:solidFill>
                  <a:srgbClr val="00B050"/>
                </a:solidFill>
              </a:rPr>
              <a:t>// equivalent to total = total – 1 = 0 – 1 = – 1</a:t>
            </a:r>
          </a:p>
          <a:p>
            <a:pPr marL="457200" indent="-457200" algn="l">
              <a:buFont typeface="+mj-lt"/>
              <a:buAutoNum type="arabicPeriod"/>
            </a:pPr>
            <a:endParaRPr lang="en-US" sz="2800" b="1" dirty="0"/>
          </a:p>
          <a:p>
            <a:pPr marL="457200" indent="-457200" algn="l">
              <a:buFont typeface="+mj-lt"/>
              <a:buAutoNum type="arabicPeriod"/>
            </a:pPr>
            <a:endParaRPr lang="en-US" sz="2800" b="1" dirty="0"/>
          </a:p>
          <a:p>
            <a:pPr marL="285750" indent="-285750">
              <a:buFont typeface="Arial" panose="020B0604020202020204" pitchFamily="34" charset="0"/>
              <a:buChar char="•"/>
            </a:pPr>
            <a:endParaRPr lang="en-US" sz="2400" b="1" dirty="0"/>
          </a:p>
        </p:txBody>
      </p:sp>
    </p:spTree>
    <p:extLst>
      <p:ext uri="{BB962C8B-B14F-4D97-AF65-F5344CB8AC3E}">
        <p14:creationId xmlns:p14="http://schemas.microsoft.com/office/powerpoint/2010/main" val="15177168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02C0E1-579E-A2A4-FBB5-A0C3FA711ADD}"/>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05DA5666-D207-7C2F-22D4-BEAA2230158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4AFFD771-0A76-E01C-C80A-F5EC52C7D3E1}"/>
              </a:ext>
            </a:extLst>
          </p:cNvPr>
          <p:cNvSpPr txBox="1"/>
          <p:nvPr/>
        </p:nvSpPr>
        <p:spPr>
          <a:xfrm>
            <a:off x="0" y="65927"/>
            <a:ext cx="6858000" cy="1200329"/>
          </a:xfrm>
          <a:prstGeom prst="rect">
            <a:avLst/>
          </a:prstGeom>
          <a:noFill/>
        </p:spPr>
        <p:txBody>
          <a:bodyPr wrap="square" rtlCol="0">
            <a:spAutoFit/>
          </a:bodyPr>
          <a:lstStyle/>
          <a:p>
            <a:pPr algn="ctr"/>
            <a:r>
              <a:rPr lang="en-US" sz="3600" b="1" dirty="0"/>
              <a:t>Boolean Operators (Relational and Logical)</a:t>
            </a:r>
            <a:endParaRPr lang="en-ZA" sz="3600" b="1" dirty="0">
              <a:latin typeface="Arial" panose="020B0604020202020204" pitchFamily="34" charset="0"/>
              <a:cs typeface="Arial" panose="020B0604020202020204" pitchFamily="34" charset="0"/>
            </a:endParaRPr>
          </a:p>
        </p:txBody>
      </p:sp>
      <p:sp>
        <p:nvSpPr>
          <p:cNvPr id="2" name="Content Placeholder 2">
            <a:extLst>
              <a:ext uri="{FF2B5EF4-FFF2-40B4-BE49-F238E27FC236}">
                <a16:creationId xmlns:a16="http://schemas.microsoft.com/office/drawing/2014/main" id="{44B45C03-C768-9F71-79C5-E38EC9F10A93}"/>
              </a:ext>
            </a:extLst>
          </p:cNvPr>
          <p:cNvSpPr txBox="1">
            <a:spLocks/>
          </p:cNvSpPr>
          <p:nvPr/>
        </p:nvSpPr>
        <p:spPr>
          <a:xfrm>
            <a:off x="471488" y="2637014"/>
            <a:ext cx="5915025" cy="6285266"/>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US" sz="2400" dirty="0"/>
              <a:t>Boolean operators includes both relational and logical operators. Boolean </a:t>
            </a:r>
            <a:r>
              <a:rPr lang="en-US" sz="2400" b="1" dirty="0"/>
              <a:t>(</a:t>
            </a:r>
            <a:r>
              <a:rPr lang="en-US" sz="2400" b="1" i="1" dirty="0"/>
              <a:t>bool</a:t>
            </a:r>
            <a:r>
              <a:rPr lang="en-US" sz="2400" b="1" dirty="0"/>
              <a:t>) </a:t>
            </a:r>
            <a:r>
              <a:rPr lang="en-US" sz="2400" dirty="0"/>
              <a:t>values are </a:t>
            </a:r>
            <a:r>
              <a:rPr lang="en-US" sz="2400" b="1" i="1" dirty="0"/>
              <a:t>true </a:t>
            </a:r>
            <a:r>
              <a:rPr lang="en-US" sz="2400" dirty="0"/>
              <a:t>and </a:t>
            </a:r>
            <a:r>
              <a:rPr lang="en-US" sz="2400" b="1" i="1" dirty="0"/>
              <a:t>false.</a:t>
            </a:r>
          </a:p>
          <a:p>
            <a:pPr algn="l"/>
            <a:r>
              <a:rPr lang="en-US" sz="2400" dirty="0"/>
              <a:t>In C++, a Boolean expression evaluates to the </a:t>
            </a:r>
            <a:r>
              <a:rPr lang="en-US" sz="2400" i="1" dirty="0"/>
              <a:t>bool </a:t>
            </a:r>
            <a:r>
              <a:rPr lang="en-US" sz="2400" dirty="0"/>
              <a:t>value </a:t>
            </a:r>
            <a:r>
              <a:rPr lang="en-US" sz="2400" i="1" dirty="0"/>
              <a:t>true </a:t>
            </a:r>
            <a:r>
              <a:rPr lang="en-US" sz="2400" dirty="0"/>
              <a:t>when it is satisfied and to the </a:t>
            </a:r>
            <a:r>
              <a:rPr lang="en-US" sz="2400" i="1" dirty="0"/>
              <a:t>bool </a:t>
            </a:r>
            <a:r>
              <a:rPr lang="en-US" sz="2400" dirty="0"/>
              <a:t>value </a:t>
            </a:r>
            <a:r>
              <a:rPr lang="en-US" sz="2400" i="1" dirty="0"/>
              <a:t>false </a:t>
            </a:r>
            <a:r>
              <a:rPr lang="en-US" sz="2400" dirty="0"/>
              <a:t>when it is not satisfied.</a:t>
            </a:r>
          </a:p>
          <a:p>
            <a:pPr algn="l"/>
            <a:endParaRPr lang="en-US" altLang="en-US" sz="2400" b="1" dirty="0"/>
          </a:p>
          <a:p>
            <a:pPr algn="l"/>
            <a:r>
              <a:rPr lang="en-US" altLang="en-US" sz="2400" dirty="0"/>
              <a:t>The data type </a:t>
            </a:r>
            <a:r>
              <a:rPr lang="en-US" altLang="en-US" sz="2400" b="1" dirty="0"/>
              <a:t>bool</a:t>
            </a:r>
            <a:r>
              <a:rPr lang="en-US" altLang="en-US" sz="2400" dirty="0"/>
              <a:t> has logical (Boolean) values </a:t>
            </a:r>
            <a:r>
              <a:rPr lang="en-US" altLang="en-US" sz="2400" b="1" dirty="0"/>
              <a:t>true</a:t>
            </a:r>
            <a:r>
              <a:rPr lang="en-US" altLang="en-US" sz="2400" dirty="0"/>
              <a:t> and </a:t>
            </a:r>
            <a:r>
              <a:rPr lang="en-US" altLang="en-US" sz="2400" b="1" dirty="0"/>
              <a:t>false.</a:t>
            </a:r>
          </a:p>
          <a:p>
            <a:pPr algn="l"/>
            <a:r>
              <a:rPr lang="en-US" altLang="en-US" sz="2400" b="1" dirty="0"/>
              <a:t>bool</a:t>
            </a:r>
            <a:r>
              <a:rPr lang="en-US" altLang="en-US" sz="2400" dirty="0"/>
              <a:t>, </a:t>
            </a:r>
            <a:r>
              <a:rPr lang="en-US" altLang="en-US" sz="2400" b="1" dirty="0"/>
              <a:t>true</a:t>
            </a:r>
            <a:r>
              <a:rPr lang="en-US" altLang="en-US" sz="2400" dirty="0"/>
              <a:t>, and </a:t>
            </a:r>
            <a:r>
              <a:rPr lang="en-US" altLang="en-US" sz="2400" b="1" dirty="0"/>
              <a:t>false</a:t>
            </a:r>
            <a:r>
              <a:rPr lang="en-US" altLang="en-US" sz="2400" dirty="0"/>
              <a:t> are reserved words.</a:t>
            </a:r>
          </a:p>
          <a:p>
            <a:pPr algn="l"/>
            <a:endParaRPr lang="en-US" altLang="en-US" sz="2400" dirty="0"/>
          </a:p>
          <a:p>
            <a:pPr algn="l"/>
            <a:r>
              <a:rPr lang="en-US" altLang="en-US" sz="2400" b="1" dirty="0"/>
              <a:t>For noting:</a:t>
            </a:r>
          </a:p>
          <a:p>
            <a:pPr algn="l"/>
            <a:r>
              <a:rPr lang="en-US" altLang="en-US" sz="2400" dirty="0"/>
              <a:t>The identifier </a:t>
            </a:r>
            <a:r>
              <a:rPr lang="en-US" altLang="en-US" sz="2400" b="1" dirty="0"/>
              <a:t>true</a:t>
            </a:r>
            <a:r>
              <a:rPr lang="en-US" altLang="en-US" sz="2400" dirty="0"/>
              <a:t> has the value </a:t>
            </a:r>
            <a:r>
              <a:rPr lang="en-US" altLang="en-US" sz="2400" b="1" dirty="0"/>
              <a:t>1.</a:t>
            </a:r>
            <a:endParaRPr lang="en-US" altLang="en-US" sz="2400" dirty="0"/>
          </a:p>
          <a:p>
            <a:pPr algn="l"/>
            <a:r>
              <a:rPr lang="en-US" altLang="en-US" sz="2400" dirty="0"/>
              <a:t>The identifier </a:t>
            </a:r>
            <a:r>
              <a:rPr lang="en-US" altLang="en-US" sz="2400" b="1" dirty="0"/>
              <a:t>false</a:t>
            </a:r>
            <a:r>
              <a:rPr lang="en-US" altLang="en-US" sz="2400" dirty="0"/>
              <a:t> has the value </a:t>
            </a:r>
            <a:r>
              <a:rPr lang="en-US" altLang="en-US" sz="2400" b="1" dirty="0"/>
              <a:t>0.</a:t>
            </a:r>
          </a:p>
          <a:p>
            <a:pPr marL="457200" indent="-457200" algn="l">
              <a:buFont typeface="+mj-lt"/>
              <a:buAutoNum type="arabicPeriod"/>
            </a:pPr>
            <a:endParaRPr lang="en-US" sz="2800" b="1" dirty="0"/>
          </a:p>
          <a:p>
            <a:pPr marL="457200" indent="-457200" algn="l">
              <a:buFont typeface="+mj-lt"/>
              <a:buAutoNum type="arabicPeriod"/>
            </a:pPr>
            <a:endParaRPr lang="en-US" sz="2800" b="1" dirty="0"/>
          </a:p>
          <a:p>
            <a:pPr marL="285750" indent="-285750">
              <a:buFont typeface="Arial" panose="020B0604020202020204" pitchFamily="34" charset="0"/>
              <a:buChar char="•"/>
            </a:pPr>
            <a:endParaRPr lang="en-US" sz="2400" b="1" dirty="0"/>
          </a:p>
        </p:txBody>
      </p:sp>
    </p:spTree>
    <p:extLst>
      <p:ext uri="{BB962C8B-B14F-4D97-AF65-F5344CB8AC3E}">
        <p14:creationId xmlns:p14="http://schemas.microsoft.com/office/powerpoint/2010/main" val="27597733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DA4B07-4801-FE8E-85AC-EDAF599B6C65}"/>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85806CA6-7342-7D12-53F8-8B8CB802473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7DB88A41-482E-793F-57AA-C23CD9D42D81}"/>
              </a:ext>
            </a:extLst>
          </p:cNvPr>
          <p:cNvSpPr txBox="1"/>
          <p:nvPr/>
        </p:nvSpPr>
        <p:spPr>
          <a:xfrm>
            <a:off x="0" y="65927"/>
            <a:ext cx="6858000" cy="646331"/>
          </a:xfrm>
          <a:prstGeom prst="rect">
            <a:avLst/>
          </a:prstGeom>
          <a:noFill/>
        </p:spPr>
        <p:txBody>
          <a:bodyPr wrap="square" rtlCol="0">
            <a:spAutoFit/>
          </a:bodyPr>
          <a:lstStyle/>
          <a:p>
            <a:pPr algn="ctr"/>
            <a:r>
              <a:rPr lang="en-US" sz="3600" b="1" dirty="0"/>
              <a:t>Relational Operators</a:t>
            </a:r>
            <a:endParaRPr lang="en-ZA" sz="3600" b="1" dirty="0">
              <a:latin typeface="Arial" panose="020B0604020202020204" pitchFamily="34" charset="0"/>
              <a:cs typeface="Arial" panose="020B0604020202020204" pitchFamily="34" charset="0"/>
            </a:endParaRPr>
          </a:p>
        </p:txBody>
      </p:sp>
      <p:sp>
        <p:nvSpPr>
          <p:cNvPr id="2" name="Content Placeholder 2">
            <a:extLst>
              <a:ext uri="{FF2B5EF4-FFF2-40B4-BE49-F238E27FC236}">
                <a16:creationId xmlns:a16="http://schemas.microsoft.com/office/drawing/2014/main" id="{FE8290DF-774A-0B07-4DE8-6A6C33D7C644}"/>
              </a:ext>
            </a:extLst>
          </p:cNvPr>
          <p:cNvSpPr txBox="1">
            <a:spLocks/>
          </p:cNvSpPr>
          <p:nvPr/>
        </p:nvSpPr>
        <p:spPr>
          <a:xfrm>
            <a:off x="471488" y="2637014"/>
            <a:ext cx="5915025" cy="6285266"/>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US" sz="2400" dirty="0"/>
              <a:t>The relational operators can be applied to variables</a:t>
            </a:r>
            <a:r>
              <a:rPr lang="en-US" sz="2400" b="1" dirty="0"/>
              <a:t> for decision making and comparison purposes.</a:t>
            </a:r>
          </a:p>
          <a:p>
            <a:pPr algn="l"/>
            <a:endParaRPr lang="en-US" sz="2400" b="1" dirty="0"/>
          </a:p>
          <a:p>
            <a:pPr algn="l"/>
            <a:endParaRPr lang="en-US" sz="2400" b="1" dirty="0"/>
          </a:p>
        </p:txBody>
      </p:sp>
      <p:pic>
        <p:nvPicPr>
          <p:cNvPr id="6" name="Picture 5">
            <a:extLst>
              <a:ext uri="{FF2B5EF4-FFF2-40B4-BE49-F238E27FC236}">
                <a16:creationId xmlns:a16="http://schemas.microsoft.com/office/drawing/2014/main" id="{FFC75054-3E88-52A5-E359-6A435DC66A27}"/>
              </a:ext>
            </a:extLst>
          </p:cNvPr>
          <p:cNvPicPr>
            <a:picLocks noChangeAspect="1"/>
          </p:cNvPicPr>
          <p:nvPr/>
        </p:nvPicPr>
        <p:blipFill>
          <a:blip r:embed="rId3"/>
          <a:stretch>
            <a:fillRect/>
          </a:stretch>
        </p:blipFill>
        <p:spPr>
          <a:xfrm>
            <a:off x="185057" y="4248581"/>
            <a:ext cx="6487886" cy="3342390"/>
          </a:xfrm>
          <a:prstGeom prst="rect">
            <a:avLst/>
          </a:prstGeom>
        </p:spPr>
      </p:pic>
    </p:spTree>
    <p:extLst>
      <p:ext uri="{BB962C8B-B14F-4D97-AF65-F5344CB8AC3E}">
        <p14:creationId xmlns:p14="http://schemas.microsoft.com/office/powerpoint/2010/main" val="38702089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638BD0-785E-2899-EB95-FE81E34C4986}"/>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A216FAA2-6282-ADA2-7861-6EBB82AE4B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A278EFA0-2B66-7384-E80B-7081C279D0F0}"/>
              </a:ext>
            </a:extLst>
          </p:cNvPr>
          <p:cNvSpPr txBox="1"/>
          <p:nvPr/>
        </p:nvSpPr>
        <p:spPr>
          <a:xfrm>
            <a:off x="0" y="65927"/>
            <a:ext cx="6858000" cy="646331"/>
          </a:xfrm>
          <a:prstGeom prst="rect">
            <a:avLst/>
          </a:prstGeom>
          <a:noFill/>
        </p:spPr>
        <p:txBody>
          <a:bodyPr wrap="square" rtlCol="0">
            <a:spAutoFit/>
          </a:bodyPr>
          <a:lstStyle/>
          <a:p>
            <a:pPr algn="ctr"/>
            <a:r>
              <a:rPr lang="en-US" sz="3600" b="1" dirty="0"/>
              <a:t>Relational Operators</a:t>
            </a:r>
            <a:endParaRPr lang="en-ZA" sz="3600" b="1" dirty="0">
              <a:latin typeface="Arial" panose="020B0604020202020204" pitchFamily="34" charset="0"/>
              <a:cs typeface="Arial" panose="020B0604020202020204" pitchFamily="34" charset="0"/>
            </a:endParaRPr>
          </a:p>
        </p:txBody>
      </p:sp>
      <p:sp>
        <p:nvSpPr>
          <p:cNvPr id="2" name="Content Placeholder 2">
            <a:extLst>
              <a:ext uri="{FF2B5EF4-FFF2-40B4-BE49-F238E27FC236}">
                <a16:creationId xmlns:a16="http://schemas.microsoft.com/office/drawing/2014/main" id="{12FFE1CC-3B03-5541-35D7-712426046A86}"/>
              </a:ext>
            </a:extLst>
          </p:cNvPr>
          <p:cNvSpPr txBox="1">
            <a:spLocks/>
          </p:cNvSpPr>
          <p:nvPr/>
        </p:nvSpPr>
        <p:spPr>
          <a:xfrm>
            <a:off x="471488" y="2637014"/>
            <a:ext cx="5915025" cy="6285266"/>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US" sz="2600" b="1" dirty="0"/>
              <a:t>Example:</a:t>
            </a:r>
          </a:p>
          <a:p>
            <a:pPr algn="l"/>
            <a:endParaRPr lang="en-US" sz="2400" b="1" dirty="0"/>
          </a:p>
          <a:p>
            <a:pPr algn="l"/>
            <a:endParaRPr lang="en-US" sz="2400" b="1" dirty="0"/>
          </a:p>
        </p:txBody>
      </p:sp>
      <p:pic>
        <p:nvPicPr>
          <p:cNvPr id="7" name="Picture 6">
            <a:extLst>
              <a:ext uri="{FF2B5EF4-FFF2-40B4-BE49-F238E27FC236}">
                <a16:creationId xmlns:a16="http://schemas.microsoft.com/office/drawing/2014/main" id="{29A75E6B-DC47-0028-7470-2867A1C0856D}"/>
              </a:ext>
            </a:extLst>
          </p:cNvPr>
          <p:cNvPicPr>
            <a:picLocks noChangeAspect="1"/>
          </p:cNvPicPr>
          <p:nvPr/>
        </p:nvPicPr>
        <p:blipFill>
          <a:blip r:embed="rId3"/>
          <a:stretch>
            <a:fillRect/>
          </a:stretch>
        </p:blipFill>
        <p:spPr>
          <a:xfrm>
            <a:off x="174170" y="3901694"/>
            <a:ext cx="6516915" cy="2920020"/>
          </a:xfrm>
          <a:prstGeom prst="rect">
            <a:avLst/>
          </a:prstGeom>
        </p:spPr>
      </p:pic>
    </p:spTree>
    <p:extLst>
      <p:ext uri="{BB962C8B-B14F-4D97-AF65-F5344CB8AC3E}">
        <p14:creationId xmlns:p14="http://schemas.microsoft.com/office/powerpoint/2010/main" val="24034448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B795D2-05E1-430C-EDB2-EFB7A4046417}"/>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DCC8815D-57EB-1044-7B85-2080A794CF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520C2CD4-0A65-301D-3CDF-3E3C209190D0}"/>
              </a:ext>
            </a:extLst>
          </p:cNvPr>
          <p:cNvSpPr txBox="1"/>
          <p:nvPr/>
        </p:nvSpPr>
        <p:spPr>
          <a:xfrm>
            <a:off x="0" y="65927"/>
            <a:ext cx="6858000" cy="646331"/>
          </a:xfrm>
          <a:prstGeom prst="rect">
            <a:avLst/>
          </a:prstGeom>
          <a:noFill/>
        </p:spPr>
        <p:txBody>
          <a:bodyPr wrap="square" rtlCol="0">
            <a:spAutoFit/>
          </a:bodyPr>
          <a:lstStyle/>
          <a:p>
            <a:pPr algn="ctr"/>
            <a:r>
              <a:rPr lang="en-US" sz="3600" b="1" dirty="0"/>
              <a:t>Logical Operators</a:t>
            </a:r>
            <a:endParaRPr lang="en-ZA" sz="3600" b="1" dirty="0">
              <a:latin typeface="Arial" panose="020B0604020202020204" pitchFamily="34" charset="0"/>
              <a:cs typeface="Arial" panose="020B0604020202020204" pitchFamily="34" charset="0"/>
            </a:endParaRPr>
          </a:p>
        </p:txBody>
      </p:sp>
      <p:sp>
        <p:nvSpPr>
          <p:cNvPr id="2" name="Content Placeholder 2">
            <a:extLst>
              <a:ext uri="{FF2B5EF4-FFF2-40B4-BE49-F238E27FC236}">
                <a16:creationId xmlns:a16="http://schemas.microsoft.com/office/drawing/2014/main" id="{7D51CF3C-381B-64D2-6512-2D1378CC23A3}"/>
              </a:ext>
            </a:extLst>
          </p:cNvPr>
          <p:cNvSpPr txBox="1">
            <a:spLocks/>
          </p:cNvSpPr>
          <p:nvPr/>
        </p:nvSpPr>
        <p:spPr>
          <a:xfrm>
            <a:off x="471488" y="2637014"/>
            <a:ext cx="5915025" cy="6285266"/>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US" altLang="en-US" sz="2400" u="sng" dirty="0"/>
              <a:t>Logical (Boolean) operators</a:t>
            </a:r>
            <a:r>
              <a:rPr lang="en-US" altLang="en-US" sz="2400" dirty="0"/>
              <a:t> enable you to combine logical expressions.</a:t>
            </a:r>
          </a:p>
          <a:p>
            <a:pPr marL="457200" indent="-457200" algn="l">
              <a:buFont typeface="+mj-lt"/>
              <a:buAutoNum type="arabicPeriod"/>
            </a:pPr>
            <a:endParaRPr lang="en-US" altLang="en-US" sz="2400" dirty="0"/>
          </a:p>
          <a:p>
            <a:pPr algn="l"/>
            <a:r>
              <a:rPr lang="en-US" sz="2400" dirty="0"/>
              <a:t>In C++, the logical operators are </a:t>
            </a:r>
            <a:r>
              <a:rPr lang="en-US" sz="2400" b="1" dirty="0"/>
              <a:t>! </a:t>
            </a:r>
            <a:r>
              <a:rPr lang="en-US" sz="2400" dirty="0"/>
              <a:t>(not), </a:t>
            </a:r>
            <a:r>
              <a:rPr lang="en-US" sz="2400" b="1" dirty="0"/>
              <a:t>&amp;&amp; </a:t>
            </a:r>
            <a:r>
              <a:rPr lang="en-US" sz="2400" dirty="0"/>
              <a:t>(and), and </a:t>
            </a:r>
            <a:r>
              <a:rPr lang="en-US" sz="2400" b="1" dirty="0"/>
              <a:t>|| </a:t>
            </a:r>
            <a:r>
              <a:rPr lang="en-US" sz="2400" dirty="0"/>
              <a:t>(or).</a:t>
            </a:r>
            <a:endParaRPr lang="en-US" altLang="en-US" sz="2400" b="1" dirty="0">
              <a:latin typeface="Courier New" pitchFamily="49" charset="0"/>
            </a:endParaRPr>
          </a:p>
          <a:p>
            <a:pPr algn="l"/>
            <a:endParaRPr lang="en-US" altLang="en-US" sz="2800" dirty="0"/>
          </a:p>
          <a:p>
            <a:pPr marL="457200" indent="-457200" algn="l">
              <a:buFont typeface="+mj-lt"/>
              <a:buAutoNum type="arabicPeriod"/>
            </a:pPr>
            <a:endParaRPr lang="en-US" sz="2800" b="1" dirty="0"/>
          </a:p>
          <a:p>
            <a:pPr marL="457200" indent="-457200" algn="l">
              <a:buFont typeface="+mj-lt"/>
              <a:buAutoNum type="arabicPeriod"/>
            </a:pPr>
            <a:endParaRPr lang="en-US" sz="2800" b="1" dirty="0"/>
          </a:p>
          <a:p>
            <a:pPr marL="457200" indent="-457200" algn="l">
              <a:buFont typeface="+mj-lt"/>
              <a:buAutoNum type="arabicPeriod"/>
            </a:pPr>
            <a:endParaRPr lang="en-US" sz="2800" b="1" dirty="0"/>
          </a:p>
          <a:p>
            <a:pPr marL="285750" indent="-285750">
              <a:buFont typeface="Arial" panose="020B0604020202020204" pitchFamily="34" charset="0"/>
              <a:buChar char="•"/>
            </a:pPr>
            <a:endParaRPr lang="en-US" sz="2400" b="1" dirty="0"/>
          </a:p>
        </p:txBody>
      </p:sp>
      <p:pic>
        <p:nvPicPr>
          <p:cNvPr id="6" name="Picture 5">
            <a:extLst>
              <a:ext uri="{FF2B5EF4-FFF2-40B4-BE49-F238E27FC236}">
                <a16:creationId xmlns:a16="http://schemas.microsoft.com/office/drawing/2014/main" id="{41F322D4-6773-F8BF-C80B-E141F54FE365}"/>
              </a:ext>
            </a:extLst>
          </p:cNvPr>
          <p:cNvPicPr>
            <a:picLocks noChangeAspect="1"/>
          </p:cNvPicPr>
          <p:nvPr/>
        </p:nvPicPr>
        <p:blipFill>
          <a:blip r:embed="rId3"/>
          <a:stretch>
            <a:fillRect/>
          </a:stretch>
        </p:blipFill>
        <p:spPr>
          <a:xfrm>
            <a:off x="228600" y="5570878"/>
            <a:ext cx="6400800" cy="2370251"/>
          </a:xfrm>
          <a:prstGeom prst="rect">
            <a:avLst/>
          </a:prstGeom>
        </p:spPr>
      </p:pic>
    </p:spTree>
    <p:extLst>
      <p:ext uri="{BB962C8B-B14F-4D97-AF65-F5344CB8AC3E}">
        <p14:creationId xmlns:p14="http://schemas.microsoft.com/office/powerpoint/2010/main" val="16818127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7F83FD-4462-14EB-B782-065DCDD39956}"/>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0C7FB227-4DF3-F525-114D-69087D6511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DEEA30F4-E3ED-F0D9-7019-D1F282AA482D}"/>
              </a:ext>
            </a:extLst>
          </p:cNvPr>
          <p:cNvSpPr txBox="1"/>
          <p:nvPr/>
        </p:nvSpPr>
        <p:spPr>
          <a:xfrm>
            <a:off x="0" y="65927"/>
            <a:ext cx="6858000" cy="646331"/>
          </a:xfrm>
          <a:prstGeom prst="rect">
            <a:avLst/>
          </a:prstGeom>
          <a:noFill/>
        </p:spPr>
        <p:txBody>
          <a:bodyPr wrap="square" rtlCol="0">
            <a:spAutoFit/>
          </a:bodyPr>
          <a:lstStyle/>
          <a:p>
            <a:pPr algn="ctr"/>
            <a:r>
              <a:rPr lang="en-US" sz="3600" b="1" dirty="0"/>
              <a:t>Logical Operators</a:t>
            </a:r>
            <a:endParaRPr lang="en-ZA" sz="3600" b="1" dirty="0">
              <a:latin typeface="Arial" panose="020B0604020202020204" pitchFamily="34" charset="0"/>
              <a:cs typeface="Arial" panose="020B0604020202020204" pitchFamily="34" charset="0"/>
            </a:endParaRPr>
          </a:p>
        </p:txBody>
      </p:sp>
      <p:sp>
        <p:nvSpPr>
          <p:cNvPr id="2" name="Content Placeholder 2">
            <a:extLst>
              <a:ext uri="{FF2B5EF4-FFF2-40B4-BE49-F238E27FC236}">
                <a16:creationId xmlns:a16="http://schemas.microsoft.com/office/drawing/2014/main" id="{6FBD10D0-77AA-7689-E07E-42BD6FD6539B}"/>
              </a:ext>
            </a:extLst>
          </p:cNvPr>
          <p:cNvSpPr txBox="1">
            <a:spLocks/>
          </p:cNvSpPr>
          <p:nvPr/>
        </p:nvSpPr>
        <p:spPr>
          <a:xfrm>
            <a:off x="471488" y="2637014"/>
            <a:ext cx="5915025" cy="6285266"/>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US" altLang="en-US" sz="2800" b="1" dirty="0"/>
              <a:t>! Not Operator</a:t>
            </a:r>
          </a:p>
          <a:p>
            <a:pPr algn="l"/>
            <a:endParaRPr lang="en-US" altLang="en-US" sz="2800" u="sng" dirty="0"/>
          </a:p>
          <a:p>
            <a:pPr algn="l"/>
            <a:endParaRPr lang="en-US" altLang="en-US" sz="2800" u="sng" dirty="0"/>
          </a:p>
          <a:p>
            <a:pPr algn="l"/>
            <a:endParaRPr lang="en-US" altLang="en-US" sz="2800" dirty="0"/>
          </a:p>
          <a:p>
            <a:pPr marL="457200" indent="-457200" algn="l">
              <a:buFont typeface="+mj-lt"/>
              <a:buAutoNum type="arabicPeriod"/>
            </a:pPr>
            <a:endParaRPr lang="en-US" sz="2800" b="1" dirty="0"/>
          </a:p>
          <a:p>
            <a:pPr marL="457200" indent="-457200" algn="l">
              <a:buFont typeface="+mj-lt"/>
              <a:buAutoNum type="arabicPeriod"/>
            </a:pPr>
            <a:endParaRPr lang="en-US" sz="2800" b="1" dirty="0"/>
          </a:p>
          <a:p>
            <a:pPr marL="457200" indent="-457200" algn="l">
              <a:buFont typeface="+mj-lt"/>
              <a:buAutoNum type="arabicPeriod"/>
            </a:pPr>
            <a:endParaRPr lang="en-US" sz="2800" b="1" dirty="0"/>
          </a:p>
          <a:p>
            <a:pPr marL="285750" indent="-285750">
              <a:buFont typeface="Arial" panose="020B0604020202020204" pitchFamily="34" charset="0"/>
              <a:buChar char="•"/>
            </a:pPr>
            <a:endParaRPr lang="en-US" sz="2400" b="1" dirty="0"/>
          </a:p>
        </p:txBody>
      </p:sp>
      <p:pic>
        <p:nvPicPr>
          <p:cNvPr id="7" name="Picture 6">
            <a:extLst>
              <a:ext uri="{FF2B5EF4-FFF2-40B4-BE49-F238E27FC236}">
                <a16:creationId xmlns:a16="http://schemas.microsoft.com/office/drawing/2014/main" id="{C8069D13-F9E7-F655-45D5-893F2D95842E}"/>
              </a:ext>
            </a:extLst>
          </p:cNvPr>
          <p:cNvPicPr>
            <a:picLocks noChangeAspect="1"/>
          </p:cNvPicPr>
          <p:nvPr/>
        </p:nvPicPr>
        <p:blipFill>
          <a:blip r:embed="rId3"/>
          <a:stretch>
            <a:fillRect/>
          </a:stretch>
        </p:blipFill>
        <p:spPr>
          <a:xfrm>
            <a:off x="255757" y="4361636"/>
            <a:ext cx="6304700" cy="2128064"/>
          </a:xfrm>
          <a:prstGeom prst="rect">
            <a:avLst/>
          </a:prstGeom>
        </p:spPr>
      </p:pic>
    </p:spTree>
    <p:extLst>
      <p:ext uri="{BB962C8B-B14F-4D97-AF65-F5344CB8AC3E}">
        <p14:creationId xmlns:p14="http://schemas.microsoft.com/office/powerpoint/2010/main" val="11402782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F1E639-2D04-225A-7FFE-AF62BD4D2EF3}"/>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CD20EF4A-9964-2343-44EC-E5A19ED1BD7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5292B827-510A-AB78-21F2-4919FE9F9E0A}"/>
              </a:ext>
            </a:extLst>
          </p:cNvPr>
          <p:cNvSpPr txBox="1"/>
          <p:nvPr/>
        </p:nvSpPr>
        <p:spPr>
          <a:xfrm>
            <a:off x="0" y="65927"/>
            <a:ext cx="6858000" cy="646331"/>
          </a:xfrm>
          <a:prstGeom prst="rect">
            <a:avLst/>
          </a:prstGeom>
          <a:noFill/>
        </p:spPr>
        <p:txBody>
          <a:bodyPr wrap="square" rtlCol="0">
            <a:spAutoFit/>
          </a:bodyPr>
          <a:lstStyle/>
          <a:p>
            <a:pPr algn="ctr"/>
            <a:r>
              <a:rPr lang="en-US" sz="3600" b="1" dirty="0"/>
              <a:t>Logical Operators</a:t>
            </a:r>
            <a:endParaRPr lang="en-ZA" sz="3600" b="1" dirty="0">
              <a:latin typeface="Arial" panose="020B0604020202020204" pitchFamily="34" charset="0"/>
              <a:cs typeface="Arial" panose="020B0604020202020204" pitchFamily="34" charset="0"/>
            </a:endParaRPr>
          </a:p>
        </p:txBody>
      </p:sp>
      <p:sp>
        <p:nvSpPr>
          <p:cNvPr id="2" name="Content Placeholder 2">
            <a:extLst>
              <a:ext uri="{FF2B5EF4-FFF2-40B4-BE49-F238E27FC236}">
                <a16:creationId xmlns:a16="http://schemas.microsoft.com/office/drawing/2014/main" id="{CC3CB546-AD9C-8727-4169-13C59411B6AE}"/>
              </a:ext>
            </a:extLst>
          </p:cNvPr>
          <p:cNvSpPr txBox="1">
            <a:spLocks/>
          </p:cNvSpPr>
          <p:nvPr/>
        </p:nvSpPr>
        <p:spPr>
          <a:xfrm>
            <a:off x="471488" y="2637014"/>
            <a:ext cx="5915025" cy="6285266"/>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US" altLang="en-US" sz="2800" b="1" dirty="0"/>
              <a:t>&amp;&amp; And Operator</a:t>
            </a:r>
          </a:p>
          <a:p>
            <a:pPr algn="l"/>
            <a:endParaRPr lang="en-US" altLang="en-US" sz="2800" u="sng" dirty="0"/>
          </a:p>
          <a:p>
            <a:pPr algn="l"/>
            <a:endParaRPr lang="en-US" altLang="en-US" sz="2800" u="sng" dirty="0"/>
          </a:p>
          <a:p>
            <a:pPr algn="l"/>
            <a:endParaRPr lang="en-US" altLang="en-US" sz="2800" u="sng" dirty="0"/>
          </a:p>
          <a:p>
            <a:pPr algn="l"/>
            <a:endParaRPr lang="en-US" altLang="en-US" sz="2800" dirty="0"/>
          </a:p>
          <a:p>
            <a:pPr marL="457200" indent="-457200" algn="l">
              <a:buFont typeface="+mj-lt"/>
              <a:buAutoNum type="arabicPeriod"/>
            </a:pPr>
            <a:endParaRPr lang="en-US" sz="2800" b="1" dirty="0"/>
          </a:p>
          <a:p>
            <a:pPr marL="457200" indent="-457200" algn="l">
              <a:buFont typeface="+mj-lt"/>
              <a:buAutoNum type="arabicPeriod"/>
            </a:pPr>
            <a:endParaRPr lang="en-US" sz="2800" b="1" dirty="0"/>
          </a:p>
          <a:p>
            <a:pPr marL="457200" indent="-457200" algn="l">
              <a:buFont typeface="+mj-lt"/>
              <a:buAutoNum type="arabicPeriod"/>
            </a:pPr>
            <a:endParaRPr lang="en-US" sz="2800" b="1" dirty="0"/>
          </a:p>
          <a:p>
            <a:pPr marL="285750" indent="-285750">
              <a:buFont typeface="Arial" panose="020B0604020202020204" pitchFamily="34" charset="0"/>
              <a:buChar char="•"/>
            </a:pPr>
            <a:endParaRPr lang="en-US" sz="2400" b="1" dirty="0"/>
          </a:p>
        </p:txBody>
      </p:sp>
      <p:pic>
        <p:nvPicPr>
          <p:cNvPr id="6" name="Picture 5">
            <a:extLst>
              <a:ext uri="{FF2B5EF4-FFF2-40B4-BE49-F238E27FC236}">
                <a16:creationId xmlns:a16="http://schemas.microsoft.com/office/drawing/2014/main" id="{A390DA35-F51F-70F5-579E-B223225E1C1E}"/>
              </a:ext>
            </a:extLst>
          </p:cNvPr>
          <p:cNvPicPr>
            <a:picLocks noChangeAspect="1"/>
          </p:cNvPicPr>
          <p:nvPr/>
        </p:nvPicPr>
        <p:blipFill>
          <a:blip r:embed="rId3"/>
          <a:stretch>
            <a:fillRect/>
          </a:stretch>
        </p:blipFill>
        <p:spPr>
          <a:xfrm>
            <a:off x="116114" y="4085454"/>
            <a:ext cx="6604000" cy="2199231"/>
          </a:xfrm>
          <a:prstGeom prst="rect">
            <a:avLst/>
          </a:prstGeom>
        </p:spPr>
      </p:pic>
    </p:spTree>
    <p:extLst>
      <p:ext uri="{BB962C8B-B14F-4D97-AF65-F5344CB8AC3E}">
        <p14:creationId xmlns:p14="http://schemas.microsoft.com/office/powerpoint/2010/main" val="27762522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D83435-1330-CACC-A848-5443244EBDC0}"/>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34D1CC3A-789B-F6EA-3490-B2CB8A3B840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0CCCE9A0-3D95-1650-6A7B-547A77E658B8}"/>
              </a:ext>
            </a:extLst>
          </p:cNvPr>
          <p:cNvSpPr txBox="1"/>
          <p:nvPr/>
        </p:nvSpPr>
        <p:spPr>
          <a:xfrm>
            <a:off x="0" y="65927"/>
            <a:ext cx="6858000" cy="646331"/>
          </a:xfrm>
          <a:prstGeom prst="rect">
            <a:avLst/>
          </a:prstGeom>
          <a:noFill/>
        </p:spPr>
        <p:txBody>
          <a:bodyPr wrap="square" rtlCol="0">
            <a:spAutoFit/>
          </a:bodyPr>
          <a:lstStyle/>
          <a:p>
            <a:pPr algn="ctr"/>
            <a:r>
              <a:rPr lang="en-US" sz="3600" b="1" dirty="0"/>
              <a:t>Logical Operators</a:t>
            </a:r>
            <a:endParaRPr lang="en-ZA" sz="3600" b="1" dirty="0">
              <a:latin typeface="Arial" panose="020B0604020202020204" pitchFamily="34" charset="0"/>
              <a:cs typeface="Arial" panose="020B0604020202020204" pitchFamily="34" charset="0"/>
            </a:endParaRPr>
          </a:p>
        </p:txBody>
      </p:sp>
      <p:sp>
        <p:nvSpPr>
          <p:cNvPr id="2" name="Content Placeholder 2">
            <a:extLst>
              <a:ext uri="{FF2B5EF4-FFF2-40B4-BE49-F238E27FC236}">
                <a16:creationId xmlns:a16="http://schemas.microsoft.com/office/drawing/2014/main" id="{B895285F-AF7B-70DF-1CF4-8D725A4563BA}"/>
              </a:ext>
            </a:extLst>
          </p:cNvPr>
          <p:cNvSpPr txBox="1">
            <a:spLocks/>
          </p:cNvSpPr>
          <p:nvPr/>
        </p:nvSpPr>
        <p:spPr>
          <a:xfrm>
            <a:off x="471488" y="2637014"/>
            <a:ext cx="5915025" cy="6285266"/>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US" altLang="en-US" sz="2800" b="1" dirty="0"/>
              <a:t>|| Or Operator</a:t>
            </a:r>
          </a:p>
          <a:p>
            <a:pPr algn="l"/>
            <a:endParaRPr lang="en-US" altLang="en-US" sz="2800" u="sng" dirty="0"/>
          </a:p>
          <a:p>
            <a:pPr algn="l"/>
            <a:endParaRPr lang="en-US" altLang="en-US" sz="2800" u="sng" dirty="0"/>
          </a:p>
          <a:p>
            <a:pPr algn="l"/>
            <a:endParaRPr lang="en-US" altLang="en-US" sz="2800" u="sng" dirty="0"/>
          </a:p>
          <a:p>
            <a:pPr algn="l"/>
            <a:endParaRPr lang="en-US" altLang="en-US" sz="2800" dirty="0"/>
          </a:p>
          <a:p>
            <a:pPr marL="457200" indent="-457200" algn="l">
              <a:buFont typeface="+mj-lt"/>
              <a:buAutoNum type="arabicPeriod"/>
            </a:pPr>
            <a:endParaRPr lang="en-US" sz="2800" b="1" dirty="0"/>
          </a:p>
          <a:p>
            <a:pPr marL="457200" indent="-457200" algn="l">
              <a:buFont typeface="+mj-lt"/>
              <a:buAutoNum type="arabicPeriod"/>
            </a:pPr>
            <a:endParaRPr lang="en-US" sz="2800" b="1" dirty="0"/>
          </a:p>
          <a:p>
            <a:pPr marL="457200" indent="-457200" algn="l">
              <a:buFont typeface="+mj-lt"/>
              <a:buAutoNum type="arabicPeriod"/>
            </a:pPr>
            <a:endParaRPr lang="en-US" sz="2800" b="1" dirty="0"/>
          </a:p>
          <a:p>
            <a:pPr marL="285750" indent="-285750">
              <a:buFont typeface="Arial" panose="020B0604020202020204" pitchFamily="34" charset="0"/>
              <a:buChar char="•"/>
            </a:pPr>
            <a:endParaRPr lang="en-US" sz="2400" b="1" dirty="0"/>
          </a:p>
        </p:txBody>
      </p:sp>
      <p:pic>
        <p:nvPicPr>
          <p:cNvPr id="9" name="Picture 8">
            <a:extLst>
              <a:ext uri="{FF2B5EF4-FFF2-40B4-BE49-F238E27FC236}">
                <a16:creationId xmlns:a16="http://schemas.microsoft.com/office/drawing/2014/main" id="{5233E3FD-F0E9-F540-E6E8-47E799EFAC65}"/>
              </a:ext>
            </a:extLst>
          </p:cNvPr>
          <p:cNvPicPr>
            <a:picLocks noChangeAspect="1"/>
          </p:cNvPicPr>
          <p:nvPr/>
        </p:nvPicPr>
        <p:blipFill>
          <a:blip r:embed="rId3"/>
          <a:stretch>
            <a:fillRect/>
          </a:stretch>
        </p:blipFill>
        <p:spPr>
          <a:xfrm>
            <a:off x="471486" y="4085455"/>
            <a:ext cx="5915026" cy="1735090"/>
          </a:xfrm>
          <a:prstGeom prst="rect">
            <a:avLst/>
          </a:prstGeom>
        </p:spPr>
      </p:pic>
    </p:spTree>
    <p:extLst>
      <p:ext uri="{BB962C8B-B14F-4D97-AF65-F5344CB8AC3E}">
        <p14:creationId xmlns:p14="http://schemas.microsoft.com/office/powerpoint/2010/main" val="42614192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5D1D12-0E15-9134-9786-11297EF701D9}"/>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E94B99B9-43CF-2258-A794-00E4D1F3980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C335D16B-EC5C-EBCD-3959-8B4D10CF0DE3}"/>
              </a:ext>
            </a:extLst>
          </p:cNvPr>
          <p:cNvSpPr txBox="1"/>
          <p:nvPr/>
        </p:nvSpPr>
        <p:spPr>
          <a:xfrm>
            <a:off x="0" y="65927"/>
            <a:ext cx="6858000" cy="646331"/>
          </a:xfrm>
          <a:prstGeom prst="rect">
            <a:avLst/>
          </a:prstGeom>
          <a:noFill/>
        </p:spPr>
        <p:txBody>
          <a:bodyPr wrap="square" rtlCol="0">
            <a:spAutoFit/>
          </a:bodyPr>
          <a:lstStyle/>
          <a:p>
            <a:pPr algn="ctr"/>
            <a:r>
              <a:rPr lang="en-US" sz="3600" b="1"/>
              <a:t>Truth Table</a:t>
            </a:r>
            <a:endParaRPr lang="en-ZA" sz="3600" b="1" dirty="0">
              <a:latin typeface="Arial" panose="020B0604020202020204" pitchFamily="34" charset="0"/>
              <a:cs typeface="Arial" panose="020B0604020202020204" pitchFamily="34" charset="0"/>
            </a:endParaRPr>
          </a:p>
        </p:txBody>
      </p:sp>
      <p:sp>
        <p:nvSpPr>
          <p:cNvPr id="2" name="Content Placeholder 2">
            <a:extLst>
              <a:ext uri="{FF2B5EF4-FFF2-40B4-BE49-F238E27FC236}">
                <a16:creationId xmlns:a16="http://schemas.microsoft.com/office/drawing/2014/main" id="{4972F06B-8CBB-9AC0-48F1-B8CDCB7AE9CA}"/>
              </a:ext>
            </a:extLst>
          </p:cNvPr>
          <p:cNvSpPr txBox="1">
            <a:spLocks/>
          </p:cNvSpPr>
          <p:nvPr/>
        </p:nvSpPr>
        <p:spPr>
          <a:xfrm>
            <a:off x="471488" y="2637014"/>
            <a:ext cx="5915025" cy="6285266"/>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endParaRPr lang="en-US" sz="2800" b="1" dirty="0"/>
          </a:p>
          <a:p>
            <a:pPr marL="457200" indent="-457200" algn="l">
              <a:buFont typeface="+mj-lt"/>
              <a:buAutoNum type="arabicPeriod"/>
            </a:pPr>
            <a:endParaRPr lang="en-US" sz="2800" b="1" dirty="0"/>
          </a:p>
          <a:p>
            <a:pPr marL="457200" indent="-457200" algn="l">
              <a:buFont typeface="+mj-lt"/>
              <a:buAutoNum type="arabicPeriod"/>
            </a:pPr>
            <a:endParaRPr lang="en-US" sz="2800" b="1" dirty="0"/>
          </a:p>
          <a:p>
            <a:pPr marL="285750" indent="-285750">
              <a:buFont typeface="Arial" panose="020B0604020202020204" pitchFamily="34" charset="0"/>
              <a:buChar char="•"/>
            </a:pPr>
            <a:endParaRPr lang="en-US" sz="2400" b="1" dirty="0"/>
          </a:p>
        </p:txBody>
      </p:sp>
      <p:graphicFrame>
        <p:nvGraphicFramePr>
          <p:cNvPr id="3" name="Table 2">
            <a:extLst>
              <a:ext uri="{FF2B5EF4-FFF2-40B4-BE49-F238E27FC236}">
                <a16:creationId xmlns:a16="http://schemas.microsoft.com/office/drawing/2014/main" id="{36E4E788-3F49-5995-644B-1DB148907610}"/>
              </a:ext>
            </a:extLst>
          </p:cNvPr>
          <p:cNvGraphicFramePr>
            <a:graphicFrameLocks noGrp="1"/>
          </p:cNvGraphicFramePr>
          <p:nvPr>
            <p:extLst>
              <p:ext uri="{D42A27DB-BD31-4B8C-83A1-F6EECF244321}">
                <p14:modId xmlns:p14="http://schemas.microsoft.com/office/powerpoint/2010/main" val="2160288487"/>
              </p:ext>
            </p:extLst>
          </p:nvPr>
        </p:nvGraphicFramePr>
        <p:xfrm>
          <a:off x="180975" y="3428999"/>
          <a:ext cx="6321425" cy="3392715"/>
        </p:xfrm>
        <a:graphic>
          <a:graphicData uri="http://schemas.openxmlformats.org/drawingml/2006/table">
            <a:tbl>
              <a:tblPr firstRow="1" bandRow="1">
                <a:tableStyleId>{5C22544A-7EE6-4342-B048-85BDC9FD1C3A}</a:tableStyleId>
              </a:tblPr>
              <a:tblGrid>
                <a:gridCol w="1264285">
                  <a:extLst>
                    <a:ext uri="{9D8B030D-6E8A-4147-A177-3AD203B41FA5}">
                      <a16:colId xmlns:a16="http://schemas.microsoft.com/office/drawing/2014/main" val="576441385"/>
                    </a:ext>
                  </a:extLst>
                </a:gridCol>
                <a:gridCol w="1264285">
                  <a:extLst>
                    <a:ext uri="{9D8B030D-6E8A-4147-A177-3AD203B41FA5}">
                      <a16:colId xmlns:a16="http://schemas.microsoft.com/office/drawing/2014/main" val="1124216252"/>
                    </a:ext>
                  </a:extLst>
                </a:gridCol>
                <a:gridCol w="1264285">
                  <a:extLst>
                    <a:ext uri="{9D8B030D-6E8A-4147-A177-3AD203B41FA5}">
                      <a16:colId xmlns:a16="http://schemas.microsoft.com/office/drawing/2014/main" val="2020853107"/>
                    </a:ext>
                  </a:extLst>
                </a:gridCol>
                <a:gridCol w="1264285">
                  <a:extLst>
                    <a:ext uri="{9D8B030D-6E8A-4147-A177-3AD203B41FA5}">
                      <a16:colId xmlns:a16="http://schemas.microsoft.com/office/drawing/2014/main" val="1815783821"/>
                    </a:ext>
                  </a:extLst>
                </a:gridCol>
                <a:gridCol w="1264285">
                  <a:extLst>
                    <a:ext uri="{9D8B030D-6E8A-4147-A177-3AD203B41FA5}">
                      <a16:colId xmlns:a16="http://schemas.microsoft.com/office/drawing/2014/main" val="2347514876"/>
                    </a:ext>
                  </a:extLst>
                </a:gridCol>
              </a:tblGrid>
              <a:tr h="678543">
                <a:tc>
                  <a:txBody>
                    <a:bodyPr/>
                    <a:lstStyle/>
                    <a:p>
                      <a:r>
                        <a:rPr lang="en-US" sz="2400" b="1" dirty="0"/>
                        <a:t>A</a:t>
                      </a:r>
                      <a:endParaRPr lang="en-ZA" sz="2400" b="1" dirty="0"/>
                    </a:p>
                  </a:txBody>
                  <a:tcPr/>
                </a:tc>
                <a:tc>
                  <a:txBody>
                    <a:bodyPr/>
                    <a:lstStyle/>
                    <a:p>
                      <a:r>
                        <a:rPr lang="en-US" sz="2400" b="1" dirty="0"/>
                        <a:t>B</a:t>
                      </a:r>
                      <a:endParaRPr lang="en-ZA" sz="2400" b="1" dirty="0"/>
                    </a:p>
                  </a:txBody>
                  <a:tcPr/>
                </a:tc>
                <a:tc>
                  <a:txBody>
                    <a:bodyPr/>
                    <a:lstStyle/>
                    <a:p>
                      <a:r>
                        <a:rPr lang="en-US" sz="2400" b="1" dirty="0"/>
                        <a:t>A OR B</a:t>
                      </a:r>
                      <a:endParaRPr lang="en-ZA" sz="2400" b="1" dirty="0"/>
                    </a:p>
                  </a:txBody>
                  <a:tcPr/>
                </a:tc>
                <a:tc>
                  <a:txBody>
                    <a:bodyPr/>
                    <a:lstStyle/>
                    <a:p>
                      <a:r>
                        <a:rPr lang="en-US" sz="2400" b="1" dirty="0"/>
                        <a:t>A AND B</a:t>
                      </a:r>
                      <a:endParaRPr lang="en-ZA" sz="2400" b="1" dirty="0"/>
                    </a:p>
                  </a:txBody>
                  <a:tcPr/>
                </a:tc>
                <a:tc>
                  <a:txBody>
                    <a:bodyPr/>
                    <a:lstStyle/>
                    <a:p>
                      <a:r>
                        <a:rPr lang="en-US" sz="2400" b="1" dirty="0"/>
                        <a:t>NOT A</a:t>
                      </a:r>
                      <a:endParaRPr lang="en-ZA" sz="2400" b="1" dirty="0"/>
                    </a:p>
                  </a:txBody>
                  <a:tcPr/>
                </a:tc>
                <a:extLst>
                  <a:ext uri="{0D108BD9-81ED-4DB2-BD59-A6C34878D82A}">
                    <a16:rowId xmlns:a16="http://schemas.microsoft.com/office/drawing/2014/main" val="599100179"/>
                  </a:ext>
                </a:extLst>
              </a:tr>
              <a:tr h="678543">
                <a:tc>
                  <a:txBody>
                    <a:bodyPr/>
                    <a:lstStyle/>
                    <a:p>
                      <a:r>
                        <a:rPr lang="en-US" sz="2400" b="1" dirty="0"/>
                        <a:t>T</a:t>
                      </a:r>
                      <a:endParaRPr lang="en-ZA" sz="2400" b="1" dirty="0"/>
                    </a:p>
                  </a:txBody>
                  <a:tcPr/>
                </a:tc>
                <a:tc>
                  <a:txBody>
                    <a:bodyPr/>
                    <a:lstStyle/>
                    <a:p>
                      <a:r>
                        <a:rPr lang="en-US" sz="2400" b="1" dirty="0"/>
                        <a:t>T</a:t>
                      </a:r>
                      <a:endParaRPr lang="en-ZA" sz="2400" b="1" dirty="0"/>
                    </a:p>
                  </a:txBody>
                  <a:tcPr/>
                </a:tc>
                <a:tc>
                  <a:txBody>
                    <a:bodyPr/>
                    <a:lstStyle/>
                    <a:p>
                      <a:endParaRPr lang="en-ZA" sz="2400" b="1"/>
                    </a:p>
                  </a:txBody>
                  <a:tcPr/>
                </a:tc>
                <a:tc>
                  <a:txBody>
                    <a:bodyPr/>
                    <a:lstStyle/>
                    <a:p>
                      <a:endParaRPr lang="en-ZA" sz="2400" b="1"/>
                    </a:p>
                  </a:txBody>
                  <a:tcPr/>
                </a:tc>
                <a:tc>
                  <a:txBody>
                    <a:bodyPr/>
                    <a:lstStyle/>
                    <a:p>
                      <a:endParaRPr lang="en-ZA" sz="2400" b="1" dirty="0"/>
                    </a:p>
                  </a:txBody>
                  <a:tcPr/>
                </a:tc>
                <a:extLst>
                  <a:ext uri="{0D108BD9-81ED-4DB2-BD59-A6C34878D82A}">
                    <a16:rowId xmlns:a16="http://schemas.microsoft.com/office/drawing/2014/main" val="89325075"/>
                  </a:ext>
                </a:extLst>
              </a:tr>
              <a:tr h="678543">
                <a:tc>
                  <a:txBody>
                    <a:bodyPr/>
                    <a:lstStyle/>
                    <a:p>
                      <a:r>
                        <a:rPr lang="en-US" sz="2400" b="1" dirty="0"/>
                        <a:t>T</a:t>
                      </a:r>
                      <a:endParaRPr lang="en-ZA" sz="2400" b="1" dirty="0"/>
                    </a:p>
                  </a:txBody>
                  <a:tcPr/>
                </a:tc>
                <a:tc>
                  <a:txBody>
                    <a:bodyPr/>
                    <a:lstStyle/>
                    <a:p>
                      <a:r>
                        <a:rPr lang="en-US" sz="2400" b="1" dirty="0"/>
                        <a:t>F</a:t>
                      </a:r>
                      <a:endParaRPr lang="en-ZA" sz="2400" b="1" dirty="0"/>
                    </a:p>
                  </a:txBody>
                  <a:tcPr/>
                </a:tc>
                <a:tc>
                  <a:txBody>
                    <a:bodyPr/>
                    <a:lstStyle/>
                    <a:p>
                      <a:endParaRPr lang="en-ZA" sz="2400" b="1"/>
                    </a:p>
                  </a:txBody>
                  <a:tcPr/>
                </a:tc>
                <a:tc>
                  <a:txBody>
                    <a:bodyPr/>
                    <a:lstStyle/>
                    <a:p>
                      <a:endParaRPr lang="en-ZA" sz="2400" b="1"/>
                    </a:p>
                  </a:txBody>
                  <a:tcPr/>
                </a:tc>
                <a:tc>
                  <a:txBody>
                    <a:bodyPr/>
                    <a:lstStyle/>
                    <a:p>
                      <a:endParaRPr lang="en-ZA" sz="2400" b="1"/>
                    </a:p>
                  </a:txBody>
                  <a:tcPr/>
                </a:tc>
                <a:extLst>
                  <a:ext uri="{0D108BD9-81ED-4DB2-BD59-A6C34878D82A}">
                    <a16:rowId xmlns:a16="http://schemas.microsoft.com/office/drawing/2014/main" val="2939611154"/>
                  </a:ext>
                </a:extLst>
              </a:tr>
              <a:tr h="678543">
                <a:tc>
                  <a:txBody>
                    <a:bodyPr/>
                    <a:lstStyle/>
                    <a:p>
                      <a:r>
                        <a:rPr lang="en-US" sz="2400" b="1" dirty="0"/>
                        <a:t>F</a:t>
                      </a:r>
                      <a:endParaRPr lang="en-ZA" sz="2400" b="1" dirty="0"/>
                    </a:p>
                  </a:txBody>
                  <a:tcPr/>
                </a:tc>
                <a:tc>
                  <a:txBody>
                    <a:bodyPr/>
                    <a:lstStyle/>
                    <a:p>
                      <a:r>
                        <a:rPr lang="en-US" sz="2400" b="1" dirty="0"/>
                        <a:t>T</a:t>
                      </a:r>
                      <a:endParaRPr lang="en-ZA" sz="2400" b="1" dirty="0"/>
                    </a:p>
                  </a:txBody>
                  <a:tcPr/>
                </a:tc>
                <a:tc>
                  <a:txBody>
                    <a:bodyPr/>
                    <a:lstStyle/>
                    <a:p>
                      <a:endParaRPr lang="en-ZA" sz="2400" b="1"/>
                    </a:p>
                  </a:txBody>
                  <a:tcPr/>
                </a:tc>
                <a:tc>
                  <a:txBody>
                    <a:bodyPr/>
                    <a:lstStyle/>
                    <a:p>
                      <a:endParaRPr lang="en-ZA" sz="2400" b="1"/>
                    </a:p>
                  </a:txBody>
                  <a:tcPr/>
                </a:tc>
                <a:tc>
                  <a:txBody>
                    <a:bodyPr/>
                    <a:lstStyle/>
                    <a:p>
                      <a:endParaRPr lang="en-ZA" sz="2400" b="1"/>
                    </a:p>
                  </a:txBody>
                  <a:tcPr/>
                </a:tc>
                <a:extLst>
                  <a:ext uri="{0D108BD9-81ED-4DB2-BD59-A6C34878D82A}">
                    <a16:rowId xmlns:a16="http://schemas.microsoft.com/office/drawing/2014/main" val="2203673884"/>
                  </a:ext>
                </a:extLst>
              </a:tr>
              <a:tr h="678543">
                <a:tc>
                  <a:txBody>
                    <a:bodyPr/>
                    <a:lstStyle/>
                    <a:p>
                      <a:r>
                        <a:rPr lang="en-US" sz="2400" b="1" dirty="0"/>
                        <a:t>F</a:t>
                      </a:r>
                      <a:endParaRPr lang="en-ZA" sz="2400" b="1" dirty="0"/>
                    </a:p>
                  </a:txBody>
                  <a:tcPr/>
                </a:tc>
                <a:tc>
                  <a:txBody>
                    <a:bodyPr/>
                    <a:lstStyle/>
                    <a:p>
                      <a:r>
                        <a:rPr lang="en-US" sz="2400" b="1" dirty="0"/>
                        <a:t>F</a:t>
                      </a:r>
                      <a:endParaRPr lang="en-ZA" sz="2400" b="1" dirty="0"/>
                    </a:p>
                  </a:txBody>
                  <a:tcPr/>
                </a:tc>
                <a:tc>
                  <a:txBody>
                    <a:bodyPr/>
                    <a:lstStyle/>
                    <a:p>
                      <a:endParaRPr lang="en-ZA" sz="2400" b="1" dirty="0"/>
                    </a:p>
                  </a:txBody>
                  <a:tcPr/>
                </a:tc>
                <a:tc>
                  <a:txBody>
                    <a:bodyPr/>
                    <a:lstStyle/>
                    <a:p>
                      <a:endParaRPr lang="en-ZA" sz="2400" b="1" dirty="0"/>
                    </a:p>
                  </a:txBody>
                  <a:tcPr/>
                </a:tc>
                <a:tc>
                  <a:txBody>
                    <a:bodyPr/>
                    <a:lstStyle/>
                    <a:p>
                      <a:endParaRPr lang="en-ZA" sz="2400" b="1" dirty="0"/>
                    </a:p>
                  </a:txBody>
                  <a:tcPr/>
                </a:tc>
                <a:extLst>
                  <a:ext uri="{0D108BD9-81ED-4DB2-BD59-A6C34878D82A}">
                    <a16:rowId xmlns:a16="http://schemas.microsoft.com/office/drawing/2014/main" val="4281812331"/>
                  </a:ext>
                </a:extLst>
              </a:tr>
            </a:tbl>
          </a:graphicData>
        </a:graphic>
      </p:graphicFrame>
    </p:spTree>
    <p:extLst>
      <p:ext uri="{BB962C8B-B14F-4D97-AF65-F5344CB8AC3E}">
        <p14:creationId xmlns:p14="http://schemas.microsoft.com/office/powerpoint/2010/main" val="6743760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E522A1-646D-CDC7-E4FE-3ED8BAE09AFB}"/>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4D18C16F-F2CE-44E3-EA06-2EE5A00711B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3913987A-2489-35B5-492D-223CFC743799}"/>
              </a:ext>
            </a:extLst>
          </p:cNvPr>
          <p:cNvSpPr txBox="1"/>
          <p:nvPr/>
        </p:nvSpPr>
        <p:spPr>
          <a:xfrm>
            <a:off x="0" y="65927"/>
            <a:ext cx="6858000" cy="646331"/>
          </a:xfrm>
          <a:prstGeom prst="rect">
            <a:avLst/>
          </a:prstGeom>
          <a:noFill/>
        </p:spPr>
        <p:txBody>
          <a:bodyPr wrap="square" rtlCol="0">
            <a:spAutoFit/>
          </a:bodyPr>
          <a:lstStyle/>
          <a:p>
            <a:pPr algn="ctr"/>
            <a:r>
              <a:rPr lang="en-US" sz="3600" b="1"/>
              <a:t>Truth Table</a:t>
            </a:r>
            <a:endParaRPr lang="en-ZA" sz="3600" b="1" dirty="0">
              <a:latin typeface="Arial" panose="020B0604020202020204" pitchFamily="34" charset="0"/>
              <a:cs typeface="Arial" panose="020B0604020202020204" pitchFamily="34" charset="0"/>
            </a:endParaRPr>
          </a:p>
        </p:txBody>
      </p:sp>
      <p:sp>
        <p:nvSpPr>
          <p:cNvPr id="2" name="Content Placeholder 2">
            <a:extLst>
              <a:ext uri="{FF2B5EF4-FFF2-40B4-BE49-F238E27FC236}">
                <a16:creationId xmlns:a16="http://schemas.microsoft.com/office/drawing/2014/main" id="{6B4CB7EF-ABB4-76CE-8C53-CBF451A52B2B}"/>
              </a:ext>
            </a:extLst>
          </p:cNvPr>
          <p:cNvSpPr txBox="1">
            <a:spLocks/>
          </p:cNvSpPr>
          <p:nvPr/>
        </p:nvSpPr>
        <p:spPr>
          <a:xfrm>
            <a:off x="471488" y="2637014"/>
            <a:ext cx="5915025" cy="6285266"/>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endParaRPr lang="en-US" sz="2800" b="1" dirty="0"/>
          </a:p>
          <a:p>
            <a:pPr marL="457200" indent="-457200" algn="l">
              <a:buFont typeface="+mj-lt"/>
              <a:buAutoNum type="arabicPeriod"/>
            </a:pPr>
            <a:endParaRPr lang="en-US" sz="2800" b="1" dirty="0"/>
          </a:p>
          <a:p>
            <a:pPr marL="457200" indent="-457200" algn="l">
              <a:buFont typeface="+mj-lt"/>
              <a:buAutoNum type="arabicPeriod"/>
            </a:pPr>
            <a:endParaRPr lang="en-US" sz="2800" b="1" dirty="0"/>
          </a:p>
          <a:p>
            <a:pPr marL="285750" indent="-285750">
              <a:buFont typeface="Arial" panose="020B0604020202020204" pitchFamily="34" charset="0"/>
              <a:buChar char="•"/>
            </a:pPr>
            <a:endParaRPr lang="en-US" sz="2400" b="1" dirty="0"/>
          </a:p>
        </p:txBody>
      </p:sp>
      <p:graphicFrame>
        <p:nvGraphicFramePr>
          <p:cNvPr id="3" name="Table 2">
            <a:extLst>
              <a:ext uri="{FF2B5EF4-FFF2-40B4-BE49-F238E27FC236}">
                <a16:creationId xmlns:a16="http://schemas.microsoft.com/office/drawing/2014/main" id="{715A99AF-25D7-2AFD-F7FD-E27B325738B0}"/>
              </a:ext>
            </a:extLst>
          </p:cNvPr>
          <p:cNvGraphicFramePr>
            <a:graphicFrameLocks noGrp="1"/>
          </p:cNvGraphicFramePr>
          <p:nvPr>
            <p:extLst>
              <p:ext uri="{D42A27DB-BD31-4B8C-83A1-F6EECF244321}">
                <p14:modId xmlns:p14="http://schemas.microsoft.com/office/powerpoint/2010/main" val="56536113"/>
              </p:ext>
            </p:extLst>
          </p:nvPr>
        </p:nvGraphicFramePr>
        <p:xfrm>
          <a:off x="180975" y="3428999"/>
          <a:ext cx="6321425" cy="3392715"/>
        </p:xfrm>
        <a:graphic>
          <a:graphicData uri="http://schemas.openxmlformats.org/drawingml/2006/table">
            <a:tbl>
              <a:tblPr firstRow="1" bandRow="1">
                <a:tableStyleId>{5C22544A-7EE6-4342-B048-85BDC9FD1C3A}</a:tableStyleId>
              </a:tblPr>
              <a:tblGrid>
                <a:gridCol w="1264285">
                  <a:extLst>
                    <a:ext uri="{9D8B030D-6E8A-4147-A177-3AD203B41FA5}">
                      <a16:colId xmlns:a16="http://schemas.microsoft.com/office/drawing/2014/main" val="576441385"/>
                    </a:ext>
                  </a:extLst>
                </a:gridCol>
                <a:gridCol w="1264285">
                  <a:extLst>
                    <a:ext uri="{9D8B030D-6E8A-4147-A177-3AD203B41FA5}">
                      <a16:colId xmlns:a16="http://schemas.microsoft.com/office/drawing/2014/main" val="1124216252"/>
                    </a:ext>
                  </a:extLst>
                </a:gridCol>
                <a:gridCol w="1264285">
                  <a:extLst>
                    <a:ext uri="{9D8B030D-6E8A-4147-A177-3AD203B41FA5}">
                      <a16:colId xmlns:a16="http://schemas.microsoft.com/office/drawing/2014/main" val="2020853107"/>
                    </a:ext>
                  </a:extLst>
                </a:gridCol>
                <a:gridCol w="1264285">
                  <a:extLst>
                    <a:ext uri="{9D8B030D-6E8A-4147-A177-3AD203B41FA5}">
                      <a16:colId xmlns:a16="http://schemas.microsoft.com/office/drawing/2014/main" val="1815783821"/>
                    </a:ext>
                  </a:extLst>
                </a:gridCol>
                <a:gridCol w="1264285">
                  <a:extLst>
                    <a:ext uri="{9D8B030D-6E8A-4147-A177-3AD203B41FA5}">
                      <a16:colId xmlns:a16="http://schemas.microsoft.com/office/drawing/2014/main" val="2347514876"/>
                    </a:ext>
                  </a:extLst>
                </a:gridCol>
              </a:tblGrid>
              <a:tr h="678543">
                <a:tc>
                  <a:txBody>
                    <a:bodyPr/>
                    <a:lstStyle/>
                    <a:p>
                      <a:r>
                        <a:rPr lang="en-US" sz="2400" b="1" dirty="0"/>
                        <a:t>A</a:t>
                      </a:r>
                      <a:endParaRPr lang="en-ZA" sz="2400" b="1" dirty="0"/>
                    </a:p>
                  </a:txBody>
                  <a:tcPr/>
                </a:tc>
                <a:tc>
                  <a:txBody>
                    <a:bodyPr/>
                    <a:lstStyle/>
                    <a:p>
                      <a:r>
                        <a:rPr lang="en-US" sz="2400" b="1" dirty="0"/>
                        <a:t>B</a:t>
                      </a:r>
                      <a:endParaRPr lang="en-ZA" sz="2400" b="1" dirty="0"/>
                    </a:p>
                  </a:txBody>
                  <a:tcPr/>
                </a:tc>
                <a:tc>
                  <a:txBody>
                    <a:bodyPr/>
                    <a:lstStyle/>
                    <a:p>
                      <a:r>
                        <a:rPr lang="en-US" sz="2400" b="1" dirty="0">
                          <a:solidFill>
                            <a:schemeClr val="accent2"/>
                          </a:solidFill>
                        </a:rPr>
                        <a:t>A OR B</a:t>
                      </a:r>
                      <a:endParaRPr lang="en-ZA" sz="2400" b="1" dirty="0">
                        <a:solidFill>
                          <a:schemeClr val="accent2"/>
                        </a:solidFill>
                      </a:endParaRPr>
                    </a:p>
                  </a:txBody>
                  <a:tcPr/>
                </a:tc>
                <a:tc>
                  <a:txBody>
                    <a:bodyPr/>
                    <a:lstStyle/>
                    <a:p>
                      <a:r>
                        <a:rPr lang="en-US" sz="2400" b="1" dirty="0">
                          <a:solidFill>
                            <a:schemeClr val="accent2">
                              <a:lumMod val="50000"/>
                            </a:schemeClr>
                          </a:solidFill>
                        </a:rPr>
                        <a:t>A AND B</a:t>
                      </a:r>
                      <a:endParaRPr lang="en-ZA" sz="2400" b="1" dirty="0">
                        <a:solidFill>
                          <a:schemeClr val="accent2">
                            <a:lumMod val="50000"/>
                          </a:schemeClr>
                        </a:solidFill>
                      </a:endParaRPr>
                    </a:p>
                  </a:txBody>
                  <a:tcPr/>
                </a:tc>
                <a:tc>
                  <a:txBody>
                    <a:bodyPr/>
                    <a:lstStyle/>
                    <a:p>
                      <a:r>
                        <a:rPr lang="en-US" sz="2400" b="1" dirty="0">
                          <a:solidFill>
                            <a:srgbClr val="00B050"/>
                          </a:solidFill>
                        </a:rPr>
                        <a:t>NOT A</a:t>
                      </a:r>
                      <a:endParaRPr lang="en-ZA" sz="2400" b="1" dirty="0">
                        <a:solidFill>
                          <a:srgbClr val="00B050"/>
                        </a:solidFill>
                      </a:endParaRPr>
                    </a:p>
                  </a:txBody>
                  <a:tcPr/>
                </a:tc>
                <a:extLst>
                  <a:ext uri="{0D108BD9-81ED-4DB2-BD59-A6C34878D82A}">
                    <a16:rowId xmlns:a16="http://schemas.microsoft.com/office/drawing/2014/main" val="599100179"/>
                  </a:ext>
                </a:extLst>
              </a:tr>
              <a:tr h="678543">
                <a:tc>
                  <a:txBody>
                    <a:bodyPr/>
                    <a:lstStyle/>
                    <a:p>
                      <a:r>
                        <a:rPr lang="en-US" sz="2400" b="1" dirty="0"/>
                        <a:t>T</a:t>
                      </a:r>
                      <a:endParaRPr lang="en-ZA" sz="2400" b="1" dirty="0"/>
                    </a:p>
                  </a:txBody>
                  <a:tcPr/>
                </a:tc>
                <a:tc>
                  <a:txBody>
                    <a:bodyPr/>
                    <a:lstStyle/>
                    <a:p>
                      <a:r>
                        <a:rPr lang="en-US" sz="2400" b="1" dirty="0"/>
                        <a:t>T</a:t>
                      </a:r>
                      <a:endParaRPr lang="en-ZA" sz="2400" b="1" dirty="0"/>
                    </a:p>
                  </a:txBody>
                  <a:tcPr/>
                </a:tc>
                <a:tc>
                  <a:txBody>
                    <a:bodyPr/>
                    <a:lstStyle/>
                    <a:p>
                      <a:r>
                        <a:rPr lang="en-US" sz="2400" b="1" dirty="0">
                          <a:solidFill>
                            <a:schemeClr val="accent2"/>
                          </a:solidFill>
                        </a:rPr>
                        <a:t>T</a:t>
                      </a:r>
                      <a:endParaRPr lang="en-ZA" sz="2400" b="1" dirty="0">
                        <a:solidFill>
                          <a:schemeClr val="accent2"/>
                        </a:solidFill>
                      </a:endParaRPr>
                    </a:p>
                  </a:txBody>
                  <a:tcPr/>
                </a:tc>
                <a:tc>
                  <a:txBody>
                    <a:bodyPr/>
                    <a:lstStyle/>
                    <a:p>
                      <a:r>
                        <a:rPr lang="en-US" sz="2400" b="1" dirty="0">
                          <a:solidFill>
                            <a:schemeClr val="accent2">
                              <a:lumMod val="50000"/>
                            </a:schemeClr>
                          </a:solidFill>
                        </a:rPr>
                        <a:t>T</a:t>
                      </a:r>
                      <a:endParaRPr lang="en-ZA" sz="2400" b="1" dirty="0">
                        <a:solidFill>
                          <a:schemeClr val="accent2">
                            <a:lumMod val="50000"/>
                          </a:schemeClr>
                        </a:solidFill>
                      </a:endParaRPr>
                    </a:p>
                  </a:txBody>
                  <a:tcPr/>
                </a:tc>
                <a:tc>
                  <a:txBody>
                    <a:bodyPr/>
                    <a:lstStyle/>
                    <a:p>
                      <a:r>
                        <a:rPr lang="en-US" sz="2400" b="1" dirty="0">
                          <a:solidFill>
                            <a:srgbClr val="00B050"/>
                          </a:solidFill>
                        </a:rPr>
                        <a:t>F</a:t>
                      </a:r>
                      <a:endParaRPr lang="en-ZA" sz="2400" b="1" dirty="0">
                        <a:solidFill>
                          <a:srgbClr val="00B050"/>
                        </a:solidFill>
                      </a:endParaRPr>
                    </a:p>
                  </a:txBody>
                  <a:tcPr/>
                </a:tc>
                <a:extLst>
                  <a:ext uri="{0D108BD9-81ED-4DB2-BD59-A6C34878D82A}">
                    <a16:rowId xmlns:a16="http://schemas.microsoft.com/office/drawing/2014/main" val="89325075"/>
                  </a:ext>
                </a:extLst>
              </a:tr>
              <a:tr h="678543">
                <a:tc>
                  <a:txBody>
                    <a:bodyPr/>
                    <a:lstStyle/>
                    <a:p>
                      <a:r>
                        <a:rPr lang="en-US" sz="2400" b="1" dirty="0"/>
                        <a:t>T</a:t>
                      </a:r>
                      <a:endParaRPr lang="en-ZA" sz="2400" b="1" dirty="0"/>
                    </a:p>
                  </a:txBody>
                  <a:tcPr/>
                </a:tc>
                <a:tc>
                  <a:txBody>
                    <a:bodyPr/>
                    <a:lstStyle/>
                    <a:p>
                      <a:r>
                        <a:rPr lang="en-US" sz="2400" b="1" dirty="0"/>
                        <a:t>F</a:t>
                      </a:r>
                      <a:endParaRPr lang="en-ZA" sz="2400" b="1" dirty="0"/>
                    </a:p>
                  </a:txBody>
                  <a:tcPr/>
                </a:tc>
                <a:tc>
                  <a:txBody>
                    <a:bodyPr/>
                    <a:lstStyle/>
                    <a:p>
                      <a:r>
                        <a:rPr lang="en-US" sz="2400" b="1" dirty="0">
                          <a:solidFill>
                            <a:schemeClr val="accent2"/>
                          </a:solidFill>
                        </a:rPr>
                        <a:t>T</a:t>
                      </a:r>
                      <a:endParaRPr lang="en-ZA" sz="2400" b="1" dirty="0">
                        <a:solidFill>
                          <a:schemeClr val="accent2"/>
                        </a:solidFill>
                      </a:endParaRPr>
                    </a:p>
                  </a:txBody>
                  <a:tcPr/>
                </a:tc>
                <a:tc>
                  <a:txBody>
                    <a:bodyPr/>
                    <a:lstStyle/>
                    <a:p>
                      <a:r>
                        <a:rPr lang="en-US" sz="2400" b="1" dirty="0">
                          <a:solidFill>
                            <a:schemeClr val="accent2">
                              <a:lumMod val="50000"/>
                            </a:schemeClr>
                          </a:solidFill>
                        </a:rPr>
                        <a:t>F</a:t>
                      </a:r>
                      <a:endParaRPr lang="en-ZA" sz="2400" b="1" dirty="0">
                        <a:solidFill>
                          <a:schemeClr val="accent2">
                            <a:lumMod val="50000"/>
                          </a:schemeClr>
                        </a:solidFill>
                      </a:endParaRPr>
                    </a:p>
                  </a:txBody>
                  <a:tcPr/>
                </a:tc>
                <a:tc>
                  <a:txBody>
                    <a:bodyPr/>
                    <a:lstStyle/>
                    <a:p>
                      <a:r>
                        <a:rPr lang="en-US" sz="2400" b="1" dirty="0">
                          <a:solidFill>
                            <a:srgbClr val="00B050"/>
                          </a:solidFill>
                        </a:rPr>
                        <a:t>F</a:t>
                      </a:r>
                      <a:endParaRPr lang="en-ZA" sz="2400" b="1" dirty="0">
                        <a:solidFill>
                          <a:srgbClr val="00B050"/>
                        </a:solidFill>
                      </a:endParaRPr>
                    </a:p>
                  </a:txBody>
                  <a:tcPr/>
                </a:tc>
                <a:extLst>
                  <a:ext uri="{0D108BD9-81ED-4DB2-BD59-A6C34878D82A}">
                    <a16:rowId xmlns:a16="http://schemas.microsoft.com/office/drawing/2014/main" val="2939611154"/>
                  </a:ext>
                </a:extLst>
              </a:tr>
              <a:tr h="678543">
                <a:tc>
                  <a:txBody>
                    <a:bodyPr/>
                    <a:lstStyle/>
                    <a:p>
                      <a:r>
                        <a:rPr lang="en-US" sz="2400" b="1" dirty="0"/>
                        <a:t>F</a:t>
                      </a:r>
                      <a:endParaRPr lang="en-ZA" sz="2400" b="1" dirty="0"/>
                    </a:p>
                  </a:txBody>
                  <a:tcPr/>
                </a:tc>
                <a:tc>
                  <a:txBody>
                    <a:bodyPr/>
                    <a:lstStyle/>
                    <a:p>
                      <a:r>
                        <a:rPr lang="en-US" sz="2400" b="1" dirty="0"/>
                        <a:t>T</a:t>
                      </a:r>
                      <a:endParaRPr lang="en-ZA" sz="2400" b="1" dirty="0"/>
                    </a:p>
                  </a:txBody>
                  <a:tcPr/>
                </a:tc>
                <a:tc>
                  <a:txBody>
                    <a:bodyPr/>
                    <a:lstStyle/>
                    <a:p>
                      <a:r>
                        <a:rPr lang="en-US" sz="2400" b="1" dirty="0">
                          <a:solidFill>
                            <a:schemeClr val="accent2"/>
                          </a:solidFill>
                        </a:rPr>
                        <a:t>T</a:t>
                      </a:r>
                      <a:endParaRPr lang="en-ZA" sz="2400" b="1" dirty="0">
                        <a:solidFill>
                          <a:schemeClr val="accent2"/>
                        </a:solidFill>
                      </a:endParaRPr>
                    </a:p>
                  </a:txBody>
                  <a:tcPr/>
                </a:tc>
                <a:tc>
                  <a:txBody>
                    <a:bodyPr/>
                    <a:lstStyle/>
                    <a:p>
                      <a:r>
                        <a:rPr lang="en-US" sz="2400" b="1" dirty="0">
                          <a:solidFill>
                            <a:schemeClr val="accent2">
                              <a:lumMod val="50000"/>
                            </a:schemeClr>
                          </a:solidFill>
                        </a:rPr>
                        <a:t>F</a:t>
                      </a:r>
                      <a:endParaRPr lang="en-ZA" sz="2400" b="1" dirty="0">
                        <a:solidFill>
                          <a:schemeClr val="accent2">
                            <a:lumMod val="50000"/>
                          </a:schemeClr>
                        </a:solidFill>
                      </a:endParaRPr>
                    </a:p>
                  </a:txBody>
                  <a:tcPr/>
                </a:tc>
                <a:tc>
                  <a:txBody>
                    <a:bodyPr/>
                    <a:lstStyle/>
                    <a:p>
                      <a:r>
                        <a:rPr lang="en-US" sz="2400" b="1" dirty="0">
                          <a:solidFill>
                            <a:srgbClr val="00B050"/>
                          </a:solidFill>
                        </a:rPr>
                        <a:t>T</a:t>
                      </a:r>
                      <a:endParaRPr lang="en-ZA" sz="2400" b="1" dirty="0">
                        <a:solidFill>
                          <a:srgbClr val="00B050"/>
                        </a:solidFill>
                      </a:endParaRPr>
                    </a:p>
                  </a:txBody>
                  <a:tcPr/>
                </a:tc>
                <a:extLst>
                  <a:ext uri="{0D108BD9-81ED-4DB2-BD59-A6C34878D82A}">
                    <a16:rowId xmlns:a16="http://schemas.microsoft.com/office/drawing/2014/main" val="2203673884"/>
                  </a:ext>
                </a:extLst>
              </a:tr>
              <a:tr h="678543">
                <a:tc>
                  <a:txBody>
                    <a:bodyPr/>
                    <a:lstStyle/>
                    <a:p>
                      <a:r>
                        <a:rPr lang="en-US" sz="2400" b="1" dirty="0"/>
                        <a:t>F</a:t>
                      </a:r>
                      <a:endParaRPr lang="en-ZA" sz="2400" b="1" dirty="0"/>
                    </a:p>
                  </a:txBody>
                  <a:tcPr/>
                </a:tc>
                <a:tc>
                  <a:txBody>
                    <a:bodyPr/>
                    <a:lstStyle/>
                    <a:p>
                      <a:r>
                        <a:rPr lang="en-US" sz="2400" b="1" dirty="0"/>
                        <a:t>F</a:t>
                      </a:r>
                      <a:endParaRPr lang="en-ZA" sz="2400" b="1" dirty="0"/>
                    </a:p>
                  </a:txBody>
                  <a:tcPr/>
                </a:tc>
                <a:tc>
                  <a:txBody>
                    <a:bodyPr/>
                    <a:lstStyle/>
                    <a:p>
                      <a:r>
                        <a:rPr lang="en-US" sz="2400" b="1" dirty="0">
                          <a:solidFill>
                            <a:schemeClr val="accent2"/>
                          </a:solidFill>
                        </a:rPr>
                        <a:t>F</a:t>
                      </a:r>
                      <a:endParaRPr lang="en-ZA" sz="2400" b="1" dirty="0">
                        <a:solidFill>
                          <a:schemeClr val="accent2"/>
                        </a:solidFill>
                      </a:endParaRPr>
                    </a:p>
                  </a:txBody>
                  <a:tcPr/>
                </a:tc>
                <a:tc>
                  <a:txBody>
                    <a:bodyPr/>
                    <a:lstStyle/>
                    <a:p>
                      <a:r>
                        <a:rPr lang="en-US" sz="2400" b="1" dirty="0">
                          <a:solidFill>
                            <a:schemeClr val="accent2">
                              <a:lumMod val="50000"/>
                            </a:schemeClr>
                          </a:solidFill>
                        </a:rPr>
                        <a:t>F</a:t>
                      </a:r>
                      <a:endParaRPr lang="en-ZA" sz="2400" b="1" dirty="0">
                        <a:solidFill>
                          <a:schemeClr val="accent2">
                            <a:lumMod val="50000"/>
                          </a:schemeClr>
                        </a:solidFill>
                      </a:endParaRPr>
                    </a:p>
                  </a:txBody>
                  <a:tcPr/>
                </a:tc>
                <a:tc>
                  <a:txBody>
                    <a:bodyPr/>
                    <a:lstStyle/>
                    <a:p>
                      <a:r>
                        <a:rPr lang="en-US" sz="2400" b="1" dirty="0">
                          <a:solidFill>
                            <a:srgbClr val="00B050"/>
                          </a:solidFill>
                        </a:rPr>
                        <a:t>T</a:t>
                      </a:r>
                      <a:endParaRPr lang="en-ZA" sz="2400" b="1" dirty="0">
                        <a:solidFill>
                          <a:srgbClr val="00B050"/>
                        </a:solidFill>
                      </a:endParaRPr>
                    </a:p>
                  </a:txBody>
                  <a:tcPr/>
                </a:tc>
                <a:extLst>
                  <a:ext uri="{0D108BD9-81ED-4DB2-BD59-A6C34878D82A}">
                    <a16:rowId xmlns:a16="http://schemas.microsoft.com/office/drawing/2014/main" val="4281812331"/>
                  </a:ext>
                </a:extLst>
              </a:tr>
            </a:tbl>
          </a:graphicData>
        </a:graphic>
      </p:graphicFrame>
    </p:spTree>
    <p:extLst>
      <p:ext uri="{BB962C8B-B14F-4D97-AF65-F5344CB8AC3E}">
        <p14:creationId xmlns:p14="http://schemas.microsoft.com/office/powerpoint/2010/main" val="7261723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50BF3B-2870-7DBF-09B0-D796F20DDC97}"/>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2871CCB0-54A1-064B-F94C-00FDC582C5D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0F698B34-F29D-5512-4527-6059C5E6E98C}"/>
              </a:ext>
            </a:extLst>
          </p:cNvPr>
          <p:cNvSpPr txBox="1"/>
          <p:nvPr/>
        </p:nvSpPr>
        <p:spPr>
          <a:xfrm>
            <a:off x="0" y="65927"/>
            <a:ext cx="6858000" cy="646331"/>
          </a:xfrm>
          <a:prstGeom prst="rect">
            <a:avLst/>
          </a:prstGeom>
          <a:noFill/>
        </p:spPr>
        <p:txBody>
          <a:bodyPr wrap="square" rtlCol="0">
            <a:spAutoFit/>
          </a:bodyPr>
          <a:lstStyle/>
          <a:p>
            <a:pPr algn="ctr"/>
            <a:r>
              <a:rPr lang="en-US" sz="3600" b="1" dirty="0">
                <a:latin typeface="Arial" panose="020B0604020202020204" pitchFamily="34" charset="0"/>
                <a:cs typeface="Arial" panose="020B0604020202020204" pitchFamily="34" charset="0"/>
              </a:rPr>
              <a:t>Order of Precedence</a:t>
            </a:r>
            <a:endParaRPr lang="en-ZA" sz="3600" b="1" dirty="0">
              <a:latin typeface="Arial" panose="020B0604020202020204" pitchFamily="34" charset="0"/>
              <a:cs typeface="Arial" panose="020B0604020202020204" pitchFamily="34" charset="0"/>
            </a:endParaRPr>
          </a:p>
        </p:txBody>
      </p:sp>
      <p:sp>
        <p:nvSpPr>
          <p:cNvPr id="2" name="Content Placeholder 2">
            <a:extLst>
              <a:ext uri="{FF2B5EF4-FFF2-40B4-BE49-F238E27FC236}">
                <a16:creationId xmlns:a16="http://schemas.microsoft.com/office/drawing/2014/main" id="{38D15732-3582-9AB7-128B-9D8AE911DCFF}"/>
              </a:ext>
            </a:extLst>
          </p:cNvPr>
          <p:cNvSpPr txBox="1">
            <a:spLocks/>
          </p:cNvSpPr>
          <p:nvPr/>
        </p:nvSpPr>
        <p:spPr>
          <a:xfrm>
            <a:off x="471488" y="2637014"/>
            <a:ext cx="5915025" cy="6285266"/>
          </a:xfrm>
          <a:prstGeom prst="rect">
            <a:avLst/>
          </a:prstGeom>
        </p:spPr>
        <p:txBody>
          <a:bodyPr vert="horz" lIns="91440" tIns="45720" rIns="91440" bIns="45720" rtlCol="0">
            <a:normAutofit fontScale="92500"/>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US" sz="2400" dirty="0"/>
              <a:t>When parentheses are omitted from an expression, the computer groups items according to rules known as </a:t>
            </a:r>
            <a:r>
              <a:rPr lang="en-US" sz="2400" b="1" dirty="0"/>
              <a:t>precedence rules.</a:t>
            </a:r>
          </a:p>
          <a:p>
            <a:pPr algn="l"/>
            <a:r>
              <a:rPr lang="en-US" sz="2400" dirty="0"/>
              <a:t>Binary operations of equal precedence are evaluated in left-to-right order. Unary operations of equal precedence are evaluated in right-to-left </a:t>
            </a:r>
            <a:r>
              <a:rPr lang="en-ZA" sz="2400" dirty="0"/>
              <a:t>order.</a:t>
            </a:r>
          </a:p>
          <a:p>
            <a:pPr algn="l"/>
            <a:endParaRPr lang="en-ZA" sz="2400" b="1" dirty="0"/>
          </a:p>
          <a:p>
            <a:pPr algn="l"/>
            <a:r>
              <a:rPr lang="en-US" sz="2400" dirty="0"/>
              <a:t>Notice that the precedence rules include both arithmetic operators such as + and * as well as Boolean </a:t>
            </a:r>
            <a:r>
              <a:rPr lang="en-US" sz="2400"/>
              <a:t>Operators (Relational </a:t>
            </a:r>
            <a:r>
              <a:rPr lang="en-US" sz="2400" dirty="0"/>
              <a:t>operators  such as &lt;= , &gt; and == and Logical operators such as &amp;&amp; and ||).</a:t>
            </a:r>
          </a:p>
          <a:p>
            <a:endParaRPr lang="en-US" sz="2400" dirty="0"/>
          </a:p>
          <a:p>
            <a:r>
              <a:rPr lang="en-US" sz="2400" b="1" dirty="0"/>
              <a:t>Examples of expressions that can be evaluated using Precedence Order: </a:t>
            </a:r>
          </a:p>
          <a:p>
            <a:pPr marL="457200" indent="-457200">
              <a:buAutoNum type="arabicParenR"/>
            </a:pPr>
            <a:r>
              <a:rPr lang="en-ZA" sz="2400" dirty="0"/>
              <a:t>11 &gt; 5 || 6 &lt; 15 &amp;&amp; 7 &gt;= 8</a:t>
            </a:r>
          </a:p>
          <a:p>
            <a:pPr marL="457200" indent="-457200">
              <a:buFont typeface="Arial" panose="020B0604020202020204" pitchFamily="34" charset="0"/>
              <a:buAutoNum type="arabicParenR"/>
            </a:pPr>
            <a:r>
              <a:rPr lang="en-ZA" sz="2400" dirty="0"/>
              <a:t>(x + 1) &gt; 2 || (x + 1) &lt; −3</a:t>
            </a:r>
          </a:p>
          <a:p>
            <a:pPr marL="457200" indent="-457200">
              <a:buAutoNum type="arabicParenR"/>
            </a:pPr>
            <a:endParaRPr lang="en-ZA" sz="2400" dirty="0"/>
          </a:p>
          <a:p>
            <a:endParaRPr lang="en-US" sz="2400" b="1" dirty="0"/>
          </a:p>
          <a:p>
            <a:pPr marL="457200" indent="-457200" algn="l">
              <a:buFont typeface="+mj-lt"/>
              <a:buAutoNum type="arabicPeriod"/>
            </a:pPr>
            <a:endParaRPr lang="en-US" sz="2800" b="1" dirty="0"/>
          </a:p>
          <a:p>
            <a:pPr marL="457200" indent="-457200" algn="l">
              <a:buFont typeface="+mj-lt"/>
              <a:buAutoNum type="arabicPeriod"/>
            </a:pPr>
            <a:endParaRPr lang="en-US" sz="2800" b="1" dirty="0"/>
          </a:p>
          <a:p>
            <a:pPr marL="457200" indent="-457200" algn="l">
              <a:buFont typeface="+mj-lt"/>
              <a:buAutoNum type="arabicPeriod"/>
            </a:pPr>
            <a:endParaRPr lang="en-US" sz="2800" b="1" dirty="0"/>
          </a:p>
          <a:p>
            <a:pPr marL="285750" indent="-285750">
              <a:buFont typeface="Arial" panose="020B0604020202020204" pitchFamily="34" charset="0"/>
              <a:buChar char="•"/>
            </a:pPr>
            <a:endParaRPr lang="en-US" sz="2400" b="1" dirty="0"/>
          </a:p>
        </p:txBody>
      </p:sp>
    </p:spTree>
    <p:extLst>
      <p:ext uri="{BB962C8B-B14F-4D97-AF65-F5344CB8AC3E}">
        <p14:creationId xmlns:p14="http://schemas.microsoft.com/office/powerpoint/2010/main" val="2498585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59931F-0494-D978-A47F-8BFA45F712B6}"/>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40DD677A-4FC3-9441-6965-03D8A3F1272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29D33460-1DC6-3E53-1865-CCD61A81FF6A}"/>
              </a:ext>
            </a:extLst>
          </p:cNvPr>
          <p:cNvSpPr txBox="1"/>
          <p:nvPr/>
        </p:nvSpPr>
        <p:spPr>
          <a:xfrm>
            <a:off x="0" y="65927"/>
            <a:ext cx="6858000" cy="646331"/>
          </a:xfrm>
          <a:prstGeom prst="rect">
            <a:avLst/>
          </a:prstGeom>
          <a:noFill/>
        </p:spPr>
        <p:txBody>
          <a:bodyPr wrap="square" rtlCol="0">
            <a:spAutoFit/>
          </a:bodyPr>
          <a:lstStyle/>
          <a:p>
            <a:pPr algn="ctr"/>
            <a:r>
              <a:rPr lang="en-US" sz="3600" b="1" dirty="0">
                <a:latin typeface="Arial" panose="020B0604020202020204" pitchFamily="34" charset="0"/>
                <a:cs typeface="Arial" panose="020B0604020202020204" pitchFamily="34" charset="0"/>
              </a:rPr>
              <a:t>Order of Precedence Rules</a:t>
            </a:r>
            <a:endParaRPr lang="en-ZA" sz="3600" b="1" dirty="0">
              <a:latin typeface="Arial" panose="020B0604020202020204" pitchFamily="34" charset="0"/>
              <a:cs typeface="Arial" panose="020B0604020202020204" pitchFamily="34" charset="0"/>
            </a:endParaRPr>
          </a:p>
        </p:txBody>
      </p:sp>
      <p:sp>
        <p:nvSpPr>
          <p:cNvPr id="2" name="Content Placeholder 2">
            <a:extLst>
              <a:ext uri="{FF2B5EF4-FFF2-40B4-BE49-F238E27FC236}">
                <a16:creationId xmlns:a16="http://schemas.microsoft.com/office/drawing/2014/main" id="{E2B7DBAF-E020-9BFF-475F-A473D1F29F22}"/>
              </a:ext>
            </a:extLst>
          </p:cNvPr>
          <p:cNvSpPr txBox="1">
            <a:spLocks/>
          </p:cNvSpPr>
          <p:nvPr/>
        </p:nvSpPr>
        <p:spPr>
          <a:xfrm>
            <a:off x="471488" y="2478505"/>
            <a:ext cx="5915025" cy="6443775"/>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ZA" sz="2400" b="1" dirty="0"/>
              <a:t>Order of Precedence Rules.</a:t>
            </a:r>
          </a:p>
          <a:p>
            <a:pPr algn="l"/>
            <a:r>
              <a:rPr lang="en-US" sz="2400" dirty="0"/>
              <a:t>If one operation is evaluated before another, the operation that is evaluated first is said to have </a:t>
            </a:r>
            <a:r>
              <a:rPr lang="en-US" sz="2400" b="1" dirty="0"/>
              <a:t>higher precedence.</a:t>
            </a:r>
          </a:p>
          <a:p>
            <a:pPr algn="l"/>
            <a:r>
              <a:rPr lang="en-US" sz="2400" b="1" dirty="0"/>
              <a:t>Binary</a:t>
            </a:r>
            <a:r>
              <a:rPr lang="en-US" sz="2400" dirty="0"/>
              <a:t> operations of equal precedence are evaluated in </a:t>
            </a:r>
            <a:r>
              <a:rPr lang="en-US" sz="2400" b="1" dirty="0"/>
              <a:t>left-to-right order</a:t>
            </a:r>
            <a:r>
              <a:rPr lang="en-US" sz="2400" dirty="0"/>
              <a:t>. </a:t>
            </a:r>
            <a:r>
              <a:rPr lang="en-US" sz="2400" b="1" dirty="0"/>
              <a:t>Unary</a:t>
            </a:r>
            <a:r>
              <a:rPr lang="en-US" sz="2400" dirty="0"/>
              <a:t> operations of equal precedence are evaluated in </a:t>
            </a:r>
            <a:r>
              <a:rPr lang="en-US" sz="2400" b="1" dirty="0"/>
              <a:t>right-to-left </a:t>
            </a:r>
            <a:r>
              <a:rPr lang="en-ZA" sz="2400" b="1" dirty="0"/>
              <a:t>order</a:t>
            </a:r>
            <a:r>
              <a:rPr lang="en-ZA" sz="2400" dirty="0"/>
              <a:t>.</a:t>
            </a:r>
            <a:endParaRPr lang="en-US" sz="2400" b="1" dirty="0"/>
          </a:p>
          <a:p>
            <a:pPr marL="457200" indent="-457200" algn="l">
              <a:buFont typeface="+mj-lt"/>
              <a:buAutoNum type="arabicPeriod"/>
            </a:pPr>
            <a:endParaRPr lang="en-US" sz="2800" b="1" dirty="0"/>
          </a:p>
          <a:p>
            <a:pPr marL="285750" indent="-285750">
              <a:buFont typeface="Arial" panose="020B0604020202020204" pitchFamily="34" charset="0"/>
              <a:buChar char="•"/>
            </a:pPr>
            <a:endParaRPr lang="en-US" sz="2400" b="1" dirty="0"/>
          </a:p>
        </p:txBody>
      </p:sp>
      <p:pic>
        <p:nvPicPr>
          <p:cNvPr id="7" name="Picture 6">
            <a:extLst>
              <a:ext uri="{FF2B5EF4-FFF2-40B4-BE49-F238E27FC236}">
                <a16:creationId xmlns:a16="http://schemas.microsoft.com/office/drawing/2014/main" id="{41874B8D-57D8-4EFF-89B4-15677C8A4554}"/>
              </a:ext>
            </a:extLst>
          </p:cNvPr>
          <p:cNvPicPr>
            <a:picLocks noChangeAspect="1"/>
          </p:cNvPicPr>
          <p:nvPr/>
        </p:nvPicPr>
        <p:blipFill>
          <a:blip r:embed="rId3"/>
          <a:stretch>
            <a:fillRect/>
          </a:stretch>
        </p:blipFill>
        <p:spPr>
          <a:xfrm>
            <a:off x="144379" y="5378117"/>
            <a:ext cx="6557210" cy="3729788"/>
          </a:xfrm>
          <a:prstGeom prst="rect">
            <a:avLst/>
          </a:prstGeom>
        </p:spPr>
      </p:pic>
    </p:spTree>
    <p:extLst>
      <p:ext uri="{BB962C8B-B14F-4D97-AF65-F5344CB8AC3E}">
        <p14:creationId xmlns:p14="http://schemas.microsoft.com/office/powerpoint/2010/main" val="7008685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E91F3D-12E0-BF92-BBAD-AA8E5D0FAE4D}"/>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B2FA4FAE-BEE3-F5E8-ADEC-64A1C18FFBF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D256B08C-FD73-F67E-1C7F-443BDE736188}"/>
              </a:ext>
            </a:extLst>
          </p:cNvPr>
          <p:cNvSpPr txBox="1"/>
          <p:nvPr/>
        </p:nvSpPr>
        <p:spPr>
          <a:xfrm>
            <a:off x="0" y="65927"/>
            <a:ext cx="6858000" cy="646331"/>
          </a:xfrm>
          <a:prstGeom prst="rect">
            <a:avLst/>
          </a:prstGeom>
          <a:noFill/>
        </p:spPr>
        <p:txBody>
          <a:bodyPr wrap="square" rtlCol="0">
            <a:spAutoFit/>
          </a:bodyPr>
          <a:lstStyle/>
          <a:p>
            <a:pPr algn="ctr"/>
            <a:r>
              <a:rPr lang="en-US" sz="3600" b="1" dirty="0">
                <a:latin typeface="Arial" panose="020B0604020202020204" pitchFamily="34" charset="0"/>
                <a:cs typeface="Arial" panose="020B0604020202020204" pitchFamily="34" charset="0"/>
              </a:rPr>
              <a:t>Order of Precedence Rules</a:t>
            </a:r>
            <a:endParaRPr lang="en-ZA" sz="3600" b="1" dirty="0">
              <a:latin typeface="Arial" panose="020B0604020202020204" pitchFamily="34" charset="0"/>
              <a:cs typeface="Arial" panose="020B0604020202020204" pitchFamily="34" charset="0"/>
            </a:endParaRPr>
          </a:p>
        </p:txBody>
      </p:sp>
      <p:sp>
        <p:nvSpPr>
          <p:cNvPr id="2" name="Content Placeholder 2">
            <a:extLst>
              <a:ext uri="{FF2B5EF4-FFF2-40B4-BE49-F238E27FC236}">
                <a16:creationId xmlns:a16="http://schemas.microsoft.com/office/drawing/2014/main" id="{F5098A73-FEE7-C7B7-8BD8-6C196796655C}"/>
              </a:ext>
            </a:extLst>
          </p:cNvPr>
          <p:cNvSpPr txBox="1">
            <a:spLocks/>
          </p:cNvSpPr>
          <p:nvPr/>
        </p:nvSpPr>
        <p:spPr>
          <a:xfrm>
            <a:off x="471488" y="2478505"/>
            <a:ext cx="5915025" cy="6443775"/>
          </a:xfrm>
          <a:prstGeom prst="rect">
            <a:avLst/>
          </a:prstGeom>
        </p:spPr>
        <p:txBody>
          <a:bodyPr vert="horz" lIns="91440" tIns="45720" rIns="91440" bIns="45720" rtlCol="0">
            <a:normAutofit fontScale="92500" lnSpcReduction="20000"/>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US" sz="2600" b="1" dirty="0"/>
              <a:t>More into Precedence Rules:</a:t>
            </a:r>
          </a:p>
          <a:p>
            <a:pPr algn="l"/>
            <a:endParaRPr lang="en-US" sz="2600" dirty="0"/>
          </a:p>
          <a:p>
            <a:pPr marL="342900" indent="-342900" algn="l">
              <a:buFont typeface="Arial" panose="020B0604020202020204" pitchFamily="34" charset="0"/>
              <a:buChar char="•"/>
            </a:pPr>
            <a:r>
              <a:rPr lang="en-US" sz="2600" dirty="0"/>
              <a:t>All operations inside </a:t>
            </a:r>
            <a:r>
              <a:rPr lang="en-US" sz="2600" b="1" dirty="0">
                <a:cs typeface="Courier New" panose="02070309020205020404" pitchFamily="49" charset="0"/>
              </a:rPr>
              <a:t>()</a:t>
            </a:r>
            <a:r>
              <a:rPr lang="en-US" sz="2600" dirty="0"/>
              <a:t> are evaluated first.</a:t>
            </a:r>
          </a:p>
          <a:p>
            <a:pPr marL="342900" indent="-342900" algn="l">
              <a:buFont typeface="Arial" panose="020B0604020202020204" pitchFamily="34" charset="0"/>
              <a:buChar char="•"/>
            </a:pPr>
            <a:r>
              <a:rPr lang="en-US" sz="2600" b="1" dirty="0">
                <a:cs typeface="Courier New" panose="02070309020205020404" pitchFamily="49" charset="0"/>
              </a:rPr>
              <a:t>*</a:t>
            </a:r>
            <a:r>
              <a:rPr lang="en-US" sz="2600" dirty="0"/>
              <a:t>, </a:t>
            </a:r>
            <a:r>
              <a:rPr lang="en-US" sz="2600" b="1" dirty="0">
                <a:cs typeface="Courier New" panose="02070309020205020404" pitchFamily="49" charset="0"/>
              </a:rPr>
              <a:t>/</a:t>
            </a:r>
            <a:r>
              <a:rPr lang="en-US" sz="2600" dirty="0"/>
              <a:t>, and </a:t>
            </a:r>
            <a:r>
              <a:rPr lang="en-US" sz="2600" b="1" dirty="0">
                <a:cs typeface="Courier New" panose="02070309020205020404" pitchFamily="49" charset="0"/>
              </a:rPr>
              <a:t>%</a:t>
            </a:r>
            <a:r>
              <a:rPr lang="en-US" sz="2600" dirty="0"/>
              <a:t> are at the same level of precedence and are evaluated next.</a:t>
            </a:r>
          </a:p>
          <a:p>
            <a:pPr marL="342900" indent="-342900" algn="l">
              <a:buFont typeface="Arial" panose="020B0604020202020204" pitchFamily="34" charset="0"/>
              <a:buChar char="•"/>
            </a:pPr>
            <a:r>
              <a:rPr lang="en-US" sz="2600" b="1" dirty="0">
                <a:cs typeface="Courier New" panose="02070309020205020404" pitchFamily="49" charset="0"/>
              </a:rPr>
              <a:t>+</a:t>
            </a:r>
            <a:r>
              <a:rPr lang="en-US" sz="2600" dirty="0"/>
              <a:t> and </a:t>
            </a:r>
            <a:r>
              <a:rPr lang="en-US" sz="2600" b="1" dirty="0">
                <a:cs typeface="Courier New" panose="02070309020205020404" pitchFamily="49" charset="0"/>
              </a:rPr>
              <a:t>-</a:t>
            </a:r>
            <a:r>
              <a:rPr lang="en-US" sz="2600" dirty="0"/>
              <a:t> have the same level of precedence and are evaluated last.</a:t>
            </a:r>
          </a:p>
          <a:p>
            <a:pPr marL="342900" indent="-342900" algn="l">
              <a:buFont typeface="Arial" panose="020B0604020202020204" pitchFamily="34" charset="0"/>
              <a:buChar char="•"/>
            </a:pPr>
            <a:r>
              <a:rPr lang="en-US" sz="2600" dirty="0"/>
              <a:t>When operators are on the same level.</a:t>
            </a:r>
          </a:p>
          <a:p>
            <a:pPr marL="342900" indent="-342900" algn="l">
              <a:buFont typeface="Arial" panose="020B0604020202020204" pitchFamily="34" charset="0"/>
              <a:buChar char="•"/>
            </a:pPr>
            <a:r>
              <a:rPr lang="en-US" sz="2600" dirty="0"/>
              <a:t>Operations are performed from left to right (associativity).</a:t>
            </a:r>
          </a:p>
          <a:p>
            <a:pPr algn="l"/>
            <a:endParaRPr lang="en-US" sz="2600" dirty="0"/>
          </a:p>
          <a:p>
            <a:pPr algn="l"/>
            <a:r>
              <a:rPr lang="en-US" sz="2600" dirty="0"/>
              <a:t>A </a:t>
            </a:r>
            <a:r>
              <a:rPr lang="en-US" sz="2600" b="1" dirty="0"/>
              <a:t>Boolean expression </a:t>
            </a:r>
            <a:r>
              <a:rPr lang="en-US" sz="2600" dirty="0"/>
              <a:t>is an expression that can be thought of as being </a:t>
            </a:r>
            <a:r>
              <a:rPr lang="en-US" sz="2600" i="1" dirty="0"/>
              <a:t>true </a:t>
            </a:r>
            <a:r>
              <a:rPr lang="en-US" sz="2600" dirty="0"/>
              <a:t>or </a:t>
            </a:r>
            <a:r>
              <a:rPr lang="en-US" sz="2600" i="1" dirty="0"/>
              <a:t>false </a:t>
            </a:r>
            <a:r>
              <a:rPr lang="en-US" sz="2600" dirty="0"/>
              <a:t>(that is, </a:t>
            </a:r>
            <a:r>
              <a:rPr lang="en-US" sz="2600" i="1" dirty="0"/>
              <a:t>true </a:t>
            </a:r>
            <a:r>
              <a:rPr lang="en-US" sz="2600" dirty="0"/>
              <a:t>if satisfied or </a:t>
            </a:r>
            <a:r>
              <a:rPr lang="en-US" sz="2600" i="1" dirty="0"/>
              <a:t>false </a:t>
            </a:r>
            <a:r>
              <a:rPr lang="en-US" sz="2600" dirty="0"/>
              <a:t>if not satisfied).</a:t>
            </a:r>
            <a:endParaRPr lang="en-US" altLang="en-US" sz="2600" dirty="0"/>
          </a:p>
          <a:p>
            <a:pPr algn="l"/>
            <a:endParaRPr lang="en-ZA" sz="2600" b="1" dirty="0"/>
          </a:p>
          <a:p>
            <a:pPr algn="l"/>
            <a:r>
              <a:rPr lang="en-US" sz="2600" b="1" dirty="0"/>
              <a:t>Boolean expressions</a:t>
            </a:r>
            <a:r>
              <a:rPr lang="en-US" sz="2600" dirty="0"/>
              <a:t> can be executed from a combination of arithmetic operators, relational operators and logical operators and the given values.</a:t>
            </a:r>
            <a:endParaRPr lang="en-ZA" sz="2600" b="1" dirty="0"/>
          </a:p>
          <a:p>
            <a:pPr algn="l"/>
            <a:endParaRPr lang="en-US" sz="2400" b="1" dirty="0"/>
          </a:p>
          <a:p>
            <a:pPr marL="457200" indent="-457200" algn="l">
              <a:buFont typeface="+mj-lt"/>
              <a:buAutoNum type="arabicPeriod"/>
            </a:pPr>
            <a:endParaRPr lang="en-US" sz="2800" b="1" dirty="0"/>
          </a:p>
          <a:p>
            <a:pPr marL="285750" indent="-285750">
              <a:buFont typeface="Arial" panose="020B0604020202020204" pitchFamily="34" charset="0"/>
              <a:buChar char="•"/>
            </a:pPr>
            <a:endParaRPr lang="en-US" sz="2400" b="1" dirty="0"/>
          </a:p>
        </p:txBody>
      </p:sp>
    </p:spTree>
    <p:extLst>
      <p:ext uri="{BB962C8B-B14F-4D97-AF65-F5344CB8AC3E}">
        <p14:creationId xmlns:p14="http://schemas.microsoft.com/office/powerpoint/2010/main" val="38665674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6BAED6-3BD1-E2A8-4970-3ED1170EF7F9}"/>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F3D2F2D9-367C-3347-ED73-1ABADD4A1C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F8DCE578-67C9-6A5F-371D-F561B009274B}"/>
              </a:ext>
            </a:extLst>
          </p:cNvPr>
          <p:cNvSpPr txBox="1"/>
          <p:nvPr/>
        </p:nvSpPr>
        <p:spPr>
          <a:xfrm>
            <a:off x="0" y="65927"/>
            <a:ext cx="6858000" cy="646331"/>
          </a:xfrm>
          <a:prstGeom prst="rect">
            <a:avLst/>
          </a:prstGeom>
          <a:noFill/>
        </p:spPr>
        <p:txBody>
          <a:bodyPr wrap="square" rtlCol="0">
            <a:spAutoFit/>
          </a:bodyPr>
          <a:lstStyle/>
          <a:p>
            <a:pPr algn="ctr"/>
            <a:r>
              <a:rPr lang="en-US" sz="3600" b="1" dirty="0">
                <a:latin typeface="Arial" panose="020B0604020202020204" pitchFamily="34" charset="0"/>
                <a:cs typeface="Arial" panose="020B0604020202020204" pitchFamily="34" charset="0"/>
              </a:rPr>
              <a:t>Order of Precedence Rules</a:t>
            </a:r>
            <a:endParaRPr lang="en-ZA" sz="3600" b="1" dirty="0">
              <a:latin typeface="Arial" panose="020B0604020202020204" pitchFamily="34" charset="0"/>
              <a:cs typeface="Arial" panose="020B0604020202020204" pitchFamily="34" charset="0"/>
            </a:endParaRPr>
          </a:p>
        </p:txBody>
      </p:sp>
      <p:sp>
        <p:nvSpPr>
          <p:cNvPr id="2" name="Content Placeholder 2">
            <a:extLst>
              <a:ext uri="{FF2B5EF4-FFF2-40B4-BE49-F238E27FC236}">
                <a16:creationId xmlns:a16="http://schemas.microsoft.com/office/drawing/2014/main" id="{9630470D-8BF6-9592-E886-01360E473BCB}"/>
              </a:ext>
            </a:extLst>
          </p:cNvPr>
          <p:cNvSpPr txBox="1">
            <a:spLocks/>
          </p:cNvSpPr>
          <p:nvPr/>
        </p:nvSpPr>
        <p:spPr>
          <a:xfrm>
            <a:off x="471488" y="2478505"/>
            <a:ext cx="5915025" cy="6443775"/>
          </a:xfrm>
          <a:prstGeom prst="rect">
            <a:avLst/>
          </a:prstGeom>
        </p:spPr>
        <p:txBody>
          <a:bodyPr vert="horz" lIns="91440" tIns="45720" rIns="91440" bIns="45720" rtlCol="0">
            <a:normAutofit lnSpcReduction="10000"/>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ZA" sz="2800" b="1" dirty="0"/>
              <a:t>Examples following the Precedence Rules:</a:t>
            </a:r>
          </a:p>
          <a:p>
            <a:pPr algn="l"/>
            <a:endParaRPr lang="en-ZA" sz="2000" b="1" dirty="0"/>
          </a:p>
          <a:p>
            <a:pPr algn="l"/>
            <a:r>
              <a:rPr lang="en-ZA" sz="2000" b="1" dirty="0"/>
              <a:t>11 &gt; 5 || 6 &lt; 15 &amp;&amp; 7 &gt;= 8</a:t>
            </a:r>
          </a:p>
          <a:p>
            <a:pPr algn="l"/>
            <a:r>
              <a:rPr lang="en-ZA" altLang="en-US" sz="2000" b="1" dirty="0">
                <a:solidFill>
                  <a:srgbClr val="0070C0"/>
                </a:solidFill>
              </a:rPr>
              <a:t>= </a:t>
            </a:r>
            <a:r>
              <a:rPr lang="en-ZA" sz="2000" b="1" dirty="0">
                <a:solidFill>
                  <a:srgbClr val="0070C0"/>
                </a:solidFill>
              </a:rPr>
              <a:t>11 &gt; 5 || (6 &lt; 15 &amp;&amp; 7 &gt;= 8)</a:t>
            </a:r>
          </a:p>
          <a:p>
            <a:pPr algn="l"/>
            <a:r>
              <a:rPr lang="en-ZA" altLang="en-US" sz="2000" b="1" dirty="0">
                <a:solidFill>
                  <a:srgbClr val="0070C0"/>
                </a:solidFill>
              </a:rPr>
              <a:t>= 11 &gt; 5 || (true &amp;&amp; false)</a:t>
            </a:r>
          </a:p>
          <a:p>
            <a:pPr algn="l"/>
            <a:r>
              <a:rPr lang="en-ZA" altLang="en-US" sz="2000" b="1" dirty="0">
                <a:solidFill>
                  <a:srgbClr val="0070C0"/>
                </a:solidFill>
              </a:rPr>
              <a:t>= 11 &gt; 5 || (false)</a:t>
            </a:r>
          </a:p>
          <a:p>
            <a:pPr algn="l"/>
            <a:r>
              <a:rPr lang="en-ZA" altLang="en-US" sz="2000" b="1" dirty="0">
                <a:solidFill>
                  <a:srgbClr val="0070C0"/>
                </a:solidFill>
              </a:rPr>
              <a:t>= true || false</a:t>
            </a:r>
          </a:p>
          <a:p>
            <a:pPr algn="l"/>
            <a:r>
              <a:rPr lang="en-ZA" altLang="en-US" sz="2000" b="1" dirty="0">
                <a:solidFill>
                  <a:srgbClr val="0070C0"/>
                </a:solidFill>
              </a:rPr>
              <a:t>= true</a:t>
            </a:r>
            <a:endParaRPr lang="en-US" altLang="en-US" sz="2000" dirty="0">
              <a:solidFill>
                <a:srgbClr val="0070C0"/>
              </a:solidFill>
            </a:endParaRPr>
          </a:p>
          <a:p>
            <a:pPr algn="l"/>
            <a:endParaRPr lang="en-ZA" sz="2000" b="1" dirty="0"/>
          </a:p>
          <a:p>
            <a:pPr algn="l"/>
            <a:r>
              <a:rPr lang="en-ZA" sz="2400" b="1" dirty="0"/>
              <a:t>Suppose x = 2</a:t>
            </a:r>
          </a:p>
          <a:p>
            <a:pPr algn="l"/>
            <a:r>
              <a:rPr lang="en-ZA" sz="2000" b="1" dirty="0"/>
              <a:t>(x + 1) &gt; 2 || (x + 1) &lt; −3</a:t>
            </a:r>
          </a:p>
          <a:p>
            <a:pPr algn="l"/>
            <a:r>
              <a:rPr lang="en-ZA" altLang="en-US" sz="2000" b="1" dirty="0">
                <a:solidFill>
                  <a:srgbClr val="0070C0"/>
                </a:solidFill>
              </a:rPr>
              <a:t>= </a:t>
            </a:r>
            <a:r>
              <a:rPr lang="en-ZA" sz="2000" b="1" dirty="0">
                <a:solidFill>
                  <a:srgbClr val="0070C0"/>
                </a:solidFill>
              </a:rPr>
              <a:t>((x + 1) &gt; 2) || ((x + 1) &lt; −3)</a:t>
            </a:r>
          </a:p>
          <a:p>
            <a:pPr algn="l"/>
            <a:r>
              <a:rPr lang="en-ZA" altLang="en-US" sz="2000" b="1" dirty="0">
                <a:solidFill>
                  <a:srgbClr val="0070C0"/>
                </a:solidFill>
              </a:rPr>
              <a:t>= </a:t>
            </a:r>
            <a:r>
              <a:rPr lang="en-ZA" sz="2000" b="1" dirty="0">
                <a:solidFill>
                  <a:srgbClr val="0070C0"/>
                </a:solidFill>
              </a:rPr>
              <a:t>((2 + 1) &gt; 2) || ((2 + 1) &lt; −3)</a:t>
            </a:r>
          </a:p>
          <a:p>
            <a:pPr algn="l"/>
            <a:r>
              <a:rPr lang="en-ZA" altLang="en-US" sz="2000" b="1" dirty="0">
                <a:solidFill>
                  <a:srgbClr val="0070C0"/>
                </a:solidFill>
              </a:rPr>
              <a:t>= </a:t>
            </a:r>
            <a:r>
              <a:rPr lang="en-ZA" sz="2000" b="1" dirty="0">
                <a:solidFill>
                  <a:srgbClr val="0070C0"/>
                </a:solidFill>
              </a:rPr>
              <a:t>(3 &gt; 2) || (3 &lt; −3) </a:t>
            </a:r>
          </a:p>
          <a:p>
            <a:pPr algn="l"/>
            <a:r>
              <a:rPr lang="en-ZA" altLang="en-US" sz="2000" b="1" dirty="0">
                <a:solidFill>
                  <a:srgbClr val="0070C0"/>
                </a:solidFill>
              </a:rPr>
              <a:t>= true || false</a:t>
            </a:r>
          </a:p>
          <a:p>
            <a:pPr algn="l"/>
            <a:r>
              <a:rPr lang="en-ZA" altLang="en-US" sz="2000" b="1" dirty="0">
                <a:solidFill>
                  <a:srgbClr val="0070C0"/>
                </a:solidFill>
              </a:rPr>
              <a:t>= true</a:t>
            </a:r>
            <a:endParaRPr lang="en-US" altLang="en-US" sz="2000" dirty="0">
              <a:solidFill>
                <a:srgbClr val="0070C0"/>
              </a:solidFill>
            </a:endParaRPr>
          </a:p>
          <a:p>
            <a:pPr algn="l"/>
            <a:endParaRPr lang="en-ZA" sz="2400" b="1" dirty="0"/>
          </a:p>
          <a:p>
            <a:pPr algn="l"/>
            <a:endParaRPr lang="en-US" sz="2400" b="1" dirty="0"/>
          </a:p>
          <a:p>
            <a:pPr marL="457200" indent="-457200" algn="l">
              <a:buFont typeface="+mj-lt"/>
              <a:buAutoNum type="arabicPeriod"/>
            </a:pPr>
            <a:endParaRPr lang="en-US" sz="2800" b="1" dirty="0"/>
          </a:p>
          <a:p>
            <a:pPr marL="285750" indent="-285750">
              <a:buFont typeface="Arial" panose="020B0604020202020204" pitchFamily="34" charset="0"/>
              <a:buChar char="•"/>
            </a:pPr>
            <a:endParaRPr lang="en-US" sz="2400" b="1" dirty="0"/>
          </a:p>
        </p:txBody>
      </p:sp>
    </p:spTree>
    <p:extLst>
      <p:ext uri="{BB962C8B-B14F-4D97-AF65-F5344CB8AC3E}">
        <p14:creationId xmlns:p14="http://schemas.microsoft.com/office/powerpoint/2010/main" val="5626756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C1939-04B9-3DDD-910E-87546F6C63E1}"/>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C7BA8C6E-A693-FB09-9587-4BA1CF6012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F9A7B089-587A-3577-EB17-A5DF7A6988B9}"/>
              </a:ext>
            </a:extLst>
          </p:cNvPr>
          <p:cNvSpPr txBox="1"/>
          <p:nvPr/>
        </p:nvSpPr>
        <p:spPr>
          <a:xfrm>
            <a:off x="0" y="65927"/>
            <a:ext cx="6858000" cy="646331"/>
          </a:xfrm>
          <a:prstGeom prst="rect">
            <a:avLst/>
          </a:prstGeom>
          <a:noFill/>
        </p:spPr>
        <p:txBody>
          <a:bodyPr wrap="square" rtlCol="0">
            <a:spAutoFit/>
          </a:bodyPr>
          <a:lstStyle/>
          <a:p>
            <a:pPr algn="ctr"/>
            <a:r>
              <a:rPr lang="en-US" sz="3600" b="1" dirty="0">
                <a:latin typeface="Arial" panose="020B0604020202020204" pitchFamily="34" charset="0"/>
                <a:cs typeface="Arial" panose="020B0604020202020204" pitchFamily="34" charset="0"/>
              </a:rPr>
              <a:t>Order of Precedence Rules</a:t>
            </a:r>
            <a:endParaRPr lang="en-ZA" sz="3600" b="1" dirty="0">
              <a:latin typeface="Arial" panose="020B0604020202020204" pitchFamily="34" charset="0"/>
              <a:cs typeface="Arial" panose="020B0604020202020204" pitchFamily="34" charset="0"/>
            </a:endParaRPr>
          </a:p>
        </p:txBody>
      </p:sp>
      <p:sp>
        <p:nvSpPr>
          <p:cNvPr id="2" name="Content Placeholder 2">
            <a:extLst>
              <a:ext uri="{FF2B5EF4-FFF2-40B4-BE49-F238E27FC236}">
                <a16:creationId xmlns:a16="http://schemas.microsoft.com/office/drawing/2014/main" id="{56105FA2-B625-4178-B179-EA3B24D3062A}"/>
              </a:ext>
            </a:extLst>
          </p:cNvPr>
          <p:cNvSpPr txBox="1">
            <a:spLocks/>
          </p:cNvSpPr>
          <p:nvPr/>
        </p:nvSpPr>
        <p:spPr>
          <a:xfrm>
            <a:off x="471488" y="2478505"/>
            <a:ext cx="5915025" cy="6443775"/>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ZA" sz="2800" b="1" dirty="0"/>
              <a:t>Exercises:</a:t>
            </a:r>
          </a:p>
          <a:p>
            <a:pPr algn="l"/>
            <a:endParaRPr lang="en-ZA" sz="2400" b="1" dirty="0"/>
          </a:p>
          <a:p>
            <a:pPr algn="l"/>
            <a:endParaRPr lang="en-US" sz="2400" b="1" dirty="0"/>
          </a:p>
          <a:p>
            <a:pPr marL="457200" indent="-457200" algn="l">
              <a:buFont typeface="+mj-lt"/>
              <a:buAutoNum type="arabicPeriod"/>
            </a:pPr>
            <a:endParaRPr lang="en-US" sz="2800" b="1" dirty="0"/>
          </a:p>
          <a:p>
            <a:pPr marL="285750" indent="-285750">
              <a:buFont typeface="Arial" panose="020B0604020202020204" pitchFamily="34" charset="0"/>
              <a:buChar char="•"/>
            </a:pPr>
            <a:endParaRPr lang="en-US" sz="2400" b="1" dirty="0"/>
          </a:p>
        </p:txBody>
      </p:sp>
    </p:spTree>
    <p:extLst>
      <p:ext uri="{BB962C8B-B14F-4D97-AF65-F5344CB8AC3E}">
        <p14:creationId xmlns:p14="http://schemas.microsoft.com/office/powerpoint/2010/main" val="18077677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5C1EAF-8EB0-FB32-F686-9EBCA4049D32}"/>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D8702DC7-2D88-3F95-37EA-20C68F35FB3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412D72FE-D273-5456-4280-F57590BA2C0F}"/>
              </a:ext>
            </a:extLst>
          </p:cNvPr>
          <p:cNvSpPr txBox="1"/>
          <p:nvPr/>
        </p:nvSpPr>
        <p:spPr>
          <a:xfrm>
            <a:off x="0" y="65927"/>
            <a:ext cx="6858000" cy="646331"/>
          </a:xfrm>
          <a:prstGeom prst="rect">
            <a:avLst/>
          </a:prstGeom>
          <a:noFill/>
        </p:spPr>
        <p:txBody>
          <a:bodyPr wrap="square" rtlCol="0">
            <a:spAutoFit/>
          </a:bodyPr>
          <a:lstStyle/>
          <a:p>
            <a:pPr algn="ctr"/>
            <a:r>
              <a:rPr lang="en-US" sz="3600" b="1" dirty="0">
                <a:latin typeface="Arial" panose="020B0604020202020204" pitchFamily="34" charset="0"/>
                <a:cs typeface="Arial" panose="020B0604020202020204" pitchFamily="34" charset="0"/>
              </a:rPr>
              <a:t>Flow of Control</a:t>
            </a:r>
            <a:endParaRPr lang="en-ZA" sz="3600" b="1" dirty="0">
              <a:latin typeface="Arial" panose="020B0604020202020204" pitchFamily="34" charset="0"/>
              <a:cs typeface="Arial" panose="020B0604020202020204" pitchFamily="34" charset="0"/>
            </a:endParaRPr>
          </a:p>
        </p:txBody>
      </p:sp>
      <p:sp>
        <p:nvSpPr>
          <p:cNvPr id="2" name="Content Placeholder 2">
            <a:extLst>
              <a:ext uri="{FF2B5EF4-FFF2-40B4-BE49-F238E27FC236}">
                <a16:creationId xmlns:a16="http://schemas.microsoft.com/office/drawing/2014/main" id="{97BAC9F7-A19E-1F44-AAE7-33B4D7730350}"/>
              </a:ext>
            </a:extLst>
          </p:cNvPr>
          <p:cNvSpPr txBox="1">
            <a:spLocks/>
          </p:cNvSpPr>
          <p:nvPr/>
        </p:nvSpPr>
        <p:spPr>
          <a:xfrm>
            <a:off x="471488" y="2637014"/>
            <a:ext cx="5915025" cy="6285266"/>
          </a:xfrm>
          <a:prstGeom prst="rect">
            <a:avLst/>
          </a:prstGeom>
        </p:spPr>
        <p:txBody>
          <a:bodyPr vert="horz" lIns="91440" tIns="45720" rIns="91440" bIns="45720" rtlCol="0">
            <a:normAutofit fontScale="92500" lnSpcReduction="20000"/>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r>
              <a:rPr lang="en-US" altLang="en-US" sz="2400" dirty="0"/>
              <a:t>Three processes a computer can do:</a:t>
            </a:r>
          </a:p>
          <a:p>
            <a:pPr lvl="1"/>
            <a:r>
              <a:rPr lang="en-US" altLang="en-US" sz="2400" b="1" dirty="0"/>
              <a:t>Sequential</a:t>
            </a:r>
            <a:r>
              <a:rPr lang="en-US" altLang="en-US" sz="2400" dirty="0"/>
              <a:t> </a:t>
            </a:r>
          </a:p>
          <a:p>
            <a:pPr lvl="2"/>
            <a:r>
              <a:rPr lang="en-GB" sz="2400" dirty="0"/>
              <a:t>is the simplest flow of control</a:t>
            </a:r>
            <a:endParaRPr lang="en-US" sz="2400" dirty="0"/>
          </a:p>
          <a:p>
            <a:pPr lvl="2"/>
            <a:r>
              <a:rPr lang="en-GB" sz="2400" dirty="0"/>
              <a:t>It involves executing instructions one after the other, in order, from start to finish.</a:t>
            </a:r>
          </a:p>
          <a:p>
            <a:pPr lvl="2"/>
            <a:r>
              <a:rPr lang="en-GB" sz="2400" dirty="0"/>
              <a:t> It is a linear process where each step follows the previous one.</a:t>
            </a:r>
            <a:endParaRPr lang="en-US" altLang="en-US" sz="2400" dirty="0"/>
          </a:p>
          <a:p>
            <a:pPr lvl="2"/>
            <a:r>
              <a:rPr lang="en-US" altLang="en-US" sz="2400" b="1" dirty="0"/>
              <a:t>   e.g. expressions</a:t>
            </a:r>
            <a:r>
              <a:rPr lang="en-US" altLang="en-US" sz="2400" dirty="0"/>
              <a:t>, </a:t>
            </a:r>
            <a:r>
              <a:rPr lang="en-US" altLang="en-US" sz="2400" b="1" dirty="0"/>
              <a:t>insertion</a:t>
            </a:r>
            <a:r>
              <a:rPr lang="en-US" altLang="en-US" sz="2400" dirty="0"/>
              <a:t> and </a:t>
            </a:r>
            <a:r>
              <a:rPr lang="en-US" altLang="en-US" sz="2400" b="1" dirty="0"/>
              <a:t>extraction</a:t>
            </a:r>
            <a:r>
              <a:rPr lang="en-US" altLang="en-US" sz="2400" dirty="0"/>
              <a:t> operations</a:t>
            </a:r>
          </a:p>
          <a:p>
            <a:pPr lvl="2"/>
            <a:endParaRPr lang="en-US" altLang="en-US" sz="2400" dirty="0"/>
          </a:p>
          <a:p>
            <a:pPr lvl="1"/>
            <a:r>
              <a:rPr lang="en-US" altLang="en-US" sz="2400" b="1" dirty="0"/>
              <a:t>Selection (Branching)</a:t>
            </a:r>
          </a:p>
          <a:p>
            <a:pPr lvl="2"/>
            <a:r>
              <a:rPr lang="en-GB" sz="2400" dirty="0"/>
              <a:t>Selection allows a program to make decisions based on conditions. </a:t>
            </a:r>
          </a:p>
          <a:p>
            <a:pPr lvl="2"/>
            <a:r>
              <a:rPr lang="en-GB" sz="2400" dirty="0"/>
              <a:t>Depending on whether a condition is true or false, different code paths are executed.</a:t>
            </a:r>
            <a:endParaRPr lang="en-US" altLang="en-US" sz="2400" dirty="0"/>
          </a:p>
          <a:p>
            <a:pPr lvl="2"/>
            <a:r>
              <a:rPr lang="en-US" altLang="en-US" sz="2400" b="1" dirty="0"/>
              <a:t>  e.g. if</a:t>
            </a:r>
            <a:r>
              <a:rPr lang="en-US" altLang="en-US" sz="2400" dirty="0"/>
              <a:t> statement, </a:t>
            </a:r>
            <a:r>
              <a:rPr lang="en-US" altLang="en-US" sz="2400" b="1" dirty="0"/>
              <a:t>switch</a:t>
            </a:r>
            <a:r>
              <a:rPr lang="en-US" altLang="en-US" sz="2400" dirty="0"/>
              <a:t> statement</a:t>
            </a:r>
          </a:p>
          <a:p>
            <a:pPr lvl="2"/>
            <a:endParaRPr lang="en-US" altLang="en-US" sz="2400" dirty="0"/>
          </a:p>
          <a:p>
            <a:pPr lvl="1"/>
            <a:r>
              <a:rPr lang="en-US" altLang="en-US" sz="2400" b="1" dirty="0"/>
              <a:t>Repetition/Iteration (Loop)</a:t>
            </a:r>
          </a:p>
          <a:p>
            <a:pPr lvl="2"/>
            <a:r>
              <a:rPr lang="en-GB" sz="2400" dirty="0"/>
              <a:t>Repetition or iteration allows a program to execute a block of code repeatedly.</a:t>
            </a:r>
          </a:p>
          <a:p>
            <a:pPr lvl="2"/>
            <a:r>
              <a:rPr lang="en-GB" sz="2400" dirty="0"/>
              <a:t> Loops are used when you want to perform the same task multiple times.</a:t>
            </a:r>
            <a:endParaRPr lang="en-US" altLang="en-US" sz="2400" dirty="0"/>
          </a:p>
          <a:p>
            <a:pPr lvl="2"/>
            <a:r>
              <a:rPr lang="en-US" altLang="en-US" sz="2400" b="1" dirty="0"/>
              <a:t>e.g. while</a:t>
            </a:r>
            <a:r>
              <a:rPr lang="en-US" altLang="en-US" sz="2400" dirty="0"/>
              <a:t> loop, </a:t>
            </a:r>
            <a:r>
              <a:rPr lang="en-US" altLang="en-US" sz="2400" b="1" dirty="0"/>
              <a:t>do-while</a:t>
            </a:r>
            <a:r>
              <a:rPr lang="en-US" altLang="en-US" sz="2400" dirty="0"/>
              <a:t> loop, </a:t>
            </a:r>
            <a:r>
              <a:rPr lang="en-US" altLang="en-US" sz="2400" b="1" dirty="0"/>
              <a:t>for</a:t>
            </a:r>
            <a:r>
              <a:rPr lang="en-US" altLang="en-US" sz="2400" dirty="0"/>
              <a:t> loop</a:t>
            </a:r>
          </a:p>
          <a:p>
            <a:pPr algn="l"/>
            <a:endParaRPr lang="en-US" sz="2800" b="1" dirty="0"/>
          </a:p>
          <a:p>
            <a:pPr marL="457200" indent="-457200" algn="l">
              <a:buFont typeface="+mj-lt"/>
              <a:buAutoNum type="arabicPeriod"/>
            </a:pPr>
            <a:endParaRPr lang="en-US" sz="2800" b="1" dirty="0"/>
          </a:p>
          <a:p>
            <a:pPr marL="457200" indent="-457200" algn="l">
              <a:buFont typeface="+mj-lt"/>
              <a:buAutoNum type="arabicPeriod"/>
            </a:pPr>
            <a:endParaRPr lang="en-US" sz="2800" b="1" dirty="0"/>
          </a:p>
          <a:p>
            <a:pPr marL="457200" indent="-457200" algn="l">
              <a:buFont typeface="+mj-lt"/>
              <a:buAutoNum type="arabicPeriod"/>
            </a:pPr>
            <a:endParaRPr lang="en-US" sz="2800" b="1" dirty="0"/>
          </a:p>
          <a:p>
            <a:pPr marL="285750" indent="-285750">
              <a:buFont typeface="Arial" panose="020B0604020202020204" pitchFamily="34" charset="0"/>
              <a:buChar char="•"/>
            </a:pPr>
            <a:endParaRPr lang="en-US" sz="2400" b="1" dirty="0"/>
          </a:p>
        </p:txBody>
      </p:sp>
    </p:spTree>
    <p:extLst>
      <p:ext uri="{BB962C8B-B14F-4D97-AF65-F5344CB8AC3E}">
        <p14:creationId xmlns:p14="http://schemas.microsoft.com/office/powerpoint/2010/main" val="5769411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CBB7D7-A9C1-6147-EEA5-B41459B2701E}"/>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555197BF-F23A-E300-58F7-9221EBD5416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9EE82217-9CD2-BEC6-EFD8-B363BBF9DD7E}"/>
              </a:ext>
            </a:extLst>
          </p:cNvPr>
          <p:cNvSpPr txBox="1"/>
          <p:nvPr/>
        </p:nvSpPr>
        <p:spPr>
          <a:xfrm>
            <a:off x="0" y="65927"/>
            <a:ext cx="6858000" cy="646331"/>
          </a:xfrm>
          <a:prstGeom prst="rect">
            <a:avLst/>
          </a:prstGeom>
          <a:noFill/>
        </p:spPr>
        <p:txBody>
          <a:bodyPr wrap="square" rtlCol="0">
            <a:spAutoFit/>
          </a:bodyPr>
          <a:lstStyle/>
          <a:p>
            <a:pPr algn="ctr"/>
            <a:r>
              <a:rPr lang="en-US" sz="3600" b="1" dirty="0">
                <a:latin typeface="Arial" panose="020B0604020202020204" pitchFamily="34" charset="0"/>
                <a:cs typeface="Arial" panose="020B0604020202020204" pitchFamily="34" charset="0"/>
              </a:rPr>
              <a:t>Flow of Control</a:t>
            </a:r>
            <a:endParaRPr lang="en-ZA" sz="3600" b="1" dirty="0">
              <a:latin typeface="Arial" panose="020B0604020202020204" pitchFamily="34" charset="0"/>
              <a:cs typeface="Arial" panose="020B0604020202020204" pitchFamily="34" charset="0"/>
            </a:endParaRPr>
          </a:p>
        </p:txBody>
      </p:sp>
      <p:sp>
        <p:nvSpPr>
          <p:cNvPr id="2" name="Content Placeholder 2">
            <a:extLst>
              <a:ext uri="{FF2B5EF4-FFF2-40B4-BE49-F238E27FC236}">
                <a16:creationId xmlns:a16="http://schemas.microsoft.com/office/drawing/2014/main" id="{75D70CC9-2114-BC03-EFA4-7F22D0D92451}"/>
              </a:ext>
            </a:extLst>
          </p:cNvPr>
          <p:cNvSpPr txBox="1">
            <a:spLocks/>
          </p:cNvSpPr>
          <p:nvPr/>
        </p:nvSpPr>
        <p:spPr>
          <a:xfrm>
            <a:off x="471488" y="2637014"/>
            <a:ext cx="5915025" cy="6285266"/>
          </a:xfrm>
          <a:prstGeom prst="rect">
            <a:avLst/>
          </a:prstGeom>
        </p:spPr>
        <p:txBody>
          <a:bodyPr vert="horz" lIns="91440" tIns="45720" rIns="91440" bIns="45720" rtlCol="0">
            <a:normAutofit lnSpcReduction="10000"/>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US" sz="2600" dirty="0"/>
              <a:t>A computer can process a program in one of the following ways: </a:t>
            </a:r>
            <a:r>
              <a:rPr lang="en-US" sz="2600" b="1" dirty="0"/>
              <a:t>in sequence, </a:t>
            </a:r>
            <a:r>
              <a:rPr lang="en-US" sz="2600" dirty="0"/>
              <a:t>by executing statements one after another without using selection or repetition or functions; </a:t>
            </a:r>
            <a:r>
              <a:rPr lang="en-US" sz="2600" b="1" dirty="0"/>
              <a:t>selectively</a:t>
            </a:r>
            <a:r>
              <a:rPr lang="en-US" sz="2600" dirty="0"/>
              <a:t>, by making a choice, which is also called a branch; </a:t>
            </a:r>
            <a:r>
              <a:rPr lang="en-US" sz="2600" b="1" dirty="0"/>
              <a:t>repetitively</a:t>
            </a:r>
            <a:r>
              <a:rPr lang="en-US" sz="2600" dirty="0"/>
              <a:t>, by executing a statement over and over, using a structure called a loop; or by calling a function.</a:t>
            </a:r>
          </a:p>
          <a:p>
            <a:pPr algn="l"/>
            <a:endParaRPr lang="en-US" sz="2800" b="1" dirty="0"/>
          </a:p>
          <a:p>
            <a:pPr algn="l"/>
            <a:r>
              <a:rPr lang="en-ZA" sz="2600" dirty="0"/>
              <a:t>The two most </a:t>
            </a:r>
            <a:r>
              <a:rPr lang="en-US" sz="2600" dirty="0"/>
              <a:t>common control structures are </a:t>
            </a:r>
            <a:r>
              <a:rPr lang="en-US" sz="2600" b="1" dirty="0"/>
              <a:t>selection</a:t>
            </a:r>
            <a:r>
              <a:rPr lang="en-US" sz="2600" dirty="0"/>
              <a:t> and </a:t>
            </a:r>
            <a:r>
              <a:rPr lang="en-US" sz="2600" b="1" dirty="0"/>
              <a:t>repetition</a:t>
            </a:r>
            <a:r>
              <a:rPr lang="en-US" sz="2600" dirty="0"/>
              <a:t>. In selection, the program executes particular statements depending on some condition(s). In repetition, the program repeats particular statements a certain number of times based on some </a:t>
            </a:r>
            <a:r>
              <a:rPr lang="en-ZA" sz="2600" dirty="0"/>
              <a:t>condition(s).</a:t>
            </a:r>
            <a:endParaRPr lang="en-US" sz="2600" dirty="0"/>
          </a:p>
          <a:p>
            <a:pPr marL="285750" indent="-285750">
              <a:buFont typeface="Arial" panose="020B0604020202020204" pitchFamily="34" charset="0"/>
              <a:buChar char="•"/>
            </a:pPr>
            <a:endParaRPr lang="en-US" sz="2400" b="1" dirty="0"/>
          </a:p>
        </p:txBody>
      </p:sp>
    </p:spTree>
    <p:extLst>
      <p:ext uri="{BB962C8B-B14F-4D97-AF65-F5344CB8AC3E}">
        <p14:creationId xmlns:p14="http://schemas.microsoft.com/office/powerpoint/2010/main" val="19285615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F20219-740A-1F20-F1B3-6F0E31B97202}"/>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BD481C7D-7EBB-89F3-FF68-C6A919F933F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D49D8BF4-7D4B-98EA-0F5D-7C007BD38E6B}"/>
              </a:ext>
            </a:extLst>
          </p:cNvPr>
          <p:cNvSpPr txBox="1"/>
          <p:nvPr/>
        </p:nvSpPr>
        <p:spPr>
          <a:xfrm>
            <a:off x="0" y="65927"/>
            <a:ext cx="6858000" cy="646331"/>
          </a:xfrm>
          <a:prstGeom prst="rect">
            <a:avLst/>
          </a:prstGeom>
          <a:noFill/>
        </p:spPr>
        <p:txBody>
          <a:bodyPr wrap="square" rtlCol="0">
            <a:spAutoFit/>
          </a:bodyPr>
          <a:lstStyle/>
          <a:p>
            <a:pPr algn="ctr"/>
            <a:r>
              <a:rPr lang="en-US" sz="3600" b="1" dirty="0">
                <a:latin typeface="Arial" panose="020B0604020202020204" pitchFamily="34" charset="0"/>
                <a:cs typeface="Arial" panose="020B0604020202020204" pitchFamily="34" charset="0"/>
              </a:rPr>
              <a:t>Control Structures</a:t>
            </a:r>
            <a:endParaRPr lang="en-ZA" sz="3600" b="1" dirty="0">
              <a:latin typeface="Arial" panose="020B060402020202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34D4A0CF-7746-C18B-AA31-9807A28D70A4}"/>
              </a:ext>
            </a:extLst>
          </p:cNvPr>
          <p:cNvPicPr>
            <a:picLocks noChangeAspect="1"/>
          </p:cNvPicPr>
          <p:nvPr/>
        </p:nvPicPr>
        <p:blipFill>
          <a:blip r:embed="rId3"/>
          <a:stretch>
            <a:fillRect/>
          </a:stretch>
        </p:blipFill>
        <p:spPr>
          <a:xfrm>
            <a:off x="261258" y="2264228"/>
            <a:ext cx="6181940" cy="4455885"/>
          </a:xfrm>
          <a:prstGeom prst="rect">
            <a:avLst/>
          </a:prstGeom>
        </p:spPr>
      </p:pic>
    </p:spTree>
    <p:extLst>
      <p:ext uri="{BB962C8B-B14F-4D97-AF65-F5344CB8AC3E}">
        <p14:creationId xmlns:p14="http://schemas.microsoft.com/office/powerpoint/2010/main" val="17948990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A2685F-0B89-2DA1-B292-F0174C3EFC27}"/>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B3C1BFFD-3C46-06BC-7836-B1EFBDAFE70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61686"/>
            <a:ext cx="6930551" cy="10058400"/>
          </a:xfrm>
          <a:prstGeom prst="rect">
            <a:avLst/>
          </a:prstGeom>
        </p:spPr>
      </p:pic>
      <p:sp>
        <p:nvSpPr>
          <p:cNvPr id="4" name="TextBox 3">
            <a:extLst>
              <a:ext uri="{FF2B5EF4-FFF2-40B4-BE49-F238E27FC236}">
                <a16:creationId xmlns:a16="http://schemas.microsoft.com/office/drawing/2014/main" id="{63774B7F-B368-2273-6C04-E197BFF0C94A}"/>
              </a:ext>
            </a:extLst>
          </p:cNvPr>
          <p:cNvSpPr txBox="1"/>
          <p:nvPr/>
        </p:nvSpPr>
        <p:spPr>
          <a:xfrm>
            <a:off x="0" y="65927"/>
            <a:ext cx="6858000" cy="646331"/>
          </a:xfrm>
          <a:prstGeom prst="rect">
            <a:avLst/>
          </a:prstGeom>
          <a:noFill/>
        </p:spPr>
        <p:txBody>
          <a:bodyPr wrap="square" rtlCol="0">
            <a:spAutoFit/>
          </a:bodyPr>
          <a:lstStyle/>
          <a:p>
            <a:pPr algn="ctr"/>
            <a:r>
              <a:rPr lang="en-US" sz="3600" b="1" dirty="0">
                <a:latin typeface="Arial" panose="020B0604020202020204" pitchFamily="34" charset="0"/>
                <a:cs typeface="Arial" panose="020B0604020202020204" pitchFamily="34" charset="0"/>
              </a:rPr>
              <a:t>Sequential Control Structures</a:t>
            </a:r>
            <a:endParaRPr lang="en-ZA" sz="3600" b="1" dirty="0">
              <a:latin typeface="Arial" panose="020B0604020202020204" pitchFamily="34" charset="0"/>
              <a:cs typeface="Arial" panose="020B0604020202020204" pitchFamily="34" charset="0"/>
            </a:endParaRPr>
          </a:p>
        </p:txBody>
      </p:sp>
      <p:sp>
        <p:nvSpPr>
          <p:cNvPr id="2" name="Content Placeholder 2">
            <a:extLst>
              <a:ext uri="{FF2B5EF4-FFF2-40B4-BE49-F238E27FC236}">
                <a16:creationId xmlns:a16="http://schemas.microsoft.com/office/drawing/2014/main" id="{027FAB82-A34C-CED1-8B32-80B7F3470F70}"/>
              </a:ext>
            </a:extLst>
          </p:cNvPr>
          <p:cNvSpPr txBox="1">
            <a:spLocks/>
          </p:cNvSpPr>
          <p:nvPr/>
        </p:nvSpPr>
        <p:spPr>
          <a:xfrm>
            <a:off x="471488" y="2637014"/>
            <a:ext cx="5915025" cy="6285266"/>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US" sz="2600" dirty="0"/>
              <a:t>With such a program, the computer starts at the beginning and follows the statements in order to the end. There is no selection or looping.</a:t>
            </a:r>
          </a:p>
        </p:txBody>
      </p:sp>
    </p:spTree>
    <p:extLst>
      <p:ext uri="{BB962C8B-B14F-4D97-AF65-F5344CB8AC3E}">
        <p14:creationId xmlns:p14="http://schemas.microsoft.com/office/powerpoint/2010/main" val="9802238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097E91-F39B-2C20-F75B-8C8814273B3F}"/>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F9678981-3E52-BF9D-BF0E-3AF406EF23C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C20C0D3E-B987-7C45-B18A-B23F8E8C4910}"/>
              </a:ext>
            </a:extLst>
          </p:cNvPr>
          <p:cNvSpPr txBox="1"/>
          <p:nvPr/>
        </p:nvSpPr>
        <p:spPr>
          <a:xfrm>
            <a:off x="0" y="65927"/>
            <a:ext cx="6858000" cy="646331"/>
          </a:xfrm>
          <a:prstGeom prst="rect">
            <a:avLst/>
          </a:prstGeom>
          <a:noFill/>
        </p:spPr>
        <p:txBody>
          <a:bodyPr wrap="square" rtlCol="0">
            <a:spAutoFit/>
          </a:bodyPr>
          <a:lstStyle/>
          <a:p>
            <a:pPr algn="ctr"/>
            <a:r>
              <a:rPr lang="en-US" sz="3600" b="1" dirty="0">
                <a:latin typeface="Arial" panose="020B0604020202020204" pitchFamily="34" charset="0"/>
                <a:cs typeface="Arial" panose="020B0604020202020204" pitchFamily="34" charset="0"/>
              </a:rPr>
              <a:t>Selection Control Structures</a:t>
            </a:r>
            <a:endParaRPr lang="en-ZA" sz="3600" b="1" dirty="0">
              <a:latin typeface="Arial" panose="020B0604020202020204" pitchFamily="34" charset="0"/>
              <a:cs typeface="Arial" panose="020B0604020202020204" pitchFamily="34" charset="0"/>
            </a:endParaRPr>
          </a:p>
        </p:txBody>
      </p:sp>
      <p:sp>
        <p:nvSpPr>
          <p:cNvPr id="2" name="Content Placeholder 2">
            <a:extLst>
              <a:ext uri="{FF2B5EF4-FFF2-40B4-BE49-F238E27FC236}">
                <a16:creationId xmlns:a16="http://schemas.microsoft.com/office/drawing/2014/main" id="{1E6C4447-EA80-83BF-E48F-662ABB41A04F}"/>
              </a:ext>
            </a:extLst>
          </p:cNvPr>
          <p:cNvSpPr txBox="1">
            <a:spLocks/>
          </p:cNvSpPr>
          <p:nvPr/>
        </p:nvSpPr>
        <p:spPr>
          <a:xfrm>
            <a:off x="471488" y="2637014"/>
            <a:ext cx="5915025" cy="6285266"/>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US" sz="2600" dirty="0"/>
              <a:t>In selection, the program executes particular statements depending on some condition(s). The selection statements supports the use of a decision structure. </a:t>
            </a:r>
          </a:p>
          <a:p>
            <a:pPr algn="l"/>
            <a:r>
              <a:rPr lang="en-US" sz="2600" b="1" dirty="0"/>
              <a:t>Different types of selection control structures: </a:t>
            </a:r>
            <a:r>
              <a:rPr lang="en-US" sz="2600" dirty="0"/>
              <a:t>if, if…else (conditional operator or ternary operator), nested if…else, and switch structures / statements.</a:t>
            </a:r>
          </a:p>
          <a:p>
            <a:pPr algn="l"/>
            <a:endParaRPr lang="en-US" sz="2400" b="1" dirty="0"/>
          </a:p>
        </p:txBody>
      </p:sp>
    </p:spTree>
    <p:extLst>
      <p:ext uri="{BB962C8B-B14F-4D97-AF65-F5344CB8AC3E}">
        <p14:creationId xmlns:p14="http://schemas.microsoft.com/office/powerpoint/2010/main" val="13083265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7C7E7C-3659-E552-CFFD-B7D70A9E1AA5}"/>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FF84FCE6-C0F6-6E5B-FE23-2628EC69282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DBD4E23B-6DD5-7975-A3A0-9F1E59820150}"/>
              </a:ext>
            </a:extLst>
          </p:cNvPr>
          <p:cNvSpPr txBox="1"/>
          <p:nvPr/>
        </p:nvSpPr>
        <p:spPr>
          <a:xfrm>
            <a:off x="0" y="65927"/>
            <a:ext cx="6858000" cy="646331"/>
          </a:xfrm>
          <a:prstGeom prst="rect">
            <a:avLst/>
          </a:prstGeom>
          <a:noFill/>
        </p:spPr>
        <p:txBody>
          <a:bodyPr wrap="square" rtlCol="0">
            <a:spAutoFit/>
          </a:bodyPr>
          <a:lstStyle/>
          <a:p>
            <a:pPr algn="ctr"/>
            <a:r>
              <a:rPr lang="en-US" sz="3600" b="1" dirty="0">
                <a:latin typeface="Arial" panose="020B0604020202020204" pitchFamily="34" charset="0"/>
                <a:cs typeface="Arial" panose="020B0604020202020204" pitchFamily="34" charset="0"/>
              </a:rPr>
              <a:t>If Statement</a:t>
            </a:r>
            <a:endParaRPr lang="en-ZA" sz="3600" b="1" dirty="0">
              <a:latin typeface="Arial" panose="020B0604020202020204" pitchFamily="34" charset="0"/>
              <a:cs typeface="Arial" panose="020B0604020202020204" pitchFamily="34" charset="0"/>
            </a:endParaRPr>
          </a:p>
        </p:txBody>
      </p:sp>
      <p:sp>
        <p:nvSpPr>
          <p:cNvPr id="2" name="Content Placeholder 2">
            <a:extLst>
              <a:ext uri="{FF2B5EF4-FFF2-40B4-BE49-F238E27FC236}">
                <a16:creationId xmlns:a16="http://schemas.microsoft.com/office/drawing/2014/main" id="{847F876A-42CB-0D9F-B315-C6A516E3691F}"/>
              </a:ext>
            </a:extLst>
          </p:cNvPr>
          <p:cNvSpPr txBox="1">
            <a:spLocks/>
          </p:cNvSpPr>
          <p:nvPr/>
        </p:nvSpPr>
        <p:spPr>
          <a:xfrm>
            <a:off x="471488" y="2637014"/>
            <a:ext cx="5915025" cy="6285266"/>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marL="355600" indent="-228600" algn="l">
              <a:spcBef>
                <a:spcPts val="865"/>
              </a:spcBef>
              <a:buFont typeface="Arial" panose="020B0604020202020204" pitchFamily="34" charset="0"/>
              <a:buChar char="•"/>
              <a:tabLst>
                <a:tab pos="354965" algn="l"/>
                <a:tab pos="355600" algn="l"/>
              </a:tabLst>
            </a:pPr>
            <a:r>
              <a:rPr lang="en-US" altLang="en-US" sz="2600" dirty="0"/>
              <a:t>Is a </a:t>
            </a:r>
            <a:r>
              <a:rPr lang="en-US" altLang="en-US" sz="2600" b="1" dirty="0"/>
              <a:t>selection</a:t>
            </a:r>
            <a:r>
              <a:rPr lang="en-US" altLang="en-US" sz="2600" dirty="0"/>
              <a:t> of whether or not to execute a statement or a block of statements.</a:t>
            </a:r>
            <a:endParaRPr lang="en-US" sz="2600" spc="-5" dirty="0"/>
          </a:p>
          <a:p>
            <a:pPr marL="355600" marR="525780" indent="-228600" algn="l">
              <a:spcBef>
                <a:spcPts val="770"/>
              </a:spcBef>
              <a:buFont typeface="Arial" panose="020B0604020202020204" pitchFamily="34" charset="0"/>
              <a:buChar char="•"/>
              <a:tabLst>
                <a:tab pos="354965" algn="l"/>
                <a:tab pos="355600" algn="l"/>
              </a:tabLst>
            </a:pPr>
            <a:r>
              <a:rPr lang="en-US" sz="2600" spc="-5" dirty="0"/>
              <a:t>Allows statements to be conditionally </a:t>
            </a:r>
            <a:r>
              <a:rPr lang="en-US" sz="2600" spc="-880" dirty="0"/>
              <a:t> </a:t>
            </a:r>
            <a:r>
              <a:rPr lang="en-US" sz="2600" spc="-5" dirty="0"/>
              <a:t>executed</a:t>
            </a:r>
            <a:r>
              <a:rPr lang="en-US" sz="2600" spc="-40" dirty="0"/>
              <a:t> </a:t>
            </a:r>
            <a:r>
              <a:rPr lang="en-US" sz="2600" spc="-5" dirty="0"/>
              <a:t>or</a:t>
            </a:r>
            <a:r>
              <a:rPr lang="en-US" sz="2600" dirty="0"/>
              <a:t> </a:t>
            </a:r>
            <a:r>
              <a:rPr lang="en-US" sz="2600" spc="-5" dirty="0"/>
              <a:t>skipped</a:t>
            </a:r>
            <a:r>
              <a:rPr lang="en-US" sz="2600" spc="-40" dirty="0"/>
              <a:t> </a:t>
            </a:r>
            <a:r>
              <a:rPr lang="en-US" sz="2600" spc="-5" dirty="0"/>
              <a:t>over</a:t>
            </a:r>
            <a:endParaRPr lang="en-US" sz="2600" dirty="0"/>
          </a:p>
          <a:p>
            <a:pPr marL="355600" marR="434340" indent="-228600" algn="l">
              <a:spcBef>
                <a:spcPts val="765"/>
              </a:spcBef>
              <a:buFont typeface="Arial" panose="020B0604020202020204" pitchFamily="34" charset="0"/>
              <a:buChar char="•"/>
              <a:tabLst>
                <a:tab pos="354965" algn="l"/>
                <a:tab pos="355600" algn="l"/>
              </a:tabLst>
            </a:pPr>
            <a:r>
              <a:rPr lang="en-US" sz="2600" spc="-10" dirty="0"/>
              <a:t>Models </a:t>
            </a:r>
            <a:r>
              <a:rPr lang="en-US" sz="2600" spc="-5" dirty="0"/>
              <a:t>the way </a:t>
            </a:r>
            <a:r>
              <a:rPr lang="en-US" sz="2600" dirty="0"/>
              <a:t>we </a:t>
            </a:r>
            <a:r>
              <a:rPr lang="en-US" sz="2600" spc="-10" dirty="0"/>
              <a:t>mentally </a:t>
            </a:r>
            <a:r>
              <a:rPr lang="en-US" sz="2600" spc="-5" dirty="0"/>
              <a:t>evaluate </a:t>
            </a:r>
            <a:r>
              <a:rPr lang="en-US" sz="2600" spc="-875" dirty="0"/>
              <a:t> </a:t>
            </a:r>
            <a:r>
              <a:rPr lang="en-US" sz="2600" spc="-5" dirty="0"/>
              <a:t>situations.</a:t>
            </a:r>
            <a:endParaRPr lang="en-US" sz="2600" dirty="0"/>
          </a:p>
          <a:p>
            <a:pPr marL="469900" indent="-228600" algn="l">
              <a:spcBef>
                <a:spcPts val="690"/>
              </a:spcBef>
              <a:buFont typeface="Arial" panose="020B0604020202020204" pitchFamily="34" charset="0"/>
              <a:buChar char="•"/>
            </a:pPr>
            <a:r>
              <a:rPr lang="en-US" sz="2600" dirty="0"/>
              <a:t>“If</a:t>
            </a:r>
            <a:r>
              <a:rPr lang="en-US" sz="2600" spc="-25" dirty="0"/>
              <a:t> </a:t>
            </a:r>
            <a:r>
              <a:rPr lang="en-US" sz="2600" spc="-5" dirty="0"/>
              <a:t>it</a:t>
            </a:r>
            <a:r>
              <a:rPr lang="en-US" sz="2600" spc="-25" dirty="0"/>
              <a:t> </a:t>
            </a:r>
            <a:r>
              <a:rPr lang="en-US" sz="2600" spc="-5" dirty="0"/>
              <a:t>is</a:t>
            </a:r>
            <a:r>
              <a:rPr lang="en-US" sz="2600" spc="-15" dirty="0"/>
              <a:t> </a:t>
            </a:r>
            <a:r>
              <a:rPr lang="en-US" sz="2600" dirty="0"/>
              <a:t>cold</a:t>
            </a:r>
            <a:r>
              <a:rPr lang="en-US" sz="2600" spc="-10" dirty="0"/>
              <a:t> </a:t>
            </a:r>
            <a:r>
              <a:rPr lang="en-US" sz="2600" dirty="0"/>
              <a:t>outside,</a:t>
            </a:r>
          </a:p>
          <a:p>
            <a:pPr marL="862965" indent="-228600" algn="l">
              <a:buFont typeface="Arial" panose="020B0604020202020204" pitchFamily="34" charset="0"/>
              <a:buChar char="•"/>
            </a:pPr>
            <a:r>
              <a:rPr lang="en-US" sz="2600" spc="-5" dirty="0"/>
              <a:t>wear</a:t>
            </a:r>
            <a:r>
              <a:rPr lang="en-US" sz="2600" spc="5" dirty="0"/>
              <a:t> </a:t>
            </a:r>
            <a:r>
              <a:rPr lang="en-US" sz="2600" spc="-5" dirty="0"/>
              <a:t>a </a:t>
            </a:r>
            <a:r>
              <a:rPr lang="en-US" sz="2600" dirty="0"/>
              <a:t>coat</a:t>
            </a:r>
            <a:r>
              <a:rPr lang="en-US" sz="2600" spc="-15" dirty="0"/>
              <a:t> </a:t>
            </a:r>
            <a:r>
              <a:rPr lang="en-US" sz="2600" dirty="0"/>
              <a:t>and</a:t>
            </a:r>
            <a:r>
              <a:rPr lang="en-US" sz="2600" spc="-5" dirty="0"/>
              <a:t> wear</a:t>
            </a:r>
            <a:r>
              <a:rPr lang="en-US" sz="2600" spc="10" dirty="0"/>
              <a:t> </a:t>
            </a:r>
            <a:r>
              <a:rPr lang="en-US" sz="2600" spc="-5" dirty="0"/>
              <a:t>a </a:t>
            </a:r>
            <a:r>
              <a:rPr lang="en-US" sz="2600" dirty="0"/>
              <a:t>hat.”</a:t>
            </a:r>
          </a:p>
          <a:p>
            <a:pPr marL="457200" indent="-457200" algn="l">
              <a:buFont typeface="+mj-lt"/>
              <a:buAutoNum type="arabicPeriod"/>
            </a:pPr>
            <a:endParaRPr lang="en-US" sz="2800" b="1" dirty="0"/>
          </a:p>
          <a:p>
            <a:pPr marL="457200" indent="-457200" algn="l">
              <a:buFont typeface="+mj-lt"/>
              <a:buAutoNum type="arabicPeriod"/>
            </a:pPr>
            <a:endParaRPr lang="en-US" sz="2800" b="1" dirty="0"/>
          </a:p>
          <a:p>
            <a:pPr marL="285750" indent="-285750">
              <a:buFont typeface="Arial" panose="020B0604020202020204" pitchFamily="34" charset="0"/>
              <a:buChar char="•"/>
            </a:pPr>
            <a:endParaRPr lang="en-US" sz="2400" b="1" dirty="0"/>
          </a:p>
        </p:txBody>
      </p:sp>
    </p:spTree>
    <p:extLst>
      <p:ext uri="{BB962C8B-B14F-4D97-AF65-F5344CB8AC3E}">
        <p14:creationId xmlns:p14="http://schemas.microsoft.com/office/powerpoint/2010/main" val="9079851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49810E-49AA-DE6A-A191-64789DD03D55}"/>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D83D08BF-5698-404B-713B-C0E9A07C42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6A299116-79E0-803B-216D-A0C2A414FBB7}"/>
              </a:ext>
            </a:extLst>
          </p:cNvPr>
          <p:cNvSpPr txBox="1"/>
          <p:nvPr/>
        </p:nvSpPr>
        <p:spPr>
          <a:xfrm>
            <a:off x="0" y="65927"/>
            <a:ext cx="6858000" cy="646331"/>
          </a:xfrm>
          <a:prstGeom prst="rect">
            <a:avLst/>
          </a:prstGeom>
          <a:noFill/>
        </p:spPr>
        <p:txBody>
          <a:bodyPr wrap="square" rtlCol="0">
            <a:spAutoFit/>
          </a:bodyPr>
          <a:lstStyle/>
          <a:p>
            <a:pPr algn="ctr"/>
            <a:r>
              <a:rPr lang="en-US" sz="3600" b="1" dirty="0">
                <a:latin typeface="Arial" panose="020B0604020202020204" pitchFamily="34" charset="0"/>
                <a:cs typeface="Arial" panose="020B0604020202020204" pitchFamily="34" charset="0"/>
              </a:rPr>
              <a:t>If Statement</a:t>
            </a:r>
            <a:endParaRPr lang="en-ZA" sz="3600" b="1" dirty="0">
              <a:latin typeface="Arial" panose="020B060402020202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67696680-BF73-74C6-35C0-5F51FF0928F0}"/>
              </a:ext>
            </a:extLst>
          </p:cNvPr>
          <p:cNvPicPr>
            <a:picLocks noChangeAspect="1"/>
          </p:cNvPicPr>
          <p:nvPr/>
        </p:nvPicPr>
        <p:blipFill rotWithShape="1">
          <a:blip r:embed="rId3"/>
          <a:srcRect t="626" r="2" b="6219"/>
          <a:stretch/>
        </p:blipFill>
        <p:spPr>
          <a:xfrm>
            <a:off x="343850" y="4661449"/>
            <a:ext cx="5897293" cy="4224808"/>
          </a:xfrm>
          <a:prstGeom prst="rect">
            <a:avLst/>
          </a:prstGeom>
        </p:spPr>
      </p:pic>
      <p:sp>
        <p:nvSpPr>
          <p:cNvPr id="6" name="TextBox 5">
            <a:extLst>
              <a:ext uri="{FF2B5EF4-FFF2-40B4-BE49-F238E27FC236}">
                <a16:creationId xmlns:a16="http://schemas.microsoft.com/office/drawing/2014/main" id="{3C0B741D-D58E-C2C8-C9AF-E5CD186FD9E7}"/>
              </a:ext>
            </a:extLst>
          </p:cNvPr>
          <p:cNvSpPr txBox="1"/>
          <p:nvPr/>
        </p:nvSpPr>
        <p:spPr>
          <a:xfrm>
            <a:off x="343850" y="2220687"/>
            <a:ext cx="5897293" cy="1938992"/>
          </a:xfrm>
          <a:prstGeom prst="rect">
            <a:avLst/>
          </a:prstGeom>
          <a:noFill/>
        </p:spPr>
        <p:txBody>
          <a:bodyPr wrap="square">
            <a:spAutoFit/>
          </a:bodyPr>
          <a:lstStyle/>
          <a:p>
            <a:pPr algn="l"/>
            <a:r>
              <a:rPr lang="en-ZA" sz="2400" b="1" i="0" u="none" strike="noStrike" baseline="0" dirty="0">
                <a:solidFill>
                  <a:srgbClr val="0070C0"/>
                </a:solidFill>
                <a:latin typeface="CourierStd-Bold"/>
              </a:rPr>
              <a:t>if</a:t>
            </a:r>
            <a:r>
              <a:rPr lang="en-ZA" sz="2400" b="1" i="0" u="none" strike="noStrike" baseline="0" dirty="0">
                <a:solidFill>
                  <a:srgbClr val="6A8899"/>
                </a:solidFill>
                <a:latin typeface="CourierStd-Bold"/>
              </a:rPr>
              <a:t> </a:t>
            </a:r>
            <a:r>
              <a:rPr lang="en-ZA" sz="2400" b="1" i="0" u="none" strike="noStrike" baseline="0" dirty="0">
                <a:solidFill>
                  <a:srgbClr val="211808"/>
                </a:solidFill>
                <a:latin typeface="CourierStd-Bold"/>
              </a:rPr>
              <a:t>(expression)</a:t>
            </a:r>
          </a:p>
          <a:p>
            <a:pPr algn="l"/>
            <a:r>
              <a:rPr lang="en-ZA" sz="2400" b="1" i="0" u="none" strike="noStrike" baseline="0" dirty="0">
                <a:solidFill>
                  <a:srgbClr val="211808"/>
                </a:solidFill>
                <a:latin typeface="CourierStd-Bold"/>
              </a:rPr>
              <a:t>	Statement(s)</a:t>
            </a:r>
          </a:p>
          <a:p>
            <a:pPr algn="l"/>
            <a:endParaRPr lang="en-ZA" sz="2400" b="1" dirty="0">
              <a:solidFill>
                <a:srgbClr val="211808"/>
              </a:solidFill>
              <a:latin typeface="CourierStd-Bold"/>
            </a:endParaRPr>
          </a:p>
          <a:p>
            <a:r>
              <a:rPr lang="en-US" sz="2400" dirty="0"/>
              <a:t>If expression is </a:t>
            </a:r>
            <a:r>
              <a:rPr lang="en-US" sz="2400" b="1" dirty="0"/>
              <a:t>true</a:t>
            </a:r>
            <a:r>
              <a:rPr lang="en-US" sz="2400" dirty="0"/>
              <a:t>, the </a:t>
            </a:r>
            <a:r>
              <a:rPr lang="en-US" sz="2400" b="1" dirty="0"/>
              <a:t>statement </a:t>
            </a:r>
            <a:r>
              <a:rPr lang="en-US" sz="2400" dirty="0"/>
              <a:t>executes; otherwise, the </a:t>
            </a:r>
            <a:r>
              <a:rPr lang="en-US" sz="2400" b="1" dirty="0"/>
              <a:t>statement </a:t>
            </a:r>
            <a:r>
              <a:rPr lang="en-ZA" sz="2400" dirty="0"/>
              <a:t>does not execute.</a:t>
            </a:r>
          </a:p>
        </p:txBody>
      </p:sp>
    </p:spTree>
    <p:extLst>
      <p:ext uri="{BB962C8B-B14F-4D97-AF65-F5344CB8AC3E}">
        <p14:creationId xmlns:p14="http://schemas.microsoft.com/office/powerpoint/2010/main" val="396862546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4E9C51-6247-461E-7149-E783D0F07A91}"/>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13FF561C-AA9F-DB9A-641C-74DCF8DA76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AD454F99-86A6-287C-C762-CFC553A1487E}"/>
              </a:ext>
            </a:extLst>
          </p:cNvPr>
          <p:cNvSpPr txBox="1"/>
          <p:nvPr/>
        </p:nvSpPr>
        <p:spPr>
          <a:xfrm>
            <a:off x="0" y="65927"/>
            <a:ext cx="6858000" cy="646331"/>
          </a:xfrm>
          <a:prstGeom prst="rect">
            <a:avLst/>
          </a:prstGeom>
          <a:noFill/>
        </p:spPr>
        <p:txBody>
          <a:bodyPr wrap="square" rtlCol="0">
            <a:spAutoFit/>
          </a:bodyPr>
          <a:lstStyle/>
          <a:p>
            <a:pPr algn="ctr"/>
            <a:r>
              <a:rPr lang="en-US" sz="3600" b="1" dirty="0">
                <a:latin typeface="Arial" panose="020B0604020202020204" pitchFamily="34" charset="0"/>
                <a:cs typeface="Arial" panose="020B0604020202020204" pitchFamily="34" charset="0"/>
              </a:rPr>
              <a:t>If Statement</a:t>
            </a:r>
            <a:endParaRPr lang="en-ZA" sz="3600" b="1"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E18DC39A-1651-6DB4-9DDB-CA6B23B08584}"/>
              </a:ext>
            </a:extLst>
          </p:cNvPr>
          <p:cNvSpPr txBox="1"/>
          <p:nvPr/>
        </p:nvSpPr>
        <p:spPr>
          <a:xfrm>
            <a:off x="343850" y="2121264"/>
            <a:ext cx="6170299" cy="6370975"/>
          </a:xfrm>
          <a:prstGeom prst="rect">
            <a:avLst/>
          </a:prstGeom>
          <a:noFill/>
        </p:spPr>
        <p:txBody>
          <a:bodyPr wrap="square">
            <a:spAutoFit/>
          </a:bodyPr>
          <a:lstStyle/>
          <a:p>
            <a:r>
              <a:rPr lang="en-ZA" sz="2400" b="1" dirty="0"/>
              <a:t>Example:</a:t>
            </a:r>
          </a:p>
          <a:p>
            <a:endParaRPr lang="en-ZA" sz="2400" dirty="0"/>
          </a:p>
          <a:p>
            <a:r>
              <a:rPr lang="en-ZA" sz="2000" dirty="0">
                <a:solidFill>
                  <a:srgbClr val="0070C0"/>
                </a:solidFill>
              </a:rPr>
              <a:t>int</a:t>
            </a:r>
            <a:r>
              <a:rPr lang="en-ZA" sz="2000" dirty="0"/>
              <a:t> main()</a:t>
            </a:r>
          </a:p>
          <a:p>
            <a:r>
              <a:rPr lang="en-ZA" sz="2000" dirty="0"/>
              <a:t>{</a:t>
            </a:r>
          </a:p>
          <a:p>
            <a:r>
              <a:rPr lang="en-ZA" sz="2000" dirty="0"/>
              <a:t> 	</a:t>
            </a:r>
            <a:r>
              <a:rPr lang="pt-BR" sz="2000" dirty="0">
                <a:solidFill>
                  <a:srgbClr val="00B050"/>
                </a:solidFill>
              </a:rPr>
              <a:t>//declare a variables</a:t>
            </a:r>
            <a:endParaRPr lang="en-ZA" sz="2000" dirty="0"/>
          </a:p>
          <a:p>
            <a:pPr lvl="1"/>
            <a:r>
              <a:rPr lang="pt-BR" sz="2000" dirty="0"/>
              <a:t>int test1Score; char grade; </a:t>
            </a:r>
            <a:endParaRPr lang="pt-BR" sz="2000" dirty="0">
              <a:solidFill>
                <a:srgbClr val="00B050"/>
              </a:solidFill>
            </a:endParaRPr>
          </a:p>
          <a:p>
            <a:pPr lvl="1"/>
            <a:endParaRPr lang="pt-BR" sz="2000" dirty="0"/>
          </a:p>
          <a:p>
            <a:pPr lvl="1"/>
            <a:r>
              <a:rPr lang="pt-BR" sz="2000" dirty="0">
                <a:solidFill>
                  <a:srgbClr val="0070C0"/>
                </a:solidFill>
              </a:rPr>
              <a:t>cout</a:t>
            </a:r>
            <a:r>
              <a:rPr lang="pt-BR" sz="2000" dirty="0"/>
              <a:t> &lt;&lt; “Enter score: ”;</a:t>
            </a:r>
          </a:p>
          <a:p>
            <a:pPr lvl="1"/>
            <a:r>
              <a:rPr lang="pt-BR" sz="2000" dirty="0">
                <a:solidFill>
                  <a:srgbClr val="0070C0"/>
                </a:solidFill>
              </a:rPr>
              <a:t>cin</a:t>
            </a:r>
            <a:r>
              <a:rPr lang="pt-BR" sz="2000" dirty="0"/>
              <a:t> &gt;&gt; test1Score;</a:t>
            </a:r>
          </a:p>
          <a:p>
            <a:pPr lvl="1"/>
            <a:endParaRPr lang="pt-BR" sz="2000" dirty="0"/>
          </a:p>
          <a:p>
            <a:pPr lvl="1"/>
            <a:r>
              <a:rPr lang="pt-BR" sz="2000" dirty="0">
                <a:solidFill>
                  <a:srgbClr val="00B050"/>
                </a:solidFill>
              </a:rPr>
              <a:t>// test whether test1Score is greater than 60</a:t>
            </a:r>
          </a:p>
          <a:p>
            <a:pPr lvl="1"/>
            <a:r>
              <a:rPr lang="pt-BR" sz="2000" dirty="0">
                <a:solidFill>
                  <a:schemeClr val="accent1"/>
                </a:solidFill>
              </a:rPr>
              <a:t>if</a:t>
            </a:r>
            <a:r>
              <a:rPr lang="pt-BR" sz="2000" dirty="0"/>
              <a:t> (test1Score &gt; 60); </a:t>
            </a:r>
          </a:p>
          <a:p>
            <a:pPr lvl="1"/>
            <a:r>
              <a:rPr lang="en-ZA" sz="2000" dirty="0"/>
              <a:t>	grade = ‘C’; </a:t>
            </a:r>
          </a:p>
          <a:p>
            <a:pPr lvl="1"/>
            <a:endParaRPr lang="en-ZA" sz="2000" dirty="0"/>
          </a:p>
          <a:p>
            <a:pPr lvl="1"/>
            <a:r>
              <a:rPr lang="en-ZA" sz="2000" dirty="0">
                <a:solidFill>
                  <a:srgbClr val="00B050"/>
                </a:solidFill>
              </a:rPr>
              <a:t>// display results</a:t>
            </a:r>
          </a:p>
          <a:p>
            <a:pPr lvl="1"/>
            <a:r>
              <a:rPr lang="en-ZA" sz="2000" dirty="0" err="1">
                <a:solidFill>
                  <a:schemeClr val="accent1"/>
                </a:solidFill>
              </a:rPr>
              <a:t>cout</a:t>
            </a:r>
            <a:r>
              <a:rPr lang="en-ZA" sz="2000" dirty="0"/>
              <a:t> &lt;&lt; “Test 1 score = ” &lt;&lt; test1Score &lt;&lt; “ and obtained grade ” &lt;&lt; grade &lt;&lt; </a:t>
            </a:r>
            <a:r>
              <a:rPr lang="en-ZA" sz="2000" dirty="0" err="1">
                <a:solidFill>
                  <a:srgbClr val="0070C0"/>
                </a:solidFill>
              </a:rPr>
              <a:t>endl</a:t>
            </a:r>
            <a:r>
              <a:rPr lang="en-ZA" sz="2000" dirty="0"/>
              <a:t>;</a:t>
            </a:r>
          </a:p>
          <a:p>
            <a:pPr lvl="1"/>
            <a:endParaRPr lang="en-ZA" sz="2000" dirty="0"/>
          </a:p>
          <a:p>
            <a:pPr lvl="1"/>
            <a:r>
              <a:rPr lang="en-ZA" sz="2000" dirty="0">
                <a:solidFill>
                  <a:srgbClr val="0070C0"/>
                </a:solidFill>
              </a:rPr>
              <a:t>return 0</a:t>
            </a:r>
            <a:r>
              <a:rPr lang="en-ZA" sz="2000" dirty="0"/>
              <a:t>;</a:t>
            </a:r>
          </a:p>
          <a:p>
            <a:r>
              <a:rPr lang="en-ZA" sz="2000" dirty="0"/>
              <a:t>}</a:t>
            </a:r>
          </a:p>
        </p:txBody>
      </p:sp>
    </p:spTree>
    <p:extLst>
      <p:ext uri="{BB962C8B-B14F-4D97-AF65-F5344CB8AC3E}">
        <p14:creationId xmlns:p14="http://schemas.microsoft.com/office/powerpoint/2010/main" val="35255088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E53F11-5240-8C78-EF73-F1321C883FEA}"/>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832ED1F8-D06C-963E-06E1-96DEAE57CF0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E9D51320-FF0A-B49C-CD30-FBE77651A451}"/>
              </a:ext>
            </a:extLst>
          </p:cNvPr>
          <p:cNvSpPr txBox="1"/>
          <p:nvPr/>
        </p:nvSpPr>
        <p:spPr>
          <a:xfrm>
            <a:off x="0" y="65927"/>
            <a:ext cx="6858000" cy="646331"/>
          </a:xfrm>
          <a:prstGeom prst="rect">
            <a:avLst/>
          </a:prstGeom>
          <a:noFill/>
        </p:spPr>
        <p:txBody>
          <a:bodyPr wrap="square" rtlCol="0">
            <a:spAutoFit/>
          </a:bodyPr>
          <a:lstStyle/>
          <a:p>
            <a:pPr algn="ctr"/>
            <a:r>
              <a:rPr lang="en-US" sz="3600" b="1" dirty="0">
                <a:latin typeface="Arial" panose="020B0604020202020204" pitchFamily="34" charset="0"/>
                <a:cs typeface="Arial" panose="020B0604020202020204" pitchFamily="34" charset="0"/>
              </a:rPr>
              <a:t>If Statement</a:t>
            </a:r>
            <a:endParaRPr lang="en-ZA" sz="3600" b="1"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9A0F3993-34F2-96CA-0F06-C68F2C847824}"/>
              </a:ext>
            </a:extLst>
          </p:cNvPr>
          <p:cNvSpPr txBox="1"/>
          <p:nvPr/>
        </p:nvSpPr>
        <p:spPr>
          <a:xfrm>
            <a:off x="343850" y="2121264"/>
            <a:ext cx="6170299" cy="1200329"/>
          </a:xfrm>
          <a:prstGeom prst="rect">
            <a:avLst/>
          </a:prstGeom>
          <a:noFill/>
        </p:spPr>
        <p:txBody>
          <a:bodyPr wrap="square">
            <a:spAutoFit/>
          </a:bodyPr>
          <a:lstStyle/>
          <a:p>
            <a:r>
              <a:rPr lang="en-ZA" sz="2400" b="1" dirty="0"/>
              <a:t>Exercises:</a:t>
            </a:r>
          </a:p>
          <a:p>
            <a:endParaRPr lang="en-ZA" sz="2400" dirty="0"/>
          </a:p>
          <a:p>
            <a:endParaRPr lang="en-ZA" sz="2400" dirty="0"/>
          </a:p>
        </p:txBody>
      </p:sp>
    </p:spTree>
    <p:extLst>
      <p:ext uri="{BB962C8B-B14F-4D97-AF65-F5344CB8AC3E}">
        <p14:creationId xmlns:p14="http://schemas.microsoft.com/office/powerpoint/2010/main" val="27717993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6B48E6-60CD-55A2-3A67-8DB8C17BE961}"/>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B5B8F253-2D8A-3A4F-6293-2646F816DFD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A7EC1095-371E-1857-5FFB-F8675299A65D}"/>
              </a:ext>
            </a:extLst>
          </p:cNvPr>
          <p:cNvSpPr txBox="1"/>
          <p:nvPr/>
        </p:nvSpPr>
        <p:spPr>
          <a:xfrm>
            <a:off x="0" y="65927"/>
            <a:ext cx="6858000" cy="646331"/>
          </a:xfrm>
          <a:prstGeom prst="rect">
            <a:avLst/>
          </a:prstGeom>
          <a:noFill/>
        </p:spPr>
        <p:txBody>
          <a:bodyPr wrap="square" rtlCol="0">
            <a:spAutoFit/>
          </a:bodyPr>
          <a:lstStyle/>
          <a:p>
            <a:pPr algn="ctr"/>
            <a:r>
              <a:rPr lang="en-US" sz="3600" b="1" dirty="0">
                <a:latin typeface="Arial" panose="020B0604020202020204" pitchFamily="34" charset="0"/>
                <a:cs typeface="Arial" panose="020B0604020202020204" pitchFamily="34" charset="0"/>
              </a:rPr>
              <a:t>If/Else Statement</a:t>
            </a:r>
            <a:endParaRPr lang="en-ZA" sz="3600" b="1" dirty="0">
              <a:latin typeface="Arial" panose="020B0604020202020204" pitchFamily="34" charset="0"/>
              <a:cs typeface="Arial" panose="020B0604020202020204" pitchFamily="34" charset="0"/>
            </a:endParaRPr>
          </a:p>
        </p:txBody>
      </p:sp>
      <p:sp>
        <p:nvSpPr>
          <p:cNvPr id="2" name="Content Placeholder 2">
            <a:extLst>
              <a:ext uri="{FF2B5EF4-FFF2-40B4-BE49-F238E27FC236}">
                <a16:creationId xmlns:a16="http://schemas.microsoft.com/office/drawing/2014/main" id="{DFEF4EEA-67C8-D044-5C2C-B8EF583D9E3A}"/>
              </a:ext>
            </a:extLst>
          </p:cNvPr>
          <p:cNvSpPr txBox="1">
            <a:spLocks/>
          </p:cNvSpPr>
          <p:nvPr/>
        </p:nvSpPr>
        <p:spPr>
          <a:xfrm>
            <a:off x="471488" y="2637014"/>
            <a:ext cx="5915025" cy="6285266"/>
          </a:xfrm>
          <a:prstGeom prst="rect">
            <a:avLst/>
          </a:prstGeom>
        </p:spPr>
        <p:txBody>
          <a:bodyPr vert="horz" lIns="91440" tIns="45720" rIns="91440" bIns="45720" rtlCol="0">
            <a:normAutofit lnSpcReduction="10000"/>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marL="355600" marR="5080" indent="-228600">
              <a:spcBef>
                <a:spcPts val="430"/>
              </a:spcBef>
              <a:buFont typeface="Arial" panose="020B0604020202020204" pitchFamily="34" charset="0"/>
              <a:buChar char="•"/>
              <a:tabLst>
                <a:tab pos="354965" algn="l"/>
                <a:tab pos="355600" algn="l"/>
              </a:tabLst>
            </a:pPr>
            <a:r>
              <a:rPr lang="en-US" altLang="en-US" sz="2800" dirty="0"/>
              <a:t>Chain of </a:t>
            </a:r>
            <a:r>
              <a:rPr lang="en-US" altLang="en-US" sz="2800" b="1" dirty="0"/>
              <a:t>if </a:t>
            </a:r>
            <a:r>
              <a:rPr lang="en-US" altLang="en-US" sz="2800" dirty="0"/>
              <a:t>statements that test in order until one is found to be true.</a:t>
            </a:r>
            <a:endParaRPr lang="en-US" sz="2800" dirty="0"/>
          </a:p>
          <a:p>
            <a:pPr marL="355600" marR="5080" indent="-228600">
              <a:spcBef>
                <a:spcPts val="430"/>
              </a:spcBef>
              <a:buFont typeface="Arial" panose="020B0604020202020204" pitchFamily="34" charset="0"/>
              <a:buChar char="•"/>
              <a:tabLst>
                <a:tab pos="354965" algn="l"/>
                <a:tab pos="355600" algn="l"/>
              </a:tabLst>
            </a:pPr>
            <a:endParaRPr lang="en-US" sz="2800" spc="-5" dirty="0"/>
          </a:p>
          <a:p>
            <a:pPr marL="355600" marR="5080" indent="-228600">
              <a:spcBef>
                <a:spcPts val="430"/>
              </a:spcBef>
              <a:buFont typeface="Arial" panose="020B0604020202020204" pitchFamily="34" charset="0"/>
              <a:buChar char="•"/>
              <a:tabLst>
                <a:tab pos="354965" algn="l"/>
                <a:tab pos="355600" algn="l"/>
              </a:tabLst>
            </a:pPr>
            <a:r>
              <a:rPr lang="en-US" altLang="en-US" sz="2800" dirty="0"/>
              <a:t>provides </a:t>
            </a:r>
            <a:r>
              <a:rPr lang="en-US" altLang="en-US" sz="2800" b="1" dirty="0"/>
              <a:t>selection</a:t>
            </a:r>
            <a:r>
              <a:rPr lang="en-US" altLang="en-US" sz="2800" dirty="0"/>
              <a:t> between executing </a:t>
            </a:r>
            <a:r>
              <a:rPr lang="en-US" altLang="en-US" sz="2800" b="1" dirty="0"/>
              <a:t>one of 2 clauses</a:t>
            </a:r>
            <a:r>
              <a:rPr lang="en-US" altLang="en-US" sz="2800" dirty="0"/>
              <a:t> (the if clause or the else clause)</a:t>
            </a:r>
            <a:endParaRPr lang="en-US" sz="2800" dirty="0"/>
          </a:p>
          <a:p>
            <a:pPr marL="355600" indent="-228600">
              <a:spcBef>
                <a:spcPts val="1075"/>
              </a:spcBef>
              <a:buFont typeface="Arial" panose="020B0604020202020204" pitchFamily="34" charset="0"/>
              <a:buChar char="•"/>
              <a:tabLst>
                <a:tab pos="354965" algn="l"/>
                <a:tab pos="355600" algn="l"/>
              </a:tabLst>
            </a:pPr>
            <a:r>
              <a:rPr lang="en-US" sz="2800" dirty="0"/>
              <a:t>Also,</a:t>
            </a:r>
            <a:r>
              <a:rPr lang="en-US" sz="2800" spc="-15" dirty="0"/>
              <a:t> </a:t>
            </a:r>
            <a:r>
              <a:rPr lang="en-US" sz="2800" spc="-10" dirty="0"/>
              <a:t>models</a:t>
            </a:r>
            <a:r>
              <a:rPr lang="en-US" sz="2800" spc="-15" dirty="0"/>
              <a:t> </a:t>
            </a:r>
            <a:r>
              <a:rPr lang="en-US" sz="2800" spc="-10" dirty="0"/>
              <a:t>thought</a:t>
            </a:r>
            <a:r>
              <a:rPr lang="en-US" sz="2800" spc="-25" dirty="0"/>
              <a:t> </a:t>
            </a:r>
            <a:r>
              <a:rPr lang="en-US" sz="2800" spc="-5" dirty="0"/>
              <a:t>processes.</a:t>
            </a:r>
          </a:p>
          <a:p>
            <a:pPr marL="355600" indent="-228600">
              <a:spcBef>
                <a:spcPts val="1075"/>
              </a:spcBef>
              <a:buFont typeface="Arial" panose="020B0604020202020204" pitchFamily="34" charset="0"/>
              <a:buChar char="•"/>
              <a:tabLst>
                <a:tab pos="354965" algn="l"/>
                <a:tab pos="355600" algn="l"/>
              </a:tabLst>
            </a:pPr>
            <a:endParaRPr lang="en-US" sz="2800" dirty="0"/>
          </a:p>
          <a:p>
            <a:pPr marL="469900" marR="2096770" indent="-228600">
              <a:spcBef>
                <a:spcPts val="1550"/>
              </a:spcBef>
              <a:buFont typeface="Arial" panose="020B0604020202020204" pitchFamily="34" charset="0"/>
              <a:buChar char="•"/>
            </a:pPr>
            <a:r>
              <a:rPr lang="en-US" sz="2800" dirty="0"/>
              <a:t>“</a:t>
            </a:r>
            <a:r>
              <a:rPr lang="en-US" sz="2800" b="1" dirty="0"/>
              <a:t>If</a:t>
            </a:r>
            <a:r>
              <a:rPr lang="en-US" sz="2800" dirty="0"/>
              <a:t> </a:t>
            </a:r>
            <a:r>
              <a:rPr lang="en-US" sz="2800" spc="-5" dirty="0"/>
              <a:t>it is </a:t>
            </a:r>
            <a:r>
              <a:rPr lang="en-US" sz="2800" dirty="0"/>
              <a:t>raining, take </a:t>
            </a:r>
            <a:r>
              <a:rPr lang="en-US" sz="2800" spc="-5" dirty="0"/>
              <a:t>an </a:t>
            </a:r>
            <a:r>
              <a:rPr lang="en-US" sz="2800" dirty="0"/>
              <a:t>umbrella, </a:t>
            </a:r>
            <a:r>
              <a:rPr lang="en-US" sz="2800" spc="-765" dirty="0"/>
              <a:t> </a:t>
            </a:r>
          </a:p>
          <a:p>
            <a:pPr marL="469900" marR="2096770" indent="-228600">
              <a:spcBef>
                <a:spcPts val="1550"/>
              </a:spcBef>
              <a:buFont typeface="Arial" panose="020B0604020202020204" pitchFamily="34" charset="0"/>
              <a:buChar char="•"/>
            </a:pPr>
            <a:r>
              <a:rPr lang="en-US" sz="2800" b="1" dirty="0"/>
              <a:t>else</a:t>
            </a:r>
            <a:r>
              <a:rPr lang="en-US" sz="2800" dirty="0"/>
              <a:t>,</a:t>
            </a:r>
            <a:r>
              <a:rPr lang="en-US" sz="2800" spc="-15" dirty="0"/>
              <a:t> </a:t>
            </a:r>
            <a:r>
              <a:rPr lang="en-US" sz="2800" spc="-5" dirty="0"/>
              <a:t>if</a:t>
            </a:r>
            <a:r>
              <a:rPr lang="en-US" sz="2800" dirty="0"/>
              <a:t> </a:t>
            </a:r>
            <a:r>
              <a:rPr lang="en-US" sz="2800" spc="-5" dirty="0"/>
              <a:t>it</a:t>
            </a:r>
            <a:r>
              <a:rPr lang="en-US" sz="2800" spc="-10" dirty="0"/>
              <a:t> </a:t>
            </a:r>
            <a:r>
              <a:rPr lang="en-US" sz="2800" spc="-5" dirty="0"/>
              <a:t>is</a:t>
            </a:r>
            <a:r>
              <a:rPr lang="en-US" sz="2800" spc="-10" dirty="0"/>
              <a:t> </a:t>
            </a:r>
            <a:r>
              <a:rPr lang="en-US" sz="2800" spc="-5" dirty="0"/>
              <a:t>windy,</a:t>
            </a:r>
            <a:r>
              <a:rPr lang="en-US" sz="2800" dirty="0"/>
              <a:t> take </a:t>
            </a:r>
            <a:r>
              <a:rPr lang="en-US" sz="2800" spc="-5" dirty="0"/>
              <a:t>a</a:t>
            </a:r>
            <a:r>
              <a:rPr lang="en-US" sz="2800" spc="-10" dirty="0"/>
              <a:t> </a:t>
            </a:r>
            <a:r>
              <a:rPr lang="en-US" sz="2800" dirty="0"/>
              <a:t>hat.</a:t>
            </a:r>
          </a:p>
          <a:p>
            <a:pPr marL="469900" indent="-228600">
              <a:buFont typeface="Arial" panose="020B0604020202020204" pitchFamily="34" charset="0"/>
              <a:buChar char="•"/>
            </a:pPr>
            <a:r>
              <a:rPr lang="en-US" sz="2800" b="1" dirty="0"/>
              <a:t>else,</a:t>
            </a:r>
            <a:r>
              <a:rPr lang="en-US" sz="2800" b="1" spc="-20" dirty="0"/>
              <a:t> </a:t>
            </a:r>
            <a:r>
              <a:rPr lang="en-US" sz="2800" b="1" spc="-5" dirty="0"/>
              <a:t>if</a:t>
            </a:r>
            <a:r>
              <a:rPr lang="en-US" sz="2800" dirty="0"/>
              <a:t> </a:t>
            </a:r>
            <a:r>
              <a:rPr lang="en-US" sz="2800" spc="-5" dirty="0"/>
              <a:t>it</a:t>
            </a:r>
            <a:r>
              <a:rPr lang="en-US" sz="2800" spc="-15" dirty="0"/>
              <a:t> </a:t>
            </a:r>
            <a:r>
              <a:rPr lang="en-US" sz="2800" spc="-5" dirty="0"/>
              <a:t>is</a:t>
            </a:r>
            <a:r>
              <a:rPr lang="en-US" sz="2800" spc="-10" dirty="0"/>
              <a:t> </a:t>
            </a:r>
            <a:r>
              <a:rPr lang="en-US" sz="2800" dirty="0"/>
              <a:t>sunny,</a:t>
            </a:r>
            <a:r>
              <a:rPr lang="en-US" sz="2800" spc="-15" dirty="0"/>
              <a:t> </a:t>
            </a:r>
            <a:r>
              <a:rPr lang="en-US" sz="2800" dirty="0"/>
              <a:t>take sunglasses.</a:t>
            </a:r>
          </a:p>
          <a:p>
            <a:pPr marL="469900" indent="-228600">
              <a:buFont typeface="Arial" panose="020B0604020202020204" pitchFamily="34" charset="0"/>
              <a:buChar char="•"/>
            </a:pPr>
            <a:r>
              <a:rPr lang="en-US" sz="2800" b="1" dirty="0"/>
              <a:t>else</a:t>
            </a:r>
            <a:r>
              <a:rPr lang="en-US" sz="2800" dirty="0"/>
              <a:t>, never mind.”</a:t>
            </a:r>
          </a:p>
          <a:p>
            <a:pPr marL="457200" indent="-457200" algn="l">
              <a:buFont typeface="+mj-lt"/>
              <a:buAutoNum type="arabicPeriod"/>
            </a:pPr>
            <a:endParaRPr lang="en-US" sz="2800" b="1" dirty="0"/>
          </a:p>
          <a:p>
            <a:pPr marL="285750" indent="-285750">
              <a:buFont typeface="Arial" panose="020B0604020202020204" pitchFamily="34" charset="0"/>
              <a:buChar char="•"/>
            </a:pPr>
            <a:endParaRPr lang="en-US" sz="2400" b="1" dirty="0"/>
          </a:p>
        </p:txBody>
      </p:sp>
    </p:spTree>
    <p:extLst>
      <p:ext uri="{BB962C8B-B14F-4D97-AF65-F5344CB8AC3E}">
        <p14:creationId xmlns:p14="http://schemas.microsoft.com/office/powerpoint/2010/main" val="359448609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835399-0709-3E90-B26E-D0D8E61F1C46}"/>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6906F3E8-E85D-2F83-5EBE-1BEA74FAF8B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8C8F81DA-772B-56D4-6F3C-14349B0AE4E5}"/>
              </a:ext>
            </a:extLst>
          </p:cNvPr>
          <p:cNvSpPr txBox="1"/>
          <p:nvPr/>
        </p:nvSpPr>
        <p:spPr>
          <a:xfrm>
            <a:off x="0" y="65927"/>
            <a:ext cx="6858000" cy="646331"/>
          </a:xfrm>
          <a:prstGeom prst="rect">
            <a:avLst/>
          </a:prstGeom>
          <a:noFill/>
        </p:spPr>
        <p:txBody>
          <a:bodyPr wrap="square" rtlCol="0">
            <a:spAutoFit/>
          </a:bodyPr>
          <a:lstStyle/>
          <a:p>
            <a:pPr algn="ctr"/>
            <a:r>
              <a:rPr lang="en-US" sz="3600" b="1" dirty="0">
                <a:latin typeface="Arial" panose="020B0604020202020204" pitchFamily="34" charset="0"/>
                <a:cs typeface="Arial" panose="020B0604020202020204" pitchFamily="34" charset="0"/>
              </a:rPr>
              <a:t>If/Else</a:t>
            </a:r>
            <a:endParaRPr lang="en-ZA" sz="3600" b="1" dirty="0">
              <a:latin typeface="Arial" panose="020B0604020202020204" pitchFamily="34" charset="0"/>
              <a:cs typeface="Arial" panose="020B0604020202020204" pitchFamily="34" charset="0"/>
            </a:endParaRPr>
          </a:p>
        </p:txBody>
      </p:sp>
      <p:pic>
        <p:nvPicPr>
          <p:cNvPr id="2" name="Picture 1">
            <a:extLst>
              <a:ext uri="{FF2B5EF4-FFF2-40B4-BE49-F238E27FC236}">
                <a16:creationId xmlns:a16="http://schemas.microsoft.com/office/drawing/2014/main" id="{0192CCB3-E57B-61FF-108D-00B800EC8089}"/>
              </a:ext>
            </a:extLst>
          </p:cNvPr>
          <p:cNvPicPr>
            <a:picLocks noChangeAspect="1"/>
          </p:cNvPicPr>
          <p:nvPr/>
        </p:nvPicPr>
        <p:blipFill rotWithShape="1">
          <a:blip r:embed="rId3"/>
          <a:srcRect l="2259" r="7553" b="-3"/>
          <a:stretch/>
        </p:blipFill>
        <p:spPr>
          <a:xfrm>
            <a:off x="343850" y="4953000"/>
            <a:ext cx="6170299" cy="3995966"/>
          </a:xfrm>
          <a:prstGeom prst="rect">
            <a:avLst/>
          </a:prstGeom>
        </p:spPr>
      </p:pic>
      <p:sp>
        <p:nvSpPr>
          <p:cNvPr id="6" name="TextBox 5">
            <a:extLst>
              <a:ext uri="{FF2B5EF4-FFF2-40B4-BE49-F238E27FC236}">
                <a16:creationId xmlns:a16="http://schemas.microsoft.com/office/drawing/2014/main" id="{98144BEE-D329-7032-C127-BD9ED4F69AC3}"/>
              </a:ext>
            </a:extLst>
          </p:cNvPr>
          <p:cNvSpPr txBox="1"/>
          <p:nvPr/>
        </p:nvSpPr>
        <p:spPr>
          <a:xfrm>
            <a:off x="343850" y="2121264"/>
            <a:ext cx="6170299" cy="2677656"/>
          </a:xfrm>
          <a:prstGeom prst="rect">
            <a:avLst/>
          </a:prstGeom>
          <a:noFill/>
        </p:spPr>
        <p:txBody>
          <a:bodyPr wrap="square">
            <a:spAutoFit/>
          </a:bodyPr>
          <a:lstStyle/>
          <a:p>
            <a:pPr algn="l"/>
            <a:r>
              <a:rPr lang="en-ZA" sz="2400" b="1" i="0" u="none" strike="noStrike" baseline="0" dirty="0">
                <a:solidFill>
                  <a:schemeClr val="accent1"/>
                </a:solidFill>
                <a:latin typeface="CourierStd-Bold"/>
              </a:rPr>
              <a:t>if</a:t>
            </a:r>
            <a:r>
              <a:rPr lang="en-ZA" sz="2400" b="1" i="0" u="none" strike="noStrike" baseline="0" dirty="0">
                <a:solidFill>
                  <a:srgbClr val="6A8899"/>
                </a:solidFill>
                <a:latin typeface="CourierStd-Bold"/>
              </a:rPr>
              <a:t> </a:t>
            </a:r>
            <a:r>
              <a:rPr lang="en-ZA" sz="2400" b="1" i="0" u="none" strike="noStrike" baseline="0" dirty="0">
                <a:solidFill>
                  <a:srgbClr val="211808"/>
                </a:solidFill>
                <a:latin typeface="CourierStd-Bold"/>
              </a:rPr>
              <a:t>(expression)</a:t>
            </a:r>
          </a:p>
          <a:p>
            <a:pPr algn="l"/>
            <a:r>
              <a:rPr lang="en-ZA" sz="2400" b="1" i="0" u="none" strike="noStrike" baseline="0" dirty="0">
                <a:solidFill>
                  <a:srgbClr val="211808"/>
                </a:solidFill>
                <a:latin typeface="CourierStd-Bold"/>
              </a:rPr>
              <a:t>	Statement1(s)</a:t>
            </a:r>
          </a:p>
          <a:p>
            <a:pPr algn="l"/>
            <a:r>
              <a:rPr lang="en-ZA" sz="2400" b="1" i="0" u="none" strike="noStrike" baseline="0" dirty="0">
                <a:solidFill>
                  <a:schemeClr val="accent1"/>
                </a:solidFill>
                <a:latin typeface="CourierStd-Bold"/>
              </a:rPr>
              <a:t>else</a:t>
            </a:r>
          </a:p>
          <a:p>
            <a:pPr algn="l"/>
            <a:r>
              <a:rPr lang="en-ZA" sz="2400" b="1" i="0" u="none" strike="noStrike" baseline="0" dirty="0">
                <a:solidFill>
                  <a:srgbClr val="211808"/>
                </a:solidFill>
                <a:latin typeface="CourierStd-Bold"/>
              </a:rPr>
              <a:t>	Statement2</a:t>
            </a:r>
            <a:r>
              <a:rPr lang="en-ZA" sz="2400" b="1" dirty="0">
                <a:solidFill>
                  <a:srgbClr val="211808"/>
                </a:solidFill>
                <a:latin typeface="CourierStd-Bold"/>
              </a:rPr>
              <a:t>(s)</a:t>
            </a:r>
          </a:p>
          <a:p>
            <a:pPr algn="l"/>
            <a:endParaRPr lang="en-ZA" sz="2400" b="1" dirty="0">
              <a:solidFill>
                <a:srgbClr val="211808"/>
              </a:solidFill>
              <a:latin typeface="CourierStd-Bold"/>
            </a:endParaRPr>
          </a:p>
          <a:p>
            <a:r>
              <a:rPr lang="en-US" sz="2400" dirty="0"/>
              <a:t>If </a:t>
            </a:r>
            <a:r>
              <a:rPr lang="en-US" sz="2400" b="1" dirty="0"/>
              <a:t>expression </a:t>
            </a:r>
            <a:r>
              <a:rPr lang="en-US" sz="2400" dirty="0"/>
              <a:t>is </a:t>
            </a:r>
            <a:r>
              <a:rPr lang="en-US" sz="2400" b="1" dirty="0"/>
              <a:t>true</a:t>
            </a:r>
            <a:r>
              <a:rPr lang="en-US" sz="2400" dirty="0"/>
              <a:t>, then </a:t>
            </a:r>
            <a:r>
              <a:rPr lang="en-US" sz="2400" b="1" dirty="0"/>
              <a:t>statement1 </a:t>
            </a:r>
            <a:r>
              <a:rPr lang="en-US" sz="2400" dirty="0"/>
              <a:t>executes; otherwise, </a:t>
            </a:r>
            <a:r>
              <a:rPr lang="en-ZA" sz="2400" b="1" dirty="0"/>
              <a:t>statement2 </a:t>
            </a:r>
            <a:r>
              <a:rPr lang="en-ZA" sz="2400" dirty="0"/>
              <a:t>executes.</a:t>
            </a:r>
          </a:p>
        </p:txBody>
      </p:sp>
    </p:spTree>
    <p:extLst>
      <p:ext uri="{BB962C8B-B14F-4D97-AF65-F5344CB8AC3E}">
        <p14:creationId xmlns:p14="http://schemas.microsoft.com/office/powerpoint/2010/main" val="291846101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1527EB-8F87-8150-60C8-101701364F40}"/>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789B36F3-831D-67BC-5223-5CECDA827E8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C16884B7-B9F1-D39D-C72E-D8083A87ABCC}"/>
              </a:ext>
            </a:extLst>
          </p:cNvPr>
          <p:cNvSpPr txBox="1"/>
          <p:nvPr/>
        </p:nvSpPr>
        <p:spPr>
          <a:xfrm>
            <a:off x="0" y="65927"/>
            <a:ext cx="6858000" cy="646331"/>
          </a:xfrm>
          <a:prstGeom prst="rect">
            <a:avLst/>
          </a:prstGeom>
          <a:noFill/>
        </p:spPr>
        <p:txBody>
          <a:bodyPr wrap="square" rtlCol="0">
            <a:spAutoFit/>
          </a:bodyPr>
          <a:lstStyle/>
          <a:p>
            <a:pPr algn="ctr"/>
            <a:r>
              <a:rPr lang="en-US" sz="3600" b="1" dirty="0">
                <a:latin typeface="Arial" panose="020B0604020202020204" pitchFamily="34" charset="0"/>
                <a:cs typeface="Arial" panose="020B0604020202020204" pitchFamily="34" charset="0"/>
              </a:rPr>
              <a:t>If/Else</a:t>
            </a:r>
            <a:endParaRPr lang="en-ZA" sz="3600" b="1"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8982537A-A1D0-A244-C089-2A04B12C4DC5}"/>
              </a:ext>
            </a:extLst>
          </p:cNvPr>
          <p:cNvSpPr txBox="1"/>
          <p:nvPr/>
        </p:nvSpPr>
        <p:spPr>
          <a:xfrm>
            <a:off x="343850" y="2121264"/>
            <a:ext cx="6170299" cy="6678751"/>
          </a:xfrm>
          <a:prstGeom prst="rect">
            <a:avLst/>
          </a:prstGeom>
          <a:noFill/>
        </p:spPr>
        <p:txBody>
          <a:bodyPr wrap="square">
            <a:spAutoFit/>
          </a:bodyPr>
          <a:lstStyle/>
          <a:p>
            <a:r>
              <a:rPr lang="en-ZA" sz="2400" b="1" dirty="0"/>
              <a:t>Example:</a:t>
            </a:r>
          </a:p>
          <a:p>
            <a:endParaRPr lang="en-ZA" sz="2400" dirty="0"/>
          </a:p>
          <a:p>
            <a:r>
              <a:rPr lang="en-ZA" sz="2000" dirty="0">
                <a:solidFill>
                  <a:schemeClr val="accent1"/>
                </a:solidFill>
              </a:rPr>
              <a:t>int</a:t>
            </a:r>
            <a:r>
              <a:rPr lang="en-ZA" sz="2000" dirty="0"/>
              <a:t> main()</a:t>
            </a:r>
          </a:p>
          <a:p>
            <a:r>
              <a:rPr lang="en-ZA" sz="2000" dirty="0"/>
              <a:t>{</a:t>
            </a:r>
          </a:p>
          <a:p>
            <a:pPr lvl="1"/>
            <a:r>
              <a:rPr lang="pt-BR" sz="2000" dirty="0"/>
              <a:t>int num1, num2, larger; </a:t>
            </a:r>
            <a:r>
              <a:rPr lang="pt-BR" sz="2000" dirty="0">
                <a:solidFill>
                  <a:srgbClr val="00B050"/>
                </a:solidFill>
              </a:rPr>
              <a:t>//declare variables</a:t>
            </a:r>
          </a:p>
          <a:p>
            <a:pPr lvl="1"/>
            <a:endParaRPr lang="pt-BR" sz="2000" dirty="0">
              <a:solidFill>
                <a:srgbClr val="00B050"/>
              </a:solidFill>
            </a:endParaRPr>
          </a:p>
          <a:p>
            <a:pPr lvl="1"/>
            <a:r>
              <a:rPr lang="pt-BR" sz="2000" dirty="0">
                <a:solidFill>
                  <a:srgbClr val="0070C0"/>
                </a:solidFill>
              </a:rPr>
              <a:t>cout</a:t>
            </a:r>
            <a:r>
              <a:rPr lang="pt-BR" sz="2000" dirty="0"/>
              <a:t> &lt;&lt; “Enter value of num1: ”;</a:t>
            </a:r>
          </a:p>
          <a:p>
            <a:pPr lvl="1"/>
            <a:r>
              <a:rPr lang="pt-BR" sz="2000" dirty="0">
                <a:solidFill>
                  <a:srgbClr val="0070C0"/>
                </a:solidFill>
              </a:rPr>
              <a:t>cin</a:t>
            </a:r>
            <a:r>
              <a:rPr lang="pt-BR" sz="2000" dirty="0"/>
              <a:t> &gt;&gt; num1;</a:t>
            </a:r>
          </a:p>
          <a:p>
            <a:pPr lvl="1"/>
            <a:r>
              <a:rPr lang="pt-BR" sz="2000" dirty="0">
                <a:solidFill>
                  <a:srgbClr val="0070C0"/>
                </a:solidFill>
              </a:rPr>
              <a:t>cout</a:t>
            </a:r>
            <a:r>
              <a:rPr lang="pt-BR" sz="2000" dirty="0"/>
              <a:t> &lt;&lt; “Enter value of num2: ”;</a:t>
            </a:r>
          </a:p>
          <a:p>
            <a:pPr lvl="1"/>
            <a:r>
              <a:rPr lang="pt-BR" sz="2000" dirty="0">
                <a:solidFill>
                  <a:srgbClr val="0070C0"/>
                </a:solidFill>
              </a:rPr>
              <a:t>cin</a:t>
            </a:r>
            <a:r>
              <a:rPr lang="pt-BR" sz="2000" dirty="0"/>
              <a:t> &gt;&gt; num2;</a:t>
            </a:r>
            <a:endParaRPr lang="pt-BR" sz="2000" dirty="0">
              <a:solidFill>
                <a:srgbClr val="00B050"/>
              </a:solidFill>
            </a:endParaRPr>
          </a:p>
          <a:p>
            <a:pPr lvl="1"/>
            <a:endParaRPr lang="pt-BR" sz="2000" dirty="0"/>
          </a:p>
          <a:p>
            <a:pPr lvl="1"/>
            <a:r>
              <a:rPr lang="pt-BR" sz="2000" dirty="0">
                <a:solidFill>
                  <a:srgbClr val="00B050"/>
                </a:solidFill>
              </a:rPr>
              <a:t>// test whether num1 is greater than num2</a:t>
            </a:r>
          </a:p>
          <a:p>
            <a:pPr lvl="1"/>
            <a:r>
              <a:rPr lang="pt-BR" sz="2000" dirty="0">
                <a:solidFill>
                  <a:schemeClr val="accent1"/>
                </a:solidFill>
              </a:rPr>
              <a:t>if</a:t>
            </a:r>
            <a:r>
              <a:rPr lang="pt-BR" sz="2000" dirty="0"/>
              <a:t> (num1 &gt; num2); </a:t>
            </a:r>
          </a:p>
          <a:p>
            <a:pPr lvl="1"/>
            <a:r>
              <a:rPr lang="en-ZA" sz="2000" dirty="0"/>
              <a:t>	larger = num1; </a:t>
            </a:r>
          </a:p>
          <a:p>
            <a:pPr lvl="1"/>
            <a:r>
              <a:rPr lang="en-ZA" sz="2000" dirty="0">
                <a:solidFill>
                  <a:schemeClr val="accent1"/>
                </a:solidFill>
              </a:rPr>
              <a:t>else</a:t>
            </a:r>
          </a:p>
          <a:p>
            <a:pPr lvl="1"/>
            <a:r>
              <a:rPr lang="en-ZA" sz="2000" dirty="0"/>
              <a:t>	larger = num2;</a:t>
            </a:r>
          </a:p>
          <a:p>
            <a:pPr lvl="1"/>
            <a:endParaRPr lang="en-ZA" sz="2000" dirty="0"/>
          </a:p>
          <a:p>
            <a:pPr lvl="1"/>
            <a:r>
              <a:rPr lang="en-ZA" sz="2000" dirty="0" err="1">
                <a:solidFill>
                  <a:schemeClr val="accent1"/>
                </a:solidFill>
              </a:rPr>
              <a:t>cout</a:t>
            </a:r>
            <a:r>
              <a:rPr lang="en-ZA" sz="2000" dirty="0"/>
              <a:t> &lt;&lt; “Large value = ” &lt;&lt; larger &lt;&lt; </a:t>
            </a:r>
            <a:r>
              <a:rPr lang="en-ZA" sz="2000" dirty="0" err="1">
                <a:solidFill>
                  <a:srgbClr val="0070C0"/>
                </a:solidFill>
              </a:rPr>
              <a:t>endl</a:t>
            </a:r>
            <a:r>
              <a:rPr lang="en-ZA" sz="2000" dirty="0"/>
              <a:t>;</a:t>
            </a:r>
          </a:p>
          <a:p>
            <a:pPr lvl="1"/>
            <a:endParaRPr lang="en-ZA" sz="2000" dirty="0"/>
          </a:p>
          <a:p>
            <a:pPr lvl="1"/>
            <a:r>
              <a:rPr lang="en-ZA" sz="2000" dirty="0">
                <a:solidFill>
                  <a:srgbClr val="0070C0"/>
                </a:solidFill>
              </a:rPr>
              <a:t>return 0</a:t>
            </a:r>
            <a:r>
              <a:rPr lang="en-ZA" sz="2000" dirty="0"/>
              <a:t>;</a:t>
            </a:r>
          </a:p>
          <a:p>
            <a:r>
              <a:rPr lang="en-ZA" sz="2000" dirty="0"/>
              <a:t>}</a:t>
            </a:r>
          </a:p>
        </p:txBody>
      </p:sp>
    </p:spTree>
    <p:extLst>
      <p:ext uri="{BB962C8B-B14F-4D97-AF65-F5344CB8AC3E}">
        <p14:creationId xmlns:p14="http://schemas.microsoft.com/office/powerpoint/2010/main" val="177967964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24C88E-6F0D-9FA8-ACD1-675D8A5A1503}"/>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D6AF6069-8E66-12EA-EA51-1225DC923A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E9A0CFBE-F466-EE54-7C5B-EE718E4D12E2}"/>
              </a:ext>
            </a:extLst>
          </p:cNvPr>
          <p:cNvSpPr txBox="1"/>
          <p:nvPr/>
        </p:nvSpPr>
        <p:spPr>
          <a:xfrm>
            <a:off x="0" y="65927"/>
            <a:ext cx="6858000" cy="646331"/>
          </a:xfrm>
          <a:prstGeom prst="rect">
            <a:avLst/>
          </a:prstGeom>
          <a:noFill/>
        </p:spPr>
        <p:txBody>
          <a:bodyPr wrap="square" rtlCol="0">
            <a:spAutoFit/>
          </a:bodyPr>
          <a:lstStyle/>
          <a:p>
            <a:pPr algn="ctr"/>
            <a:r>
              <a:rPr lang="en-US" sz="3600" b="1" dirty="0">
                <a:latin typeface="Arial" panose="020B0604020202020204" pitchFamily="34" charset="0"/>
                <a:cs typeface="Arial" panose="020B0604020202020204" pitchFamily="34" charset="0"/>
              </a:rPr>
              <a:t>If/Else</a:t>
            </a:r>
            <a:endParaRPr lang="en-ZA" sz="3600" b="1"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B82A9940-9957-231C-7F29-3C408D19E51D}"/>
              </a:ext>
            </a:extLst>
          </p:cNvPr>
          <p:cNvSpPr txBox="1"/>
          <p:nvPr/>
        </p:nvSpPr>
        <p:spPr>
          <a:xfrm>
            <a:off x="343850" y="2121264"/>
            <a:ext cx="6170299" cy="1200329"/>
          </a:xfrm>
          <a:prstGeom prst="rect">
            <a:avLst/>
          </a:prstGeom>
          <a:noFill/>
        </p:spPr>
        <p:txBody>
          <a:bodyPr wrap="square">
            <a:spAutoFit/>
          </a:bodyPr>
          <a:lstStyle/>
          <a:p>
            <a:r>
              <a:rPr lang="en-ZA" sz="2400" b="1" dirty="0"/>
              <a:t>Exercises:</a:t>
            </a:r>
          </a:p>
          <a:p>
            <a:endParaRPr lang="en-ZA" sz="2400" dirty="0"/>
          </a:p>
          <a:p>
            <a:endParaRPr lang="en-ZA" sz="2400" dirty="0"/>
          </a:p>
        </p:txBody>
      </p:sp>
    </p:spTree>
    <p:extLst>
      <p:ext uri="{BB962C8B-B14F-4D97-AF65-F5344CB8AC3E}">
        <p14:creationId xmlns:p14="http://schemas.microsoft.com/office/powerpoint/2010/main" val="83064523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2ECDB0-6A74-3370-B2A5-8A8F6DD3CE3A}"/>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4F951B5B-C58E-2E49-137C-D15AC35949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F5B4737D-9698-E7C8-DE48-564A7AC5BDC7}"/>
              </a:ext>
            </a:extLst>
          </p:cNvPr>
          <p:cNvSpPr txBox="1"/>
          <p:nvPr/>
        </p:nvSpPr>
        <p:spPr>
          <a:xfrm>
            <a:off x="0" y="65927"/>
            <a:ext cx="6858000" cy="646331"/>
          </a:xfrm>
          <a:prstGeom prst="rect">
            <a:avLst/>
          </a:prstGeom>
          <a:noFill/>
        </p:spPr>
        <p:txBody>
          <a:bodyPr wrap="square" rtlCol="0">
            <a:spAutoFit/>
          </a:bodyPr>
          <a:lstStyle/>
          <a:p>
            <a:pPr algn="ctr"/>
            <a:r>
              <a:rPr lang="en-US" sz="3600" b="1" dirty="0">
                <a:latin typeface="Arial" panose="020B0604020202020204" pitchFamily="34" charset="0"/>
                <a:cs typeface="Arial" panose="020B0604020202020204" pitchFamily="34" charset="0"/>
              </a:rPr>
              <a:t>Nested If/Else</a:t>
            </a:r>
            <a:endParaRPr lang="en-ZA" sz="3600" b="1" dirty="0">
              <a:latin typeface="Arial" panose="020B0604020202020204" pitchFamily="34" charset="0"/>
              <a:cs typeface="Arial" panose="020B0604020202020204" pitchFamily="34" charset="0"/>
            </a:endParaRPr>
          </a:p>
        </p:txBody>
      </p:sp>
      <p:sp>
        <p:nvSpPr>
          <p:cNvPr id="2" name="Content Placeholder 2">
            <a:extLst>
              <a:ext uri="{FF2B5EF4-FFF2-40B4-BE49-F238E27FC236}">
                <a16:creationId xmlns:a16="http://schemas.microsoft.com/office/drawing/2014/main" id="{C0D343F7-AE7E-EE96-5368-C602D710097C}"/>
              </a:ext>
            </a:extLst>
          </p:cNvPr>
          <p:cNvSpPr txBox="1">
            <a:spLocks/>
          </p:cNvSpPr>
          <p:nvPr/>
        </p:nvSpPr>
        <p:spPr>
          <a:xfrm>
            <a:off x="471488" y="2293257"/>
            <a:ext cx="5915025" cy="6966857"/>
          </a:xfrm>
          <a:prstGeom prst="rect">
            <a:avLst/>
          </a:prstGeom>
        </p:spPr>
        <p:txBody>
          <a:bodyPr vert="horz" lIns="91440" tIns="45720" rIns="91440" bIns="45720" rtlCol="0">
            <a:normAutofit fontScale="92500" lnSpcReduction="10000"/>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marL="127000" marR="5080" algn="l">
              <a:spcBef>
                <a:spcPts val="430"/>
              </a:spcBef>
              <a:tabLst>
                <a:tab pos="354965" algn="l"/>
                <a:tab pos="355600" algn="l"/>
              </a:tabLst>
            </a:pPr>
            <a:r>
              <a:rPr lang="en-US" altLang="en-US" sz="2600" dirty="0"/>
              <a:t>Also called </a:t>
            </a:r>
            <a:r>
              <a:rPr lang="en-ZA" sz="2600" b="1" dirty="0"/>
              <a:t>Multiway </a:t>
            </a:r>
            <a:r>
              <a:rPr lang="en-ZA" sz="2600" b="1" i="1" dirty="0"/>
              <a:t>if-else </a:t>
            </a:r>
            <a:r>
              <a:rPr lang="en-ZA" sz="2600" b="1" dirty="0"/>
              <a:t>Statements.</a:t>
            </a:r>
          </a:p>
          <a:p>
            <a:pPr marL="355600" marR="5080" indent="-228600" algn="l">
              <a:spcBef>
                <a:spcPts val="430"/>
              </a:spcBef>
              <a:buFont typeface="Arial" panose="020B0604020202020204" pitchFamily="34" charset="0"/>
              <a:buChar char="•"/>
              <a:tabLst>
                <a:tab pos="354965" algn="l"/>
                <a:tab pos="355600" algn="l"/>
              </a:tabLst>
            </a:pPr>
            <a:endParaRPr lang="en-US" altLang="en-US" sz="2800" dirty="0"/>
          </a:p>
          <a:p>
            <a:pPr algn="l"/>
            <a:r>
              <a:rPr lang="en-US" sz="2800" dirty="0"/>
              <a:t>An </a:t>
            </a:r>
            <a:r>
              <a:rPr lang="en-US" sz="2800" b="1" i="1" dirty="0"/>
              <a:t>if-else</a:t>
            </a:r>
            <a:r>
              <a:rPr lang="en-US" sz="2800" i="1" dirty="0"/>
              <a:t> </a:t>
            </a:r>
            <a:r>
              <a:rPr lang="en-US" sz="2800" dirty="0"/>
              <a:t>statement is a two-way branch. It allows a program to choose one </a:t>
            </a:r>
            <a:r>
              <a:rPr lang="en-ZA" sz="2800" dirty="0"/>
              <a:t>of two possible actions.</a:t>
            </a:r>
            <a:endParaRPr lang="en-US" altLang="en-US" sz="2800" dirty="0"/>
          </a:p>
          <a:p>
            <a:pPr marL="355600" marR="5080" indent="-228600" algn="l">
              <a:spcBef>
                <a:spcPts val="430"/>
              </a:spcBef>
              <a:buFont typeface="Arial" panose="020B0604020202020204" pitchFamily="34" charset="0"/>
              <a:buChar char="•"/>
              <a:tabLst>
                <a:tab pos="354965" algn="l"/>
                <a:tab pos="355600" algn="l"/>
              </a:tabLst>
            </a:pPr>
            <a:endParaRPr lang="en-US" altLang="en-US" sz="2800" dirty="0"/>
          </a:p>
          <a:p>
            <a:pPr algn="l"/>
            <a:r>
              <a:rPr lang="en-US" sz="2800" dirty="0"/>
              <a:t>Often you will want to have a three- or four-way branch so that your program can choose between more than two alternative actions. You can implement such </a:t>
            </a:r>
            <a:r>
              <a:rPr lang="en-US" sz="2800" b="1" dirty="0"/>
              <a:t>multiway branches by nesting </a:t>
            </a:r>
            <a:r>
              <a:rPr lang="en-US" sz="2800" b="1" i="1" dirty="0"/>
              <a:t>if-else </a:t>
            </a:r>
            <a:r>
              <a:rPr lang="en-US" sz="2800" b="1" dirty="0"/>
              <a:t>statements</a:t>
            </a:r>
            <a:r>
              <a:rPr lang="en-US" sz="2800" dirty="0"/>
              <a:t>.</a:t>
            </a:r>
            <a:endParaRPr lang="en-US" altLang="en-US" sz="2800" dirty="0"/>
          </a:p>
          <a:p>
            <a:pPr marL="469900" marR="2096770" indent="-228600">
              <a:spcBef>
                <a:spcPts val="1550"/>
              </a:spcBef>
              <a:buFont typeface="Arial" panose="020B0604020202020204" pitchFamily="34" charset="0"/>
              <a:buChar char="•"/>
            </a:pPr>
            <a:r>
              <a:rPr lang="en-US" sz="2800" dirty="0"/>
              <a:t>“</a:t>
            </a:r>
            <a:r>
              <a:rPr lang="en-US" sz="2800" b="1" dirty="0"/>
              <a:t>If</a:t>
            </a:r>
            <a:r>
              <a:rPr lang="en-US" sz="2800" dirty="0"/>
              <a:t> </a:t>
            </a:r>
            <a:r>
              <a:rPr lang="en-US" sz="2800" spc="-5" dirty="0"/>
              <a:t>it is </a:t>
            </a:r>
            <a:r>
              <a:rPr lang="en-US" sz="2800" dirty="0"/>
              <a:t>raining, take </a:t>
            </a:r>
            <a:r>
              <a:rPr lang="en-US" sz="2800" spc="-5" dirty="0"/>
              <a:t>an </a:t>
            </a:r>
            <a:r>
              <a:rPr lang="en-US" sz="2800" dirty="0"/>
              <a:t>umbrella, </a:t>
            </a:r>
            <a:r>
              <a:rPr lang="en-US" sz="2800" spc="-765" dirty="0"/>
              <a:t> </a:t>
            </a:r>
          </a:p>
          <a:p>
            <a:pPr marL="469900" marR="2096770" indent="-228600">
              <a:spcBef>
                <a:spcPts val="1550"/>
              </a:spcBef>
              <a:buFont typeface="Arial" panose="020B0604020202020204" pitchFamily="34" charset="0"/>
              <a:buChar char="•"/>
            </a:pPr>
            <a:r>
              <a:rPr lang="en-US" sz="2800" b="1" dirty="0"/>
              <a:t>else</a:t>
            </a:r>
            <a:r>
              <a:rPr lang="en-US" sz="2800" dirty="0"/>
              <a:t>,</a:t>
            </a:r>
            <a:r>
              <a:rPr lang="en-US" sz="2800" spc="-15" dirty="0"/>
              <a:t> </a:t>
            </a:r>
            <a:r>
              <a:rPr lang="en-US" sz="2800" spc="-5" dirty="0"/>
              <a:t>if</a:t>
            </a:r>
            <a:r>
              <a:rPr lang="en-US" sz="2800" dirty="0"/>
              <a:t> </a:t>
            </a:r>
            <a:r>
              <a:rPr lang="en-US" sz="2800" spc="-5" dirty="0"/>
              <a:t>it</a:t>
            </a:r>
            <a:r>
              <a:rPr lang="en-US" sz="2800" spc="-10" dirty="0"/>
              <a:t> </a:t>
            </a:r>
            <a:r>
              <a:rPr lang="en-US" sz="2800" spc="-5" dirty="0"/>
              <a:t>is</a:t>
            </a:r>
            <a:r>
              <a:rPr lang="en-US" sz="2800" spc="-10" dirty="0"/>
              <a:t> </a:t>
            </a:r>
            <a:r>
              <a:rPr lang="en-US" sz="2800" spc="-5" dirty="0"/>
              <a:t>windy,</a:t>
            </a:r>
            <a:r>
              <a:rPr lang="en-US" sz="2800" dirty="0"/>
              <a:t> take </a:t>
            </a:r>
            <a:r>
              <a:rPr lang="en-US" sz="2800" spc="-5" dirty="0"/>
              <a:t>a</a:t>
            </a:r>
            <a:r>
              <a:rPr lang="en-US" sz="2800" spc="-10" dirty="0"/>
              <a:t> </a:t>
            </a:r>
            <a:r>
              <a:rPr lang="en-US" sz="2800" dirty="0"/>
              <a:t>hat.</a:t>
            </a:r>
          </a:p>
          <a:p>
            <a:pPr marL="469900" indent="-228600">
              <a:buFont typeface="Arial" panose="020B0604020202020204" pitchFamily="34" charset="0"/>
              <a:buChar char="•"/>
            </a:pPr>
            <a:r>
              <a:rPr lang="en-US" sz="2800" b="1" dirty="0"/>
              <a:t>else,</a:t>
            </a:r>
            <a:r>
              <a:rPr lang="en-US" sz="2800" b="1" spc="-20" dirty="0"/>
              <a:t> </a:t>
            </a:r>
            <a:r>
              <a:rPr lang="en-US" sz="2800" b="1" spc="-5" dirty="0"/>
              <a:t>if</a:t>
            </a:r>
            <a:r>
              <a:rPr lang="en-US" sz="2800" dirty="0"/>
              <a:t> </a:t>
            </a:r>
            <a:r>
              <a:rPr lang="en-US" sz="2800" spc="-5" dirty="0"/>
              <a:t>it</a:t>
            </a:r>
            <a:r>
              <a:rPr lang="en-US" sz="2800" spc="-15" dirty="0"/>
              <a:t> </a:t>
            </a:r>
            <a:r>
              <a:rPr lang="en-US" sz="2800" spc="-5" dirty="0"/>
              <a:t>is</a:t>
            </a:r>
            <a:r>
              <a:rPr lang="en-US" sz="2800" spc="-10" dirty="0"/>
              <a:t> </a:t>
            </a:r>
            <a:r>
              <a:rPr lang="en-US" sz="2800" dirty="0"/>
              <a:t>sunny,</a:t>
            </a:r>
            <a:r>
              <a:rPr lang="en-US" sz="2800" spc="-15" dirty="0"/>
              <a:t> </a:t>
            </a:r>
            <a:r>
              <a:rPr lang="en-US" sz="2800" dirty="0"/>
              <a:t>take sunglasses.</a:t>
            </a:r>
          </a:p>
          <a:p>
            <a:pPr marL="469900" indent="-228600">
              <a:buFont typeface="Arial" panose="020B0604020202020204" pitchFamily="34" charset="0"/>
              <a:buChar char="•"/>
            </a:pPr>
            <a:r>
              <a:rPr lang="en-US" sz="2800" b="1" dirty="0"/>
              <a:t>else</a:t>
            </a:r>
            <a:r>
              <a:rPr lang="en-US" sz="2800" dirty="0"/>
              <a:t>, never mind.”</a:t>
            </a:r>
            <a:endParaRPr lang="en-US" sz="2800" b="1" dirty="0"/>
          </a:p>
          <a:p>
            <a:pPr marL="457200" indent="-457200" algn="l">
              <a:buFont typeface="+mj-lt"/>
              <a:buAutoNum type="arabicPeriod"/>
            </a:pPr>
            <a:endParaRPr lang="en-US" sz="2800" b="1" dirty="0"/>
          </a:p>
          <a:p>
            <a:pPr marL="285750" indent="-285750">
              <a:buFont typeface="Arial" panose="020B0604020202020204" pitchFamily="34" charset="0"/>
              <a:buChar char="•"/>
            </a:pPr>
            <a:endParaRPr lang="en-US" sz="2400" b="1" dirty="0"/>
          </a:p>
        </p:txBody>
      </p:sp>
    </p:spTree>
    <p:extLst>
      <p:ext uri="{BB962C8B-B14F-4D97-AF65-F5344CB8AC3E}">
        <p14:creationId xmlns:p14="http://schemas.microsoft.com/office/powerpoint/2010/main" val="209589624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7AE6F8-72A6-78F7-9093-17C4E92746D4}"/>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081D6178-DD02-DAFF-BE2F-2D333407F78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18BFDCC3-E7BC-CA48-74F9-4E85D0220769}"/>
              </a:ext>
            </a:extLst>
          </p:cNvPr>
          <p:cNvSpPr txBox="1"/>
          <p:nvPr/>
        </p:nvSpPr>
        <p:spPr>
          <a:xfrm>
            <a:off x="0" y="65927"/>
            <a:ext cx="6858000" cy="646331"/>
          </a:xfrm>
          <a:prstGeom prst="rect">
            <a:avLst/>
          </a:prstGeom>
          <a:noFill/>
        </p:spPr>
        <p:txBody>
          <a:bodyPr wrap="square" rtlCol="0">
            <a:spAutoFit/>
          </a:bodyPr>
          <a:lstStyle/>
          <a:p>
            <a:pPr algn="ctr"/>
            <a:r>
              <a:rPr lang="en-US" sz="3600" b="1" dirty="0">
                <a:latin typeface="Arial" panose="020B0604020202020204" pitchFamily="34" charset="0"/>
                <a:cs typeface="Arial" panose="020B0604020202020204" pitchFamily="34" charset="0"/>
              </a:rPr>
              <a:t>Nested If/Else</a:t>
            </a:r>
            <a:endParaRPr lang="en-ZA" sz="3600" b="1" dirty="0">
              <a:latin typeface="Arial" panose="020B0604020202020204" pitchFamily="34" charset="0"/>
              <a:cs typeface="Arial" panose="020B0604020202020204" pitchFamily="34" charset="0"/>
            </a:endParaRPr>
          </a:p>
        </p:txBody>
      </p:sp>
      <p:pic>
        <p:nvPicPr>
          <p:cNvPr id="2" name="Picture 1">
            <a:extLst>
              <a:ext uri="{FF2B5EF4-FFF2-40B4-BE49-F238E27FC236}">
                <a16:creationId xmlns:a16="http://schemas.microsoft.com/office/drawing/2014/main" id="{52025FE0-0D0E-CDEF-E516-F4A5A979A861}"/>
              </a:ext>
            </a:extLst>
          </p:cNvPr>
          <p:cNvPicPr>
            <a:picLocks noChangeAspect="1"/>
          </p:cNvPicPr>
          <p:nvPr/>
        </p:nvPicPr>
        <p:blipFill rotWithShape="1">
          <a:blip r:embed="rId3"/>
          <a:srcRect l="2259" r="7553" b="-3"/>
          <a:stretch/>
        </p:blipFill>
        <p:spPr>
          <a:xfrm>
            <a:off x="343850" y="5450304"/>
            <a:ext cx="6170299" cy="3727503"/>
          </a:xfrm>
          <a:prstGeom prst="rect">
            <a:avLst/>
          </a:prstGeom>
        </p:spPr>
      </p:pic>
      <p:sp>
        <p:nvSpPr>
          <p:cNvPr id="6" name="TextBox 5">
            <a:extLst>
              <a:ext uri="{FF2B5EF4-FFF2-40B4-BE49-F238E27FC236}">
                <a16:creationId xmlns:a16="http://schemas.microsoft.com/office/drawing/2014/main" id="{D3E26721-373C-EECE-E9D7-3019EA5B2C28}"/>
              </a:ext>
            </a:extLst>
          </p:cNvPr>
          <p:cNvSpPr txBox="1"/>
          <p:nvPr/>
        </p:nvSpPr>
        <p:spPr>
          <a:xfrm>
            <a:off x="1191126" y="1952445"/>
            <a:ext cx="3998648" cy="3477875"/>
          </a:xfrm>
          <a:prstGeom prst="rect">
            <a:avLst/>
          </a:prstGeom>
          <a:noFill/>
        </p:spPr>
        <p:txBody>
          <a:bodyPr wrap="square">
            <a:spAutoFit/>
          </a:bodyPr>
          <a:lstStyle/>
          <a:p>
            <a:pPr algn="l"/>
            <a:r>
              <a:rPr lang="en-ZA" sz="2000" dirty="0" err="1">
                <a:solidFill>
                  <a:schemeClr val="accent1"/>
                </a:solidFill>
                <a:latin typeface="ArialMonoMTPro-Oblique"/>
              </a:rPr>
              <a:t>const</a:t>
            </a:r>
            <a:r>
              <a:rPr lang="en-ZA" sz="2000" dirty="0">
                <a:solidFill>
                  <a:schemeClr val="accent1"/>
                </a:solidFill>
                <a:latin typeface="ArialMonoMTPro-Oblique"/>
              </a:rPr>
              <a:t> int number = 45;</a:t>
            </a:r>
          </a:p>
          <a:p>
            <a:pPr algn="l"/>
            <a:r>
              <a:rPr lang="en-ZA" sz="2000" dirty="0">
                <a:solidFill>
                  <a:schemeClr val="accent1"/>
                </a:solidFill>
                <a:latin typeface="ArialMonoMTPro-Oblique"/>
              </a:rPr>
              <a:t>int guess;</a:t>
            </a:r>
          </a:p>
          <a:p>
            <a:pPr algn="l"/>
            <a:r>
              <a:rPr lang="en-ZA" sz="2000" dirty="0" err="1">
                <a:solidFill>
                  <a:schemeClr val="accent1"/>
                </a:solidFill>
                <a:latin typeface="ArialMonoMTPro-Oblique"/>
              </a:rPr>
              <a:t>cin</a:t>
            </a:r>
            <a:r>
              <a:rPr lang="en-ZA" sz="2000" dirty="0">
                <a:latin typeface="ArialMonoMTPro-Oblique"/>
              </a:rPr>
              <a:t> &gt;&gt; guess;</a:t>
            </a:r>
            <a:endParaRPr lang="en-ZA" sz="2000" b="0" u="none" strike="noStrike" baseline="0" dirty="0">
              <a:latin typeface="ArialMonoMTPro-Oblique"/>
            </a:endParaRPr>
          </a:p>
          <a:p>
            <a:pPr algn="l"/>
            <a:r>
              <a:rPr lang="en-ZA" sz="2000" b="0" i="1" u="none" strike="noStrike" baseline="0" dirty="0">
                <a:solidFill>
                  <a:schemeClr val="accent1"/>
                </a:solidFill>
                <a:latin typeface="ArialMonoMTPro-Oblique"/>
              </a:rPr>
              <a:t>if </a:t>
            </a:r>
            <a:r>
              <a:rPr lang="en-ZA" sz="2000" b="0" i="0" u="none" strike="noStrike" baseline="0" dirty="0">
                <a:solidFill>
                  <a:srgbClr val="000000"/>
                </a:solidFill>
                <a:latin typeface="ArialMonoMTPro"/>
              </a:rPr>
              <a:t>(guess &gt; number)</a:t>
            </a:r>
          </a:p>
          <a:p>
            <a:pPr algn="l"/>
            <a:r>
              <a:rPr lang="en-ZA" sz="2000" b="0" i="0" u="none" strike="noStrike" baseline="0" dirty="0">
                <a:solidFill>
                  <a:srgbClr val="000000"/>
                </a:solidFill>
                <a:latin typeface="ArialMonoMTPro"/>
              </a:rPr>
              <a:t>	</a:t>
            </a:r>
            <a:r>
              <a:rPr lang="en-ZA" sz="2000" b="0" i="0" u="none" strike="noStrike" baseline="0" dirty="0" err="1">
                <a:solidFill>
                  <a:srgbClr val="000000"/>
                </a:solidFill>
                <a:latin typeface="ArialMonoMTPro"/>
              </a:rPr>
              <a:t>cout</a:t>
            </a:r>
            <a:r>
              <a:rPr lang="en-ZA" sz="2000" b="0" i="0" u="none" strike="noStrike" baseline="0" dirty="0">
                <a:solidFill>
                  <a:srgbClr val="000000"/>
                </a:solidFill>
                <a:latin typeface="ArialMonoMTPro"/>
              </a:rPr>
              <a:t> &lt;&lt; "Too high.";</a:t>
            </a:r>
          </a:p>
          <a:p>
            <a:pPr algn="l"/>
            <a:r>
              <a:rPr lang="en-ZA" sz="2000" b="0" i="1" u="none" strike="noStrike" baseline="0" dirty="0">
                <a:solidFill>
                  <a:schemeClr val="accent1"/>
                </a:solidFill>
                <a:latin typeface="ArialMonoMTPro-Oblique"/>
              </a:rPr>
              <a:t>else if</a:t>
            </a:r>
            <a:r>
              <a:rPr lang="en-ZA" sz="2000" b="0" i="1" u="none" strike="noStrike" baseline="0" dirty="0">
                <a:solidFill>
                  <a:srgbClr val="00AEF0"/>
                </a:solidFill>
                <a:latin typeface="ArialMonoMTPro-Oblique"/>
              </a:rPr>
              <a:t> </a:t>
            </a:r>
            <a:r>
              <a:rPr lang="en-ZA" sz="2000" b="0" i="0" u="none" strike="noStrike" baseline="0" dirty="0">
                <a:solidFill>
                  <a:srgbClr val="000000"/>
                </a:solidFill>
                <a:latin typeface="ArialMonoMTPro"/>
              </a:rPr>
              <a:t>(guess &lt; number)</a:t>
            </a:r>
          </a:p>
          <a:p>
            <a:pPr algn="l"/>
            <a:r>
              <a:rPr lang="en-ZA" sz="2000" b="0" i="0" u="none" strike="noStrike" baseline="0" dirty="0">
                <a:solidFill>
                  <a:srgbClr val="000000"/>
                </a:solidFill>
                <a:latin typeface="ArialMonoMTPro"/>
              </a:rPr>
              <a:t>	</a:t>
            </a:r>
            <a:r>
              <a:rPr lang="en-ZA" sz="2000" b="0" i="0" u="none" strike="noStrike" baseline="0" dirty="0" err="1">
                <a:solidFill>
                  <a:srgbClr val="000000"/>
                </a:solidFill>
                <a:latin typeface="ArialMonoMTPro"/>
              </a:rPr>
              <a:t>cout</a:t>
            </a:r>
            <a:r>
              <a:rPr lang="en-ZA" sz="2000" b="0" i="0" u="none" strike="noStrike" baseline="0" dirty="0">
                <a:solidFill>
                  <a:srgbClr val="000000"/>
                </a:solidFill>
                <a:latin typeface="ArialMonoMTPro"/>
              </a:rPr>
              <a:t> &lt;&lt; "Too low.";</a:t>
            </a:r>
          </a:p>
          <a:p>
            <a:pPr algn="l"/>
            <a:r>
              <a:rPr lang="en-ZA" sz="2000" b="0" i="1" u="none" strike="noStrike" baseline="0" dirty="0">
                <a:solidFill>
                  <a:schemeClr val="accent1"/>
                </a:solidFill>
                <a:latin typeface="ArialMonoMTPro-Oblique"/>
              </a:rPr>
              <a:t>else if</a:t>
            </a:r>
            <a:r>
              <a:rPr lang="en-ZA" sz="2000" b="0" i="1" u="none" strike="noStrike" baseline="0" dirty="0">
                <a:solidFill>
                  <a:srgbClr val="00AEF0"/>
                </a:solidFill>
                <a:latin typeface="ArialMonoMTPro-Oblique"/>
              </a:rPr>
              <a:t> </a:t>
            </a:r>
            <a:r>
              <a:rPr lang="en-ZA" sz="2000" b="0" i="0" u="none" strike="noStrike" baseline="0" dirty="0">
                <a:solidFill>
                  <a:srgbClr val="000000"/>
                </a:solidFill>
                <a:latin typeface="ArialMonoMTPro"/>
              </a:rPr>
              <a:t>(guess == number)</a:t>
            </a:r>
          </a:p>
          <a:p>
            <a:pPr algn="l"/>
            <a:r>
              <a:rPr lang="en-ZA" sz="2000" b="0" i="0" u="none" strike="noStrike" baseline="0" dirty="0">
                <a:solidFill>
                  <a:srgbClr val="000000"/>
                </a:solidFill>
                <a:latin typeface="ArialMonoMTPro"/>
              </a:rPr>
              <a:t>	</a:t>
            </a:r>
            <a:r>
              <a:rPr lang="en-ZA" sz="2000" b="0" i="0" u="none" strike="noStrike" baseline="0" dirty="0" err="1">
                <a:solidFill>
                  <a:srgbClr val="000000"/>
                </a:solidFill>
                <a:latin typeface="ArialMonoMTPro"/>
              </a:rPr>
              <a:t>cout</a:t>
            </a:r>
            <a:r>
              <a:rPr lang="en-ZA" sz="2000" b="0" i="0" u="none" strike="noStrike" baseline="0" dirty="0">
                <a:solidFill>
                  <a:srgbClr val="000000"/>
                </a:solidFill>
                <a:latin typeface="ArialMonoMTPro"/>
              </a:rPr>
              <a:t> &lt;&lt; "Correct!";</a:t>
            </a:r>
          </a:p>
          <a:p>
            <a:pPr algn="l"/>
            <a:r>
              <a:rPr lang="en-ZA" sz="2000" i="1" dirty="0">
                <a:solidFill>
                  <a:schemeClr val="accent1"/>
                </a:solidFill>
                <a:latin typeface="ArialMonoMTPro-Oblique"/>
              </a:rPr>
              <a:t>else</a:t>
            </a:r>
          </a:p>
          <a:p>
            <a:r>
              <a:rPr lang="en-ZA" sz="2000" dirty="0">
                <a:solidFill>
                  <a:srgbClr val="000000"/>
                </a:solidFill>
                <a:latin typeface="ArialMonoMTPro"/>
              </a:rPr>
              <a:t>	</a:t>
            </a:r>
            <a:r>
              <a:rPr lang="en-ZA" sz="2000" dirty="0" err="1">
                <a:solidFill>
                  <a:srgbClr val="000000"/>
                </a:solidFill>
                <a:latin typeface="ArialMonoMTPro"/>
              </a:rPr>
              <a:t>cout</a:t>
            </a:r>
            <a:r>
              <a:rPr lang="en-ZA" sz="2000" dirty="0">
                <a:solidFill>
                  <a:srgbClr val="000000"/>
                </a:solidFill>
                <a:latin typeface="ArialMonoMTPro"/>
              </a:rPr>
              <a:t> &lt;&lt; "Correct!";</a:t>
            </a:r>
            <a:endParaRPr lang="en-ZA" sz="2000" b="0" i="0" u="none" strike="noStrike" baseline="0" dirty="0">
              <a:solidFill>
                <a:srgbClr val="000000"/>
              </a:solidFill>
              <a:latin typeface="ArialMonoMTPro"/>
            </a:endParaRPr>
          </a:p>
        </p:txBody>
      </p:sp>
    </p:spTree>
    <p:extLst>
      <p:ext uri="{BB962C8B-B14F-4D97-AF65-F5344CB8AC3E}">
        <p14:creationId xmlns:p14="http://schemas.microsoft.com/office/powerpoint/2010/main" val="330712006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CB26E3-6499-4591-B74E-183C243495C1}"/>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C138027C-889A-B817-3F22-2AA5127AED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83944549-766E-ED3D-4391-9E9C47833B27}"/>
              </a:ext>
            </a:extLst>
          </p:cNvPr>
          <p:cNvSpPr txBox="1"/>
          <p:nvPr/>
        </p:nvSpPr>
        <p:spPr>
          <a:xfrm>
            <a:off x="0" y="65927"/>
            <a:ext cx="6858000" cy="646331"/>
          </a:xfrm>
          <a:prstGeom prst="rect">
            <a:avLst/>
          </a:prstGeom>
          <a:noFill/>
        </p:spPr>
        <p:txBody>
          <a:bodyPr wrap="square" rtlCol="0">
            <a:spAutoFit/>
          </a:bodyPr>
          <a:lstStyle/>
          <a:p>
            <a:pPr algn="ctr"/>
            <a:r>
              <a:rPr lang="en-US" sz="3600" b="1" dirty="0">
                <a:latin typeface="Arial" panose="020B0604020202020204" pitchFamily="34" charset="0"/>
                <a:cs typeface="Arial" panose="020B0604020202020204" pitchFamily="34" charset="0"/>
              </a:rPr>
              <a:t>Nested If/Else</a:t>
            </a:r>
            <a:endParaRPr lang="en-ZA" sz="3600" b="1"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E8E23F7F-AFEB-327E-9ED6-7AE3B31DE0A8}"/>
              </a:ext>
            </a:extLst>
          </p:cNvPr>
          <p:cNvSpPr txBox="1"/>
          <p:nvPr/>
        </p:nvSpPr>
        <p:spPr>
          <a:xfrm>
            <a:off x="276726" y="2202071"/>
            <a:ext cx="6184232" cy="7232749"/>
          </a:xfrm>
          <a:prstGeom prst="rect">
            <a:avLst/>
          </a:prstGeom>
          <a:noFill/>
        </p:spPr>
        <p:txBody>
          <a:bodyPr wrap="square">
            <a:spAutoFit/>
          </a:bodyPr>
          <a:lstStyle/>
          <a:p>
            <a:r>
              <a:rPr lang="en-ZA" sz="2400" b="1" dirty="0"/>
              <a:t>Example:</a:t>
            </a:r>
          </a:p>
          <a:p>
            <a:endParaRPr lang="en-ZA" sz="2400" dirty="0"/>
          </a:p>
          <a:p>
            <a:r>
              <a:rPr lang="en-ZA" sz="1600" dirty="0">
                <a:solidFill>
                  <a:srgbClr val="0070C0"/>
                </a:solidFill>
              </a:rPr>
              <a:t>int</a:t>
            </a:r>
            <a:r>
              <a:rPr lang="en-ZA" sz="1600" dirty="0"/>
              <a:t> main()</a:t>
            </a:r>
          </a:p>
          <a:p>
            <a:r>
              <a:rPr lang="en-ZA" sz="1600" dirty="0"/>
              <a:t>{</a:t>
            </a:r>
          </a:p>
          <a:p>
            <a:r>
              <a:rPr lang="en-ZA" sz="1600" dirty="0"/>
              <a:t> 	</a:t>
            </a:r>
            <a:r>
              <a:rPr lang="pt-BR" sz="1600" dirty="0">
                <a:solidFill>
                  <a:srgbClr val="00B050"/>
                </a:solidFill>
              </a:rPr>
              <a:t>//declare a variables</a:t>
            </a:r>
            <a:endParaRPr lang="en-ZA" sz="1600" dirty="0"/>
          </a:p>
          <a:p>
            <a:pPr lvl="1"/>
            <a:r>
              <a:rPr lang="pt-BR" sz="1600" dirty="0"/>
              <a:t>int test1Score; char grade; </a:t>
            </a:r>
            <a:endParaRPr lang="pt-BR" sz="1600" dirty="0">
              <a:solidFill>
                <a:srgbClr val="00B050"/>
              </a:solidFill>
            </a:endParaRPr>
          </a:p>
          <a:p>
            <a:pPr lvl="1"/>
            <a:endParaRPr lang="pt-BR" sz="1600" dirty="0"/>
          </a:p>
          <a:p>
            <a:pPr lvl="1"/>
            <a:r>
              <a:rPr lang="pt-BR" sz="1600" dirty="0">
                <a:solidFill>
                  <a:srgbClr val="0070C0"/>
                </a:solidFill>
              </a:rPr>
              <a:t>cout</a:t>
            </a:r>
            <a:r>
              <a:rPr lang="pt-BR" sz="1600" dirty="0"/>
              <a:t> &lt;&lt; “Enter score: ”;</a:t>
            </a:r>
          </a:p>
          <a:p>
            <a:pPr lvl="1"/>
            <a:r>
              <a:rPr lang="pt-BR" sz="1600" dirty="0">
                <a:solidFill>
                  <a:srgbClr val="0070C0"/>
                </a:solidFill>
              </a:rPr>
              <a:t>cin</a:t>
            </a:r>
            <a:r>
              <a:rPr lang="pt-BR" sz="1600" dirty="0"/>
              <a:t> &gt;&gt; test1Score;</a:t>
            </a:r>
          </a:p>
          <a:p>
            <a:pPr lvl="1"/>
            <a:endParaRPr lang="pt-BR" sz="1600" dirty="0"/>
          </a:p>
          <a:p>
            <a:pPr lvl="1"/>
            <a:r>
              <a:rPr lang="pt-BR" sz="1600" dirty="0">
                <a:solidFill>
                  <a:srgbClr val="00B050"/>
                </a:solidFill>
              </a:rPr>
              <a:t>// test whether test1Score is greater than 60</a:t>
            </a:r>
          </a:p>
          <a:p>
            <a:pPr lvl="1"/>
            <a:r>
              <a:rPr lang="pt-BR" sz="1600" dirty="0">
                <a:solidFill>
                  <a:schemeClr val="accent1"/>
                </a:solidFill>
              </a:rPr>
              <a:t>if</a:t>
            </a:r>
            <a:r>
              <a:rPr lang="pt-BR" sz="1600" dirty="0"/>
              <a:t> (test1Score &gt;= 80 || test1Score &lt;= 100); </a:t>
            </a:r>
          </a:p>
          <a:p>
            <a:pPr lvl="1"/>
            <a:r>
              <a:rPr lang="en-ZA" sz="1600" dirty="0"/>
              <a:t>	grade = ‘A’; </a:t>
            </a:r>
          </a:p>
          <a:p>
            <a:pPr lvl="1"/>
            <a:r>
              <a:rPr lang="pt-BR" sz="1600" dirty="0">
                <a:solidFill>
                  <a:schemeClr val="accent1"/>
                </a:solidFill>
              </a:rPr>
              <a:t>else if</a:t>
            </a:r>
            <a:r>
              <a:rPr lang="pt-BR" sz="1600" dirty="0"/>
              <a:t> (test1Score &gt;= 70); </a:t>
            </a:r>
          </a:p>
          <a:p>
            <a:pPr lvl="1"/>
            <a:r>
              <a:rPr lang="en-ZA" sz="1600" dirty="0"/>
              <a:t>	grade = ‘B’; </a:t>
            </a:r>
          </a:p>
          <a:p>
            <a:pPr lvl="1"/>
            <a:r>
              <a:rPr lang="pt-BR" sz="1600" dirty="0">
                <a:solidFill>
                  <a:schemeClr val="accent1"/>
                </a:solidFill>
              </a:rPr>
              <a:t>else if</a:t>
            </a:r>
            <a:r>
              <a:rPr lang="pt-BR" sz="1600" dirty="0"/>
              <a:t> (test1Score &gt;= 60); </a:t>
            </a:r>
          </a:p>
          <a:p>
            <a:pPr lvl="1"/>
            <a:r>
              <a:rPr lang="en-ZA" sz="1600" dirty="0"/>
              <a:t>	grade = ‘C’; </a:t>
            </a:r>
          </a:p>
          <a:p>
            <a:pPr lvl="1"/>
            <a:r>
              <a:rPr lang="pt-BR" sz="1600" dirty="0">
                <a:solidFill>
                  <a:schemeClr val="accent1"/>
                </a:solidFill>
              </a:rPr>
              <a:t>else if</a:t>
            </a:r>
            <a:r>
              <a:rPr lang="pt-BR" sz="1600" dirty="0"/>
              <a:t> (test1Score &gt;= 50); </a:t>
            </a:r>
          </a:p>
          <a:p>
            <a:pPr lvl="1"/>
            <a:r>
              <a:rPr lang="en-ZA" sz="1600" dirty="0"/>
              <a:t>	grade = ‘D’; </a:t>
            </a:r>
          </a:p>
          <a:p>
            <a:pPr lvl="1"/>
            <a:r>
              <a:rPr lang="pt-BR" sz="1600" dirty="0">
                <a:solidFill>
                  <a:schemeClr val="accent1"/>
                </a:solidFill>
              </a:rPr>
              <a:t>else</a:t>
            </a:r>
          </a:p>
          <a:p>
            <a:pPr lvl="1"/>
            <a:r>
              <a:rPr lang="en-ZA" sz="1600" dirty="0"/>
              <a:t>	grade = ‘H’; </a:t>
            </a:r>
          </a:p>
          <a:p>
            <a:pPr lvl="1"/>
            <a:endParaRPr lang="en-ZA" sz="1600" dirty="0"/>
          </a:p>
          <a:p>
            <a:pPr lvl="1"/>
            <a:r>
              <a:rPr lang="en-ZA" sz="1600" dirty="0">
                <a:solidFill>
                  <a:srgbClr val="00B050"/>
                </a:solidFill>
              </a:rPr>
              <a:t>// display results</a:t>
            </a:r>
          </a:p>
          <a:p>
            <a:pPr lvl="1"/>
            <a:r>
              <a:rPr lang="en-ZA" sz="1600" dirty="0" err="1">
                <a:solidFill>
                  <a:schemeClr val="accent1"/>
                </a:solidFill>
              </a:rPr>
              <a:t>cout</a:t>
            </a:r>
            <a:r>
              <a:rPr lang="en-ZA" sz="1600" dirty="0"/>
              <a:t> &lt;&lt; “Test 1 score = ” &lt;&lt; test1Score &lt;&lt; “ and obtained grade” &lt;&lt; grade &lt;&lt; </a:t>
            </a:r>
            <a:r>
              <a:rPr lang="en-ZA" sz="1600" dirty="0" err="1">
                <a:solidFill>
                  <a:srgbClr val="0070C0"/>
                </a:solidFill>
              </a:rPr>
              <a:t>endl</a:t>
            </a:r>
            <a:r>
              <a:rPr lang="en-ZA" sz="1600" dirty="0"/>
              <a:t>;</a:t>
            </a:r>
          </a:p>
          <a:p>
            <a:pPr lvl="1"/>
            <a:endParaRPr lang="en-ZA" sz="1600" dirty="0"/>
          </a:p>
          <a:p>
            <a:pPr lvl="1"/>
            <a:r>
              <a:rPr lang="en-ZA" sz="1600" dirty="0">
                <a:solidFill>
                  <a:srgbClr val="0070C0"/>
                </a:solidFill>
              </a:rPr>
              <a:t>return 0</a:t>
            </a:r>
            <a:r>
              <a:rPr lang="en-ZA" sz="1600" dirty="0"/>
              <a:t>;</a:t>
            </a:r>
          </a:p>
          <a:p>
            <a:r>
              <a:rPr lang="en-ZA" sz="1600" dirty="0"/>
              <a:t>}</a:t>
            </a:r>
          </a:p>
        </p:txBody>
      </p:sp>
    </p:spTree>
    <p:extLst>
      <p:ext uri="{BB962C8B-B14F-4D97-AF65-F5344CB8AC3E}">
        <p14:creationId xmlns:p14="http://schemas.microsoft.com/office/powerpoint/2010/main" val="165685938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EE255C-63D5-A0B6-D583-F063785A88BC}"/>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5DC7755F-269F-E72D-E559-F1AAADE3DF7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29B4E8A9-EF4F-E263-5305-CADC0AEE0333}"/>
              </a:ext>
            </a:extLst>
          </p:cNvPr>
          <p:cNvSpPr txBox="1"/>
          <p:nvPr/>
        </p:nvSpPr>
        <p:spPr>
          <a:xfrm>
            <a:off x="0" y="65927"/>
            <a:ext cx="6858000" cy="646331"/>
          </a:xfrm>
          <a:prstGeom prst="rect">
            <a:avLst/>
          </a:prstGeom>
          <a:noFill/>
        </p:spPr>
        <p:txBody>
          <a:bodyPr wrap="square" rtlCol="0">
            <a:spAutoFit/>
          </a:bodyPr>
          <a:lstStyle/>
          <a:p>
            <a:pPr algn="ctr"/>
            <a:r>
              <a:rPr lang="en-US" sz="3600" b="1" dirty="0">
                <a:latin typeface="Arial" panose="020B0604020202020204" pitchFamily="34" charset="0"/>
                <a:cs typeface="Arial" panose="020B0604020202020204" pitchFamily="34" charset="0"/>
              </a:rPr>
              <a:t>Nested If/Else</a:t>
            </a:r>
            <a:endParaRPr lang="en-ZA" sz="3600" b="1"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43BA827E-4E0E-78E5-8080-44BEB9FABC9B}"/>
              </a:ext>
            </a:extLst>
          </p:cNvPr>
          <p:cNvSpPr txBox="1"/>
          <p:nvPr/>
        </p:nvSpPr>
        <p:spPr>
          <a:xfrm>
            <a:off x="276726" y="2202071"/>
            <a:ext cx="6184232" cy="1200329"/>
          </a:xfrm>
          <a:prstGeom prst="rect">
            <a:avLst/>
          </a:prstGeom>
          <a:noFill/>
        </p:spPr>
        <p:txBody>
          <a:bodyPr wrap="square">
            <a:spAutoFit/>
          </a:bodyPr>
          <a:lstStyle/>
          <a:p>
            <a:r>
              <a:rPr lang="en-ZA" sz="2400" b="1" dirty="0"/>
              <a:t>Exercises:</a:t>
            </a:r>
          </a:p>
          <a:p>
            <a:endParaRPr lang="en-ZA" sz="2400" b="1" dirty="0"/>
          </a:p>
          <a:p>
            <a:endParaRPr lang="en-ZA" sz="2400" b="1" dirty="0"/>
          </a:p>
        </p:txBody>
      </p:sp>
    </p:spTree>
    <p:extLst>
      <p:ext uri="{BB962C8B-B14F-4D97-AF65-F5344CB8AC3E}">
        <p14:creationId xmlns:p14="http://schemas.microsoft.com/office/powerpoint/2010/main" val="14471930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CBEFF0-2FD8-CF55-FF97-0E578F262B94}"/>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F7868FD5-5D3C-F5BB-5BEA-B536331570A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7D62B1F5-CC6F-8EC6-AA3F-35B10CFECD77}"/>
              </a:ext>
            </a:extLst>
          </p:cNvPr>
          <p:cNvSpPr txBox="1"/>
          <p:nvPr/>
        </p:nvSpPr>
        <p:spPr>
          <a:xfrm>
            <a:off x="0" y="65927"/>
            <a:ext cx="6858000" cy="646331"/>
          </a:xfrm>
          <a:prstGeom prst="rect">
            <a:avLst/>
          </a:prstGeom>
          <a:noFill/>
        </p:spPr>
        <p:txBody>
          <a:bodyPr wrap="square" rtlCol="0">
            <a:spAutoFit/>
          </a:bodyPr>
          <a:lstStyle/>
          <a:p>
            <a:pPr algn="ctr"/>
            <a:r>
              <a:rPr lang="en-US" sz="3600" b="1" dirty="0">
                <a:latin typeface="Arial" panose="020B0604020202020204" pitchFamily="34" charset="0"/>
                <a:cs typeface="Arial" panose="020B0604020202020204" pitchFamily="34" charset="0"/>
              </a:rPr>
              <a:t>Switch Statement</a:t>
            </a:r>
            <a:endParaRPr lang="en-ZA" sz="3600" b="1" dirty="0">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884F1B92-4A89-FF5F-2137-CC904894C152}"/>
              </a:ext>
            </a:extLst>
          </p:cNvPr>
          <p:cNvPicPr>
            <a:picLocks noChangeAspect="1"/>
          </p:cNvPicPr>
          <p:nvPr/>
        </p:nvPicPr>
        <p:blipFill>
          <a:blip r:embed="rId3"/>
          <a:stretch>
            <a:fillRect/>
          </a:stretch>
        </p:blipFill>
        <p:spPr>
          <a:xfrm>
            <a:off x="562438" y="1859901"/>
            <a:ext cx="5660571" cy="7022841"/>
          </a:xfrm>
          <a:prstGeom prst="rect">
            <a:avLst/>
          </a:prstGeom>
        </p:spPr>
      </p:pic>
    </p:spTree>
    <p:extLst>
      <p:ext uri="{BB962C8B-B14F-4D97-AF65-F5344CB8AC3E}">
        <p14:creationId xmlns:p14="http://schemas.microsoft.com/office/powerpoint/2010/main" val="44253216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E0F227-43CE-1339-E151-E1D027A09F5F}"/>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F9EE9328-9149-4B29-BD76-B1017B6E18E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943691BB-BD35-A8B9-8AAA-B5BAC65EFC94}"/>
              </a:ext>
            </a:extLst>
          </p:cNvPr>
          <p:cNvSpPr txBox="1"/>
          <p:nvPr/>
        </p:nvSpPr>
        <p:spPr>
          <a:xfrm>
            <a:off x="0" y="65927"/>
            <a:ext cx="6858000" cy="646331"/>
          </a:xfrm>
          <a:prstGeom prst="rect">
            <a:avLst/>
          </a:prstGeom>
          <a:noFill/>
        </p:spPr>
        <p:txBody>
          <a:bodyPr wrap="square" rtlCol="0">
            <a:spAutoFit/>
          </a:bodyPr>
          <a:lstStyle/>
          <a:p>
            <a:pPr algn="ctr"/>
            <a:r>
              <a:rPr lang="en-US" sz="3600" b="1" dirty="0">
                <a:latin typeface="Arial" panose="020B0604020202020204" pitchFamily="34" charset="0"/>
                <a:cs typeface="Arial" panose="020B0604020202020204" pitchFamily="34" charset="0"/>
              </a:rPr>
              <a:t>Switch Statement</a:t>
            </a:r>
            <a:endParaRPr lang="en-ZA" sz="3600" b="1" dirty="0">
              <a:latin typeface="Arial" panose="020B0604020202020204" pitchFamily="34" charset="0"/>
              <a:cs typeface="Arial" panose="020B0604020202020204" pitchFamily="34" charset="0"/>
            </a:endParaRPr>
          </a:p>
        </p:txBody>
      </p:sp>
      <p:pic>
        <p:nvPicPr>
          <p:cNvPr id="2" name="Content Placeholder 3" descr="switch (expression)&#10;{&#10;    case value1:&#10;    statements1&#10;    break;&#10;    case value2:&#10;    statements2&#10;    break;&#10;    .&#10;    .&#10;    .&#10;    case valuen:&#10;    statementsn&#10;    break;&#10;    default:&#10;    statements&#10;}">
            <a:extLst>
              <a:ext uri="{FF2B5EF4-FFF2-40B4-BE49-F238E27FC236}">
                <a16:creationId xmlns:a16="http://schemas.microsoft.com/office/drawing/2014/main" id="{C523FEFB-D0E8-47CE-8522-649CDB5EF15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0314" y="1786738"/>
            <a:ext cx="3838254" cy="46501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extBox 6">
            <a:extLst>
              <a:ext uri="{FF2B5EF4-FFF2-40B4-BE49-F238E27FC236}">
                <a16:creationId xmlns:a16="http://schemas.microsoft.com/office/drawing/2014/main" id="{71784D36-2B5E-1143-4BC1-7095DFB038CF}"/>
              </a:ext>
            </a:extLst>
          </p:cNvPr>
          <p:cNvSpPr txBox="1"/>
          <p:nvPr/>
        </p:nvSpPr>
        <p:spPr>
          <a:xfrm>
            <a:off x="409073" y="6713621"/>
            <a:ext cx="5354053" cy="1938992"/>
          </a:xfrm>
          <a:prstGeom prst="rect">
            <a:avLst/>
          </a:prstGeom>
          <a:noFill/>
        </p:spPr>
        <p:txBody>
          <a:bodyPr wrap="square">
            <a:spAutoFit/>
          </a:bodyPr>
          <a:lstStyle/>
          <a:p>
            <a:pPr algn="l"/>
            <a:r>
              <a:rPr lang="en-US" sz="2000" b="0" i="0" u="none" strike="noStrike" baseline="0" dirty="0">
                <a:solidFill>
                  <a:srgbClr val="211808"/>
                </a:solidFill>
              </a:rPr>
              <a:t>In C</a:t>
            </a:r>
            <a:r>
              <a:rPr lang="en-US" sz="2000" dirty="0">
                <a:solidFill>
                  <a:srgbClr val="211808"/>
                </a:solidFill>
              </a:rPr>
              <a:t>++</a:t>
            </a:r>
            <a:r>
              <a:rPr lang="en-US" sz="2000" b="0" i="0" u="none" strike="noStrike" baseline="0" dirty="0">
                <a:solidFill>
                  <a:srgbClr val="211808"/>
                </a:solidFill>
              </a:rPr>
              <a:t>, </a:t>
            </a:r>
            <a:r>
              <a:rPr lang="en-US" sz="2000" b="1" i="0" u="none" strike="noStrike" baseline="0" dirty="0">
                <a:solidFill>
                  <a:srgbClr val="0070C0"/>
                </a:solidFill>
              </a:rPr>
              <a:t>switch</a:t>
            </a:r>
            <a:r>
              <a:rPr lang="en-US" sz="2000" b="0" i="0" u="none" strike="noStrike" baseline="0" dirty="0">
                <a:solidFill>
                  <a:srgbClr val="211808"/>
                </a:solidFill>
              </a:rPr>
              <a:t>, </a:t>
            </a:r>
            <a:r>
              <a:rPr lang="en-US" sz="2000" b="1" i="0" u="none" strike="noStrike" baseline="0" dirty="0">
                <a:solidFill>
                  <a:srgbClr val="0070C0"/>
                </a:solidFill>
              </a:rPr>
              <a:t>case</a:t>
            </a:r>
            <a:r>
              <a:rPr lang="en-US" sz="2000" b="0" i="0" u="none" strike="noStrike" baseline="0" dirty="0">
                <a:solidFill>
                  <a:srgbClr val="211808"/>
                </a:solidFill>
              </a:rPr>
              <a:t>, </a:t>
            </a:r>
            <a:r>
              <a:rPr lang="en-US" sz="2000" b="1" i="0" u="none" strike="noStrike" baseline="0" dirty="0">
                <a:solidFill>
                  <a:srgbClr val="0070C0"/>
                </a:solidFill>
              </a:rPr>
              <a:t>break</a:t>
            </a:r>
            <a:r>
              <a:rPr lang="en-US" sz="2000" b="0" i="0" u="none" strike="noStrike" baseline="0" dirty="0">
                <a:solidFill>
                  <a:srgbClr val="211808"/>
                </a:solidFill>
              </a:rPr>
              <a:t>, and </a:t>
            </a:r>
            <a:r>
              <a:rPr lang="en-US" sz="2000" b="1" i="0" u="none" strike="noStrike" baseline="0" dirty="0">
                <a:solidFill>
                  <a:srgbClr val="0070C0"/>
                </a:solidFill>
              </a:rPr>
              <a:t>default</a:t>
            </a:r>
            <a:r>
              <a:rPr lang="en-US" sz="2000" b="1" i="0" u="none" strike="noStrike" baseline="0" dirty="0">
                <a:solidFill>
                  <a:srgbClr val="6A8899"/>
                </a:solidFill>
              </a:rPr>
              <a:t> </a:t>
            </a:r>
            <a:r>
              <a:rPr lang="en-US" sz="2000" b="0" i="0" u="none" strike="noStrike" baseline="0" dirty="0">
                <a:solidFill>
                  <a:srgbClr val="211808"/>
                </a:solidFill>
              </a:rPr>
              <a:t>are reserved words. In a </a:t>
            </a:r>
            <a:r>
              <a:rPr lang="en-US" sz="2000" b="1" i="0" u="none" strike="noStrike" baseline="0" dirty="0">
                <a:solidFill>
                  <a:srgbClr val="0070C0"/>
                </a:solidFill>
              </a:rPr>
              <a:t>switch</a:t>
            </a:r>
            <a:r>
              <a:rPr lang="en-US" sz="2000" b="1" i="0" u="none" strike="noStrike" baseline="0" dirty="0">
                <a:solidFill>
                  <a:srgbClr val="6A8899"/>
                </a:solidFill>
              </a:rPr>
              <a:t> </a:t>
            </a:r>
            <a:r>
              <a:rPr lang="en-US" sz="2000" b="0" i="0" u="none" strike="noStrike" baseline="0" dirty="0">
                <a:solidFill>
                  <a:srgbClr val="211808"/>
                </a:solidFill>
              </a:rPr>
              <a:t>structure, first the </a:t>
            </a:r>
            <a:r>
              <a:rPr lang="en-US" sz="2000" b="1" i="0" u="none" strike="noStrike" baseline="0" dirty="0">
                <a:solidFill>
                  <a:srgbClr val="211808"/>
                </a:solidFill>
              </a:rPr>
              <a:t>expression </a:t>
            </a:r>
            <a:r>
              <a:rPr lang="en-US" sz="2000" b="0" i="0" u="none" strike="noStrike" baseline="0" dirty="0">
                <a:solidFill>
                  <a:srgbClr val="211808"/>
                </a:solidFill>
              </a:rPr>
              <a:t>is evaluated. The value of the </a:t>
            </a:r>
            <a:r>
              <a:rPr lang="en-US" sz="2000" b="1" i="0" u="none" strike="noStrike" baseline="0" dirty="0">
                <a:solidFill>
                  <a:srgbClr val="211808"/>
                </a:solidFill>
              </a:rPr>
              <a:t>expression </a:t>
            </a:r>
            <a:r>
              <a:rPr lang="en-US" sz="2000" b="0" i="0" u="none" strike="noStrike" baseline="0" dirty="0">
                <a:solidFill>
                  <a:srgbClr val="211808"/>
                </a:solidFill>
              </a:rPr>
              <a:t>is then used to choose and perform the actions specified in the statements that follow the reserved </a:t>
            </a:r>
            <a:r>
              <a:rPr lang="en-ZA" sz="2000" b="0" i="0" u="none" strike="noStrike" baseline="0" dirty="0">
                <a:solidFill>
                  <a:srgbClr val="211808"/>
                </a:solidFill>
              </a:rPr>
              <a:t>word </a:t>
            </a:r>
            <a:r>
              <a:rPr lang="en-ZA" sz="2000" b="1" i="0" u="none" strike="noStrike" baseline="0" dirty="0">
                <a:solidFill>
                  <a:srgbClr val="0070C0"/>
                </a:solidFill>
              </a:rPr>
              <a:t>case</a:t>
            </a:r>
            <a:r>
              <a:rPr lang="en-ZA" sz="2000" b="0" i="0" u="none" strike="noStrike" baseline="0" dirty="0">
                <a:solidFill>
                  <a:srgbClr val="211808"/>
                </a:solidFill>
              </a:rPr>
              <a:t>.</a:t>
            </a:r>
            <a:endParaRPr lang="en-ZA" sz="2000" dirty="0"/>
          </a:p>
        </p:txBody>
      </p:sp>
    </p:spTree>
    <p:extLst>
      <p:ext uri="{BB962C8B-B14F-4D97-AF65-F5344CB8AC3E}">
        <p14:creationId xmlns:p14="http://schemas.microsoft.com/office/powerpoint/2010/main" val="184528360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259716-FF03-9267-59D7-2834E9AFC79F}"/>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723E03D7-CB22-BA5F-1853-E76EC78F47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CE17F7DF-BF88-46A7-7CC0-D75CF3CA23DC}"/>
              </a:ext>
            </a:extLst>
          </p:cNvPr>
          <p:cNvSpPr txBox="1"/>
          <p:nvPr/>
        </p:nvSpPr>
        <p:spPr>
          <a:xfrm>
            <a:off x="0" y="65927"/>
            <a:ext cx="6858000" cy="646331"/>
          </a:xfrm>
          <a:prstGeom prst="rect">
            <a:avLst/>
          </a:prstGeom>
          <a:noFill/>
        </p:spPr>
        <p:txBody>
          <a:bodyPr wrap="square" rtlCol="0">
            <a:spAutoFit/>
          </a:bodyPr>
          <a:lstStyle/>
          <a:p>
            <a:pPr algn="ctr"/>
            <a:r>
              <a:rPr lang="en-US" sz="3600" b="1" dirty="0">
                <a:latin typeface="Arial" panose="020B0604020202020204" pitchFamily="34" charset="0"/>
                <a:cs typeface="Arial" panose="020B0604020202020204" pitchFamily="34" charset="0"/>
              </a:rPr>
              <a:t>Switch Statement</a:t>
            </a:r>
            <a:endParaRPr lang="en-ZA" sz="3600" b="1"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9395386E-DDD2-9F29-2D52-29370E0ABAF3}"/>
              </a:ext>
            </a:extLst>
          </p:cNvPr>
          <p:cNvSpPr txBox="1"/>
          <p:nvPr/>
        </p:nvSpPr>
        <p:spPr>
          <a:xfrm>
            <a:off x="324852" y="2213811"/>
            <a:ext cx="5943599" cy="7432804"/>
          </a:xfrm>
          <a:prstGeom prst="rect">
            <a:avLst/>
          </a:prstGeom>
          <a:noFill/>
        </p:spPr>
        <p:txBody>
          <a:bodyPr wrap="square">
            <a:spAutoFit/>
          </a:bodyPr>
          <a:lstStyle/>
          <a:p>
            <a:r>
              <a:rPr lang="en-ZA" sz="2400" b="1" dirty="0"/>
              <a:t>Example:</a:t>
            </a:r>
          </a:p>
          <a:p>
            <a:endParaRPr lang="en-ZA" dirty="0">
              <a:solidFill>
                <a:srgbClr val="0070C0"/>
              </a:solidFill>
            </a:endParaRPr>
          </a:p>
          <a:p>
            <a:r>
              <a:rPr lang="en-ZA" sz="1500" dirty="0">
                <a:solidFill>
                  <a:srgbClr val="0070C0"/>
                </a:solidFill>
              </a:rPr>
              <a:t>int</a:t>
            </a:r>
            <a:r>
              <a:rPr lang="en-ZA" sz="1500" dirty="0"/>
              <a:t> main()</a:t>
            </a:r>
          </a:p>
          <a:p>
            <a:r>
              <a:rPr lang="en-ZA" sz="1500" dirty="0"/>
              <a:t>{</a:t>
            </a:r>
          </a:p>
          <a:p>
            <a:r>
              <a:rPr lang="en-ZA" sz="1500" dirty="0"/>
              <a:t> 	</a:t>
            </a:r>
            <a:r>
              <a:rPr lang="pt-BR" sz="1500" dirty="0">
                <a:solidFill>
                  <a:srgbClr val="00B050"/>
                </a:solidFill>
              </a:rPr>
              <a:t>//declare a variables</a:t>
            </a:r>
            <a:endParaRPr lang="en-ZA" sz="1500" dirty="0"/>
          </a:p>
          <a:p>
            <a:pPr lvl="1"/>
            <a:r>
              <a:rPr lang="pt-BR" sz="1500" dirty="0"/>
              <a:t>char grade; </a:t>
            </a:r>
            <a:endParaRPr lang="pt-BR" sz="1500" dirty="0">
              <a:solidFill>
                <a:srgbClr val="00B050"/>
              </a:solidFill>
            </a:endParaRPr>
          </a:p>
          <a:p>
            <a:pPr lvl="1"/>
            <a:endParaRPr lang="pt-BR" sz="1500" dirty="0"/>
          </a:p>
          <a:p>
            <a:pPr lvl="1"/>
            <a:r>
              <a:rPr lang="pt-BR" sz="1500" dirty="0">
                <a:solidFill>
                  <a:srgbClr val="0070C0"/>
                </a:solidFill>
              </a:rPr>
              <a:t>cout</a:t>
            </a:r>
            <a:r>
              <a:rPr lang="pt-BR" sz="1500" dirty="0"/>
              <a:t> &lt;&lt; “Enter grade: ”;</a:t>
            </a:r>
          </a:p>
          <a:p>
            <a:pPr lvl="1"/>
            <a:r>
              <a:rPr lang="pt-BR" sz="1500" dirty="0">
                <a:solidFill>
                  <a:srgbClr val="0070C0"/>
                </a:solidFill>
              </a:rPr>
              <a:t>cin</a:t>
            </a:r>
            <a:r>
              <a:rPr lang="pt-BR" sz="1500" dirty="0"/>
              <a:t> &gt;&gt; grade;</a:t>
            </a:r>
          </a:p>
          <a:p>
            <a:endParaRPr lang="en-ZA" sz="1500" dirty="0">
              <a:solidFill>
                <a:srgbClr val="0070C0"/>
              </a:solidFill>
            </a:endParaRPr>
          </a:p>
          <a:p>
            <a:pPr lvl="1"/>
            <a:r>
              <a:rPr lang="en-ZA" sz="1500" dirty="0">
                <a:solidFill>
                  <a:srgbClr val="0070C0"/>
                </a:solidFill>
              </a:rPr>
              <a:t>switch</a:t>
            </a:r>
            <a:r>
              <a:rPr lang="en-ZA" sz="1500" dirty="0"/>
              <a:t> (grade)</a:t>
            </a:r>
          </a:p>
          <a:p>
            <a:pPr lvl="1"/>
            <a:r>
              <a:rPr lang="en-ZA" sz="1500" dirty="0"/>
              <a:t>{</a:t>
            </a:r>
          </a:p>
          <a:p>
            <a:pPr lvl="2"/>
            <a:r>
              <a:rPr lang="en-ZA" sz="1500" dirty="0">
                <a:solidFill>
                  <a:srgbClr val="0070C0"/>
                </a:solidFill>
              </a:rPr>
              <a:t>case</a:t>
            </a:r>
            <a:r>
              <a:rPr lang="en-ZA" sz="1500" dirty="0"/>
              <a:t> 'A':</a:t>
            </a:r>
          </a:p>
          <a:p>
            <a:pPr lvl="3"/>
            <a:r>
              <a:rPr lang="en-US" sz="1500" dirty="0" err="1"/>
              <a:t>cout</a:t>
            </a:r>
            <a:r>
              <a:rPr lang="en-US" sz="1500" dirty="0"/>
              <a:t> &lt;&lt; "The grade point is 4.0.";</a:t>
            </a:r>
          </a:p>
          <a:p>
            <a:pPr lvl="3"/>
            <a:r>
              <a:rPr lang="en-ZA" sz="1500" dirty="0">
                <a:solidFill>
                  <a:srgbClr val="0070C0"/>
                </a:solidFill>
              </a:rPr>
              <a:t>break</a:t>
            </a:r>
            <a:r>
              <a:rPr lang="en-ZA" sz="1500" dirty="0"/>
              <a:t>;</a:t>
            </a:r>
          </a:p>
          <a:p>
            <a:pPr lvl="2"/>
            <a:r>
              <a:rPr lang="en-ZA" sz="1500" dirty="0">
                <a:solidFill>
                  <a:srgbClr val="0070C0"/>
                </a:solidFill>
              </a:rPr>
              <a:t>case</a:t>
            </a:r>
            <a:r>
              <a:rPr lang="en-ZA" sz="1500" dirty="0"/>
              <a:t> 'B':</a:t>
            </a:r>
          </a:p>
          <a:p>
            <a:pPr lvl="3"/>
            <a:r>
              <a:rPr lang="en-US" sz="1500" dirty="0" err="1"/>
              <a:t>cout</a:t>
            </a:r>
            <a:r>
              <a:rPr lang="en-US" sz="1500" dirty="0"/>
              <a:t> &lt;&lt; "The grade point is 3.0.";</a:t>
            </a:r>
          </a:p>
          <a:p>
            <a:pPr lvl="3"/>
            <a:r>
              <a:rPr lang="en-ZA" sz="1500" dirty="0">
                <a:solidFill>
                  <a:srgbClr val="0070C0"/>
                </a:solidFill>
              </a:rPr>
              <a:t>break</a:t>
            </a:r>
            <a:r>
              <a:rPr lang="en-ZA" sz="1500" dirty="0"/>
              <a:t>;</a:t>
            </a:r>
          </a:p>
          <a:p>
            <a:pPr lvl="2"/>
            <a:r>
              <a:rPr lang="en-ZA" sz="1500" dirty="0">
                <a:solidFill>
                  <a:srgbClr val="0070C0"/>
                </a:solidFill>
              </a:rPr>
              <a:t>case</a:t>
            </a:r>
            <a:r>
              <a:rPr lang="en-ZA" sz="1500" dirty="0"/>
              <a:t> 'C':</a:t>
            </a:r>
          </a:p>
          <a:p>
            <a:pPr lvl="3"/>
            <a:r>
              <a:rPr lang="en-US" sz="1500" dirty="0" err="1"/>
              <a:t>cout</a:t>
            </a:r>
            <a:r>
              <a:rPr lang="en-US" sz="1500" dirty="0"/>
              <a:t> &lt;&lt; "The grade point is 2.0.";</a:t>
            </a:r>
          </a:p>
          <a:p>
            <a:pPr lvl="3"/>
            <a:r>
              <a:rPr lang="en-ZA" sz="1500" dirty="0">
                <a:solidFill>
                  <a:srgbClr val="0070C0"/>
                </a:solidFill>
              </a:rPr>
              <a:t>break</a:t>
            </a:r>
            <a:r>
              <a:rPr lang="en-ZA" sz="1500" dirty="0"/>
              <a:t>;</a:t>
            </a:r>
          </a:p>
          <a:p>
            <a:pPr lvl="2"/>
            <a:r>
              <a:rPr lang="en-ZA" sz="1500" dirty="0">
                <a:solidFill>
                  <a:srgbClr val="0070C0"/>
                </a:solidFill>
              </a:rPr>
              <a:t>case</a:t>
            </a:r>
            <a:r>
              <a:rPr lang="en-ZA" sz="1500" dirty="0"/>
              <a:t> 'D':</a:t>
            </a:r>
          </a:p>
          <a:p>
            <a:pPr lvl="3"/>
            <a:r>
              <a:rPr lang="en-US" sz="1500" dirty="0" err="1"/>
              <a:t>cout</a:t>
            </a:r>
            <a:r>
              <a:rPr lang="en-US" sz="1500" dirty="0"/>
              <a:t> &lt;&lt; "The grade point is 1.0.";</a:t>
            </a:r>
          </a:p>
          <a:p>
            <a:pPr lvl="3"/>
            <a:r>
              <a:rPr lang="en-ZA" sz="1500" dirty="0">
                <a:solidFill>
                  <a:srgbClr val="0070C0"/>
                </a:solidFill>
              </a:rPr>
              <a:t>break</a:t>
            </a:r>
            <a:r>
              <a:rPr lang="en-ZA" sz="1500" dirty="0"/>
              <a:t>;</a:t>
            </a:r>
          </a:p>
          <a:p>
            <a:pPr lvl="2"/>
            <a:r>
              <a:rPr lang="en-ZA" sz="1500" dirty="0">
                <a:solidFill>
                  <a:srgbClr val="0070C0"/>
                </a:solidFill>
              </a:rPr>
              <a:t>case</a:t>
            </a:r>
            <a:r>
              <a:rPr lang="en-ZA" sz="1500" dirty="0"/>
              <a:t> 'F':</a:t>
            </a:r>
          </a:p>
          <a:p>
            <a:pPr lvl="3"/>
            <a:r>
              <a:rPr lang="en-US" sz="1500" dirty="0" err="1"/>
              <a:t>cout</a:t>
            </a:r>
            <a:r>
              <a:rPr lang="en-US" sz="1500" dirty="0"/>
              <a:t> &lt;&lt; "The grade point is 0.0.";</a:t>
            </a:r>
          </a:p>
          <a:p>
            <a:pPr lvl="3"/>
            <a:r>
              <a:rPr lang="en-ZA" sz="1500" dirty="0">
                <a:solidFill>
                  <a:srgbClr val="0070C0"/>
                </a:solidFill>
              </a:rPr>
              <a:t>break</a:t>
            </a:r>
            <a:r>
              <a:rPr lang="en-ZA" sz="1500" dirty="0"/>
              <a:t>;</a:t>
            </a:r>
          </a:p>
          <a:p>
            <a:pPr lvl="2"/>
            <a:r>
              <a:rPr lang="en-ZA" sz="1500" dirty="0">
                <a:solidFill>
                  <a:srgbClr val="0070C0"/>
                </a:solidFill>
              </a:rPr>
              <a:t>default</a:t>
            </a:r>
            <a:r>
              <a:rPr lang="en-ZA" sz="1500" dirty="0"/>
              <a:t>:</a:t>
            </a:r>
          </a:p>
          <a:p>
            <a:pPr lvl="2"/>
            <a:r>
              <a:rPr lang="en-US" sz="1500" dirty="0"/>
              <a:t>	</a:t>
            </a:r>
            <a:r>
              <a:rPr lang="en-US" sz="1500" dirty="0" err="1">
                <a:solidFill>
                  <a:srgbClr val="0070C0"/>
                </a:solidFill>
              </a:rPr>
              <a:t>cout</a:t>
            </a:r>
            <a:r>
              <a:rPr lang="en-US" sz="1500" dirty="0"/>
              <a:t> &lt;&lt; "The grade is invalid.";</a:t>
            </a:r>
          </a:p>
          <a:p>
            <a:pPr lvl="1"/>
            <a:r>
              <a:rPr lang="en-ZA" sz="1500" dirty="0"/>
              <a:t>}</a:t>
            </a:r>
          </a:p>
          <a:p>
            <a:r>
              <a:rPr lang="en-ZA" altLang="en-US" sz="1500" dirty="0"/>
              <a:t>}</a:t>
            </a:r>
            <a:endParaRPr lang="en-US" altLang="en-US" sz="1500" dirty="0"/>
          </a:p>
        </p:txBody>
      </p:sp>
    </p:spTree>
    <p:extLst>
      <p:ext uri="{BB962C8B-B14F-4D97-AF65-F5344CB8AC3E}">
        <p14:creationId xmlns:p14="http://schemas.microsoft.com/office/powerpoint/2010/main" val="4269545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D134D7-1D44-73A8-2656-4405DFEA9426}"/>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9806CA2C-0BC4-5088-4A4D-7D8CBBB86B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3B86AEC9-A1E7-666A-8772-E87112487A6E}"/>
              </a:ext>
            </a:extLst>
          </p:cNvPr>
          <p:cNvSpPr txBox="1"/>
          <p:nvPr/>
        </p:nvSpPr>
        <p:spPr>
          <a:xfrm>
            <a:off x="0" y="65927"/>
            <a:ext cx="6858000" cy="646331"/>
          </a:xfrm>
          <a:prstGeom prst="rect">
            <a:avLst/>
          </a:prstGeom>
          <a:noFill/>
        </p:spPr>
        <p:txBody>
          <a:bodyPr wrap="square" rtlCol="0">
            <a:spAutoFit/>
          </a:bodyPr>
          <a:lstStyle/>
          <a:p>
            <a:pPr algn="ctr"/>
            <a:r>
              <a:rPr lang="en-US" sz="3600" b="1" dirty="0">
                <a:latin typeface="Arial" panose="020B0604020202020204" pitchFamily="34" charset="0"/>
                <a:cs typeface="Arial" panose="020B0604020202020204" pitchFamily="34" charset="0"/>
              </a:rPr>
              <a:t>Switch Statement</a:t>
            </a:r>
            <a:endParaRPr lang="en-ZA" sz="3600" b="1"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03D2A622-E1B2-DC17-F8D8-35F1E48B9F33}"/>
              </a:ext>
            </a:extLst>
          </p:cNvPr>
          <p:cNvSpPr txBox="1"/>
          <p:nvPr/>
        </p:nvSpPr>
        <p:spPr>
          <a:xfrm>
            <a:off x="324852" y="2213811"/>
            <a:ext cx="5943599" cy="1200329"/>
          </a:xfrm>
          <a:prstGeom prst="rect">
            <a:avLst/>
          </a:prstGeom>
          <a:noFill/>
        </p:spPr>
        <p:txBody>
          <a:bodyPr wrap="square">
            <a:spAutoFit/>
          </a:bodyPr>
          <a:lstStyle/>
          <a:p>
            <a:r>
              <a:rPr lang="en-ZA" sz="2400" b="1" dirty="0"/>
              <a:t>Exercises:</a:t>
            </a:r>
            <a:endParaRPr lang="en-ZA" sz="2400" b="1" dirty="0">
              <a:solidFill>
                <a:srgbClr val="0070C0"/>
              </a:solidFill>
            </a:endParaRPr>
          </a:p>
          <a:p>
            <a:endParaRPr lang="en-ZA" sz="2400" b="1" dirty="0">
              <a:solidFill>
                <a:srgbClr val="0070C0"/>
              </a:solidFill>
            </a:endParaRPr>
          </a:p>
          <a:p>
            <a:endParaRPr lang="en-ZA" sz="2400" b="1" dirty="0"/>
          </a:p>
        </p:txBody>
      </p:sp>
    </p:spTree>
    <p:extLst>
      <p:ext uri="{BB962C8B-B14F-4D97-AF65-F5344CB8AC3E}">
        <p14:creationId xmlns:p14="http://schemas.microsoft.com/office/powerpoint/2010/main" val="326045421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C319B8-000F-BABA-31A1-A4D69B6BAE6A}"/>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1BEABE03-458F-5D8D-7F79-298CE11EC3A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14430CD8-1CB4-FDB4-5E14-3584F21C1C94}"/>
              </a:ext>
            </a:extLst>
          </p:cNvPr>
          <p:cNvSpPr txBox="1"/>
          <p:nvPr/>
        </p:nvSpPr>
        <p:spPr>
          <a:xfrm>
            <a:off x="0" y="65927"/>
            <a:ext cx="6858000" cy="646331"/>
          </a:xfrm>
          <a:prstGeom prst="rect">
            <a:avLst/>
          </a:prstGeom>
          <a:noFill/>
        </p:spPr>
        <p:txBody>
          <a:bodyPr wrap="square" rtlCol="0">
            <a:spAutoFit/>
          </a:bodyPr>
          <a:lstStyle/>
          <a:p>
            <a:pPr algn="ctr"/>
            <a:r>
              <a:rPr lang="en-US" sz="3600" b="1" dirty="0">
                <a:latin typeface="Arial" panose="020B0604020202020204" pitchFamily="34" charset="0"/>
                <a:cs typeface="Arial" panose="020B0604020202020204" pitchFamily="34" charset="0"/>
              </a:rPr>
              <a:t>Repetition Control Structures</a:t>
            </a:r>
            <a:endParaRPr lang="en-ZA" sz="3600" b="1" dirty="0">
              <a:latin typeface="Arial" panose="020B0604020202020204" pitchFamily="34" charset="0"/>
              <a:cs typeface="Arial" panose="020B0604020202020204" pitchFamily="34" charset="0"/>
            </a:endParaRPr>
          </a:p>
        </p:txBody>
      </p:sp>
      <p:sp>
        <p:nvSpPr>
          <p:cNvPr id="2" name="Content Placeholder 2">
            <a:extLst>
              <a:ext uri="{FF2B5EF4-FFF2-40B4-BE49-F238E27FC236}">
                <a16:creationId xmlns:a16="http://schemas.microsoft.com/office/drawing/2014/main" id="{6CEC134A-D6F0-E060-85AF-B4AFE4BB400E}"/>
              </a:ext>
            </a:extLst>
          </p:cNvPr>
          <p:cNvSpPr txBox="1">
            <a:spLocks/>
          </p:cNvSpPr>
          <p:nvPr/>
        </p:nvSpPr>
        <p:spPr>
          <a:xfrm>
            <a:off x="471488" y="2637014"/>
            <a:ext cx="5915025" cy="6285266"/>
          </a:xfrm>
          <a:prstGeom prst="rect">
            <a:avLst/>
          </a:prstGeom>
        </p:spPr>
        <p:txBody>
          <a:bodyPr vert="horz" lIns="91440" tIns="45720" rIns="91440" bIns="45720" rtlCol="0">
            <a:normAutofit lnSpcReduction="10000"/>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US" sz="2400" b="1" dirty="0"/>
              <a:t>In repetition</a:t>
            </a:r>
            <a:r>
              <a:rPr lang="en-US" sz="2400" dirty="0"/>
              <a:t>, the program repeats particular statements a certain number of times based on some </a:t>
            </a:r>
            <a:r>
              <a:rPr lang="en-ZA" sz="2400" dirty="0"/>
              <a:t>condition(s).</a:t>
            </a:r>
          </a:p>
          <a:p>
            <a:pPr algn="l"/>
            <a:endParaRPr lang="en-ZA" sz="2400" dirty="0"/>
          </a:p>
          <a:p>
            <a:pPr algn="l"/>
            <a:r>
              <a:rPr lang="en-US" sz="2400" dirty="0"/>
              <a:t>We refer to repetition structures as Loops. A </a:t>
            </a:r>
            <a:r>
              <a:rPr lang="en-US" sz="2400" b="1" dirty="0"/>
              <a:t>loop </a:t>
            </a:r>
            <a:r>
              <a:rPr lang="en-US" sz="2400" dirty="0"/>
              <a:t>is any program construction that repeats a statement or sequence of statements a number of times.</a:t>
            </a:r>
          </a:p>
          <a:p>
            <a:pPr algn="l"/>
            <a:endParaRPr lang="en-US" sz="2400" dirty="0"/>
          </a:p>
          <a:p>
            <a:pPr algn="l"/>
            <a:r>
              <a:rPr lang="en-US" sz="2400" dirty="0"/>
              <a:t>The statement (or group of statements) to be repeated in a loop is called the </a:t>
            </a:r>
            <a:r>
              <a:rPr lang="en-US" sz="2400" b="1" dirty="0"/>
              <a:t>body </a:t>
            </a:r>
            <a:r>
              <a:rPr lang="en-US" sz="2400" dirty="0"/>
              <a:t>of the loop, and each repetition of the loop body is called an </a:t>
            </a:r>
            <a:r>
              <a:rPr lang="en-US" sz="2400" b="1" dirty="0"/>
              <a:t>iteration </a:t>
            </a:r>
            <a:r>
              <a:rPr lang="en-US" sz="2400" dirty="0"/>
              <a:t>of the loop. The two main design questions when constructing loops are: </a:t>
            </a:r>
          </a:p>
          <a:p>
            <a:pPr marL="342900" indent="-342900" algn="l">
              <a:buFont typeface="Arial" panose="020B0604020202020204" pitchFamily="34" charset="0"/>
              <a:buChar char="•"/>
            </a:pPr>
            <a:r>
              <a:rPr lang="en-US" sz="2400" dirty="0"/>
              <a:t>What should the loop body be?</a:t>
            </a:r>
          </a:p>
          <a:p>
            <a:pPr marL="342900" indent="-342900" algn="l">
              <a:buFont typeface="Arial" panose="020B0604020202020204" pitchFamily="34" charset="0"/>
              <a:buChar char="•"/>
            </a:pPr>
            <a:r>
              <a:rPr lang="en-US" sz="2400" dirty="0"/>
              <a:t>How many times should the loop body be iterated?</a:t>
            </a:r>
          </a:p>
          <a:p>
            <a:pPr algn="l"/>
            <a:endParaRPr lang="en-US" sz="2400" b="1" dirty="0"/>
          </a:p>
        </p:txBody>
      </p:sp>
    </p:spTree>
    <p:extLst>
      <p:ext uri="{BB962C8B-B14F-4D97-AF65-F5344CB8AC3E}">
        <p14:creationId xmlns:p14="http://schemas.microsoft.com/office/powerpoint/2010/main" val="217700958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25F4B0-37EF-502B-8654-DE332A74A7A1}"/>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94062C7C-3C1D-1A4D-C559-736DBFB40CC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0A4FC0B9-6DA2-02E5-0C05-3936B5A8C895}"/>
              </a:ext>
            </a:extLst>
          </p:cNvPr>
          <p:cNvSpPr txBox="1"/>
          <p:nvPr/>
        </p:nvSpPr>
        <p:spPr>
          <a:xfrm>
            <a:off x="0" y="65927"/>
            <a:ext cx="6858000" cy="646331"/>
          </a:xfrm>
          <a:prstGeom prst="rect">
            <a:avLst/>
          </a:prstGeom>
          <a:noFill/>
        </p:spPr>
        <p:txBody>
          <a:bodyPr wrap="square" rtlCol="0">
            <a:spAutoFit/>
          </a:bodyPr>
          <a:lstStyle/>
          <a:p>
            <a:pPr algn="ctr"/>
            <a:r>
              <a:rPr lang="en-US" sz="3600" b="1" dirty="0">
                <a:latin typeface="Arial" panose="020B0604020202020204" pitchFamily="34" charset="0"/>
                <a:cs typeface="Arial" panose="020B0604020202020204" pitchFamily="34" charset="0"/>
              </a:rPr>
              <a:t>Repetition Control Structures</a:t>
            </a:r>
            <a:endParaRPr lang="en-ZA" sz="3600" b="1" dirty="0">
              <a:latin typeface="Arial" panose="020B0604020202020204" pitchFamily="34" charset="0"/>
              <a:cs typeface="Arial" panose="020B0604020202020204" pitchFamily="34" charset="0"/>
            </a:endParaRPr>
          </a:p>
        </p:txBody>
      </p:sp>
      <p:sp>
        <p:nvSpPr>
          <p:cNvPr id="2" name="Content Placeholder 2">
            <a:extLst>
              <a:ext uri="{FF2B5EF4-FFF2-40B4-BE49-F238E27FC236}">
                <a16:creationId xmlns:a16="http://schemas.microsoft.com/office/drawing/2014/main" id="{AE346907-8B6F-AE2C-7318-F6D8E5AD665D}"/>
              </a:ext>
            </a:extLst>
          </p:cNvPr>
          <p:cNvSpPr txBox="1">
            <a:spLocks/>
          </p:cNvSpPr>
          <p:nvPr/>
        </p:nvSpPr>
        <p:spPr>
          <a:xfrm>
            <a:off x="471488" y="2637014"/>
            <a:ext cx="5915025" cy="6285266"/>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US" sz="2600" b="1" dirty="0"/>
              <a:t>There are four (4) types of repetition  (loops) control structures:</a:t>
            </a:r>
          </a:p>
          <a:p>
            <a:pPr marL="457200" indent="-457200" algn="l">
              <a:buFont typeface="Arial" panose="020B0604020202020204" pitchFamily="34" charset="0"/>
              <a:buChar char="•"/>
            </a:pPr>
            <a:r>
              <a:rPr lang="en-US" sz="2600" dirty="0"/>
              <a:t>While loop</a:t>
            </a:r>
          </a:p>
          <a:p>
            <a:pPr marL="457200" indent="-457200" algn="l">
              <a:buFont typeface="Arial" panose="020B0604020202020204" pitchFamily="34" charset="0"/>
              <a:buChar char="•"/>
            </a:pPr>
            <a:r>
              <a:rPr lang="en-US" sz="2600" dirty="0"/>
              <a:t>Do-while loop</a:t>
            </a:r>
          </a:p>
          <a:p>
            <a:pPr marL="457200" indent="-457200" algn="l">
              <a:buFont typeface="Arial" panose="020B0604020202020204" pitchFamily="34" charset="0"/>
              <a:buChar char="•"/>
            </a:pPr>
            <a:r>
              <a:rPr lang="en-US" sz="2600" dirty="0"/>
              <a:t>For loop</a:t>
            </a:r>
          </a:p>
          <a:p>
            <a:pPr marL="457200" indent="-457200" algn="l">
              <a:buFont typeface="Arial" panose="020B0604020202020204" pitchFamily="34" charset="0"/>
              <a:buChar char="•"/>
            </a:pPr>
            <a:r>
              <a:rPr lang="en-US" sz="2600" dirty="0"/>
              <a:t>For each loop</a:t>
            </a:r>
          </a:p>
          <a:p>
            <a:pPr algn="l"/>
            <a:endParaRPr lang="en-US" sz="2400" dirty="0"/>
          </a:p>
          <a:p>
            <a:pPr algn="l"/>
            <a:endParaRPr lang="en-US" sz="2400" b="1" dirty="0"/>
          </a:p>
        </p:txBody>
      </p:sp>
    </p:spTree>
    <p:extLst>
      <p:ext uri="{BB962C8B-B14F-4D97-AF65-F5344CB8AC3E}">
        <p14:creationId xmlns:p14="http://schemas.microsoft.com/office/powerpoint/2010/main" val="351068623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28D38C-2C18-1D68-2276-89ED93B0F688}"/>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4565D1D5-AC06-949E-B7E7-773DAAD6E6D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712F19E5-F2C0-BDA0-791A-EABE357B5237}"/>
              </a:ext>
            </a:extLst>
          </p:cNvPr>
          <p:cNvSpPr txBox="1"/>
          <p:nvPr/>
        </p:nvSpPr>
        <p:spPr>
          <a:xfrm>
            <a:off x="0" y="65927"/>
            <a:ext cx="6858000" cy="646331"/>
          </a:xfrm>
          <a:prstGeom prst="rect">
            <a:avLst/>
          </a:prstGeom>
          <a:noFill/>
        </p:spPr>
        <p:txBody>
          <a:bodyPr wrap="square" rtlCol="0">
            <a:spAutoFit/>
          </a:bodyPr>
          <a:lstStyle/>
          <a:p>
            <a:pPr algn="ctr"/>
            <a:r>
              <a:rPr lang="en-US" sz="3600" b="1" dirty="0">
                <a:latin typeface="Arial" panose="020B0604020202020204" pitchFamily="34" charset="0"/>
                <a:cs typeface="Arial" panose="020B0604020202020204" pitchFamily="34" charset="0"/>
              </a:rPr>
              <a:t>While Loop</a:t>
            </a:r>
            <a:endParaRPr lang="en-ZA" sz="3600" b="1" dirty="0">
              <a:latin typeface="Arial" panose="020B0604020202020204" pitchFamily="34" charset="0"/>
              <a:cs typeface="Arial" panose="020B0604020202020204" pitchFamily="34" charset="0"/>
            </a:endParaRPr>
          </a:p>
        </p:txBody>
      </p:sp>
      <p:sp>
        <p:nvSpPr>
          <p:cNvPr id="2" name="Content Placeholder 2">
            <a:extLst>
              <a:ext uri="{FF2B5EF4-FFF2-40B4-BE49-F238E27FC236}">
                <a16:creationId xmlns:a16="http://schemas.microsoft.com/office/drawing/2014/main" id="{79475481-331A-3447-615F-6BD6827AC931}"/>
              </a:ext>
            </a:extLst>
          </p:cNvPr>
          <p:cNvSpPr txBox="1">
            <a:spLocks/>
          </p:cNvSpPr>
          <p:nvPr/>
        </p:nvSpPr>
        <p:spPr>
          <a:xfrm>
            <a:off x="471488" y="2637014"/>
            <a:ext cx="5915025" cy="6285266"/>
          </a:xfrm>
          <a:prstGeom prst="rect">
            <a:avLst/>
          </a:prstGeom>
        </p:spPr>
        <p:txBody>
          <a:bodyPr vert="horz" lIns="91440" tIns="45720" rIns="91440" bIns="45720" rtlCol="0">
            <a:normAutofit fontScale="77500" lnSpcReduction="20000"/>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US" sz="3800" dirty="0"/>
              <a:t>In a while loop, the loop is repeated while the Boolean expression in the parentheses is satisfied.</a:t>
            </a:r>
          </a:p>
          <a:p>
            <a:pPr algn="l"/>
            <a:r>
              <a:rPr lang="en-US" sz="3800" i="1" dirty="0"/>
              <a:t>A while </a:t>
            </a:r>
            <a:r>
              <a:rPr lang="en-US" sz="3800" dirty="0"/>
              <a:t>loop might execute its loop body zero times, which is often what you want or in case the initial testing of condition is false. Therefore, we cannot execute the body of a while loop.</a:t>
            </a:r>
          </a:p>
          <a:p>
            <a:pPr algn="l"/>
            <a:endParaRPr lang="en-US" sz="3800" b="1" dirty="0"/>
          </a:p>
          <a:p>
            <a:pPr algn="l"/>
            <a:r>
              <a:rPr lang="en-US" sz="3800" dirty="0"/>
              <a:t>If the condition to be tested is true, the statements inside the braces  { and }, is called the </a:t>
            </a:r>
            <a:r>
              <a:rPr lang="en-US" sz="3800" b="1" dirty="0"/>
              <a:t>body </a:t>
            </a:r>
            <a:r>
              <a:rPr lang="en-US" sz="3800" dirty="0"/>
              <a:t>of the </a:t>
            </a:r>
            <a:r>
              <a:rPr lang="en-US" sz="3800" i="1" dirty="0"/>
              <a:t>while </a:t>
            </a:r>
            <a:r>
              <a:rPr lang="en-US" sz="3800" dirty="0"/>
              <a:t>loop, are executed in order, then they are executed again, then again, and so forth until the </a:t>
            </a:r>
            <a:r>
              <a:rPr lang="en-ZA" sz="3800" i="1" dirty="0"/>
              <a:t>while </a:t>
            </a:r>
            <a:r>
              <a:rPr lang="en-ZA" sz="3800" dirty="0"/>
              <a:t>loop ends.</a:t>
            </a:r>
            <a:endParaRPr lang="en-US" sz="3800" b="1" dirty="0"/>
          </a:p>
        </p:txBody>
      </p:sp>
    </p:spTree>
    <p:extLst>
      <p:ext uri="{BB962C8B-B14F-4D97-AF65-F5344CB8AC3E}">
        <p14:creationId xmlns:p14="http://schemas.microsoft.com/office/powerpoint/2010/main" val="51345492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CA410B-A75A-2993-925E-CAF6F12DFF0D}"/>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166DB6EB-8B44-86FB-E8D2-87C19C0121D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1308BC8B-D6AD-0422-D2CC-3BCA1BDE216E}"/>
              </a:ext>
            </a:extLst>
          </p:cNvPr>
          <p:cNvSpPr txBox="1"/>
          <p:nvPr/>
        </p:nvSpPr>
        <p:spPr>
          <a:xfrm>
            <a:off x="0" y="65927"/>
            <a:ext cx="6858000" cy="646331"/>
          </a:xfrm>
          <a:prstGeom prst="rect">
            <a:avLst/>
          </a:prstGeom>
          <a:noFill/>
        </p:spPr>
        <p:txBody>
          <a:bodyPr wrap="square" rtlCol="0">
            <a:spAutoFit/>
          </a:bodyPr>
          <a:lstStyle/>
          <a:p>
            <a:pPr algn="ctr"/>
            <a:r>
              <a:rPr lang="en-US" sz="3600" b="1" dirty="0">
                <a:latin typeface="Arial" panose="020B0604020202020204" pitchFamily="34" charset="0"/>
                <a:cs typeface="Arial" panose="020B0604020202020204" pitchFamily="34" charset="0"/>
              </a:rPr>
              <a:t>While Loop</a:t>
            </a:r>
            <a:endParaRPr lang="en-ZA" sz="3600" b="1" dirty="0">
              <a:latin typeface="Arial" panose="020B0604020202020204" pitchFamily="34" charset="0"/>
              <a:cs typeface="Arial" panose="020B0604020202020204" pitchFamily="34" charset="0"/>
            </a:endParaRPr>
          </a:p>
        </p:txBody>
      </p:sp>
      <p:sp>
        <p:nvSpPr>
          <p:cNvPr id="2" name="Content Placeholder 2">
            <a:extLst>
              <a:ext uri="{FF2B5EF4-FFF2-40B4-BE49-F238E27FC236}">
                <a16:creationId xmlns:a16="http://schemas.microsoft.com/office/drawing/2014/main" id="{E4C2D729-E75E-DC67-0AE8-8AC82E8D7A15}"/>
              </a:ext>
            </a:extLst>
          </p:cNvPr>
          <p:cNvSpPr txBox="1">
            <a:spLocks/>
          </p:cNvSpPr>
          <p:nvPr/>
        </p:nvSpPr>
        <p:spPr>
          <a:xfrm>
            <a:off x="471488" y="2334126"/>
            <a:ext cx="5915025" cy="6588154"/>
          </a:xfrm>
          <a:prstGeom prst="rect">
            <a:avLst/>
          </a:prstGeom>
        </p:spPr>
        <p:txBody>
          <a:bodyPr vert="horz" lIns="91440" tIns="45720" rIns="91440" bIns="45720" rtlCol="0">
            <a:normAutofit fontScale="77500" lnSpcReduction="20000"/>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US" sz="2600" b="1" dirty="0"/>
              <a:t>Syntax / Structure of a While loop:</a:t>
            </a:r>
          </a:p>
          <a:p>
            <a:pPr algn="l"/>
            <a:endParaRPr lang="en-ZA" sz="2600" b="1" dirty="0"/>
          </a:p>
          <a:p>
            <a:endParaRPr lang="en-US" b="1" dirty="0"/>
          </a:p>
          <a:p>
            <a:endParaRPr lang="en-US" b="1" dirty="0"/>
          </a:p>
          <a:p>
            <a:endParaRPr lang="en-US" b="1" dirty="0"/>
          </a:p>
          <a:p>
            <a:endParaRPr lang="en-ZA" i="1" dirty="0"/>
          </a:p>
          <a:p>
            <a:endParaRPr lang="en-ZA" i="1" dirty="0"/>
          </a:p>
          <a:p>
            <a:endParaRPr lang="en-ZA" i="1" dirty="0"/>
          </a:p>
          <a:p>
            <a:endParaRPr lang="en-ZA" i="1" dirty="0"/>
          </a:p>
          <a:p>
            <a:endParaRPr lang="en-ZA" i="1" dirty="0"/>
          </a:p>
          <a:p>
            <a:endParaRPr lang="en-ZA" i="1" dirty="0"/>
          </a:p>
          <a:p>
            <a:endParaRPr lang="en-US" sz="2800" dirty="0"/>
          </a:p>
          <a:p>
            <a:endParaRPr lang="en-US" sz="2800" dirty="0"/>
          </a:p>
          <a:p>
            <a:r>
              <a:rPr lang="en-US" sz="2800" dirty="0"/>
              <a:t>Syntax of the </a:t>
            </a:r>
            <a:r>
              <a:rPr lang="en-US" sz="2800" b="1" dirty="0">
                <a:cs typeface="Courier New" pitchFamily="49" charset="0"/>
              </a:rPr>
              <a:t>while</a:t>
            </a:r>
            <a:r>
              <a:rPr lang="en-US" sz="2800" dirty="0"/>
              <a:t> statement</a:t>
            </a:r>
          </a:p>
          <a:p>
            <a:endParaRPr lang="en-US" sz="2800" dirty="0"/>
          </a:p>
          <a:p>
            <a:endParaRPr lang="en-US" sz="2800" dirty="0"/>
          </a:p>
          <a:p>
            <a:endParaRPr lang="en-US" sz="2800" dirty="0"/>
          </a:p>
          <a:p>
            <a:pPr>
              <a:defRPr/>
            </a:pPr>
            <a:endParaRPr lang="en-US" sz="2800" dirty="0"/>
          </a:p>
          <a:p>
            <a:pPr>
              <a:defRPr/>
            </a:pPr>
            <a:r>
              <a:rPr lang="en-US" sz="2800" dirty="0"/>
              <a:t>The </a:t>
            </a:r>
            <a:r>
              <a:rPr lang="en-US" sz="2800" b="1" dirty="0">
                <a:cs typeface="Courier New" pitchFamily="49" charset="0"/>
              </a:rPr>
              <a:t>expression</a:t>
            </a:r>
            <a:r>
              <a:rPr lang="en-US" sz="2800" dirty="0"/>
              <a:t> acts as a </a:t>
            </a:r>
            <a:r>
              <a:rPr lang="en-US" sz="2800" u="sng" dirty="0"/>
              <a:t>decision maker</a:t>
            </a:r>
            <a:r>
              <a:rPr lang="en-US" sz="2800" dirty="0"/>
              <a:t> and is usually a logical expression. </a:t>
            </a:r>
          </a:p>
          <a:p>
            <a:pPr>
              <a:defRPr/>
            </a:pPr>
            <a:r>
              <a:rPr lang="en-US" sz="2800" dirty="0"/>
              <a:t>The </a:t>
            </a:r>
            <a:r>
              <a:rPr lang="en-US" sz="2800" b="1" dirty="0">
                <a:cs typeface="Courier New" pitchFamily="49" charset="0"/>
              </a:rPr>
              <a:t>statement</a:t>
            </a:r>
            <a:r>
              <a:rPr lang="en-US" sz="2800" dirty="0"/>
              <a:t> is called the body of the loop </a:t>
            </a:r>
          </a:p>
          <a:p>
            <a:pPr>
              <a:defRPr/>
            </a:pPr>
            <a:r>
              <a:rPr lang="en-US" sz="2800" dirty="0"/>
              <a:t>The parentheses are part of the syntax.</a:t>
            </a:r>
          </a:p>
          <a:p>
            <a:endParaRPr lang="en-US" sz="2600" dirty="0"/>
          </a:p>
          <a:p>
            <a:pPr algn="l"/>
            <a:endParaRPr lang="en-US" sz="2400" b="1" dirty="0"/>
          </a:p>
        </p:txBody>
      </p:sp>
      <p:pic>
        <p:nvPicPr>
          <p:cNvPr id="3" name="Content Placeholder 3" descr="Flow chart representing while loop. The loop starts with a sphere that points toward a diamond-shaped structure labeled expression. Expression points downwards through an arrow that reads false. An arrow from the right side of the expression is labeled true, which points toward a rectangle labeled statement. The statement then points toward the sphere at the starting of the loop.">
            <a:extLst>
              <a:ext uri="{FF2B5EF4-FFF2-40B4-BE49-F238E27FC236}">
                <a16:creationId xmlns:a16="http://schemas.microsoft.com/office/drawing/2014/main" id="{4826E56D-6688-FE96-D4AA-0823F7D354A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1017" y="2641796"/>
            <a:ext cx="5835495" cy="3157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Content Placeholder 3" descr="while (expression)&#10;    statement">
            <a:extLst>
              <a:ext uri="{FF2B5EF4-FFF2-40B4-BE49-F238E27FC236}">
                <a16:creationId xmlns:a16="http://schemas.microsoft.com/office/drawing/2014/main" id="{6714D610-732C-FDFC-0714-EC389243135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68642" y="6403925"/>
            <a:ext cx="3092116" cy="947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3848432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D35CF3-B391-DAFB-5D24-CE4AE110BCC1}"/>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71B8C0D4-5DA4-0FF9-3CDC-3598CEFCDF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1BC2C499-424F-F1D1-D2F7-78B1E2A1ACF3}"/>
              </a:ext>
            </a:extLst>
          </p:cNvPr>
          <p:cNvSpPr txBox="1"/>
          <p:nvPr/>
        </p:nvSpPr>
        <p:spPr>
          <a:xfrm>
            <a:off x="0" y="65927"/>
            <a:ext cx="6858000" cy="646331"/>
          </a:xfrm>
          <a:prstGeom prst="rect">
            <a:avLst/>
          </a:prstGeom>
          <a:noFill/>
        </p:spPr>
        <p:txBody>
          <a:bodyPr wrap="square" rtlCol="0">
            <a:spAutoFit/>
          </a:bodyPr>
          <a:lstStyle/>
          <a:p>
            <a:pPr algn="ctr"/>
            <a:r>
              <a:rPr lang="en-US" sz="3600" b="1" dirty="0">
                <a:latin typeface="Arial" panose="020B0604020202020204" pitchFamily="34" charset="0"/>
                <a:cs typeface="Arial" panose="020B0604020202020204" pitchFamily="34" charset="0"/>
              </a:rPr>
              <a:t>While Loop</a:t>
            </a:r>
            <a:endParaRPr lang="en-ZA" sz="3600" b="1" dirty="0">
              <a:latin typeface="Arial" panose="020B0604020202020204" pitchFamily="34" charset="0"/>
              <a:cs typeface="Arial" panose="020B0604020202020204" pitchFamily="34" charset="0"/>
            </a:endParaRPr>
          </a:p>
        </p:txBody>
      </p:sp>
      <p:sp>
        <p:nvSpPr>
          <p:cNvPr id="2" name="Content Placeholder 2">
            <a:extLst>
              <a:ext uri="{FF2B5EF4-FFF2-40B4-BE49-F238E27FC236}">
                <a16:creationId xmlns:a16="http://schemas.microsoft.com/office/drawing/2014/main" id="{1FA7256D-275D-C18B-5DAF-C54AF9AA5FA5}"/>
              </a:ext>
            </a:extLst>
          </p:cNvPr>
          <p:cNvSpPr txBox="1">
            <a:spLocks/>
          </p:cNvSpPr>
          <p:nvPr/>
        </p:nvSpPr>
        <p:spPr>
          <a:xfrm>
            <a:off x="471488" y="2637014"/>
            <a:ext cx="5915025" cy="6285266"/>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US" sz="2600" b="1" dirty="0"/>
              <a:t>Syntax / Structure of a while loop:</a:t>
            </a:r>
          </a:p>
          <a:p>
            <a:endParaRPr lang="en-US" b="1" dirty="0"/>
          </a:p>
          <a:p>
            <a:r>
              <a:rPr lang="en-US" b="1" dirty="0"/>
              <a:t>A Loop Body with a Single Statement:</a:t>
            </a:r>
          </a:p>
          <a:p>
            <a:endParaRPr lang="en-US" b="1" dirty="0"/>
          </a:p>
          <a:p>
            <a:pPr algn="r"/>
            <a:r>
              <a:rPr lang="en-ZA" i="1" dirty="0"/>
              <a:t>while </a:t>
            </a:r>
            <a:r>
              <a:rPr lang="en-ZA" dirty="0"/>
              <a:t>(</a:t>
            </a:r>
            <a:r>
              <a:rPr lang="en-ZA" i="1" dirty="0" err="1"/>
              <a:t>Boolean_Expression</a:t>
            </a:r>
            <a:r>
              <a:rPr lang="en-ZA" i="1" dirty="0"/>
              <a:t> </a:t>
            </a:r>
            <a:r>
              <a:rPr lang="en-ZA" dirty="0"/>
              <a:t>)</a:t>
            </a:r>
          </a:p>
          <a:p>
            <a:r>
              <a:rPr lang="en-ZA" i="1" dirty="0"/>
              <a:t>				Statement</a:t>
            </a:r>
          </a:p>
          <a:p>
            <a:endParaRPr lang="en-ZA" sz="2600" i="1" dirty="0"/>
          </a:p>
          <a:p>
            <a:endParaRPr lang="en-US" b="1" dirty="0"/>
          </a:p>
          <a:p>
            <a:r>
              <a:rPr lang="en-US" b="1" dirty="0"/>
              <a:t>A Loop Body with Several Statements must be enclosed with brackets:</a:t>
            </a:r>
          </a:p>
          <a:p>
            <a:endParaRPr lang="en-US" b="1" dirty="0"/>
          </a:p>
          <a:p>
            <a:r>
              <a:rPr lang="en-ZA" i="1" dirty="0"/>
              <a:t>while </a:t>
            </a:r>
            <a:r>
              <a:rPr lang="en-ZA" dirty="0"/>
              <a:t>(</a:t>
            </a:r>
            <a:r>
              <a:rPr lang="en-ZA" i="1" dirty="0" err="1"/>
              <a:t>Boolean_Expression</a:t>
            </a:r>
            <a:r>
              <a:rPr lang="en-ZA" i="1" dirty="0"/>
              <a:t> </a:t>
            </a:r>
            <a:r>
              <a:rPr lang="en-ZA" dirty="0"/>
              <a:t>) {</a:t>
            </a:r>
          </a:p>
          <a:p>
            <a:r>
              <a:rPr lang="en-ZA" i="1" dirty="0"/>
              <a:t>Statement_1</a:t>
            </a:r>
          </a:p>
          <a:p>
            <a:r>
              <a:rPr lang="en-ZA" i="1" dirty="0"/>
              <a:t>Statement_2</a:t>
            </a:r>
          </a:p>
          <a:p>
            <a:r>
              <a:rPr lang="en-ZA" dirty="0"/>
              <a:t>...</a:t>
            </a:r>
          </a:p>
          <a:p>
            <a:r>
              <a:rPr lang="en-ZA" i="1" dirty="0" err="1"/>
              <a:t>Statement_Last</a:t>
            </a:r>
            <a:endParaRPr lang="en-ZA" i="1" dirty="0"/>
          </a:p>
          <a:p>
            <a:pPr algn="l"/>
            <a:r>
              <a:rPr lang="en-ZA" i="1" dirty="0"/>
              <a:t>		</a:t>
            </a:r>
            <a:r>
              <a:rPr lang="en-ZA" dirty="0"/>
              <a:t>}</a:t>
            </a:r>
            <a:endParaRPr lang="en-US" sz="2600" dirty="0"/>
          </a:p>
        </p:txBody>
      </p:sp>
      <p:pic>
        <p:nvPicPr>
          <p:cNvPr id="3" name="Content Placeholder 3" descr="while (expression)&#10;    statement">
            <a:extLst>
              <a:ext uri="{FF2B5EF4-FFF2-40B4-BE49-F238E27FC236}">
                <a16:creationId xmlns:a16="http://schemas.microsoft.com/office/drawing/2014/main" id="{F9CEEEFB-E00A-050D-A98D-4DE7F0FB86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9704" y="4135164"/>
            <a:ext cx="2743019" cy="947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6828886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AE7E35-61B5-7FE6-3B3D-BEBA7119F923}"/>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6299F656-0660-90BB-42D0-BD0EA2096A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C7BFF77F-7106-E4B0-153A-818C5AB619A8}"/>
              </a:ext>
            </a:extLst>
          </p:cNvPr>
          <p:cNvSpPr txBox="1"/>
          <p:nvPr/>
        </p:nvSpPr>
        <p:spPr>
          <a:xfrm>
            <a:off x="0" y="65927"/>
            <a:ext cx="6858000" cy="646331"/>
          </a:xfrm>
          <a:prstGeom prst="rect">
            <a:avLst/>
          </a:prstGeom>
          <a:noFill/>
        </p:spPr>
        <p:txBody>
          <a:bodyPr wrap="square" rtlCol="0">
            <a:spAutoFit/>
          </a:bodyPr>
          <a:lstStyle/>
          <a:p>
            <a:pPr algn="ctr"/>
            <a:r>
              <a:rPr lang="en-US" sz="3600" b="1" dirty="0">
                <a:latin typeface="Arial" panose="020B0604020202020204" pitchFamily="34" charset="0"/>
                <a:cs typeface="Arial" panose="020B0604020202020204" pitchFamily="34" charset="0"/>
              </a:rPr>
              <a:t>While Loop</a:t>
            </a:r>
            <a:endParaRPr lang="en-ZA" sz="3600" b="1" dirty="0">
              <a:latin typeface="Arial" panose="020B0604020202020204" pitchFamily="34" charset="0"/>
              <a:cs typeface="Arial" panose="020B0604020202020204" pitchFamily="34" charset="0"/>
            </a:endParaRPr>
          </a:p>
        </p:txBody>
      </p:sp>
      <p:sp>
        <p:nvSpPr>
          <p:cNvPr id="2" name="Content Placeholder 2">
            <a:extLst>
              <a:ext uri="{FF2B5EF4-FFF2-40B4-BE49-F238E27FC236}">
                <a16:creationId xmlns:a16="http://schemas.microsoft.com/office/drawing/2014/main" id="{9AC5E850-3F8F-E719-8838-9D3B03A1B414}"/>
              </a:ext>
            </a:extLst>
          </p:cNvPr>
          <p:cNvSpPr txBox="1">
            <a:spLocks/>
          </p:cNvSpPr>
          <p:nvPr/>
        </p:nvSpPr>
        <p:spPr>
          <a:xfrm>
            <a:off x="471488" y="2637014"/>
            <a:ext cx="5915025" cy="6285266"/>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US" sz="2600" b="1" dirty="0"/>
              <a:t>Syntax / Structure of a while loop:</a:t>
            </a:r>
          </a:p>
          <a:p>
            <a:pPr algn="l"/>
            <a:endParaRPr lang="en-US" sz="2600" b="1" dirty="0"/>
          </a:p>
          <a:p>
            <a:pPr algn="l"/>
            <a:endParaRPr lang="en-US" sz="2600" b="1" dirty="0"/>
          </a:p>
          <a:p>
            <a:pPr algn="l"/>
            <a:endParaRPr lang="en-US" sz="2600" b="1" dirty="0"/>
          </a:p>
          <a:p>
            <a:pPr algn="l"/>
            <a:endParaRPr lang="en-US" sz="2600" b="1" dirty="0"/>
          </a:p>
          <a:p>
            <a:pPr algn="l"/>
            <a:endParaRPr lang="en-US" sz="2600" b="1" dirty="0"/>
          </a:p>
          <a:p>
            <a:pPr algn="l"/>
            <a:endParaRPr lang="en-US" sz="2600" b="1" dirty="0"/>
          </a:p>
          <a:p>
            <a:pPr algn="l"/>
            <a:endParaRPr lang="en-US" sz="2600" b="1" dirty="0"/>
          </a:p>
          <a:p>
            <a:pPr algn="l"/>
            <a:endParaRPr lang="en-US" sz="2600" b="1" dirty="0"/>
          </a:p>
        </p:txBody>
      </p:sp>
      <p:pic>
        <p:nvPicPr>
          <p:cNvPr id="6" name="Picture 5">
            <a:extLst>
              <a:ext uri="{FF2B5EF4-FFF2-40B4-BE49-F238E27FC236}">
                <a16:creationId xmlns:a16="http://schemas.microsoft.com/office/drawing/2014/main" id="{E4116CCC-BA75-34AE-FDAD-BFC1D62CA6B8}"/>
              </a:ext>
            </a:extLst>
          </p:cNvPr>
          <p:cNvPicPr>
            <a:picLocks noChangeAspect="1"/>
          </p:cNvPicPr>
          <p:nvPr/>
        </p:nvPicPr>
        <p:blipFill>
          <a:blip r:embed="rId3"/>
          <a:stretch>
            <a:fillRect/>
          </a:stretch>
        </p:blipFill>
        <p:spPr>
          <a:xfrm>
            <a:off x="625641" y="3164305"/>
            <a:ext cx="5329989" cy="2755232"/>
          </a:xfrm>
          <a:prstGeom prst="rect">
            <a:avLst/>
          </a:prstGeom>
        </p:spPr>
      </p:pic>
    </p:spTree>
    <p:extLst>
      <p:ext uri="{BB962C8B-B14F-4D97-AF65-F5344CB8AC3E}">
        <p14:creationId xmlns:p14="http://schemas.microsoft.com/office/powerpoint/2010/main" val="107008934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D7A285-1E8E-8E0E-355C-055B0852B989}"/>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62B2F6D9-FD72-C81E-8484-BE18BF81A3D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5B19609C-8143-3707-F87E-6E090896FA02}"/>
              </a:ext>
            </a:extLst>
          </p:cNvPr>
          <p:cNvSpPr txBox="1"/>
          <p:nvPr/>
        </p:nvSpPr>
        <p:spPr>
          <a:xfrm>
            <a:off x="0" y="65927"/>
            <a:ext cx="6858000" cy="646331"/>
          </a:xfrm>
          <a:prstGeom prst="rect">
            <a:avLst/>
          </a:prstGeom>
          <a:noFill/>
        </p:spPr>
        <p:txBody>
          <a:bodyPr wrap="square" rtlCol="0">
            <a:spAutoFit/>
          </a:bodyPr>
          <a:lstStyle/>
          <a:p>
            <a:pPr algn="ctr"/>
            <a:r>
              <a:rPr lang="en-US" sz="3600" b="1" dirty="0">
                <a:latin typeface="Arial" panose="020B0604020202020204" pitchFamily="34" charset="0"/>
                <a:cs typeface="Arial" panose="020B0604020202020204" pitchFamily="34" charset="0"/>
              </a:rPr>
              <a:t>While Loop</a:t>
            </a:r>
            <a:endParaRPr lang="en-ZA" sz="3600" b="1" dirty="0">
              <a:latin typeface="Arial" panose="020B0604020202020204" pitchFamily="34" charset="0"/>
              <a:cs typeface="Arial" panose="020B0604020202020204" pitchFamily="34" charset="0"/>
            </a:endParaRPr>
          </a:p>
        </p:txBody>
      </p:sp>
      <p:sp>
        <p:nvSpPr>
          <p:cNvPr id="2" name="Content Placeholder 2">
            <a:extLst>
              <a:ext uri="{FF2B5EF4-FFF2-40B4-BE49-F238E27FC236}">
                <a16:creationId xmlns:a16="http://schemas.microsoft.com/office/drawing/2014/main" id="{F5D6D244-969A-971C-8D78-0F489C39625D}"/>
              </a:ext>
            </a:extLst>
          </p:cNvPr>
          <p:cNvSpPr txBox="1">
            <a:spLocks/>
          </p:cNvSpPr>
          <p:nvPr/>
        </p:nvSpPr>
        <p:spPr>
          <a:xfrm>
            <a:off x="471488" y="2637014"/>
            <a:ext cx="5915025" cy="6285266"/>
          </a:xfrm>
          <a:prstGeom prst="rect">
            <a:avLst/>
          </a:prstGeom>
        </p:spPr>
        <p:txBody>
          <a:bodyPr vert="horz" lIns="91440" tIns="45720" rIns="91440" bIns="45720" rtlCol="0">
            <a:normAutofit lnSpcReduction="10000"/>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ZA" sz="2600" b="1" dirty="0"/>
              <a:t>Designing while Loop</a:t>
            </a:r>
            <a:r>
              <a:rPr lang="en-US" sz="2600" b="1" dirty="0"/>
              <a:t>:</a:t>
            </a:r>
          </a:p>
          <a:p>
            <a:pPr algn="l"/>
            <a:r>
              <a:rPr lang="en-US" b="1" dirty="0">
                <a:solidFill>
                  <a:srgbClr val="00B050"/>
                </a:solidFill>
              </a:rPr>
              <a:t>//initialize the loop control variable(s) (LVC)</a:t>
            </a:r>
          </a:p>
          <a:p>
            <a:pPr algn="l">
              <a:lnSpc>
                <a:spcPct val="100000"/>
              </a:lnSpc>
            </a:pPr>
            <a:r>
              <a:rPr lang="en-US" b="1" dirty="0"/>
              <a:t>while (expression) </a:t>
            </a:r>
            <a:r>
              <a:rPr lang="en-US" b="1" dirty="0">
                <a:solidFill>
                  <a:srgbClr val="00B050"/>
                </a:solidFill>
              </a:rPr>
              <a:t>//expression tests the loop control variable</a:t>
            </a:r>
          </a:p>
          <a:p>
            <a:pPr algn="l">
              <a:lnSpc>
                <a:spcPct val="100000"/>
              </a:lnSpc>
            </a:pPr>
            <a:r>
              <a:rPr lang="en-ZA" b="1" dirty="0"/>
              <a:t>{</a:t>
            </a:r>
          </a:p>
          <a:p>
            <a:pPr lvl="1" algn="l">
              <a:lnSpc>
                <a:spcPct val="100000"/>
              </a:lnSpc>
            </a:pPr>
            <a:r>
              <a:rPr lang="en-ZA" b="1" dirty="0"/>
              <a:t>.</a:t>
            </a:r>
          </a:p>
          <a:p>
            <a:pPr lvl="1" algn="l">
              <a:lnSpc>
                <a:spcPct val="100000"/>
              </a:lnSpc>
            </a:pPr>
            <a:r>
              <a:rPr lang="en-ZA" b="1" dirty="0"/>
              <a:t>.</a:t>
            </a:r>
          </a:p>
          <a:p>
            <a:pPr lvl="1" algn="l">
              <a:lnSpc>
                <a:spcPct val="100000"/>
              </a:lnSpc>
            </a:pPr>
            <a:r>
              <a:rPr lang="en-ZA" b="1" dirty="0">
                <a:solidFill>
                  <a:srgbClr val="00B050"/>
                </a:solidFill>
              </a:rPr>
              <a:t>//update the loop control variable</a:t>
            </a:r>
          </a:p>
          <a:p>
            <a:pPr lvl="1" algn="l">
              <a:lnSpc>
                <a:spcPct val="100000"/>
              </a:lnSpc>
            </a:pPr>
            <a:r>
              <a:rPr lang="en-ZA" b="1" dirty="0"/>
              <a:t>.</a:t>
            </a:r>
          </a:p>
          <a:p>
            <a:pPr lvl="1" algn="l">
              <a:lnSpc>
                <a:spcPct val="100000"/>
              </a:lnSpc>
            </a:pPr>
            <a:r>
              <a:rPr lang="en-ZA" b="1" dirty="0"/>
              <a:t>.</a:t>
            </a:r>
          </a:p>
          <a:p>
            <a:pPr algn="l">
              <a:lnSpc>
                <a:spcPct val="100000"/>
              </a:lnSpc>
            </a:pPr>
            <a:r>
              <a:rPr lang="en-ZA" b="1" dirty="0"/>
              <a:t>}</a:t>
            </a:r>
            <a:endParaRPr lang="en-US" sz="2600" b="1" dirty="0"/>
          </a:p>
          <a:p>
            <a:pPr algn="l"/>
            <a:r>
              <a:rPr lang="en-US" sz="2400" dirty="0"/>
              <a:t>The </a:t>
            </a:r>
            <a:r>
              <a:rPr lang="en-US" sz="2400" b="1" dirty="0"/>
              <a:t>expression </a:t>
            </a:r>
            <a:r>
              <a:rPr lang="en-US" sz="2400" dirty="0"/>
              <a:t>checks whether a variable, called the </a:t>
            </a:r>
            <a:r>
              <a:rPr lang="en-US" sz="2400" b="1" dirty="0"/>
              <a:t>loop control variable (LCV)</a:t>
            </a:r>
            <a:r>
              <a:rPr lang="en-US" sz="2400" dirty="0"/>
              <a:t>, satisfies certain conditions. </a:t>
            </a:r>
            <a:r>
              <a:rPr lang="en-US" sz="2400" b="1" dirty="0"/>
              <a:t>Various forms of while loops to be taken into consideration:</a:t>
            </a:r>
          </a:p>
          <a:p>
            <a:pPr marL="285750" indent="-285750" algn="l">
              <a:buFont typeface="Arial" panose="020B0604020202020204" pitchFamily="34" charset="0"/>
              <a:buChar char="•"/>
            </a:pPr>
            <a:r>
              <a:rPr lang="en-US" sz="2400" dirty="0"/>
              <a:t>Case 1: Counter-Controlled while Loops</a:t>
            </a:r>
          </a:p>
          <a:p>
            <a:pPr marL="285750" indent="-285750" algn="l">
              <a:buFont typeface="Arial" panose="020B0604020202020204" pitchFamily="34" charset="0"/>
              <a:buChar char="•"/>
            </a:pPr>
            <a:r>
              <a:rPr lang="en-US" sz="2400" dirty="0"/>
              <a:t>Case 2: Sentinel-Controlled while Loops</a:t>
            </a:r>
          </a:p>
          <a:p>
            <a:pPr marL="285750" indent="-285750" algn="l">
              <a:buFont typeface="Arial" panose="020B0604020202020204" pitchFamily="34" charset="0"/>
              <a:buChar char="•"/>
            </a:pPr>
            <a:r>
              <a:rPr lang="en-US" sz="2400" dirty="0"/>
              <a:t>Case 3: Flag-Controlled while Loops</a:t>
            </a:r>
          </a:p>
          <a:p>
            <a:pPr marL="285750" indent="-285750" algn="l">
              <a:buFont typeface="Arial" panose="020B0604020202020204" pitchFamily="34" charset="0"/>
              <a:buChar char="•"/>
            </a:pPr>
            <a:r>
              <a:rPr lang="en-US" sz="2400" dirty="0"/>
              <a:t>Case 4: EOF-Controlled while Loops</a:t>
            </a:r>
          </a:p>
          <a:p>
            <a:pPr algn="l"/>
            <a:endParaRPr lang="en-US" sz="2600" b="1" dirty="0"/>
          </a:p>
          <a:p>
            <a:pPr algn="l"/>
            <a:endParaRPr lang="en-US" sz="2600" b="1" dirty="0"/>
          </a:p>
          <a:p>
            <a:pPr algn="l"/>
            <a:endParaRPr lang="en-US" sz="2600" b="1" dirty="0"/>
          </a:p>
          <a:p>
            <a:pPr algn="l"/>
            <a:endParaRPr lang="en-US" sz="2600" b="1" dirty="0"/>
          </a:p>
          <a:p>
            <a:pPr algn="l"/>
            <a:endParaRPr lang="en-US" sz="2600" b="1" dirty="0"/>
          </a:p>
          <a:p>
            <a:pPr algn="l"/>
            <a:endParaRPr lang="en-US" sz="2600" b="1" dirty="0"/>
          </a:p>
          <a:p>
            <a:pPr algn="l"/>
            <a:endParaRPr lang="en-US" sz="2600" b="1" dirty="0"/>
          </a:p>
        </p:txBody>
      </p:sp>
    </p:spTree>
    <p:extLst>
      <p:ext uri="{BB962C8B-B14F-4D97-AF65-F5344CB8AC3E}">
        <p14:creationId xmlns:p14="http://schemas.microsoft.com/office/powerpoint/2010/main" val="94616643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425188-6A3A-4D6B-80DC-2BE446D084F4}"/>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15C7B04A-2BF1-5E8C-C935-AF8B1C3BBF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833B50F8-6CB3-BD8B-ECE8-4F12D27834CA}"/>
              </a:ext>
            </a:extLst>
          </p:cNvPr>
          <p:cNvSpPr txBox="1"/>
          <p:nvPr/>
        </p:nvSpPr>
        <p:spPr>
          <a:xfrm>
            <a:off x="0" y="65927"/>
            <a:ext cx="6858000" cy="646331"/>
          </a:xfrm>
          <a:prstGeom prst="rect">
            <a:avLst/>
          </a:prstGeom>
          <a:noFill/>
        </p:spPr>
        <p:txBody>
          <a:bodyPr wrap="square" rtlCol="0">
            <a:spAutoFit/>
          </a:bodyPr>
          <a:lstStyle/>
          <a:p>
            <a:pPr algn="ctr"/>
            <a:r>
              <a:rPr lang="en-US" sz="3600" b="1" dirty="0">
                <a:latin typeface="Arial" panose="020B0604020202020204" pitchFamily="34" charset="0"/>
                <a:cs typeface="Arial" panose="020B0604020202020204" pitchFamily="34" charset="0"/>
              </a:rPr>
              <a:t>While Loop</a:t>
            </a:r>
            <a:endParaRPr lang="en-ZA" sz="3600" b="1" dirty="0">
              <a:latin typeface="Arial" panose="020B0604020202020204" pitchFamily="34" charset="0"/>
              <a:cs typeface="Arial" panose="020B0604020202020204" pitchFamily="34" charset="0"/>
            </a:endParaRPr>
          </a:p>
        </p:txBody>
      </p:sp>
      <p:sp>
        <p:nvSpPr>
          <p:cNvPr id="2" name="Content Placeholder 2">
            <a:extLst>
              <a:ext uri="{FF2B5EF4-FFF2-40B4-BE49-F238E27FC236}">
                <a16:creationId xmlns:a16="http://schemas.microsoft.com/office/drawing/2014/main" id="{D5110FF4-2878-0197-5B8E-E6CC569B772F}"/>
              </a:ext>
            </a:extLst>
          </p:cNvPr>
          <p:cNvSpPr txBox="1">
            <a:spLocks/>
          </p:cNvSpPr>
          <p:nvPr/>
        </p:nvSpPr>
        <p:spPr>
          <a:xfrm>
            <a:off x="471488" y="2637014"/>
            <a:ext cx="5915025" cy="6285266"/>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US" sz="2600" b="1" dirty="0"/>
              <a:t>Example of a while loop program:</a:t>
            </a:r>
          </a:p>
          <a:p>
            <a:pPr algn="l"/>
            <a:endParaRPr lang="en-US" sz="2600" b="1" dirty="0"/>
          </a:p>
          <a:p>
            <a:pPr algn="l"/>
            <a:r>
              <a:rPr lang="en-US" sz="2000" dirty="0">
                <a:solidFill>
                  <a:srgbClr val="0070C0"/>
                </a:solidFill>
              </a:rPr>
              <a:t>int</a:t>
            </a:r>
            <a:r>
              <a:rPr lang="en-US" sz="2000" dirty="0"/>
              <a:t> </a:t>
            </a:r>
            <a:r>
              <a:rPr lang="en-US" sz="2000" dirty="0" err="1"/>
              <a:t>i</a:t>
            </a:r>
            <a:r>
              <a:rPr lang="en-US" sz="2000" dirty="0"/>
              <a:t> = 0;</a:t>
            </a:r>
          </a:p>
          <a:p>
            <a:pPr algn="l"/>
            <a:r>
              <a:rPr lang="en-US" sz="2000" dirty="0">
                <a:solidFill>
                  <a:srgbClr val="0070C0"/>
                </a:solidFill>
              </a:rPr>
              <a:t>while</a:t>
            </a:r>
            <a:r>
              <a:rPr lang="en-US" sz="2000" dirty="0"/>
              <a:t> (</a:t>
            </a:r>
            <a:r>
              <a:rPr lang="en-US" sz="2000" dirty="0" err="1"/>
              <a:t>i</a:t>
            </a:r>
            <a:r>
              <a:rPr lang="en-US" sz="2000" dirty="0"/>
              <a:t> &lt;= 20)</a:t>
            </a:r>
          </a:p>
          <a:p>
            <a:pPr algn="l"/>
            <a:r>
              <a:rPr lang="en-ZA" sz="2000" dirty="0"/>
              <a:t>{</a:t>
            </a:r>
          </a:p>
          <a:p>
            <a:pPr lvl="1" algn="l"/>
            <a:r>
              <a:rPr lang="en-ZA" sz="2000" dirty="0" err="1">
                <a:solidFill>
                  <a:srgbClr val="0070C0"/>
                </a:solidFill>
              </a:rPr>
              <a:t>cout</a:t>
            </a:r>
            <a:r>
              <a:rPr lang="en-ZA" sz="2000" dirty="0"/>
              <a:t> &lt;&lt; </a:t>
            </a:r>
            <a:r>
              <a:rPr lang="en-ZA" sz="2000" dirty="0" err="1"/>
              <a:t>i</a:t>
            </a:r>
            <a:r>
              <a:rPr lang="en-ZA" sz="2000" dirty="0"/>
              <a:t> &lt;&lt; " "; </a:t>
            </a:r>
          </a:p>
          <a:p>
            <a:pPr lvl="1" algn="l"/>
            <a:r>
              <a:rPr lang="nn-NO" sz="2000" dirty="0"/>
              <a:t>i = i + 5; </a:t>
            </a:r>
          </a:p>
          <a:p>
            <a:pPr algn="l"/>
            <a:r>
              <a:rPr lang="en-ZA" sz="2000" dirty="0"/>
              <a:t>}</a:t>
            </a:r>
          </a:p>
          <a:p>
            <a:pPr algn="l"/>
            <a:r>
              <a:rPr lang="en-ZA" sz="2000" dirty="0" err="1">
                <a:solidFill>
                  <a:srgbClr val="0070C0"/>
                </a:solidFill>
              </a:rPr>
              <a:t>cout</a:t>
            </a:r>
            <a:r>
              <a:rPr lang="en-ZA" sz="2000" dirty="0"/>
              <a:t> &lt;&lt; </a:t>
            </a:r>
            <a:r>
              <a:rPr lang="en-ZA" sz="2000" dirty="0" err="1"/>
              <a:t>endl</a:t>
            </a:r>
            <a:r>
              <a:rPr lang="en-ZA" sz="2000" dirty="0"/>
              <a:t>;</a:t>
            </a:r>
          </a:p>
          <a:p>
            <a:pPr algn="l"/>
            <a:endParaRPr lang="en-ZA" sz="2000" dirty="0"/>
          </a:p>
          <a:p>
            <a:pPr algn="l"/>
            <a:r>
              <a:rPr lang="en-US" sz="2400" dirty="0"/>
              <a:t>The preceding </a:t>
            </a:r>
            <a:r>
              <a:rPr lang="en-US" sz="2400" b="1" dirty="0">
                <a:solidFill>
                  <a:srgbClr val="0070C0"/>
                </a:solidFill>
                <a:latin typeface="Courier New" panose="02070309020205020404" pitchFamily="49" charset="0"/>
                <a:cs typeface="Courier New" panose="02070309020205020404" pitchFamily="49" charset="0"/>
              </a:rPr>
              <a:t>while</a:t>
            </a:r>
            <a:r>
              <a:rPr lang="en-US" sz="2400" b="1" dirty="0"/>
              <a:t> </a:t>
            </a:r>
            <a:r>
              <a:rPr lang="en-US" sz="2400" dirty="0"/>
              <a:t>loop produces the following output:</a:t>
            </a:r>
          </a:p>
          <a:p>
            <a:pPr algn="l"/>
            <a:r>
              <a:rPr lang="en-US" sz="2400" b="1" dirty="0">
                <a:latin typeface="Courier New" panose="02070309020205020404" pitchFamily="49" charset="0"/>
                <a:cs typeface="Courier New" panose="02070309020205020404" pitchFamily="49" charset="0"/>
              </a:rPr>
              <a:t>0 5 10 15 20</a:t>
            </a:r>
          </a:p>
          <a:p>
            <a:pPr algn="l"/>
            <a:r>
              <a:rPr lang="en-US" altLang="en-US" sz="2400" dirty="0"/>
              <a:t>The variable </a:t>
            </a:r>
            <a:r>
              <a:rPr lang="en-US" altLang="en-US" sz="2400" b="1" dirty="0" err="1">
                <a:latin typeface="Courier New" panose="02070309020205020404" pitchFamily="49" charset="0"/>
                <a:cs typeface="Courier New" panose="02070309020205020404" pitchFamily="49" charset="0"/>
              </a:rPr>
              <a:t>i</a:t>
            </a:r>
            <a:r>
              <a:rPr lang="en-US" altLang="en-US" sz="2400" dirty="0"/>
              <a:t> is called the </a:t>
            </a:r>
            <a:r>
              <a:rPr lang="en-US" altLang="en-US" sz="2400" u="sng" dirty="0"/>
              <a:t>loop control variable</a:t>
            </a:r>
            <a:r>
              <a:rPr lang="en-US" altLang="en-US" sz="2400" dirty="0"/>
              <a:t> (</a:t>
            </a:r>
            <a:r>
              <a:rPr lang="en-US" altLang="en-US" sz="2400" u="sng" dirty="0"/>
              <a:t>LCV</a:t>
            </a:r>
            <a:r>
              <a:rPr lang="en-US" altLang="en-US" sz="2400" dirty="0"/>
              <a:t>). </a:t>
            </a:r>
          </a:p>
          <a:p>
            <a:pPr algn="l"/>
            <a:endParaRPr lang="en-US" sz="2000" dirty="0"/>
          </a:p>
        </p:txBody>
      </p:sp>
    </p:spTree>
    <p:extLst>
      <p:ext uri="{BB962C8B-B14F-4D97-AF65-F5344CB8AC3E}">
        <p14:creationId xmlns:p14="http://schemas.microsoft.com/office/powerpoint/2010/main" val="202877181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6913BD-8D27-21C8-91D6-0757DFEA2331}"/>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5494C06E-6F1A-829B-A01D-116B8787C16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A7C6FBBC-7791-481F-10C2-8A61587CDDE2}"/>
              </a:ext>
            </a:extLst>
          </p:cNvPr>
          <p:cNvSpPr txBox="1"/>
          <p:nvPr/>
        </p:nvSpPr>
        <p:spPr>
          <a:xfrm>
            <a:off x="0" y="65927"/>
            <a:ext cx="6858000" cy="646331"/>
          </a:xfrm>
          <a:prstGeom prst="rect">
            <a:avLst/>
          </a:prstGeom>
          <a:noFill/>
        </p:spPr>
        <p:txBody>
          <a:bodyPr wrap="square" rtlCol="0">
            <a:spAutoFit/>
          </a:bodyPr>
          <a:lstStyle/>
          <a:p>
            <a:pPr algn="ctr"/>
            <a:r>
              <a:rPr lang="en-US" sz="3600" b="1" dirty="0">
                <a:latin typeface="Arial" panose="020B0604020202020204" pitchFamily="34" charset="0"/>
                <a:cs typeface="Arial" panose="020B0604020202020204" pitchFamily="34" charset="0"/>
              </a:rPr>
              <a:t>While Loop</a:t>
            </a:r>
            <a:endParaRPr lang="en-ZA" sz="3600" b="1" dirty="0">
              <a:latin typeface="Arial" panose="020B0604020202020204" pitchFamily="34" charset="0"/>
              <a:cs typeface="Arial" panose="020B0604020202020204" pitchFamily="34" charset="0"/>
            </a:endParaRPr>
          </a:p>
        </p:txBody>
      </p:sp>
      <p:sp>
        <p:nvSpPr>
          <p:cNvPr id="2" name="Content Placeholder 2">
            <a:extLst>
              <a:ext uri="{FF2B5EF4-FFF2-40B4-BE49-F238E27FC236}">
                <a16:creationId xmlns:a16="http://schemas.microsoft.com/office/drawing/2014/main" id="{E32E0471-93F2-4934-6DEE-366466FE6D67}"/>
              </a:ext>
            </a:extLst>
          </p:cNvPr>
          <p:cNvSpPr txBox="1">
            <a:spLocks/>
          </p:cNvSpPr>
          <p:nvPr/>
        </p:nvSpPr>
        <p:spPr>
          <a:xfrm>
            <a:off x="471488" y="2637014"/>
            <a:ext cx="5915025" cy="6285266"/>
          </a:xfrm>
          <a:prstGeom prst="rect">
            <a:avLst/>
          </a:prstGeom>
        </p:spPr>
        <p:txBody>
          <a:bodyPr vert="horz" lIns="91440" tIns="45720" rIns="91440" bIns="45720" rtlCol="0">
            <a:normAutofit fontScale="92500" lnSpcReduction="10000"/>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US" sz="2600" b="1" dirty="0"/>
              <a:t>Examples:</a:t>
            </a:r>
          </a:p>
          <a:p>
            <a:pPr algn="l"/>
            <a:r>
              <a:rPr lang="en-US" sz="2600" b="1" dirty="0"/>
              <a:t>Case 1: Counter-Controlled while Loops</a:t>
            </a:r>
          </a:p>
          <a:p>
            <a:pPr algn="l"/>
            <a:endParaRPr lang="en-US" sz="2600" b="1" dirty="0"/>
          </a:p>
          <a:p>
            <a:pPr algn="l"/>
            <a:r>
              <a:rPr lang="en-US" altLang="en-US" sz="2600" dirty="0"/>
              <a:t>When you know exactly how many times the statements need to be executed</a:t>
            </a:r>
          </a:p>
          <a:p>
            <a:pPr marL="628650" lvl="1" indent="-285750" algn="l">
              <a:buFont typeface="Arial" panose="020B0604020202020204" pitchFamily="34" charset="0"/>
              <a:buChar char="•"/>
            </a:pPr>
            <a:r>
              <a:rPr lang="en-US" altLang="en-US" sz="2600" dirty="0"/>
              <a:t> Use a </a:t>
            </a:r>
            <a:r>
              <a:rPr lang="en-US" altLang="en-US" sz="2600" u="sng" dirty="0"/>
              <a:t>counter-controlled </a:t>
            </a:r>
            <a:r>
              <a:rPr lang="en-US" altLang="en-US" sz="2600" u="sng" dirty="0">
                <a:solidFill>
                  <a:srgbClr val="055C91"/>
                </a:solidFill>
                <a:uFill>
                  <a:solidFill>
                    <a:schemeClr val="tx1">
                      <a:lumMod val="75000"/>
                      <a:lumOff val="25000"/>
                    </a:schemeClr>
                  </a:solidFill>
                </a:uFill>
                <a:latin typeface="Courier New" pitchFamily="49" charset="0"/>
                <a:cs typeface="Courier New" pitchFamily="49" charset="0"/>
              </a:rPr>
              <a:t>while</a:t>
            </a:r>
            <a:r>
              <a:rPr lang="en-US" altLang="en-US" sz="2600" u="sng" dirty="0">
                <a:solidFill>
                  <a:srgbClr val="055C91"/>
                </a:solidFill>
              </a:rPr>
              <a:t> </a:t>
            </a:r>
            <a:r>
              <a:rPr lang="en-US" altLang="en-US" sz="2600" u="sng" dirty="0"/>
              <a:t>loop</a:t>
            </a:r>
          </a:p>
          <a:p>
            <a:pPr algn="l"/>
            <a:endParaRPr lang="en-US" sz="2600" b="1" dirty="0"/>
          </a:p>
          <a:p>
            <a:pPr algn="l"/>
            <a:r>
              <a:rPr lang="en-US" dirty="0">
                <a:solidFill>
                  <a:srgbClr val="0070C0"/>
                </a:solidFill>
              </a:rPr>
              <a:t>int</a:t>
            </a:r>
            <a:r>
              <a:rPr lang="en-US" dirty="0"/>
              <a:t> </a:t>
            </a:r>
            <a:r>
              <a:rPr lang="en-US" b="1" dirty="0"/>
              <a:t>counter</a:t>
            </a:r>
            <a:r>
              <a:rPr lang="en-US" dirty="0"/>
              <a:t> = 0; </a:t>
            </a:r>
            <a:r>
              <a:rPr lang="en-US" dirty="0">
                <a:solidFill>
                  <a:srgbClr val="00B050"/>
                </a:solidFill>
              </a:rPr>
              <a:t>//initialize the loop control variable</a:t>
            </a:r>
          </a:p>
          <a:p>
            <a:pPr algn="l"/>
            <a:r>
              <a:rPr lang="en-US" dirty="0">
                <a:solidFill>
                  <a:srgbClr val="0070C0"/>
                </a:solidFill>
              </a:rPr>
              <a:t>while</a:t>
            </a:r>
            <a:r>
              <a:rPr lang="en-US" dirty="0"/>
              <a:t> (</a:t>
            </a:r>
            <a:r>
              <a:rPr lang="en-US" b="1" dirty="0"/>
              <a:t>counter</a:t>
            </a:r>
            <a:r>
              <a:rPr lang="en-US" dirty="0"/>
              <a:t> &lt; N) </a:t>
            </a:r>
            <a:r>
              <a:rPr lang="en-US" dirty="0">
                <a:solidFill>
                  <a:srgbClr val="00B050"/>
                </a:solidFill>
              </a:rPr>
              <a:t>//test the loop control variable</a:t>
            </a:r>
          </a:p>
          <a:p>
            <a:pPr algn="l"/>
            <a:r>
              <a:rPr lang="en-ZA" dirty="0"/>
              <a:t>{</a:t>
            </a:r>
          </a:p>
          <a:p>
            <a:pPr algn="l"/>
            <a:r>
              <a:rPr lang="en-ZA" dirty="0"/>
              <a:t>.</a:t>
            </a:r>
          </a:p>
          <a:p>
            <a:pPr algn="l"/>
            <a:r>
              <a:rPr lang="en-ZA" dirty="0"/>
              <a:t>.</a:t>
            </a:r>
          </a:p>
          <a:p>
            <a:pPr algn="l"/>
            <a:r>
              <a:rPr lang="en-ZA" dirty="0"/>
              <a:t>.</a:t>
            </a:r>
          </a:p>
          <a:p>
            <a:pPr algn="l"/>
            <a:r>
              <a:rPr lang="en-US" dirty="0"/>
              <a:t>	</a:t>
            </a:r>
            <a:r>
              <a:rPr lang="en-US" b="1" dirty="0"/>
              <a:t>counter</a:t>
            </a:r>
            <a:r>
              <a:rPr lang="en-US" dirty="0"/>
              <a:t>++; </a:t>
            </a:r>
            <a:r>
              <a:rPr lang="en-US" dirty="0">
                <a:solidFill>
                  <a:srgbClr val="00B050"/>
                </a:solidFill>
              </a:rPr>
              <a:t>//update the loop control variable</a:t>
            </a:r>
          </a:p>
          <a:p>
            <a:pPr algn="l"/>
            <a:r>
              <a:rPr lang="en-ZA" dirty="0"/>
              <a:t>.</a:t>
            </a:r>
            <a:endParaRPr lang="en-ZA" dirty="0">
              <a:solidFill>
                <a:srgbClr val="00B050"/>
              </a:solidFill>
            </a:endParaRPr>
          </a:p>
          <a:p>
            <a:pPr algn="l"/>
            <a:r>
              <a:rPr lang="en-ZA" dirty="0"/>
              <a:t>.</a:t>
            </a:r>
          </a:p>
          <a:p>
            <a:pPr algn="l"/>
            <a:r>
              <a:rPr lang="en-ZA" dirty="0"/>
              <a:t>.</a:t>
            </a:r>
          </a:p>
          <a:p>
            <a:pPr algn="l"/>
            <a:r>
              <a:rPr lang="en-ZA" dirty="0"/>
              <a:t>}</a:t>
            </a:r>
            <a:endParaRPr lang="en-US" sz="2600" dirty="0"/>
          </a:p>
        </p:txBody>
      </p:sp>
    </p:spTree>
    <p:extLst>
      <p:ext uri="{BB962C8B-B14F-4D97-AF65-F5344CB8AC3E}">
        <p14:creationId xmlns:p14="http://schemas.microsoft.com/office/powerpoint/2010/main" val="326864259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192E8C-9BC4-AB51-C6CF-3D8C413C2D2E}"/>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0071C9AD-89A9-C3DA-9F90-BD246DC9388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8FBADC48-BE07-F404-A179-C470F79BD86E}"/>
              </a:ext>
            </a:extLst>
          </p:cNvPr>
          <p:cNvSpPr txBox="1"/>
          <p:nvPr/>
        </p:nvSpPr>
        <p:spPr>
          <a:xfrm>
            <a:off x="0" y="65927"/>
            <a:ext cx="6858000" cy="646331"/>
          </a:xfrm>
          <a:prstGeom prst="rect">
            <a:avLst/>
          </a:prstGeom>
          <a:noFill/>
        </p:spPr>
        <p:txBody>
          <a:bodyPr wrap="square" rtlCol="0">
            <a:spAutoFit/>
          </a:bodyPr>
          <a:lstStyle/>
          <a:p>
            <a:pPr algn="ctr"/>
            <a:r>
              <a:rPr lang="en-US" sz="3600" b="1" dirty="0">
                <a:latin typeface="Arial" panose="020B0604020202020204" pitchFamily="34" charset="0"/>
                <a:cs typeface="Arial" panose="020B0604020202020204" pitchFamily="34" charset="0"/>
              </a:rPr>
              <a:t>While Loop</a:t>
            </a:r>
            <a:endParaRPr lang="en-ZA" sz="3600" b="1" dirty="0">
              <a:latin typeface="Arial" panose="020B0604020202020204" pitchFamily="34" charset="0"/>
              <a:cs typeface="Arial" panose="020B0604020202020204" pitchFamily="34" charset="0"/>
            </a:endParaRPr>
          </a:p>
        </p:txBody>
      </p:sp>
      <p:sp>
        <p:nvSpPr>
          <p:cNvPr id="2" name="Content Placeholder 2">
            <a:extLst>
              <a:ext uri="{FF2B5EF4-FFF2-40B4-BE49-F238E27FC236}">
                <a16:creationId xmlns:a16="http://schemas.microsoft.com/office/drawing/2014/main" id="{54AE0153-DF6B-3C1E-6556-E5CB6E729DCB}"/>
              </a:ext>
            </a:extLst>
          </p:cNvPr>
          <p:cNvSpPr txBox="1">
            <a:spLocks/>
          </p:cNvSpPr>
          <p:nvPr/>
        </p:nvSpPr>
        <p:spPr>
          <a:xfrm>
            <a:off x="471488" y="2637014"/>
            <a:ext cx="5915025" cy="6285266"/>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US" sz="2400" b="1" dirty="0"/>
              <a:t>Examples:</a:t>
            </a:r>
          </a:p>
          <a:p>
            <a:pPr algn="l"/>
            <a:r>
              <a:rPr lang="en-US" sz="2400" b="1" dirty="0"/>
              <a:t>Case 1: Counter-Controlled while Loops</a:t>
            </a:r>
          </a:p>
          <a:p>
            <a:pPr algn="l"/>
            <a:endParaRPr lang="en-US" sz="2400" b="1" dirty="0"/>
          </a:p>
          <a:p>
            <a:pPr algn="l"/>
            <a:r>
              <a:rPr lang="en-US" altLang="en-US" sz="2400" dirty="0"/>
              <a:t>When you know exactly how many times the statements need to be executed</a:t>
            </a:r>
          </a:p>
          <a:p>
            <a:pPr marL="628650" lvl="1" indent="-285750" algn="l">
              <a:buFont typeface="Arial" panose="020B0604020202020204" pitchFamily="34" charset="0"/>
              <a:buChar char="•"/>
            </a:pPr>
            <a:r>
              <a:rPr lang="en-US" altLang="en-US" sz="2400" dirty="0"/>
              <a:t> Use a </a:t>
            </a:r>
            <a:r>
              <a:rPr lang="en-US" altLang="en-US" sz="2400" u="sng" dirty="0"/>
              <a:t>counter-controlled </a:t>
            </a:r>
            <a:r>
              <a:rPr lang="en-US" altLang="en-US" sz="2400" u="sng" dirty="0">
                <a:solidFill>
                  <a:srgbClr val="055C91"/>
                </a:solidFill>
                <a:uFill>
                  <a:solidFill>
                    <a:schemeClr val="tx1">
                      <a:lumMod val="75000"/>
                      <a:lumOff val="25000"/>
                    </a:schemeClr>
                  </a:solidFill>
                </a:uFill>
                <a:latin typeface="Courier New" pitchFamily="49" charset="0"/>
                <a:cs typeface="Courier New" pitchFamily="49" charset="0"/>
              </a:rPr>
              <a:t>while</a:t>
            </a:r>
            <a:r>
              <a:rPr lang="en-US" altLang="en-US" sz="2400" u="sng" dirty="0">
                <a:solidFill>
                  <a:srgbClr val="055C91"/>
                </a:solidFill>
              </a:rPr>
              <a:t> </a:t>
            </a:r>
            <a:r>
              <a:rPr lang="en-US" altLang="en-US" sz="2400" u="sng" dirty="0"/>
              <a:t>loop</a:t>
            </a:r>
          </a:p>
          <a:p>
            <a:pPr algn="l"/>
            <a:endParaRPr lang="en-US" sz="2600" b="1" dirty="0"/>
          </a:p>
          <a:p>
            <a:pPr algn="l"/>
            <a:r>
              <a:rPr lang="en-US" dirty="0">
                <a:solidFill>
                  <a:srgbClr val="0070C0"/>
                </a:solidFill>
              </a:rPr>
              <a:t>int</a:t>
            </a:r>
            <a:r>
              <a:rPr lang="en-US" dirty="0"/>
              <a:t> </a:t>
            </a:r>
            <a:r>
              <a:rPr lang="en-US" b="1" dirty="0" err="1"/>
              <a:t>i</a:t>
            </a:r>
            <a:r>
              <a:rPr lang="en-US" dirty="0"/>
              <a:t> = 0; </a:t>
            </a:r>
            <a:r>
              <a:rPr lang="en-US" dirty="0">
                <a:solidFill>
                  <a:srgbClr val="00B050"/>
                </a:solidFill>
              </a:rPr>
              <a:t>//initialize the loop control variable</a:t>
            </a:r>
          </a:p>
          <a:p>
            <a:pPr algn="l"/>
            <a:r>
              <a:rPr lang="en-US" dirty="0">
                <a:solidFill>
                  <a:srgbClr val="0070C0"/>
                </a:solidFill>
              </a:rPr>
              <a:t>while</a:t>
            </a:r>
            <a:r>
              <a:rPr lang="en-US" dirty="0"/>
              <a:t> (</a:t>
            </a:r>
            <a:r>
              <a:rPr lang="en-US" b="1" dirty="0" err="1"/>
              <a:t>i</a:t>
            </a:r>
            <a:r>
              <a:rPr lang="en-US" dirty="0"/>
              <a:t> &lt; 20) </a:t>
            </a:r>
            <a:r>
              <a:rPr lang="en-US" dirty="0">
                <a:solidFill>
                  <a:srgbClr val="00B050"/>
                </a:solidFill>
              </a:rPr>
              <a:t>//test the loop control variable</a:t>
            </a:r>
          </a:p>
          <a:p>
            <a:pPr algn="l"/>
            <a:r>
              <a:rPr lang="en-ZA" dirty="0"/>
              <a:t>{</a:t>
            </a:r>
          </a:p>
          <a:p>
            <a:pPr algn="l"/>
            <a:r>
              <a:rPr lang="en-US" dirty="0"/>
              <a:t>	</a:t>
            </a:r>
            <a:r>
              <a:rPr lang="en-US" b="1" dirty="0" err="1"/>
              <a:t>i</a:t>
            </a:r>
            <a:r>
              <a:rPr lang="en-US" dirty="0"/>
              <a:t> = </a:t>
            </a:r>
            <a:r>
              <a:rPr lang="en-US" b="1" dirty="0" err="1"/>
              <a:t>i</a:t>
            </a:r>
            <a:r>
              <a:rPr lang="en-US" dirty="0"/>
              <a:t> + 5; </a:t>
            </a:r>
            <a:r>
              <a:rPr lang="en-US" dirty="0">
                <a:solidFill>
                  <a:srgbClr val="00B050"/>
                </a:solidFill>
              </a:rPr>
              <a:t>//update the loop control variable</a:t>
            </a:r>
            <a:endParaRPr lang="en-ZA" dirty="0"/>
          </a:p>
          <a:p>
            <a:pPr algn="l"/>
            <a:r>
              <a:rPr lang="en-ZA" dirty="0"/>
              <a:t>}</a:t>
            </a:r>
          </a:p>
          <a:p>
            <a:pPr algn="l"/>
            <a:r>
              <a:rPr lang="en-ZA" dirty="0" err="1"/>
              <a:t>cout</a:t>
            </a:r>
            <a:r>
              <a:rPr lang="en-ZA" dirty="0"/>
              <a:t> &lt;&lt; “Value of i = ” &lt;&lt; </a:t>
            </a:r>
            <a:r>
              <a:rPr lang="en-ZA" dirty="0" err="1"/>
              <a:t>i</a:t>
            </a:r>
            <a:r>
              <a:rPr lang="en-ZA" dirty="0"/>
              <a:t> &lt;&lt; </a:t>
            </a:r>
            <a:r>
              <a:rPr lang="en-ZA" dirty="0" err="1"/>
              <a:t>endl</a:t>
            </a:r>
            <a:r>
              <a:rPr lang="en-ZA" dirty="0"/>
              <a:t>;</a:t>
            </a:r>
            <a:endParaRPr lang="en-US" dirty="0"/>
          </a:p>
        </p:txBody>
      </p:sp>
    </p:spTree>
    <p:extLst>
      <p:ext uri="{BB962C8B-B14F-4D97-AF65-F5344CB8AC3E}">
        <p14:creationId xmlns:p14="http://schemas.microsoft.com/office/powerpoint/2010/main" val="127928743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74D373-FD51-4ED7-FDD0-12FA3E7A1579}"/>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03D75683-59D8-7254-9924-B3121A6F32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236866EA-FD12-3CF6-1F9C-65FA04485E39}"/>
              </a:ext>
            </a:extLst>
          </p:cNvPr>
          <p:cNvSpPr txBox="1"/>
          <p:nvPr/>
        </p:nvSpPr>
        <p:spPr>
          <a:xfrm>
            <a:off x="0" y="65927"/>
            <a:ext cx="6858000" cy="646331"/>
          </a:xfrm>
          <a:prstGeom prst="rect">
            <a:avLst/>
          </a:prstGeom>
          <a:noFill/>
        </p:spPr>
        <p:txBody>
          <a:bodyPr wrap="square" rtlCol="0">
            <a:spAutoFit/>
          </a:bodyPr>
          <a:lstStyle/>
          <a:p>
            <a:pPr algn="ctr"/>
            <a:r>
              <a:rPr lang="en-US" sz="3600" b="1" dirty="0">
                <a:latin typeface="Arial" panose="020B0604020202020204" pitchFamily="34" charset="0"/>
                <a:cs typeface="Arial" panose="020B0604020202020204" pitchFamily="34" charset="0"/>
              </a:rPr>
              <a:t>While Loop</a:t>
            </a:r>
            <a:endParaRPr lang="en-ZA" sz="3600" b="1" dirty="0">
              <a:latin typeface="Arial" panose="020B0604020202020204" pitchFamily="34" charset="0"/>
              <a:cs typeface="Arial" panose="020B0604020202020204" pitchFamily="34" charset="0"/>
            </a:endParaRPr>
          </a:p>
        </p:txBody>
      </p:sp>
      <p:sp>
        <p:nvSpPr>
          <p:cNvPr id="2" name="Content Placeholder 2">
            <a:extLst>
              <a:ext uri="{FF2B5EF4-FFF2-40B4-BE49-F238E27FC236}">
                <a16:creationId xmlns:a16="http://schemas.microsoft.com/office/drawing/2014/main" id="{ECEEEA4D-7656-13B9-7B52-67A7B3A88379}"/>
              </a:ext>
            </a:extLst>
          </p:cNvPr>
          <p:cNvSpPr txBox="1">
            <a:spLocks/>
          </p:cNvSpPr>
          <p:nvPr/>
        </p:nvSpPr>
        <p:spPr>
          <a:xfrm>
            <a:off x="471488" y="2637014"/>
            <a:ext cx="5915025" cy="6285266"/>
          </a:xfrm>
          <a:prstGeom prst="rect">
            <a:avLst/>
          </a:prstGeom>
        </p:spPr>
        <p:txBody>
          <a:bodyPr vert="horz" lIns="91440" tIns="45720" rIns="91440" bIns="45720" rtlCol="0">
            <a:normAutofit fontScale="92500" lnSpcReduction="20000"/>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US" sz="2600" b="1" dirty="0"/>
              <a:t>Examples:</a:t>
            </a:r>
          </a:p>
          <a:p>
            <a:pPr algn="l"/>
            <a:r>
              <a:rPr lang="en-US" sz="2600" b="1" dirty="0"/>
              <a:t>Case 2: Sentinel-Controlled while Loops</a:t>
            </a:r>
          </a:p>
          <a:p>
            <a:pPr marL="342900" indent="-342900" algn="l">
              <a:buFont typeface="Arial" panose="020B0604020202020204" pitchFamily="34" charset="0"/>
              <a:buChar char="•"/>
            </a:pPr>
            <a:r>
              <a:rPr lang="en-US" altLang="en-US" sz="2600" dirty="0"/>
              <a:t>A </a:t>
            </a:r>
            <a:r>
              <a:rPr lang="en-US" altLang="en-US" sz="2600" u="sng" dirty="0"/>
              <a:t>sentinel</a:t>
            </a:r>
            <a:r>
              <a:rPr lang="en-US" altLang="en-US" sz="2600" dirty="0"/>
              <a:t> variable is tested in the condition. The loop ends when the sentinel is encountered.</a:t>
            </a:r>
          </a:p>
          <a:p>
            <a:pPr marL="342900" indent="-342900" algn="l">
              <a:buFont typeface="Arial" panose="020B0604020202020204" pitchFamily="34" charset="0"/>
              <a:buChar char="•"/>
            </a:pPr>
            <a:r>
              <a:rPr lang="en-US" altLang="en-US" sz="2600" dirty="0"/>
              <a:t>The following is an example of a </a:t>
            </a:r>
            <a:r>
              <a:rPr lang="en-US" sz="2600" u="sng" dirty="0"/>
              <a:t>sentinel-controlled</a:t>
            </a:r>
            <a:r>
              <a:rPr lang="en-US" sz="2600" b="1" u="sng" dirty="0">
                <a:solidFill>
                  <a:srgbClr val="055C91"/>
                </a:solidFill>
              </a:rPr>
              <a:t> </a:t>
            </a:r>
            <a:r>
              <a:rPr lang="en-US" sz="2600" b="1" u="sng" dirty="0">
                <a:solidFill>
                  <a:srgbClr val="055C91"/>
                </a:solidFill>
                <a:uFill>
                  <a:solidFill>
                    <a:schemeClr val="tx1">
                      <a:lumMod val="75000"/>
                      <a:lumOff val="25000"/>
                    </a:schemeClr>
                  </a:solidFill>
                </a:uFill>
                <a:latin typeface="Courier New" panose="02070309020205020404" pitchFamily="49" charset="0"/>
                <a:cs typeface="Courier New" panose="02070309020205020404" pitchFamily="49" charset="0"/>
              </a:rPr>
              <a:t>while</a:t>
            </a:r>
            <a:r>
              <a:rPr lang="en-US" sz="2600" b="1" u="sng" dirty="0">
                <a:solidFill>
                  <a:srgbClr val="055C91"/>
                </a:solidFill>
              </a:rPr>
              <a:t> </a:t>
            </a:r>
            <a:r>
              <a:rPr lang="en-US" sz="2600" u="sng" dirty="0"/>
              <a:t>loop</a:t>
            </a:r>
            <a:r>
              <a:rPr lang="en-US" sz="2600" dirty="0"/>
              <a:t>:</a:t>
            </a:r>
            <a:endParaRPr lang="en-US" altLang="en-US" sz="2600" u="sng" dirty="0"/>
          </a:p>
          <a:p>
            <a:pPr algn="l"/>
            <a:endParaRPr lang="en-US" sz="2600" b="1" dirty="0"/>
          </a:p>
          <a:p>
            <a:pPr algn="l"/>
            <a:r>
              <a:rPr lang="en-US" dirty="0" err="1">
                <a:solidFill>
                  <a:srgbClr val="0070C0"/>
                </a:solidFill>
              </a:rPr>
              <a:t>cin</a:t>
            </a:r>
            <a:r>
              <a:rPr lang="en-US" dirty="0"/>
              <a:t> &gt;&gt; </a:t>
            </a:r>
            <a:r>
              <a:rPr lang="en-US" b="1" dirty="0"/>
              <a:t>variable</a:t>
            </a:r>
            <a:r>
              <a:rPr lang="en-US" dirty="0"/>
              <a:t>; </a:t>
            </a:r>
            <a:r>
              <a:rPr lang="en-US" dirty="0">
                <a:solidFill>
                  <a:srgbClr val="00B050"/>
                </a:solidFill>
              </a:rPr>
              <a:t>//initialize the loop control variable</a:t>
            </a:r>
          </a:p>
          <a:p>
            <a:pPr algn="l"/>
            <a:endParaRPr lang="en-US" dirty="0">
              <a:solidFill>
                <a:srgbClr val="00B050"/>
              </a:solidFill>
            </a:endParaRPr>
          </a:p>
          <a:p>
            <a:pPr algn="l"/>
            <a:r>
              <a:rPr lang="en-US" dirty="0">
                <a:solidFill>
                  <a:srgbClr val="0070C0"/>
                </a:solidFill>
              </a:rPr>
              <a:t>while</a:t>
            </a:r>
            <a:r>
              <a:rPr lang="en-US" dirty="0"/>
              <a:t> (</a:t>
            </a:r>
            <a:r>
              <a:rPr lang="en-US" b="1" dirty="0"/>
              <a:t>variable</a:t>
            </a:r>
            <a:r>
              <a:rPr lang="en-US" dirty="0"/>
              <a:t> != sentinel) </a:t>
            </a:r>
            <a:r>
              <a:rPr lang="en-US" dirty="0">
                <a:solidFill>
                  <a:srgbClr val="00B050"/>
                </a:solidFill>
              </a:rPr>
              <a:t>//test the loop control variable</a:t>
            </a:r>
          </a:p>
          <a:p>
            <a:pPr algn="l"/>
            <a:r>
              <a:rPr lang="en-ZA" dirty="0"/>
              <a:t>{</a:t>
            </a:r>
          </a:p>
          <a:p>
            <a:pPr algn="l"/>
            <a:r>
              <a:rPr lang="en-ZA" dirty="0"/>
              <a:t>.</a:t>
            </a:r>
          </a:p>
          <a:p>
            <a:pPr algn="l"/>
            <a:r>
              <a:rPr lang="en-ZA" dirty="0"/>
              <a:t>.</a:t>
            </a:r>
          </a:p>
          <a:p>
            <a:pPr algn="l"/>
            <a:r>
              <a:rPr lang="en-ZA" dirty="0"/>
              <a:t>.</a:t>
            </a:r>
          </a:p>
          <a:p>
            <a:pPr algn="l"/>
            <a:r>
              <a:rPr lang="en-US" dirty="0"/>
              <a:t>	</a:t>
            </a:r>
            <a:r>
              <a:rPr lang="en-US" b="1" dirty="0" err="1">
                <a:solidFill>
                  <a:srgbClr val="0070C0"/>
                </a:solidFill>
              </a:rPr>
              <a:t>cin</a:t>
            </a:r>
            <a:r>
              <a:rPr lang="en-US" b="1" dirty="0"/>
              <a:t> &gt;&gt; variable</a:t>
            </a:r>
            <a:r>
              <a:rPr lang="en-US" dirty="0"/>
              <a:t>; </a:t>
            </a:r>
            <a:r>
              <a:rPr lang="en-US" dirty="0">
                <a:solidFill>
                  <a:srgbClr val="00B050"/>
                </a:solidFill>
              </a:rPr>
              <a:t>//update the loop control variable</a:t>
            </a:r>
          </a:p>
          <a:p>
            <a:pPr algn="l"/>
            <a:r>
              <a:rPr lang="en-ZA" dirty="0"/>
              <a:t>.</a:t>
            </a:r>
            <a:endParaRPr lang="en-ZA" dirty="0">
              <a:solidFill>
                <a:srgbClr val="00B050"/>
              </a:solidFill>
            </a:endParaRPr>
          </a:p>
          <a:p>
            <a:pPr algn="l"/>
            <a:r>
              <a:rPr lang="en-ZA" dirty="0"/>
              <a:t>.</a:t>
            </a:r>
          </a:p>
          <a:p>
            <a:pPr algn="l"/>
            <a:r>
              <a:rPr lang="en-ZA" dirty="0"/>
              <a:t>.</a:t>
            </a:r>
          </a:p>
          <a:p>
            <a:pPr algn="l"/>
            <a:r>
              <a:rPr lang="en-ZA" dirty="0"/>
              <a:t>}</a:t>
            </a:r>
            <a:endParaRPr lang="en-US" sz="2600" dirty="0"/>
          </a:p>
        </p:txBody>
      </p:sp>
    </p:spTree>
    <p:extLst>
      <p:ext uri="{BB962C8B-B14F-4D97-AF65-F5344CB8AC3E}">
        <p14:creationId xmlns:p14="http://schemas.microsoft.com/office/powerpoint/2010/main" val="264435457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39C300-D2E4-590B-D1D6-3EAFE6A7DF98}"/>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84046EB0-209C-96D1-25F5-920D76B5CE8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D9981422-A01C-06C6-731B-843C53CA9138}"/>
              </a:ext>
            </a:extLst>
          </p:cNvPr>
          <p:cNvSpPr txBox="1"/>
          <p:nvPr/>
        </p:nvSpPr>
        <p:spPr>
          <a:xfrm>
            <a:off x="0" y="65927"/>
            <a:ext cx="6858000" cy="646331"/>
          </a:xfrm>
          <a:prstGeom prst="rect">
            <a:avLst/>
          </a:prstGeom>
          <a:noFill/>
        </p:spPr>
        <p:txBody>
          <a:bodyPr wrap="square" rtlCol="0">
            <a:spAutoFit/>
          </a:bodyPr>
          <a:lstStyle/>
          <a:p>
            <a:pPr algn="ctr"/>
            <a:r>
              <a:rPr lang="en-US" sz="3600" b="1" dirty="0">
                <a:latin typeface="Arial" panose="020B0604020202020204" pitchFamily="34" charset="0"/>
                <a:cs typeface="Arial" panose="020B0604020202020204" pitchFamily="34" charset="0"/>
              </a:rPr>
              <a:t>While Loop</a:t>
            </a:r>
            <a:endParaRPr lang="en-ZA" sz="3600" b="1" dirty="0">
              <a:latin typeface="Arial" panose="020B0604020202020204" pitchFamily="34" charset="0"/>
              <a:cs typeface="Arial" panose="020B0604020202020204" pitchFamily="34" charset="0"/>
            </a:endParaRPr>
          </a:p>
        </p:txBody>
      </p:sp>
      <p:sp>
        <p:nvSpPr>
          <p:cNvPr id="2" name="Content Placeholder 2">
            <a:extLst>
              <a:ext uri="{FF2B5EF4-FFF2-40B4-BE49-F238E27FC236}">
                <a16:creationId xmlns:a16="http://schemas.microsoft.com/office/drawing/2014/main" id="{356CB888-4834-11B9-2914-91E8C52B1116}"/>
              </a:ext>
            </a:extLst>
          </p:cNvPr>
          <p:cNvSpPr txBox="1">
            <a:spLocks/>
          </p:cNvSpPr>
          <p:nvPr/>
        </p:nvSpPr>
        <p:spPr>
          <a:xfrm>
            <a:off x="471488" y="2637014"/>
            <a:ext cx="5915025" cy="6285266"/>
          </a:xfrm>
          <a:prstGeom prst="rect">
            <a:avLst/>
          </a:prstGeom>
        </p:spPr>
        <p:txBody>
          <a:bodyPr vert="horz" lIns="91440" tIns="45720" rIns="91440" bIns="45720" rtlCol="0">
            <a:normAutofit fontScale="55000" lnSpcReduction="20000"/>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US" sz="3800" b="1" dirty="0"/>
              <a:t>Examples:</a:t>
            </a:r>
          </a:p>
          <a:p>
            <a:pPr algn="l"/>
            <a:r>
              <a:rPr lang="en-US" sz="3800" b="1" dirty="0"/>
              <a:t>Case 2: Sentinel-Controlled while Loops</a:t>
            </a:r>
          </a:p>
          <a:p>
            <a:pPr marL="342900" indent="-342900" algn="l">
              <a:lnSpc>
                <a:spcPct val="120000"/>
              </a:lnSpc>
              <a:buFont typeface="Arial" panose="020B0604020202020204" pitchFamily="34" charset="0"/>
              <a:buChar char="•"/>
            </a:pPr>
            <a:r>
              <a:rPr lang="en-US" altLang="en-US" sz="3800" dirty="0"/>
              <a:t>A </a:t>
            </a:r>
            <a:r>
              <a:rPr lang="en-US" altLang="en-US" sz="3800" u="sng" dirty="0"/>
              <a:t>sentinel</a:t>
            </a:r>
            <a:r>
              <a:rPr lang="en-US" altLang="en-US" sz="3800" dirty="0"/>
              <a:t> variable is tested in the condition. The loop ends when the sentinel is encountered.</a:t>
            </a:r>
          </a:p>
          <a:p>
            <a:pPr marL="342900" indent="-342900" algn="l">
              <a:lnSpc>
                <a:spcPct val="120000"/>
              </a:lnSpc>
              <a:buFont typeface="Arial" panose="020B0604020202020204" pitchFamily="34" charset="0"/>
              <a:buChar char="•"/>
            </a:pPr>
            <a:r>
              <a:rPr lang="en-US" altLang="en-US" sz="3800" dirty="0"/>
              <a:t>The following is an example of a </a:t>
            </a:r>
            <a:r>
              <a:rPr lang="en-US" sz="3800" u="sng" dirty="0"/>
              <a:t>sentinel-controlled</a:t>
            </a:r>
            <a:r>
              <a:rPr lang="en-US" sz="3800" b="1" u="sng" dirty="0">
                <a:solidFill>
                  <a:srgbClr val="055C91"/>
                </a:solidFill>
              </a:rPr>
              <a:t> </a:t>
            </a:r>
            <a:r>
              <a:rPr lang="en-US" sz="3800" b="1" u="sng" dirty="0">
                <a:solidFill>
                  <a:srgbClr val="055C91"/>
                </a:solidFill>
                <a:uFill>
                  <a:solidFill>
                    <a:schemeClr val="tx1">
                      <a:lumMod val="75000"/>
                      <a:lumOff val="25000"/>
                    </a:schemeClr>
                  </a:solidFill>
                </a:uFill>
                <a:latin typeface="Courier New" panose="02070309020205020404" pitchFamily="49" charset="0"/>
                <a:cs typeface="Courier New" panose="02070309020205020404" pitchFamily="49" charset="0"/>
              </a:rPr>
              <a:t>while</a:t>
            </a:r>
            <a:r>
              <a:rPr lang="en-US" sz="3800" b="1" u="sng" dirty="0">
                <a:solidFill>
                  <a:srgbClr val="055C91"/>
                </a:solidFill>
              </a:rPr>
              <a:t> </a:t>
            </a:r>
            <a:r>
              <a:rPr lang="en-US" sz="3800" u="sng" dirty="0"/>
              <a:t>loop</a:t>
            </a:r>
            <a:r>
              <a:rPr lang="en-US" sz="3800" dirty="0"/>
              <a:t>:</a:t>
            </a:r>
            <a:endParaRPr lang="en-US" altLang="en-US" sz="3800" u="sng" dirty="0"/>
          </a:p>
          <a:p>
            <a:pPr algn="l"/>
            <a:endParaRPr lang="en-US" sz="2600" b="1" dirty="0"/>
          </a:p>
          <a:p>
            <a:pPr algn="l"/>
            <a:r>
              <a:rPr lang="en-US" sz="2700" dirty="0">
                <a:solidFill>
                  <a:srgbClr val="0070C0"/>
                </a:solidFill>
              </a:rPr>
              <a:t>int </a:t>
            </a:r>
            <a:r>
              <a:rPr lang="en-US" sz="2700" dirty="0"/>
              <a:t>num, sum = 0;</a:t>
            </a:r>
          </a:p>
          <a:p>
            <a:pPr algn="l"/>
            <a:r>
              <a:rPr lang="en-US" sz="2700" dirty="0">
                <a:solidFill>
                  <a:srgbClr val="0070C0"/>
                </a:solidFill>
              </a:rPr>
              <a:t>const</a:t>
            </a:r>
            <a:r>
              <a:rPr lang="en-US" sz="2700" dirty="0"/>
              <a:t> int sentinel = -1;</a:t>
            </a:r>
          </a:p>
          <a:p>
            <a:pPr algn="l"/>
            <a:endParaRPr lang="en-US" sz="2700" dirty="0">
              <a:solidFill>
                <a:srgbClr val="0070C0"/>
              </a:solidFill>
            </a:endParaRPr>
          </a:p>
          <a:p>
            <a:pPr algn="l"/>
            <a:r>
              <a:rPr lang="en-US" sz="2700" dirty="0" err="1">
                <a:solidFill>
                  <a:srgbClr val="0070C0"/>
                </a:solidFill>
              </a:rPr>
              <a:t>cout</a:t>
            </a:r>
            <a:r>
              <a:rPr lang="en-US" sz="2700" dirty="0">
                <a:solidFill>
                  <a:srgbClr val="0070C0"/>
                </a:solidFill>
              </a:rPr>
              <a:t> </a:t>
            </a:r>
            <a:r>
              <a:rPr lang="en-US" sz="2700" dirty="0"/>
              <a:t>&lt;&lt; “Enter number: ”;</a:t>
            </a:r>
          </a:p>
          <a:p>
            <a:pPr algn="l"/>
            <a:r>
              <a:rPr lang="en-US" sz="2700" dirty="0" err="1">
                <a:solidFill>
                  <a:srgbClr val="0070C0"/>
                </a:solidFill>
              </a:rPr>
              <a:t>cin</a:t>
            </a:r>
            <a:r>
              <a:rPr lang="en-US" sz="2700" dirty="0"/>
              <a:t> &gt;&gt; </a:t>
            </a:r>
            <a:r>
              <a:rPr lang="en-US" sz="2700" b="1" dirty="0"/>
              <a:t>num</a:t>
            </a:r>
            <a:r>
              <a:rPr lang="en-US" sz="2700" dirty="0"/>
              <a:t>; </a:t>
            </a:r>
            <a:r>
              <a:rPr lang="en-US" sz="2700" dirty="0">
                <a:solidFill>
                  <a:srgbClr val="00B050"/>
                </a:solidFill>
              </a:rPr>
              <a:t>//initialize the loop control variable</a:t>
            </a:r>
          </a:p>
          <a:p>
            <a:pPr algn="l"/>
            <a:endParaRPr lang="en-US" sz="2700" dirty="0">
              <a:solidFill>
                <a:srgbClr val="00B050"/>
              </a:solidFill>
            </a:endParaRPr>
          </a:p>
          <a:p>
            <a:pPr algn="l"/>
            <a:r>
              <a:rPr lang="en-US" sz="2700" dirty="0">
                <a:solidFill>
                  <a:srgbClr val="0070C0"/>
                </a:solidFill>
              </a:rPr>
              <a:t>while</a:t>
            </a:r>
            <a:r>
              <a:rPr lang="en-US" sz="2700" dirty="0"/>
              <a:t> (</a:t>
            </a:r>
            <a:r>
              <a:rPr lang="en-US" sz="2700" b="1" dirty="0"/>
              <a:t>num</a:t>
            </a:r>
            <a:r>
              <a:rPr lang="en-US" sz="2700" dirty="0"/>
              <a:t> != sentinel) </a:t>
            </a:r>
            <a:r>
              <a:rPr lang="en-US" sz="2700" dirty="0">
                <a:solidFill>
                  <a:srgbClr val="00B050"/>
                </a:solidFill>
              </a:rPr>
              <a:t>//test the loop control variable</a:t>
            </a:r>
          </a:p>
          <a:p>
            <a:pPr algn="l"/>
            <a:r>
              <a:rPr lang="en-ZA" sz="2700" dirty="0"/>
              <a:t>{</a:t>
            </a:r>
          </a:p>
          <a:p>
            <a:pPr algn="l"/>
            <a:r>
              <a:rPr lang="en-US" sz="2700" dirty="0"/>
              <a:t>	</a:t>
            </a:r>
            <a:r>
              <a:rPr lang="en-US" sz="2700" b="1" dirty="0"/>
              <a:t>sum = sum + num * (num + 2)</a:t>
            </a:r>
            <a:r>
              <a:rPr lang="en-US" sz="2700" dirty="0"/>
              <a:t>; </a:t>
            </a:r>
            <a:r>
              <a:rPr lang="en-US" sz="2700" dirty="0">
                <a:solidFill>
                  <a:srgbClr val="00B050"/>
                </a:solidFill>
              </a:rPr>
              <a:t>//update the loop control variable</a:t>
            </a:r>
          </a:p>
          <a:p>
            <a:pPr algn="l"/>
            <a:r>
              <a:rPr lang="en-US" sz="2700" dirty="0">
                <a:solidFill>
                  <a:srgbClr val="00B050"/>
                </a:solidFill>
              </a:rPr>
              <a:t>	// prompt for user input and test whether the loop control variable is NOT a SENTINEL Value (-1)</a:t>
            </a:r>
          </a:p>
          <a:p>
            <a:pPr lvl="2" algn="l"/>
            <a:r>
              <a:rPr lang="en-US" sz="2700" dirty="0" err="1">
                <a:solidFill>
                  <a:srgbClr val="0070C0"/>
                </a:solidFill>
              </a:rPr>
              <a:t>cout</a:t>
            </a:r>
            <a:r>
              <a:rPr lang="en-US" sz="2700" dirty="0">
                <a:solidFill>
                  <a:srgbClr val="0070C0"/>
                </a:solidFill>
              </a:rPr>
              <a:t> </a:t>
            </a:r>
            <a:r>
              <a:rPr lang="en-US" sz="2700" dirty="0"/>
              <a:t>&lt;&lt; “Enter number again: ”;</a:t>
            </a:r>
          </a:p>
          <a:p>
            <a:pPr lvl="2" algn="l"/>
            <a:r>
              <a:rPr lang="en-US" sz="2700" dirty="0" err="1">
                <a:solidFill>
                  <a:srgbClr val="0070C0"/>
                </a:solidFill>
              </a:rPr>
              <a:t>cin</a:t>
            </a:r>
            <a:r>
              <a:rPr lang="en-US" sz="2700" dirty="0"/>
              <a:t> &gt;&gt; </a:t>
            </a:r>
            <a:r>
              <a:rPr lang="en-US" sz="2700" b="1" dirty="0"/>
              <a:t>num</a:t>
            </a:r>
            <a:r>
              <a:rPr lang="en-US" sz="2700" dirty="0"/>
              <a:t>; </a:t>
            </a:r>
            <a:r>
              <a:rPr lang="en-US" sz="2700" dirty="0">
                <a:solidFill>
                  <a:srgbClr val="00B050"/>
                </a:solidFill>
              </a:rPr>
              <a:t>//initialize the loop control variable</a:t>
            </a:r>
            <a:endParaRPr lang="en-ZA" sz="2700" dirty="0"/>
          </a:p>
          <a:p>
            <a:pPr algn="l"/>
            <a:r>
              <a:rPr lang="en-ZA" sz="2700" dirty="0"/>
              <a:t>}</a:t>
            </a:r>
          </a:p>
          <a:p>
            <a:pPr algn="l"/>
            <a:r>
              <a:rPr lang="en-ZA" sz="2700" dirty="0" err="1"/>
              <a:t>cout</a:t>
            </a:r>
            <a:r>
              <a:rPr lang="en-ZA" sz="2700" dirty="0"/>
              <a:t> &lt;&lt; “Sum = ” &lt;&lt; sum &lt;&lt; </a:t>
            </a:r>
            <a:r>
              <a:rPr lang="en-ZA" sz="2700" dirty="0" err="1"/>
              <a:t>endl</a:t>
            </a:r>
            <a:r>
              <a:rPr lang="en-ZA" sz="2700" dirty="0"/>
              <a:t>;</a:t>
            </a:r>
            <a:endParaRPr lang="en-US" sz="2700" dirty="0"/>
          </a:p>
        </p:txBody>
      </p:sp>
    </p:spTree>
    <p:extLst>
      <p:ext uri="{BB962C8B-B14F-4D97-AF65-F5344CB8AC3E}">
        <p14:creationId xmlns:p14="http://schemas.microsoft.com/office/powerpoint/2010/main" val="269777012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DADEE9-E06C-58E3-505E-69ED02120A72}"/>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C7BBE40C-E004-3435-92F5-6880708D90D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AA1595B1-87F6-2EB6-6230-B9E814BFDEC9}"/>
              </a:ext>
            </a:extLst>
          </p:cNvPr>
          <p:cNvSpPr txBox="1"/>
          <p:nvPr/>
        </p:nvSpPr>
        <p:spPr>
          <a:xfrm>
            <a:off x="0" y="65927"/>
            <a:ext cx="6858000" cy="646331"/>
          </a:xfrm>
          <a:prstGeom prst="rect">
            <a:avLst/>
          </a:prstGeom>
          <a:noFill/>
        </p:spPr>
        <p:txBody>
          <a:bodyPr wrap="square" rtlCol="0">
            <a:spAutoFit/>
          </a:bodyPr>
          <a:lstStyle/>
          <a:p>
            <a:pPr algn="ctr"/>
            <a:r>
              <a:rPr lang="en-US" sz="3600" b="1" dirty="0">
                <a:latin typeface="Arial" panose="020B0604020202020204" pitchFamily="34" charset="0"/>
                <a:cs typeface="Arial" panose="020B0604020202020204" pitchFamily="34" charset="0"/>
              </a:rPr>
              <a:t>While Loop</a:t>
            </a:r>
            <a:endParaRPr lang="en-ZA" sz="3600" b="1" dirty="0">
              <a:latin typeface="Arial" panose="020B0604020202020204" pitchFamily="34" charset="0"/>
              <a:cs typeface="Arial" panose="020B0604020202020204" pitchFamily="34" charset="0"/>
            </a:endParaRPr>
          </a:p>
        </p:txBody>
      </p:sp>
      <p:sp>
        <p:nvSpPr>
          <p:cNvPr id="2" name="Content Placeholder 2">
            <a:extLst>
              <a:ext uri="{FF2B5EF4-FFF2-40B4-BE49-F238E27FC236}">
                <a16:creationId xmlns:a16="http://schemas.microsoft.com/office/drawing/2014/main" id="{E2361387-C579-7B74-0D48-BB5F5E8E4BFA}"/>
              </a:ext>
            </a:extLst>
          </p:cNvPr>
          <p:cNvSpPr txBox="1">
            <a:spLocks/>
          </p:cNvSpPr>
          <p:nvPr/>
        </p:nvSpPr>
        <p:spPr>
          <a:xfrm>
            <a:off x="471488" y="2637014"/>
            <a:ext cx="5915025" cy="6285266"/>
          </a:xfrm>
          <a:prstGeom prst="rect">
            <a:avLst/>
          </a:prstGeom>
        </p:spPr>
        <p:txBody>
          <a:bodyPr vert="horz" lIns="91440" tIns="45720" rIns="91440" bIns="45720" rtlCol="0">
            <a:normAutofit fontScale="62500" lnSpcReduction="20000"/>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US" sz="3800" b="1" dirty="0"/>
              <a:t>Examples:</a:t>
            </a:r>
          </a:p>
          <a:p>
            <a:pPr algn="l"/>
            <a:r>
              <a:rPr lang="en-US" sz="3800" b="1" dirty="0"/>
              <a:t>Case 3: Flag-Controlled while Loops</a:t>
            </a:r>
          </a:p>
          <a:p>
            <a:pPr algn="l">
              <a:lnSpc>
                <a:spcPct val="120000"/>
              </a:lnSpc>
            </a:pPr>
            <a:r>
              <a:rPr lang="en-US" sz="3400" dirty="0"/>
              <a:t>A </a:t>
            </a:r>
            <a:r>
              <a:rPr lang="en-US" sz="3400" b="1" dirty="0"/>
              <a:t>flag-controlled while loop </a:t>
            </a:r>
            <a:r>
              <a:rPr lang="en-US" sz="3400" dirty="0"/>
              <a:t>uses a </a:t>
            </a:r>
            <a:r>
              <a:rPr lang="en-US" sz="3400" b="1" dirty="0"/>
              <a:t>bool </a:t>
            </a:r>
            <a:r>
              <a:rPr lang="en-US" sz="3400" dirty="0"/>
              <a:t>variable to control the loop. </a:t>
            </a:r>
            <a:r>
              <a:rPr lang="en-US" sz="3400" b="1" dirty="0"/>
              <a:t>A flag variable </a:t>
            </a:r>
            <a:r>
              <a:rPr lang="en-US" sz="3400" dirty="0"/>
              <a:t>is a </a:t>
            </a:r>
            <a:r>
              <a:rPr lang="en-US" sz="3400" b="1" dirty="0"/>
              <a:t>bool </a:t>
            </a:r>
            <a:r>
              <a:rPr lang="en-US" sz="3400" dirty="0"/>
              <a:t>variable that indicates whether a condition is </a:t>
            </a:r>
            <a:r>
              <a:rPr lang="en-US" sz="3400" b="1" dirty="0"/>
              <a:t>true </a:t>
            </a:r>
            <a:r>
              <a:rPr lang="en-US" sz="3400" dirty="0"/>
              <a:t>or </a:t>
            </a:r>
            <a:r>
              <a:rPr lang="en-US" sz="3400" b="1" dirty="0"/>
              <a:t>false</a:t>
            </a:r>
            <a:r>
              <a:rPr lang="en-US" sz="3400" dirty="0"/>
              <a:t>. It is generally named for the </a:t>
            </a:r>
            <a:r>
              <a:rPr lang="en-US" sz="3400" b="1" dirty="0"/>
              <a:t>true </a:t>
            </a:r>
            <a:r>
              <a:rPr lang="en-US" sz="3400" dirty="0"/>
              <a:t>state of that condition: for example, </a:t>
            </a:r>
            <a:r>
              <a:rPr lang="en-US" sz="3400" b="1" dirty="0" err="1"/>
              <a:t>isFound</a:t>
            </a:r>
            <a:r>
              <a:rPr lang="en-US" sz="3400" dirty="0"/>
              <a:t>, </a:t>
            </a:r>
            <a:r>
              <a:rPr lang="en-US" sz="3400" b="1" dirty="0" err="1"/>
              <a:t>isTallEnough</a:t>
            </a:r>
            <a:r>
              <a:rPr lang="en-US" sz="3400" dirty="0"/>
              <a:t>, and </a:t>
            </a:r>
            <a:r>
              <a:rPr lang="en-US" sz="3400" b="1" dirty="0" err="1"/>
              <a:t>isFull</a:t>
            </a:r>
            <a:r>
              <a:rPr lang="en-US" sz="3400" dirty="0"/>
              <a:t>. Suppose </a:t>
            </a:r>
            <a:r>
              <a:rPr lang="en-US" sz="3400" b="1" dirty="0" err="1"/>
              <a:t>isFound</a:t>
            </a:r>
            <a:r>
              <a:rPr lang="en-US" sz="3400" b="1" dirty="0"/>
              <a:t> </a:t>
            </a:r>
            <a:r>
              <a:rPr lang="en-US" sz="3400" dirty="0"/>
              <a:t>is a </a:t>
            </a:r>
            <a:r>
              <a:rPr lang="en-US" sz="3400" b="1" dirty="0"/>
              <a:t>bool </a:t>
            </a:r>
            <a:r>
              <a:rPr lang="en-US" sz="3400" dirty="0"/>
              <a:t>variable. The flag-controlled </a:t>
            </a:r>
            <a:r>
              <a:rPr lang="en-US" sz="3400" b="1" dirty="0"/>
              <a:t>while </a:t>
            </a:r>
            <a:r>
              <a:rPr lang="en-US" sz="3400" dirty="0"/>
              <a:t>loop </a:t>
            </a:r>
            <a:r>
              <a:rPr lang="en-ZA" sz="3400" dirty="0"/>
              <a:t>takes the following form:</a:t>
            </a:r>
          </a:p>
          <a:p>
            <a:pPr algn="l"/>
            <a:endParaRPr lang="en-US" sz="2600" b="1" dirty="0"/>
          </a:p>
          <a:p>
            <a:pPr algn="l"/>
            <a:r>
              <a:rPr lang="en-US" dirty="0" err="1"/>
              <a:t>isFound</a:t>
            </a:r>
            <a:r>
              <a:rPr lang="en-US" dirty="0"/>
              <a:t> =</a:t>
            </a:r>
            <a:r>
              <a:rPr lang="en-US" dirty="0">
                <a:solidFill>
                  <a:srgbClr val="0070C0"/>
                </a:solidFill>
              </a:rPr>
              <a:t> false</a:t>
            </a:r>
            <a:r>
              <a:rPr lang="en-US" dirty="0"/>
              <a:t>; </a:t>
            </a:r>
            <a:r>
              <a:rPr lang="en-US" dirty="0">
                <a:solidFill>
                  <a:srgbClr val="00B050"/>
                </a:solidFill>
              </a:rPr>
              <a:t>//initialize the loop control variable</a:t>
            </a:r>
          </a:p>
          <a:p>
            <a:pPr algn="l"/>
            <a:endParaRPr lang="en-US" dirty="0">
              <a:solidFill>
                <a:srgbClr val="00B050"/>
              </a:solidFill>
            </a:endParaRPr>
          </a:p>
          <a:p>
            <a:pPr algn="l"/>
            <a:r>
              <a:rPr lang="en-US" dirty="0">
                <a:solidFill>
                  <a:srgbClr val="0070C0"/>
                </a:solidFill>
              </a:rPr>
              <a:t>while</a:t>
            </a:r>
            <a:r>
              <a:rPr lang="en-US" dirty="0"/>
              <a:t> (!found) </a:t>
            </a:r>
            <a:r>
              <a:rPr lang="en-US" dirty="0">
                <a:solidFill>
                  <a:srgbClr val="00B050"/>
                </a:solidFill>
              </a:rPr>
              <a:t>//test the loop control variable</a:t>
            </a:r>
          </a:p>
          <a:p>
            <a:pPr algn="l"/>
            <a:r>
              <a:rPr lang="en-ZA" dirty="0"/>
              <a:t>{</a:t>
            </a:r>
          </a:p>
          <a:p>
            <a:pPr algn="l"/>
            <a:r>
              <a:rPr lang="en-ZA" dirty="0"/>
              <a:t>.</a:t>
            </a:r>
          </a:p>
          <a:p>
            <a:pPr algn="l"/>
            <a:r>
              <a:rPr lang="en-ZA" dirty="0"/>
              <a:t>.</a:t>
            </a:r>
          </a:p>
          <a:p>
            <a:pPr algn="l"/>
            <a:r>
              <a:rPr lang="en-ZA" dirty="0"/>
              <a:t>.</a:t>
            </a:r>
          </a:p>
          <a:p>
            <a:pPr lvl="1" algn="l"/>
            <a:r>
              <a:rPr lang="en-US" dirty="0"/>
              <a:t>If (expression)	</a:t>
            </a:r>
          </a:p>
          <a:p>
            <a:pPr lvl="1" algn="l"/>
            <a:r>
              <a:rPr lang="en-US" b="1" dirty="0">
                <a:solidFill>
                  <a:srgbClr val="00B0F0"/>
                </a:solidFill>
              </a:rPr>
              <a:t>	</a:t>
            </a:r>
            <a:r>
              <a:rPr lang="en-US" b="1" dirty="0" err="1">
                <a:solidFill>
                  <a:srgbClr val="00B0F0"/>
                </a:solidFill>
              </a:rPr>
              <a:t>isFound</a:t>
            </a:r>
            <a:r>
              <a:rPr lang="en-US" b="1" dirty="0">
                <a:solidFill>
                  <a:srgbClr val="00B0F0"/>
                </a:solidFill>
              </a:rPr>
              <a:t> = true</a:t>
            </a:r>
            <a:r>
              <a:rPr lang="en-US" dirty="0"/>
              <a:t>; </a:t>
            </a:r>
            <a:r>
              <a:rPr lang="en-US" dirty="0">
                <a:solidFill>
                  <a:srgbClr val="00B050"/>
                </a:solidFill>
              </a:rPr>
              <a:t>//update the loop control variable</a:t>
            </a:r>
          </a:p>
          <a:p>
            <a:pPr algn="l"/>
            <a:r>
              <a:rPr lang="en-ZA" dirty="0"/>
              <a:t>.</a:t>
            </a:r>
            <a:endParaRPr lang="en-ZA" dirty="0">
              <a:solidFill>
                <a:srgbClr val="00B050"/>
              </a:solidFill>
            </a:endParaRPr>
          </a:p>
          <a:p>
            <a:pPr algn="l"/>
            <a:r>
              <a:rPr lang="en-ZA" dirty="0"/>
              <a:t>.</a:t>
            </a:r>
          </a:p>
          <a:p>
            <a:pPr algn="l"/>
            <a:r>
              <a:rPr lang="en-ZA" dirty="0"/>
              <a:t>.</a:t>
            </a:r>
          </a:p>
          <a:p>
            <a:pPr algn="l"/>
            <a:r>
              <a:rPr lang="en-ZA" dirty="0"/>
              <a:t>}</a:t>
            </a:r>
            <a:endParaRPr lang="en-US" sz="2600" dirty="0"/>
          </a:p>
        </p:txBody>
      </p:sp>
    </p:spTree>
    <p:extLst>
      <p:ext uri="{BB962C8B-B14F-4D97-AF65-F5344CB8AC3E}">
        <p14:creationId xmlns:p14="http://schemas.microsoft.com/office/powerpoint/2010/main" val="113945968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43AFA8-021C-9E2E-F251-22BD3823668E}"/>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EE82517A-B723-C103-9BB0-44F0571B5D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50C96B9E-FE76-1187-D84A-E95842D04DFD}"/>
              </a:ext>
            </a:extLst>
          </p:cNvPr>
          <p:cNvSpPr txBox="1"/>
          <p:nvPr/>
        </p:nvSpPr>
        <p:spPr>
          <a:xfrm>
            <a:off x="0" y="65927"/>
            <a:ext cx="6858000" cy="646331"/>
          </a:xfrm>
          <a:prstGeom prst="rect">
            <a:avLst/>
          </a:prstGeom>
          <a:noFill/>
        </p:spPr>
        <p:txBody>
          <a:bodyPr wrap="square" rtlCol="0">
            <a:spAutoFit/>
          </a:bodyPr>
          <a:lstStyle/>
          <a:p>
            <a:pPr algn="ctr"/>
            <a:r>
              <a:rPr lang="en-US" sz="3600" b="1" dirty="0">
                <a:latin typeface="Arial" panose="020B0604020202020204" pitchFamily="34" charset="0"/>
                <a:cs typeface="Arial" panose="020B0604020202020204" pitchFamily="34" charset="0"/>
              </a:rPr>
              <a:t>While Loop</a:t>
            </a:r>
            <a:endParaRPr lang="en-ZA" sz="3600" b="1" dirty="0">
              <a:latin typeface="Arial" panose="020B0604020202020204" pitchFamily="34" charset="0"/>
              <a:cs typeface="Arial" panose="020B0604020202020204" pitchFamily="34" charset="0"/>
            </a:endParaRPr>
          </a:p>
        </p:txBody>
      </p:sp>
      <p:sp>
        <p:nvSpPr>
          <p:cNvPr id="2" name="Content Placeholder 2">
            <a:extLst>
              <a:ext uri="{FF2B5EF4-FFF2-40B4-BE49-F238E27FC236}">
                <a16:creationId xmlns:a16="http://schemas.microsoft.com/office/drawing/2014/main" id="{B96E3BD0-80B3-CD16-BAAE-5F85003498B1}"/>
              </a:ext>
            </a:extLst>
          </p:cNvPr>
          <p:cNvSpPr txBox="1">
            <a:spLocks/>
          </p:cNvSpPr>
          <p:nvPr/>
        </p:nvSpPr>
        <p:spPr>
          <a:xfrm>
            <a:off x="471488" y="2637014"/>
            <a:ext cx="5915025" cy="6285266"/>
          </a:xfrm>
          <a:prstGeom prst="rect">
            <a:avLst/>
          </a:prstGeom>
        </p:spPr>
        <p:txBody>
          <a:bodyPr vert="horz" lIns="91440" tIns="45720" rIns="91440" bIns="45720" rtlCol="0">
            <a:normAutofit fontScale="40000" lnSpcReduction="20000"/>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US" sz="7400" b="1" dirty="0"/>
              <a:t>Examples:</a:t>
            </a:r>
          </a:p>
          <a:p>
            <a:pPr algn="l"/>
            <a:r>
              <a:rPr lang="en-US" sz="7400" b="1" dirty="0"/>
              <a:t>Case 3: Flag-Controlled while Loops</a:t>
            </a:r>
          </a:p>
          <a:p>
            <a:pPr algn="l"/>
            <a:endParaRPr lang="en-US" sz="2600" b="1" dirty="0"/>
          </a:p>
          <a:p>
            <a:pPr algn="l"/>
            <a:r>
              <a:rPr lang="en-US" sz="3800" dirty="0">
                <a:solidFill>
                  <a:srgbClr val="00B050"/>
                </a:solidFill>
              </a:rPr>
              <a:t>// Initialize the flag</a:t>
            </a:r>
          </a:p>
          <a:p>
            <a:pPr algn="l"/>
            <a:r>
              <a:rPr lang="en-US" sz="3800" dirty="0"/>
              <a:t>    bool </a:t>
            </a:r>
            <a:r>
              <a:rPr lang="en-US" sz="3800" dirty="0" err="1"/>
              <a:t>keepLooping</a:t>
            </a:r>
            <a:r>
              <a:rPr lang="en-US" sz="3800" dirty="0"/>
              <a:t> = true; </a:t>
            </a:r>
          </a:p>
          <a:p>
            <a:pPr algn="l"/>
            <a:r>
              <a:rPr lang="en-US" sz="3800" dirty="0"/>
              <a:t>    char </a:t>
            </a:r>
            <a:r>
              <a:rPr lang="en-US" sz="3800" dirty="0" err="1"/>
              <a:t>userInput</a:t>
            </a:r>
            <a:r>
              <a:rPr lang="en-US" sz="3800" dirty="0"/>
              <a:t>;</a:t>
            </a:r>
          </a:p>
          <a:p>
            <a:pPr algn="l"/>
            <a:endParaRPr lang="en-US" sz="3800" dirty="0"/>
          </a:p>
          <a:p>
            <a:pPr algn="l"/>
            <a:r>
              <a:rPr lang="en-US" sz="3800" dirty="0"/>
              <a:t>    </a:t>
            </a:r>
            <a:r>
              <a:rPr lang="en-US" sz="3800" dirty="0" err="1"/>
              <a:t>cout</a:t>
            </a:r>
            <a:r>
              <a:rPr lang="en-US" sz="3800" dirty="0"/>
              <a:t> &lt;&lt; "Starting the flag-controlled loop...\n";</a:t>
            </a:r>
          </a:p>
          <a:p>
            <a:pPr algn="l"/>
            <a:endParaRPr lang="en-US" sz="3800" dirty="0"/>
          </a:p>
          <a:p>
            <a:pPr algn="l"/>
            <a:r>
              <a:rPr lang="en-US" sz="3800" dirty="0">
                <a:solidFill>
                  <a:srgbClr val="00B050"/>
                </a:solidFill>
              </a:rPr>
              <a:t>    // The loop runs as long as the flag is true</a:t>
            </a:r>
          </a:p>
          <a:p>
            <a:pPr algn="l"/>
            <a:r>
              <a:rPr lang="en-US" sz="3800" dirty="0"/>
              <a:t>    while (</a:t>
            </a:r>
            <a:r>
              <a:rPr lang="en-US" sz="3800" dirty="0" err="1"/>
              <a:t>keepLooping</a:t>
            </a:r>
            <a:r>
              <a:rPr lang="en-US" sz="3800" dirty="0"/>
              <a:t>) {</a:t>
            </a:r>
          </a:p>
          <a:p>
            <a:pPr algn="l"/>
            <a:r>
              <a:rPr lang="en-US" sz="3800" dirty="0"/>
              <a:t>        </a:t>
            </a:r>
            <a:r>
              <a:rPr lang="en-US" sz="3800" dirty="0" err="1"/>
              <a:t>cout</a:t>
            </a:r>
            <a:r>
              <a:rPr lang="en-US" sz="3800" dirty="0"/>
              <a:t> &lt;&lt; "Enter 'q' to quit, or any other key to continue: ";</a:t>
            </a:r>
          </a:p>
          <a:p>
            <a:pPr algn="l"/>
            <a:r>
              <a:rPr lang="en-US" sz="3800" dirty="0"/>
              <a:t>        </a:t>
            </a:r>
            <a:r>
              <a:rPr lang="en-US" sz="3800" dirty="0" err="1"/>
              <a:t>cin</a:t>
            </a:r>
            <a:r>
              <a:rPr lang="en-US" sz="3800" dirty="0"/>
              <a:t> &gt;&gt; </a:t>
            </a:r>
            <a:r>
              <a:rPr lang="en-US" sz="3800" dirty="0" err="1"/>
              <a:t>userInput</a:t>
            </a:r>
            <a:r>
              <a:rPr lang="en-US" sz="3800" dirty="0"/>
              <a:t>;</a:t>
            </a:r>
          </a:p>
          <a:p>
            <a:pPr algn="l"/>
            <a:endParaRPr lang="en-US" sz="3800" dirty="0"/>
          </a:p>
          <a:p>
            <a:pPr algn="l"/>
            <a:r>
              <a:rPr lang="en-US" sz="3800" dirty="0"/>
              <a:t>      </a:t>
            </a:r>
            <a:r>
              <a:rPr lang="en-US" sz="3800" dirty="0">
                <a:solidFill>
                  <a:srgbClr val="00B050"/>
                </a:solidFill>
              </a:rPr>
              <a:t>  // Update the flag based on a specific condition</a:t>
            </a:r>
          </a:p>
          <a:p>
            <a:pPr algn="l"/>
            <a:r>
              <a:rPr lang="en-US" sz="3800" dirty="0"/>
              <a:t>        if (</a:t>
            </a:r>
            <a:r>
              <a:rPr lang="en-US" sz="3800" dirty="0" err="1"/>
              <a:t>userInput</a:t>
            </a:r>
            <a:r>
              <a:rPr lang="en-US" sz="3800" dirty="0"/>
              <a:t> == 'q' || </a:t>
            </a:r>
            <a:r>
              <a:rPr lang="en-US" sz="3800" dirty="0" err="1"/>
              <a:t>userInput</a:t>
            </a:r>
            <a:r>
              <a:rPr lang="en-US" sz="3800" dirty="0"/>
              <a:t> == 'Q') {</a:t>
            </a:r>
          </a:p>
          <a:p>
            <a:pPr algn="l"/>
            <a:r>
              <a:rPr lang="en-US" sz="3800" dirty="0"/>
              <a:t>            </a:t>
            </a:r>
            <a:r>
              <a:rPr lang="en-US" sz="3800" dirty="0" err="1"/>
              <a:t>keepLooping</a:t>
            </a:r>
            <a:r>
              <a:rPr lang="en-US" sz="3800" dirty="0"/>
              <a:t> = false; </a:t>
            </a:r>
            <a:r>
              <a:rPr lang="en-US" sz="3800" dirty="0">
                <a:solidFill>
                  <a:srgbClr val="00B050"/>
                </a:solidFill>
              </a:rPr>
              <a:t>// Changing the flag stops the loop on the next check</a:t>
            </a:r>
          </a:p>
          <a:p>
            <a:pPr algn="l"/>
            <a:r>
              <a:rPr lang="en-US" sz="3800" dirty="0"/>
              <a:t>            </a:t>
            </a:r>
            <a:r>
              <a:rPr lang="en-US" sz="3800" dirty="0" err="1"/>
              <a:t>cout</a:t>
            </a:r>
            <a:r>
              <a:rPr lang="en-US" sz="3800" dirty="0"/>
              <a:t> &lt;&lt; "Flag set to false. Exiting the loop.\n";</a:t>
            </a:r>
          </a:p>
          <a:p>
            <a:pPr algn="l"/>
            <a:r>
              <a:rPr lang="en-US" sz="3800" dirty="0"/>
              <a:t>        } else {</a:t>
            </a:r>
          </a:p>
          <a:p>
            <a:pPr algn="l"/>
            <a:r>
              <a:rPr lang="en-US" sz="3800" dirty="0"/>
              <a:t>            </a:t>
            </a:r>
            <a:r>
              <a:rPr lang="en-US" sz="3800" dirty="0" err="1"/>
              <a:t>cout</a:t>
            </a:r>
            <a:r>
              <a:rPr lang="en-US" sz="3800" dirty="0"/>
              <a:t> &lt;&lt; "Looping again...\n\n";</a:t>
            </a:r>
          </a:p>
          <a:p>
            <a:pPr algn="l"/>
            <a:r>
              <a:rPr lang="en-US" sz="3800" dirty="0"/>
              <a:t>        }</a:t>
            </a:r>
          </a:p>
          <a:p>
            <a:pPr algn="l"/>
            <a:r>
              <a:rPr lang="en-US" sz="3800" dirty="0"/>
              <a:t>    }</a:t>
            </a:r>
          </a:p>
        </p:txBody>
      </p:sp>
    </p:spTree>
    <p:extLst>
      <p:ext uri="{BB962C8B-B14F-4D97-AF65-F5344CB8AC3E}">
        <p14:creationId xmlns:p14="http://schemas.microsoft.com/office/powerpoint/2010/main" val="79899374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06C46-DBBD-E470-2D32-40ECC9BC728F}"/>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521EB6EE-CEB6-1D02-7C48-427425A4B16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88D06870-BAAE-E957-9418-9DFB136C45E4}"/>
              </a:ext>
            </a:extLst>
          </p:cNvPr>
          <p:cNvSpPr txBox="1"/>
          <p:nvPr/>
        </p:nvSpPr>
        <p:spPr>
          <a:xfrm>
            <a:off x="0" y="65927"/>
            <a:ext cx="6858000" cy="646331"/>
          </a:xfrm>
          <a:prstGeom prst="rect">
            <a:avLst/>
          </a:prstGeom>
          <a:noFill/>
        </p:spPr>
        <p:txBody>
          <a:bodyPr wrap="square" rtlCol="0">
            <a:spAutoFit/>
          </a:bodyPr>
          <a:lstStyle/>
          <a:p>
            <a:pPr algn="ctr"/>
            <a:r>
              <a:rPr lang="en-US" sz="3600" b="1" dirty="0">
                <a:latin typeface="Arial" panose="020B0604020202020204" pitchFamily="34" charset="0"/>
                <a:cs typeface="Arial" panose="020B0604020202020204" pitchFamily="34" charset="0"/>
              </a:rPr>
              <a:t>While Loop</a:t>
            </a:r>
            <a:endParaRPr lang="en-ZA" sz="3600" b="1" dirty="0">
              <a:latin typeface="Arial" panose="020B0604020202020204" pitchFamily="34" charset="0"/>
              <a:cs typeface="Arial" panose="020B0604020202020204" pitchFamily="34" charset="0"/>
            </a:endParaRPr>
          </a:p>
        </p:txBody>
      </p:sp>
      <p:sp>
        <p:nvSpPr>
          <p:cNvPr id="2" name="Content Placeholder 2">
            <a:extLst>
              <a:ext uri="{FF2B5EF4-FFF2-40B4-BE49-F238E27FC236}">
                <a16:creationId xmlns:a16="http://schemas.microsoft.com/office/drawing/2014/main" id="{4E3993CB-7FF0-B8AF-8E2D-B7299602C4FC}"/>
              </a:ext>
            </a:extLst>
          </p:cNvPr>
          <p:cNvSpPr txBox="1">
            <a:spLocks/>
          </p:cNvSpPr>
          <p:nvPr/>
        </p:nvSpPr>
        <p:spPr>
          <a:xfrm>
            <a:off x="471488" y="2637013"/>
            <a:ext cx="5915025" cy="6639333"/>
          </a:xfrm>
          <a:prstGeom prst="rect">
            <a:avLst/>
          </a:prstGeom>
        </p:spPr>
        <p:txBody>
          <a:bodyPr vert="horz" lIns="91440" tIns="45720" rIns="91440" bIns="45720" rtlCol="0">
            <a:normAutofit fontScale="25000" lnSpcReduction="20000"/>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US" sz="8800" b="1" dirty="0"/>
              <a:t>Examples:</a:t>
            </a:r>
          </a:p>
          <a:p>
            <a:pPr algn="l">
              <a:lnSpc>
                <a:spcPct val="120000"/>
              </a:lnSpc>
            </a:pPr>
            <a:r>
              <a:rPr lang="en-US" sz="8800" b="1" dirty="0"/>
              <a:t>Case 4: EOF-Controlled while Loops</a:t>
            </a:r>
          </a:p>
          <a:p>
            <a:pPr algn="l">
              <a:lnSpc>
                <a:spcPct val="120000"/>
              </a:lnSpc>
            </a:pPr>
            <a:r>
              <a:rPr lang="en-US" sz="8800" dirty="0"/>
              <a:t>You can use the value returned by the input stream variable to determine whether the program has reached the end of the input data. Because the input stream variable returns the logical value </a:t>
            </a:r>
            <a:r>
              <a:rPr lang="en-US" sz="8800" b="1" dirty="0"/>
              <a:t>true </a:t>
            </a:r>
            <a:r>
              <a:rPr lang="en-US" sz="8800" dirty="0"/>
              <a:t>or </a:t>
            </a:r>
            <a:r>
              <a:rPr lang="en-US" sz="8800" b="1" dirty="0"/>
              <a:t>false</a:t>
            </a:r>
            <a:r>
              <a:rPr lang="en-US" sz="8800" dirty="0"/>
              <a:t>, in a </a:t>
            </a:r>
            <a:r>
              <a:rPr lang="en-US" sz="8800" b="1" dirty="0"/>
              <a:t>while </a:t>
            </a:r>
            <a:r>
              <a:rPr lang="en-US" sz="8800" dirty="0"/>
              <a:t>loop, it can be considered a logical expression. The following is an example of an EOF-controlled </a:t>
            </a:r>
            <a:r>
              <a:rPr lang="en-US" sz="8800" b="1" dirty="0"/>
              <a:t>while </a:t>
            </a:r>
            <a:r>
              <a:rPr lang="en-US" sz="8800" dirty="0"/>
              <a:t>loop:</a:t>
            </a:r>
          </a:p>
          <a:p>
            <a:pPr algn="l">
              <a:lnSpc>
                <a:spcPct val="120000"/>
              </a:lnSpc>
            </a:pPr>
            <a:endParaRPr lang="en-ZA" sz="3800" dirty="0"/>
          </a:p>
          <a:p>
            <a:pPr algn="l"/>
            <a:r>
              <a:rPr lang="en-US" sz="6400" dirty="0" err="1">
                <a:solidFill>
                  <a:srgbClr val="0070C0"/>
                </a:solidFill>
              </a:rPr>
              <a:t>cin</a:t>
            </a:r>
            <a:r>
              <a:rPr lang="en-US" sz="6400" dirty="0"/>
              <a:t> &gt;&gt; </a:t>
            </a:r>
            <a:r>
              <a:rPr lang="en-US" sz="6400" b="1" dirty="0"/>
              <a:t>variable</a:t>
            </a:r>
            <a:r>
              <a:rPr lang="en-US" sz="6400" dirty="0"/>
              <a:t>; </a:t>
            </a:r>
            <a:r>
              <a:rPr lang="en-US" sz="6400" dirty="0">
                <a:solidFill>
                  <a:srgbClr val="00B050"/>
                </a:solidFill>
              </a:rPr>
              <a:t>//initialize the loop control variable</a:t>
            </a:r>
          </a:p>
          <a:p>
            <a:pPr algn="l"/>
            <a:endParaRPr lang="en-US" sz="6400" dirty="0">
              <a:solidFill>
                <a:srgbClr val="00B050"/>
              </a:solidFill>
            </a:endParaRPr>
          </a:p>
          <a:p>
            <a:pPr algn="l"/>
            <a:r>
              <a:rPr lang="en-US" sz="6400" dirty="0">
                <a:solidFill>
                  <a:srgbClr val="0070C0"/>
                </a:solidFill>
              </a:rPr>
              <a:t>while</a:t>
            </a:r>
            <a:r>
              <a:rPr lang="en-US" sz="6400" dirty="0"/>
              <a:t> (</a:t>
            </a:r>
            <a:r>
              <a:rPr lang="en-US" sz="6400" dirty="0" err="1">
                <a:solidFill>
                  <a:srgbClr val="0070C0"/>
                </a:solidFill>
              </a:rPr>
              <a:t>cin</a:t>
            </a:r>
            <a:r>
              <a:rPr lang="en-US" sz="6400" dirty="0"/>
              <a:t>) </a:t>
            </a:r>
            <a:r>
              <a:rPr lang="en-US" sz="6400" dirty="0">
                <a:solidFill>
                  <a:srgbClr val="00B050"/>
                </a:solidFill>
              </a:rPr>
              <a:t>//test the loop control variable</a:t>
            </a:r>
          </a:p>
          <a:p>
            <a:pPr algn="l"/>
            <a:r>
              <a:rPr lang="en-ZA" sz="6400" dirty="0"/>
              <a:t>{</a:t>
            </a:r>
          </a:p>
          <a:p>
            <a:pPr algn="l"/>
            <a:r>
              <a:rPr lang="en-ZA" sz="6400" dirty="0"/>
              <a:t>.</a:t>
            </a:r>
          </a:p>
          <a:p>
            <a:pPr algn="l"/>
            <a:r>
              <a:rPr lang="en-ZA" sz="6400" dirty="0"/>
              <a:t>.</a:t>
            </a:r>
          </a:p>
          <a:p>
            <a:pPr algn="l"/>
            <a:r>
              <a:rPr lang="en-ZA" sz="6400" dirty="0"/>
              <a:t>.</a:t>
            </a:r>
          </a:p>
          <a:p>
            <a:pPr algn="l"/>
            <a:r>
              <a:rPr lang="en-US" sz="6400" dirty="0"/>
              <a:t>	</a:t>
            </a:r>
            <a:r>
              <a:rPr lang="en-US" sz="6400" b="1" dirty="0" err="1">
                <a:solidFill>
                  <a:srgbClr val="0070C0"/>
                </a:solidFill>
              </a:rPr>
              <a:t>cin</a:t>
            </a:r>
            <a:r>
              <a:rPr lang="en-US" sz="6400" b="1" dirty="0"/>
              <a:t> &gt;&gt; variable</a:t>
            </a:r>
            <a:r>
              <a:rPr lang="en-US" sz="6400" dirty="0"/>
              <a:t>; </a:t>
            </a:r>
            <a:r>
              <a:rPr lang="en-US" sz="6400" dirty="0">
                <a:solidFill>
                  <a:srgbClr val="00B050"/>
                </a:solidFill>
              </a:rPr>
              <a:t>//update the loop control variable</a:t>
            </a:r>
          </a:p>
          <a:p>
            <a:pPr algn="l"/>
            <a:r>
              <a:rPr lang="en-ZA" sz="6400" dirty="0"/>
              <a:t>.</a:t>
            </a:r>
            <a:endParaRPr lang="en-ZA" sz="6400" dirty="0">
              <a:solidFill>
                <a:srgbClr val="00B050"/>
              </a:solidFill>
            </a:endParaRPr>
          </a:p>
          <a:p>
            <a:pPr algn="l"/>
            <a:r>
              <a:rPr lang="en-ZA" sz="6400" dirty="0"/>
              <a:t>.</a:t>
            </a:r>
          </a:p>
          <a:p>
            <a:pPr algn="l"/>
            <a:r>
              <a:rPr lang="en-ZA" sz="6400" dirty="0"/>
              <a:t>.</a:t>
            </a:r>
          </a:p>
          <a:p>
            <a:pPr algn="l"/>
            <a:r>
              <a:rPr lang="en-ZA" sz="6400" dirty="0"/>
              <a:t>}</a:t>
            </a:r>
            <a:endParaRPr lang="en-US" sz="6400" b="1" dirty="0"/>
          </a:p>
        </p:txBody>
      </p:sp>
    </p:spTree>
    <p:extLst>
      <p:ext uri="{BB962C8B-B14F-4D97-AF65-F5344CB8AC3E}">
        <p14:creationId xmlns:p14="http://schemas.microsoft.com/office/powerpoint/2010/main" val="21507709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387373-D288-7776-0622-036B965A4B9C}"/>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E6FE3F45-BAEB-1B19-8B24-66739B9BAC8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C53A409E-CA4E-310A-2251-BE4FFC201A38}"/>
              </a:ext>
            </a:extLst>
          </p:cNvPr>
          <p:cNvSpPr txBox="1"/>
          <p:nvPr/>
        </p:nvSpPr>
        <p:spPr>
          <a:xfrm>
            <a:off x="0" y="65927"/>
            <a:ext cx="6858000" cy="646331"/>
          </a:xfrm>
          <a:prstGeom prst="rect">
            <a:avLst/>
          </a:prstGeom>
          <a:noFill/>
        </p:spPr>
        <p:txBody>
          <a:bodyPr wrap="square" rtlCol="0">
            <a:spAutoFit/>
          </a:bodyPr>
          <a:lstStyle/>
          <a:p>
            <a:pPr algn="ctr"/>
            <a:r>
              <a:rPr lang="en-US" sz="3600" b="1" dirty="0">
                <a:latin typeface="Arial" panose="020B0604020202020204" pitchFamily="34" charset="0"/>
                <a:cs typeface="Arial" panose="020B0604020202020204" pitchFamily="34" charset="0"/>
              </a:rPr>
              <a:t>While Loop</a:t>
            </a:r>
            <a:endParaRPr lang="en-ZA" sz="3600" b="1" dirty="0">
              <a:latin typeface="Arial" panose="020B0604020202020204" pitchFamily="34" charset="0"/>
              <a:cs typeface="Arial" panose="020B0604020202020204" pitchFamily="34" charset="0"/>
            </a:endParaRPr>
          </a:p>
        </p:txBody>
      </p:sp>
      <p:sp>
        <p:nvSpPr>
          <p:cNvPr id="2" name="Content Placeholder 2">
            <a:extLst>
              <a:ext uri="{FF2B5EF4-FFF2-40B4-BE49-F238E27FC236}">
                <a16:creationId xmlns:a16="http://schemas.microsoft.com/office/drawing/2014/main" id="{72019549-A639-5A69-8E50-59EB46A310EC}"/>
              </a:ext>
            </a:extLst>
          </p:cNvPr>
          <p:cNvSpPr txBox="1">
            <a:spLocks/>
          </p:cNvSpPr>
          <p:nvPr/>
        </p:nvSpPr>
        <p:spPr>
          <a:xfrm>
            <a:off x="471488" y="2637014"/>
            <a:ext cx="5915025" cy="6285266"/>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US" sz="2800" b="1" dirty="0"/>
              <a:t>Examples:</a:t>
            </a:r>
          </a:p>
          <a:p>
            <a:pPr algn="l">
              <a:lnSpc>
                <a:spcPct val="120000"/>
              </a:lnSpc>
            </a:pPr>
            <a:r>
              <a:rPr lang="en-US" sz="2800" b="1" dirty="0"/>
              <a:t>Case 4: EOF-Controlled while Loops</a:t>
            </a:r>
          </a:p>
          <a:p>
            <a:pPr algn="l">
              <a:lnSpc>
                <a:spcPct val="120000"/>
              </a:lnSpc>
            </a:pPr>
            <a:endParaRPr lang="en-US" sz="2800" b="1" dirty="0"/>
          </a:p>
          <a:p>
            <a:pPr algn="l">
              <a:lnSpc>
                <a:spcPct val="120000"/>
              </a:lnSpc>
            </a:pPr>
            <a:r>
              <a:rPr lang="en-ZA" sz="2200" dirty="0">
                <a:solidFill>
                  <a:srgbClr val="00B050"/>
                </a:solidFill>
              </a:rPr>
              <a:t>//Declare stream variables</a:t>
            </a:r>
          </a:p>
          <a:p>
            <a:pPr algn="l">
              <a:lnSpc>
                <a:spcPct val="120000"/>
              </a:lnSpc>
            </a:pPr>
            <a:r>
              <a:rPr lang="en-ZA" sz="2200" dirty="0"/>
              <a:t>int </a:t>
            </a:r>
            <a:r>
              <a:rPr lang="en-ZA" sz="2200" dirty="0" err="1"/>
              <a:t>num</a:t>
            </a:r>
            <a:r>
              <a:rPr lang="en-ZA" sz="2200" dirty="0"/>
              <a:t>, sum = 0;</a:t>
            </a:r>
          </a:p>
          <a:p>
            <a:pPr algn="l"/>
            <a:r>
              <a:rPr lang="en-US" sz="2200" dirty="0" err="1">
                <a:solidFill>
                  <a:srgbClr val="0070C0"/>
                </a:solidFill>
              </a:rPr>
              <a:t>cin</a:t>
            </a:r>
            <a:r>
              <a:rPr lang="en-US" sz="2200" dirty="0"/>
              <a:t> &gt;&gt; </a:t>
            </a:r>
            <a:r>
              <a:rPr lang="en-US" sz="2200" b="1" dirty="0"/>
              <a:t>sum</a:t>
            </a:r>
            <a:r>
              <a:rPr lang="en-US" sz="2200" dirty="0"/>
              <a:t>; </a:t>
            </a:r>
            <a:r>
              <a:rPr lang="en-US" sz="2200" dirty="0">
                <a:solidFill>
                  <a:srgbClr val="00B050"/>
                </a:solidFill>
              </a:rPr>
              <a:t>//initialize the loop control variable</a:t>
            </a:r>
          </a:p>
          <a:p>
            <a:pPr algn="l"/>
            <a:endParaRPr lang="en-US" sz="2200" dirty="0">
              <a:solidFill>
                <a:srgbClr val="00B050"/>
              </a:solidFill>
            </a:endParaRPr>
          </a:p>
          <a:p>
            <a:pPr algn="l"/>
            <a:r>
              <a:rPr lang="en-US" sz="2200" dirty="0">
                <a:solidFill>
                  <a:srgbClr val="0070C0"/>
                </a:solidFill>
              </a:rPr>
              <a:t>while</a:t>
            </a:r>
            <a:r>
              <a:rPr lang="en-US" sz="2200" dirty="0"/>
              <a:t> (</a:t>
            </a:r>
            <a:r>
              <a:rPr lang="en-US" sz="2200" dirty="0" err="1">
                <a:solidFill>
                  <a:srgbClr val="0070C0"/>
                </a:solidFill>
              </a:rPr>
              <a:t>cin</a:t>
            </a:r>
            <a:r>
              <a:rPr lang="en-US" sz="2200" dirty="0"/>
              <a:t>) </a:t>
            </a:r>
            <a:r>
              <a:rPr lang="en-US" sz="2200" dirty="0">
                <a:solidFill>
                  <a:srgbClr val="00B050"/>
                </a:solidFill>
              </a:rPr>
              <a:t>//test the loop control variable</a:t>
            </a:r>
          </a:p>
          <a:p>
            <a:pPr algn="l"/>
            <a:r>
              <a:rPr lang="en-ZA" sz="2200" dirty="0"/>
              <a:t>{</a:t>
            </a:r>
          </a:p>
          <a:p>
            <a:pPr algn="l"/>
            <a:r>
              <a:rPr lang="en-ZA" sz="2200" dirty="0"/>
              <a:t>	sum = sum + </a:t>
            </a:r>
            <a:r>
              <a:rPr lang="en-ZA" sz="2200" dirty="0" err="1"/>
              <a:t>num</a:t>
            </a:r>
            <a:r>
              <a:rPr lang="en-ZA" sz="2200" dirty="0"/>
              <a:t>; // add the number to sum</a:t>
            </a:r>
          </a:p>
          <a:p>
            <a:pPr algn="l"/>
            <a:r>
              <a:rPr lang="en-US" sz="2200" dirty="0"/>
              <a:t>	</a:t>
            </a:r>
            <a:r>
              <a:rPr lang="en-US" sz="2200" b="1" dirty="0" err="1">
                <a:solidFill>
                  <a:srgbClr val="0070C0"/>
                </a:solidFill>
              </a:rPr>
              <a:t>cin</a:t>
            </a:r>
            <a:r>
              <a:rPr lang="en-US" sz="2200" b="1" dirty="0"/>
              <a:t> &gt;&gt; num</a:t>
            </a:r>
            <a:r>
              <a:rPr lang="en-US" sz="2200" dirty="0"/>
              <a:t>; </a:t>
            </a:r>
            <a:r>
              <a:rPr lang="en-US" sz="2200" dirty="0">
                <a:solidFill>
                  <a:srgbClr val="00B050"/>
                </a:solidFill>
              </a:rPr>
              <a:t>// get the next num value</a:t>
            </a:r>
            <a:endParaRPr lang="en-ZA" sz="2200" dirty="0"/>
          </a:p>
          <a:p>
            <a:pPr algn="l"/>
            <a:r>
              <a:rPr lang="en-ZA" sz="2200" dirty="0"/>
              <a:t>}</a:t>
            </a:r>
          </a:p>
          <a:p>
            <a:pPr algn="l"/>
            <a:r>
              <a:rPr lang="en-ZA" sz="2200" dirty="0" err="1"/>
              <a:t>cout</a:t>
            </a:r>
            <a:r>
              <a:rPr lang="en-ZA" sz="2200" dirty="0"/>
              <a:t> &lt;&lt; "Sum = " &lt;&lt; sum &lt;&lt; </a:t>
            </a:r>
            <a:r>
              <a:rPr lang="en-ZA" sz="2200" dirty="0" err="1"/>
              <a:t>endl</a:t>
            </a:r>
            <a:r>
              <a:rPr lang="en-ZA" sz="2200" dirty="0"/>
              <a:t>;</a:t>
            </a:r>
            <a:endParaRPr lang="en-US" sz="2200" dirty="0"/>
          </a:p>
        </p:txBody>
      </p:sp>
    </p:spTree>
    <p:extLst>
      <p:ext uri="{BB962C8B-B14F-4D97-AF65-F5344CB8AC3E}">
        <p14:creationId xmlns:p14="http://schemas.microsoft.com/office/powerpoint/2010/main" val="408159776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8EAB2E-4B06-697F-1728-9DAD3874602D}"/>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51065BBB-317B-CA33-170C-02AF9B83BFF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E975DE5F-8CED-26B4-F9BA-F22FD3520AB8}"/>
              </a:ext>
            </a:extLst>
          </p:cNvPr>
          <p:cNvSpPr txBox="1"/>
          <p:nvPr/>
        </p:nvSpPr>
        <p:spPr>
          <a:xfrm>
            <a:off x="0" y="65927"/>
            <a:ext cx="6858000" cy="646331"/>
          </a:xfrm>
          <a:prstGeom prst="rect">
            <a:avLst/>
          </a:prstGeom>
          <a:noFill/>
        </p:spPr>
        <p:txBody>
          <a:bodyPr wrap="square" rtlCol="0">
            <a:spAutoFit/>
          </a:bodyPr>
          <a:lstStyle/>
          <a:p>
            <a:pPr algn="ctr"/>
            <a:r>
              <a:rPr lang="en-US" sz="3600" b="1" dirty="0">
                <a:latin typeface="Arial" panose="020B0604020202020204" pitchFamily="34" charset="0"/>
                <a:cs typeface="Arial" panose="020B0604020202020204" pitchFamily="34" charset="0"/>
              </a:rPr>
              <a:t>While Loop</a:t>
            </a:r>
            <a:endParaRPr lang="en-ZA" sz="3600" b="1" dirty="0">
              <a:latin typeface="Arial" panose="020B0604020202020204" pitchFamily="34" charset="0"/>
              <a:cs typeface="Arial" panose="020B0604020202020204" pitchFamily="34" charset="0"/>
            </a:endParaRPr>
          </a:p>
        </p:txBody>
      </p:sp>
      <p:sp>
        <p:nvSpPr>
          <p:cNvPr id="2" name="Content Placeholder 2">
            <a:extLst>
              <a:ext uri="{FF2B5EF4-FFF2-40B4-BE49-F238E27FC236}">
                <a16:creationId xmlns:a16="http://schemas.microsoft.com/office/drawing/2014/main" id="{78192E88-651D-57DC-023D-FB9DCB0902A3}"/>
              </a:ext>
            </a:extLst>
          </p:cNvPr>
          <p:cNvSpPr txBox="1">
            <a:spLocks/>
          </p:cNvSpPr>
          <p:nvPr/>
        </p:nvSpPr>
        <p:spPr>
          <a:xfrm>
            <a:off x="471488" y="2322095"/>
            <a:ext cx="5915025" cy="7182852"/>
          </a:xfrm>
          <a:prstGeom prst="rect">
            <a:avLst/>
          </a:prstGeom>
        </p:spPr>
        <p:txBody>
          <a:bodyPr vert="horz" lIns="91440" tIns="45720" rIns="91440" bIns="45720" rtlCol="0">
            <a:normAutofit fontScale="25000" lnSpcReduction="20000"/>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US" sz="7200" b="1" dirty="0"/>
              <a:t>Examples:</a:t>
            </a:r>
          </a:p>
          <a:p>
            <a:pPr algn="l">
              <a:lnSpc>
                <a:spcPct val="120000"/>
              </a:lnSpc>
            </a:pPr>
            <a:r>
              <a:rPr lang="en-US" sz="7200" b="1" dirty="0"/>
              <a:t>Case 4: EOF-Controlled while Loops</a:t>
            </a:r>
          </a:p>
          <a:p>
            <a:pPr algn="l">
              <a:lnSpc>
                <a:spcPct val="120000"/>
              </a:lnSpc>
            </a:pPr>
            <a:r>
              <a:rPr lang="en-US" sz="7200" dirty="0"/>
              <a:t>You can use the value returned by the input stream variable to determine whether the program has reached the end of the input data. Because the input stream variable returns the logical value </a:t>
            </a:r>
            <a:r>
              <a:rPr lang="en-US" sz="7200" b="1" dirty="0"/>
              <a:t>true </a:t>
            </a:r>
            <a:r>
              <a:rPr lang="en-US" sz="7200" dirty="0"/>
              <a:t>or </a:t>
            </a:r>
            <a:r>
              <a:rPr lang="en-US" sz="7200" b="1" dirty="0"/>
              <a:t>false</a:t>
            </a:r>
            <a:r>
              <a:rPr lang="en-US" sz="7200" dirty="0"/>
              <a:t>, in a </a:t>
            </a:r>
            <a:r>
              <a:rPr lang="en-US" sz="7200" b="1" dirty="0"/>
              <a:t>while </a:t>
            </a:r>
            <a:r>
              <a:rPr lang="en-US" sz="7200" dirty="0"/>
              <a:t>loop, it can be considered a logical expression. The following is an example of an EOF-controlled </a:t>
            </a:r>
            <a:r>
              <a:rPr lang="en-US" sz="7200" b="1" dirty="0"/>
              <a:t>while </a:t>
            </a:r>
            <a:r>
              <a:rPr lang="en-US" sz="7200" dirty="0"/>
              <a:t>loop:</a:t>
            </a:r>
          </a:p>
          <a:p>
            <a:pPr algn="l">
              <a:lnSpc>
                <a:spcPct val="120000"/>
              </a:lnSpc>
            </a:pPr>
            <a:r>
              <a:rPr lang="en-ZA" sz="6000" dirty="0">
                <a:solidFill>
                  <a:srgbClr val="00B050"/>
                </a:solidFill>
              </a:rPr>
              <a:t>//Declare stream variables</a:t>
            </a:r>
          </a:p>
          <a:p>
            <a:pPr algn="l"/>
            <a:r>
              <a:rPr lang="en-US" sz="6000" dirty="0">
                <a:solidFill>
                  <a:srgbClr val="0070C0"/>
                </a:solidFill>
              </a:rPr>
              <a:t>string </a:t>
            </a:r>
            <a:r>
              <a:rPr lang="en-US" sz="6000" dirty="0" err="1">
                <a:solidFill>
                  <a:srgbClr val="0070C0"/>
                </a:solidFill>
              </a:rPr>
              <a:t>studNum</a:t>
            </a:r>
            <a:r>
              <a:rPr lang="en-US" sz="6000" dirty="0">
                <a:solidFill>
                  <a:srgbClr val="0070C0"/>
                </a:solidFill>
              </a:rPr>
              <a:t>, </a:t>
            </a:r>
            <a:r>
              <a:rPr lang="en-US" sz="6000" dirty="0" err="1">
                <a:solidFill>
                  <a:srgbClr val="0070C0"/>
                </a:solidFill>
              </a:rPr>
              <a:t>studName</a:t>
            </a:r>
            <a:r>
              <a:rPr lang="en-US" sz="6000" dirty="0">
                <a:solidFill>
                  <a:srgbClr val="0070C0"/>
                </a:solidFill>
              </a:rPr>
              <a:t>;</a:t>
            </a:r>
          </a:p>
          <a:p>
            <a:pPr algn="l"/>
            <a:r>
              <a:rPr lang="en-US" sz="6000" dirty="0">
                <a:solidFill>
                  <a:srgbClr val="0070C0"/>
                </a:solidFill>
              </a:rPr>
              <a:t>double </a:t>
            </a:r>
            <a:r>
              <a:rPr lang="en-US" sz="6000" dirty="0" err="1">
                <a:solidFill>
                  <a:srgbClr val="0070C0"/>
                </a:solidFill>
              </a:rPr>
              <a:t>testScore</a:t>
            </a:r>
            <a:r>
              <a:rPr lang="en-US" sz="6000" dirty="0">
                <a:solidFill>
                  <a:srgbClr val="0070C0"/>
                </a:solidFill>
              </a:rPr>
              <a:t>, total = 0, avg;</a:t>
            </a:r>
          </a:p>
          <a:p>
            <a:pPr algn="l"/>
            <a:r>
              <a:rPr lang="en-ZA" sz="6000" b="1" dirty="0" err="1"/>
              <a:t>ifstream</a:t>
            </a:r>
            <a:r>
              <a:rPr lang="en-ZA" sz="6000" b="1" dirty="0"/>
              <a:t> </a:t>
            </a:r>
            <a:r>
              <a:rPr lang="en-ZA" sz="6000" b="1" dirty="0" err="1"/>
              <a:t>inFile</a:t>
            </a:r>
            <a:r>
              <a:rPr lang="en-ZA" sz="6000" b="1" dirty="0"/>
              <a:t>; </a:t>
            </a:r>
          </a:p>
          <a:p>
            <a:pPr algn="l"/>
            <a:r>
              <a:rPr lang="en-ZA" sz="6000" b="1" dirty="0" err="1"/>
              <a:t>ofstream</a:t>
            </a:r>
            <a:r>
              <a:rPr lang="en-ZA" sz="6000" b="1" dirty="0"/>
              <a:t> </a:t>
            </a:r>
            <a:r>
              <a:rPr lang="en-ZA" sz="6000" b="1" dirty="0" err="1"/>
              <a:t>outFile</a:t>
            </a:r>
            <a:r>
              <a:rPr lang="en-ZA" sz="6000" b="1" dirty="0"/>
              <a:t>;</a:t>
            </a:r>
            <a:endParaRPr lang="en-US" sz="6000" dirty="0">
              <a:solidFill>
                <a:srgbClr val="0070C0"/>
              </a:solidFill>
            </a:endParaRPr>
          </a:p>
          <a:p>
            <a:pPr algn="l"/>
            <a:endParaRPr lang="en-US" sz="6000" dirty="0">
              <a:solidFill>
                <a:srgbClr val="0070C0"/>
              </a:solidFill>
            </a:endParaRPr>
          </a:p>
          <a:p>
            <a:pPr algn="l"/>
            <a:r>
              <a:rPr lang="en-ZA" sz="6000" b="1" dirty="0" err="1"/>
              <a:t>inFile.open</a:t>
            </a:r>
            <a:r>
              <a:rPr lang="en-ZA" sz="6000" b="1" dirty="0"/>
              <a:t>(“studData.txt"); </a:t>
            </a:r>
            <a:r>
              <a:rPr lang="en-ZA" sz="6000" dirty="0">
                <a:solidFill>
                  <a:srgbClr val="00B050"/>
                </a:solidFill>
              </a:rPr>
              <a:t>//Open input file</a:t>
            </a:r>
            <a:endParaRPr lang="en-ZA" sz="6000" b="1" dirty="0">
              <a:solidFill>
                <a:srgbClr val="0070C0"/>
              </a:solidFill>
            </a:endParaRPr>
          </a:p>
          <a:p>
            <a:pPr algn="l"/>
            <a:r>
              <a:rPr lang="en-ZA" sz="6000" b="1" dirty="0" err="1"/>
              <a:t>outFile.open</a:t>
            </a:r>
            <a:r>
              <a:rPr lang="en-ZA" sz="6000" b="1" dirty="0"/>
              <a:t>(“outputData.txt"); </a:t>
            </a:r>
            <a:r>
              <a:rPr lang="en-ZA" sz="6000" dirty="0">
                <a:solidFill>
                  <a:srgbClr val="00B050"/>
                </a:solidFill>
              </a:rPr>
              <a:t>//Open output file</a:t>
            </a:r>
          </a:p>
          <a:p>
            <a:pPr algn="l"/>
            <a:endParaRPr lang="en-ZA" sz="6000" b="1" dirty="0"/>
          </a:p>
          <a:p>
            <a:pPr algn="l"/>
            <a:r>
              <a:rPr lang="en-US" sz="6000" dirty="0" err="1">
                <a:solidFill>
                  <a:srgbClr val="0070C0"/>
                </a:solidFill>
              </a:rPr>
              <a:t>inFile</a:t>
            </a:r>
            <a:r>
              <a:rPr lang="en-US" sz="6000" b="1" dirty="0"/>
              <a:t> &gt;&gt; </a:t>
            </a:r>
            <a:r>
              <a:rPr lang="en-US" sz="6000" b="1" dirty="0" err="1"/>
              <a:t>firstName</a:t>
            </a:r>
            <a:r>
              <a:rPr lang="en-US" sz="6000" b="1" dirty="0"/>
              <a:t> &gt;&gt; </a:t>
            </a:r>
            <a:r>
              <a:rPr lang="en-US" sz="6000" b="1" dirty="0" err="1"/>
              <a:t>lastName</a:t>
            </a:r>
            <a:r>
              <a:rPr lang="en-US" sz="6000" b="1" dirty="0"/>
              <a:t>; </a:t>
            </a:r>
            <a:r>
              <a:rPr lang="en-US" sz="6000" dirty="0">
                <a:solidFill>
                  <a:srgbClr val="00B050"/>
                </a:solidFill>
              </a:rPr>
              <a:t>// read the name</a:t>
            </a:r>
          </a:p>
          <a:p>
            <a:pPr algn="l"/>
            <a:r>
              <a:rPr lang="en-ZA" sz="6000" dirty="0" err="1">
                <a:solidFill>
                  <a:srgbClr val="0070C0"/>
                </a:solidFill>
              </a:rPr>
              <a:t>inFile</a:t>
            </a:r>
            <a:r>
              <a:rPr lang="en-ZA" sz="6000" b="1" dirty="0"/>
              <a:t> &gt;&gt; </a:t>
            </a:r>
            <a:r>
              <a:rPr lang="en-ZA" sz="6000" b="1" dirty="0" err="1"/>
              <a:t>testScore</a:t>
            </a:r>
            <a:r>
              <a:rPr lang="en-ZA" sz="6000" b="1" dirty="0"/>
              <a:t>; </a:t>
            </a:r>
            <a:r>
              <a:rPr lang="en-ZA" sz="6000" dirty="0">
                <a:solidFill>
                  <a:srgbClr val="00B050"/>
                </a:solidFill>
              </a:rPr>
              <a:t>// read the test score</a:t>
            </a:r>
            <a:endParaRPr lang="en-US" sz="6000" dirty="0">
              <a:solidFill>
                <a:srgbClr val="00B050"/>
              </a:solidFill>
            </a:endParaRPr>
          </a:p>
          <a:p>
            <a:pPr algn="l"/>
            <a:r>
              <a:rPr lang="en-US" sz="6000" dirty="0">
                <a:solidFill>
                  <a:srgbClr val="0070C0"/>
                </a:solidFill>
              </a:rPr>
              <a:t>while</a:t>
            </a:r>
            <a:r>
              <a:rPr lang="en-US" sz="6000" dirty="0"/>
              <a:t> (</a:t>
            </a:r>
            <a:r>
              <a:rPr lang="en-US" sz="6000" dirty="0" err="1">
                <a:solidFill>
                  <a:srgbClr val="0070C0"/>
                </a:solidFill>
              </a:rPr>
              <a:t>inFile</a:t>
            </a:r>
            <a:r>
              <a:rPr lang="en-US" sz="6000" dirty="0"/>
              <a:t>) </a:t>
            </a:r>
            <a:r>
              <a:rPr lang="en-US" sz="6000" dirty="0">
                <a:solidFill>
                  <a:srgbClr val="00B050"/>
                </a:solidFill>
              </a:rPr>
              <a:t>// test the loop control variable</a:t>
            </a:r>
          </a:p>
          <a:p>
            <a:pPr algn="l"/>
            <a:r>
              <a:rPr lang="en-ZA" sz="6000" dirty="0"/>
              <a:t>{</a:t>
            </a:r>
          </a:p>
          <a:p>
            <a:pPr algn="l"/>
            <a:r>
              <a:rPr lang="en-ZA" sz="6000" dirty="0"/>
              <a:t>	total = total + </a:t>
            </a:r>
            <a:r>
              <a:rPr lang="en-ZA" sz="6000" dirty="0" err="1"/>
              <a:t>testScore</a:t>
            </a:r>
            <a:r>
              <a:rPr lang="en-ZA" sz="6000" dirty="0"/>
              <a:t>;</a:t>
            </a:r>
          </a:p>
          <a:p>
            <a:pPr algn="l"/>
            <a:r>
              <a:rPr lang="en-US" sz="6000" dirty="0"/>
              <a:t>	 </a:t>
            </a:r>
            <a:r>
              <a:rPr lang="en-US" sz="6000" dirty="0">
                <a:solidFill>
                  <a:srgbClr val="00B050"/>
                </a:solidFill>
              </a:rPr>
              <a:t>// update the loop control variable</a:t>
            </a:r>
          </a:p>
          <a:p>
            <a:pPr lvl="2" algn="l"/>
            <a:r>
              <a:rPr lang="en-US" sz="5550" dirty="0" err="1">
                <a:solidFill>
                  <a:srgbClr val="0070C0"/>
                </a:solidFill>
              </a:rPr>
              <a:t>inFile</a:t>
            </a:r>
            <a:r>
              <a:rPr lang="en-US" sz="5550" b="1" dirty="0"/>
              <a:t> &gt;&gt; </a:t>
            </a:r>
            <a:r>
              <a:rPr lang="en-US" sz="5550" b="1" dirty="0" err="1"/>
              <a:t>firstName</a:t>
            </a:r>
            <a:r>
              <a:rPr lang="en-US" sz="5550" b="1" dirty="0"/>
              <a:t> &gt;&gt; </a:t>
            </a:r>
            <a:r>
              <a:rPr lang="en-US" sz="5550" b="1" dirty="0" err="1"/>
              <a:t>lastName</a:t>
            </a:r>
            <a:r>
              <a:rPr lang="en-US" sz="5550" b="1" dirty="0"/>
              <a:t>; </a:t>
            </a:r>
            <a:r>
              <a:rPr lang="en-US" sz="5550" dirty="0">
                <a:solidFill>
                  <a:srgbClr val="00B050"/>
                </a:solidFill>
              </a:rPr>
              <a:t>// read the name</a:t>
            </a:r>
          </a:p>
          <a:p>
            <a:pPr lvl="2" algn="l"/>
            <a:r>
              <a:rPr lang="en-ZA" sz="5550" dirty="0" err="1">
                <a:solidFill>
                  <a:srgbClr val="0070C0"/>
                </a:solidFill>
              </a:rPr>
              <a:t>inFile</a:t>
            </a:r>
            <a:r>
              <a:rPr lang="en-ZA" sz="5550" b="1" dirty="0"/>
              <a:t> &gt;&gt; </a:t>
            </a:r>
            <a:r>
              <a:rPr lang="en-ZA" sz="5550" b="1" dirty="0" err="1"/>
              <a:t>testScore</a:t>
            </a:r>
            <a:r>
              <a:rPr lang="en-ZA" sz="5550" b="1" dirty="0"/>
              <a:t>; </a:t>
            </a:r>
            <a:r>
              <a:rPr lang="en-ZA" sz="5550" dirty="0">
                <a:solidFill>
                  <a:srgbClr val="00B050"/>
                </a:solidFill>
              </a:rPr>
              <a:t>// read the test score</a:t>
            </a:r>
            <a:endParaRPr lang="en-ZA" sz="6000" dirty="0"/>
          </a:p>
          <a:p>
            <a:pPr algn="l"/>
            <a:r>
              <a:rPr lang="en-ZA" sz="6000" dirty="0"/>
              <a:t>}</a:t>
            </a:r>
            <a:endParaRPr lang="en-US" sz="6000" b="1" dirty="0"/>
          </a:p>
        </p:txBody>
      </p:sp>
    </p:spTree>
    <p:extLst>
      <p:ext uri="{BB962C8B-B14F-4D97-AF65-F5344CB8AC3E}">
        <p14:creationId xmlns:p14="http://schemas.microsoft.com/office/powerpoint/2010/main" val="275176239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A969EF-FE54-2351-DE74-4685557F4D6E}"/>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CE32EEE3-B9B0-D3F3-9803-E12316E1E46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E955AF8E-2C80-F6B5-8FB0-F503C1816831}"/>
              </a:ext>
            </a:extLst>
          </p:cNvPr>
          <p:cNvSpPr txBox="1"/>
          <p:nvPr/>
        </p:nvSpPr>
        <p:spPr>
          <a:xfrm>
            <a:off x="0" y="65927"/>
            <a:ext cx="6858000" cy="646331"/>
          </a:xfrm>
          <a:prstGeom prst="rect">
            <a:avLst/>
          </a:prstGeom>
          <a:noFill/>
        </p:spPr>
        <p:txBody>
          <a:bodyPr wrap="square" rtlCol="0">
            <a:spAutoFit/>
          </a:bodyPr>
          <a:lstStyle/>
          <a:p>
            <a:pPr algn="ctr"/>
            <a:r>
              <a:rPr lang="en-US" sz="3600" b="1" dirty="0">
                <a:latin typeface="Arial" panose="020B0604020202020204" pitchFamily="34" charset="0"/>
                <a:cs typeface="Arial" panose="020B0604020202020204" pitchFamily="34" charset="0"/>
              </a:rPr>
              <a:t>While Loop</a:t>
            </a:r>
            <a:endParaRPr lang="en-ZA" sz="3600" b="1" dirty="0">
              <a:latin typeface="Arial" panose="020B0604020202020204" pitchFamily="34" charset="0"/>
              <a:cs typeface="Arial" panose="020B0604020202020204" pitchFamily="34" charset="0"/>
            </a:endParaRPr>
          </a:p>
        </p:txBody>
      </p:sp>
      <p:sp>
        <p:nvSpPr>
          <p:cNvPr id="2" name="Content Placeholder 2">
            <a:extLst>
              <a:ext uri="{FF2B5EF4-FFF2-40B4-BE49-F238E27FC236}">
                <a16:creationId xmlns:a16="http://schemas.microsoft.com/office/drawing/2014/main" id="{A1D6C4C4-02C0-ABD7-67B1-6FA2CC457EFD}"/>
              </a:ext>
            </a:extLst>
          </p:cNvPr>
          <p:cNvSpPr txBox="1">
            <a:spLocks/>
          </p:cNvSpPr>
          <p:nvPr/>
        </p:nvSpPr>
        <p:spPr>
          <a:xfrm>
            <a:off x="471488" y="2322095"/>
            <a:ext cx="5915025" cy="7182852"/>
          </a:xfrm>
          <a:prstGeom prst="rect">
            <a:avLst/>
          </a:prstGeom>
        </p:spPr>
        <p:txBody>
          <a:bodyPr vert="horz" lIns="91440" tIns="45720" rIns="91440" bIns="45720" rtlCol="0">
            <a:normAutofit fontScale="32500" lnSpcReduction="20000"/>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US" sz="6000" b="1" dirty="0"/>
              <a:t>Examples:</a:t>
            </a:r>
          </a:p>
          <a:p>
            <a:pPr algn="l">
              <a:lnSpc>
                <a:spcPct val="120000"/>
              </a:lnSpc>
            </a:pPr>
            <a:r>
              <a:rPr lang="en-US" sz="6000" b="1" dirty="0"/>
              <a:t>Case 4: EOF-Controlled while Loops</a:t>
            </a:r>
          </a:p>
          <a:p>
            <a:pPr algn="l">
              <a:lnSpc>
                <a:spcPct val="120000"/>
              </a:lnSpc>
            </a:pPr>
            <a:r>
              <a:rPr lang="en-US" sz="6000" dirty="0"/>
              <a:t>The following is an example of an EOF-controlled </a:t>
            </a:r>
            <a:r>
              <a:rPr lang="en-US" sz="6000" b="1" dirty="0"/>
              <a:t>while </a:t>
            </a:r>
            <a:r>
              <a:rPr lang="en-US" sz="6000" dirty="0"/>
              <a:t>loop:</a:t>
            </a:r>
          </a:p>
          <a:p>
            <a:pPr algn="l">
              <a:lnSpc>
                <a:spcPct val="120000"/>
              </a:lnSpc>
            </a:pPr>
            <a:r>
              <a:rPr lang="en-ZA" sz="6000" b="1" dirty="0" err="1">
                <a:solidFill>
                  <a:srgbClr val="0070C0"/>
                </a:solidFill>
              </a:rPr>
              <a:t>eof</a:t>
            </a:r>
            <a:r>
              <a:rPr lang="en-ZA" sz="6000" b="1" dirty="0">
                <a:solidFill>
                  <a:srgbClr val="0070C0"/>
                </a:solidFill>
              </a:rPr>
              <a:t> Function</a:t>
            </a:r>
          </a:p>
          <a:p>
            <a:pPr algn="l"/>
            <a:r>
              <a:rPr lang="en-US" sz="6000" dirty="0"/>
              <a:t>In addition to checking the value of an input stream variable, such as </a:t>
            </a:r>
            <a:r>
              <a:rPr lang="en-US" sz="6000" b="1" dirty="0" err="1"/>
              <a:t>cin</a:t>
            </a:r>
            <a:r>
              <a:rPr lang="en-US" sz="6000" dirty="0"/>
              <a:t>, to determine whether the end of the file has been reached, C++ provides a function that you can use with an input stream variable to determine the end-of-file status. This function </a:t>
            </a:r>
            <a:r>
              <a:rPr lang="en-ZA" sz="6000" dirty="0"/>
              <a:t>is called </a:t>
            </a:r>
            <a:r>
              <a:rPr lang="en-ZA" sz="6000" b="1" dirty="0" err="1"/>
              <a:t>eof</a:t>
            </a:r>
            <a:r>
              <a:rPr lang="en-ZA" sz="6000" dirty="0"/>
              <a:t>.</a:t>
            </a:r>
          </a:p>
          <a:p>
            <a:pPr algn="l"/>
            <a:r>
              <a:rPr lang="en-US" sz="6000" dirty="0"/>
              <a:t>The function </a:t>
            </a:r>
            <a:r>
              <a:rPr lang="en-US" sz="6000" b="1" dirty="0" err="1"/>
              <a:t>eof</a:t>
            </a:r>
            <a:r>
              <a:rPr lang="en-US" sz="6000" b="1" dirty="0"/>
              <a:t> </a:t>
            </a:r>
            <a:r>
              <a:rPr lang="en-US" sz="6000" dirty="0"/>
              <a:t>is a member of the data type </a:t>
            </a:r>
            <a:r>
              <a:rPr lang="en-US" sz="6000" b="1" dirty="0" err="1"/>
              <a:t>istream</a:t>
            </a:r>
            <a:r>
              <a:rPr lang="en-US" sz="6000" dirty="0"/>
              <a:t>. The syntax to use the function </a:t>
            </a:r>
            <a:r>
              <a:rPr lang="en-US" sz="6000" b="1" dirty="0" err="1"/>
              <a:t>eof</a:t>
            </a:r>
            <a:r>
              <a:rPr lang="en-US" sz="6000" b="1" dirty="0"/>
              <a:t> </a:t>
            </a:r>
            <a:r>
              <a:rPr lang="en-US" sz="6000" dirty="0"/>
              <a:t>is:</a:t>
            </a:r>
          </a:p>
          <a:p>
            <a:pPr algn="l"/>
            <a:r>
              <a:rPr lang="en-ZA" b="1" dirty="0" err="1">
                <a:solidFill>
                  <a:srgbClr val="0070C0"/>
                </a:solidFill>
              </a:rPr>
              <a:t>i</a:t>
            </a:r>
            <a:r>
              <a:rPr lang="en-ZA" sz="6000" b="1" dirty="0" err="1">
                <a:solidFill>
                  <a:srgbClr val="0070C0"/>
                </a:solidFill>
              </a:rPr>
              <a:t>streamVar.eof</a:t>
            </a:r>
            <a:r>
              <a:rPr lang="en-ZA" sz="6000" b="1" dirty="0">
                <a:solidFill>
                  <a:srgbClr val="0070C0"/>
                </a:solidFill>
              </a:rPr>
              <a:t>()</a:t>
            </a:r>
            <a:endParaRPr lang="en-US" sz="6000" dirty="0">
              <a:solidFill>
                <a:srgbClr val="0070C0"/>
              </a:solidFill>
            </a:endParaRPr>
          </a:p>
          <a:p>
            <a:pPr algn="l"/>
            <a:r>
              <a:rPr lang="en-US" sz="6000" dirty="0"/>
              <a:t>in which </a:t>
            </a:r>
            <a:r>
              <a:rPr lang="en-US" sz="6000" b="1" dirty="0" err="1"/>
              <a:t>istreamVar</a:t>
            </a:r>
            <a:r>
              <a:rPr lang="en-US" sz="6000" b="1" dirty="0"/>
              <a:t> </a:t>
            </a:r>
            <a:r>
              <a:rPr lang="en-US" sz="6000" dirty="0"/>
              <a:t>is an input stream variable, such as </a:t>
            </a:r>
            <a:r>
              <a:rPr lang="en-US" sz="6000" b="1" dirty="0" err="1">
                <a:solidFill>
                  <a:srgbClr val="0070C0"/>
                </a:solidFill>
              </a:rPr>
              <a:t>cin</a:t>
            </a:r>
            <a:r>
              <a:rPr lang="en-US" sz="6000" dirty="0"/>
              <a:t>.</a:t>
            </a:r>
          </a:p>
          <a:p>
            <a:pPr algn="l"/>
            <a:r>
              <a:rPr lang="en-US" sz="6000" dirty="0"/>
              <a:t>Suppose you have the declaration:</a:t>
            </a:r>
          </a:p>
          <a:p>
            <a:pPr algn="l"/>
            <a:r>
              <a:rPr lang="en-ZA" sz="6000" b="1" dirty="0" err="1">
                <a:solidFill>
                  <a:srgbClr val="0070C0"/>
                </a:solidFill>
              </a:rPr>
              <a:t>ifstream</a:t>
            </a:r>
            <a:r>
              <a:rPr lang="en-ZA" sz="6000" b="1" dirty="0">
                <a:solidFill>
                  <a:srgbClr val="0070C0"/>
                </a:solidFill>
              </a:rPr>
              <a:t> </a:t>
            </a:r>
            <a:r>
              <a:rPr lang="en-ZA" sz="6000" b="1" dirty="0" err="1">
                <a:solidFill>
                  <a:srgbClr val="0070C0"/>
                </a:solidFill>
              </a:rPr>
              <a:t>infile</a:t>
            </a:r>
            <a:r>
              <a:rPr lang="en-ZA" sz="6000" b="1" dirty="0">
                <a:solidFill>
                  <a:srgbClr val="0070C0"/>
                </a:solidFill>
              </a:rPr>
              <a:t>;</a:t>
            </a:r>
          </a:p>
          <a:p>
            <a:pPr algn="l"/>
            <a:r>
              <a:rPr lang="en-US" sz="6000" dirty="0"/>
              <a:t>Further suppose that you opened a file using the variable </a:t>
            </a:r>
            <a:r>
              <a:rPr lang="en-US" sz="6000" b="1" dirty="0" err="1"/>
              <a:t>infile</a:t>
            </a:r>
            <a:r>
              <a:rPr lang="en-US" sz="6000" dirty="0"/>
              <a:t>. Consider the </a:t>
            </a:r>
            <a:r>
              <a:rPr lang="en-ZA" sz="6000" dirty="0"/>
              <a:t>expression:</a:t>
            </a:r>
          </a:p>
          <a:p>
            <a:pPr algn="l"/>
            <a:r>
              <a:rPr lang="en-ZA" sz="6000" b="1" dirty="0" err="1">
                <a:solidFill>
                  <a:srgbClr val="0070C0"/>
                </a:solidFill>
              </a:rPr>
              <a:t>infile.eof</a:t>
            </a:r>
            <a:r>
              <a:rPr lang="en-ZA" sz="6000" b="1" dirty="0">
                <a:solidFill>
                  <a:srgbClr val="0070C0"/>
                </a:solidFill>
              </a:rPr>
              <a:t>()</a:t>
            </a:r>
          </a:p>
          <a:p>
            <a:pPr algn="l"/>
            <a:r>
              <a:rPr lang="en-US" sz="6000" dirty="0"/>
              <a:t>This is a logical (Boolean) expression. The value of this expression is </a:t>
            </a:r>
            <a:r>
              <a:rPr lang="en-US" sz="6000" b="1" dirty="0"/>
              <a:t>true </a:t>
            </a:r>
            <a:r>
              <a:rPr lang="en-US" sz="6000" dirty="0"/>
              <a:t>if the program has read past the end of the input file, </a:t>
            </a:r>
            <a:r>
              <a:rPr lang="en-US" sz="6000" b="1" dirty="0" err="1"/>
              <a:t>infile</a:t>
            </a:r>
            <a:r>
              <a:rPr lang="en-US" sz="6000" dirty="0"/>
              <a:t>; otherwise, the value of this </a:t>
            </a:r>
            <a:r>
              <a:rPr lang="en-ZA" sz="6000" dirty="0"/>
              <a:t>expression is </a:t>
            </a:r>
            <a:r>
              <a:rPr lang="en-ZA" sz="6000" b="1" dirty="0"/>
              <a:t>false</a:t>
            </a:r>
            <a:r>
              <a:rPr lang="en-ZA" sz="6000" dirty="0"/>
              <a:t>.</a:t>
            </a:r>
            <a:endParaRPr lang="en-US" sz="6000" dirty="0"/>
          </a:p>
        </p:txBody>
      </p:sp>
    </p:spTree>
    <p:extLst>
      <p:ext uri="{BB962C8B-B14F-4D97-AF65-F5344CB8AC3E}">
        <p14:creationId xmlns:p14="http://schemas.microsoft.com/office/powerpoint/2010/main" val="353006960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2196E6-C1E8-DBAD-BEB6-70A7C4DC525A}"/>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A576D4A7-285C-17A8-C7E9-E1DC3EAAD63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1F89639B-AFDD-C113-9E78-690C0821F4EC}"/>
              </a:ext>
            </a:extLst>
          </p:cNvPr>
          <p:cNvSpPr txBox="1"/>
          <p:nvPr/>
        </p:nvSpPr>
        <p:spPr>
          <a:xfrm>
            <a:off x="0" y="65927"/>
            <a:ext cx="6858000" cy="646331"/>
          </a:xfrm>
          <a:prstGeom prst="rect">
            <a:avLst/>
          </a:prstGeom>
          <a:noFill/>
        </p:spPr>
        <p:txBody>
          <a:bodyPr wrap="square" rtlCol="0">
            <a:spAutoFit/>
          </a:bodyPr>
          <a:lstStyle/>
          <a:p>
            <a:pPr algn="ctr"/>
            <a:r>
              <a:rPr lang="en-US" sz="3600" b="1" dirty="0">
                <a:latin typeface="Arial" panose="020B0604020202020204" pitchFamily="34" charset="0"/>
                <a:cs typeface="Arial" panose="020B0604020202020204" pitchFamily="34" charset="0"/>
              </a:rPr>
              <a:t>While Loop</a:t>
            </a:r>
            <a:endParaRPr lang="en-ZA" sz="3600" b="1" dirty="0">
              <a:latin typeface="Arial" panose="020B0604020202020204" pitchFamily="34" charset="0"/>
              <a:cs typeface="Arial" panose="020B0604020202020204" pitchFamily="34" charset="0"/>
            </a:endParaRPr>
          </a:p>
        </p:txBody>
      </p:sp>
      <p:sp>
        <p:nvSpPr>
          <p:cNvPr id="2" name="Content Placeholder 2">
            <a:extLst>
              <a:ext uri="{FF2B5EF4-FFF2-40B4-BE49-F238E27FC236}">
                <a16:creationId xmlns:a16="http://schemas.microsoft.com/office/drawing/2014/main" id="{4BE93935-E5B4-AAE5-2793-C1CCF6CC7863}"/>
              </a:ext>
            </a:extLst>
          </p:cNvPr>
          <p:cNvSpPr txBox="1">
            <a:spLocks/>
          </p:cNvSpPr>
          <p:nvPr/>
        </p:nvSpPr>
        <p:spPr>
          <a:xfrm>
            <a:off x="471488" y="2322095"/>
            <a:ext cx="5915025" cy="7182852"/>
          </a:xfrm>
          <a:prstGeom prst="rect">
            <a:avLst/>
          </a:prstGeom>
        </p:spPr>
        <p:txBody>
          <a:bodyPr vert="horz" lIns="91440" tIns="45720" rIns="91440" bIns="45720" rtlCol="0">
            <a:normAutofit fontScale="47500" lnSpcReduction="20000"/>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US" sz="5000" b="1" dirty="0"/>
              <a:t>Examples:</a:t>
            </a:r>
          </a:p>
          <a:p>
            <a:pPr algn="l">
              <a:lnSpc>
                <a:spcPct val="120000"/>
              </a:lnSpc>
            </a:pPr>
            <a:r>
              <a:rPr lang="en-US" sz="5000" b="1" dirty="0"/>
              <a:t>Case 4: EOF-Controlled while Loops</a:t>
            </a:r>
          </a:p>
          <a:p>
            <a:pPr algn="l">
              <a:lnSpc>
                <a:spcPct val="120000"/>
              </a:lnSpc>
            </a:pPr>
            <a:r>
              <a:rPr lang="en-US" sz="5000" dirty="0"/>
              <a:t>The following is an example of an EOF-controlled </a:t>
            </a:r>
            <a:r>
              <a:rPr lang="en-US" sz="5000" b="1" dirty="0"/>
              <a:t>while </a:t>
            </a:r>
            <a:r>
              <a:rPr lang="en-US" sz="5000" dirty="0"/>
              <a:t>loop:</a:t>
            </a:r>
          </a:p>
          <a:p>
            <a:pPr algn="l">
              <a:lnSpc>
                <a:spcPct val="120000"/>
              </a:lnSpc>
            </a:pPr>
            <a:r>
              <a:rPr lang="en-ZA" sz="5000" dirty="0">
                <a:solidFill>
                  <a:srgbClr val="00B050"/>
                </a:solidFill>
              </a:rPr>
              <a:t>//Declare stream variables</a:t>
            </a:r>
          </a:p>
          <a:p>
            <a:pPr algn="l"/>
            <a:r>
              <a:rPr lang="en-ZA" sz="3800" b="1" dirty="0" err="1">
                <a:solidFill>
                  <a:srgbClr val="0070C0"/>
                </a:solidFill>
              </a:rPr>
              <a:t>ifstream</a:t>
            </a:r>
            <a:r>
              <a:rPr lang="en-ZA" sz="3800" b="1" dirty="0"/>
              <a:t> </a:t>
            </a:r>
            <a:r>
              <a:rPr lang="en-ZA" sz="3800" b="1" dirty="0" err="1"/>
              <a:t>infile</a:t>
            </a:r>
            <a:r>
              <a:rPr lang="en-ZA" sz="3800" b="1" dirty="0"/>
              <a:t>;</a:t>
            </a:r>
          </a:p>
          <a:p>
            <a:pPr algn="l"/>
            <a:r>
              <a:rPr lang="en-ZA" sz="3800" b="1" dirty="0">
                <a:solidFill>
                  <a:srgbClr val="0070C0"/>
                </a:solidFill>
              </a:rPr>
              <a:t>char</a:t>
            </a:r>
            <a:r>
              <a:rPr lang="en-ZA" sz="3800" b="1" dirty="0"/>
              <a:t> </a:t>
            </a:r>
            <a:r>
              <a:rPr lang="en-ZA" sz="3800" b="1" dirty="0" err="1"/>
              <a:t>ch</a:t>
            </a:r>
            <a:r>
              <a:rPr lang="en-ZA" sz="3800" b="1" dirty="0"/>
              <a:t>;</a:t>
            </a:r>
          </a:p>
          <a:p>
            <a:pPr algn="l"/>
            <a:r>
              <a:rPr lang="en-ZA" sz="3800" b="1" dirty="0" err="1">
                <a:solidFill>
                  <a:srgbClr val="0070C0"/>
                </a:solidFill>
              </a:rPr>
              <a:t>infile.open</a:t>
            </a:r>
            <a:r>
              <a:rPr lang="en-ZA" sz="3800" b="1" dirty="0"/>
              <a:t>("inputDat.dat");</a:t>
            </a:r>
          </a:p>
          <a:p>
            <a:pPr algn="l"/>
            <a:r>
              <a:rPr lang="en-ZA" sz="3800" b="1" dirty="0" err="1">
                <a:solidFill>
                  <a:srgbClr val="0070C0"/>
                </a:solidFill>
              </a:rPr>
              <a:t>infile</a:t>
            </a:r>
            <a:r>
              <a:rPr lang="en-ZA" sz="3800" b="1" dirty="0" err="1"/>
              <a:t>.</a:t>
            </a:r>
            <a:r>
              <a:rPr lang="en-ZA" sz="3800" b="1" dirty="0" err="1">
                <a:solidFill>
                  <a:srgbClr val="0070C0"/>
                </a:solidFill>
              </a:rPr>
              <a:t>get</a:t>
            </a:r>
            <a:r>
              <a:rPr lang="en-ZA" sz="3800" b="1" dirty="0"/>
              <a:t>(</a:t>
            </a:r>
            <a:r>
              <a:rPr lang="en-ZA" sz="3800" b="1" dirty="0" err="1"/>
              <a:t>ch</a:t>
            </a:r>
            <a:r>
              <a:rPr lang="en-ZA" sz="3800" b="1" dirty="0"/>
              <a:t>);</a:t>
            </a:r>
          </a:p>
          <a:p>
            <a:pPr algn="l"/>
            <a:r>
              <a:rPr lang="en-ZA" sz="3800" b="1" dirty="0">
                <a:solidFill>
                  <a:srgbClr val="0070C0"/>
                </a:solidFill>
              </a:rPr>
              <a:t>while</a:t>
            </a:r>
            <a:r>
              <a:rPr lang="en-ZA" sz="3800" b="1" dirty="0"/>
              <a:t> (!</a:t>
            </a:r>
            <a:r>
              <a:rPr lang="en-ZA" sz="3800" b="1" dirty="0" err="1">
                <a:solidFill>
                  <a:srgbClr val="0070C0"/>
                </a:solidFill>
              </a:rPr>
              <a:t>infile</a:t>
            </a:r>
            <a:r>
              <a:rPr lang="en-ZA" sz="3800" b="1" dirty="0" err="1"/>
              <a:t>.</a:t>
            </a:r>
            <a:r>
              <a:rPr lang="en-ZA" sz="3800" b="1" dirty="0" err="1">
                <a:solidFill>
                  <a:srgbClr val="0070C0"/>
                </a:solidFill>
              </a:rPr>
              <a:t>eof</a:t>
            </a:r>
            <a:r>
              <a:rPr lang="en-ZA" sz="3800" b="1" dirty="0"/>
              <a:t>()) </a:t>
            </a:r>
          </a:p>
          <a:p>
            <a:pPr algn="l"/>
            <a:r>
              <a:rPr lang="en-ZA" sz="3800" b="1" dirty="0"/>
              <a:t>{</a:t>
            </a:r>
          </a:p>
          <a:p>
            <a:pPr lvl="1" algn="l"/>
            <a:r>
              <a:rPr lang="en-ZA" sz="3500" b="1" dirty="0" err="1">
                <a:solidFill>
                  <a:srgbClr val="0070C0"/>
                </a:solidFill>
              </a:rPr>
              <a:t>cout</a:t>
            </a:r>
            <a:r>
              <a:rPr lang="en-ZA" sz="3500" b="1" dirty="0"/>
              <a:t> &lt;&lt; </a:t>
            </a:r>
            <a:r>
              <a:rPr lang="en-ZA" sz="3500" b="1" dirty="0" err="1"/>
              <a:t>ch</a:t>
            </a:r>
            <a:r>
              <a:rPr lang="en-ZA" sz="3500" b="1" dirty="0"/>
              <a:t>;</a:t>
            </a:r>
          </a:p>
          <a:p>
            <a:pPr lvl="1" algn="l"/>
            <a:r>
              <a:rPr lang="en-ZA" sz="3500" b="1" dirty="0" err="1">
                <a:solidFill>
                  <a:srgbClr val="0070C0"/>
                </a:solidFill>
              </a:rPr>
              <a:t>infile</a:t>
            </a:r>
            <a:r>
              <a:rPr lang="en-ZA" sz="3500" b="1" dirty="0" err="1"/>
              <a:t>.</a:t>
            </a:r>
            <a:r>
              <a:rPr lang="en-ZA" sz="3500" b="1" dirty="0" err="1">
                <a:solidFill>
                  <a:srgbClr val="0070C0"/>
                </a:solidFill>
              </a:rPr>
              <a:t>get</a:t>
            </a:r>
            <a:r>
              <a:rPr lang="en-ZA" sz="3500" b="1" dirty="0"/>
              <a:t>(</a:t>
            </a:r>
            <a:r>
              <a:rPr lang="en-ZA" sz="3500" b="1" dirty="0" err="1"/>
              <a:t>ch</a:t>
            </a:r>
            <a:r>
              <a:rPr lang="en-ZA" sz="3500" b="1" dirty="0"/>
              <a:t>);</a:t>
            </a:r>
          </a:p>
          <a:p>
            <a:pPr algn="l"/>
            <a:r>
              <a:rPr lang="en-ZA" sz="3800" b="1" dirty="0"/>
              <a:t>}</a:t>
            </a:r>
          </a:p>
          <a:p>
            <a:pPr algn="l"/>
            <a:r>
              <a:rPr lang="en-US" sz="3800" dirty="0"/>
              <a:t>As long as the program has not reached the end of the input file, the expression:</a:t>
            </a:r>
          </a:p>
          <a:p>
            <a:pPr algn="l"/>
            <a:r>
              <a:rPr lang="en-ZA" sz="3800" b="1" dirty="0" err="1">
                <a:solidFill>
                  <a:srgbClr val="0070C0"/>
                </a:solidFill>
              </a:rPr>
              <a:t>infile</a:t>
            </a:r>
            <a:r>
              <a:rPr lang="en-ZA" sz="3800" b="1" dirty="0" err="1"/>
              <a:t>.</a:t>
            </a:r>
            <a:r>
              <a:rPr lang="en-ZA" sz="3800" b="1" dirty="0" err="1">
                <a:solidFill>
                  <a:srgbClr val="0070C0"/>
                </a:solidFill>
              </a:rPr>
              <a:t>eof</a:t>
            </a:r>
            <a:r>
              <a:rPr lang="en-ZA" sz="3800" b="1" dirty="0"/>
              <a:t>()</a:t>
            </a:r>
          </a:p>
          <a:p>
            <a:pPr algn="l"/>
            <a:r>
              <a:rPr lang="en-US" sz="3800" dirty="0"/>
              <a:t>is </a:t>
            </a:r>
            <a:r>
              <a:rPr lang="en-US" sz="3800" b="1" dirty="0"/>
              <a:t>false </a:t>
            </a:r>
            <a:r>
              <a:rPr lang="en-US" sz="3800" dirty="0"/>
              <a:t>and so the expression: </a:t>
            </a:r>
            <a:r>
              <a:rPr lang="en-ZA" sz="3800" b="1" dirty="0"/>
              <a:t>!</a:t>
            </a:r>
            <a:r>
              <a:rPr lang="en-ZA" sz="3800" b="1" dirty="0" err="1">
                <a:solidFill>
                  <a:srgbClr val="0070C0"/>
                </a:solidFill>
              </a:rPr>
              <a:t>infile</a:t>
            </a:r>
            <a:r>
              <a:rPr lang="en-ZA" sz="3800" b="1" dirty="0" err="1"/>
              <a:t>.</a:t>
            </a:r>
            <a:r>
              <a:rPr lang="en-ZA" sz="3800" b="1" dirty="0" err="1">
                <a:solidFill>
                  <a:srgbClr val="0070C0"/>
                </a:solidFill>
              </a:rPr>
              <a:t>eof</a:t>
            </a:r>
            <a:r>
              <a:rPr lang="en-ZA" sz="3800" b="1" dirty="0"/>
              <a:t>() </a:t>
            </a:r>
            <a:r>
              <a:rPr lang="en-US" sz="3800" dirty="0"/>
              <a:t>in the </a:t>
            </a:r>
            <a:r>
              <a:rPr lang="en-US" sz="3800" b="1" dirty="0"/>
              <a:t>while </a:t>
            </a:r>
            <a:r>
              <a:rPr lang="en-US" sz="3800" dirty="0"/>
              <a:t>statement is </a:t>
            </a:r>
            <a:r>
              <a:rPr lang="en-US" sz="3800" b="1" dirty="0"/>
              <a:t>true</a:t>
            </a:r>
            <a:r>
              <a:rPr lang="en-US" sz="3800" dirty="0"/>
              <a:t>. When the program reads past the end of the input </a:t>
            </a:r>
            <a:r>
              <a:rPr lang="en-ZA" sz="3800" dirty="0"/>
              <a:t>file, the expression:</a:t>
            </a:r>
          </a:p>
          <a:p>
            <a:pPr algn="l"/>
            <a:r>
              <a:rPr lang="en-ZA" sz="3800" b="1" dirty="0" err="1">
                <a:solidFill>
                  <a:srgbClr val="0070C0"/>
                </a:solidFill>
              </a:rPr>
              <a:t>infile</a:t>
            </a:r>
            <a:r>
              <a:rPr lang="en-ZA" sz="3800" b="1" dirty="0" err="1"/>
              <a:t>.</a:t>
            </a:r>
            <a:r>
              <a:rPr lang="en-ZA" sz="3800" b="1" dirty="0" err="1">
                <a:solidFill>
                  <a:srgbClr val="0070C0"/>
                </a:solidFill>
              </a:rPr>
              <a:t>eof</a:t>
            </a:r>
            <a:r>
              <a:rPr lang="en-ZA" sz="3800" b="1" dirty="0"/>
              <a:t>() </a:t>
            </a:r>
            <a:r>
              <a:rPr lang="en-US" sz="3800" dirty="0"/>
              <a:t>becomes </a:t>
            </a:r>
            <a:r>
              <a:rPr lang="en-US" sz="3800" b="1" dirty="0"/>
              <a:t>true</a:t>
            </a:r>
            <a:r>
              <a:rPr lang="en-US" sz="3800" dirty="0"/>
              <a:t>, so the expression:</a:t>
            </a:r>
          </a:p>
          <a:p>
            <a:pPr algn="l"/>
            <a:r>
              <a:rPr lang="en-ZA" sz="3800" b="1" dirty="0"/>
              <a:t>!</a:t>
            </a:r>
            <a:r>
              <a:rPr lang="en-ZA" sz="3800" b="1" dirty="0" err="1">
                <a:solidFill>
                  <a:srgbClr val="0070C0"/>
                </a:solidFill>
              </a:rPr>
              <a:t>infile</a:t>
            </a:r>
            <a:r>
              <a:rPr lang="en-ZA" sz="3800" b="1" dirty="0" err="1"/>
              <a:t>.</a:t>
            </a:r>
            <a:r>
              <a:rPr lang="en-ZA" sz="3800" b="1" dirty="0" err="1">
                <a:solidFill>
                  <a:srgbClr val="0070C0"/>
                </a:solidFill>
              </a:rPr>
              <a:t>eof</a:t>
            </a:r>
            <a:r>
              <a:rPr lang="en-ZA" sz="3800" b="1" dirty="0"/>
              <a:t>() </a:t>
            </a:r>
            <a:r>
              <a:rPr lang="en-US" sz="3800" dirty="0"/>
              <a:t>in the </a:t>
            </a:r>
            <a:r>
              <a:rPr lang="en-US" sz="3800" b="1" dirty="0"/>
              <a:t>while </a:t>
            </a:r>
            <a:r>
              <a:rPr lang="en-US" sz="3800" dirty="0"/>
              <a:t>statement becomes </a:t>
            </a:r>
            <a:r>
              <a:rPr lang="en-US" sz="3800" b="1" dirty="0"/>
              <a:t>false </a:t>
            </a:r>
            <a:r>
              <a:rPr lang="en-US" sz="3800" dirty="0"/>
              <a:t>and the loop terminates.</a:t>
            </a:r>
            <a:endParaRPr lang="en-US" sz="3800" b="1" dirty="0"/>
          </a:p>
        </p:txBody>
      </p:sp>
    </p:spTree>
    <p:extLst>
      <p:ext uri="{BB962C8B-B14F-4D97-AF65-F5344CB8AC3E}">
        <p14:creationId xmlns:p14="http://schemas.microsoft.com/office/powerpoint/2010/main" val="96946035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57E7D5-DEED-7C99-77B4-8E8B6A8B5A80}"/>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A1EDB98E-06B9-49B9-7D83-0B3CE77A336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A17C3F12-4F8C-48C9-3650-13A1AAC99F17}"/>
              </a:ext>
            </a:extLst>
          </p:cNvPr>
          <p:cNvSpPr txBox="1"/>
          <p:nvPr/>
        </p:nvSpPr>
        <p:spPr>
          <a:xfrm>
            <a:off x="0" y="65927"/>
            <a:ext cx="6858000" cy="646331"/>
          </a:xfrm>
          <a:prstGeom prst="rect">
            <a:avLst/>
          </a:prstGeom>
          <a:noFill/>
        </p:spPr>
        <p:txBody>
          <a:bodyPr wrap="square" rtlCol="0">
            <a:spAutoFit/>
          </a:bodyPr>
          <a:lstStyle/>
          <a:p>
            <a:pPr algn="ctr"/>
            <a:r>
              <a:rPr lang="en-US" sz="3600" b="1" dirty="0">
                <a:latin typeface="Arial" panose="020B0604020202020204" pitchFamily="34" charset="0"/>
                <a:cs typeface="Arial" panose="020B0604020202020204" pitchFamily="34" charset="0"/>
              </a:rPr>
              <a:t>While Loop</a:t>
            </a:r>
            <a:endParaRPr lang="en-ZA" sz="3600" b="1" dirty="0">
              <a:latin typeface="Arial" panose="020B0604020202020204" pitchFamily="34" charset="0"/>
              <a:cs typeface="Arial" panose="020B0604020202020204" pitchFamily="34" charset="0"/>
            </a:endParaRPr>
          </a:p>
        </p:txBody>
      </p:sp>
      <p:sp>
        <p:nvSpPr>
          <p:cNvPr id="2" name="Content Placeholder 2">
            <a:extLst>
              <a:ext uri="{FF2B5EF4-FFF2-40B4-BE49-F238E27FC236}">
                <a16:creationId xmlns:a16="http://schemas.microsoft.com/office/drawing/2014/main" id="{C98F941F-5F40-72DB-0C4F-19AE7770A178}"/>
              </a:ext>
            </a:extLst>
          </p:cNvPr>
          <p:cNvSpPr txBox="1">
            <a:spLocks/>
          </p:cNvSpPr>
          <p:nvPr/>
        </p:nvSpPr>
        <p:spPr>
          <a:xfrm>
            <a:off x="471488" y="2637014"/>
            <a:ext cx="5915025" cy="6285266"/>
          </a:xfrm>
          <a:prstGeom prst="rect">
            <a:avLst/>
          </a:prstGeom>
        </p:spPr>
        <p:txBody>
          <a:bodyPr vert="horz" lIns="91440" tIns="45720" rIns="91440" bIns="45720" rtlCol="0">
            <a:normAutofit fontScale="92500" lnSpcReduction="20000"/>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US" sz="2600" b="1" dirty="0"/>
              <a:t>Exercises:</a:t>
            </a:r>
          </a:p>
          <a:p>
            <a:pPr algn="l"/>
            <a:endParaRPr lang="en-US" sz="2400" b="1" dirty="0"/>
          </a:p>
          <a:p>
            <a:pPr algn="l"/>
            <a:r>
              <a:rPr lang="en-US" sz="2400" dirty="0">
                <a:solidFill>
                  <a:srgbClr val="000000"/>
                </a:solidFill>
              </a:rPr>
              <a:t>What is the output of the following (when embedded in a complete </a:t>
            </a:r>
            <a:r>
              <a:rPr lang="en-ZA" sz="2400" dirty="0">
                <a:solidFill>
                  <a:srgbClr val="000000"/>
                </a:solidFill>
              </a:rPr>
              <a:t>program)?</a:t>
            </a:r>
          </a:p>
          <a:p>
            <a:pPr algn="l"/>
            <a:endParaRPr lang="en-ZA" sz="2400" dirty="0">
              <a:solidFill>
                <a:srgbClr val="000000"/>
              </a:solidFill>
            </a:endParaRPr>
          </a:p>
          <a:p>
            <a:pPr algn="l"/>
            <a:r>
              <a:rPr lang="en-ZA" sz="2400" b="1" dirty="0">
                <a:solidFill>
                  <a:srgbClr val="0070C0"/>
                </a:solidFill>
              </a:rPr>
              <a:t>int</a:t>
            </a:r>
            <a:r>
              <a:rPr lang="en-ZA" sz="2400" i="1" dirty="0">
                <a:solidFill>
                  <a:srgbClr val="00AEF0"/>
                </a:solidFill>
              </a:rPr>
              <a:t> </a:t>
            </a:r>
            <a:r>
              <a:rPr lang="en-ZA" sz="2400" dirty="0">
                <a:solidFill>
                  <a:srgbClr val="000000"/>
                </a:solidFill>
              </a:rPr>
              <a:t>count = 3;</a:t>
            </a:r>
          </a:p>
          <a:p>
            <a:pPr algn="l"/>
            <a:r>
              <a:rPr lang="en-ZA" sz="2400" b="1" dirty="0">
                <a:solidFill>
                  <a:srgbClr val="0070C0"/>
                </a:solidFill>
              </a:rPr>
              <a:t>while</a:t>
            </a:r>
            <a:r>
              <a:rPr lang="en-ZA" sz="2400" i="1" dirty="0">
                <a:solidFill>
                  <a:srgbClr val="00AEF0"/>
                </a:solidFill>
              </a:rPr>
              <a:t> </a:t>
            </a:r>
            <a:r>
              <a:rPr lang="en-ZA" sz="2400" dirty="0">
                <a:solidFill>
                  <a:srgbClr val="000000"/>
                </a:solidFill>
              </a:rPr>
              <a:t>(−−count &gt; 0)</a:t>
            </a:r>
          </a:p>
          <a:p>
            <a:pPr algn="l"/>
            <a:r>
              <a:rPr lang="en-ZA" sz="2400" dirty="0">
                <a:solidFill>
                  <a:srgbClr val="000000"/>
                </a:solidFill>
              </a:rPr>
              <a:t>	</a:t>
            </a:r>
            <a:r>
              <a:rPr lang="en-ZA" sz="2400" dirty="0" err="1">
                <a:solidFill>
                  <a:srgbClr val="000000"/>
                </a:solidFill>
              </a:rPr>
              <a:t>cout</a:t>
            </a:r>
            <a:r>
              <a:rPr lang="en-ZA" sz="2400" dirty="0">
                <a:solidFill>
                  <a:srgbClr val="000000"/>
                </a:solidFill>
              </a:rPr>
              <a:t> &lt;&lt; count &lt;&lt; " ";</a:t>
            </a:r>
          </a:p>
          <a:p>
            <a:pPr algn="l"/>
            <a:endParaRPr lang="en-ZA" sz="2400" dirty="0">
              <a:solidFill>
                <a:srgbClr val="000000"/>
              </a:solidFill>
            </a:endParaRPr>
          </a:p>
          <a:p>
            <a:pPr algn="l"/>
            <a:r>
              <a:rPr lang="en-US" sz="2400" dirty="0"/>
              <a:t>Suppose that the input is: </a:t>
            </a:r>
            <a:r>
              <a:rPr lang="en-ZA" sz="2400" b="1" dirty="0"/>
              <a:t>33 -10 45 -87 165 -999</a:t>
            </a:r>
          </a:p>
          <a:p>
            <a:pPr algn="l"/>
            <a:r>
              <a:rPr lang="en-US" sz="2400" dirty="0"/>
              <a:t>What is the output of the following program?</a:t>
            </a:r>
          </a:p>
          <a:p>
            <a:pPr algn="l"/>
            <a:endParaRPr lang="en-ZA" sz="2400" b="1" i="0" u="none" strike="noStrike" baseline="0" dirty="0">
              <a:solidFill>
                <a:srgbClr val="0070C0"/>
              </a:solidFill>
            </a:endParaRPr>
          </a:p>
          <a:p>
            <a:pPr algn="l"/>
            <a:r>
              <a:rPr lang="en-ZA" sz="2400" b="1" i="0" u="none" strike="noStrike" baseline="0" dirty="0">
                <a:solidFill>
                  <a:srgbClr val="0070C0"/>
                </a:solidFill>
              </a:rPr>
              <a:t>while</a:t>
            </a:r>
            <a:r>
              <a:rPr lang="en-ZA" sz="2400" b="1" i="0" u="none" strike="noStrike" baseline="0" dirty="0">
                <a:solidFill>
                  <a:srgbClr val="6A8899"/>
                </a:solidFill>
              </a:rPr>
              <a:t> </a:t>
            </a:r>
            <a:r>
              <a:rPr lang="en-ZA" sz="2400" b="1" i="0" u="none" strike="noStrike" baseline="0" dirty="0">
                <a:solidFill>
                  <a:srgbClr val="211808"/>
                </a:solidFill>
              </a:rPr>
              <a:t>(</a:t>
            </a:r>
            <a:r>
              <a:rPr lang="en-ZA" sz="2400" b="1" i="0" u="none" strike="noStrike" baseline="0" dirty="0" err="1">
                <a:solidFill>
                  <a:srgbClr val="211808"/>
                </a:solidFill>
              </a:rPr>
              <a:t>num</a:t>
            </a:r>
            <a:r>
              <a:rPr lang="en-ZA" sz="2400" b="1" i="0" u="none" strike="noStrike" baseline="0" dirty="0">
                <a:solidFill>
                  <a:srgbClr val="211808"/>
                </a:solidFill>
              </a:rPr>
              <a:t> != -999)</a:t>
            </a:r>
          </a:p>
          <a:p>
            <a:pPr algn="l"/>
            <a:r>
              <a:rPr lang="en-ZA" sz="2400" b="1" i="0" u="none" strike="noStrike" baseline="0" dirty="0">
                <a:solidFill>
                  <a:srgbClr val="211808"/>
                </a:solidFill>
              </a:rPr>
              <a:t>{</a:t>
            </a:r>
          </a:p>
          <a:p>
            <a:pPr lvl="1" algn="l"/>
            <a:r>
              <a:rPr lang="en-ZA" sz="2400" b="1" i="0" u="none" strike="noStrike" baseline="0" dirty="0" err="1">
                <a:solidFill>
                  <a:srgbClr val="211808"/>
                </a:solidFill>
              </a:rPr>
              <a:t>cout</a:t>
            </a:r>
            <a:r>
              <a:rPr lang="en-ZA" sz="2400" b="1" i="0" u="none" strike="noStrike" baseline="0" dirty="0">
                <a:solidFill>
                  <a:srgbClr val="211808"/>
                </a:solidFill>
              </a:rPr>
              <a:t> &lt;&lt; </a:t>
            </a:r>
            <a:r>
              <a:rPr lang="en-ZA" sz="2400" b="1" i="0" u="none" strike="noStrike" baseline="0" dirty="0" err="1">
                <a:solidFill>
                  <a:srgbClr val="211808"/>
                </a:solidFill>
              </a:rPr>
              <a:t>num</a:t>
            </a:r>
            <a:r>
              <a:rPr lang="en-ZA" sz="2400" b="1" i="0" u="none" strike="noStrike" baseline="0" dirty="0">
                <a:solidFill>
                  <a:srgbClr val="211808"/>
                </a:solidFill>
              </a:rPr>
              <a:t> % (count + 1) &lt;&lt; " ";</a:t>
            </a:r>
          </a:p>
          <a:p>
            <a:pPr lvl="1" algn="l"/>
            <a:r>
              <a:rPr lang="en-ZA" sz="2400" b="1" i="0" u="none" strike="noStrike" baseline="0" dirty="0" err="1">
                <a:solidFill>
                  <a:srgbClr val="211808"/>
                </a:solidFill>
              </a:rPr>
              <a:t>cin</a:t>
            </a:r>
            <a:r>
              <a:rPr lang="en-ZA" sz="2400" b="1" i="0" u="none" strike="noStrike" baseline="0" dirty="0">
                <a:solidFill>
                  <a:srgbClr val="211808"/>
                </a:solidFill>
              </a:rPr>
              <a:t> &gt;&gt; </a:t>
            </a:r>
            <a:r>
              <a:rPr lang="en-ZA" sz="2400" b="1" i="0" u="none" strike="noStrike" baseline="0" dirty="0" err="1">
                <a:solidFill>
                  <a:srgbClr val="211808"/>
                </a:solidFill>
              </a:rPr>
              <a:t>num</a:t>
            </a:r>
            <a:r>
              <a:rPr lang="en-ZA" sz="2400" b="1" i="0" u="none" strike="noStrike" baseline="0" dirty="0">
                <a:solidFill>
                  <a:srgbClr val="211808"/>
                </a:solidFill>
              </a:rPr>
              <a:t>;</a:t>
            </a:r>
          </a:p>
          <a:p>
            <a:pPr lvl="1" algn="l"/>
            <a:r>
              <a:rPr lang="en-ZA" sz="2400" b="1" i="0" u="none" strike="noStrike" baseline="0" dirty="0">
                <a:solidFill>
                  <a:srgbClr val="211808"/>
                </a:solidFill>
              </a:rPr>
              <a:t>count++;</a:t>
            </a:r>
          </a:p>
          <a:p>
            <a:pPr algn="l"/>
            <a:r>
              <a:rPr lang="en-ZA" sz="2400" b="1" i="0" u="none" strike="noStrike" baseline="0" dirty="0">
                <a:solidFill>
                  <a:srgbClr val="211808"/>
                </a:solidFill>
              </a:rPr>
              <a:t>}</a:t>
            </a:r>
          </a:p>
          <a:p>
            <a:pPr algn="l"/>
            <a:r>
              <a:rPr lang="en-ZA" sz="2400" b="1" i="0" u="none" strike="noStrike" baseline="0" dirty="0" err="1">
                <a:solidFill>
                  <a:srgbClr val="211808"/>
                </a:solidFill>
              </a:rPr>
              <a:t>cout</a:t>
            </a:r>
            <a:r>
              <a:rPr lang="en-ZA" sz="2400" b="1" i="0" u="none" strike="noStrike" baseline="0" dirty="0">
                <a:solidFill>
                  <a:srgbClr val="211808"/>
                </a:solidFill>
              </a:rPr>
              <a:t> &lt;&lt; </a:t>
            </a:r>
            <a:r>
              <a:rPr lang="en-ZA" sz="2400" b="1" i="0" u="none" strike="noStrike" baseline="0" dirty="0" err="1">
                <a:solidFill>
                  <a:srgbClr val="211808"/>
                </a:solidFill>
              </a:rPr>
              <a:t>endl</a:t>
            </a:r>
            <a:r>
              <a:rPr lang="en-ZA" sz="2400" b="1" i="0" u="none" strike="noStrike" baseline="0" dirty="0">
                <a:solidFill>
                  <a:srgbClr val="211808"/>
                </a:solidFill>
              </a:rPr>
              <a:t>;</a:t>
            </a:r>
            <a:endParaRPr lang="en-ZA" sz="2400" dirty="0">
              <a:solidFill>
                <a:srgbClr val="000000"/>
              </a:solidFill>
            </a:endParaRPr>
          </a:p>
          <a:p>
            <a:pPr algn="l"/>
            <a:endParaRPr lang="en-US" sz="2600" b="1" dirty="0"/>
          </a:p>
        </p:txBody>
      </p:sp>
    </p:spTree>
    <p:extLst>
      <p:ext uri="{BB962C8B-B14F-4D97-AF65-F5344CB8AC3E}">
        <p14:creationId xmlns:p14="http://schemas.microsoft.com/office/powerpoint/2010/main" val="14213689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9FA600-8B3D-6E08-DCEB-E5F1E537B22F}"/>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3989A518-2598-0A69-D657-039D541808D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2752F9BA-0CDB-03EC-C91D-DF493113DD94}"/>
              </a:ext>
            </a:extLst>
          </p:cNvPr>
          <p:cNvSpPr txBox="1"/>
          <p:nvPr/>
        </p:nvSpPr>
        <p:spPr>
          <a:xfrm>
            <a:off x="0" y="65927"/>
            <a:ext cx="6858000" cy="646331"/>
          </a:xfrm>
          <a:prstGeom prst="rect">
            <a:avLst/>
          </a:prstGeom>
          <a:noFill/>
        </p:spPr>
        <p:txBody>
          <a:bodyPr wrap="square" rtlCol="0">
            <a:spAutoFit/>
          </a:bodyPr>
          <a:lstStyle/>
          <a:p>
            <a:pPr algn="ctr"/>
            <a:r>
              <a:rPr lang="en-US" sz="3600" b="1" dirty="0">
                <a:latin typeface="Arial" panose="020B0604020202020204" pitchFamily="34" charset="0"/>
                <a:cs typeface="Arial" panose="020B0604020202020204" pitchFamily="34" charset="0"/>
              </a:rPr>
              <a:t>While Loop</a:t>
            </a:r>
            <a:endParaRPr lang="en-ZA" sz="3600" b="1" dirty="0">
              <a:latin typeface="Arial" panose="020B0604020202020204" pitchFamily="34" charset="0"/>
              <a:cs typeface="Arial" panose="020B0604020202020204" pitchFamily="34" charset="0"/>
            </a:endParaRPr>
          </a:p>
        </p:txBody>
      </p:sp>
      <p:sp>
        <p:nvSpPr>
          <p:cNvPr id="2" name="Content Placeholder 2">
            <a:extLst>
              <a:ext uri="{FF2B5EF4-FFF2-40B4-BE49-F238E27FC236}">
                <a16:creationId xmlns:a16="http://schemas.microsoft.com/office/drawing/2014/main" id="{DF30A3D3-75D7-F068-0FD5-91F83E033DDB}"/>
              </a:ext>
            </a:extLst>
          </p:cNvPr>
          <p:cNvSpPr txBox="1">
            <a:spLocks/>
          </p:cNvSpPr>
          <p:nvPr/>
        </p:nvSpPr>
        <p:spPr>
          <a:xfrm>
            <a:off x="471488" y="2153653"/>
            <a:ext cx="5915025" cy="7086600"/>
          </a:xfrm>
          <a:prstGeom prst="rect">
            <a:avLst/>
          </a:prstGeom>
        </p:spPr>
        <p:txBody>
          <a:bodyPr vert="horz" lIns="91440" tIns="45720" rIns="91440" bIns="45720" rtlCol="0">
            <a:no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US" b="1" dirty="0"/>
              <a:t>Exercises:</a:t>
            </a:r>
          </a:p>
          <a:p>
            <a:pPr algn="l"/>
            <a:endParaRPr lang="en-US" b="1" dirty="0"/>
          </a:p>
          <a:p>
            <a:pPr algn="l"/>
            <a:r>
              <a:rPr lang="en-ZA" b="1" i="0" u="none" strike="noStrike" baseline="0" dirty="0">
                <a:solidFill>
                  <a:srgbClr val="0070C0"/>
                </a:solidFill>
              </a:rPr>
              <a:t>int</a:t>
            </a:r>
            <a:r>
              <a:rPr lang="en-ZA" b="1" i="0" u="none" strike="noStrike" baseline="0" dirty="0">
                <a:solidFill>
                  <a:srgbClr val="6A8899"/>
                </a:solidFill>
              </a:rPr>
              <a:t> </a:t>
            </a:r>
            <a:r>
              <a:rPr lang="en-ZA" b="1" i="0" u="none" strike="noStrike" baseline="0" dirty="0">
                <a:solidFill>
                  <a:srgbClr val="211808"/>
                </a:solidFill>
              </a:rPr>
              <a:t>main()</a:t>
            </a:r>
          </a:p>
          <a:p>
            <a:pPr algn="l"/>
            <a:r>
              <a:rPr lang="en-ZA" b="1" i="0" u="none" strike="noStrike" baseline="0" dirty="0">
                <a:solidFill>
                  <a:srgbClr val="211808"/>
                </a:solidFill>
              </a:rPr>
              <a:t>{</a:t>
            </a:r>
          </a:p>
          <a:p>
            <a:pPr lvl="1" algn="l"/>
            <a:r>
              <a:rPr lang="en-ZA" sz="1800" b="1" dirty="0">
                <a:solidFill>
                  <a:srgbClr val="0070C0"/>
                </a:solidFill>
              </a:rPr>
              <a:t>int</a:t>
            </a:r>
            <a:r>
              <a:rPr lang="en-ZA" sz="1800" b="1" i="0" u="none" strike="noStrike" baseline="0" dirty="0">
                <a:solidFill>
                  <a:srgbClr val="6A8899"/>
                </a:solidFill>
              </a:rPr>
              <a:t> </a:t>
            </a:r>
            <a:r>
              <a:rPr lang="en-ZA" sz="1800" b="1" i="0" u="none" strike="noStrike" baseline="0" dirty="0">
                <a:solidFill>
                  <a:srgbClr val="211808"/>
                </a:solidFill>
              </a:rPr>
              <a:t>num1, num2, </a:t>
            </a:r>
            <a:r>
              <a:rPr lang="en-ZA" sz="1800" b="1" i="0" u="none" strike="noStrike" baseline="0" dirty="0">
                <a:solidFill>
                  <a:srgbClr val="6A8899"/>
                </a:solidFill>
              </a:rPr>
              <a:t>int </a:t>
            </a:r>
            <a:r>
              <a:rPr lang="en-ZA" sz="1800" b="1" i="0" u="none" strike="noStrike" baseline="0" dirty="0">
                <a:solidFill>
                  <a:srgbClr val="211808"/>
                </a:solidFill>
              </a:rPr>
              <a:t>temp = 0;</a:t>
            </a:r>
          </a:p>
          <a:p>
            <a:pPr lvl="1" algn="l"/>
            <a:r>
              <a:rPr lang="en-ZA" sz="1800" b="1" i="0" u="none" strike="noStrike" baseline="0" dirty="0" err="1">
                <a:solidFill>
                  <a:srgbClr val="211808"/>
                </a:solidFill>
              </a:rPr>
              <a:t>cout</a:t>
            </a:r>
            <a:r>
              <a:rPr lang="en-ZA" sz="1800" b="1" i="0" u="none" strike="noStrike" baseline="0" dirty="0">
                <a:solidFill>
                  <a:srgbClr val="211808"/>
                </a:solidFill>
              </a:rPr>
              <a:t> &lt;&lt; "Enter two integers: ";</a:t>
            </a:r>
          </a:p>
          <a:p>
            <a:pPr lvl="1" algn="l"/>
            <a:r>
              <a:rPr lang="en-ZA" sz="1800" b="1" i="0" u="none" strike="noStrike" baseline="0" dirty="0" err="1">
                <a:solidFill>
                  <a:srgbClr val="211808"/>
                </a:solidFill>
              </a:rPr>
              <a:t>cin</a:t>
            </a:r>
            <a:r>
              <a:rPr lang="en-ZA" sz="1800" b="1" i="0" u="none" strike="noStrike" baseline="0" dirty="0">
                <a:solidFill>
                  <a:srgbClr val="211808"/>
                </a:solidFill>
              </a:rPr>
              <a:t> &gt;&gt; num1 &gt;&gt; num2;</a:t>
            </a:r>
          </a:p>
          <a:p>
            <a:pPr lvl="1" algn="l"/>
            <a:r>
              <a:rPr lang="en-ZA" sz="1800" b="1" i="0" u="none" strike="noStrike" baseline="0" dirty="0" err="1">
                <a:solidFill>
                  <a:srgbClr val="211808"/>
                </a:solidFill>
              </a:rPr>
              <a:t>cout</a:t>
            </a:r>
            <a:r>
              <a:rPr lang="en-ZA" sz="1800" b="1" i="0" u="none" strike="noStrike" baseline="0" dirty="0">
                <a:solidFill>
                  <a:srgbClr val="211808"/>
                </a:solidFill>
              </a:rPr>
              <a:t> &lt;&lt; </a:t>
            </a:r>
            <a:r>
              <a:rPr lang="en-ZA" sz="1800" b="1" i="0" u="none" strike="noStrike" baseline="0" dirty="0" err="1">
                <a:solidFill>
                  <a:srgbClr val="211808"/>
                </a:solidFill>
              </a:rPr>
              <a:t>endl</a:t>
            </a:r>
            <a:r>
              <a:rPr lang="en-ZA" sz="1800" b="1" i="0" u="none" strike="noStrike" baseline="0" dirty="0">
                <a:solidFill>
                  <a:srgbClr val="211808"/>
                </a:solidFill>
              </a:rPr>
              <a:t>;</a:t>
            </a:r>
          </a:p>
          <a:p>
            <a:pPr lvl="1" algn="l"/>
            <a:r>
              <a:rPr lang="pt-BR" sz="1800" b="1" i="0" u="none" strike="noStrike" baseline="0" dirty="0">
                <a:solidFill>
                  <a:srgbClr val="0070C0"/>
                </a:solidFill>
              </a:rPr>
              <a:t>while</a:t>
            </a:r>
            <a:r>
              <a:rPr lang="pt-BR" sz="1800" b="1" i="0" u="none" strike="noStrike" baseline="0" dirty="0">
                <a:solidFill>
                  <a:srgbClr val="6A8899"/>
                </a:solidFill>
              </a:rPr>
              <a:t> </a:t>
            </a:r>
            <a:r>
              <a:rPr lang="pt-BR" sz="1800" b="1" i="0" u="none" strike="noStrike" baseline="0" dirty="0">
                <a:solidFill>
                  <a:srgbClr val="211808"/>
                </a:solidFill>
              </a:rPr>
              <a:t>((num1 + num2) % 2 != (num1 + num2) % 3)</a:t>
            </a:r>
          </a:p>
          <a:p>
            <a:pPr lvl="1" algn="l"/>
            <a:r>
              <a:rPr lang="en-ZA" sz="1800" b="1" i="0" u="none" strike="noStrike" baseline="0" dirty="0">
                <a:solidFill>
                  <a:srgbClr val="211808"/>
                </a:solidFill>
              </a:rPr>
              <a:t>{</a:t>
            </a:r>
          </a:p>
          <a:p>
            <a:pPr lvl="2" algn="l"/>
            <a:r>
              <a:rPr lang="en-ZA" sz="1800" b="1" i="0" u="none" strike="noStrike" baseline="0" dirty="0">
                <a:solidFill>
                  <a:srgbClr val="211808"/>
                </a:solidFill>
              </a:rPr>
              <a:t>temp = num1 + num2;</a:t>
            </a:r>
          </a:p>
          <a:p>
            <a:pPr lvl="2" algn="l"/>
            <a:r>
              <a:rPr lang="en-ZA" sz="1800" b="1" i="0" u="none" strike="noStrike" baseline="0" dirty="0">
                <a:solidFill>
                  <a:srgbClr val="211808"/>
                </a:solidFill>
              </a:rPr>
              <a:t>num1 = num2;</a:t>
            </a:r>
          </a:p>
          <a:p>
            <a:pPr lvl="2" algn="l"/>
            <a:r>
              <a:rPr lang="en-ZA" sz="1800" b="1" i="0" u="none" strike="noStrike" baseline="0" dirty="0">
                <a:solidFill>
                  <a:srgbClr val="211808"/>
                </a:solidFill>
              </a:rPr>
              <a:t>num2 = temp;</a:t>
            </a:r>
          </a:p>
          <a:p>
            <a:pPr lvl="2" algn="l"/>
            <a:r>
              <a:rPr lang="en-ZA" sz="1800" b="1" i="0" u="none" strike="noStrike" baseline="0" dirty="0" err="1">
                <a:solidFill>
                  <a:srgbClr val="211808"/>
                </a:solidFill>
              </a:rPr>
              <a:t>cout</a:t>
            </a:r>
            <a:r>
              <a:rPr lang="en-ZA" sz="1800" b="1" i="0" u="none" strike="noStrike" baseline="0" dirty="0">
                <a:solidFill>
                  <a:srgbClr val="211808"/>
                </a:solidFill>
              </a:rPr>
              <a:t> &lt;&lt; temp &lt;&lt; " ";</a:t>
            </a:r>
          </a:p>
          <a:p>
            <a:pPr lvl="1" algn="l"/>
            <a:r>
              <a:rPr lang="en-ZA" sz="1800" b="1" i="0" u="none" strike="noStrike" baseline="0" dirty="0">
                <a:solidFill>
                  <a:srgbClr val="211808"/>
                </a:solidFill>
              </a:rPr>
              <a:t>}</a:t>
            </a:r>
          </a:p>
          <a:p>
            <a:pPr lvl="1" algn="l"/>
            <a:r>
              <a:rPr lang="en-ZA" sz="1800" b="1" i="0" u="none" strike="noStrike" baseline="0" dirty="0" err="1">
                <a:solidFill>
                  <a:srgbClr val="211808"/>
                </a:solidFill>
              </a:rPr>
              <a:t>cout</a:t>
            </a:r>
            <a:r>
              <a:rPr lang="en-ZA" sz="1800" b="1" i="0" u="none" strike="noStrike" baseline="0" dirty="0">
                <a:solidFill>
                  <a:srgbClr val="211808"/>
                </a:solidFill>
              </a:rPr>
              <a:t> &lt;&lt; " *" &lt;&lt; </a:t>
            </a:r>
            <a:r>
              <a:rPr lang="en-ZA" sz="1800" b="1" i="0" u="none" strike="noStrike" baseline="0" dirty="0" err="1">
                <a:solidFill>
                  <a:srgbClr val="211808"/>
                </a:solidFill>
              </a:rPr>
              <a:t>endl</a:t>
            </a:r>
            <a:r>
              <a:rPr lang="en-ZA" sz="1800" b="1" i="0" u="none" strike="noStrike" baseline="0" dirty="0">
                <a:solidFill>
                  <a:srgbClr val="211808"/>
                </a:solidFill>
              </a:rPr>
              <a:t>;</a:t>
            </a:r>
          </a:p>
          <a:p>
            <a:pPr algn="l"/>
            <a:r>
              <a:rPr lang="en-ZA" b="1" i="0" u="none" strike="noStrike" baseline="0" dirty="0">
                <a:solidFill>
                  <a:srgbClr val="6A8899"/>
                </a:solidFill>
              </a:rPr>
              <a:t>   </a:t>
            </a:r>
            <a:r>
              <a:rPr lang="en-ZA" b="1" i="0" u="none" strike="noStrike" baseline="0" dirty="0">
                <a:solidFill>
                  <a:srgbClr val="0070C0"/>
                </a:solidFill>
              </a:rPr>
              <a:t>return</a:t>
            </a:r>
            <a:r>
              <a:rPr lang="en-ZA" b="1" i="0" u="none" strike="noStrike" baseline="0" dirty="0">
                <a:solidFill>
                  <a:srgbClr val="6A8899"/>
                </a:solidFill>
              </a:rPr>
              <a:t> </a:t>
            </a:r>
            <a:r>
              <a:rPr lang="en-ZA" b="1" i="0" u="none" strike="noStrike" baseline="0" dirty="0">
                <a:solidFill>
                  <a:srgbClr val="211808"/>
                </a:solidFill>
              </a:rPr>
              <a:t>0;</a:t>
            </a:r>
          </a:p>
          <a:p>
            <a:pPr algn="l"/>
            <a:r>
              <a:rPr lang="en-ZA" b="1" i="0" u="none" strike="noStrike" baseline="0" dirty="0">
                <a:solidFill>
                  <a:srgbClr val="211808"/>
                </a:solidFill>
              </a:rPr>
              <a:t>}</a:t>
            </a:r>
          </a:p>
          <a:p>
            <a:pPr algn="l"/>
            <a:r>
              <a:rPr lang="en-US" b="1" i="0" u="none" strike="noStrike" baseline="0" dirty="0"/>
              <a:t>a. </a:t>
            </a:r>
            <a:r>
              <a:rPr lang="en-US" b="0" i="0" u="none" strike="noStrike" baseline="0" dirty="0"/>
              <a:t>What is the output if the input is </a:t>
            </a:r>
            <a:r>
              <a:rPr lang="en-US" b="1" i="0" u="none" strike="noStrike" baseline="0" dirty="0"/>
              <a:t>10 10</a:t>
            </a:r>
            <a:r>
              <a:rPr lang="en-US" b="0" i="0" u="none" strike="noStrike" baseline="0" dirty="0"/>
              <a:t>?</a:t>
            </a:r>
          </a:p>
          <a:p>
            <a:pPr algn="l"/>
            <a:r>
              <a:rPr lang="en-US" b="1" i="0" u="none" strike="noStrike" baseline="0" dirty="0"/>
              <a:t>b. </a:t>
            </a:r>
            <a:r>
              <a:rPr lang="en-US" b="0" i="0" u="none" strike="noStrike" baseline="0" dirty="0"/>
              <a:t>What is the output if the input is </a:t>
            </a:r>
            <a:r>
              <a:rPr lang="en-US" b="1" i="0" u="none" strike="noStrike" baseline="0" dirty="0"/>
              <a:t>-4 11</a:t>
            </a:r>
            <a:r>
              <a:rPr lang="en-US" b="0" i="0" u="none" strike="noStrike" baseline="0" dirty="0"/>
              <a:t>?</a:t>
            </a:r>
          </a:p>
          <a:p>
            <a:pPr algn="l"/>
            <a:r>
              <a:rPr lang="en-US" b="1" i="0" u="none" strike="noStrike" baseline="0" dirty="0"/>
              <a:t>c. </a:t>
            </a:r>
            <a:r>
              <a:rPr lang="en-US" b="0" i="0" u="none" strike="noStrike" baseline="0" dirty="0"/>
              <a:t>What is the output if the input is </a:t>
            </a:r>
            <a:r>
              <a:rPr lang="en-US" b="1" i="0" u="none" strike="noStrike" baseline="0" dirty="0"/>
              <a:t>12 29</a:t>
            </a:r>
            <a:r>
              <a:rPr lang="en-US" b="0" i="0" u="none" strike="noStrike" baseline="0" dirty="0"/>
              <a:t>?</a:t>
            </a:r>
          </a:p>
          <a:p>
            <a:pPr algn="l"/>
            <a:r>
              <a:rPr lang="en-US" b="1" i="0" u="none" strike="noStrike" baseline="0" dirty="0"/>
              <a:t>d. </a:t>
            </a:r>
            <a:r>
              <a:rPr lang="en-US" b="0" i="0" u="none" strike="noStrike" baseline="0" dirty="0"/>
              <a:t>What </a:t>
            </a:r>
            <a:r>
              <a:rPr lang="en-US" b="0" i="0" u="none" strike="noStrike" baseline="0" dirty="0">
                <a:solidFill>
                  <a:srgbClr val="211808"/>
                </a:solidFill>
              </a:rPr>
              <a:t>is the output if the input is </a:t>
            </a:r>
            <a:r>
              <a:rPr lang="en-US" b="1" i="0" u="none" strike="noStrike" baseline="0" dirty="0">
                <a:solidFill>
                  <a:srgbClr val="211808"/>
                </a:solidFill>
              </a:rPr>
              <a:t>10 17</a:t>
            </a:r>
            <a:r>
              <a:rPr lang="en-US" b="0" i="0" u="none" strike="noStrike" baseline="0" dirty="0">
                <a:solidFill>
                  <a:srgbClr val="211808"/>
                </a:solidFill>
              </a:rPr>
              <a:t>?</a:t>
            </a:r>
            <a:endParaRPr lang="en-US" b="1" dirty="0"/>
          </a:p>
        </p:txBody>
      </p:sp>
    </p:spTree>
    <p:extLst>
      <p:ext uri="{BB962C8B-B14F-4D97-AF65-F5344CB8AC3E}">
        <p14:creationId xmlns:p14="http://schemas.microsoft.com/office/powerpoint/2010/main" val="198316903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5595E2-F438-EB4A-D054-A48CFDC17B0A}"/>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DF99AB51-93E1-4874-DB9B-5A51D78350C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7F82B36C-EF8A-39FC-A9A2-6A6D6B325E8F}"/>
              </a:ext>
            </a:extLst>
          </p:cNvPr>
          <p:cNvSpPr txBox="1"/>
          <p:nvPr/>
        </p:nvSpPr>
        <p:spPr>
          <a:xfrm>
            <a:off x="0" y="65927"/>
            <a:ext cx="6858000" cy="646331"/>
          </a:xfrm>
          <a:prstGeom prst="rect">
            <a:avLst/>
          </a:prstGeom>
          <a:noFill/>
        </p:spPr>
        <p:txBody>
          <a:bodyPr wrap="square" rtlCol="0">
            <a:spAutoFit/>
          </a:bodyPr>
          <a:lstStyle/>
          <a:p>
            <a:pPr algn="ctr"/>
            <a:r>
              <a:rPr lang="en-US" sz="3600" b="1" dirty="0">
                <a:latin typeface="Arial" panose="020B0604020202020204" pitchFamily="34" charset="0"/>
                <a:cs typeface="Arial" panose="020B0604020202020204" pitchFamily="34" charset="0"/>
              </a:rPr>
              <a:t>Do While Loop</a:t>
            </a:r>
            <a:endParaRPr lang="en-ZA" sz="3600" b="1" dirty="0">
              <a:latin typeface="Arial" panose="020B0604020202020204" pitchFamily="34" charset="0"/>
              <a:cs typeface="Arial" panose="020B0604020202020204" pitchFamily="34" charset="0"/>
            </a:endParaRPr>
          </a:p>
        </p:txBody>
      </p:sp>
      <p:sp>
        <p:nvSpPr>
          <p:cNvPr id="2" name="Content Placeholder 2">
            <a:extLst>
              <a:ext uri="{FF2B5EF4-FFF2-40B4-BE49-F238E27FC236}">
                <a16:creationId xmlns:a16="http://schemas.microsoft.com/office/drawing/2014/main" id="{43AC989D-1C90-B847-EA7F-59B518023914}"/>
              </a:ext>
            </a:extLst>
          </p:cNvPr>
          <p:cNvSpPr txBox="1">
            <a:spLocks/>
          </p:cNvSpPr>
          <p:nvPr/>
        </p:nvSpPr>
        <p:spPr>
          <a:xfrm>
            <a:off x="471488" y="2637014"/>
            <a:ext cx="5915025" cy="6285266"/>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US" sz="2400" dirty="0"/>
              <a:t>If, on the other hand, you know that </a:t>
            </a:r>
            <a:r>
              <a:rPr lang="en-US" sz="2400" i="1" dirty="0"/>
              <a:t>under all circumstances </a:t>
            </a:r>
            <a:r>
              <a:rPr lang="en-US" sz="2400" dirty="0"/>
              <a:t>your loop body should be executed at least one time, then you can use a </a:t>
            </a:r>
            <a:r>
              <a:rPr lang="en-US" sz="2400" i="1" dirty="0"/>
              <a:t>do-while </a:t>
            </a:r>
            <a:r>
              <a:rPr lang="en-US" sz="2400" dirty="0"/>
              <a:t>statement. A </a:t>
            </a:r>
            <a:r>
              <a:rPr lang="en-US" sz="2400" i="1" dirty="0"/>
              <a:t>do-while </a:t>
            </a:r>
            <a:r>
              <a:rPr lang="en-US" sz="2400" dirty="0"/>
              <a:t>statement is similar to a </a:t>
            </a:r>
            <a:r>
              <a:rPr lang="en-US" sz="2400" i="1" dirty="0"/>
              <a:t>while </a:t>
            </a:r>
            <a:r>
              <a:rPr lang="en-US" sz="2400" dirty="0"/>
              <a:t>statement except that the loop body is always executed at least once.</a:t>
            </a:r>
            <a:endParaRPr lang="en-US" sz="2400" i="1" dirty="0"/>
          </a:p>
          <a:p>
            <a:pPr algn="l"/>
            <a:endParaRPr lang="en-US" sz="2400" i="1" dirty="0"/>
          </a:p>
          <a:p>
            <a:pPr algn="l"/>
            <a:r>
              <a:rPr lang="en-US" sz="2400" i="1" dirty="0"/>
              <a:t>In a do-while </a:t>
            </a:r>
            <a:r>
              <a:rPr lang="en-US" sz="2400" dirty="0"/>
              <a:t>loop, the first thing that happens is that the statements in the loop body are executed. After that first iteration of the loop body, the </a:t>
            </a:r>
            <a:r>
              <a:rPr lang="en-US" sz="2400" i="1" dirty="0"/>
              <a:t>do-while loop </a:t>
            </a:r>
            <a:r>
              <a:rPr lang="en-US" sz="2400" dirty="0"/>
              <a:t>statement behaves the same as a </a:t>
            </a:r>
            <a:r>
              <a:rPr lang="en-US" sz="2400" i="1" dirty="0"/>
              <a:t>while </a:t>
            </a:r>
            <a:r>
              <a:rPr lang="en-US" sz="2400" dirty="0"/>
              <a:t>loop. The Boolean expression is checked. If the Boolean expression is true, the loop body is executed again; the Boolean expression is checked again, and so forth.</a:t>
            </a:r>
          </a:p>
          <a:p>
            <a:pPr algn="l"/>
            <a:endParaRPr lang="en-US" sz="2400" b="1" dirty="0"/>
          </a:p>
        </p:txBody>
      </p:sp>
    </p:spTree>
    <p:extLst>
      <p:ext uri="{BB962C8B-B14F-4D97-AF65-F5344CB8AC3E}">
        <p14:creationId xmlns:p14="http://schemas.microsoft.com/office/powerpoint/2010/main" val="419058789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68B414-6A3C-6A66-BA91-B6C937D871FC}"/>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157860B2-7592-59D8-111D-ABF7EC767E6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71C05605-A0A1-8F36-3D7E-951A9B1DE998}"/>
              </a:ext>
            </a:extLst>
          </p:cNvPr>
          <p:cNvSpPr txBox="1"/>
          <p:nvPr/>
        </p:nvSpPr>
        <p:spPr>
          <a:xfrm>
            <a:off x="0" y="65927"/>
            <a:ext cx="6858000" cy="646331"/>
          </a:xfrm>
          <a:prstGeom prst="rect">
            <a:avLst/>
          </a:prstGeom>
          <a:noFill/>
        </p:spPr>
        <p:txBody>
          <a:bodyPr wrap="square" rtlCol="0">
            <a:spAutoFit/>
          </a:bodyPr>
          <a:lstStyle/>
          <a:p>
            <a:pPr algn="ctr"/>
            <a:r>
              <a:rPr lang="en-US" sz="3600" b="1" dirty="0">
                <a:latin typeface="Arial" panose="020B0604020202020204" pitchFamily="34" charset="0"/>
                <a:cs typeface="Arial" panose="020B0604020202020204" pitchFamily="34" charset="0"/>
              </a:rPr>
              <a:t>Do While Loop</a:t>
            </a:r>
            <a:endParaRPr lang="en-ZA" sz="3600" b="1" dirty="0">
              <a:latin typeface="Arial" panose="020B0604020202020204" pitchFamily="34" charset="0"/>
              <a:cs typeface="Arial" panose="020B0604020202020204" pitchFamily="34" charset="0"/>
            </a:endParaRPr>
          </a:p>
        </p:txBody>
      </p:sp>
      <p:sp>
        <p:nvSpPr>
          <p:cNvPr id="2" name="Content Placeholder 2">
            <a:extLst>
              <a:ext uri="{FF2B5EF4-FFF2-40B4-BE49-F238E27FC236}">
                <a16:creationId xmlns:a16="http://schemas.microsoft.com/office/drawing/2014/main" id="{67E71B0F-EDC7-390B-AE4D-2230148C50F2}"/>
              </a:ext>
            </a:extLst>
          </p:cNvPr>
          <p:cNvSpPr txBox="1">
            <a:spLocks/>
          </p:cNvSpPr>
          <p:nvPr/>
        </p:nvSpPr>
        <p:spPr>
          <a:xfrm>
            <a:off x="471488" y="2637014"/>
            <a:ext cx="5915025" cy="6285266"/>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US" sz="2600" b="1" dirty="0"/>
              <a:t>Syntax / Structure of a do-while loop:</a:t>
            </a:r>
          </a:p>
          <a:p>
            <a:pPr algn="l"/>
            <a:endParaRPr lang="en-ZA" sz="2600" b="1" dirty="0"/>
          </a:p>
          <a:p>
            <a:r>
              <a:rPr lang="en-US" b="1" dirty="0"/>
              <a:t>A Loop Body with Several Statements:</a:t>
            </a:r>
          </a:p>
          <a:p>
            <a:r>
              <a:rPr lang="en-ZA" i="1" dirty="0"/>
              <a:t>do</a:t>
            </a:r>
          </a:p>
          <a:p>
            <a:r>
              <a:rPr lang="en-ZA" dirty="0"/>
              <a:t>{</a:t>
            </a:r>
          </a:p>
          <a:p>
            <a:r>
              <a:rPr lang="en-ZA" i="1" dirty="0"/>
              <a:t>Statement_1</a:t>
            </a:r>
          </a:p>
          <a:p>
            <a:r>
              <a:rPr lang="en-ZA" i="1" dirty="0"/>
              <a:t>Statement_2</a:t>
            </a:r>
          </a:p>
          <a:p>
            <a:r>
              <a:rPr lang="en-ZA" dirty="0"/>
              <a:t>...</a:t>
            </a:r>
          </a:p>
          <a:p>
            <a:r>
              <a:rPr lang="en-ZA" i="1" dirty="0" err="1"/>
              <a:t>Statement_Last</a:t>
            </a:r>
            <a:endParaRPr lang="en-ZA" i="1" dirty="0"/>
          </a:p>
          <a:p>
            <a:r>
              <a:rPr lang="en-ZA" dirty="0"/>
              <a:t>} </a:t>
            </a:r>
            <a:r>
              <a:rPr lang="en-ZA" i="1" dirty="0"/>
              <a:t>while </a:t>
            </a:r>
            <a:r>
              <a:rPr lang="en-ZA" dirty="0"/>
              <a:t>(</a:t>
            </a:r>
            <a:r>
              <a:rPr lang="en-ZA" dirty="0" err="1"/>
              <a:t>Boolean_Expression</a:t>
            </a:r>
            <a:r>
              <a:rPr lang="en-ZA" dirty="0"/>
              <a:t>);</a:t>
            </a:r>
          </a:p>
          <a:p>
            <a:endParaRPr lang="en-ZA" dirty="0"/>
          </a:p>
          <a:p>
            <a:endParaRPr lang="en-US" b="1" dirty="0"/>
          </a:p>
          <a:p>
            <a:r>
              <a:rPr lang="en-US" b="1" dirty="0"/>
              <a:t>A Loop Body with a Single Statement:</a:t>
            </a:r>
          </a:p>
          <a:p>
            <a:r>
              <a:rPr lang="en-ZA" i="1" dirty="0"/>
              <a:t>do</a:t>
            </a:r>
          </a:p>
          <a:p>
            <a:r>
              <a:rPr lang="en-ZA" i="1" dirty="0"/>
              <a:t>Statement</a:t>
            </a:r>
          </a:p>
          <a:p>
            <a:r>
              <a:rPr lang="en-ZA" i="1" dirty="0"/>
              <a:t>while </a:t>
            </a:r>
            <a:r>
              <a:rPr lang="en-ZA" dirty="0"/>
              <a:t>(</a:t>
            </a:r>
            <a:r>
              <a:rPr lang="en-ZA" dirty="0" err="1"/>
              <a:t>Boolean_Expression</a:t>
            </a:r>
            <a:r>
              <a:rPr lang="en-ZA" dirty="0"/>
              <a:t>);</a:t>
            </a:r>
            <a:endParaRPr lang="en-US" sz="2600" dirty="0"/>
          </a:p>
          <a:p>
            <a:pPr algn="l"/>
            <a:endParaRPr lang="en-US" sz="2400" b="1" dirty="0"/>
          </a:p>
        </p:txBody>
      </p:sp>
      <p:pic>
        <p:nvPicPr>
          <p:cNvPr id="3" name="Picture 2">
            <a:extLst>
              <a:ext uri="{FF2B5EF4-FFF2-40B4-BE49-F238E27FC236}">
                <a16:creationId xmlns:a16="http://schemas.microsoft.com/office/drawing/2014/main" id="{2BE8EE01-A7BC-81C0-43FB-91F11FE8EA9B}"/>
              </a:ext>
            </a:extLst>
          </p:cNvPr>
          <p:cNvPicPr>
            <a:picLocks noChangeAspect="1"/>
          </p:cNvPicPr>
          <p:nvPr/>
        </p:nvPicPr>
        <p:blipFill>
          <a:blip r:embed="rId3"/>
          <a:stretch>
            <a:fillRect/>
          </a:stretch>
        </p:blipFill>
        <p:spPr>
          <a:xfrm>
            <a:off x="-72551" y="4611514"/>
            <a:ext cx="2814282" cy="1065293"/>
          </a:xfrm>
          <a:prstGeom prst="rect">
            <a:avLst/>
          </a:prstGeom>
        </p:spPr>
      </p:pic>
    </p:spTree>
    <p:extLst>
      <p:ext uri="{BB962C8B-B14F-4D97-AF65-F5344CB8AC3E}">
        <p14:creationId xmlns:p14="http://schemas.microsoft.com/office/powerpoint/2010/main" val="383334500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BC2877-C87F-0316-74FB-0833F477798C}"/>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73D50D06-6FE6-1C1D-7632-86919C9FA70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0E509473-5E6E-C9C1-B340-0A878B31FAC4}"/>
              </a:ext>
            </a:extLst>
          </p:cNvPr>
          <p:cNvSpPr txBox="1"/>
          <p:nvPr/>
        </p:nvSpPr>
        <p:spPr>
          <a:xfrm>
            <a:off x="0" y="65927"/>
            <a:ext cx="6858000" cy="646331"/>
          </a:xfrm>
          <a:prstGeom prst="rect">
            <a:avLst/>
          </a:prstGeom>
          <a:noFill/>
        </p:spPr>
        <p:txBody>
          <a:bodyPr wrap="square" rtlCol="0">
            <a:spAutoFit/>
          </a:bodyPr>
          <a:lstStyle/>
          <a:p>
            <a:pPr algn="ctr"/>
            <a:r>
              <a:rPr lang="en-US" sz="3600" b="1" dirty="0">
                <a:latin typeface="Arial" panose="020B0604020202020204" pitchFamily="34" charset="0"/>
                <a:cs typeface="Arial" panose="020B0604020202020204" pitchFamily="34" charset="0"/>
              </a:rPr>
              <a:t>Do While Loop</a:t>
            </a:r>
            <a:endParaRPr lang="en-ZA" sz="3600" b="1" dirty="0">
              <a:latin typeface="Arial" panose="020B0604020202020204" pitchFamily="34" charset="0"/>
              <a:cs typeface="Arial" panose="020B0604020202020204" pitchFamily="34" charset="0"/>
            </a:endParaRPr>
          </a:p>
        </p:txBody>
      </p:sp>
      <p:sp>
        <p:nvSpPr>
          <p:cNvPr id="2" name="Content Placeholder 2">
            <a:extLst>
              <a:ext uri="{FF2B5EF4-FFF2-40B4-BE49-F238E27FC236}">
                <a16:creationId xmlns:a16="http://schemas.microsoft.com/office/drawing/2014/main" id="{00901492-D4F0-5CF5-BA2B-7E78BF3313B8}"/>
              </a:ext>
            </a:extLst>
          </p:cNvPr>
          <p:cNvSpPr txBox="1">
            <a:spLocks/>
          </p:cNvSpPr>
          <p:nvPr/>
        </p:nvSpPr>
        <p:spPr>
          <a:xfrm>
            <a:off x="471488" y="2637013"/>
            <a:ext cx="5915025" cy="6759649"/>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US" sz="2600" b="1" dirty="0"/>
              <a:t>Syntax / Structure of a do-while loop:</a:t>
            </a:r>
          </a:p>
          <a:p>
            <a:pPr algn="l"/>
            <a:endParaRPr lang="en-ZA" sz="2600" b="1" dirty="0"/>
          </a:p>
          <a:p>
            <a:pPr algn="l"/>
            <a:endParaRPr lang="en-ZA" sz="2600" b="1" dirty="0"/>
          </a:p>
          <a:p>
            <a:pPr algn="l"/>
            <a:endParaRPr lang="en-ZA" sz="2600" b="1" dirty="0"/>
          </a:p>
          <a:p>
            <a:pPr algn="l"/>
            <a:endParaRPr lang="en-US" sz="2000" dirty="0"/>
          </a:p>
          <a:p>
            <a:pPr algn="l"/>
            <a:endParaRPr lang="en-US" sz="2000" dirty="0"/>
          </a:p>
          <a:p>
            <a:pPr algn="l"/>
            <a:endParaRPr lang="en-US" sz="2000" dirty="0"/>
          </a:p>
          <a:p>
            <a:pPr algn="l"/>
            <a:r>
              <a:rPr lang="en-US" sz="2000" dirty="0"/>
              <a:t>The </a:t>
            </a:r>
            <a:r>
              <a:rPr lang="en-US" sz="2000" b="1" dirty="0"/>
              <a:t>statement </a:t>
            </a:r>
            <a:r>
              <a:rPr lang="en-US" sz="2000" dirty="0"/>
              <a:t>executes first, and then the </a:t>
            </a:r>
            <a:r>
              <a:rPr lang="en-US" sz="2000" b="1" dirty="0"/>
              <a:t>expression </a:t>
            </a:r>
            <a:r>
              <a:rPr lang="en-US" sz="2000" dirty="0"/>
              <a:t>is evaluated. If the </a:t>
            </a:r>
            <a:r>
              <a:rPr lang="en-US" sz="2000" b="1" dirty="0"/>
              <a:t>expression </a:t>
            </a:r>
            <a:r>
              <a:rPr lang="en-US" sz="2000" dirty="0"/>
              <a:t>evaluates to </a:t>
            </a:r>
            <a:r>
              <a:rPr lang="en-US" sz="2000" b="1" dirty="0"/>
              <a:t>true</a:t>
            </a:r>
            <a:r>
              <a:rPr lang="en-US" sz="2000" dirty="0"/>
              <a:t>, the </a:t>
            </a:r>
            <a:r>
              <a:rPr lang="en-US" sz="2000" b="1" dirty="0"/>
              <a:t>statement </a:t>
            </a:r>
            <a:r>
              <a:rPr lang="en-US" sz="2000" dirty="0"/>
              <a:t>executes again. As long as the </a:t>
            </a:r>
            <a:r>
              <a:rPr lang="en-US" sz="2000" b="1" dirty="0"/>
              <a:t>expression </a:t>
            </a:r>
            <a:r>
              <a:rPr lang="en-US" sz="2000" dirty="0"/>
              <a:t>in a </a:t>
            </a:r>
            <a:r>
              <a:rPr lang="en-US" sz="2000" b="1" dirty="0"/>
              <a:t>do</a:t>
            </a:r>
            <a:r>
              <a:rPr lang="en-US" sz="2000" dirty="0"/>
              <a:t>. . .</a:t>
            </a:r>
            <a:r>
              <a:rPr lang="en-US" sz="2000" b="1" dirty="0"/>
              <a:t>while </a:t>
            </a:r>
            <a:r>
              <a:rPr lang="en-US" sz="2000" dirty="0"/>
              <a:t>statement is </a:t>
            </a:r>
            <a:r>
              <a:rPr lang="en-US" sz="2000" b="1" dirty="0"/>
              <a:t>true</a:t>
            </a:r>
            <a:r>
              <a:rPr lang="en-US" sz="2000" dirty="0"/>
              <a:t>, the </a:t>
            </a:r>
            <a:r>
              <a:rPr lang="en-US" sz="2000" b="1" dirty="0"/>
              <a:t>statement </a:t>
            </a:r>
            <a:r>
              <a:rPr lang="en-US" sz="2000" dirty="0"/>
              <a:t>executes. To avoid an infinite loop, you must, once again, make sure that the loop body contains a statement that ultimately makes the </a:t>
            </a:r>
            <a:r>
              <a:rPr lang="en-US" sz="2000" b="1" dirty="0"/>
              <a:t>expression false </a:t>
            </a:r>
            <a:r>
              <a:rPr lang="en-US" sz="2000" dirty="0"/>
              <a:t>and assures that it exits properly.</a:t>
            </a:r>
            <a:endParaRPr lang="en-ZA" sz="2000" b="1" dirty="0"/>
          </a:p>
          <a:p>
            <a:pPr algn="l"/>
            <a:r>
              <a:rPr lang="en-US" sz="2600" b="1" dirty="0"/>
              <a:t>Syntax of a do-while loop:</a:t>
            </a:r>
          </a:p>
          <a:p>
            <a:pPr algn="l"/>
            <a:endParaRPr lang="en-ZA" sz="2600" b="1" dirty="0"/>
          </a:p>
          <a:p>
            <a:pPr algn="l"/>
            <a:endParaRPr lang="en-US" sz="2400" b="1" dirty="0"/>
          </a:p>
        </p:txBody>
      </p:sp>
      <p:pic>
        <p:nvPicPr>
          <p:cNvPr id="9" name="Picture 8">
            <a:extLst>
              <a:ext uri="{FF2B5EF4-FFF2-40B4-BE49-F238E27FC236}">
                <a16:creationId xmlns:a16="http://schemas.microsoft.com/office/drawing/2014/main" id="{052D2415-92FF-1A89-237C-DFD6CEB2C435}"/>
              </a:ext>
            </a:extLst>
          </p:cNvPr>
          <p:cNvPicPr>
            <a:picLocks noChangeAspect="1"/>
          </p:cNvPicPr>
          <p:nvPr/>
        </p:nvPicPr>
        <p:blipFill>
          <a:blip r:embed="rId3"/>
          <a:stretch>
            <a:fillRect/>
          </a:stretch>
        </p:blipFill>
        <p:spPr>
          <a:xfrm>
            <a:off x="770020" y="3056020"/>
            <a:ext cx="4993106" cy="2538663"/>
          </a:xfrm>
          <a:prstGeom prst="rect">
            <a:avLst/>
          </a:prstGeom>
        </p:spPr>
      </p:pic>
      <p:pic>
        <p:nvPicPr>
          <p:cNvPr id="11" name="Picture 10">
            <a:extLst>
              <a:ext uri="{FF2B5EF4-FFF2-40B4-BE49-F238E27FC236}">
                <a16:creationId xmlns:a16="http://schemas.microsoft.com/office/drawing/2014/main" id="{A0A0F265-E424-6ED9-86F7-C962EFCB3268}"/>
              </a:ext>
            </a:extLst>
          </p:cNvPr>
          <p:cNvPicPr>
            <a:picLocks noChangeAspect="1"/>
          </p:cNvPicPr>
          <p:nvPr/>
        </p:nvPicPr>
        <p:blipFill>
          <a:blip r:embed="rId4"/>
          <a:stretch>
            <a:fillRect/>
          </a:stretch>
        </p:blipFill>
        <p:spPr>
          <a:xfrm>
            <a:off x="1553181" y="8245051"/>
            <a:ext cx="2814282" cy="1065293"/>
          </a:xfrm>
          <a:prstGeom prst="rect">
            <a:avLst/>
          </a:prstGeom>
        </p:spPr>
      </p:pic>
    </p:spTree>
    <p:extLst>
      <p:ext uri="{BB962C8B-B14F-4D97-AF65-F5344CB8AC3E}">
        <p14:creationId xmlns:p14="http://schemas.microsoft.com/office/powerpoint/2010/main" val="24197644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497BC1-EBF7-64DF-1D48-D94C6915A7B3}"/>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555B7319-6F82-E6FE-FDD6-D5E6CFBC09E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37F1C34A-E665-7DC1-8A1B-250FD5E9FD61}"/>
              </a:ext>
            </a:extLst>
          </p:cNvPr>
          <p:cNvSpPr txBox="1"/>
          <p:nvPr/>
        </p:nvSpPr>
        <p:spPr>
          <a:xfrm>
            <a:off x="0" y="65927"/>
            <a:ext cx="6858000" cy="646331"/>
          </a:xfrm>
          <a:prstGeom prst="rect">
            <a:avLst/>
          </a:prstGeom>
          <a:noFill/>
        </p:spPr>
        <p:txBody>
          <a:bodyPr wrap="square" rtlCol="0">
            <a:spAutoFit/>
          </a:bodyPr>
          <a:lstStyle/>
          <a:p>
            <a:pPr algn="ctr"/>
            <a:r>
              <a:rPr lang="en-US" sz="3600" b="1" dirty="0">
                <a:latin typeface="Arial" panose="020B0604020202020204" pitchFamily="34" charset="0"/>
                <a:cs typeface="Arial" panose="020B0604020202020204" pitchFamily="34" charset="0"/>
              </a:rPr>
              <a:t>Do While Loop</a:t>
            </a:r>
            <a:endParaRPr lang="en-ZA" sz="3600" b="1" dirty="0">
              <a:latin typeface="Arial" panose="020B0604020202020204" pitchFamily="34" charset="0"/>
              <a:cs typeface="Arial" panose="020B0604020202020204" pitchFamily="34" charset="0"/>
            </a:endParaRPr>
          </a:p>
        </p:txBody>
      </p:sp>
      <p:sp>
        <p:nvSpPr>
          <p:cNvPr id="2" name="Content Placeholder 2">
            <a:extLst>
              <a:ext uri="{FF2B5EF4-FFF2-40B4-BE49-F238E27FC236}">
                <a16:creationId xmlns:a16="http://schemas.microsoft.com/office/drawing/2014/main" id="{D671FE97-1E65-A9B6-294F-41B404547E4B}"/>
              </a:ext>
            </a:extLst>
          </p:cNvPr>
          <p:cNvSpPr txBox="1">
            <a:spLocks/>
          </p:cNvSpPr>
          <p:nvPr/>
        </p:nvSpPr>
        <p:spPr>
          <a:xfrm>
            <a:off x="471488" y="2637014"/>
            <a:ext cx="5915025" cy="6285266"/>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US" sz="2600" b="1" dirty="0"/>
              <a:t>Syntax / Structure of a do-while loop:</a:t>
            </a:r>
          </a:p>
          <a:p>
            <a:pPr algn="l"/>
            <a:endParaRPr lang="en-ZA" sz="2600" b="1" dirty="0"/>
          </a:p>
          <a:p>
            <a:pPr algn="l"/>
            <a:endParaRPr lang="en-US" sz="2400" b="1" dirty="0"/>
          </a:p>
        </p:txBody>
      </p:sp>
      <p:pic>
        <p:nvPicPr>
          <p:cNvPr id="6" name="Picture 5">
            <a:extLst>
              <a:ext uri="{FF2B5EF4-FFF2-40B4-BE49-F238E27FC236}">
                <a16:creationId xmlns:a16="http://schemas.microsoft.com/office/drawing/2014/main" id="{27651746-EC3E-6E38-282B-EE34D53496C4}"/>
              </a:ext>
            </a:extLst>
          </p:cNvPr>
          <p:cNvPicPr>
            <a:picLocks noChangeAspect="1"/>
          </p:cNvPicPr>
          <p:nvPr/>
        </p:nvPicPr>
        <p:blipFill>
          <a:blip r:embed="rId3"/>
          <a:stretch>
            <a:fillRect/>
          </a:stretch>
        </p:blipFill>
        <p:spPr>
          <a:xfrm>
            <a:off x="884140" y="3176633"/>
            <a:ext cx="5017168" cy="2730871"/>
          </a:xfrm>
          <a:prstGeom prst="rect">
            <a:avLst/>
          </a:prstGeom>
        </p:spPr>
      </p:pic>
    </p:spTree>
    <p:extLst>
      <p:ext uri="{BB962C8B-B14F-4D97-AF65-F5344CB8AC3E}">
        <p14:creationId xmlns:p14="http://schemas.microsoft.com/office/powerpoint/2010/main" val="214240361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7B555D-0FA0-6782-AA58-51B8E7ABE275}"/>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7CF29936-AE11-4F61-6936-E9835C3B575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9FB8E2D9-D0FD-A9FD-4077-4CF8F950B081}"/>
              </a:ext>
            </a:extLst>
          </p:cNvPr>
          <p:cNvSpPr txBox="1"/>
          <p:nvPr/>
        </p:nvSpPr>
        <p:spPr>
          <a:xfrm>
            <a:off x="0" y="65927"/>
            <a:ext cx="6858000" cy="646331"/>
          </a:xfrm>
          <a:prstGeom prst="rect">
            <a:avLst/>
          </a:prstGeom>
          <a:noFill/>
        </p:spPr>
        <p:txBody>
          <a:bodyPr wrap="square" rtlCol="0">
            <a:spAutoFit/>
          </a:bodyPr>
          <a:lstStyle/>
          <a:p>
            <a:pPr algn="ctr"/>
            <a:r>
              <a:rPr lang="en-US" sz="3600" b="1" dirty="0">
                <a:latin typeface="Arial" panose="020B0604020202020204" pitchFamily="34" charset="0"/>
                <a:cs typeface="Arial" panose="020B0604020202020204" pitchFamily="34" charset="0"/>
              </a:rPr>
              <a:t>Do While Loop</a:t>
            </a:r>
            <a:endParaRPr lang="en-ZA" sz="3600" b="1" dirty="0">
              <a:latin typeface="Arial" panose="020B0604020202020204" pitchFamily="34" charset="0"/>
              <a:cs typeface="Arial" panose="020B0604020202020204" pitchFamily="34" charset="0"/>
            </a:endParaRPr>
          </a:p>
        </p:txBody>
      </p:sp>
      <p:sp>
        <p:nvSpPr>
          <p:cNvPr id="2" name="Content Placeholder 2">
            <a:extLst>
              <a:ext uri="{FF2B5EF4-FFF2-40B4-BE49-F238E27FC236}">
                <a16:creationId xmlns:a16="http://schemas.microsoft.com/office/drawing/2014/main" id="{84775697-2FAB-AFE1-2BD4-4D84E8D34D4D}"/>
              </a:ext>
            </a:extLst>
          </p:cNvPr>
          <p:cNvSpPr txBox="1">
            <a:spLocks/>
          </p:cNvSpPr>
          <p:nvPr/>
        </p:nvSpPr>
        <p:spPr>
          <a:xfrm>
            <a:off x="471488" y="2637014"/>
            <a:ext cx="5915025" cy="6285266"/>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US" sz="2400" b="1" dirty="0"/>
              <a:t>Examples:</a:t>
            </a:r>
          </a:p>
          <a:p>
            <a:pPr algn="l"/>
            <a:endParaRPr lang="en-US" sz="2400" b="1" dirty="0"/>
          </a:p>
          <a:p>
            <a:pPr algn="l"/>
            <a:r>
              <a:rPr lang="en-ZA" sz="2000" b="1" dirty="0">
                <a:solidFill>
                  <a:srgbClr val="0070C0"/>
                </a:solidFill>
              </a:rPr>
              <a:t>int</a:t>
            </a:r>
            <a:r>
              <a:rPr lang="en-ZA" sz="2000" b="1" dirty="0"/>
              <a:t> </a:t>
            </a:r>
            <a:r>
              <a:rPr lang="en-ZA" sz="2000" b="1" dirty="0" err="1"/>
              <a:t>i</a:t>
            </a:r>
            <a:r>
              <a:rPr lang="en-ZA" sz="2000" b="1" dirty="0"/>
              <a:t> = 0;</a:t>
            </a:r>
          </a:p>
          <a:p>
            <a:pPr algn="l"/>
            <a:r>
              <a:rPr lang="en-ZA" sz="2000" b="1" dirty="0">
                <a:solidFill>
                  <a:srgbClr val="0070C0"/>
                </a:solidFill>
              </a:rPr>
              <a:t>do</a:t>
            </a:r>
          </a:p>
          <a:p>
            <a:pPr algn="l"/>
            <a:r>
              <a:rPr lang="en-ZA" sz="2000" b="1" dirty="0"/>
              <a:t>{</a:t>
            </a:r>
          </a:p>
          <a:p>
            <a:pPr lvl="1" algn="l"/>
            <a:r>
              <a:rPr lang="en-ZA" sz="2000" b="1" dirty="0" err="1">
                <a:solidFill>
                  <a:srgbClr val="0070C0"/>
                </a:solidFill>
              </a:rPr>
              <a:t>cout</a:t>
            </a:r>
            <a:r>
              <a:rPr lang="en-ZA" sz="2000" b="1" dirty="0"/>
              <a:t> &lt;&lt; </a:t>
            </a:r>
            <a:r>
              <a:rPr lang="en-ZA" sz="2000" b="1" dirty="0" err="1"/>
              <a:t>i</a:t>
            </a:r>
            <a:r>
              <a:rPr lang="en-ZA" sz="2000" b="1" dirty="0"/>
              <a:t> &lt;&lt; " ";</a:t>
            </a:r>
          </a:p>
          <a:p>
            <a:pPr lvl="1" algn="l"/>
            <a:r>
              <a:rPr lang="en-ZA" sz="2000" b="1" dirty="0" err="1"/>
              <a:t>i</a:t>
            </a:r>
            <a:r>
              <a:rPr lang="en-ZA" sz="2000" b="1" dirty="0"/>
              <a:t> = </a:t>
            </a:r>
            <a:r>
              <a:rPr lang="en-ZA" sz="2000" b="1" dirty="0" err="1"/>
              <a:t>i</a:t>
            </a:r>
            <a:r>
              <a:rPr lang="en-ZA" sz="2000" b="1" dirty="0"/>
              <a:t> + 5;</a:t>
            </a:r>
          </a:p>
          <a:p>
            <a:pPr algn="l"/>
            <a:r>
              <a:rPr lang="en-ZA" sz="2000" b="1" dirty="0"/>
              <a:t>}</a:t>
            </a:r>
          </a:p>
          <a:p>
            <a:pPr algn="l"/>
            <a:r>
              <a:rPr lang="en-ZA" sz="2000" b="1" dirty="0">
                <a:solidFill>
                  <a:srgbClr val="0070C0"/>
                </a:solidFill>
              </a:rPr>
              <a:t>while</a:t>
            </a:r>
            <a:r>
              <a:rPr lang="en-ZA" sz="2000" b="1" dirty="0"/>
              <a:t> (</a:t>
            </a:r>
            <a:r>
              <a:rPr lang="en-ZA" sz="2000" b="1" dirty="0" err="1"/>
              <a:t>i</a:t>
            </a:r>
            <a:r>
              <a:rPr lang="en-ZA" sz="2000" b="1" dirty="0"/>
              <a:t> &lt;= 20);</a:t>
            </a:r>
          </a:p>
          <a:p>
            <a:pPr algn="l"/>
            <a:r>
              <a:rPr lang="en-US" sz="2000" dirty="0"/>
              <a:t>The output of this code is:</a:t>
            </a:r>
          </a:p>
          <a:p>
            <a:pPr algn="l"/>
            <a:r>
              <a:rPr lang="en-ZA" sz="2000" b="1" dirty="0"/>
              <a:t>0 5 10 15 20</a:t>
            </a:r>
          </a:p>
          <a:p>
            <a:pPr algn="l"/>
            <a:r>
              <a:rPr lang="en-US" sz="2000" dirty="0"/>
              <a:t>After </a:t>
            </a:r>
            <a:r>
              <a:rPr lang="en-US" sz="2000" b="1" dirty="0"/>
              <a:t>20 </a:t>
            </a:r>
            <a:r>
              <a:rPr lang="en-US" sz="2000" dirty="0"/>
              <a:t>is output, the statement:</a:t>
            </a:r>
          </a:p>
          <a:p>
            <a:pPr algn="l"/>
            <a:r>
              <a:rPr lang="en-ZA" sz="2000" b="1" dirty="0" err="1"/>
              <a:t>i</a:t>
            </a:r>
            <a:r>
              <a:rPr lang="en-ZA" sz="2000" b="1" dirty="0"/>
              <a:t> = </a:t>
            </a:r>
            <a:r>
              <a:rPr lang="en-ZA" sz="2000" b="1" dirty="0" err="1"/>
              <a:t>i</a:t>
            </a:r>
            <a:r>
              <a:rPr lang="en-ZA" sz="2000" b="1" dirty="0"/>
              <a:t> + 5;</a:t>
            </a:r>
          </a:p>
          <a:p>
            <a:pPr algn="l"/>
            <a:r>
              <a:rPr lang="en-US" sz="2000" dirty="0"/>
              <a:t>changes the value of </a:t>
            </a:r>
            <a:r>
              <a:rPr lang="en-US" sz="2000" b="1" dirty="0" err="1"/>
              <a:t>i</a:t>
            </a:r>
            <a:r>
              <a:rPr lang="en-US" sz="2000" b="1" dirty="0"/>
              <a:t> </a:t>
            </a:r>
            <a:r>
              <a:rPr lang="en-US" sz="2000" dirty="0"/>
              <a:t>to </a:t>
            </a:r>
            <a:r>
              <a:rPr lang="en-US" sz="2000" b="1" dirty="0"/>
              <a:t>25 </a:t>
            </a:r>
            <a:r>
              <a:rPr lang="en-US" sz="2000" dirty="0"/>
              <a:t>and so </a:t>
            </a:r>
            <a:r>
              <a:rPr lang="en-US" sz="2000" b="1" dirty="0" err="1"/>
              <a:t>i</a:t>
            </a:r>
            <a:r>
              <a:rPr lang="en-US" sz="2000" b="1" dirty="0"/>
              <a:t> &lt;= 20 </a:t>
            </a:r>
            <a:r>
              <a:rPr lang="en-US" sz="2000" dirty="0"/>
              <a:t>becomes </a:t>
            </a:r>
            <a:r>
              <a:rPr lang="en-US" sz="2000" b="1" dirty="0"/>
              <a:t>false</a:t>
            </a:r>
            <a:r>
              <a:rPr lang="en-US" sz="2000" dirty="0"/>
              <a:t>, which halts the loop.</a:t>
            </a:r>
            <a:endParaRPr lang="en-US" sz="2000" b="1" dirty="0"/>
          </a:p>
          <a:p>
            <a:pPr algn="l"/>
            <a:endParaRPr lang="en-US" sz="2400" b="1" dirty="0"/>
          </a:p>
        </p:txBody>
      </p:sp>
    </p:spTree>
    <p:extLst>
      <p:ext uri="{BB962C8B-B14F-4D97-AF65-F5344CB8AC3E}">
        <p14:creationId xmlns:p14="http://schemas.microsoft.com/office/powerpoint/2010/main" val="96795435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02CB04-685D-4B8F-3579-26A92C2DC148}"/>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F4E4067A-39D8-1859-8169-674C30438F3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6DEDDF34-81C8-E18D-ED70-C7C5E5B0541F}"/>
              </a:ext>
            </a:extLst>
          </p:cNvPr>
          <p:cNvSpPr txBox="1"/>
          <p:nvPr/>
        </p:nvSpPr>
        <p:spPr>
          <a:xfrm>
            <a:off x="0" y="65927"/>
            <a:ext cx="6858000" cy="646331"/>
          </a:xfrm>
          <a:prstGeom prst="rect">
            <a:avLst/>
          </a:prstGeom>
          <a:noFill/>
        </p:spPr>
        <p:txBody>
          <a:bodyPr wrap="square" rtlCol="0">
            <a:spAutoFit/>
          </a:bodyPr>
          <a:lstStyle/>
          <a:p>
            <a:pPr algn="ctr"/>
            <a:r>
              <a:rPr lang="en-US" sz="3600" b="1" dirty="0">
                <a:latin typeface="Arial" panose="020B0604020202020204" pitchFamily="34" charset="0"/>
                <a:cs typeface="Arial" panose="020B0604020202020204" pitchFamily="34" charset="0"/>
              </a:rPr>
              <a:t>Do While Loop</a:t>
            </a:r>
            <a:endParaRPr lang="en-ZA" sz="3600" b="1" dirty="0">
              <a:latin typeface="Arial" panose="020B0604020202020204" pitchFamily="34" charset="0"/>
              <a:cs typeface="Arial" panose="020B0604020202020204" pitchFamily="34" charset="0"/>
            </a:endParaRPr>
          </a:p>
        </p:txBody>
      </p:sp>
      <p:sp>
        <p:nvSpPr>
          <p:cNvPr id="2" name="Content Placeholder 2">
            <a:extLst>
              <a:ext uri="{FF2B5EF4-FFF2-40B4-BE49-F238E27FC236}">
                <a16:creationId xmlns:a16="http://schemas.microsoft.com/office/drawing/2014/main" id="{1A0E9AAF-17BA-9E90-0610-C8F08B269E79}"/>
              </a:ext>
            </a:extLst>
          </p:cNvPr>
          <p:cNvSpPr txBox="1">
            <a:spLocks/>
          </p:cNvSpPr>
          <p:nvPr/>
        </p:nvSpPr>
        <p:spPr>
          <a:xfrm>
            <a:off x="471488" y="2637014"/>
            <a:ext cx="5915025" cy="6285266"/>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US" sz="2400" b="1" dirty="0"/>
              <a:t>Examples:</a:t>
            </a:r>
          </a:p>
          <a:p>
            <a:pPr algn="l"/>
            <a:endParaRPr lang="en-US" sz="2400" b="1" dirty="0"/>
          </a:p>
          <a:p>
            <a:pPr algn="l"/>
            <a:r>
              <a:rPr lang="en-US" sz="2000" dirty="0"/>
              <a:t>A </a:t>
            </a:r>
            <a:r>
              <a:rPr lang="en-US" sz="2000" b="1" dirty="0">
                <a:solidFill>
                  <a:srgbClr val="0070C0"/>
                </a:solidFill>
              </a:rPr>
              <a:t>do. . .while </a:t>
            </a:r>
            <a:r>
              <a:rPr lang="en-US" sz="2000" dirty="0"/>
              <a:t>loop can be used for input validation. Suppose that a program prompts a user to enter a test score, which must be greater than or equal to </a:t>
            </a:r>
            <a:r>
              <a:rPr lang="en-US" sz="2000" b="1" dirty="0"/>
              <a:t>0 </a:t>
            </a:r>
            <a:r>
              <a:rPr lang="en-US" sz="2000" dirty="0"/>
              <a:t>and less than or equal to </a:t>
            </a:r>
            <a:r>
              <a:rPr lang="en-US" sz="2000" b="1" dirty="0"/>
              <a:t>50</a:t>
            </a:r>
            <a:r>
              <a:rPr lang="en-US" sz="2000" dirty="0"/>
              <a:t>. If the user enters a score less than </a:t>
            </a:r>
            <a:r>
              <a:rPr lang="en-US" sz="2000" b="1" dirty="0"/>
              <a:t>0 </a:t>
            </a:r>
            <a:r>
              <a:rPr lang="en-US" sz="2000" dirty="0"/>
              <a:t>or greater than </a:t>
            </a:r>
            <a:r>
              <a:rPr lang="en-US" sz="2000" b="1" dirty="0"/>
              <a:t>50</a:t>
            </a:r>
            <a:r>
              <a:rPr lang="en-US" sz="2000" dirty="0"/>
              <a:t>, the user should be prompted to re-enter the score. The following </a:t>
            </a:r>
            <a:r>
              <a:rPr lang="en-US" sz="2000" b="1" dirty="0">
                <a:solidFill>
                  <a:srgbClr val="0070C0"/>
                </a:solidFill>
              </a:rPr>
              <a:t>do</a:t>
            </a:r>
            <a:r>
              <a:rPr lang="en-US" sz="2000" dirty="0">
                <a:solidFill>
                  <a:srgbClr val="0070C0"/>
                </a:solidFill>
              </a:rPr>
              <a:t>...</a:t>
            </a:r>
            <a:r>
              <a:rPr lang="en-US" sz="2000" b="1" dirty="0">
                <a:solidFill>
                  <a:srgbClr val="0070C0"/>
                </a:solidFill>
              </a:rPr>
              <a:t>while</a:t>
            </a:r>
            <a:r>
              <a:rPr lang="en-US" sz="2000" b="1" dirty="0"/>
              <a:t> </a:t>
            </a:r>
            <a:r>
              <a:rPr lang="en-US" sz="2000" dirty="0"/>
              <a:t>loop can be used to accomplish </a:t>
            </a:r>
            <a:r>
              <a:rPr lang="en-ZA" sz="2000" dirty="0"/>
              <a:t>this objective:</a:t>
            </a:r>
          </a:p>
          <a:p>
            <a:pPr algn="l"/>
            <a:r>
              <a:rPr lang="en-ZA" sz="2000" b="1" dirty="0">
                <a:solidFill>
                  <a:srgbClr val="0070C0"/>
                </a:solidFill>
              </a:rPr>
              <a:t>int</a:t>
            </a:r>
            <a:r>
              <a:rPr lang="en-ZA" sz="2000" b="1" dirty="0"/>
              <a:t> score;</a:t>
            </a:r>
          </a:p>
          <a:p>
            <a:pPr algn="l"/>
            <a:r>
              <a:rPr lang="en-ZA" sz="2000" b="1" dirty="0">
                <a:solidFill>
                  <a:srgbClr val="0070C0"/>
                </a:solidFill>
              </a:rPr>
              <a:t>do</a:t>
            </a:r>
          </a:p>
          <a:p>
            <a:pPr algn="l"/>
            <a:r>
              <a:rPr lang="en-ZA" sz="2000" b="1" dirty="0"/>
              <a:t>{</a:t>
            </a:r>
          </a:p>
          <a:p>
            <a:pPr lvl="1" algn="l"/>
            <a:r>
              <a:rPr lang="en-US" sz="2000" b="1" dirty="0" err="1">
                <a:solidFill>
                  <a:srgbClr val="0070C0"/>
                </a:solidFill>
              </a:rPr>
              <a:t>cout</a:t>
            </a:r>
            <a:r>
              <a:rPr lang="en-US" sz="2000" b="1" dirty="0"/>
              <a:t> &lt;&lt; "Enter a score between 0 and 50: ";</a:t>
            </a:r>
          </a:p>
          <a:p>
            <a:pPr lvl="1" algn="l"/>
            <a:r>
              <a:rPr lang="en-ZA" sz="2000" b="1" dirty="0" err="1">
                <a:solidFill>
                  <a:srgbClr val="0070C0"/>
                </a:solidFill>
              </a:rPr>
              <a:t>cin</a:t>
            </a:r>
            <a:r>
              <a:rPr lang="en-ZA" sz="2000" b="1" dirty="0"/>
              <a:t> &gt;&gt; score;</a:t>
            </a:r>
          </a:p>
          <a:p>
            <a:pPr lvl="1" algn="l"/>
            <a:r>
              <a:rPr lang="en-ZA" sz="2000" b="1" dirty="0" err="1">
                <a:solidFill>
                  <a:srgbClr val="0070C0"/>
                </a:solidFill>
              </a:rPr>
              <a:t>cout</a:t>
            </a:r>
            <a:r>
              <a:rPr lang="en-ZA" sz="2000" b="1" dirty="0"/>
              <a:t> &lt;&lt; </a:t>
            </a:r>
            <a:r>
              <a:rPr lang="en-ZA" sz="2000" b="1" dirty="0" err="1"/>
              <a:t>endl</a:t>
            </a:r>
            <a:r>
              <a:rPr lang="en-ZA" sz="2000" b="1" dirty="0"/>
              <a:t>;</a:t>
            </a:r>
          </a:p>
          <a:p>
            <a:pPr algn="l"/>
            <a:r>
              <a:rPr lang="en-ZA" sz="2000" b="1" dirty="0"/>
              <a:t>} </a:t>
            </a:r>
            <a:r>
              <a:rPr lang="en-ZA" sz="2000" b="1" dirty="0">
                <a:solidFill>
                  <a:srgbClr val="0070C0"/>
                </a:solidFill>
              </a:rPr>
              <a:t>while</a:t>
            </a:r>
            <a:r>
              <a:rPr lang="en-ZA" sz="2000" b="1" dirty="0"/>
              <a:t> (score &lt; 0 || score &gt; 50);</a:t>
            </a:r>
            <a:endParaRPr lang="en-US" sz="2000" b="1" dirty="0"/>
          </a:p>
          <a:p>
            <a:pPr algn="l"/>
            <a:endParaRPr lang="en-US" sz="2400" b="1" dirty="0"/>
          </a:p>
        </p:txBody>
      </p:sp>
    </p:spTree>
    <p:extLst>
      <p:ext uri="{BB962C8B-B14F-4D97-AF65-F5344CB8AC3E}">
        <p14:creationId xmlns:p14="http://schemas.microsoft.com/office/powerpoint/2010/main" val="308694071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907876-13C2-8405-6487-BAD491FBC1EB}"/>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8CDFB0A3-6ED8-3833-D4B4-B21176722E1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E5D28EDC-526F-0828-AD73-6D2DD2F0C1F7}"/>
              </a:ext>
            </a:extLst>
          </p:cNvPr>
          <p:cNvSpPr txBox="1"/>
          <p:nvPr/>
        </p:nvSpPr>
        <p:spPr>
          <a:xfrm>
            <a:off x="0" y="65927"/>
            <a:ext cx="6858000" cy="646331"/>
          </a:xfrm>
          <a:prstGeom prst="rect">
            <a:avLst/>
          </a:prstGeom>
          <a:noFill/>
        </p:spPr>
        <p:txBody>
          <a:bodyPr wrap="square" rtlCol="0">
            <a:spAutoFit/>
          </a:bodyPr>
          <a:lstStyle/>
          <a:p>
            <a:pPr algn="ctr"/>
            <a:r>
              <a:rPr lang="en-US" sz="3600" b="1" dirty="0">
                <a:latin typeface="Arial" panose="020B0604020202020204" pitchFamily="34" charset="0"/>
                <a:cs typeface="Arial" panose="020B0604020202020204" pitchFamily="34" charset="0"/>
              </a:rPr>
              <a:t>Do While Loop</a:t>
            </a:r>
            <a:endParaRPr lang="en-ZA" sz="3600" b="1" dirty="0">
              <a:latin typeface="Arial" panose="020B0604020202020204" pitchFamily="34" charset="0"/>
              <a:cs typeface="Arial" panose="020B0604020202020204" pitchFamily="34" charset="0"/>
            </a:endParaRPr>
          </a:p>
        </p:txBody>
      </p:sp>
      <p:sp>
        <p:nvSpPr>
          <p:cNvPr id="2" name="Content Placeholder 2">
            <a:extLst>
              <a:ext uri="{FF2B5EF4-FFF2-40B4-BE49-F238E27FC236}">
                <a16:creationId xmlns:a16="http://schemas.microsoft.com/office/drawing/2014/main" id="{AA9C0652-A803-F2BB-71FE-1587D95147C2}"/>
              </a:ext>
            </a:extLst>
          </p:cNvPr>
          <p:cNvSpPr txBox="1">
            <a:spLocks/>
          </p:cNvSpPr>
          <p:nvPr/>
        </p:nvSpPr>
        <p:spPr>
          <a:xfrm>
            <a:off x="471488" y="2637014"/>
            <a:ext cx="5915025" cy="6285266"/>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US" sz="2400" b="1" dirty="0"/>
              <a:t>Exercises:</a:t>
            </a:r>
          </a:p>
          <a:p>
            <a:pPr algn="l"/>
            <a:r>
              <a:rPr lang="en-US" sz="2400" dirty="0">
                <a:solidFill>
                  <a:srgbClr val="000000"/>
                </a:solidFill>
                <a:latin typeface="GiovanniStd-Book"/>
              </a:rPr>
              <a:t>What is the output of the following (when embedded in a complete </a:t>
            </a:r>
            <a:r>
              <a:rPr lang="en-ZA" sz="2400" dirty="0">
                <a:solidFill>
                  <a:srgbClr val="000000"/>
                </a:solidFill>
                <a:latin typeface="GiovanniStd-Book"/>
              </a:rPr>
              <a:t>program)?</a:t>
            </a:r>
          </a:p>
          <a:p>
            <a:pPr algn="l"/>
            <a:endParaRPr lang="en-ZA" sz="2000" dirty="0">
              <a:solidFill>
                <a:srgbClr val="000000"/>
              </a:solidFill>
              <a:latin typeface="GiovanniStd-Book"/>
            </a:endParaRPr>
          </a:p>
          <a:p>
            <a:pPr algn="l"/>
            <a:r>
              <a:rPr lang="en-ZA" sz="2000" dirty="0">
                <a:solidFill>
                  <a:srgbClr val="0070C0"/>
                </a:solidFill>
                <a:latin typeface="ArialMonoMTPro-Oblique"/>
              </a:rPr>
              <a:t>int</a:t>
            </a:r>
            <a:r>
              <a:rPr lang="en-ZA" sz="2000" i="1" dirty="0">
                <a:solidFill>
                  <a:srgbClr val="00AEF0"/>
                </a:solidFill>
                <a:latin typeface="ArialMonoMTPro-Oblique"/>
              </a:rPr>
              <a:t> </a:t>
            </a:r>
            <a:r>
              <a:rPr lang="en-ZA" sz="2000" dirty="0">
                <a:solidFill>
                  <a:srgbClr val="000000"/>
                </a:solidFill>
                <a:latin typeface="ArialMonoMTPro"/>
              </a:rPr>
              <a:t>n = 1;</a:t>
            </a:r>
          </a:p>
          <a:p>
            <a:pPr algn="l"/>
            <a:r>
              <a:rPr lang="en-ZA" sz="2000" dirty="0">
                <a:solidFill>
                  <a:srgbClr val="0070C0"/>
                </a:solidFill>
                <a:latin typeface="ArialMonoMTPro-Oblique"/>
              </a:rPr>
              <a:t>do</a:t>
            </a:r>
          </a:p>
          <a:p>
            <a:pPr algn="l"/>
            <a:r>
              <a:rPr lang="en-ZA" sz="2000" dirty="0">
                <a:solidFill>
                  <a:srgbClr val="000000"/>
                </a:solidFill>
                <a:latin typeface="ArialMonoMTPro"/>
              </a:rPr>
              <a:t>	</a:t>
            </a:r>
            <a:r>
              <a:rPr lang="en-ZA" sz="2000" dirty="0" err="1">
                <a:solidFill>
                  <a:srgbClr val="000000"/>
                </a:solidFill>
                <a:latin typeface="ArialMonoMTPro"/>
              </a:rPr>
              <a:t>cout</a:t>
            </a:r>
            <a:r>
              <a:rPr lang="en-ZA" sz="2000" dirty="0">
                <a:solidFill>
                  <a:srgbClr val="000000"/>
                </a:solidFill>
                <a:latin typeface="ArialMonoMTPro"/>
              </a:rPr>
              <a:t> &lt;&lt; n &lt;&lt; " ";</a:t>
            </a:r>
          </a:p>
          <a:p>
            <a:pPr algn="l"/>
            <a:r>
              <a:rPr lang="en-ZA" sz="2000" dirty="0">
                <a:solidFill>
                  <a:srgbClr val="0070C0"/>
                </a:solidFill>
                <a:latin typeface="ArialMonoMTPro-Oblique"/>
              </a:rPr>
              <a:t>while</a:t>
            </a:r>
            <a:r>
              <a:rPr lang="en-ZA" sz="2000" i="1" dirty="0">
                <a:solidFill>
                  <a:srgbClr val="00AEF0"/>
                </a:solidFill>
                <a:latin typeface="ArialMonoMTPro-Oblique"/>
              </a:rPr>
              <a:t> </a:t>
            </a:r>
            <a:r>
              <a:rPr lang="en-ZA" sz="2000" dirty="0">
                <a:solidFill>
                  <a:srgbClr val="000000"/>
                </a:solidFill>
                <a:latin typeface="ArialMonoMTPro"/>
              </a:rPr>
              <a:t>(++n &lt;= 3);</a:t>
            </a:r>
          </a:p>
          <a:p>
            <a:pPr algn="l"/>
            <a:endParaRPr lang="en-ZA" sz="2000" b="1" dirty="0">
              <a:solidFill>
                <a:srgbClr val="000000"/>
              </a:solidFill>
              <a:latin typeface="ArialMonoMTPro"/>
            </a:endParaRPr>
          </a:p>
          <a:p>
            <a:pPr algn="l"/>
            <a:r>
              <a:rPr lang="en-US" sz="2400" b="0" i="0" u="none" strike="noStrike" baseline="0" dirty="0">
                <a:solidFill>
                  <a:srgbClr val="211808"/>
                </a:solidFill>
                <a:latin typeface="WarnockPro-Regular"/>
              </a:rPr>
              <a:t>What is the output of the following program segment?</a:t>
            </a:r>
          </a:p>
          <a:p>
            <a:pPr algn="l"/>
            <a:r>
              <a:rPr lang="en-ZA" sz="2000" b="1" i="0" u="none" strike="noStrike" baseline="0" dirty="0">
                <a:solidFill>
                  <a:srgbClr val="0070C0"/>
                </a:solidFill>
                <a:latin typeface="CourierStd-Bold"/>
              </a:rPr>
              <a:t>int</a:t>
            </a:r>
            <a:r>
              <a:rPr lang="en-ZA" sz="2000" b="1" i="0" u="none" strike="noStrike" baseline="0" dirty="0">
                <a:solidFill>
                  <a:srgbClr val="6A8899"/>
                </a:solidFill>
                <a:latin typeface="CourierStd-Bold"/>
              </a:rPr>
              <a:t> </a:t>
            </a:r>
            <a:r>
              <a:rPr lang="en-ZA" sz="2000" b="1" i="0" u="none" strike="noStrike" baseline="0" dirty="0">
                <a:solidFill>
                  <a:srgbClr val="211808"/>
                </a:solidFill>
                <a:latin typeface="CourierStd-Bold"/>
              </a:rPr>
              <a:t>count = 1;</a:t>
            </a:r>
          </a:p>
          <a:p>
            <a:pPr algn="l"/>
            <a:r>
              <a:rPr lang="en-ZA" sz="2000" b="1" i="0" u="none" strike="noStrike" baseline="0" dirty="0">
                <a:solidFill>
                  <a:srgbClr val="0070C0"/>
                </a:solidFill>
                <a:latin typeface="CourierStd-Bold"/>
              </a:rPr>
              <a:t>do</a:t>
            </a:r>
          </a:p>
          <a:p>
            <a:pPr lvl="1" algn="l"/>
            <a:r>
              <a:rPr lang="en-ZA" sz="2000" b="1" i="0" u="none" strike="noStrike" baseline="0" dirty="0" err="1">
                <a:solidFill>
                  <a:srgbClr val="211808"/>
                </a:solidFill>
                <a:latin typeface="CourierStd-Bold"/>
              </a:rPr>
              <a:t>cout</a:t>
            </a:r>
            <a:r>
              <a:rPr lang="en-ZA" sz="2000" b="1" i="0" u="none" strike="noStrike" baseline="0" dirty="0">
                <a:solidFill>
                  <a:srgbClr val="211808"/>
                </a:solidFill>
                <a:latin typeface="CourierStd-Bold"/>
              </a:rPr>
              <a:t> &lt;&lt; count * (count - 2) &lt;&lt; " ";</a:t>
            </a:r>
          </a:p>
          <a:p>
            <a:pPr algn="l"/>
            <a:r>
              <a:rPr lang="en-ZA" sz="2000" b="1" i="0" u="none" strike="noStrike" baseline="0" dirty="0">
                <a:solidFill>
                  <a:srgbClr val="0070C0"/>
                </a:solidFill>
                <a:latin typeface="CourierStd-Bold"/>
              </a:rPr>
              <a:t>while</a:t>
            </a:r>
            <a:r>
              <a:rPr lang="en-ZA" sz="2000" b="1" i="0" u="none" strike="noStrike" baseline="0" dirty="0">
                <a:solidFill>
                  <a:srgbClr val="6A8899"/>
                </a:solidFill>
                <a:latin typeface="CourierStd-Bold"/>
              </a:rPr>
              <a:t> </a:t>
            </a:r>
            <a:r>
              <a:rPr lang="en-ZA" sz="2000" b="1" i="0" u="none" strike="noStrike" baseline="0" dirty="0">
                <a:solidFill>
                  <a:srgbClr val="211808"/>
                </a:solidFill>
                <a:latin typeface="CourierStd-Bold"/>
              </a:rPr>
              <a:t>(count++ &lt;= 5);</a:t>
            </a:r>
          </a:p>
          <a:p>
            <a:pPr algn="l"/>
            <a:r>
              <a:rPr lang="en-ZA" sz="2000" b="1" i="0" u="none" strike="noStrike" baseline="0" dirty="0" err="1">
                <a:solidFill>
                  <a:srgbClr val="211808"/>
                </a:solidFill>
                <a:latin typeface="CourierStd-Bold"/>
              </a:rPr>
              <a:t>cout</a:t>
            </a:r>
            <a:r>
              <a:rPr lang="en-ZA" sz="2000" b="1" i="0" u="none" strike="noStrike" baseline="0" dirty="0">
                <a:solidFill>
                  <a:srgbClr val="211808"/>
                </a:solidFill>
                <a:latin typeface="CourierStd-Bold"/>
              </a:rPr>
              <a:t> &lt;&lt; </a:t>
            </a:r>
            <a:r>
              <a:rPr lang="en-ZA" sz="2000" b="1" i="0" u="none" strike="noStrike" baseline="0" dirty="0" err="1">
                <a:solidFill>
                  <a:srgbClr val="211808"/>
                </a:solidFill>
                <a:latin typeface="CourierStd-Bold"/>
              </a:rPr>
              <a:t>endl</a:t>
            </a:r>
            <a:r>
              <a:rPr lang="en-ZA" sz="2000" b="1" i="0" u="none" strike="noStrike" baseline="0" dirty="0">
                <a:solidFill>
                  <a:srgbClr val="211808"/>
                </a:solidFill>
                <a:latin typeface="CourierStd-Bold"/>
              </a:rPr>
              <a:t>;</a:t>
            </a:r>
            <a:endParaRPr lang="en-US" sz="2000" b="1" dirty="0"/>
          </a:p>
          <a:p>
            <a:pPr algn="l"/>
            <a:endParaRPr lang="en-US" sz="2400" b="1" dirty="0"/>
          </a:p>
          <a:p>
            <a:pPr algn="l"/>
            <a:endParaRPr lang="en-US" sz="2400" b="1" dirty="0"/>
          </a:p>
        </p:txBody>
      </p:sp>
    </p:spTree>
    <p:extLst>
      <p:ext uri="{BB962C8B-B14F-4D97-AF65-F5344CB8AC3E}">
        <p14:creationId xmlns:p14="http://schemas.microsoft.com/office/powerpoint/2010/main" val="163693132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AAC9B1-E8E8-89FA-8AE6-3E2B54A8DC9F}"/>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33331FCD-42A5-8F1F-329B-48BCB0A03F2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49D612A4-0A7B-FA98-2EC6-43CF2027AE6D}"/>
              </a:ext>
            </a:extLst>
          </p:cNvPr>
          <p:cNvSpPr txBox="1"/>
          <p:nvPr/>
        </p:nvSpPr>
        <p:spPr>
          <a:xfrm>
            <a:off x="0" y="65927"/>
            <a:ext cx="6858000" cy="646331"/>
          </a:xfrm>
          <a:prstGeom prst="rect">
            <a:avLst/>
          </a:prstGeom>
          <a:noFill/>
        </p:spPr>
        <p:txBody>
          <a:bodyPr wrap="square" rtlCol="0">
            <a:spAutoFit/>
          </a:bodyPr>
          <a:lstStyle/>
          <a:p>
            <a:pPr algn="ctr"/>
            <a:r>
              <a:rPr lang="en-US" sz="3600" b="1" dirty="0">
                <a:latin typeface="Arial" panose="020B0604020202020204" pitchFamily="34" charset="0"/>
                <a:cs typeface="Arial" panose="020B0604020202020204" pitchFamily="34" charset="0"/>
              </a:rPr>
              <a:t>Do While Loop</a:t>
            </a:r>
            <a:endParaRPr lang="en-ZA" sz="3600" b="1" dirty="0">
              <a:latin typeface="Arial" panose="020B0604020202020204" pitchFamily="34" charset="0"/>
              <a:cs typeface="Arial" panose="020B0604020202020204" pitchFamily="34" charset="0"/>
            </a:endParaRPr>
          </a:p>
        </p:txBody>
      </p:sp>
      <p:sp>
        <p:nvSpPr>
          <p:cNvPr id="2" name="Content Placeholder 2">
            <a:extLst>
              <a:ext uri="{FF2B5EF4-FFF2-40B4-BE49-F238E27FC236}">
                <a16:creationId xmlns:a16="http://schemas.microsoft.com/office/drawing/2014/main" id="{79963A1F-C19E-EB26-0806-7909675A799A}"/>
              </a:ext>
            </a:extLst>
          </p:cNvPr>
          <p:cNvSpPr txBox="1">
            <a:spLocks/>
          </p:cNvSpPr>
          <p:nvPr/>
        </p:nvSpPr>
        <p:spPr>
          <a:xfrm>
            <a:off x="471488" y="2285999"/>
            <a:ext cx="5915025" cy="7014411"/>
          </a:xfrm>
          <a:prstGeom prst="rect">
            <a:avLst/>
          </a:prstGeom>
        </p:spPr>
        <p:txBody>
          <a:bodyPr vert="horz" lIns="91440" tIns="45720" rIns="91440" bIns="45720" rtlCol="0">
            <a:normAutofit fontScale="25000" lnSpcReduction="20000"/>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US" sz="8000" b="1" dirty="0"/>
              <a:t>Exercises:</a:t>
            </a:r>
          </a:p>
          <a:p>
            <a:pPr algn="l"/>
            <a:r>
              <a:rPr lang="en-US" sz="8000" b="0" i="0" u="none" strike="noStrike" baseline="0" dirty="0">
                <a:solidFill>
                  <a:srgbClr val="211808"/>
                </a:solidFill>
              </a:rPr>
              <a:t>The </a:t>
            </a:r>
            <a:r>
              <a:rPr lang="en-US" sz="8000" b="1" i="0" u="none" strike="noStrike" baseline="0" dirty="0">
                <a:solidFill>
                  <a:srgbClr val="0070C0"/>
                </a:solidFill>
              </a:rPr>
              <a:t>do...while</a:t>
            </a:r>
            <a:r>
              <a:rPr lang="en-US" sz="8000" b="1" i="0" u="none" strike="noStrike" baseline="0" dirty="0">
                <a:solidFill>
                  <a:srgbClr val="6A8899"/>
                </a:solidFill>
              </a:rPr>
              <a:t> </a:t>
            </a:r>
            <a:r>
              <a:rPr lang="en-US" sz="8000" b="0" i="0" u="none" strike="noStrike" baseline="0" dirty="0">
                <a:solidFill>
                  <a:srgbClr val="211808"/>
                </a:solidFill>
              </a:rPr>
              <a:t>loop in the following program is supposed to read some numbers until it reaches a sentinel (in this case, </a:t>
            </a:r>
            <a:r>
              <a:rPr lang="en-US" sz="8000" b="1" i="0" u="none" strike="noStrike" baseline="0" dirty="0">
                <a:solidFill>
                  <a:srgbClr val="211808"/>
                </a:solidFill>
              </a:rPr>
              <a:t>-1</a:t>
            </a:r>
            <a:r>
              <a:rPr lang="en-US" sz="8000" b="0" i="0" u="none" strike="noStrike" baseline="0" dirty="0">
                <a:solidFill>
                  <a:srgbClr val="211808"/>
                </a:solidFill>
              </a:rPr>
              <a:t>). It is supposed to add all of the numbers except for the sentinel. If the data looks like: </a:t>
            </a:r>
            <a:r>
              <a:rPr lang="en-ZA" sz="8000" b="1" i="0" u="none" strike="noStrike" baseline="0" dirty="0">
                <a:solidFill>
                  <a:srgbClr val="211808"/>
                </a:solidFill>
              </a:rPr>
              <a:t>12 5 30 48 -1</a:t>
            </a:r>
          </a:p>
          <a:p>
            <a:pPr algn="l"/>
            <a:r>
              <a:rPr lang="en-US" sz="8000" b="0" i="0" u="none" strike="noStrike" baseline="0" dirty="0">
                <a:solidFill>
                  <a:srgbClr val="211808"/>
                </a:solidFill>
              </a:rPr>
              <a:t>the program does not add the numbers correctly. Correct the program so that it adds the numbers correctly.</a:t>
            </a:r>
          </a:p>
          <a:p>
            <a:pPr algn="l"/>
            <a:endParaRPr lang="en-US" sz="8000" b="0" i="0" u="none" strike="noStrike" baseline="0" dirty="0">
              <a:solidFill>
                <a:srgbClr val="211808"/>
              </a:solidFill>
            </a:endParaRPr>
          </a:p>
          <a:p>
            <a:pPr algn="l"/>
            <a:r>
              <a:rPr lang="en-ZA" sz="7200" b="1" i="0" u="none" strike="noStrike" baseline="0" dirty="0">
                <a:solidFill>
                  <a:srgbClr val="211808"/>
                </a:solidFill>
              </a:rPr>
              <a:t>#include &lt;iostream&gt;</a:t>
            </a:r>
          </a:p>
          <a:p>
            <a:pPr algn="l"/>
            <a:r>
              <a:rPr lang="en-ZA" sz="7200" b="1" i="0" u="none" strike="noStrike" baseline="0" dirty="0">
                <a:solidFill>
                  <a:srgbClr val="0070C0"/>
                </a:solidFill>
              </a:rPr>
              <a:t>using namespace </a:t>
            </a:r>
            <a:r>
              <a:rPr lang="en-ZA" sz="7200" b="1" i="0" u="none" strike="noStrike" baseline="0" dirty="0">
                <a:solidFill>
                  <a:srgbClr val="211808"/>
                </a:solidFill>
              </a:rPr>
              <a:t>std;</a:t>
            </a:r>
          </a:p>
          <a:p>
            <a:pPr algn="l"/>
            <a:r>
              <a:rPr lang="en-ZA" sz="7200" b="1" dirty="0">
                <a:solidFill>
                  <a:srgbClr val="0070C0"/>
                </a:solidFill>
              </a:rPr>
              <a:t>int</a:t>
            </a:r>
            <a:r>
              <a:rPr lang="en-ZA" sz="7200" b="1" i="0" u="none" strike="noStrike" baseline="0" dirty="0">
                <a:solidFill>
                  <a:srgbClr val="6A8899"/>
                </a:solidFill>
              </a:rPr>
              <a:t> </a:t>
            </a:r>
            <a:r>
              <a:rPr lang="en-ZA" sz="7200" b="1" i="0" u="none" strike="noStrike" baseline="0" dirty="0">
                <a:solidFill>
                  <a:srgbClr val="211808"/>
                </a:solidFill>
              </a:rPr>
              <a:t>main()</a:t>
            </a:r>
          </a:p>
          <a:p>
            <a:pPr algn="l"/>
            <a:r>
              <a:rPr lang="en-ZA" sz="7200" b="1" i="0" u="none" strike="noStrike" baseline="0" dirty="0">
                <a:solidFill>
                  <a:srgbClr val="211808"/>
                </a:solidFill>
              </a:rPr>
              <a:t>{</a:t>
            </a:r>
          </a:p>
          <a:p>
            <a:pPr lvl="1" algn="l"/>
            <a:r>
              <a:rPr lang="en-ZA" sz="7200" b="1" dirty="0">
                <a:solidFill>
                  <a:srgbClr val="0070C0"/>
                </a:solidFill>
              </a:rPr>
              <a:t>int</a:t>
            </a:r>
            <a:r>
              <a:rPr lang="en-ZA" sz="7200" b="1" i="0" u="none" strike="noStrike" baseline="0" dirty="0">
                <a:solidFill>
                  <a:srgbClr val="6A8899"/>
                </a:solidFill>
              </a:rPr>
              <a:t> </a:t>
            </a:r>
            <a:r>
              <a:rPr lang="en-ZA" sz="7200" b="1" i="0" u="none" strike="noStrike" baseline="0" dirty="0">
                <a:solidFill>
                  <a:srgbClr val="211808"/>
                </a:solidFill>
              </a:rPr>
              <a:t>total = 0, count = 0, number;</a:t>
            </a:r>
          </a:p>
          <a:p>
            <a:pPr lvl="1" algn="l"/>
            <a:r>
              <a:rPr lang="en-ZA" sz="7200" b="1" i="0" u="none" strike="noStrike" baseline="0" dirty="0">
                <a:solidFill>
                  <a:srgbClr val="0070C0"/>
                </a:solidFill>
              </a:rPr>
              <a:t>do</a:t>
            </a:r>
          </a:p>
          <a:p>
            <a:pPr lvl="1" algn="l"/>
            <a:r>
              <a:rPr lang="en-ZA" sz="7200" b="1" i="0" u="none" strike="noStrike" baseline="0" dirty="0">
                <a:solidFill>
                  <a:srgbClr val="211808"/>
                </a:solidFill>
              </a:rPr>
              <a:t>{</a:t>
            </a:r>
          </a:p>
          <a:p>
            <a:pPr lvl="2" algn="l"/>
            <a:r>
              <a:rPr lang="en-ZA" sz="7200" b="1" i="0" u="none" strike="noStrike" baseline="0" dirty="0" err="1">
                <a:solidFill>
                  <a:srgbClr val="211808"/>
                </a:solidFill>
              </a:rPr>
              <a:t>cin</a:t>
            </a:r>
            <a:r>
              <a:rPr lang="en-ZA" sz="7200" b="1" i="0" u="none" strike="noStrike" baseline="0" dirty="0">
                <a:solidFill>
                  <a:srgbClr val="211808"/>
                </a:solidFill>
              </a:rPr>
              <a:t> &gt;&gt; number;</a:t>
            </a:r>
          </a:p>
          <a:p>
            <a:pPr lvl="2" algn="l"/>
            <a:r>
              <a:rPr lang="en-ZA" sz="7200" b="1" i="0" u="none" strike="noStrike" baseline="0" dirty="0">
                <a:solidFill>
                  <a:srgbClr val="211808"/>
                </a:solidFill>
              </a:rPr>
              <a:t>total = total + number;</a:t>
            </a:r>
          </a:p>
          <a:p>
            <a:pPr lvl="2" algn="l"/>
            <a:r>
              <a:rPr lang="en-ZA" sz="7200" b="1" i="0" u="none" strike="noStrike" baseline="0" dirty="0">
                <a:solidFill>
                  <a:srgbClr val="211808"/>
                </a:solidFill>
              </a:rPr>
              <a:t>count++;</a:t>
            </a:r>
          </a:p>
          <a:p>
            <a:pPr lvl="1" algn="l"/>
            <a:r>
              <a:rPr lang="en-ZA" sz="7200" b="1" i="0" u="none" strike="noStrike" baseline="0" dirty="0">
                <a:solidFill>
                  <a:srgbClr val="211808"/>
                </a:solidFill>
              </a:rPr>
              <a:t>} </a:t>
            </a:r>
            <a:r>
              <a:rPr lang="en-ZA" sz="7200" b="1" i="0" u="none" strike="noStrike" baseline="0" dirty="0">
                <a:solidFill>
                  <a:srgbClr val="0070C0"/>
                </a:solidFill>
              </a:rPr>
              <a:t>while</a:t>
            </a:r>
            <a:r>
              <a:rPr lang="en-ZA" sz="7200" b="1" i="0" u="none" strike="noStrike" baseline="0" dirty="0">
                <a:solidFill>
                  <a:srgbClr val="6A8899"/>
                </a:solidFill>
              </a:rPr>
              <a:t> </a:t>
            </a:r>
            <a:r>
              <a:rPr lang="en-ZA" sz="7200" b="1" i="0" u="none" strike="noStrike" baseline="0" dirty="0">
                <a:solidFill>
                  <a:srgbClr val="211808"/>
                </a:solidFill>
              </a:rPr>
              <a:t>(number != -1);</a:t>
            </a:r>
          </a:p>
          <a:p>
            <a:pPr lvl="1" algn="l"/>
            <a:endParaRPr lang="en-ZA" sz="7200" b="1" i="0" u="none" strike="noStrike" baseline="0" dirty="0">
              <a:solidFill>
                <a:srgbClr val="211808"/>
              </a:solidFill>
            </a:endParaRPr>
          </a:p>
          <a:p>
            <a:pPr lvl="1" algn="l"/>
            <a:r>
              <a:rPr lang="en-US" sz="7200" b="1" i="0" u="none" strike="noStrike" baseline="0" dirty="0" err="1">
                <a:solidFill>
                  <a:srgbClr val="211808"/>
                </a:solidFill>
              </a:rPr>
              <a:t>cout</a:t>
            </a:r>
            <a:r>
              <a:rPr lang="en-US" sz="7200" b="1" i="0" u="none" strike="noStrike" baseline="0" dirty="0">
                <a:solidFill>
                  <a:srgbClr val="211808"/>
                </a:solidFill>
              </a:rPr>
              <a:t> &lt;&lt; "The number of data read is " &lt;&lt; count &lt;&lt; </a:t>
            </a:r>
            <a:r>
              <a:rPr lang="en-US" sz="7200" b="1" i="0" u="none" strike="noStrike" baseline="0" dirty="0" err="1">
                <a:solidFill>
                  <a:srgbClr val="211808"/>
                </a:solidFill>
              </a:rPr>
              <a:t>endl</a:t>
            </a:r>
            <a:r>
              <a:rPr lang="en-US" sz="7200" b="1" i="0" u="none" strike="noStrike" baseline="0" dirty="0">
                <a:solidFill>
                  <a:srgbClr val="211808"/>
                </a:solidFill>
              </a:rPr>
              <a:t>;</a:t>
            </a:r>
          </a:p>
          <a:p>
            <a:pPr lvl="1" algn="l"/>
            <a:r>
              <a:rPr lang="en-US" sz="7200" b="1" i="0" u="none" strike="noStrike" baseline="0" dirty="0" err="1">
                <a:solidFill>
                  <a:srgbClr val="211808"/>
                </a:solidFill>
              </a:rPr>
              <a:t>cout</a:t>
            </a:r>
            <a:r>
              <a:rPr lang="en-US" sz="7200" b="1" i="0" u="none" strike="noStrike" baseline="0" dirty="0">
                <a:solidFill>
                  <a:srgbClr val="211808"/>
                </a:solidFill>
              </a:rPr>
              <a:t> &lt;&lt; "The sum of the numbers entered is " &lt;&lt; total </a:t>
            </a:r>
            <a:r>
              <a:rPr lang="en-ZA" sz="7200" b="1" i="0" u="none" strike="noStrike" baseline="0" dirty="0">
                <a:solidFill>
                  <a:srgbClr val="211808"/>
                </a:solidFill>
              </a:rPr>
              <a:t>&lt;&lt; </a:t>
            </a:r>
            <a:r>
              <a:rPr lang="en-ZA" sz="7200" b="1" i="0" u="none" strike="noStrike" baseline="0" dirty="0" err="1">
                <a:solidFill>
                  <a:srgbClr val="211808"/>
                </a:solidFill>
              </a:rPr>
              <a:t>endl</a:t>
            </a:r>
            <a:r>
              <a:rPr lang="en-ZA" sz="7200" b="1" i="0" u="none" strike="noStrike" baseline="0" dirty="0">
                <a:solidFill>
                  <a:srgbClr val="211808"/>
                </a:solidFill>
              </a:rPr>
              <a:t>;</a:t>
            </a:r>
          </a:p>
          <a:p>
            <a:pPr lvl="1" algn="l"/>
            <a:r>
              <a:rPr lang="en-ZA" sz="7200" b="1" i="0" u="none" strike="noStrike" baseline="0" dirty="0">
                <a:solidFill>
                  <a:srgbClr val="0070C0"/>
                </a:solidFill>
              </a:rPr>
              <a:t>return</a:t>
            </a:r>
            <a:r>
              <a:rPr lang="en-ZA" sz="7200" b="1" i="0" u="none" strike="noStrike" baseline="0" dirty="0">
                <a:solidFill>
                  <a:srgbClr val="6A8899"/>
                </a:solidFill>
              </a:rPr>
              <a:t> </a:t>
            </a:r>
            <a:r>
              <a:rPr lang="en-ZA" sz="7200" b="1" i="0" u="none" strike="noStrike" baseline="0" dirty="0">
                <a:solidFill>
                  <a:srgbClr val="211808"/>
                </a:solidFill>
              </a:rPr>
              <a:t>0;</a:t>
            </a:r>
          </a:p>
          <a:p>
            <a:pPr algn="l"/>
            <a:r>
              <a:rPr lang="en-ZA" sz="7200" b="1" i="0" u="none" strike="noStrike" baseline="0" dirty="0">
                <a:solidFill>
                  <a:srgbClr val="211808"/>
                </a:solidFill>
              </a:rPr>
              <a:t>}</a:t>
            </a:r>
            <a:endParaRPr lang="en-US" sz="7200" b="1" dirty="0"/>
          </a:p>
          <a:p>
            <a:pPr algn="l"/>
            <a:endParaRPr lang="en-US" sz="2400" b="1" dirty="0"/>
          </a:p>
        </p:txBody>
      </p:sp>
    </p:spTree>
    <p:extLst>
      <p:ext uri="{BB962C8B-B14F-4D97-AF65-F5344CB8AC3E}">
        <p14:creationId xmlns:p14="http://schemas.microsoft.com/office/powerpoint/2010/main" val="333704568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2E7827-2FE5-DA76-2C4C-3DFBD4799A63}"/>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703BB699-3B2E-A3F8-09C6-E7431746A68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86B6D4A8-8B7C-7D24-2FD9-73AC00352F08}"/>
              </a:ext>
            </a:extLst>
          </p:cNvPr>
          <p:cNvSpPr txBox="1"/>
          <p:nvPr/>
        </p:nvSpPr>
        <p:spPr>
          <a:xfrm>
            <a:off x="0" y="65927"/>
            <a:ext cx="6858000" cy="646331"/>
          </a:xfrm>
          <a:prstGeom prst="rect">
            <a:avLst/>
          </a:prstGeom>
          <a:noFill/>
        </p:spPr>
        <p:txBody>
          <a:bodyPr wrap="square" rtlCol="0">
            <a:spAutoFit/>
          </a:bodyPr>
          <a:lstStyle/>
          <a:p>
            <a:pPr algn="ctr"/>
            <a:r>
              <a:rPr lang="en-US" sz="3600" b="1" dirty="0">
                <a:latin typeface="Arial" panose="020B0604020202020204" pitchFamily="34" charset="0"/>
                <a:cs typeface="Arial" panose="020B0604020202020204" pitchFamily="34" charset="0"/>
              </a:rPr>
              <a:t>For Loop</a:t>
            </a:r>
            <a:endParaRPr lang="en-ZA" sz="3600" b="1" dirty="0">
              <a:latin typeface="Arial" panose="020B0604020202020204" pitchFamily="34" charset="0"/>
              <a:cs typeface="Arial" panose="020B0604020202020204" pitchFamily="34" charset="0"/>
            </a:endParaRPr>
          </a:p>
        </p:txBody>
      </p:sp>
      <p:sp>
        <p:nvSpPr>
          <p:cNvPr id="2" name="Content Placeholder 2">
            <a:extLst>
              <a:ext uri="{FF2B5EF4-FFF2-40B4-BE49-F238E27FC236}">
                <a16:creationId xmlns:a16="http://schemas.microsoft.com/office/drawing/2014/main" id="{379EF225-13E8-7D56-EA31-1DEE729994F4}"/>
              </a:ext>
            </a:extLst>
          </p:cNvPr>
          <p:cNvSpPr txBox="1">
            <a:spLocks/>
          </p:cNvSpPr>
          <p:nvPr/>
        </p:nvSpPr>
        <p:spPr>
          <a:xfrm>
            <a:off x="471488" y="2637014"/>
            <a:ext cx="5915025" cy="6285266"/>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US" sz="2400" dirty="0"/>
              <a:t>The </a:t>
            </a:r>
            <a:r>
              <a:rPr lang="en-US" sz="2400" b="1" dirty="0"/>
              <a:t>while </a:t>
            </a:r>
            <a:r>
              <a:rPr lang="en-US" sz="2400" dirty="0"/>
              <a:t>loop is general enough to implement most forms of repetitions. The C++ </a:t>
            </a:r>
            <a:r>
              <a:rPr lang="en-US" sz="2400" b="1" dirty="0"/>
              <a:t>for </a:t>
            </a:r>
            <a:r>
              <a:rPr lang="en-US" sz="2400" dirty="0"/>
              <a:t>looping structure discussed here is a specialized form of the </a:t>
            </a:r>
            <a:r>
              <a:rPr lang="en-US" sz="2400" b="1" dirty="0"/>
              <a:t>while </a:t>
            </a:r>
            <a:r>
              <a:rPr lang="en-US" sz="2400" dirty="0"/>
              <a:t>loop. Its primary purpose is to simplify the writing of counter-controlled </a:t>
            </a:r>
            <a:r>
              <a:rPr lang="en-ZA" sz="2400" dirty="0"/>
              <a:t>loops.</a:t>
            </a:r>
          </a:p>
          <a:p>
            <a:pPr algn="l"/>
            <a:endParaRPr lang="en-US" sz="2400" b="1" dirty="0"/>
          </a:p>
        </p:txBody>
      </p:sp>
    </p:spTree>
    <p:extLst>
      <p:ext uri="{BB962C8B-B14F-4D97-AF65-F5344CB8AC3E}">
        <p14:creationId xmlns:p14="http://schemas.microsoft.com/office/powerpoint/2010/main" val="423493324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25CB4-5968-9861-0569-C4B25716FE4D}"/>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E55CD82E-C1CC-49AF-9D50-26B59C9D87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0B1F86D8-081F-2D11-9B84-88DF731032F9}"/>
              </a:ext>
            </a:extLst>
          </p:cNvPr>
          <p:cNvSpPr txBox="1"/>
          <p:nvPr/>
        </p:nvSpPr>
        <p:spPr>
          <a:xfrm>
            <a:off x="0" y="65927"/>
            <a:ext cx="6858000" cy="646331"/>
          </a:xfrm>
          <a:prstGeom prst="rect">
            <a:avLst/>
          </a:prstGeom>
          <a:noFill/>
        </p:spPr>
        <p:txBody>
          <a:bodyPr wrap="square" rtlCol="0">
            <a:spAutoFit/>
          </a:bodyPr>
          <a:lstStyle/>
          <a:p>
            <a:pPr algn="ctr"/>
            <a:r>
              <a:rPr lang="en-US" sz="3600" b="1" dirty="0">
                <a:latin typeface="Arial" panose="020B0604020202020204" pitchFamily="34" charset="0"/>
                <a:cs typeface="Arial" panose="020B0604020202020204" pitchFamily="34" charset="0"/>
              </a:rPr>
              <a:t>For Loop</a:t>
            </a:r>
            <a:endParaRPr lang="en-ZA" sz="3600" b="1" dirty="0">
              <a:latin typeface="Arial" panose="020B0604020202020204" pitchFamily="34" charset="0"/>
              <a:cs typeface="Arial" panose="020B0604020202020204" pitchFamily="34" charset="0"/>
            </a:endParaRPr>
          </a:p>
        </p:txBody>
      </p:sp>
      <p:sp>
        <p:nvSpPr>
          <p:cNvPr id="2" name="Content Placeholder 2">
            <a:extLst>
              <a:ext uri="{FF2B5EF4-FFF2-40B4-BE49-F238E27FC236}">
                <a16:creationId xmlns:a16="http://schemas.microsoft.com/office/drawing/2014/main" id="{8251CF70-0CCE-08D3-DDCD-0A97FA70B413}"/>
              </a:ext>
            </a:extLst>
          </p:cNvPr>
          <p:cNvSpPr txBox="1">
            <a:spLocks/>
          </p:cNvSpPr>
          <p:nvPr/>
        </p:nvSpPr>
        <p:spPr>
          <a:xfrm>
            <a:off x="471488" y="2310063"/>
            <a:ext cx="5915025" cy="6918157"/>
          </a:xfrm>
          <a:prstGeom prst="rect">
            <a:avLst/>
          </a:prstGeom>
        </p:spPr>
        <p:txBody>
          <a:bodyPr vert="horz" lIns="91440" tIns="45720" rIns="91440" bIns="45720" rtlCol="0">
            <a:normAutofit fontScale="92500" lnSpcReduction="20000"/>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US" sz="2600" b="1" dirty="0"/>
              <a:t>Syntax / Structure of a For loop:</a:t>
            </a:r>
          </a:p>
          <a:p>
            <a:pPr algn="l"/>
            <a:endParaRPr lang="en-US" sz="2600" b="1" dirty="0"/>
          </a:p>
          <a:p>
            <a:pPr algn="l"/>
            <a:endParaRPr lang="en-US" sz="2600" b="1" dirty="0"/>
          </a:p>
          <a:p>
            <a:pPr algn="l"/>
            <a:endParaRPr lang="en-US" sz="2600" b="1" dirty="0"/>
          </a:p>
          <a:p>
            <a:pPr algn="l"/>
            <a:endParaRPr lang="en-US" sz="2600" b="1" dirty="0"/>
          </a:p>
          <a:p>
            <a:pPr algn="l"/>
            <a:endParaRPr lang="en-US" sz="2600" b="1" dirty="0"/>
          </a:p>
          <a:p>
            <a:pPr algn="l"/>
            <a:endParaRPr lang="en-US" sz="2600" b="1" dirty="0"/>
          </a:p>
          <a:p>
            <a:pPr algn="l"/>
            <a:endParaRPr lang="en-US" sz="2600" b="1" dirty="0"/>
          </a:p>
          <a:p>
            <a:pPr algn="l"/>
            <a:endParaRPr lang="en-US" sz="2200" dirty="0"/>
          </a:p>
          <a:p>
            <a:pPr algn="l"/>
            <a:r>
              <a:rPr lang="en-US" sz="2200" dirty="0"/>
              <a:t>The </a:t>
            </a:r>
            <a:r>
              <a:rPr lang="en-US" sz="2200" b="1" dirty="0"/>
              <a:t>for </a:t>
            </a:r>
            <a:r>
              <a:rPr lang="en-US" sz="2200" dirty="0"/>
              <a:t>loop executes as follows:</a:t>
            </a:r>
          </a:p>
          <a:p>
            <a:pPr algn="l"/>
            <a:r>
              <a:rPr lang="en-US" sz="2200" dirty="0"/>
              <a:t>1. The </a:t>
            </a:r>
            <a:r>
              <a:rPr lang="en-US" sz="2200" b="1" dirty="0"/>
              <a:t>initial statement </a:t>
            </a:r>
            <a:r>
              <a:rPr lang="en-US" sz="2200" dirty="0"/>
              <a:t>executes.</a:t>
            </a:r>
          </a:p>
          <a:p>
            <a:pPr algn="l"/>
            <a:r>
              <a:rPr lang="en-US" sz="2200" dirty="0"/>
              <a:t>2. The </a:t>
            </a:r>
            <a:r>
              <a:rPr lang="en-US" sz="2200" b="1" dirty="0"/>
              <a:t>loop condition </a:t>
            </a:r>
            <a:r>
              <a:rPr lang="en-US" sz="2200" dirty="0"/>
              <a:t>is evaluated. If the </a:t>
            </a:r>
            <a:r>
              <a:rPr lang="en-US" sz="2200" b="1" dirty="0"/>
              <a:t>loop condition </a:t>
            </a:r>
            <a:r>
              <a:rPr lang="en-US" sz="2200" dirty="0"/>
              <a:t>evaluates </a:t>
            </a:r>
            <a:r>
              <a:rPr lang="en-ZA" sz="2200" dirty="0"/>
              <a:t>to </a:t>
            </a:r>
            <a:r>
              <a:rPr lang="en-ZA" sz="2200" b="1" dirty="0"/>
              <a:t>true</a:t>
            </a:r>
            <a:r>
              <a:rPr lang="en-ZA" sz="2200" dirty="0"/>
              <a:t>:</a:t>
            </a:r>
          </a:p>
          <a:p>
            <a:pPr lvl="1" algn="l"/>
            <a:r>
              <a:rPr lang="en-US" sz="2200" dirty="0" err="1"/>
              <a:t>i</a:t>
            </a:r>
            <a:r>
              <a:rPr lang="en-US" sz="2200" dirty="0"/>
              <a:t>. Execute the </a:t>
            </a:r>
            <a:r>
              <a:rPr lang="en-US" sz="2200" b="1" dirty="0"/>
              <a:t>for </a:t>
            </a:r>
            <a:r>
              <a:rPr lang="en-US" sz="2200" dirty="0"/>
              <a:t>loop </a:t>
            </a:r>
            <a:r>
              <a:rPr lang="en-US" sz="2200" b="1" dirty="0"/>
              <a:t>statement</a:t>
            </a:r>
            <a:r>
              <a:rPr lang="en-US" sz="2200" dirty="0"/>
              <a:t>.</a:t>
            </a:r>
          </a:p>
          <a:p>
            <a:pPr lvl="1" algn="l"/>
            <a:r>
              <a:rPr lang="en-US" sz="2200" dirty="0"/>
              <a:t>ii. Execute the </a:t>
            </a:r>
            <a:r>
              <a:rPr lang="en-US" sz="2200" b="1" dirty="0"/>
              <a:t>update statement </a:t>
            </a:r>
            <a:r>
              <a:rPr lang="en-US" sz="2200" dirty="0"/>
              <a:t>(the third expression in the </a:t>
            </a:r>
            <a:r>
              <a:rPr lang="en-ZA" sz="2200" dirty="0"/>
              <a:t>parentheses).</a:t>
            </a:r>
          </a:p>
          <a:p>
            <a:pPr algn="l"/>
            <a:r>
              <a:rPr lang="en-US" sz="2200" dirty="0"/>
              <a:t>3. Repeat Step 2 until the </a:t>
            </a:r>
            <a:r>
              <a:rPr lang="en-US" sz="2200" b="1" dirty="0"/>
              <a:t>loop condition </a:t>
            </a:r>
            <a:r>
              <a:rPr lang="en-US" sz="2200" dirty="0"/>
              <a:t>evaluates to </a:t>
            </a:r>
            <a:r>
              <a:rPr lang="en-US" sz="2200" b="1" dirty="0"/>
              <a:t>false</a:t>
            </a:r>
            <a:r>
              <a:rPr lang="en-US" sz="2200" dirty="0"/>
              <a:t>.</a:t>
            </a:r>
          </a:p>
          <a:p>
            <a:pPr algn="l"/>
            <a:endParaRPr lang="en-US" sz="2200" dirty="0"/>
          </a:p>
          <a:p>
            <a:pPr algn="l"/>
            <a:r>
              <a:rPr lang="en-US" sz="2200" dirty="0"/>
              <a:t>The </a:t>
            </a:r>
            <a:r>
              <a:rPr lang="en-US" sz="2200" b="1" dirty="0"/>
              <a:t>initial statement </a:t>
            </a:r>
            <a:r>
              <a:rPr lang="en-US" sz="2200" dirty="0"/>
              <a:t>usually initializes a variable (called the </a:t>
            </a:r>
            <a:r>
              <a:rPr lang="en-US" sz="2200" b="1" dirty="0"/>
              <a:t>for loop control</a:t>
            </a:r>
            <a:r>
              <a:rPr lang="en-US" sz="2200" dirty="0"/>
              <a:t>, </a:t>
            </a:r>
            <a:r>
              <a:rPr lang="en-ZA" sz="2200" dirty="0"/>
              <a:t>or </a:t>
            </a:r>
            <a:r>
              <a:rPr lang="en-ZA" sz="2200" b="1" dirty="0"/>
              <a:t>for indexed</a:t>
            </a:r>
            <a:r>
              <a:rPr lang="en-ZA" sz="2200" dirty="0"/>
              <a:t>, </a:t>
            </a:r>
            <a:r>
              <a:rPr lang="en-ZA" sz="2200" b="1" dirty="0"/>
              <a:t>variable</a:t>
            </a:r>
            <a:r>
              <a:rPr lang="en-ZA" sz="2200" dirty="0"/>
              <a:t>).</a:t>
            </a:r>
            <a:endParaRPr lang="en-ZA" sz="2200" b="1" dirty="0"/>
          </a:p>
        </p:txBody>
      </p:sp>
      <p:pic>
        <p:nvPicPr>
          <p:cNvPr id="6" name="Picture 5">
            <a:extLst>
              <a:ext uri="{FF2B5EF4-FFF2-40B4-BE49-F238E27FC236}">
                <a16:creationId xmlns:a16="http://schemas.microsoft.com/office/drawing/2014/main" id="{D060CD83-6F50-447E-3404-04F095B54508}"/>
              </a:ext>
            </a:extLst>
          </p:cNvPr>
          <p:cNvPicPr>
            <a:picLocks noChangeAspect="1"/>
          </p:cNvPicPr>
          <p:nvPr/>
        </p:nvPicPr>
        <p:blipFill>
          <a:blip r:embed="rId3"/>
          <a:stretch>
            <a:fillRect/>
          </a:stretch>
        </p:blipFill>
        <p:spPr>
          <a:xfrm>
            <a:off x="757989" y="2665944"/>
            <a:ext cx="4704348" cy="2772330"/>
          </a:xfrm>
          <a:prstGeom prst="rect">
            <a:avLst/>
          </a:prstGeom>
        </p:spPr>
      </p:pic>
    </p:spTree>
    <p:extLst>
      <p:ext uri="{BB962C8B-B14F-4D97-AF65-F5344CB8AC3E}">
        <p14:creationId xmlns:p14="http://schemas.microsoft.com/office/powerpoint/2010/main" val="66479928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121C8D-07AB-78D2-5136-AE96595B5B1B}"/>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02C19FFA-1F1C-76AA-AC32-7D965CD6E8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C42CEF50-0F2B-C519-2C29-CF5632446AF9}"/>
              </a:ext>
            </a:extLst>
          </p:cNvPr>
          <p:cNvSpPr txBox="1"/>
          <p:nvPr/>
        </p:nvSpPr>
        <p:spPr>
          <a:xfrm>
            <a:off x="0" y="65927"/>
            <a:ext cx="6858000" cy="646331"/>
          </a:xfrm>
          <a:prstGeom prst="rect">
            <a:avLst/>
          </a:prstGeom>
          <a:noFill/>
        </p:spPr>
        <p:txBody>
          <a:bodyPr wrap="square" rtlCol="0">
            <a:spAutoFit/>
          </a:bodyPr>
          <a:lstStyle/>
          <a:p>
            <a:pPr algn="ctr"/>
            <a:r>
              <a:rPr lang="en-US" sz="3600" b="1" dirty="0">
                <a:latin typeface="Arial" panose="020B0604020202020204" pitchFamily="34" charset="0"/>
                <a:cs typeface="Arial" panose="020B0604020202020204" pitchFamily="34" charset="0"/>
              </a:rPr>
              <a:t>For Loop</a:t>
            </a:r>
            <a:endParaRPr lang="en-ZA" sz="3600" b="1" dirty="0">
              <a:latin typeface="Arial" panose="020B0604020202020204" pitchFamily="34" charset="0"/>
              <a:cs typeface="Arial" panose="020B0604020202020204" pitchFamily="34" charset="0"/>
            </a:endParaRPr>
          </a:p>
        </p:txBody>
      </p:sp>
      <p:sp>
        <p:nvSpPr>
          <p:cNvPr id="2" name="Content Placeholder 2">
            <a:extLst>
              <a:ext uri="{FF2B5EF4-FFF2-40B4-BE49-F238E27FC236}">
                <a16:creationId xmlns:a16="http://schemas.microsoft.com/office/drawing/2014/main" id="{FC4B28E6-362E-B98F-BC93-2574E53A9E1C}"/>
              </a:ext>
            </a:extLst>
          </p:cNvPr>
          <p:cNvSpPr txBox="1">
            <a:spLocks/>
          </p:cNvSpPr>
          <p:nvPr/>
        </p:nvSpPr>
        <p:spPr>
          <a:xfrm>
            <a:off x="471488" y="2637014"/>
            <a:ext cx="5915025" cy="6285266"/>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US" sz="2000" b="1" dirty="0"/>
              <a:t>Examples:</a:t>
            </a:r>
          </a:p>
          <a:p>
            <a:pPr algn="l"/>
            <a:r>
              <a:rPr lang="en-US" sz="2000" dirty="0"/>
              <a:t>You can increment (or decrement) the loop control variable by any fixed number. In the following </a:t>
            </a:r>
            <a:r>
              <a:rPr lang="en-US" sz="2000" b="1" dirty="0"/>
              <a:t>for </a:t>
            </a:r>
            <a:r>
              <a:rPr lang="en-US" sz="2000" dirty="0"/>
              <a:t>loop, the variable is initialized to </a:t>
            </a:r>
            <a:r>
              <a:rPr lang="en-US" sz="2000" b="1" dirty="0"/>
              <a:t>1</a:t>
            </a:r>
            <a:r>
              <a:rPr lang="en-US" sz="2000" dirty="0"/>
              <a:t>; at the end of the </a:t>
            </a:r>
            <a:r>
              <a:rPr lang="en-US" sz="2000" b="1" dirty="0"/>
              <a:t>for </a:t>
            </a:r>
            <a:r>
              <a:rPr lang="en-US" sz="2000" dirty="0"/>
              <a:t>loop, </a:t>
            </a:r>
            <a:r>
              <a:rPr lang="en-US" sz="2000" b="1" dirty="0" err="1"/>
              <a:t>i</a:t>
            </a:r>
            <a:r>
              <a:rPr lang="en-US" sz="2000" b="1" dirty="0"/>
              <a:t> </a:t>
            </a:r>
            <a:r>
              <a:rPr lang="en-US" sz="2000" dirty="0"/>
              <a:t>is incremented by </a:t>
            </a:r>
            <a:r>
              <a:rPr lang="en-US" sz="2000" b="1" dirty="0"/>
              <a:t>2</a:t>
            </a:r>
            <a:r>
              <a:rPr lang="en-US" sz="2000" dirty="0"/>
              <a:t>. This </a:t>
            </a:r>
            <a:r>
              <a:rPr lang="en-US" sz="2000" b="1" dirty="0"/>
              <a:t>for </a:t>
            </a:r>
            <a:r>
              <a:rPr lang="en-US" sz="2000" dirty="0"/>
              <a:t>loop outputs the first </a:t>
            </a:r>
            <a:r>
              <a:rPr lang="en-US" sz="2000" b="1" dirty="0"/>
              <a:t>10 </a:t>
            </a:r>
            <a:r>
              <a:rPr lang="en-US" sz="2000" dirty="0"/>
              <a:t>positive odd integers.</a:t>
            </a:r>
          </a:p>
          <a:p>
            <a:pPr algn="l"/>
            <a:endParaRPr lang="en-US" sz="2000" dirty="0"/>
          </a:p>
          <a:p>
            <a:pPr algn="l"/>
            <a:r>
              <a:rPr lang="nn-NO" sz="2000" b="1" dirty="0">
                <a:solidFill>
                  <a:srgbClr val="0070C0"/>
                </a:solidFill>
              </a:rPr>
              <a:t>for</a:t>
            </a:r>
            <a:r>
              <a:rPr lang="nn-NO" sz="2000" b="1" dirty="0"/>
              <a:t> (i = 1; i &lt;= 20; i = i + 2)</a:t>
            </a:r>
          </a:p>
          <a:p>
            <a:pPr lvl="1" algn="l"/>
            <a:r>
              <a:rPr lang="en-ZA" sz="2000" b="1" dirty="0" err="1">
                <a:solidFill>
                  <a:srgbClr val="0070C0"/>
                </a:solidFill>
              </a:rPr>
              <a:t>cout</a:t>
            </a:r>
            <a:r>
              <a:rPr lang="en-ZA" sz="2000" b="1" dirty="0"/>
              <a:t> &lt;&lt; " " &lt;&lt; </a:t>
            </a:r>
            <a:r>
              <a:rPr lang="en-ZA" sz="2000" b="1" dirty="0" err="1"/>
              <a:t>i</a:t>
            </a:r>
            <a:r>
              <a:rPr lang="en-ZA" sz="2000" b="1" dirty="0"/>
              <a:t>;</a:t>
            </a:r>
          </a:p>
          <a:p>
            <a:pPr lvl="1" algn="l"/>
            <a:r>
              <a:rPr lang="en-ZA" sz="2000" b="1" dirty="0" err="1">
                <a:solidFill>
                  <a:srgbClr val="0070C0"/>
                </a:solidFill>
              </a:rPr>
              <a:t>cout</a:t>
            </a:r>
            <a:r>
              <a:rPr lang="en-ZA" sz="2000" b="1" dirty="0"/>
              <a:t> &lt;&lt; </a:t>
            </a:r>
            <a:r>
              <a:rPr lang="en-ZA" sz="2000" b="1" dirty="0" err="1"/>
              <a:t>endl</a:t>
            </a:r>
            <a:r>
              <a:rPr lang="en-ZA" sz="2000" b="1" dirty="0"/>
              <a:t>;</a:t>
            </a:r>
          </a:p>
          <a:p>
            <a:pPr lvl="1" algn="l"/>
            <a:endParaRPr lang="en-ZA" sz="2000" b="1" dirty="0"/>
          </a:p>
          <a:p>
            <a:pPr algn="l"/>
            <a:r>
              <a:rPr lang="en-ZA" sz="2000" dirty="0"/>
              <a:t>The output is:</a:t>
            </a:r>
          </a:p>
          <a:p>
            <a:pPr algn="l"/>
            <a:r>
              <a:rPr lang="en-ZA" sz="2000" b="1" dirty="0"/>
              <a:t>1 3 5 7 9 11 13 15 17 19</a:t>
            </a:r>
            <a:endParaRPr lang="en-US" sz="2000" b="1" dirty="0"/>
          </a:p>
          <a:p>
            <a:pPr algn="l"/>
            <a:endParaRPr lang="en-US" sz="2600" b="1" dirty="0"/>
          </a:p>
        </p:txBody>
      </p:sp>
    </p:spTree>
    <p:extLst>
      <p:ext uri="{BB962C8B-B14F-4D97-AF65-F5344CB8AC3E}">
        <p14:creationId xmlns:p14="http://schemas.microsoft.com/office/powerpoint/2010/main" val="375345720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5251CA-9AF0-2D92-31D8-82606757B3B1}"/>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B38722F1-DE6A-877D-E08A-C6600F99536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39CDBEEE-4C2E-B7DA-C817-BC5BB21D84B7}"/>
              </a:ext>
            </a:extLst>
          </p:cNvPr>
          <p:cNvSpPr txBox="1"/>
          <p:nvPr/>
        </p:nvSpPr>
        <p:spPr>
          <a:xfrm>
            <a:off x="0" y="65927"/>
            <a:ext cx="6858000" cy="646331"/>
          </a:xfrm>
          <a:prstGeom prst="rect">
            <a:avLst/>
          </a:prstGeom>
          <a:noFill/>
        </p:spPr>
        <p:txBody>
          <a:bodyPr wrap="square" rtlCol="0">
            <a:spAutoFit/>
          </a:bodyPr>
          <a:lstStyle/>
          <a:p>
            <a:pPr algn="ctr"/>
            <a:r>
              <a:rPr lang="en-US" sz="3600" b="1" dirty="0">
                <a:latin typeface="Arial" panose="020B0604020202020204" pitchFamily="34" charset="0"/>
                <a:cs typeface="Arial" panose="020B0604020202020204" pitchFamily="34" charset="0"/>
              </a:rPr>
              <a:t>For Loop</a:t>
            </a:r>
            <a:endParaRPr lang="en-ZA" sz="3600" b="1" dirty="0">
              <a:latin typeface="Arial" panose="020B0604020202020204" pitchFamily="34" charset="0"/>
              <a:cs typeface="Arial" panose="020B0604020202020204" pitchFamily="34" charset="0"/>
            </a:endParaRPr>
          </a:p>
        </p:txBody>
      </p:sp>
      <p:sp>
        <p:nvSpPr>
          <p:cNvPr id="2" name="Content Placeholder 2">
            <a:extLst>
              <a:ext uri="{FF2B5EF4-FFF2-40B4-BE49-F238E27FC236}">
                <a16:creationId xmlns:a16="http://schemas.microsoft.com/office/drawing/2014/main" id="{204846B5-0939-E912-A3ED-17B5FB0A420D}"/>
              </a:ext>
            </a:extLst>
          </p:cNvPr>
          <p:cNvSpPr txBox="1">
            <a:spLocks/>
          </p:cNvSpPr>
          <p:nvPr/>
        </p:nvSpPr>
        <p:spPr>
          <a:xfrm>
            <a:off x="471488" y="2637014"/>
            <a:ext cx="5915025" cy="6285266"/>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US" sz="2000" b="1" dirty="0"/>
              <a:t>Examples:</a:t>
            </a:r>
          </a:p>
          <a:p>
            <a:pPr algn="l"/>
            <a:endParaRPr lang="en-US" sz="2000" b="1" dirty="0"/>
          </a:p>
          <a:p>
            <a:pPr algn="l"/>
            <a:r>
              <a:rPr lang="en-US" sz="2000" dirty="0"/>
              <a:t>You can count backward using a </a:t>
            </a:r>
            <a:r>
              <a:rPr lang="en-US" sz="2000" b="1" dirty="0"/>
              <a:t>for </a:t>
            </a:r>
            <a:r>
              <a:rPr lang="en-US" sz="2000" dirty="0"/>
              <a:t>loop if the </a:t>
            </a:r>
            <a:r>
              <a:rPr lang="en-US" sz="2000" b="1" dirty="0"/>
              <a:t>for </a:t>
            </a:r>
            <a:r>
              <a:rPr lang="en-US" sz="2000" dirty="0"/>
              <a:t>loop control expressions are set </a:t>
            </a:r>
            <a:r>
              <a:rPr lang="en-ZA" sz="2000" dirty="0"/>
              <a:t>correctly.</a:t>
            </a:r>
          </a:p>
          <a:p>
            <a:pPr algn="l"/>
            <a:r>
              <a:rPr lang="en-US" sz="2000" dirty="0"/>
              <a:t>For example, consider the following </a:t>
            </a:r>
            <a:r>
              <a:rPr lang="en-US" sz="2000" b="1" dirty="0"/>
              <a:t>for </a:t>
            </a:r>
            <a:r>
              <a:rPr lang="en-US" sz="2000" dirty="0"/>
              <a:t>loop:</a:t>
            </a:r>
          </a:p>
          <a:p>
            <a:pPr algn="l"/>
            <a:endParaRPr lang="en-US" sz="2000" dirty="0"/>
          </a:p>
          <a:p>
            <a:pPr algn="l"/>
            <a:r>
              <a:rPr lang="nn-NO" sz="2000" b="1" dirty="0">
                <a:solidFill>
                  <a:srgbClr val="0070C0"/>
                </a:solidFill>
              </a:rPr>
              <a:t>for</a:t>
            </a:r>
            <a:r>
              <a:rPr lang="nn-NO" sz="2000" b="1" dirty="0"/>
              <a:t> (i = 10; i &gt;= 1; i--)</a:t>
            </a:r>
          </a:p>
          <a:p>
            <a:pPr lvl="1" algn="l"/>
            <a:r>
              <a:rPr lang="en-ZA" sz="2000" b="1" dirty="0" err="1">
                <a:solidFill>
                  <a:srgbClr val="0070C0"/>
                </a:solidFill>
              </a:rPr>
              <a:t>cout</a:t>
            </a:r>
            <a:r>
              <a:rPr lang="en-ZA" sz="2000" b="1" dirty="0"/>
              <a:t> &lt;&lt; " " &lt;&lt; </a:t>
            </a:r>
            <a:r>
              <a:rPr lang="en-ZA" sz="2000" b="1" dirty="0" err="1"/>
              <a:t>i</a:t>
            </a:r>
            <a:r>
              <a:rPr lang="en-ZA" sz="2000" b="1" dirty="0"/>
              <a:t>;</a:t>
            </a:r>
          </a:p>
          <a:p>
            <a:pPr lvl="1" algn="l"/>
            <a:r>
              <a:rPr lang="en-ZA" sz="2000" b="1" dirty="0" err="1">
                <a:solidFill>
                  <a:srgbClr val="0070C0"/>
                </a:solidFill>
              </a:rPr>
              <a:t>cout</a:t>
            </a:r>
            <a:r>
              <a:rPr lang="en-ZA" sz="2000" b="1" dirty="0"/>
              <a:t> &lt;&lt; </a:t>
            </a:r>
            <a:r>
              <a:rPr lang="en-ZA" sz="2000" b="1" dirty="0" err="1"/>
              <a:t>endl</a:t>
            </a:r>
            <a:r>
              <a:rPr lang="en-ZA" sz="2000" b="1" dirty="0"/>
              <a:t>;</a:t>
            </a:r>
          </a:p>
          <a:p>
            <a:pPr algn="l"/>
            <a:endParaRPr lang="en-ZA" sz="2000" b="1" dirty="0"/>
          </a:p>
          <a:p>
            <a:pPr algn="l"/>
            <a:r>
              <a:rPr lang="en-ZA" sz="2000" dirty="0"/>
              <a:t>The output is:</a:t>
            </a:r>
          </a:p>
          <a:p>
            <a:pPr algn="l"/>
            <a:r>
              <a:rPr lang="en-ZA" sz="2000" b="1" dirty="0"/>
              <a:t>10 9 8 7 6 5 4 3 2 1</a:t>
            </a:r>
            <a:endParaRPr lang="en-US" sz="2000" b="1" dirty="0"/>
          </a:p>
          <a:p>
            <a:pPr algn="l"/>
            <a:endParaRPr lang="en-US" sz="2600" b="1" dirty="0"/>
          </a:p>
          <a:p>
            <a:pPr algn="r"/>
            <a:r>
              <a:rPr lang="en-ZA" sz="2000" dirty="0">
                <a:solidFill>
                  <a:srgbClr val="0070C0"/>
                </a:solidFill>
              </a:rPr>
              <a:t>sum</a:t>
            </a:r>
            <a:r>
              <a:rPr lang="en-ZA" sz="2000" dirty="0"/>
              <a:t> = 0;</a:t>
            </a:r>
          </a:p>
          <a:p>
            <a:pPr algn="r"/>
            <a:r>
              <a:rPr lang="pt-BR" sz="2000" i="1" dirty="0">
                <a:solidFill>
                  <a:srgbClr val="0070C0"/>
                </a:solidFill>
              </a:rPr>
              <a:t>for</a:t>
            </a:r>
            <a:r>
              <a:rPr lang="pt-BR" sz="2000" i="1" dirty="0"/>
              <a:t> </a:t>
            </a:r>
            <a:r>
              <a:rPr lang="pt-BR" sz="2000" dirty="0"/>
              <a:t>(n = 1; n &lt;= 10; n++)</a:t>
            </a:r>
          </a:p>
          <a:p>
            <a:pPr algn="r"/>
            <a:r>
              <a:rPr lang="en-ZA" sz="2000" dirty="0"/>
              <a:t>sum = sum + n;</a:t>
            </a:r>
            <a:endParaRPr lang="en-US" sz="2000" b="1" dirty="0"/>
          </a:p>
        </p:txBody>
      </p:sp>
    </p:spTree>
    <p:extLst>
      <p:ext uri="{BB962C8B-B14F-4D97-AF65-F5344CB8AC3E}">
        <p14:creationId xmlns:p14="http://schemas.microsoft.com/office/powerpoint/2010/main" val="175430485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14C84A-9E3F-7EBD-B018-6534991D6D49}"/>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C88879BE-83A5-7E7D-69BF-1C41FDD0970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373768B8-0EBA-6A2E-AA7F-963125A41AD0}"/>
              </a:ext>
            </a:extLst>
          </p:cNvPr>
          <p:cNvSpPr txBox="1"/>
          <p:nvPr/>
        </p:nvSpPr>
        <p:spPr>
          <a:xfrm>
            <a:off x="0" y="65927"/>
            <a:ext cx="6858000" cy="646331"/>
          </a:xfrm>
          <a:prstGeom prst="rect">
            <a:avLst/>
          </a:prstGeom>
          <a:noFill/>
        </p:spPr>
        <p:txBody>
          <a:bodyPr wrap="square" rtlCol="0">
            <a:spAutoFit/>
          </a:bodyPr>
          <a:lstStyle/>
          <a:p>
            <a:pPr algn="ctr"/>
            <a:r>
              <a:rPr lang="en-US" sz="3600" b="1" dirty="0">
                <a:latin typeface="Arial" panose="020B0604020202020204" pitchFamily="34" charset="0"/>
                <a:cs typeface="Arial" panose="020B0604020202020204" pitchFamily="34" charset="0"/>
              </a:rPr>
              <a:t>For Loop</a:t>
            </a:r>
            <a:endParaRPr lang="en-ZA" sz="3600" b="1" dirty="0">
              <a:latin typeface="Arial" panose="020B0604020202020204" pitchFamily="34" charset="0"/>
              <a:cs typeface="Arial" panose="020B0604020202020204" pitchFamily="34" charset="0"/>
            </a:endParaRPr>
          </a:p>
        </p:txBody>
      </p:sp>
      <p:sp>
        <p:nvSpPr>
          <p:cNvPr id="2" name="Content Placeholder 2">
            <a:extLst>
              <a:ext uri="{FF2B5EF4-FFF2-40B4-BE49-F238E27FC236}">
                <a16:creationId xmlns:a16="http://schemas.microsoft.com/office/drawing/2014/main" id="{B061B938-8828-23D5-AA77-CF7D7FD3E2C6}"/>
              </a:ext>
            </a:extLst>
          </p:cNvPr>
          <p:cNvSpPr txBox="1">
            <a:spLocks/>
          </p:cNvSpPr>
          <p:nvPr/>
        </p:nvSpPr>
        <p:spPr>
          <a:xfrm>
            <a:off x="471488" y="2637014"/>
            <a:ext cx="5915025" cy="6615270"/>
          </a:xfrm>
          <a:prstGeom prst="rect">
            <a:avLst/>
          </a:prstGeom>
        </p:spPr>
        <p:txBody>
          <a:bodyPr vert="horz" lIns="91440" tIns="45720" rIns="91440" bIns="45720" rtlCol="0">
            <a:normAutofit fontScale="92500" lnSpcReduction="20000"/>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US" sz="2000" b="1" dirty="0"/>
              <a:t>Examples:</a:t>
            </a:r>
          </a:p>
          <a:p>
            <a:pPr algn="l"/>
            <a:endParaRPr lang="en-US" sz="2000" b="1" dirty="0"/>
          </a:p>
          <a:p>
            <a:pPr algn="l"/>
            <a:r>
              <a:rPr lang="en-US" sz="2400" dirty="0"/>
              <a:t>In this example, a </a:t>
            </a:r>
            <a:r>
              <a:rPr lang="en-US" sz="2400" b="1" dirty="0"/>
              <a:t>for </a:t>
            </a:r>
            <a:r>
              <a:rPr lang="en-US" sz="2400" dirty="0"/>
              <a:t>loop reads five numbers and finds their sum and average.</a:t>
            </a:r>
          </a:p>
          <a:p>
            <a:pPr algn="l"/>
            <a:r>
              <a:rPr lang="en-US" sz="2400" dirty="0"/>
              <a:t>Consider the following program code, in which </a:t>
            </a:r>
            <a:r>
              <a:rPr lang="en-US" sz="2400" b="1" dirty="0" err="1"/>
              <a:t>i</a:t>
            </a:r>
            <a:r>
              <a:rPr lang="en-US" sz="2400" dirty="0"/>
              <a:t>, </a:t>
            </a:r>
            <a:r>
              <a:rPr lang="en-US" sz="2400" b="1" dirty="0" err="1"/>
              <a:t>newNum</a:t>
            </a:r>
            <a:r>
              <a:rPr lang="en-US" sz="2400" dirty="0"/>
              <a:t>, </a:t>
            </a:r>
            <a:r>
              <a:rPr lang="en-US" sz="2400" b="1" dirty="0"/>
              <a:t>sum</a:t>
            </a:r>
            <a:r>
              <a:rPr lang="en-US" sz="2400" dirty="0"/>
              <a:t>, and </a:t>
            </a:r>
            <a:r>
              <a:rPr lang="en-US" sz="2400" b="1" dirty="0"/>
              <a:t>average </a:t>
            </a:r>
            <a:r>
              <a:rPr lang="en-US" sz="2400" dirty="0"/>
              <a:t>are </a:t>
            </a:r>
            <a:r>
              <a:rPr lang="en-US" sz="2400" b="1" dirty="0"/>
              <a:t>int </a:t>
            </a:r>
            <a:r>
              <a:rPr lang="en-ZA" sz="2400" dirty="0"/>
              <a:t>variables:</a:t>
            </a:r>
          </a:p>
          <a:p>
            <a:pPr algn="l"/>
            <a:r>
              <a:rPr lang="en-ZA" sz="2100" b="1" dirty="0">
                <a:solidFill>
                  <a:srgbClr val="0070C0"/>
                </a:solidFill>
              </a:rPr>
              <a:t>int</a:t>
            </a:r>
            <a:r>
              <a:rPr lang="en-ZA" sz="2100" b="1" dirty="0"/>
              <a:t> sum = 0; </a:t>
            </a:r>
            <a:r>
              <a:rPr lang="en-ZA" sz="2100" b="1" dirty="0">
                <a:solidFill>
                  <a:srgbClr val="0070C0"/>
                </a:solidFill>
              </a:rPr>
              <a:t>double</a:t>
            </a:r>
            <a:r>
              <a:rPr lang="en-ZA" sz="2100" b="1" dirty="0"/>
              <a:t> average;</a:t>
            </a:r>
          </a:p>
          <a:p>
            <a:pPr algn="l"/>
            <a:r>
              <a:rPr lang="nn-NO" sz="2100" b="1" dirty="0">
                <a:solidFill>
                  <a:srgbClr val="0070C0"/>
                </a:solidFill>
              </a:rPr>
              <a:t>for</a:t>
            </a:r>
            <a:r>
              <a:rPr lang="nn-NO" sz="2100" b="1" dirty="0"/>
              <a:t> (i = 1; i &lt;= 5; i++)</a:t>
            </a:r>
          </a:p>
          <a:p>
            <a:pPr algn="l"/>
            <a:r>
              <a:rPr lang="en-ZA" sz="2100" b="1" dirty="0"/>
              <a:t>{</a:t>
            </a:r>
          </a:p>
          <a:p>
            <a:pPr algn="l"/>
            <a:r>
              <a:rPr lang="en-ZA" sz="2100" b="1" dirty="0"/>
              <a:t>      </a:t>
            </a:r>
            <a:r>
              <a:rPr lang="en-ZA" sz="2100" b="1" dirty="0" err="1">
                <a:solidFill>
                  <a:srgbClr val="0070C0"/>
                </a:solidFill>
              </a:rPr>
              <a:t>cout</a:t>
            </a:r>
            <a:r>
              <a:rPr lang="en-ZA" sz="2100" b="1" dirty="0"/>
              <a:t> &lt;&lt; “Enter number: ”;</a:t>
            </a:r>
          </a:p>
          <a:p>
            <a:pPr lvl="1" algn="l"/>
            <a:r>
              <a:rPr lang="en-ZA" sz="2100" b="1" dirty="0" err="1">
                <a:solidFill>
                  <a:srgbClr val="0070C0"/>
                </a:solidFill>
              </a:rPr>
              <a:t>cin</a:t>
            </a:r>
            <a:r>
              <a:rPr lang="en-ZA" sz="2100" b="1" dirty="0"/>
              <a:t> &gt;&gt; </a:t>
            </a:r>
            <a:r>
              <a:rPr lang="en-ZA" sz="2100" b="1" dirty="0" err="1"/>
              <a:t>newNum</a:t>
            </a:r>
            <a:r>
              <a:rPr lang="en-ZA" sz="2100" b="1" dirty="0"/>
              <a:t>;</a:t>
            </a:r>
          </a:p>
          <a:p>
            <a:pPr lvl="1" algn="l"/>
            <a:r>
              <a:rPr lang="en-ZA" sz="2100" b="1" dirty="0"/>
              <a:t>sum = sum + </a:t>
            </a:r>
            <a:r>
              <a:rPr lang="en-ZA" sz="2100" b="1" dirty="0" err="1"/>
              <a:t>newNum</a:t>
            </a:r>
            <a:r>
              <a:rPr lang="en-ZA" sz="2100" b="1" dirty="0"/>
              <a:t>;</a:t>
            </a:r>
          </a:p>
          <a:p>
            <a:pPr algn="l"/>
            <a:r>
              <a:rPr lang="en-ZA" sz="2100" b="1" dirty="0"/>
              <a:t>}</a:t>
            </a:r>
          </a:p>
          <a:p>
            <a:pPr algn="l"/>
            <a:r>
              <a:rPr lang="en-ZA" sz="2100" b="1" dirty="0"/>
              <a:t>average = sum / 5;</a:t>
            </a:r>
          </a:p>
          <a:p>
            <a:pPr algn="l"/>
            <a:r>
              <a:rPr lang="en-US" sz="2100" b="1" dirty="0" err="1">
                <a:solidFill>
                  <a:srgbClr val="0070C0"/>
                </a:solidFill>
              </a:rPr>
              <a:t>cout</a:t>
            </a:r>
            <a:r>
              <a:rPr lang="en-US" sz="2100" b="1" dirty="0"/>
              <a:t> &lt;&lt; "The sum is " &lt;&lt; sum &lt;&lt; </a:t>
            </a:r>
            <a:r>
              <a:rPr lang="en-US" sz="2100" b="1" dirty="0" err="1"/>
              <a:t>endl</a:t>
            </a:r>
            <a:r>
              <a:rPr lang="en-US" sz="2100" b="1" dirty="0"/>
              <a:t>;</a:t>
            </a:r>
          </a:p>
          <a:p>
            <a:pPr algn="l"/>
            <a:r>
              <a:rPr lang="en-US" sz="2100" b="1" dirty="0" err="1">
                <a:solidFill>
                  <a:srgbClr val="0070C0"/>
                </a:solidFill>
              </a:rPr>
              <a:t>cout</a:t>
            </a:r>
            <a:r>
              <a:rPr lang="en-US" sz="2100" b="1" dirty="0"/>
              <a:t> &lt;&lt; "The average is " &lt;&lt; average &lt;&lt; </a:t>
            </a:r>
            <a:r>
              <a:rPr lang="en-US" sz="2100" b="1" dirty="0" err="1"/>
              <a:t>endl</a:t>
            </a:r>
            <a:r>
              <a:rPr lang="en-US" sz="2100" b="1" dirty="0"/>
              <a:t>;</a:t>
            </a:r>
          </a:p>
          <a:p>
            <a:endParaRPr lang="en-US" b="1" dirty="0"/>
          </a:p>
          <a:p>
            <a:pPr algn="l"/>
            <a:r>
              <a:rPr lang="en-US" sz="2200" dirty="0"/>
              <a:t>After reading a </a:t>
            </a:r>
            <a:r>
              <a:rPr lang="en-US" sz="2200" b="1" dirty="0" err="1"/>
              <a:t>newNum</a:t>
            </a:r>
            <a:r>
              <a:rPr lang="en-US" sz="2200" dirty="0"/>
              <a:t>, this value is added to the previously calculated (partial) </a:t>
            </a:r>
            <a:r>
              <a:rPr lang="en-US" sz="2200" b="1" dirty="0"/>
              <a:t>sum </a:t>
            </a:r>
            <a:r>
              <a:rPr lang="en-US" sz="2200" dirty="0"/>
              <a:t>of all the numbers read before the current number. The variable </a:t>
            </a:r>
            <a:r>
              <a:rPr lang="en-US" sz="2200" b="1" dirty="0"/>
              <a:t>sum </a:t>
            </a:r>
            <a:r>
              <a:rPr lang="en-US" sz="2200" dirty="0"/>
              <a:t>is initialized to </a:t>
            </a:r>
            <a:r>
              <a:rPr lang="en-US" sz="2200" b="1" dirty="0"/>
              <a:t>0 </a:t>
            </a:r>
            <a:r>
              <a:rPr lang="en-US" sz="2200" dirty="0"/>
              <a:t>before the </a:t>
            </a:r>
            <a:r>
              <a:rPr lang="en-US" sz="2200" b="1" dirty="0"/>
              <a:t>for </a:t>
            </a:r>
            <a:r>
              <a:rPr lang="en-US" sz="2200" dirty="0"/>
              <a:t>loop. Thus, after the program reads the first number and adds it to the value of </a:t>
            </a:r>
            <a:r>
              <a:rPr lang="en-US" sz="2200" b="1" dirty="0"/>
              <a:t>sum</a:t>
            </a:r>
            <a:r>
              <a:rPr lang="en-US" sz="2200" dirty="0"/>
              <a:t>, the variable </a:t>
            </a:r>
            <a:r>
              <a:rPr lang="en-US" sz="2200" b="1" dirty="0"/>
              <a:t>sum </a:t>
            </a:r>
            <a:r>
              <a:rPr lang="en-US" sz="2200" dirty="0"/>
              <a:t>holds the correct </a:t>
            </a:r>
            <a:r>
              <a:rPr lang="en-US" sz="2200" b="1" dirty="0"/>
              <a:t>sum </a:t>
            </a:r>
            <a:r>
              <a:rPr lang="en-US" sz="2200" dirty="0"/>
              <a:t>of </a:t>
            </a:r>
            <a:r>
              <a:rPr lang="en-ZA" sz="2200" dirty="0"/>
              <a:t>the first number.</a:t>
            </a:r>
            <a:endParaRPr lang="en-US" sz="2200" b="1" dirty="0"/>
          </a:p>
        </p:txBody>
      </p:sp>
    </p:spTree>
    <p:extLst>
      <p:ext uri="{BB962C8B-B14F-4D97-AF65-F5344CB8AC3E}">
        <p14:creationId xmlns:p14="http://schemas.microsoft.com/office/powerpoint/2010/main" val="130097610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D381D6-32B1-D72E-06FC-6A8DB3084598}"/>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D43555E0-8EE5-CB7A-D2DF-C8E3399A3F5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3D556C2D-51DB-765C-E9E8-6B14BFF1AA9E}"/>
              </a:ext>
            </a:extLst>
          </p:cNvPr>
          <p:cNvSpPr txBox="1"/>
          <p:nvPr/>
        </p:nvSpPr>
        <p:spPr>
          <a:xfrm>
            <a:off x="0" y="65927"/>
            <a:ext cx="6858000" cy="646331"/>
          </a:xfrm>
          <a:prstGeom prst="rect">
            <a:avLst/>
          </a:prstGeom>
          <a:noFill/>
        </p:spPr>
        <p:txBody>
          <a:bodyPr wrap="square" rtlCol="0">
            <a:spAutoFit/>
          </a:bodyPr>
          <a:lstStyle/>
          <a:p>
            <a:pPr algn="ctr"/>
            <a:r>
              <a:rPr lang="en-US" sz="3600" b="1" dirty="0">
                <a:latin typeface="Arial" panose="020B0604020202020204" pitchFamily="34" charset="0"/>
                <a:cs typeface="Arial" panose="020B0604020202020204" pitchFamily="34" charset="0"/>
              </a:rPr>
              <a:t>For Loop</a:t>
            </a:r>
            <a:endParaRPr lang="en-ZA" sz="3600" b="1" dirty="0">
              <a:latin typeface="Arial" panose="020B0604020202020204" pitchFamily="34" charset="0"/>
              <a:cs typeface="Arial" panose="020B0604020202020204" pitchFamily="34" charset="0"/>
            </a:endParaRPr>
          </a:p>
        </p:txBody>
      </p:sp>
      <p:sp>
        <p:nvSpPr>
          <p:cNvPr id="2" name="Content Placeholder 2">
            <a:extLst>
              <a:ext uri="{FF2B5EF4-FFF2-40B4-BE49-F238E27FC236}">
                <a16:creationId xmlns:a16="http://schemas.microsoft.com/office/drawing/2014/main" id="{A511FA90-7505-2859-3E0C-7F621B83E1D7}"/>
              </a:ext>
            </a:extLst>
          </p:cNvPr>
          <p:cNvSpPr txBox="1">
            <a:spLocks/>
          </p:cNvSpPr>
          <p:nvPr/>
        </p:nvSpPr>
        <p:spPr>
          <a:xfrm>
            <a:off x="471488" y="2637014"/>
            <a:ext cx="5915025" cy="6285266"/>
          </a:xfrm>
          <a:prstGeom prst="rect">
            <a:avLst/>
          </a:prstGeom>
        </p:spPr>
        <p:txBody>
          <a:bodyPr vert="horz" lIns="91440" tIns="45720" rIns="91440" bIns="45720" rtlCol="0">
            <a:normAutofit fontScale="85000" lnSpcReduction="20000"/>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US" sz="2600" b="1" dirty="0"/>
              <a:t>Exercises:</a:t>
            </a:r>
          </a:p>
          <a:p>
            <a:pPr algn="l"/>
            <a:r>
              <a:rPr lang="en-US" sz="2400" b="0" i="0" u="none" strike="noStrike" baseline="0" dirty="0">
                <a:solidFill>
                  <a:srgbClr val="000000"/>
                </a:solidFill>
                <a:latin typeface="GiovanniStd-Book"/>
              </a:rPr>
              <a:t>What is the output of the following (when embedded in a complete </a:t>
            </a:r>
            <a:r>
              <a:rPr lang="en-ZA" sz="2400" b="0" i="0" u="none" strike="noStrike" baseline="0" dirty="0">
                <a:solidFill>
                  <a:srgbClr val="000000"/>
                </a:solidFill>
                <a:latin typeface="GiovanniStd-Book"/>
              </a:rPr>
              <a:t>program)?</a:t>
            </a:r>
          </a:p>
          <a:p>
            <a:pPr algn="l"/>
            <a:endParaRPr lang="en-ZA" sz="2400" b="0" i="0" u="none" strike="noStrike" baseline="0" dirty="0">
              <a:solidFill>
                <a:srgbClr val="000000"/>
              </a:solidFill>
              <a:latin typeface="GiovanniStd-Book"/>
            </a:endParaRPr>
          </a:p>
          <a:p>
            <a:pPr algn="l"/>
            <a:r>
              <a:rPr lang="pt-BR" sz="2000" b="0" i="1" u="none" strike="noStrike" baseline="0" dirty="0">
                <a:solidFill>
                  <a:srgbClr val="0070C0"/>
                </a:solidFill>
                <a:latin typeface="ArialMonoMTPro-Oblique"/>
              </a:rPr>
              <a:t>for</a:t>
            </a:r>
            <a:r>
              <a:rPr lang="pt-BR" sz="2000" b="0" i="1" u="none" strike="noStrike" baseline="0" dirty="0">
                <a:solidFill>
                  <a:srgbClr val="00AEF0"/>
                </a:solidFill>
                <a:latin typeface="ArialMonoMTPro-Oblique"/>
              </a:rPr>
              <a:t> </a:t>
            </a:r>
            <a:r>
              <a:rPr lang="pt-BR" sz="2000" b="0" i="0" u="none" strike="noStrike" baseline="0" dirty="0">
                <a:solidFill>
                  <a:srgbClr val="000000"/>
                </a:solidFill>
                <a:latin typeface="ArialMonoMTPro"/>
              </a:rPr>
              <a:t>(</a:t>
            </a:r>
            <a:r>
              <a:rPr lang="pt-BR" sz="2000" b="0" i="1" u="none" strike="noStrike" baseline="0" dirty="0">
                <a:solidFill>
                  <a:srgbClr val="0070C0"/>
                </a:solidFill>
                <a:latin typeface="ArialMonoMTPro-Oblique"/>
              </a:rPr>
              <a:t>int</a:t>
            </a:r>
            <a:r>
              <a:rPr lang="pt-BR" sz="2000" b="0" i="1" u="none" strike="noStrike" baseline="0" dirty="0">
                <a:solidFill>
                  <a:srgbClr val="00AEF0"/>
                </a:solidFill>
                <a:latin typeface="ArialMonoMTPro-Oblique"/>
              </a:rPr>
              <a:t> </a:t>
            </a:r>
            <a:r>
              <a:rPr lang="pt-BR" sz="2000" b="0" i="0" u="none" strike="noStrike" baseline="0" dirty="0">
                <a:solidFill>
                  <a:srgbClr val="000000"/>
                </a:solidFill>
                <a:latin typeface="ArialMonoMTPro"/>
              </a:rPr>
              <a:t>n = 10; n &gt; 0; n = n - 2)</a:t>
            </a:r>
          </a:p>
          <a:p>
            <a:pPr algn="l"/>
            <a:r>
              <a:rPr lang="en-ZA" sz="2000" b="0" i="0" u="none" strike="noStrike" baseline="0" dirty="0">
                <a:solidFill>
                  <a:srgbClr val="000000"/>
                </a:solidFill>
                <a:latin typeface="ArialMonoMTPro"/>
              </a:rPr>
              <a:t>{</a:t>
            </a:r>
          </a:p>
          <a:p>
            <a:pPr lvl="1" algn="l"/>
            <a:r>
              <a:rPr lang="en-ZA" sz="2000" b="0" i="0" u="none" strike="noStrike" baseline="0" dirty="0" err="1">
                <a:solidFill>
                  <a:srgbClr val="000000"/>
                </a:solidFill>
                <a:latin typeface="ArialMonoMTPro"/>
              </a:rPr>
              <a:t>cout</a:t>
            </a:r>
            <a:r>
              <a:rPr lang="en-ZA" sz="2000" b="0" i="0" u="none" strike="noStrike" baseline="0" dirty="0">
                <a:solidFill>
                  <a:srgbClr val="000000"/>
                </a:solidFill>
                <a:latin typeface="ArialMonoMTPro"/>
              </a:rPr>
              <a:t> &lt;&lt; "Hello ";</a:t>
            </a:r>
          </a:p>
          <a:p>
            <a:pPr lvl="1" algn="l"/>
            <a:r>
              <a:rPr lang="en-ZA" sz="2000" b="0" i="0" u="none" strike="noStrike" baseline="0" dirty="0" err="1">
                <a:solidFill>
                  <a:srgbClr val="000000"/>
                </a:solidFill>
                <a:latin typeface="ArialMonoMTPro"/>
              </a:rPr>
              <a:t>cout</a:t>
            </a:r>
            <a:r>
              <a:rPr lang="en-ZA" sz="2000" b="0" i="0" u="none" strike="noStrike" baseline="0" dirty="0">
                <a:solidFill>
                  <a:srgbClr val="000000"/>
                </a:solidFill>
                <a:latin typeface="ArialMonoMTPro"/>
              </a:rPr>
              <a:t> &lt;&lt; n &lt;&lt; </a:t>
            </a:r>
            <a:r>
              <a:rPr lang="en-ZA" sz="2000" b="0" i="0" u="none" strike="noStrike" baseline="0" dirty="0" err="1">
                <a:solidFill>
                  <a:srgbClr val="000000"/>
                </a:solidFill>
                <a:latin typeface="ArialMonoMTPro"/>
              </a:rPr>
              <a:t>endl</a:t>
            </a:r>
            <a:r>
              <a:rPr lang="en-ZA" sz="2000" b="0" i="0" u="none" strike="noStrike" baseline="0" dirty="0">
                <a:solidFill>
                  <a:srgbClr val="000000"/>
                </a:solidFill>
                <a:latin typeface="ArialMonoMTPro"/>
              </a:rPr>
              <a:t>;</a:t>
            </a:r>
          </a:p>
          <a:p>
            <a:pPr algn="l"/>
            <a:r>
              <a:rPr lang="en-ZA" sz="2000" b="0" i="0" u="none" strike="noStrike" baseline="0" dirty="0">
                <a:solidFill>
                  <a:srgbClr val="000000"/>
                </a:solidFill>
                <a:latin typeface="ArialMonoMTPro"/>
              </a:rPr>
              <a:t>}</a:t>
            </a:r>
          </a:p>
          <a:p>
            <a:pPr algn="l"/>
            <a:endParaRPr lang="en-US" sz="2000" b="1" dirty="0"/>
          </a:p>
          <a:p>
            <a:pPr algn="l"/>
            <a:r>
              <a:rPr lang="en-US" sz="2400" b="0" i="0" u="none" strike="noStrike" baseline="0" dirty="0">
                <a:solidFill>
                  <a:srgbClr val="000000"/>
                </a:solidFill>
                <a:latin typeface="GiovanniStd-Book"/>
              </a:rPr>
              <a:t>Rewrite the following loops as </a:t>
            </a:r>
            <a:r>
              <a:rPr lang="en-US" sz="2400" b="0" i="1" u="none" strike="noStrike" baseline="0" dirty="0">
                <a:solidFill>
                  <a:srgbClr val="000000"/>
                </a:solidFill>
                <a:latin typeface="ArialMonoMTPro-Oblique"/>
              </a:rPr>
              <a:t>for </a:t>
            </a:r>
            <a:r>
              <a:rPr lang="en-US" sz="2400" b="0" i="0" u="none" strike="noStrike" baseline="0" dirty="0">
                <a:solidFill>
                  <a:srgbClr val="000000"/>
                </a:solidFill>
                <a:latin typeface="GiovanniStd-Book"/>
              </a:rPr>
              <a:t>loops.</a:t>
            </a:r>
          </a:p>
          <a:p>
            <a:pPr algn="l"/>
            <a:r>
              <a:rPr lang="en-ZA" sz="2400" b="0" i="0" u="none" strike="noStrike" baseline="0" dirty="0">
                <a:solidFill>
                  <a:srgbClr val="000000"/>
                </a:solidFill>
                <a:latin typeface="GiovanniStd-Book"/>
              </a:rPr>
              <a:t>a. 	</a:t>
            </a:r>
            <a:r>
              <a:rPr lang="en-ZA" sz="2400" b="0" i="1" u="none" strike="noStrike" baseline="0" dirty="0">
                <a:solidFill>
                  <a:srgbClr val="0070C0"/>
                </a:solidFill>
                <a:latin typeface="ArialMonoMTPro-Oblique"/>
              </a:rPr>
              <a:t>int</a:t>
            </a:r>
            <a:r>
              <a:rPr lang="en-ZA" sz="2400" b="0" i="1" u="none" strike="noStrike" baseline="0" dirty="0">
                <a:solidFill>
                  <a:srgbClr val="00AEF0"/>
                </a:solidFill>
                <a:latin typeface="ArialMonoMTPro-Oblique"/>
              </a:rPr>
              <a:t> </a:t>
            </a:r>
            <a:r>
              <a:rPr lang="en-ZA" sz="2400" b="0" i="0" u="none" strike="noStrike" baseline="0" dirty="0" err="1">
                <a:solidFill>
                  <a:srgbClr val="000000"/>
                </a:solidFill>
                <a:latin typeface="ArialMonoMTPro"/>
              </a:rPr>
              <a:t>i</a:t>
            </a:r>
            <a:r>
              <a:rPr lang="en-ZA" sz="2400" b="0" i="0" u="none" strike="noStrike" baseline="0" dirty="0">
                <a:solidFill>
                  <a:srgbClr val="000000"/>
                </a:solidFill>
                <a:latin typeface="ArialMonoMTPro"/>
              </a:rPr>
              <a:t> = 1;</a:t>
            </a:r>
          </a:p>
          <a:p>
            <a:pPr algn="l"/>
            <a:r>
              <a:rPr lang="en-ZA" sz="2400" b="0" i="1" u="none" strike="noStrike" baseline="0" dirty="0">
                <a:solidFill>
                  <a:srgbClr val="00AEF0"/>
                </a:solidFill>
                <a:latin typeface="ArialMonoMTPro-Oblique"/>
              </a:rPr>
              <a:t>	</a:t>
            </a:r>
            <a:r>
              <a:rPr lang="en-ZA" sz="2400" b="0" i="1" u="none" strike="noStrike" baseline="0" dirty="0">
                <a:solidFill>
                  <a:srgbClr val="0070C0"/>
                </a:solidFill>
                <a:latin typeface="ArialMonoMTPro-Oblique"/>
              </a:rPr>
              <a:t>while</a:t>
            </a:r>
            <a:r>
              <a:rPr lang="en-ZA" sz="2400" b="0" i="1" u="none" strike="noStrike" baseline="0" dirty="0">
                <a:solidFill>
                  <a:srgbClr val="00AEF0"/>
                </a:solidFill>
                <a:latin typeface="ArialMonoMTPro-Oblique"/>
              </a:rPr>
              <a:t> </a:t>
            </a:r>
            <a:r>
              <a:rPr lang="en-ZA" sz="2400" b="0" i="0" u="none" strike="noStrike" baseline="0" dirty="0">
                <a:solidFill>
                  <a:srgbClr val="000000"/>
                </a:solidFill>
                <a:latin typeface="ArialMonoMTPro"/>
              </a:rPr>
              <a:t>(</a:t>
            </a:r>
            <a:r>
              <a:rPr lang="en-ZA" sz="2400" b="0" i="0" u="none" strike="noStrike" baseline="0" dirty="0" err="1">
                <a:solidFill>
                  <a:srgbClr val="000000"/>
                </a:solidFill>
                <a:latin typeface="ArialMonoMTPro"/>
              </a:rPr>
              <a:t>i</a:t>
            </a:r>
            <a:r>
              <a:rPr lang="en-ZA" sz="2400" b="0" i="0" u="none" strike="noStrike" baseline="0" dirty="0">
                <a:solidFill>
                  <a:srgbClr val="000000"/>
                </a:solidFill>
                <a:latin typeface="ArialMonoMTPro"/>
              </a:rPr>
              <a:t> &lt;= 10)</a:t>
            </a:r>
          </a:p>
          <a:p>
            <a:pPr algn="l"/>
            <a:r>
              <a:rPr lang="en-ZA" sz="2400" b="0" i="0" u="none" strike="noStrike" baseline="0" dirty="0">
                <a:solidFill>
                  <a:srgbClr val="000000"/>
                </a:solidFill>
                <a:latin typeface="ArialMonoMTPro"/>
              </a:rPr>
              <a:t>	{</a:t>
            </a:r>
          </a:p>
          <a:p>
            <a:pPr algn="l"/>
            <a:r>
              <a:rPr lang="en-US" sz="2400" b="0" i="1" u="none" strike="noStrike" baseline="0" dirty="0">
                <a:solidFill>
                  <a:srgbClr val="00AEF0"/>
                </a:solidFill>
                <a:latin typeface="ArialMonoMTPro-Oblique"/>
              </a:rPr>
              <a:t>		</a:t>
            </a:r>
            <a:r>
              <a:rPr lang="en-US" sz="2400" b="0" i="1" u="none" strike="noStrike" baseline="0" dirty="0">
                <a:solidFill>
                  <a:srgbClr val="0070C0"/>
                </a:solidFill>
                <a:latin typeface="ArialMonoMTPro-Oblique"/>
              </a:rPr>
              <a:t>if</a:t>
            </a:r>
            <a:r>
              <a:rPr lang="en-US" sz="2400" b="0" i="1" u="none" strike="noStrike" baseline="0" dirty="0">
                <a:solidFill>
                  <a:srgbClr val="00AEF0"/>
                </a:solidFill>
                <a:latin typeface="ArialMonoMTPro-Oblique"/>
              </a:rPr>
              <a:t> </a:t>
            </a:r>
            <a:r>
              <a:rPr lang="en-US" sz="2400" b="0" i="0" u="none" strike="noStrike" baseline="0" dirty="0">
                <a:solidFill>
                  <a:srgbClr val="000000"/>
                </a:solidFill>
                <a:latin typeface="ArialMonoMTPro"/>
              </a:rPr>
              <a:t>(</a:t>
            </a:r>
            <a:r>
              <a:rPr lang="en-US" sz="2400" b="0" i="0" u="none" strike="noStrike" baseline="0" dirty="0" err="1">
                <a:solidFill>
                  <a:srgbClr val="000000"/>
                </a:solidFill>
                <a:latin typeface="ArialMonoMTPro"/>
              </a:rPr>
              <a:t>i</a:t>
            </a:r>
            <a:r>
              <a:rPr lang="en-US" sz="2400" b="0" i="0" u="none" strike="noStrike" baseline="0" dirty="0">
                <a:solidFill>
                  <a:srgbClr val="000000"/>
                </a:solidFill>
                <a:latin typeface="ArialMonoMTPro"/>
              </a:rPr>
              <a:t> &lt; 5 &amp;&amp; </a:t>
            </a:r>
            <a:r>
              <a:rPr lang="en-US" sz="2400" b="0" i="0" u="none" strike="noStrike" baseline="0" dirty="0" err="1">
                <a:solidFill>
                  <a:srgbClr val="000000"/>
                </a:solidFill>
                <a:latin typeface="ArialMonoMTPro"/>
              </a:rPr>
              <a:t>i</a:t>
            </a:r>
            <a:r>
              <a:rPr lang="en-US" sz="2400" b="0" i="0" u="none" strike="noStrike" baseline="0" dirty="0">
                <a:solidFill>
                  <a:srgbClr val="000000"/>
                </a:solidFill>
                <a:latin typeface="ArialMonoMTPro"/>
              </a:rPr>
              <a:t> != 2)</a:t>
            </a:r>
          </a:p>
          <a:p>
            <a:pPr algn="l"/>
            <a:r>
              <a:rPr lang="en-ZA" sz="2400" b="0" i="0" u="none" strike="noStrike" baseline="0" dirty="0">
                <a:solidFill>
                  <a:srgbClr val="000000"/>
                </a:solidFill>
                <a:latin typeface="ArialMonoMTPro"/>
              </a:rPr>
              <a:t>			</a:t>
            </a:r>
            <a:r>
              <a:rPr lang="en-ZA" sz="2400" b="0" i="0" u="none" strike="noStrike" baseline="0" dirty="0" err="1">
                <a:solidFill>
                  <a:srgbClr val="000000"/>
                </a:solidFill>
                <a:latin typeface="ArialMonoMTPro"/>
              </a:rPr>
              <a:t>cout</a:t>
            </a:r>
            <a:r>
              <a:rPr lang="en-ZA" sz="2400" b="0" i="0" u="none" strike="noStrike" baseline="0" dirty="0">
                <a:solidFill>
                  <a:srgbClr val="000000"/>
                </a:solidFill>
                <a:latin typeface="ArialMonoMTPro"/>
              </a:rPr>
              <a:t> &lt;&lt; 'X’;</a:t>
            </a:r>
          </a:p>
          <a:p>
            <a:pPr algn="l"/>
            <a:r>
              <a:rPr lang="en-ZA" sz="2400" b="0" i="0" u="none" strike="noStrike" baseline="0" dirty="0">
                <a:solidFill>
                  <a:srgbClr val="000000"/>
                </a:solidFill>
                <a:latin typeface="ArialMonoMTPro"/>
              </a:rPr>
              <a:t>			</a:t>
            </a:r>
            <a:r>
              <a:rPr lang="en-ZA" sz="2400" b="0" i="0" u="none" strike="noStrike" baseline="0" dirty="0" err="1">
                <a:solidFill>
                  <a:srgbClr val="000000"/>
                </a:solidFill>
                <a:latin typeface="ArialMonoMTPro"/>
              </a:rPr>
              <a:t>i</a:t>
            </a:r>
            <a:r>
              <a:rPr lang="en-ZA" sz="2400" b="0" i="0" u="none" strike="noStrike" baseline="0" dirty="0">
                <a:solidFill>
                  <a:srgbClr val="000000"/>
                </a:solidFill>
                <a:latin typeface="ArialMonoMTPro"/>
              </a:rPr>
              <a:t>++;</a:t>
            </a:r>
          </a:p>
          <a:p>
            <a:pPr algn="l"/>
            <a:r>
              <a:rPr lang="en-ZA" sz="2400" b="0" i="0" u="none" strike="noStrike" baseline="0" dirty="0">
                <a:solidFill>
                  <a:srgbClr val="000000"/>
                </a:solidFill>
                <a:latin typeface="ArialMonoMTPro"/>
              </a:rPr>
              <a:t>	}</a:t>
            </a:r>
          </a:p>
          <a:p>
            <a:pPr algn="l"/>
            <a:endParaRPr lang="en-ZA" sz="2400" b="0" i="0" u="none" strike="noStrike" baseline="0" dirty="0">
              <a:solidFill>
                <a:srgbClr val="000000"/>
              </a:solidFill>
              <a:latin typeface="ArialMonoMTPro"/>
            </a:endParaRPr>
          </a:p>
          <a:p>
            <a:pPr algn="l"/>
            <a:r>
              <a:rPr lang="en-ZA" sz="2400" b="0" i="0" u="none" strike="noStrike" baseline="0" dirty="0">
                <a:solidFill>
                  <a:srgbClr val="000000"/>
                </a:solidFill>
                <a:latin typeface="GiovanniStd-Book"/>
              </a:rPr>
              <a:t>b. 	</a:t>
            </a:r>
            <a:r>
              <a:rPr lang="en-ZA" sz="2400" b="0" i="1" u="none" strike="noStrike" baseline="0" dirty="0">
                <a:solidFill>
                  <a:srgbClr val="0070C0"/>
                </a:solidFill>
                <a:latin typeface="ArialMonoMTPro-Oblique"/>
              </a:rPr>
              <a:t>int</a:t>
            </a:r>
            <a:r>
              <a:rPr lang="en-ZA" sz="2400" b="0" i="1" u="none" strike="noStrike" baseline="0" dirty="0">
                <a:solidFill>
                  <a:srgbClr val="00AEF0"/>
                </a:solidFill>
                <a:latin typeface="ArialMonoMTPro-Oblique"/>
              </a:rPr>
              <a:t> </a:t>
            </a:r>
            <a:r>
              <a:rPr lang="en-ZA" sz="2400" b="0" i="0" u="none" strike="noStrike" baseline="0" dirty="0" err="1">
                <a:solidFill>
                  <a:srgbClr val="000000"/>
                </a:solidFill>
                <a:latin typeface="ArialMonoMTPro"/>
              </a:rPr>
              <a:t>i</a:t>
            </a:r>
            <a:r>
              <a:rPr lang="en-ZA" sz="2400" b="0" i="0" u="none" strike="noStrike" baseline="0" dirty="0">
                <a:solidFill>
                  <a:srgbClr val="000000"/>
                </a:solidFill>
                <a:latin typeface="ArialMonoMTPro"/>
              </a:rPr>
              <a:t> = 1;</a:t>
            </a:r>
          </a:p>
          <a:p>
            <a:pPr algn="l"/>
            <a:r>
              <a:rPr lang="en-ZA" sz="2400" b="0" i="1" u="none" strike="noStrike" baseline="0" dirty="0">
                <a:solidFill>
                  <a:srgbClr val="00AEF0"/>
                </a:solidFill>
                <a:latin typeface="ArialMonoMTPro-Oblique"/>
              </a:rPr>
              <a:t>	</a:t>
            </a:r>
            <a:r>
              <a:rPr lang="en-ZA" sz="2400" b="0" i="1" u="none" strike="noStrike" baseline="0" dirty="0">
                <a:solidFill>
                  <a:srgbClr val="0070C0"/>
                </a:solidFill>
                <a:latin typeface="ArialMonoMTPro-Oblique"/>
              </a:rPr>
              <a:t>while</a:t>
            </a:r>
            <a:r>
              <a:rPr lang="en-ZA" sz="2400" b="0" i="1" u="none" strike="noStrike" baseline="0" dirty="0">
                <a:solidFill>
                  <a:srgbClr val="00AEF0"/>
                </a:solidFill>
                <a:latin typeface="ArialMonoMTPro-Oblique"/>
              </a:rPr>
              <a:t> </a:t>
            </a:r>
            <a:r>
              <a:rPr lang="en-ZA" sz="2400" b="0" i="0" u="none" strike="noStrike" baseline="0" dirty="0">
                <a:solidFill>
                  <a:srgbClr val="000000"/>
                </a:solidFill>
                <a:latin typeface="ArialMonoMTPro"/>
              </a:rPr>
              <a:t>(</a:t>
            </a:r>
            <a:r>
              <a:rPr lang="en-ZA" sz="2400" b="0" i="0" u="none" strike="noStrike" baseline="0" dirty="0" err="1">
                <a:solidFill>
                  <a:srgbClr val="000000"/>
                </a:solidFill>
                <a:latin typeface="ArialMonoMTPro"/>
              </a:rPr>
              <a:t>i</a:t>
            </a:r>
            <a:r>
              <a:rPr lang="en-ZA" sz="2400" b="0" i="0" u="none" strike="noStrike" baseline="0" dirty="0">
                <a:solidFill>
                  <a:srgbClr val="000000"/>
                </a:solidFill>
                <a:latin typeface="ArialMonoMTPro"/>
              </a:rPr>
              <a:t> &lt;= 10)</a:t>
            </a:r>
            <a:endParaRPr lang="en-US" sz="2400" b="1" dirty="0"/>
          </a:p>
          <a:p>
            <a:pPr algn="l"/>
            <a:endParaRPr lang="en-US" sz="2600" b="1" dirty="0"/>
          </a:p>
        </p:txBody>
      </p:sp>
    </p:spTree>
    <p:extLst>
      <p:ext uri="{BB962C8B-B14F-4D97-AF65-F5344CB8AC3E}">
        <p14:creationId xmlns:p14="http://schemas.microsoft.com/office/powerpoint/2010/main" val="125129437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DDEAEF-B40F-8CCE-076E-9F4686E6A3D9}"/>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5E293777-E46F-D355-97DF-F3D4EFAC5F7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95D654EE-D7BE-D528-B840-691FF1544D82}"/>
              </a:ext>
            </a:extLst>
          </p:cNvPr>
          <p:cNvSpPr txBox="1"/>
          <p:nvPr/>
        </p:nvSpPr>
        <p:spPr>
          <a:xfrm>
            <a:off x="0" y="65927"/>
            <a:ext cx="6858000" cy="646331"/>
          </a:xfrm>
          <a:prstGeom prst="rect">
            <a:avLst/>
          </a:prstGeom>
          <a:noFill/>
        </p:spPr>
        <p:txBody>
          <a:bodyPr wrap="square" rtlCol="0">
            <a:spAutoFit/>
          </a:bodyPr>
          <a:lstStyle/>
          <a:p>
            <a:pPr algn="ctr"/>
            <a:r>
              <a:rPr lang="en-US" sz="3600" b="1" dirty="0">
                <a:latin typeface="Arial" panose="020B0604020202020204" pitchFamily="34" charset="0"/>
                <a:cs typeface="Arial" panose="020B0604020202020204" pitchFamily="34" charset="0"/>
              </a:rPr>
              <a:t>For Each Loop</a:t>
            </a:r>
            <a:endParaRPr lang="en-ZA" sz="3600" b="1" dirty="0">
              <a:latin typeface="Arial" panose="020B0604020202020204" pitchFamily="34" charset="0"/>
              <a:cs typeface="Arial" panose="020B0604020202020204" pitchFamily="34" charset="0"/>
            </a:endParaRPr>
          </a:p>
        </p:txBody>
      </p:sp>
      <p:sp>
        <p:nvSpPr>
          <p:cNvPr id="2" name="Content Placeholder 2">
            <a:extLst>
              <a:ext uri="{FF2B5EF4-FFF2-40B4-BE49-F238E27FC236}">
                <a16:creationId xmlns:a16="http://schemas.microsoft.com/office/drawing/2014/main" id="{76E00FA3-59EB-1FB8-6698-1206336C0B83}"/>
              </a:ext>
            </a:extLst>
          </p:cNvPr>
          <p:cNvSpPr txBox="1">
            <a:spLocks/>
          </p:cNvSpPr>
          <p:nvPr/>
        </p:nvSpPr>
        <p:spPr>
          <a:xfrm>
            <a:off x="471488" y="2637014"/>
            <a:ext cx="5915025" cy="6285266"/>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US" sz="2600" b="1" dirty="0"/>
              <a:t>For each item in list of items do something. For each loop is used most in arrays, lists, array lists, etc.</a:t>
            </a:r>
          </a:p>
          <a:p>
            <a:pPr algn="l"/>
            <a:endParaRPr lang="en-US" sz="2600" b="1" dirty="0">
              <a:solidFill>
                <a:srgbClr val="0070C0"/>
              </a:solidFill>
            </a:endParaRPr>
          </a:p>
          <a:p>
            <a:pPr algn="l"/>
            <a:r>
              <a:rPr lang="en-US" sz="2600" b="1" dirty="0">
                <a:solidFill>
                  <a:srgbClr val="0070C0"/>
                </a:solidFill>
              </a:rPr>
              <a:t>for</a:t>
            </a:r>
            <a:r>
              <a:rPr lang="en-US" sz="2600" b="1" dirty="0"/>
              <a:t>(item: items)</a:t>
            </a:r>
          </a:p>
          <a:p>
            <a:pPr algn="l"/>
            <a:r>
              <a:rPr lang="en-US" sz="2600" b="1" dirty="0"/>
              <a:t>    </a:t>
            </a:r>
            <a:r>
              <a:rPr lang="en-US" sz="2600" b="1" dirty="0">
                <a:solidFill>
                  <a:srgbClr val="00B050"/>
                </a:solidFill>
              </a:rPr>
              <a:t> // do somethings</a:t>
            </a:r>
          </a:p>
          <a:p>
            <a:pPr algn="l"/>
            <a:endParaRPr lang="en-US" sz="2600" b="1" dirty="0"/>
          </a:p>
        </p:txBody>
      </p:sp>
    </p:spTree>
    <p:extLst>
      <p:ext uri="{BB962C8B-B14F-4D97-AF65-F5344CB8AC3E}">
        <p14:creationId xmlns:p14="http://schemas.microsoft.com/office/powerpoint/2010/main" val="226802787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92DBC8-F9BD-6335-B2DD-C1FBFE972660}"/>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17E2B57B-02DE-1651-A6CA-5F9298F0760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6AA449D3-9E6D-EEB1-0FC0-510049F2953A}"/>
              </a:ext>
            </a:extLst>
          </p:cNvPr>
          <p:cNvSpPr txBox="1"/>
          <p:nvPr/>
        </p:nvSpPr>
        <p:spPr>
          <a:xfrm>
            <a:off x="0" y="65927"/>
            <a:ext cx="6858000" cy="646331"/>
          </a:xfrm>
          <a:prstGeom prst="rect">
            <a:avLst/>
          </a:prstGeom>
          <a:noFill/>
        </p:spPr>
        <p:txBody>
          <a:bodyPr wrap="square" rtlCol="0">
            <a:spAutoFit/>
          </a:bodyPr>
          <a:lstStyle/>
          <a:p>
            <a:pPr algn="ctr"/>
            <a:r>
              <a:rPr lang="en-ZA" sz="3600" b="1" dirty="0"/>
              <a:t>break </a:t>
            </a:r>
            <a:r>
              <a:rPr lang="en-ZA" sz="3600" dirty="0"/>
              <a:t>and </a:t>
            </a:r>
            <a:r>
              <a:rPr lang="en-ZA" sz="3600" b="1" dirty="0"/>
              <a:t>continue </a:t>
            </a:r>
            <a:r>
              <a:rPr lang="en-ZA" sz="3600" dirty="0"/>
              <a:t>Statements</a:t>
            </a:r>
            <a:r>
              <a:rPr lang="en-US" sz="3600" b="1" dirty="0"/>
              <a:t>:</a:t>
            </a:r>
            <a:endParaRPr lang="en-ZA" sz="3600" b="1" dirty="0">
              <a:latin typeface="Arial" panose="020B0604020202020204" pitchFamily="34" charset="0"/>
              <a:cs typeface="Arial" panose="020B0604020202020204" pitchFamily="34" charset="0"/>
            </a:endParaRPr>
          </a:p>
        </p:txBody>
      </p:sp>
      <p:sp>
        <p:nvSpPr>
          <p:cNvPr id="2" name="Content Placeholder 2">
            <a:extLst>
              <a:ext uri="{FF2B5EF4-FFF2-40B4-BE49-F238E27FC236}">
                <a16:creationId xmlns:a16="http://schemas.microsoft.com/office/drawing/2014/main" id="{C5F6AD26-341F-0C1D-9B7F-51E5216DCBC4}"/>
              </a:ext>
            </a:extLst>
          </p:cNvPr>
          <p:cNvSpPr txBox="1">
            <a:spLocks/>
          </p:cNvSpPr>
          <p:nvPr/>
        </p:nvSpPr>
        <p:spPr>
          <a:xfrm>
            <a:off x="471488" y="2637014"/>
            <a:ext cx="5915025" cy="6285266"/>
          </a:xfrm>
          <a:prstGeom prst="rect">
            <a:avLst/>
          </a:prstGeom>
        </p:spPr>
        <p:txBody>
          <a:bodyPr vert="horz" lIns="91440" tIns="45720" rIns="91440" bIns="45720" rtlCol="0">
            <a:normAutofit lnSpcReduction="10000"/>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ZA" sz="2400" b="1" dirty="0"/>
              <a:t>break </a:t>
            </a:r>
            <a:r>
              <a:rPr lang="en-ZA" sz="2400" dirty="0"/>
              <a:t>Statement</a:t>
            </a:r>
            <a:r>
              <a:rPr lang="en-US" sz="2400" b="1" dirty="0"/>
              <a:t>:</a:t>
            </a:r>
          </a:p>
          <a:p>
            <a:pPr algn="l"/>
            <a:r>
              <a:rPr lang="en-US" sz="2000" dirty="0"/>
              <a:t>The </a:t>
            </a:r>
            <a:r>
              <a:rPr lang="en-US" sz="2000" b="1" dirty="0">
                <a:solidFill>
                  <a:srgbClr val="0070C0"/>
                </a:solidFill>
              </a:rPr>
              <a:t>break</a:t>
            </a:r>
            <a:r>
              <a:rPr lang="en-US" sz="2000" b="1" dirty="0"/>
              <a:t> </a:t>
            </a:r>
            <a:r>
              <a:rPr lang="en-US" sz="2000" dirty="0"/>
              <a:t>statement, when executed in a </a:t>
            </a:r>
            <a:r>
              <a:rPr lang="en-US" sz="2000" b="1" dirty="0">
                <a:solidFill>
                  <a:srgbClr val="0070C0"/>
                </a:solidFill>
              </a:rPr>
              <a:t>switch</a:t>
            </a:r>
            <a:r>
              <a:rPr lang="en-US" sz="2000" b="1" dirty="0"/>
              <a:t> </a:t>
            </a:r>
            <a:r>
              <a:rPr lang="en-US" sz="2000" dirty="0"/>
              <a:t>structure, provides an immediate exit from the </a:t>
            </a:r>
            <a:r>
              <a:rPr lang="en-US" sz="2000" b="1" dirty="0">
                <a:solidFill>
                  <a:srgbClr val="0070C0"/>
                </a:solidFill>
              </a:rPr>
              <a:t>switch</a:t>
            </a:r>
            <a:r>
              <a:rPr lang="en-US" sz="2000" b="1" dirty="0"/>
              <a:t> </a:t>
            </a:r>
            <a:r>
              <a:rPr lang="en-US" sz="2000" dirty="0"/>
              <a:t>structure. Similarly, you can use the </a:t>
            </a:r>
            <a:r>
              <a:rPr lang="en-US" sz="2000" b="1" dirty="0">
                <a:solidFill>
                  <a:srgbClr val="0070C0"/>
                </a:solidFill>
              </a:rPr>
              <a:t>break</a:t>
            </a:r>
            <a:r>
              <a:rPr lang="en-US" sz="2000" b="1" dirty="0"/>
              <a:t> </a:t>
            </a:r>
            <a:r>
              <a:rPr lang="en-US" sz="2000" dirty="0"/>
              <a:t>statement in </a:t>
            </a:r>
            <a:r>
              <a:rPr lang="en-US" sz="2000" b="1" dirty="0">
                <a:solidFill>
                  <a:srgbClr val="0070C0"/>
                </a:solidFill>
              </a:rPr>
              <a:t>while</a:t>
            </a:r>
            <a:r>
              <a:rPr lang="en-US" sz="2000" dirty="0"/>
              <a:t>, </a:t>
            </a:r>
            <a:r>
              <a:rPr lang="en-US" sz="2000" b="1" dirty="0">
                <a:solidFill>
                  <a:srgbClr val="0070C0"/>
                </a:solidFill>
              </a:rPr>
              <a:t>for</a:t>
            </a:r>
            <a:r>
              <a:rPr lang="en-US" sz="2000" dirty="0"/>
              <a:t>, and </a:t>
            </a:r>
            <a:r>
              <a:rPr lang="en-US" sz="2000" b="1" dirty="0">
                <a:solidFill>
                  <a:srgbClr val="0070C0"/>
                </a:solidFill>
              </a:rPr>
              <a:t>do. . .while </a:t>
            </a:r>
            <a:r>
              <a:rPr lang="en-US" sz="2000" dirty="0"/>
              <a:t>loops to immediately exit from the loop structure. The </a:t>
            </a:r>
            <a:r>
              <a:rPr lang="en-US" sz="2000" b="1" dirty="0">
                <a:solidFill>
                  <a:srgbClr val="0070C0"/>
                </a:solidFill>
              </a:rPr>
              <a:t>break</a:t>
            </a:r>
            <a:r>
              <a:rPr lang="en-US" sz="2000" b="1" dirty="0"/>
              <a:t> </a:t>
            </a:r>
            <a:r>
              <a:rPr lang="en-US" sz="2000" dirty="0"/>
              <a:t>statement is typically used for two purposes:</a:t>
            </a:r>
          </a:p>
          <a:p>
            <a:pPr marL="285750" indent="-285750" algn="l">
              <a:buFont typeface="Arial" panose="020B0604020202020204" pitchFamily="34" charset="0"/>
              <a:buChar char="•"/>
            </a:pPr>
            <a:r>
              <a:rPr lang="en-US" sz="2000" dirty="0"/>
              <a:t>To exit early from a loop.</a:t>
            </a:r>
          </a:p>
          <a:p>
            <a:pPr marL="285750" indent="-285750" algn="l">
              <a:buFont typeface="Arial" panose="020B0604020202020204" pitchFamily="34" charset="0"/>
              <a:buChar char="•"/>
            </a:pPr>
            <a:r>
              <a:rPr lang="en-US" sz="2000" dirty="0"/>
              <a:t>To skip the remainder of the </a:t>
            </a:r>
            <a:r>
              <a:rPr lang="en-US" sz="2000" b="1" dirty="0">
                <a:solidFill>
                  <a:srgbClr val="0070C0"/>
                </a:solidFill>
              </a:rPr>
              <a:t>switch</a:t>
            </a:r>
            <a:r>
              <a:rPr lang="en-US" sz="2000" b="1" dirty="0"/>
              <a:t> </a:t>
            </a:r>
            <a:r>
              <a:rPr lang="en-US" sz="2000" dirty="0"/>
              <a:t>structure.</a:t>
            </a:r>
          </a:p>
          <a:p>
            <a:pPr algn="l"/>
            <a:r>
              <a:rPr lang="en-US" sz="2000" dirty="0"/>
              <a:t>After the </a:t>
            </a:r>
            <a:r>
              <a:rPr lang="en-US" sz="2000" b="1" dirty="0">
                <a:solidFill>
                  <a:srgbClr val="0070C0"/>
                </a:solidFill>
              </a:rPr>
              <a:t>break</a:t>
            </a:r>
            <a:r>
              <a:rPr lang="en-US" sz="2000" b="1" dirty="0"/>
              <a:t> </a:t>
            </a:r>
            <a:r>
              <a:rPr lang="en-US" sz="2000" dirty="0"/>
              <a:t>statement executes, the program continues to execute with the first statement after the structure. The use of a </a:t>
            </a:r>
            <a:r>
              <a:rPr lang="en-US" sz="2000" b="1" dirty="0">
                <a:solidFill>
                  <a:srgbClr val="0070C0"/>
                </a:solidFill>
              </a:rPr>
              <a:t>break</a:t>
            </a:r>
            <a:r>
              <a:rPr lang="en-US" sz="2000" b="1" dirty="0"/>
              <a:t> </a:t>
            </a:r>
            <a:r>
              <a:rPr lang="en-US" sz="2000" dirty="0"/>
              <a:t>statement in a loop can eliminate the use of certain (flag) variables.</a:t>
            </a:r>
          </a:p>
          <a:p>
            <a:pPr algn="l"/>
            <a:endParaRPr lang="en-US" sz="2000" dirty="0"/>
          </a:p>
          <a:p>
            <a:pPr algn="l"/>
            <a:r>
              <a:rPr lang="en-US" sz="2000" dirty="0"/>
              <a:t>You have already used the </a:t>
            </a:r>
            <a:r>
              <a:rPr lang="en-US" sz="2000" i="1" dirty="0"/>
              <a:t>break </a:t>
            </a:r>
            <a:r>
              <a:rPr lang="en-US" sz="2000" dirty="0"/>
              <a:t>statement as a way of ending a </a:t>
            </a:r>
            <a:r>
              <a:rPr lang="en-US" sz="2000" i="1" dirty="0"/>
              <a:t>switch </a:t>
            </a:r>
            <a:r>
              <a:rPr lang="en-US" sz="2000" dirty="0"/>
              <a:t>statement. This same </a:t>
            </a:r>
            <a:r>
              <a:rPr lang="en-US" sz="2000" i="1" dirty="0"/>
              <a:t>break </a:t>
            </a:r>
            <a:r>
              <a:rPr lang="en-US" sz="2000" dirty="0"/>
              <a:t>statement can be used to exit a loop. Sometimes you want to exit a loop before it ends in the normal way. For example, the loop might contain a check for improper input and if some improper input is encountered, then you may want to simply end the loop. </a:t>
            </a:r>
          </a:p>
          <a:p>
            <a:pPr algn="l"/>
            <a:endParaRPr lang="en-US" sz="2000" b="1" dirty="0"/>
          </a:p>
        </p:txBody>
      </p:sp>
    </p:spTree>
    <p:extLst>
      <p:ext uri="{BB962C8B-B14F-4D97-AF65-F5344CB8AC3E}">
        <p14:creationId xmlns:p14="http://schemas.microsoft.com/office/powerpoint/2010/main" val="314494259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C9F55C-89AE-A14C-B624-2390E886C9E1}"/>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86B88CB7-4D28-4747-8D2E-311528F0518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2FCA8A0A-D512-2DF9-7F2D-C897632B1E97}"/>
              </a:ext>
            </a:extLst>
          </p:cNvPr>
          <p:cNvSpPr txBox="1"/>
          <p:nvPr/>
        </p:nvSpPr>
        <p:spPr>
          <a:xfrm>
            <a:off x="0" y="65927"/>
            <a:ext cx="6858000" cy="646331"/>
          </a:xfrm>
          <a:prstGeom prst="rect">
            <a:avLst/>
          </a:prstGeom>
          <a:noFill/>
        </p:spPr>
        <p:txBody>
          <a:bodyPr wrap="square" rtlCol="0">
            <a:spAutoFit/>
          </a:bodyPr>
          <a:lstStyle/>
          <a:p>
            <a:pPr algn="ctr"/>
            <a:r>
              <a:rPr lang="en-ZA" sz="3600" b="1" dirty="0"/>
              <a:t>break </a:t>
            </a:r>
            <a:r>
              <a:rPr lang="en-ZA" sz="3600" dirty="0"/>
              <a:t>and </a:t>
            </a:r>
            <a:r>
              <a:rPr lang="en-ZA" sz="3600" b="1" dirty="0"/>
              <a:t>continue </a:t>
            </a:r>
            <a:r>
              <a:rPr lang="en-ZA" sz="3600" dirty="0"/>
              <a:t>Statements</a:t>
            </a:r>
            <a:r>
              <a:rPr lang="en-US" sz="3600" b="1" dirty="0"/>
              <a:t>:</a:t>
            </a:r>
            <a:endParaRPr lang="en-ZA" sz="3600" b="1" dirty="0">
              <a:latin typeface="Arial" panose="020B0604020202020204" pitchFamily="34" charset="0"/>
              <a:cs typeface="Arial" panose="020B0604020202020204" pitchFamily="34" charset="0"/>
            </a:endParaRPr>
          </a:p>
        </p:txBody>
      </p:sp>
      <p:sp>
        <p:nvSpPr>
          <p:cNvPr id="2" name="Content Placeholder 2">
            <a:extLst>
              <a:ext uri="{FF2B5EF4-FFF2-40B4-BE49-F238E27FC236}">
                <a16:creationId xmlns:a16="http://schemas.microsoft.com/office/drawing/2014/main" id="{1B0A60B2-5480-45C5-F4A9-6D7F428DA55D}"/>
              </a:ext>
            </a:extLst>
          </p:cNvPr>
          <p:cNvSpPr txBox="1">
            <a:spLocks/>
          </p:cNvSpPr>
          <p:nvPr/>
        </p:nvSpPr>
        <p:spPr>
          <a:xfrm>
            <a:off x="471488" y="2637014"/>
            <a:ext cx="5915025" cy="6285266"/>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ZA" sz="2400" b="1" dirty="0"/>
              <a:t>continue </a:t>
            </a:r>
            <a:r>
              <a:rPr lang="en-ZA" sz="2400" dirty="0"/>
              <a:t>Statement</a:t>
            </a:r>
            <a:r>
              <a:rPr lang="en-US" sz="2400" b="1" dirty="0"/>
              <a:t>:</a:t>
            </a:r>
          </a:p>
          <a:p>
            <a:pPr algn="l"/>
            <a:r>
              <a:rPr lang="en-US" sz="2400" dirty="0"/>
              <a:t>Executing a </a:t>
            </a:r>
            <a:r>
              <a:rPr lang="en-US" sz="2400" b="1" dirty="0"/>
              <a:t>break </a:t>
            </a:r>
            <a:r>
              <a:rPr lang="en-US" sz="2400" dirty="0"/>
              <a:t>statement in the body of a loop immediately </a:t>
            </a:r>
            <a:r>
              <a:rPr lang="en-ZA" sz="2400" dirty="0"/>
              <a:t>terminates the loop.</a:t>
            </a:r>
          </a:p>
          <a:p>
            <a:pPr algn="l"/>
            <a:r>
              <a:rPr lang="en-US" sz="2400" dirty="0"/>
              <a:t>Executing a </a:t>
            </a:r>
            <a:r>
              <a:rPr lang="en-US" sz="2400" b="1" dirty="0"/>
              <a:t>continue </a:t>
            </a:r>
            <a:r>
              <a:rPr lang="en-US" sz="2400" dirty="0"/>
              <a:t>statement in the body of a loop skips the loop’s remaining statements and proceeds with the next iteration.</a:t>
            </a:r>
          </a:p>
          <a:p>
            <a:pPr algn="l"/>
            <a:r>
              <a:rPr lang="en-US" sz="2400" dirty="0"/>
              <a:t>When a </a:t>
            </a:r>
            <a:r>
              <a:rPr lang="en-US" sz="2400" b="1" dirty="0"/>
              <a:t>continue </a:t>
            </a:r>
            <a:r>
              <a:rPr lang="en-US" sz="2400" dirty="0"/>
              <a:t>statement executes in a </a:t>
            </a:r>
            <a:r>
              <a:rPr lang="en-US" sz="2400" b="1" dirty="0"/>
              <a:t>while </a:t>
            </a:r>
            <a:r>
              <a:rPr lang="en-US" sz="2400" dirty="0"/>
              <a:t>or </a:t>
            </a:r>
            <a:r>
              <a:rPr lang="en-US" sz="2400" b="1" dirty="0"/>
              <a:t>do</a:t>
            </a:r>
            <a:r>
              <a:rPr lang="en-US" sz="2400" dirty="0"/>
              <a:t>. . .</a:t>
            </a:r>
            <a:r>
              <a:rPr lang="en-US" sz="2400" b="1" dirty="0"/>
              <a:t>while </a:t>
            </a:r>
            <a:r>
              <a:rPr lang="en-US" sz="2400" dirty="0"/>
              <a:t>loop, the expression update statement in the body of the loop may not execute.</a:t>
            </a:r>
          </a:p>
          <a:p>
            <a:pPr algn="l"/>
            <a:r>
              <a:rPr lang="en-US" sz="2400" dirty="0"/>
              <a:t>After a </a:t>
            </a:r>
            <a:r>
              <a:rPr lang="en-US" sz="2400" b="1" dirty="0"/>
              <a:t>continue </a:t>
            </a:r>
            <a:r>
              <a:rPr lang="en-US" sz="2400" dirty="0"/>
              <a:t>statement executes in a </a:t>
            </a:r>
            <a:r>
              <a:rPr lang="en-US" sz="2400" b="1" dirty="0"/>
              <a:t>for </a:t>
            </a:r>
            <a:r>
              <a:rPr lang="en-US" sz="2400" dirty="0"/>
              <a:t>loop, the update statement is the next statement executed.</a:t>
            </a:r>
            <a:endParaRPr lang="en-US" sz="2400" b="1" dirty="0"/>
          </a:p>
        </p:txBody>
      </p:sp>
    </p:spTree>
    <p:extLst>
      <p:ext uri="{BB962C8B-B14F-4D97-AF65-F5344CB8AC3E}">
        <p14:creationId xmlns:p14="http://schemas.microsoft.com/office/powerpoint/2010/main" val="359808778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74818D-FDF7-3213-7CA4-D0BD8D2A0225}"/>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0BA8B424-5E7B-A0C3-A531-2B58303142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C0356CD0-C72F-418B-D7CB-1187F5ED4965}"/>
              </a:ext>
            </a:extLst>
          </p:cNvPr>
          <p:cNvSpPr txBox="1"/>
          <p:nvPr/>
        </p:nvSpPr>
        <p:spPr>
          <a:xfrm>
            <a:off x="0" y="65927"/>
            <a:ext cx="6858000" cy="646331"/>
          </a:xfrm>
          <a:prstGeom prst="rect">
            <a:avLst/>
          </a:prstGeom>
          <a:noFill/>
        </p:spPr>
        <p:txBody>
          <a:bodyPr wrap="square" rtlCol="0">
            <a:spAutoFit/>
          </a:bodyPr>
          <a:lstStyle/>
          <a:p>
            <a:pPr algn="ctr"/>
            <a:r>
              <a:rPr lang="en-ZA" sz="3600" b="1" dirty="0"/>
              <a:t>break </a:t>
            </a:r>
            <a:r>
              <a:rPr lang="en-ZA" sz="3600" dirty="0"/>
              <a:t>and </a:t>
            </a:r>
            <a:r>
              <a:rPr lang="en-ZA" sz="3600" b="1" dirty="0"/>
              <a:t>continue </a:t>
            </a:r>
            <a:r>
              <a:rPr lang="en-ZA" sz="3600" dirty="0"/>
              <a:t>Statements</a:t>
            </a:r>
            <a:r>
              <a:rPr lang="en-US" sz="3600" b="1" dirty="0"/>
              <a:t>:</a:t>
            </a:r>
            <a:endParaRPr lang="en-ZA" sz="3600" b="1" dirty="0">
              <a:latin typeface="Arial" panose="020B0604020202020204" pitchFamily="34" charset="0"/>
              <a:cs typeface="Arial" panose="020B0604020202020204" pitchFamily="34" charset="0"/>
            </a:endParaRPr>
          </a:p>
        </p:txBody>
      </p:sp>
      <p:sp>
        <p:nvSpPr>
          <p:cNvPr id="2" name="Content Placeholder 2">
            <a:extLst>
              <a:ext uri="{FF2B5EF4-FFF2-40B4-BE49-F238E27FC236}">
                <a16:creationId xmlns:a16="http://schemas.microsoft.com/office/drawing/2014/main" id="{2D25EFB4-1852-12F3-940A-EDDBC9F09949}"/>
              </a:ext>
            </a:extLst>
          </p:cNvPr>
          <p:cNvSpPr txBox="1">
            <a:spLocks/>
          </p:cNvSpPr>
          <p:nvPr/>
        </p:nvSpPr>
        <p:spPr>
          <a:xfrm>
            <a:off x="471488" y="2322095"/>
            <a:ext cx="5915025" cy="6918157"/>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endParaRPr lang="en-US" sz="2000" b="1" dirty="0"/>
          </a:p>
        </p:txBody>
      </p:sp>
      <p:sp>
        <p:nvSpPr>
          <p:cNvPr id="3" name="Title 2">
            <a:extLst>
              <a:ext uri="{FF2B5EF4-FFF2-40B4-BE49-F238E27FC236}">
                <a16:creationId xmlns:a16="http://schemas.microsoft.com/office/drawing/2014/main" id="{7EB8A5DE-29EF-DFD1-3985-9D73B6F54E2A}"/>
              </a:ext>
            </a:extLst>
          </p:cNvPr>
          <p:cNvSpPr>
            <a:spLocks noGrp="1"/>
          </p:cNvSpPr>
          <p:nvPr>
            <p:ph type="title"/>
          </p:nvPr>
        </p:nvSpPr>
        <p:spPr/>
        <p:txBody>
          <a:bodyPr/>
          <a:lstStyle/>
          <a:p>
            <a:r>
              <a:rPr lang="en-US" sz="3600" b="1" dirty="0">
                <a:latin typeface="+mn-lt"/>
              </a:rPr>
              <a:t>Examples</a:t>
            </a:r>
            <a:endParaRPr lang="en-ZA" b="1" dirty="0">
              <a:latin typeface="+mn-lt"/>
            </a:endParaRPr>
          </a:p>
        </p:txBody>
      </p:sp>
      <p:sp>
        <p:nvSpPr>
          <p:cNvPr id="6" name="Content Placeholder 5">
            <a:extLst>
              <a:ext uri="{FF2B5EF4-FFF2-40B4-BE49-F238E27FC236}">
                <a16:creationId xmlns:a16="http://schemas.microsoft.com/office/drawing/2014/main" id="{32EEEC23-0849-61C0-5A71-B03981B116B6}"/>
              </a:ext>
            </a:extLst>
          </p:cNvPr>
          <p:cNvSpPr>
            <a:spLocks noGrp="1"/>
          </p:cNvSpPr>
          <p:nvPr>
            <p:ph sz="half" idx="1"/>
          </p:nvPr>
        </p:nvSpPr>
        <p:spPr>
          <a:xfrm>
            <a:off x="144379" y="2637014"/>
            <a:ext cx="3241759" cy="6285266"/>
          </a:xfr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a:normAutofit/>
          </a:bodyPr>
          <a:lstStyle/>
          <a:p>
            <a:pPr marL="0" indent="0">
              <a:buNone/>
            </a:pPr>
            <a:r>
              <a:rPr lang="en-US" sz="2600" b="1" dirty="0"/>
              <a:t>Example 1: Break</a:t>
            </a:r>
          </a:p>
          <a:p>
            <a:endParaRPr lang="en-US" sz="2400" b="1" dirty="0"/>
          </a:p>
          <a:p>
            <a:pPr marL="0" indent="0">
              <a:buNone/>
            </a:pPr>
            <a:endParaRPr lang="en-ZA" sz="2200" b="1" dirty="0">
              <a:solidFill>
                <a:srgbClr val="0070C0"/>
              </a:solidFill>
              <a:latin typeface="CourierStd-Bold"/>
            </a:endParaRPr>
          </a:p>
          <a:p>
            <a:pPr marL="0" indent="0">
              <a:buNone/>
            </a:pPr>
            <a:r>
              <a:rPr lang="en-ZA" sz="2000" b="1" dirty="0">
                <a:solidFill>
                  <a:srgbClr val="0070C0"/>
                </a:solidFill>
                <a:latin typeface="CourierStd-Bold"/>
              </a:rPr>
              <a:t>int</a:t>
            </a:r>
            <a:r>
              <a:rPr lang="en-ZA" sz="2000" b="1" dirty="0">
                <a:solidFill>
                  <a:srgbClr val="6A8899"/>
                </a:solidFill>
                <a:latin typeface="CourierStd-Bold"/>
              </a:rPr>
              <a:t> </a:t>
            </a:r>
            <a:r>
              <a:rPr lang="en-ZA" sz="2000" b="1" dirty="0" err="1">
                <a:solidFill>
                  <a:srgbClr val="211808"/>
                </a:solidFill>
                <a:latin typeface="CourierStd-Bold"/>
              </a:rPr>
              <a:t>num</a:t>
            </a:r>
            <a:r>
              <a:rPr lang="en-ZA" sz="2000" b="1" dirty="0">
                <a:solidFill>
                  <a:srgbClr val="211808"/>
                </a:solidFill>
                <a:latin typeface="CourierStd-Bold"/>
              </a:rPr>
              <a:t> = 12;</a:t>
            </a:r>
          </a:p>
          <a:p>
            <a:pPr marL="0" indent="0">
              <a:buNone/>
            </a:pPr>
            <a:r>
              <a:rPr lang="en-ZA" sz="2000" b="1" dirty="0">
                <a:solidFill>
                  <a:srgbClr val="0070C0"/>
                </a:solidFill>
                <a:latin typeface="CourierStd-Bold"/>
              </a:rPr>
              <a:t>while</a:t>
            </a:r>
            <a:r>
              <a:rPr lang="en-ZA" sz="2000" b="1" dirty="0">
                <a:solidFill>
                  <a:srgbClr val="6A8899"/>
                </a:solidFill>
                <a:latin typeface="CourierStd-Bold"/>
              </a:rPr>
              <a:t> </a:t>
            </a:r>
            <a:r>
              <a:rPr lang="en-ZA" sz="2000" b="1" dirty="0">
                <a:solidFill>
                  <a:srgbClr val="211808"/>
                </a:solidFill>
                <a:latin typeface="CourierStd-Bold"/>
              </a:rPr>
              <a:t>(</a:t>
            </a:r>
            <a:r>
              <a:rPr lang="en-ZA" sz="2000" b="1" dirty="0" err="1">
                <a:solidFill>
                  <a:srgbClr val="211808"/>
                </a:solidFill>
                <a:latin typeface="CourierStd-Bold"/>
              </a:rPr>
              <a:t>num</a:t>
            </a:r>
            <a:r>
              <a:rPr lang="en-ZA" sz="2000" b="1" dirty="0">
                <a:solidFill>
                  <a:srgbClr val="211808"/>
                </a:solidFill>
                <a:latin typeface="CourierStd-Bold"/>
              </a:rPr>
              <a:t> &gt;= 0)</a:t>
            </a:r>
          </a:p>
          <a:p>
            <a:pPr marL="0" indent="0">
              <a:buNone/>
            </a:pPr>
            <a:r>
              <a:rPr lang="en-ZA" sz="2000" b="1" dirty="0">
                <a:solidFill>
                  <a:srgbClr val="211808"/>
                </a:solidFill>
                <a:latin typeface="CourierStd-Bold"/>
              </a:rPr>
              <a:t>{</a:t>
            </a:r>
          </a:p>
          <a:p>
            <a:pPr marL="342900" lvl="1" indent="0">
              <a:buNone/>
            </a:pPr>
            <a:r>
              <a:rPr lang="en-ZA" sz="2000" b="1" dirty="0">
                <a:solidFill>
                  <a:srgbClr val="0070C0"/>
                </a:solidFill>
                <a:latin typeface="CourierStd-Bold"/>
              </a:rPr>
              <a:t>if</a:t>
            </a:r>
            <a:r>
              <a:rPr lang="en-ZA" sz="2000" b="1" dirty="0">
                <a:solidFill>
                  <a:srgbClr val="6A8899"/>
                </a:solidFill>
                <a:latin typeface="CourierStd-Bold"/>
              </a:rPr>
              <a:t> </a:t>
            </a:r>
            <a:r>
              <a:rPr lang="en-ZA" sz="2000" b="1" dirty="0">
                <a:solidFill>
                  <a:srgbClr val="211808"/>
                </a:solidFill>
                <a:latin typeface="CourierStd-Bold"/>
              </a:rPr>
              <a:t>(</a:t>
            </a:r>
            <a:r>
              <a:rPr lang="en-ZA" sz="2000" b="1" dirty="0" err="1">
                <a:solidFill>
                  <a:srgbClr val="211808"/>
                </a:solidFill>
                <a:latin typeface="CourierStd-Bold"/>
              </a:rPr>
              <a:t>num</a:t>
            </a:r>
            <a:r>
              <a:rPr lang="en-ZA" sz="2000" b="1" dirty="0">
                <a:solidFill>
                  <a:srgbClr val="211808"/>
                </a:solidFill>
                <a:latin typeface="CourierStd-Bold"/>
              </a:rPr>
              <a:t> % 5 == 0)</a:t>
            </a:r>
          </a:p>
          <a:p>
            <a:pPr marL="685800" lvl="2" indent="0">
              <a:buNone/>
            </a:pPr>
            <a:r>
              <a:rPr lang="en-ZA" sz="2000" b="1" dirty="0">
                <a:solidFill>
                  <a:srgbClr val="0070C0"/>
                </a:solidFill>
                <a:latin typeface="CourierStd-Bold"/>
              </a:rPr>
              <a:t>break</a:t>
            </a:r>
            <a:r>
              <a:rPr lang="en-ZA" sz="2000" b="1" dirty="0">
                <a:solidFill>
                  <a:srgbClr val="211808"/>
                </a:solidFill>
                <a:latin typeface="CourierStd-Bold"/>
              </a:rPr>
              <a:t>;</a:t>
            </a:r>
          </a:p>
          <a:p>
            <a:pPr marL="685800" lvl="2" indent="0">
              <a:buNone/>
            </a:pPr>
            <a:r>
              <a:rPr lang="en-ZA" sz="2000" b="1" dirty="0" err="1">
                <a:solidFill>
                  <a:srgbClr val="211808"/>
                </a:solidFill>
                <a:latin typeface="CourierStd-Bold"/>
              </a:rPr>
              <a:t>cout</a:t>
            </a:r>
            <a:r>
              <a:rPr lang="en-ZA" sz="2000" b="1" dirty="0">
                <a:solidFill>
                  <a:srgbClr val="211808"/>
                </a:solidFill>
                <a:latin typeface="CourierStd-Bold"/>
              </a:rPr>
              <a:t> &lt;&lt; </a:t>
            </a:r>
            <a:r>
              <a:rPr lang="en-ZA" sz="2000" b="1" dirty="0" err="1">
                <a:solidFill>
                  <a:srgbClr val="211808"/>
                </a:solidFill>
                <a:latin typeface="CourierStd-Bold"/>
              </a:rPr>
              <a:t>num</a:t>
            </a:r>
            <a:r>
              <a:rPr lang="en-ZA" sz="2000" b="1" dirty="0">
                <a:solidFill>
                  <a:srgbClr val="211808"/>
                </a:solidFill>
                <a:latin typeface="CourierStd-Bold"/>
              </a:rPr>
              <a:t> &lt;&lt; " ";</a:t>
            </a:r>
          </a:p>
          <a:p>
            <a:pPr marL="685800" lvl="2" indent="0">
              <a:buNone/>
            </a:pPr>
            <a:r>
              <a:rPr lang="en-ZA" sz="2000" b="1" dirty="0" err="1">
                <a:solidFill>
                  <a:srgbClr val="211808"/>
                </a:solidFill>
                <a:latin typeface="CourierStd-Bold"/>
              </a:rPr>
              <a:t>num</a:t>
            </a:r>
            <a:r>
              <a:rPr lang="en-ZA" sz="2000" b="1" dirty="0">
                <a:solidFill>
                  <a:srgbClr val="211808"/>
                </a:solidFill>
                <a:latin typeface="CourierStd-Bold"/>
              </a:rPr>
              <a:t> = </a:t>
            </a:r>
            <a:r>
              <a:rPr lang="en-ZA" sz="2000" b="1" dirty="0" err="1">
                <a:solidFill>
                  <a:srgbClr val="211808"/>
                </a:solidFill>
                <a:latin typeface="CourierStd-Bold"/>
              </a:rPr>
              <a:t>num</a:t>
            </a:r>
            <a:r>
              <a:rPr lang="en-ZA" sz="2000" b="1" dirty="0">
                <a:solidFill>
                  <a:srgbClr val="211808"/>
                </a:solidFill>
                <a:latin typeface="CourierStd-Bold"/>
              </a:rPr>
              <a:t> - 2;</a:t>
            </a:r>
          </a:p>
          <a:p>
            <a:pPr marL="342900" lvl="1" indent="0">
              <a:buNone/>
            </a:pPr>
            <a:r>
              <a:rPr lang="en-ZA" sz="2000" b="1" dirty="0">
                <a:solidFill>
                  <a:srgbClr val="211808"/>
                </a:solidFill>
                <a:latin typeface="CourierStd-Bold"/>
              </a:rPr>
              <a:t>}</a:t>
            </a:r>
          </a:p>
          <a:p>
            <a:pPr marL="0" indent="0">
              <a:buNone/>
            </a:pPr>
            <a:r>
              <a:rPr lang="en-ZA" sz="2000" b="1" dirty="0" err="1">
                <a:solidFill>
                  <a:srgbClr val="211808"/>
                </a:solidFill>
                <a:latin typeface="CourierStd-Bold"/>
              </a:rPr>
              <a:t>cout</a:t>
            </a:r>
            <a:r>
              <a:rPr lang="en-ZA" sz="2000" b="1" dirty="0">
                <a:solidFill>
                  <a:srgbClr val="211808"/>
                </a:solidFill>
                <a:latin typeface="CourierStd-Bold"/>
              </a:rPr>
              <a:t> &lt;&lt; </a:t>
            </a:r>
            <a:r>
              <a:rPr lang="en-ZA" sz="2000" b="1" dirty="0" err="1">
                <a:solidFill>
                  <a:srgbClr val="211808"/>
                </a:solidFill>
                <a:latin typeface="CourierStd-Bold"/>
              </a:rPr>
              <a:t>endl</a:t>
            </a:r>
            <a:r>
              <a:rPr lang="en-ZA" sz="2000" b="1" dirty="0">
                <a:solidFill>
                  <a:srgbClr val="211808"/>
                </a:solidFill>
                <a:latin typeface="CourierStd-Bold"/>
              </a:rPr>
              <a:t>;</a:t>
            </a:r>
          </a:p>
          <a:p>
            <a:endParaRPr lang="en-ZA" dirty="0"/>
          </a:p>
        </p:txBody>
      </p:sp>
      <p:sp>
        <p:nvSpPr>
          <p:cNvPr id="7" name="Content Placeholder 6">
            <a:extLst>
              <a:ext uri="{FF2B5EF4-FFF2-40B4-BE49-F238E27FC236}">
                <a16:creationId xmlns:a16="http://schemas.microsoft.com/office/drawing/2014/main" id="{06474D06-D2C6-E2EB-AA67-81F41D0435EB}"/>
              </a:ext>
            </a:extLst>
          </p:cNvPr>
          <p:cNvSpPr>
            <a:spLocks noGrp="1"/>
          </p:cNvSpPr>
          <p:nvPr>
            <p:ph sz="half" idx="2"/>
          </p:nvPr>
        </p:nvSpPr>
        <p:spPr>
          <a:xfrm>
            <a:off x="3471862" y="2637014"/>
            <a:ext cx="3241759" cy="6285266"/>
          </a:xfr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a:normAutofit/>
          </a:bodyPr>
          <a:lstStyle/>
          <a:p>
            <a:pPr marL="0" indent="0">
              <a:buNone/>
            </a:pPr>
            <a:r>
              <a:rPr lang="en-ZA" sz="2600" b="1" dirty="0"/>
              <a:t>Example 2: Continue</a:t>
            </a:r>
          </a:p>
          <a:p>
            <a:endParaRPr lang="en-ZA" sz="2400" b="1" dirty="0">
              <a:solidFill>
                <a:srgbClr val="6A8899"/>
              </a:solidFill>
              <a:latin typeface="CourierStd-Bold"/>
            </a:endParaRPr>
          </a:p>
          <a:p>
            <a:pPr marL="0" indent="0">
              <a:buNone/>
            </a:pPr>
            <a:endParaRPr lang="en-ZA" sz="2000" b="1" dirty="0">
              <a:solidFill>
                <a:srgbClr val="0070C0"/>
              </a:solidFill>
              <a:latin typeface="CourierStd-Bold"/>
            </a:endParaRPr>
          </a:p>
          <a:p>
            <a:pPr marL="0" indent="0">
              <a:buNone/>
            </a:pPr>
            <a:r>
              <a:rPr lang="en-ZA" sz="2000" b="1" dirty="0">
                <a:solidFill>
                  <a:srgbClr val="0070C0"/>
                </a:solidFill>
                <a:latin typeface="CourierStd-Bold"/>
              </a:rPr>
              <a:t>int</a:t>
            </a:r>
            <a:r>
              <a:rPr lang="en-ZA" sz="2000" b="1" dirty="0">
                <a:solidFill>
                  <a:srgbClr val="6A8899"/>
                </a:solidFill>
                <a:latin typeface="CourierStd-Bold"/>
              </a:rPr>
              <a:t> </a:t>
            </a:r>
            <a:r>
              <a:rPr lang="en-ZA" sz="2000" b="1" dirty="0" err="1">
                <a:solidFill>
                  <a:srgbClr val="211808"/>
                </a:solidFill>
                <a:latin typeface="CourierStd-Bold"/>
              </a:rPr>
              <a:t>num</a:t>
            </a:r>
            <a:r>
              <a:rPr lang="en-ZA" sz="2000" b="1" dirty="0">
                <a:solidFill>
                  <a:srgbClr val="211808"/>
                </a:solidFill>
                <a:latin typeface="CourierStd-Bold"/>
              </a:rPr>
              <a:t> = 12;</a:t>
            </a:r>
          </a:p>
          <a:p>
            <a:pPr marL="0" indent="0">
              <a:buNone/>
            </a:pPr>
            <a:r>
              <a:rPr lang="en-ZA" sz="2000" b="1" dirty="0">
                <a:solidFill>
                  <a:srgbClr val="0070C0"/>
                </a:solidFill>
                <a:latin typeface="CourierStd-Bold"/>
              </a:rPr>
              <a:t>while</a:t>
            </a:r>
            <a:r>
              <a:rPr lang="en-ZA" sz="2000" b="1" dirty="0">
                <a:solidFill>
                  <a:srgbClr val="6A8899"/>
                </a:solidFill>
                <a:latin typeface="CourierStd-Bold"/>
              </a:rPr>
              <a:t> </a:t>
            </a:r>
            <a:r>
              <a:rPr lang="en-ZA" sz="2000" b="1" dirty="0">
                <a:solidFill>
                  <a:srgbClr val="211808"/>
                </a:solidFill>
                <a:latin typeface="CourierStd-Bold"/>
              </a:rPr>
              <a:t>(</a:t>
            </a:r>
            <a:r>
              <a:rPr lang="en-ZA" sz="2000" b="1" dirty="0" err="1">
                <a:solidFill>
                  <a:srgbClr val="211808"/>
                </a:solidFill>
                <a:latin typeface="CourierStd-Bold"/>
              </a:rPr>
              <a:t>num</a:t>
            </a:r>
            <a:r>
              <a:rPr lang="en-ZA" sz="2000" b="1" dirty="0">
                <a:solidFill>
                  <a:srgbClr val="211808"/>
                </a:solidFill>
                <a:latin typeface="CourierStd-Bold"/>
              </a:rPr>
              <a:t> &gt;= 0)</a:t>
            </a:r>
          </a:p>
          <a:p>
            <a:pPr marL="0" indent="0">
              <a:buNone/>
            </a:pPr>
            <a:r>
              <a:rPr lang="en-ZA" sz="2000" b="1" dirty="0">
                <a:solidFill>
                  <a:srgbClr val="211808"/>
                </a:solidFill>
                <a:latin typeface="CourierStd-Bold"/>
              </a:rPr>
              <a:t>{</a:t>
            </a:r>
          </a:p>
          <a:p>
            <a:pPr marL="342900" lvl="1" indent="0">
              <a:buNone/>
            </a:pPr>
            <a:r>
              <a:rPr lang="en-ZA" sz="2000" b="1" dirty="0">
                <a:solidFill>
                  <a:srgbClr val="0070C0"/>
                </a:solidFill>
                <a:latin typeface="CourierStd-Bold"/>
              </a:rPr>
              <a:t>if</a:t>
            </a:r>
            <a:r>
              <a:rPr lang="en-ZA" sz="2000" b="1" dirty="0">
                <a:solidFill>
                  <a:srgbClr val="6A8899"/>
                </a:solidFill>
                <a:latin typeface="CourierStd-Bold"/>
              </a:rPr>
              <a:t> </a:t>
            </a:r>
            <a:r>
              <a:rPr lang="en-ZA" sz="2000" b="1" dirty="0">
                <a:solidFill>
                  <a:srgbClr val="211808"/>
                </a:solidFill>
                <a:latin typeface="CourierStd-Bold"/>
              </a:rPr>
              <a:t>(</a:t>
            </a:r>
            <a:r>
              <a:rPr lang="en-ZA" sz="2000" b="1" dirty="0" err="1">
                <a:solidFill>
                  <a:srgbClr val="211808"/>
                </a:solidFill>
                <a:latin typeface="CourierStd-Bold"/>
              </a:rPr>
              <a:t>num</a:t>
            </a:r>
            <a:r>
              <a:rPr lang="en-ZA" sz="2000" b="1" dirty="0">
                <a:solidFill>
                  <a:srgbClr val="211808"/>
                </a:solidFill>
                <a:latin typeface="CourierStd-Bold"/>
              </a:rPr>
              <a:t> % 5 == 0)</a:t>
            </a:r>
          </a:p>
          <a:p>
            <a:pPr marL="342900" lvl="1" indent="0">
              <a:buNone/>
            </a:pPr>
            <a:r>
              <a:rPr lang="en-ZA" sz="2000" b="1" dirty="0">
                <a:solidFill>
                  <a:srgbClr val="211808"/>
                </a:solidFill>
                <a:latin typeface="CourierStd-Bold"/>
              </a:rPr>
              <a:t>{</a:t>
            </a:r>
          </a:p>
          <a:p>
            <a:pPr marL="685800" lvl="2" indent="0">
              <a:buNone/>
            </a:pPr>
            <a:r>
              <a:rPr lang="en-ZA" sz="2000" b="1" dirty="0" err="1">
                <a:solidFill>
                  <a:srgbClr val="211808"/>
                </a:solidFill>
                <a:latin typeface="CourierStd-Bold"/>
              </a:rPr>
              <a:t>num</a:t>
            </a:r>
            <a:r>
              <a:rPr lang="en-ZA" sz="2000" b="1" dirty="0">
                <a:solidFill>
                  <a:srgbClr val="211808"/>
                </a:solidFill>
                <a:latin typeface="CourierStd-Bold"/>
              </a:rPr>
              <a:t>++;</a:t>
            </a:r>
          </a:p>
          <a:p>
            <a:pPr marL="685800" lvl="2" indent="0">
              <a:buNone/>
            </a:pPr>
            <a:r>
              <a:rPr lang="en-ZA" sz="2000" b="1" dirty="0">
                <a:solidFill>
                  <a:srgbClr val="0070C0"/>
                </a:solidFill>
                <a:latin typeface="CourierStd-Bold"/>
              </a:rPr>
              <a:t>continue</a:t>
            </a:r>
            <a:r>
              <a:rPr lang="en-ZA" sz="2000" b="1" dirty="0">
                <a:solidFill>
                  <a:srgbClr val="211808"/>
                </a:solidFill>
                <a:latin typeface="CourierStd-Bold"/>
              </a:rPr>
              <a:t>;</a:t>
            </a:r>
          </a:p>
          <a:p>
            <a:pPr marL="342900" lvl="1" indent="0">
              <a:buNone/>
            </a:pPr>
            <a:r>
              <a:rPr lang="en-ZA" sz="2000" b="1" dirty="0">
                <a:solidFill>
                  <a:srgbClr val="211808"/>
                </a:solidFill>
                <a:latin typeface="CourierStd-Bold"/>
              </a:rPr>
              <a:t>}</a:t>
            </a:r>
          </a:p>
          <a:p>
            <a:pPr marL="342900" lvl="1" indent="0">
              <a:buNone/>
            </a:pPr>
            <a:r>
              <a:rPr lang="en-ZA" sz="2000" b="1" dirty="0" err="1">
                <a:solidFill>
                  <a:srgbClr val="211808"/>
                </a:solidFill>
                <a:latin typeface="CourierStd-Bold"/>
              </a:rPr>
              <a:t>cout</a:t>
            </a:r>
            <a:r>
              <a:rPr lang="en-ZA" sz="2000" b="1" dirty="0">
                <a:solidFill>
                  <a:srgbClr val="211808"/>
                </a:solidFill>
                <a:latin typeface="CourierStd-Bold"/>
              </a:rPr>
              <a:t> &lt;&lt; </a:t>
            </a:r>
            <a:r>
              <a:rPr lang="en-ZA" sz="2000" b="1" dirty="0" err="1">
                <a:solidFill>
                  <a:srgbClr val="211808"/>
                </a:solidFill>
                <a:latin typeface="CourierStd-Bold"/>
              </a:rPr>
              <a:t>num</a:t>
            </a:r>
            <a:r>
              <a:rPr lang="en-ZA" sz="2000" b="1" dirty="0">
                <a:solidFill>
                  <a:srgbClr val="211808"/>
                </a:solidFill>
                <a:latin typeface="CourierStd-Bold"/>
              </a:rPr>
              <a:t> &lt;&lt; " ";</a:t>
            </a:r>
          </a:p>
          <a:p>
            <a:pPr marL="342900" lvl="1" indent="0">
              <a:buNone/>
            </a:pPr>
            <a:r>
              <a:rPr lang="en-ZA" sz="2000" b="1" dirty="0" err="1">
                <a:solidFill>
                  <a:srgbClr val="211808"/>
                </a:solidFill>
                <a:latin typeface="CourierStd-Bold"/>
              </a:rPr>
              <a:t>num</a:t>
            </a:r>
            <a:r>
              <a:rPr lang="en-ZA" sz="2000" b="1" dirty="0">
                <a:solidFill>
                  <a:srgbClr val="211808"/>
                </a:solidFill>
                <a:latin typeface="CourierStd-Bold"/>
              </a:rPr>
              <a:t> = </a:t>
            </a:r>
            <a:r>
              <a:rPr lang="en-ZA" sz="2000" b="1" dirty="0" err="1">
                <a:solidFill>
                  <a:srgbClr val="211808"/>
                </a:solidFill>
                <a:latin typeface="CourierStd-Bold"/>
              </a:rPr>
              <a:t>num</a:t>
            </a:r>
            <a:r>
              <a:rPr lang="en-ZA" sz="2000" b="1" dirty="0">
                <a:solidFill>
                  <a:srgbClr val="211808"/>
                </a:solidFill>
                <a:latin typeface="CourierStd-Bold"/>
              </a:rPr>
              <a:t> - 2;</a:t>
            </a:r>
          </a:p>
          <a:p>
            <a:pPr marL="0" indent="0">
              <a:buNone/>
            </a:pPr>
            <a:r>
              <a:rPr lang="en-ZA" sz="2000" b="1" dirty="0">
                <a:solidFill>
                  <a:srgbClr val="211808"/>
                </a:solidFill>
                <a:latin typeface="CourierStd-Bold"/>
              </a:rPr>
              <a:t>}</a:t>
            </a:r>
          </a:p>
          <a:p>
            <a:pPr marL="0" indent="0">
              <a:buNone/>
            </a:pPr>
            <a:r>
              <a:rPr lang="en-ZA" sz="2000" b="1" dirty="0" err="1">
                <a:solidFill>
                  <a:srgbClr val="211808"/>
                </a:solidFill>
                <a:latin typeface="CourierStd-Bold"/>
              </a:rPr>
              <a:t>cout</a:t>
            </a:r>
            <a:r>
              <a:rPr lang="en-ZA" sz="2000" b="1" dirty="0">
                <a:solidFill>
                  <a:srgbClr val="211808"/>
                </a:solidFill>
                <a:latin typeface="CourierStd-Bold"/>
              </a:rPr>
              <a:t> &lt;&lt; </a:t>
            </a:r>
            <a:r>
              <a:rPr lang="en-ZA" sz="2000" b="1" dirty="0" err="1">
                <a:solidFill>
                  <a:srgbClr val="211808"/>
                </a:solidFill>
                <a:latin typeface="CourierStd-Bold"/>
              </a:rPr>
              <a:t>endl</a:t>
            </a:r>
            <a:r>
              <a:rPr lang="en-ZA" sz="2000" b="1" dirty="0">
                <a:solidFill>
                  <a:srgbClr val="211808"/>
                </a:solidFill>
                <a:latin typeface="CourierStd-Bold"/>
              </a:rPr>
              <a:t>;</a:t>
            </a:r>
            <a:endParaRPr lang="en-US" sz="2000" b="1" dirty="0"/>
          </a:p>
        </p:txBody>
      </p:sp>
    </p:spTree>
    <p:extLst>
      <p:ext uri="{BB962C8B-B14F-4D97-AF65-F5344CB8AC3E}">
        <p14:creationId xmlns:p14="http://schemas.microsoft.com/office/powerpoint/2010/main" val="301303606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C69A93-C4D9-1618-9C84-F222C143158B}"/>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E64CA2C7-FFBA-4A16-F014-BBBC22328A8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402DC4B9-CD6C-FE43-F147-26DC61B13BD1}"/>
              </a:ext>
            </a:extLst>
          </p:cNvPr>
          <p:cNvSpPr txBox="1"/>
          <p:nvPr/>
        </p:nvSpPr>
        <p:spPr>
          <a:xfrm>
            <a:off x="0" y="65927"/>
            <a:ext cx="6858000" cy="646331"/>
          </a:xfrm>
          <a:prstGeom prst="rect">
            <a:avLst/>
          </a:prstGeom>
          <a:noFill/>
        </p:spPr>
        <p:txBody>
          <a:bodyPr wrap="square" rtlCol="0">
            <a:spAutoFit/>
          </a:bodyPr>
          <a:lstStyle/>
          <a:p>
            <a:pPr algn="ctr"/>
            <a:r>
              <a:rPr lang="en-ZA" sz="3600" b="1" dirty="0"/>
              <a:t>break </a:t>
            </a:r>
            <a:r>
              <a:rPr lang="en-ZA" sz="3600" dirty="0"/>
              <a:t>and </a:t>
            </a:r>
            <a:r>
              <a:rPr lang="en-ZA" sz="3600" b="1" dirty="0"/>
              <a:t>continue </a:t>
            </a:r>
            <a:r>
              <a:rPr lang="en-ZA" sz="3600" dirty="0"/>
              <a:t>Statements</a:t>
            </a:r>
            <a:r>
              <a:rPr lang="en-US" sz="3600" b="1" dirty="0"/>
              <a:t>:</a:t>
            </a:r>
            <a:endParaRPr lang="en-ZA" sz="3600" b="1" dirty="0">
              <a:latin typeface="Arial" panose="020B0604020202020204" pitchFamily="34" charset="0"/>
              <a:cs typeface="Arial" panose="020B0604020202020204" pitchFamily="34" charset="0"/>
            </a:endParaRPr>
          </a:p>
        </p:txBody>
      </p:sp>
      <p:sp>
        <p:nvSpPr>
          <p:cNvPr id="2" name="Content Placeholder 2">
            <a:extLst>
              <a:ext uri="{FF2B5EF4-FFF2-40B4-BE49-F238E27FC236}">
                <a16:creationId xmlns:a16="http://schemas.microsoft.com/office/drawing/2014/main" id="{698B7C74-FF19-9F67-962B-3237DC9C1807}"/>
              </a:ext>
            </a:extLst>
          </p:cNvPr>
          <p:cNvSpPr txBox="1">
            <a:spLocks/>
          </p:cNvSpPr>
          <p:nvPr/>
        </p:nvSpPr>
        <p:spPr>
          <a:xfrm>
            <a:off x="471488" y="2637014"/>
            <a:ext cx="5915025" cy="6285266"/>
          </a:xfrm>
          <a:prstGeom prst="rect">
            <a:avLst/>
          </a:prstGeom>
        </p:spPr>
        <p:txBody>
          <a:bodyPr vert="horz" lIns="91440" tIns="45720" rIns="91440" bIns="45720" rtlCol="0">
            <a:normAutofit lnSpcReduction="10000"/>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ZA" sz="2400" b="1" dirty="0"/>
              <a:t>Exercises:</a:t>
            </a:r>
          </a:p>
          <a:p>
            <a:pPr algn="l"/>
            <a:r>
              <a:rPr lang="en-US" sz="2400" dirty="0"/>
              <a:t>What does a </a:t>
            </a:r>
            <a:r>
              <a:rPr lang="en-US" sz="2400" b="1" dirty="0"/>
              <a:t>break </a:t>
            </a:r>
            <a:r>
              <a:rPr lang="en-US" sz="2400" dirty="0"/>
              <a:t>statement do in a loop?</a:t>
            </a:r>
          </a:p>
          <a:p>
            <a:pPr algn="l"/>
            <a:r>
              <a:rPr lang="en-US" sz="2400" dirty="0"/>
              <a:t>What does a </a:t>
            </a:r>
            <a:r>
              <a:rPr lang="en-US" sz="2400" b="1" dirty="0"/>
              <a:t>continue </a:t>
            </a:r>
            <a:r>
              <a:rPr lang="en-US" sz="2400" dirty="0"/>
              <a:t>statement do in a loop?</a:t>
            </a:r>
          </a:p>
          <a:p>
            <a:pPr algn="l"/>
            <a:endParaRPr lang="en-ZA" sz="2400" b="1" dirty="0"/>
          </a:p>
          <a:p>
            <a:pPr algn="l"/>
            <a:r>
              <a:rPr lang="en-US" sz="2400" dirty="0"/>
              <a:t>What is the output of the following code?</a:t>
            </a:r>
          </a:p>
          <a:p>
            <a:r>
              <a:rPr lang="en-ZA" sz="2000" b="1" dirty="0">
                <a:solidFill>
                  <a:srgbClr val="0070C0"/>
                </a:solidFill>
                <a:latin typeface="CourierStd-Bold"/>
              </a:rPr>
              <a:t>int</a:t>
            </a:r>
            <a:r>
              <a:rPr lang="en-ZA" sz="2000" b="1" dirty="0">
                <a:solidFill>
                  <a:srgbClr val="6A8899"/>
                </a:solidFill>
                <a:latin typeface="CourierStd-Bold"/>
              </a:rPr>
              <a:t> </a:t>
            </a:r>
            <a:r>
              <a:rPr lang="en-ZA" sz="2000" b="1" dirty="0" err="1">
                <a:solidFill>
                  <a:srgbClr val="211808"/>
                </a:solidFill>
                <a:latin typeface="CourierStd-Bold"/>
              </a:rPr>
              <a:t>num</a:t>
            </a:r>
            <a:r>
              <a:rPr lang="en-ZA" sz="2000" b="1" dirty="0">
                <a:solidFill>
                  <a:srgbClr val="211808"/>
                </a:solidFill>
                <a:latin typeface="CourierStd-Bold"/>
              </a:rPr>
              <a:t> = 12;</a:t>
            </a:r>
          </a:p>
          <a:p>
            <a:r>
              <a:rPr lang="en-ZA" sz="2000" b="1" dirty="0">
                <a:solidFill>
                  <a:srgbClr val="0070C0"/>
                </a:solidFill>
                <a:latin typeface="CourierStd-Bold"/>
              </a:rPr>
              <a:t>while</a:t>
            </a:r>
            <a:r>
              <a:rPr lang="en-ZA" sz="2000" b="1" dirty="0">
                <a:solidFill>
                  <a:srgbClr val="6A8899"/>
                </a:solidFill>
                <a:latin typeface="CourierStd-Bold"/>
              </a:rPr>
              <a:t> </a:t>
            </a:r>
            <a:r>
              <a:rPr lang="en-ZA" sz="2000" b="1" dirty="0">
                <a:solidFill>
                  <a:srgbClr val="211808"/>
                </a:solidFill>
                <a:latin typeface="CourierStd-Bold"/>
              </a:rPr>
              <a:t>(</a:t>
            </a:r>
            <a:r>
              <a:rPr lang="en-ZA" sz="2000" b="1" dirty="0" err="1">
                <a:solidFill>
                  <a:srgbClr val="211808"/>
                </a:solidFill>
                <a:latin typeface="CourierStd-Bold"/>
              </a:rPr>
              <a:t>num</a:t>
            </a:r>
            <a:r>
              <a:rPr lang="en-ZA" sz="2000" b="1" dirty="0">
                <a:solidFill>
                  <a:srgbClr val="211808"/>
                </a:solidFill>
                <a:latin typeface="CourierStd-Bold"/>
              </a:rPr>
              <a:t> &gt;= 0)</a:t>
            </a:r>
          </a:p>
          <a:p>
            <a:r>
              <a:rPr lang="en-ZA" sz="2000" b="1" dirty="0">
                <a:solidFill>
                  <a:srgbClr val="211808"/>
                </a:solidFill>
                <a:latin typeface="CourierStd-Bold"/>
              </a:rPr>
              <a:t>{</a:t>
            </a:r>
          </a:p>
          <a:p>
            <a:pPr lvl="1"/>
            <a:r>
              <a:rPr lang="en-ZA" sz="2000" b="1" dirty="0">
                <a:solidFill>
                  <a:srgbClr val="0070C0"/>
                </a:solidFill>
                <a:latin typeface="CourierStd-Bold"/>
              </a:rPr>
              <a:t>if</a:t>
            </a:r>
            <a:r>
              <a:rPr lang="en-ZA" sz="2000" b="1" dirty="0">
                <a:solidFill>
                  <a:srgbClr val="6A8899"/>
                </a:solidFill>
                <a:latin typeface="CourierStd-Bold"/>
              </a:rPr>
              <a:t> </a:t>
            </a:r>
            <a:r>
              <a:rPr lang="en-ZA" sz="2000" b="1" dirty="0">
                <a:solidFill>
                  <a:srgbClr val="211808"/>
                </a:solidFill>
                <a:latin typeface="CourierStd-Bold"/>
              </a:rPr>
              <a:t>(</a:t>
            </a:r>
            <a:r>
              <a:rPr lang="en-ZA" sz="2000" b="1" dirty="0" err="1">
                <a:solidFill>
                  <a:srgbClr val="211808"/>
                </a:solidFill>
                <a:latin typeface="CourierStd-Bold"/>
              </a:rPr>
              <a:t>num</a:t>
            </a:r>
            <a:r>
              <a:rPr lang="en-ZA" sz="2000" b="1" dirty="0">
                <a:solidFill>
                  <a:srgbClr val="211808"/>
                </a:solidFill>
                <a:latin typeface="CourierStd-Bold"/>
              </a:rPr>
              <a:t> % 5 == 0)</a:t>
            </a:r>
          </a:p>
          <a:p>
            <a:pPr lvl="1"/>
            <a:r>
              <a:rPr lang="en-ZA" sz="2000" b="1" dirty="0">
                <a:solidFill>
                  <a:srgbClr val="211808"/>
                </a:solidFill>
                <a:latin typeface="CourierStd-Bold"/>
              </a:rPr>
              <a:t>{</a:t>
            </a:r>
          </a:p>
          <a:p>
            <a:pPr lvl="2"/>
            <a:r>
              <a:rPr lang="en-ZA" sz="2000" b="1" dirty="0" err="1">
                <a:solidFill>
                  <a:srgbClr val="211808"/>
                </a:solidFill>
                <a:latin typeface="CourierStd-Bold"/>
              </a:rPr>
              <a:t>num</a:t>
            </a:r>
            <a:r>
              <a:rPr lang="en-ZA" sz="2000" b="1" dirty="0">
                <a:solidFill>
                  <a:srgbClr val="211808"/>
                </a:solidFill>
                <a:latin typeface="CourierStd-Bold"/>
              </a:rPr>
              <a:t>++;</a:t>
            </a:r>
          </a:p>
          <a:p>
            <a:pPr lvl="2"/>
            <a:r>
              <a:rPr lang="en-ZA" sz="2000" b="1" dirty="0">
                <a:solidFill>
                  <a:srgbClr val="0070C0"/>
                </a:solidFill>
                <a:latin typeface="CourierStd-Bold"/>
              </a:rPr>
              <a:t>continue</a:t>
            </a:r>
            <a:r>
              <a:rPr lang="en-ZA" sz="2000" b="1" dirty="0">
                <a:solidFill>
                  <a:srgbClr val="211808"/>
                </a:solidFill>
                <a:latin typeface="CourierStd-Bold"/>
              </a:rPr>
              <a:t>;</a:t>
            </a:r>
          </a:p>
          <a:p>
            <a:pPr lvl="1"/>
            <a:r>
              <a:rPr lang="en-ZA" sz="2000" b="1" dirty="0">
                <a:solidFill>
                  <a:srgbClr val="211808"/>
                </a:solidFill>
                <a:latin typeface="CourierStd-Bold"/>
              </a:rPr>
              <a:t>}</a:t>
            </a:r>
          </a:p>
          <a:p>
            <a:pPr lvl="1"/>
            <a:r>
              <a:rPr lang="en-ZA" sz="2000" b="1" dirty="0" err="1">
                <a:solidFill>
                  <a:srgbClr val="211808"/>
                </a:solidFill>
                <a:latin typeface="CourierStd-Bold"/>
              </a:rPr>
              <a:t>cout</a:t>
            </a:r>
            <a:r>
              <a:rPr lang="en-ZA" sz="2000" b="1" dirty="0">
                <a:solidFill>
                  <a:srgbClr val="211808"/>
                </a:solidFill>
                <a:latin typeface="CourierStd-Bold"/>
              </a:rPr>
              <a:t> &lt;&lt; </a:t>
            </a:r>
            <a:r>
              <a:rPr lang="en-ZA" sz="2000" b="1" dirty="0" err="1">
                <a:solidFill>
                  <a:srgbClr val="211808"/>
                </a:solidFill>
                <a:latin typeface="CourierStd-Bold"/>
              </a:rPr>
              <a:t>num</a:t>
            </a:r>
            <a:r>
              <a:rPr lang="en-ZA" sz="2000" b="1" dirty="0">
                <a:solidFill>
                  <a:srgbClr val="211808"/>
                </a:solidFill>
                <a:latin typeface="CourierStd-Bold"/>
              </a:rPr>
              <a:t> &lt;&lt; " ";</a:t>
            </a:r>
          </a:p>
          <a:p>
            <a:pPr lvl="1"/>
            <a:r>
              <a:rPr lang="en-ZA" sz="2000" b="1" dirty="0" err="1">
                <a:solidFill>
                  <a:srgbClr val="211808"/>
                </a:solidFill>
                <a:latin typeface="CourierStd-Bold"/>
              </a:rPr>
              <a:t>num</a:t>
            </a:r>
            <a:r>
              <a:rPr lang="en-ZA" sz="2000" b="1" dirty="0">
                <a:solidFill>
                  <a:srgbClr val="211808"/>
                </a:solidFill>
                <a:latin typeface="CourierStd-Bold"/>
              </a:rPr>
              <a:t> = </a:t>
            </a:r>
            <a:r>
              <a:rPr lang="en-ZA" sz="2000" b="1" dirty="0" err="1">
                <a:solidFill>
                  <a:srgbClr val="211808"/>
                </a:solidFill>
                <a:latin typeface="CourierStd-Bold"/>
              </a:rPr>
              <a:t>num</a:t>
            </a:r>
            <a:r>
              <a:rPr lang="en-ZA" sz="2000" b="1" dirty="0">
                <a:solidFill>
                  <a:srgbClr val="211808"/>
                </a:solidFill>
                <a:latin typeface="CourierStd-Bold"/>
              </a:rPr>
              <a:t> - 2;</a:t>
            </a:r>
          </a:p>
          <a:p>
            <a:r>
              <a:rPr lang="en-ZA" sz="2000" b="1" dirty="0">
                <a:solidFill>
                  <a:srgbClr val="211808"/>
                </a:solidFill>
                <a:latin typeface="CourierStd-Bold"/>
              </a:rPr>
              <a:t>}</a:t>
            </a:r>
          </a:p>
          <a:p>
            <a:r>
              <a:rPr lang="en-ZA" sz="2000" b="1" dirty="0" err="1">
                <a:solidFill>
                  <a:srgbClr val="211808"/>
                </a:solidFill>
                <a:latin typeface="CourierStd-Bold"/>
              </a:rPr>
              <a:t>cout</a:t>
            </a:r>
            <a:r>
              <a:rPr lang="en-ZA" sz="2000" b="1" dirty="0">
                <a:solidFill>
                  <a:srgbClr val="211808"/>
                </a:solidFill>
                <a:latin typeface="CourierStd-Bold"/>
              </a:rPr>
              <a:t> &lt;&lt; </a:t>
            </a:r>
            <a:r>
              <a:rPr lang="en-ZA" sz="2000" b="1" dirty="0" err="1">
                <a:solidFill>
                  <a:srgbClr val="211808"/>
                </a:solidFill>
                <a:latin typeface="CourierStd-Bold"/>
              </a:rPr>
              <a:t>endl</a:t>
            </a:r>
            <a:r>
              <a:rPr lang="en-ZA" sz="2000" b="1" dirty="0">
                <a:solidFill>
                  <a:srgbClr val="211808"/>
                </a:solidFill>
                <a:latin typeface="CourierStd-Bold"/>
              </a:rPr>
              <a:t>;</a:t>
            </a:r>
            <a:endParaRPr lang="en-US" sz="2400" b="1" dirty="0"/>
          </a:p>
          <a:p>
            <a:pPr algn="l"/>
            <a:endParaRPr lang="en-ZA" sz="2400" b="1" dirty="0"/>
          </a:p>
          <a:p>
            <a:pPr algn="l"/>
            <a:endParaRPr lang="en-ZA" sz="2400" b="1" dirty="0"/>
          </a:p>
          <a:p>
            <a:pPr algn="l"/>
            <a:endParaRPr lang="en-ZA" sz="2400" b="1" dirty="0"/>
          </a:p>
        </p:txBody>
      </p:sp>
    </p:spTree>
    <p:extLst>
      <p:ext uri="{BB962C8B-B14F-4D97-AF65-F5344CB8AC3E}">
        <p14:creationId xmlns:p14="http://schemas.microsoft.com/office/powerpoint/2010/main" val="139203336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953B94-8A3E-879A-A748-70D27CF25DD3}"/>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2BFC56CF-A907-424F-363A-699C232C6AD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317D1479-D14D-FC8B-021F-411CBAF9AFA3}"/>
              </a:ext>
            </a:extLst>
          </p:cNvPr>
          <p:cNvSpPr txBox="1"/>
          <p:nvPr/>
        </p:nvSpPr>
        <p:spPr>
          <a:xfrm>
            <a:off x="0" y="65927"/>
            <a:ext cx="6858000" cy="646331"/>
          </a:xfrm>
          <a:prstGeom prst="rect">
            <a:avLst/>
          </a:prstGeom>
          <a:noFill/>
        </p:spPr>
        <p:txBody>
          <a:bodyPr wrap="square" rtlCol="0">
            <a:spAutoFit/>
          </a:bodyPr>
          <a:lstStyle/>
          <a:p>
            <a:pPr algn="ctr"/>
            <a:r>
              <a:rPr lang="en-ZA" sz="3600" b="1" dirty="0"/>
              <a:t>break </a:t>
            </a:r>
            <a:r>
              <a:rPr lang="en-ZA" sz="3600" dirty="0"/>
              <a:t>and </a:t>
            </a:r>
            <a:r>
              <a:rPr lang="en-ZA" sz="3600" b="1" dirty="0"/>
              <a:t>continue </a:t>
            </a:r>
            <a:r>
              <a:rPr lang="en-ZA" sz="3600" dirty="0"/>
              <a:t>Statements</a:t>
            </a:r>
            <a:r>
              <a:rPr lang="en-US" sz="3600" b="1" dirty="0"/>
              <a:t>:</a:t>
            </a:r>
            <a:endParaRPr lang="en-ZA" sz="3600" b="1" dirty="0">
              <a:latin typeface="Arial" panose="020B0604020202020204" pitchFamily="34" charset="0"/>
              <a:cs typeface="Arial" panose="020B0604020202020204" pitchFamily="34" charset="0"/>
            </a:endParaRPr>
          </a:p>
        </p:txBody>
      </p:sp>
      <p:sp>
        <p:nvSpPr>
          <p:cNvPr id="2" name="Content Placeholder 2">
            <a:extLst>
              <a:ext uri="{FF2B5EF4-FFF2-40B4-BE49-F238E27FC236}">
                <a16:creationId xmlns:a16="http://schemas.microsoft.com/office/drawing/2014/main" id="{BEBDB15D-127A-930F-41C7-EBE562803F2A}"/>
              </a:ext>
            </a:extLst>
          </p:cNvPr>
          <p:cNvSpPr txBox="1">
            <a:spLocks/>
          </p:cNvSpPr>
          <p:nvPr/>
        </p:nvSpPr>
        <p:spPr>
          <a:xfrm>
            <a:off x="471488" y="2637014"/>
            <a:ext cx="5915025" cy="6285266"/>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ZA" sz="2400" b="1" dirty="0"/>
              <a:t>Exercises:</a:t>
            </a:r>
          </a:p>
          <a:p>
            <a:pPr algn="l"/>
            <a:r>
              <a:rPr lang="en-US" sz="2400" dirty="0"/>
              <a:t>What is the output of the following code?</a:t>
            </a:r>
          </a:p>
          <a:p>
            <a:r>
              <a:rPr lang="en-ZA" sz="2000" b="1" dirty="0">
                <a:solidFill>
                  <a:srgbClr val="0070C0"/>
                </a:solidFill>
                <a:latin typeface="CourierStd-Bold"/>
              </a:rPr>
              <a:t>int</a:t>
            </a:r>
            <a:r>
              <a:rPr lang="en-ZA" sz="2000" b="1" dirty="0">
                <a:solidFill>
                  <a:srgbClr val="6A8899"/>
                </a:solidFill>
                <a:latin typeface="CourierStd-Bold"/>
              </a:rPr>
              <a:t> </a:t>
            </a:r>
            <a:r>
              <a:rPr lang="en-ZA" sz="2000" b="1" dirty="0" err="1">
                <a:solidFill>
                  <a:srgbClr val="211808"/>
                </a:solidFill>
                <a:latin typeface="CourierStd-Bold"/>
              </a:rPr>
              <a:t>num</a:t>
            </a:r>
            <a:r>
              <a:rPr lang="en-ZA" sz="2000" b="1" dirty="0">
                <a:solidFill>
                  <a:srgbClr val="211808"/>
                </a:solidFill>
                <a:latin typeface="CourierStd-Bold"/>
              </a:rPr>
              <a:t> = 12;</a:t>
            </a:r>
          </a:p>
          <a:p>
            <a:r>
              <a:rPr lang="en-ZA" sz="2000" b="1" dirty="0">
                <a:solidFill>
                  <a:srgbClr val="0070C0"/>
                </a:solidFill>
                <a:latin typeface="CourierStd-Bold"/>
              </a:rPr>
              <a:t>while</a:t>
            </a:r>
            <a:r>
              <a:rPr lang="en-ZA" sz="2000" b="1" dirty="0">
                <a:solidFill>
                  <a:srgbClr val="6A8899"/>
                </a:solidFill>
                <a:latin typeface="CourierStd-Bold"/>
              </a:rPr>
              <a:t> </a:t>
            </a:r>
            <a:r>
              <a:rPr lang="en-ZA" sz="2000" b="1" dirty="0">
                <a:solidFill>
                  <a:srgbClr val="211808"/>
                </a:solidFill>
                <a:latin typeface="CourierStd-Bold"/>
              </a:rPr>
              <a:t>(</a:t>
            </a:r>
            <a:r>
              <a:rPr lang="en-ZA" sz="2000" b="1" dirty="0" err="1">
                <a:solidFill>
                  <a:srgbClr val="211808"/>
                </a:solidFill>
                <a:latin typeface="CourierStd-Bold"/>
              </a:rPr>
              <a:t>num</a:t>
            </a:r>
            <a:r>
              <a:rPr lang="en-ZA" sz="2000" b="1" dirty="0">
                <a:solidFill>
                  <a:srgbClr val="211808"/>
                </a:solidFill>
                <a:latin typeface="CourierStd-Bold"/>
              </a:rPr>
              <a:t> &gt;= 0)</a:t>
            </a:r>
          </a:p>
          <a:p>
            <a:r>
              <a:rPr lang="en-ZA" sz="2000" b="1" dirty="0">
                <a:solidFill>
                  <a:srgbClr val="211808"/>
                </a:solidFill>
                <a:latin typeface="CourierStd-Bold"/>
              </a:rPr>
              <a:t>{</a:t>
            </a:r>
          </a:p>
          <a:p>
            <a:pPr lvl="1"/>
            <a:r>
              <a:rPr lang="en-ZA" sz="2000" b="1" dirty="0">
                <a:solidFill>
                  <a:srgbClr val="0070C0"/>
                </a:solidFill>
                <a:latin typeface="CourierStd-Bold"/>
              </a:rPr>
              <a:t>if</a:t>
            </a:r>
            <a:r>
              <a:rPr lang="en-ZA" sz="2000" b="1" dirty="0">
                <a:solidFill>
                  <a:srgbClr val="6A8899"/>
                </a:solidFill>
                <a:latin typeface="CourierStd-Bold"/>
              </a:rPr>
              <a:t> </a:t>
            </a:r>
            <a:r>
              <a:rPr lang="en-ZA" sz="2000" b="1" dirty="0">
                <a:solidFill>
                  <a:srgbClr val="211808"/>
                </a:solidFill>
                <a:latin typeface="CourierStd-Bold"/>
              </a:rPr>
              <a:t>(</a:t>
            </a:r>
            <a:r>
              <a:rPr lang="en-ZA" sz="2000" b="1" dirty="0" err="1">
                <a:solidFill>
                  <a:srgbClr val="211808"/>
                </a:solidFill>
                <a:latin typeface="CourierStd-Bold"/>
              </a:rPr>
              <a:t>num</a:t>
            </a:r>
            <a:r>
              <a:rPr lang="en-ZA" sz="2000" b="1" dirty="0">
                <a:solidFill>
                  <a:srgbClr val="211808"/>
                </a:solidFill>
                <a:latin typeface="CourierStd-Bold"/>
              </a:rPr>
              <a:t> % 5 == 0)</a:t>
            </a:r>
          </a:p>
          <a:p>
            <a:pPr lvl="1"/>
            <a:r>
              <a:rPr lang="en-ZA" sz="2000" b="1" dirty="0">
                <a:solidFill>
                  <a:srgbClr val="211808"/>
                </a:solidFill>
                <a:latin typeface="CourierStd-Bold"/>
              </a:rPr>
              <a:t>{</a:t>
            </a:r>
          </a:p>
          <a:p>
            <a:pPr lvl="2"/>
            <a:r>
              <a:rPr lang="en-ZA" sz="2000" b="1" dirty="0" err="1">
                <a:solidFill>
                  <a:srgbClr val="211808"/>
                </a:solidFill>
                <a:latin typeface="CourierStd-Bold"/>
              </a:rPr>
              <a:t>num</a:t>
            </a:r>
            <a:r>
              <a:rPr lang="en-ZA" sz="2000" b="1" dirty="0">
                <a:solidFill>
                  <a:srgbClr val="211808"/>
                </a:solidFill>
                <a:latin typeface="CourierStd-Bold"/>
              </a:rPr>
              <a:t>++;</a:t>
            </a:r>
          </a:p>
          <a:p>
            <a:pPr lvl="2"/>
            <a:r>
              <a:rPr lang="en-ZA" sz="2000" b="1" dirty="0">
                <a:solidFill>
                  <a:srgbClr val="0070C0"/>
                </a:solidFill>
                <a:latin typeface="CourierStd-Bold"/>
              </a:rPr>
              <a:t>continue</a:t>
            </a:r>
            <a:r>
              <a:rPr lang="en-ZA" sz="2000" b="1" dirty="0">
                <a:solidFill>
                  <a:srgbClr val="211808"/>
                </a:solidFill>
                <a:latin typeface="CourierStd-Bold"/>
              </a:rPr>
              <a:t>;</a:t>
            </a:r>
          </a:p>
          <a:p>
            <a:pPr lvl="1"/>
            <a:r>
              <a:rPr lang="en-ZA" sz="2000" b="1" dirty="0">
                <a:solidFill>
                  <a:srgbClr val="211808"/>
                </a:solidFill>
                <a:latin typeface="CourierStd-Bold"/>
              </a:rPr>
              <a:t>}</a:t>
            </a:r>
          </a:p>
          <a:p>
            <a:pPr lvl="1"/>
            <a:r>
              <a:rPr lang="en-ZA" sz="2000" b="1" dirty="0" err="1">
                <a:solidFill>
                  <a:srgbClr val="211808"/>
                </a:solidFill>
                <a:latin typeface="CourierStd-Bold"/>
              </a:rPr>
              <a:t>cout</a:t>
            </a:r>
            <a:r>
              <a:rPr lang="en-ZA" sz="2000" b="1" dirty="0">
                <a:solidFill>
                  <a:srgbClr val="211808"/>
                </a:solidFill>
                <a:latin typeface="CourierStd-Bold"/>
              </a:rPr>
              <a:t> &lt;&lt; </a:t>
            </a:r>
            <a:r>
              <a:rPr lang="en-ZA" sz="2000" b="1" dirty="0" err="1">
                <a:solidFill>
                  <a:srgbClr val="211808"/>
                </a:solidFill>
                <a:latin typeface="CourierStd-Bold"/>
              </a:rPr>
              <a:t>num</a:t>
            </a:r>
            <a:r>
              <a:rPr lang="en-ZA" sz="2000" b="1" dirty="0">
                <a:solidFill>
                  <a:srgbClr val="211808"/>
                </a:solidFill>
                <a:latin typeface="CourierStd-Bold"/>
              </a:rPr>
              <a:t> &lt;&lt; " ";</a:t>
            </a:r>
          </a:p>
          <a:p>
            <a:pPr lvl="1"/>
            <a:r>
              <a:rPr lang="en-ZA" sz="2000" b="1" dirty="0" err="1">
                <a:solidFill>
                  <a:srgbClr val="211808"/>
                </a:solidFill>
                <a:latin typeface="CourierStd-Bold"/>
              </a:rPr>
              <a:t>num</a:t>
            </a:r>
            <a:r>
              <a:rPr lang="en-ZA" sz="2000" b="1" dirty="0">
                <a:solidFill>
                  <a:srgbClr val="211808"/>
                </a:solidFill>
                <a:latin typeface="CourierStd-Bold"/>
              </a:rPr>
              <a:t> = </a:t>
            </a:r>
            <a:r>
              <a:rPr lang="en-ZA" sz="2000" b="1" dirty="0" err="1">
                <a:solidFill>
                  <a:srgbClr val="211808"/>
                </a:solidFill>
                <a:latin typeface="CourierStd-Bold"/>
              </a:rPr>
              <a:t>num</a:t>
            </a:r>
            <a:r>
              <a:rPr lang="en-ZA" sz="2000" b="1" dirty="0">
                <a:solidFill>
                  <a:srgbClr val="211808"/>
                </a:solidFill>
                <a:latin typeface="CourierStd-Bold"/>
              </a:rPr>
              <a:t> - 2;</a:t>
            </a:r>
          </a:p>
          <a:p>
            <a:r>
              <a:rPr lang="en-ZA" sz="2000" b="1" dirty="0">
                <a:solidFill>
                  <a:srgbClr val="211808"/>
                </a:solidFill>
                <a:latin typeface="CourierStd-Bold"/>
              </a:rPr>
              <a:t>}</a:t>
            </a:r>
          </a:p>
          <a:p>
            <a:r>
              <a:rPr lang="en-ZA" sz="2000" b="1" dirty="0" err="1">
                <a:solidFill>
                  <a:srgbClr val="211808"/>
                </a:solidFill>
                <a:latin typeface="CourierStd-Bold"/>
              </a:rPr>
              <a:t>cout</a:t>
            </a:r>
            <a:r>
              <a:rPr lang="en-ZA" sz="2000" b="1" dirty="0">
                <a:solidFill>
                  <a:srgbClr val="211808"/>
                </a:solidFill>
                <a:latin typeface="CourierStd-Bold"/>
              </a:rPr>
              <a:t> &lt;&lt; </a:t>
            </a:r>
            <a:r>
              <a:rPr lang="en-ZA" sz="2000" b="1" dirty="0" err="1">
                <a:solidFill>
                  <a:srgbClr val="211808"/>
                </a:solidFill>
                <a:latin typeface="CourierStd-Bold"/>
              </a:rPr>
              <a:t>endl</a:t>
            </a:r>
            <a:r>
              <a:rPr lang="en-ZA" sz="2000" b="1" dirty="0">
                <a:solidFill>
                  <a:srgbClr val="211808"/>
                </a:solidFill>
                <a:latin typeface="CourierStd-Bold"/>
              </a:rPr>
              <a:t>;</a:t>
            </a:r>
            <a:endParaRPr lang="en-US" sz="2400" b="1" dirty="0"/>
          </a:p>
          <a:p>
            <a:pPr algn="l"/>
            <a:endParaRPr lang="en-ZA" sz="2400" b="1" dirty="0"/>
          </a:p>
          <a:p>
            <a:pPr algn="l"/>
            <a:endParaRPr lang="en-ZA" sz="2400" b="1" dirty="0"/>
          </a:p>
          <a:p>
            <a:pPr algn="l"/>
            <a:endParaRPr lang="en-ZA" sz="2400" b="1" dirty="0"/>
          </a:p>
        </p:txBody>
      </p:sp>
    </p:spTree>
    <p:extLst>
      <p:ext uri="{BB962C8B-B14F-4D97-AF65-F5344CB8AC3E}">
        <p14:creationId xmlns:p14="http://schemas.microsoft.com/office/powerpoint/2010/main" val="197170823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044E3F-7E99-55E9-743C-0CCA05B5F2BD}"/>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8071BD6C-67AB-1A3F-A327-0F66FD5E4AE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487210C5-AF10-246C-7CFA-5A665A0AF9A0}"/>
              </a:ext>
            </a:extLst>
          </p:cNvPr>
          <p:cNvSpPr txBox="1"/>
          <p:nvPr/>
        </p:nvSpPr>
        <p:spPr>
          <a:xfrm>
            <a:off x="0" y="65927"/>
            <a:ext cx="6858000" cy="646331"/>
          </a:xfrm>
          <a:prstGeom prst="rect">
            <a:avLst/>
          </a:prstGeom>
          <a:noFill/>
        </p:spPr>
        <p:txBody>
          <a:bodyPr wrap="square" rtlCol="0">
            <a:spAutoFit/>
          </a:bodyPr>
          <a:lstStyle/>
          <a:p>
            <a:pPr algn="ctr"/>
            <a:r>
              <a:rPr lang="en-ZA" sz="3600" b="1" dirty="0"/>
              <a:t>Nested Control Structures:</a:t>
            </a:r>
            <a:endParaRPr lang="en-ZA" sz="3600" b="1" dirty="0">
              <a:latin typeface="Arial" panose="020B0604020202020204" pitchFamily="34" charset="0"/>
              <a:cs typeface="Arial" panose="020B0604020202020204" pitchFamily="34" charset="0"/>
            </a:endParaRPr>
          </a:p>
        </p:txBody>
      </p:sp>
      <p:sp>
        <p:nvSpPr>
          <p:cNvPr id="2" name="Content Placeholder 2">
            <a:extLst>
              <a:ext uri="{FF2B5EF4-FFF2-40B4-BE49-F238E27FC236}">
                <a16:creationId xmlns:a16="http://schemas.microsoft.com/office/drawing/2014/main" id="{B115209E-BD28-2AAB-6EAC-D797649A3651}"/>
              </a:ext>
            </a:extLst>
          </p:cNvPr>
          <p:cNvSpPr txBox="1">
            <a:spLocks/>
          </p:cNvSpPr>
          <p:nvPr/>
        </p:nvSpPr>
        <p:spPr>
          <a:xfrm>
            <a:off x="471488" y="2370221"/>
            <a:ext cx="5915025" cy="6552059"/>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US" sz="2400" dirty="0"/>
              <a:t>In programming, a </a:t>
            </a:r>
            <a:r>
              <a:rPr lang="en-US" sz="2400" b="1" dirty="0"/>
              <a:t>nested control structure</a:t>
            </a:r>
            <a:r>
              <a:rPr lang="en-US" sz="2400" dirty="0"/>
              <a:t> occurs when you place one control structure (like a for loop, while loop, or if statement) inside another.</a:t>
            </a:r>
          </a:p>
          <a:p>
            <a:pPr algn="l"/>
            <a:r>
              <a:rPr lang="en-US" sz="2400" dirty="0"/>
              <a:t>Nested control structures are needed in coding when a problem requires </a:t>
            </a:r>
            <a:r>
              <a:rPr lang="en-US" sz="2400" b="1" dirty="0"/>
              <a:t>one decision or loop inside another decision or loop</a:t>
            </a:r>
            <a:r>
              <a:rPr lang="en-US" sz="2400" dirty="0"/>
              <a:t>. They help programmers handle complex situations step by step.</a:t>
            </a:r>
            <a:endParaRPr lang="en-ZA" sz="2400" b="1" dirty="0"/>
          </a:p>
        </p:txBody>
      </p:sp>
    </p:spTree>
    <p:extLst>
      <p:ext uri="{BB962C8B-B14F-4D97-AF65-F5344CB8AC3E}">
        <p14:creationId xmlns:p14="http://schemas.microsoft.com/office/powerpoint/2010/main" val="404468598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7DCBC3-8B09-81B4-1C46-F36D5E861335}"/>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8D25C4B0-5A62-C5DE-641B-BE1F85DC460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1D9580A7-FC8E-6A58-88FE-9C57126D4AC6}"/>
              </a:ext>
            </a:extLst>
          </p:cNvPr>
          <p:cNvSpPr txBox="1"/>
          <p:nvPr/>
        </p:nvSpPr>
        <p:spPr>
          <a:xfrm>
            <a:off x="0" y="65927"/>
            <a:ext cx="6858000" cy="646331"/>
          </a:xfrm>
          <a:prstGeom prst="rect">
            <a:avLst/>
          </a:prstGeom>
          <a:noFill/>
        </p:spPr>
        <p:txBody>
          <a:bodyPr wrap="square" rtlCol="0">
            <a:spAutoFit/>
          </a:bodyPr>
          <a:lstStyle/>
          <a:p>
            <a:pPr algn="ctr"/>
            <a:r>
              <a:rPr lang="en-ZA" sz="3600" b="1" dirty="0"/>
              <a:t>Nested Control Structures:</a:t>
            </a:r>
            <a:endParaRPr lang="en-ZA" sz="3600" b="1" dirty="0">
              <a:latin typeface="Arial" panose="020B0604020202020204" pitchFamily="34" charset="0"/>
              <a:cs typeface="Arial" panose="020B0604020202020204" pitchFamily="34" charset="0"/>
            </a:endParaRPr>
          </a:p>
        </p:txBody>
      </p:sp>
      <p:sp>
        <p:nvSpPr>
          <p:cNvPr id="2" name="Content Placeholder 2">
            <a:extLst>
              <a:ext uri="{FF2B5EF4-FFF2-40B4-BE49-F238E27FC236}">
                <a16:creationId xmlns:a16="http://schemas.microsoft.com/office/drawing/2014/main" id="{3A963D7C-CACB-32BF-2722-74CB8F395D3C}"/>
              </a:ext>
            </a:extLst>
          </p:cNvPr>
          <p:cNvSpPr txBox="1">
            <a:spLocks/>
          </p:cNvSpPr>
          <p:nvPr/>
        </p:nvSpPr>
        <p:spPr>
          <a:xfrm>
            <a:off x="471488" y="2370221"/>
            <a:ext cx="5915025" cy="6552059"/>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ZA" sz="2000" b="1" dirty="0"/>
              <a:t>Examples:</a:t>
            </a:r>
          </a:p>
          <a:p>
            <a:pPr algn="l"/>
            <a:r>
              <a:rPr lang="en-US" sz="2000" dirty="0"/>
              <a:t>Suppose you want to create the following pattern:</a:t>
            </a:r>
          </a:p>
          <a:p>
            <a:pPr algn="l"/>
            <a:r>
              <a:rPr lang="en-ZA" sz="2000" b="1" dirty="0"/>
              <a:t>*</a:t>
            </a:r>
          </a:p>
          <a:p>
            <a:pPr algn="l"/>
            <a:r>
              <a:rPr lang="en-ZA" sz="2000" b="1" dirty="0"/>
              <a:t>**</a:t>
            </a:r>
          </a:p>
          <a:p>
            <a:pPr algn="l"/>
            <a:r>
              <a:rPr lang="en-ZA" sz="2000" b="1" dirty="0"/>
              <a:t>***</a:t>
            </a:r>
          </a:p>
          <a:p>
            <a:pPr algn="l"/>
            <a:r>
              <a:rPr lang="en-ZA" sz="2000" b="1" dirty="0"/>
              <a:t>****</a:t>
            </a:r>
          </a:p>
          <a:p>
            <a:pPr algn="l"/>
            <a:r>
              <a:rPr lang="en-ZA" sz="2000" b="1" dirty="0"/>
              <a:t>*****</a:t>
            </a:r>
          </a:p>
          <a:p>
            <a:pPr algn="l"/>
            <a:r>
              <a:rPr lang="en-ZA" sz="2000" dirty="0"/>
              <a:t>You </a:t>
            </a:r>
            <a:r>
              <a:rPr lang="en-US" sz="2000" dirty="0"/>
              <a:t>can use the value of </a:t>
            </a:r>
            <a:r>
              <a:rPr lang="en-US" sz="2000" b="1" dirty="0" err="1"/>
              <a:t>i</a:t>
            </a:r>
            <a:r>
              <a:rPr lang="en-US" sz="2000" b="1" dirty="0"/>
              <a:t> </a:t>
            </a:r>
            <a:r>
              <a:rPr lang="en-US" sz="2000" dirty="0"/>
              <a:t>as the limiting condition in another </a:t>
            </a:r>
            <a:r>
              <a:rPr lang="en-US" sz="2000" b="1" dirty="0"/>
              <a:t>for </a:t>
            </a:r>
            <a:r>
              <a:rPr lang="en-US" sz="2000" dirty="0"/>
              <a:t>loop nested within this loop to control the number of stars in a line.</a:t>
            </a:r>
            <a:endParaRPr lang="en-ZA" sz="2000" dirty="0"/>
          </a:p>
          <a:p>
            <a:pPr algn="l"/>
            <a:r>
              <a:rPr lang="nn-NO" sz="2000" b="1" dirty="0">
                <a:solidFill>
                  <a:srgbClr val="0070C0"/>
                </a:solidFill>
              </a:rPr>
              <a:t>for</a:t>
            </a:r>
            <a:r>
              <a:rPr lang="nn-NO" sz="2000" b="1" dirty="0"/>
              <a:t> (i = 1; i &lt;= 5; i++)</a:t>
            </a:r>
          </a:p>
          <a:p>
            <a:pPr algn="l"/>
            <a:r>
              <a:rPr lang="en-ZA" sz="2000" b="1" dirty="0"/>
              <a:t>{</a:t>
            </a:r>
          </a:p>
          <a:p>
            <a:pPr algn="l"/>
            <a:r>
              <a:rPr lang="en-US" sz="2000" b="1" dirty="0"/>
              <a:t>	</a:t>
            </a:r>
            <a:r>
              <a:rPr lang="en-US" sz="2000" b="1" dirty="0">
                <a:solidFill>
                  <a:srgbClr val="0070C0"/>
                </a:solidFill>
              </a:rPr>
              <a:t>for</a:t>
            </a:r>
            <a:r>
              <a:rPr lang="en-US" sz="2000" b="1" dirty="0"/>
              <a:t> (j = 1; j &lt;= </a:t>
            </a:r>
            <a:r>
              <a:rPr lang="en-US" sz="2000" b="1" dirty="0" err="1"/>
              <a:t>i</a:t>
            </a:r>
            <a:r>
              <a:rPr lang="en-US" sz="2000" b="1" dirty="0"/>
              <a:t>; </a:t>
            </a:r>
            <a:r>
              <a:rPr lang="en-US" sz="2000" b="1" dirty="0" err="1"/>
              <a:t>j++</a:t>
            </a:r>
            <a:r>
              <a:rPr lang="en-US" sz="2000" b="1" dirty="0"/>
              <a:t>)</a:t>
            </a:r>
          </a:p>
          <a:p>
            <a:pPr algn="l"/>
            <a:r>
              <a:rPr lang="en-ZA" sz="2000" b="1" dirty="0"/>
              <a:t>		</a:t>
            </a:r>
            <a:r>
              <a:rPr lang="en-ZA" sz="2000" b="1" dirty="0" err="1">
                <a:solidFill>
                  <a:srgbClr val="0070C0"/>
                </a:solidFill>
              </a:rPr>
              <a:t>cout</a:t>
            </a:r>
            <a:r>
              <a:rPr lang="en-ZA" sz="2000" b="1" dirty="0"/>
              <a:t> &lt;&lt; "*";</a:t>
            </a:r>
          </a:p>
          <a:p>
            <a:pPr algn="l"/>
            <a:r>
              <a:rPr lang="en-ZA" sz="2000" b="1" dirty="0"/>
              <a:t>		</a:t>
            </a:r>
            <a:r>
              <a:rPr lang="en-ZA" sz="2000" b="1" dirty="0" err="1">
                <a:solidFill>
                  <a:srgbClr val="0070C0"/>
                </a:solidFill>
              </a:rPr>
              <a:t>cout</a:t>
            </a:r>
            <a:r>
              <a:rPr lang="en-ZA" sz="2000" b="1" dirty="0"/>
              <a:t> &lt;&lt; </a:t>
            </a:r>
            <a:r>
              <a:rPr lang="en-ZA" sz="2000" b="1" dirty="0" err="1"/>
              <a:t>endl</a:t>
            </a:r>
            <a:r>
              <a:rPr lang="en-ZA" sz="2000" b="1" dirty="0"/>
              <a:t>;</a:t>
            </a:r>
          </a:p>
          <a:p>
            <a:pPr algn="l"/>
            <a:r>
              <a:rPr lang="en-ZA" sz="2000" b="1" dirty="0"/>
              <a:t>}</a:t>
            </a:r>
            <a:endParaRPr lang="en-US" sz="2000" b="1" dirty="0"/>
          </a:p>
        </p:txBody>
      </p:sp>
    </p:spTree>
    <p:extLst>
      <p:ext uri="{BB962C8B-B14F-4D97-AF65-F5344CB8AC3E}">
        <p14:creationId xmlns:p14="http://schemas.microsoft.com/office/powerpoint/2010/main" val="48400903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620C95-F48E-659F-1B9A-E37438D19D67}"/>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3ACAD286-DF8C-0B5C-3125-D3C3436234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C273589A-FE8E-6E7C-2DC7-78BCDD7DCCEF}"/>
              </a:ext>
            </a:extLst>
          </p:cNvPr>
          <p:cNvSpPr txBox="1"/>
          <p:nvPr/>
        </p:nvSpPr>
        <p:spPr>
          <a:xfrm>
            <a:off x="0" y="65927"/>
            <a:ext cx="6858000" cy="646331"/>
          </a:xfrm>
          <a:prstGeom prst="rect">
            <a:avLst/>
          </a:prstGeom>
          <a:noFill/>
        </p:spPr>
        <p:txBody>
          <a:bodyPr wrap="square" rtlCol="0">
            <a:spAutoFit/>
          </a:bodyPr>
          <a:lstStyle/>
          <a:p>
            <a:pPr algn="ctr"/>
            <a:r>
              <a:rPr lang="en-ZA" sz="3600" b="1" dirty="0"/>
              <a:t>Nested Control Structures:</a:t>
            </a:r>
            <a:endParaRPr lang="en-ZA" sz="3600" b="1" dirty="0">
              <a:latin typeface="Arial" panose="020B0604020202020204" pitchFamily="34" charset="0"/>
              <a:cs typeface="Arial" panose="020B0604020202020204" pitchFamily="34" charset="0"/>
            </a:endParaRPr>
          </a:p>
        </p:txBody>
      </p:sp>
      <p:sp>
        <p:nvSpPr>
          <p:cNvPr id="2" name="Content Placeholder 2">
            <a:extLst>
              <a:ext uri="{FF2B5EF4-FFF2-40B4-BE49-F238E27FC236}">
                <a16:creationId xmlns:a16="http://schemas.microsoft.com/office/drawing/2014/main" id="{E3E479FB-B089-6508-C490-36EEE663621B}"/>
              </a:ext>
            </a:extLst>
          </p:cNvPr>
          <p:cNvSpPr txBox="1">
            <a:spLocks/>
          </p:cNvSpPr>
          <p:nvPr/>
        </p:nvSpPr>
        <p:spPr>
          <a:xfrm>
            <a:off x="471488" y="2637014"/>
            <a:ext cx="5915025" cy="6285266"/>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ZA" sz="2400" b="1" dirty="0"/>
              <a:t>Examples (pg. 192):</a:t>
            </a:r>
          </a:p>
          <a:p>
            <a:pPr algn="l"/>
            <a:r>
              <a:rPr lang="en-US" sz="2000" dirty="0"/>
              <a:t>The program in Display 3.15 was designed to help track the reproduction rate of the green-necked vulture, an endangered species. In the district where this vulture survives, conservationists annually perform a count of the number of eggs in green-necked vulture nests. The program in Display 3.15 takes the reports of each of the conservationists in the district and calculates the total number of eggs contained in all the nests they observed.</a:t>
            </a:r>
          </a:p>
          <a:p>
            <a:pPr algn="l"/>
            <a:r>
              <a:rPr lang="en-US" sz="2000" dirty="0"/>
              <a:t>Each conservationist’s report consists of a list of numbers. Each number is the count of the number of eggs observed in one green-necked vulture nest.</a:t>
            </a:r>
          </a:p>
          <a:p>
            <a:pPr algn="l"/>
            <a:r>
              <a:rPr lang="en-US" sz="2000" dirty="0"/>
              <a:t>The program reads in the report of one conservationist and calculates the total number of eggs found by this conservationist. The list of numbers for each conservationist has a negative number added to the end of the list. This serves as a sentinel value. The program loops through the number of reports and calculates the total number of eggs found for each report.</a:t>
            </a:r>
            <a:endParaRPr lang="en-US" sz="2000" b="1" dirty="0"/>
          </a:p>
        </p:txBody>
      </p:sp>
    </p:spTree>
    <p:extLst>
      <p:ext uri="{BB962C8B-B14F-4D97-AF65-F5344CB8AC3E}">
        <p14:creationId xmlns:p14="http://schemas.microsoft.com/office/powerpoint/2010/main" val="366971288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3BA072-2F40-8454-F73B-CF02BADE96AF}"/>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472F9367-528C-B32A-5816-74F18B1AE0E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EECB7CF0-3484-0F2C-9F79-62799A0E6F39}"/>
              </a:ext>
            </a:extLst>
          </p:cNvPr>
          <p:cNvSpPr txBox="1"/>
          <p:nvPr/>
        </p:nvSpPr>
        <p:spPr>
          <a:xfrm>
            <a:off x="0" y="65927"/>
            <a:ext cx="6858000" cy="646331"/>
          </a:xfrm>
          <a:prstGeom prst="rect">
            <a:avLst/>
          </a:prstGeom>
          <a:noFill/>
        </p:spPr>
        <p:txBody>
          <a:bodyPr wrap="square" rtlCol="0">
            <a:spAutoFit/>
          </a:bodyPr>
          <a:lstStyle/>
          <a:p>
            <a:pPr algn="ctr"/>
            <a:r>
              <a:rPr lang="en-ZA" sz="3600" b="1" dirty="0"/>
              <a:t>Nested Control Structures:</a:t>
            </a:r>
            <a:endParaRPr lang="en-ZA" sz="3600" b="1" dirty="0">
              <a:latin typeface="Arial" panose="020B0604020202020204" pitchFamily="34" charset="0"/>
              <a:cs typeface="Arial" panose="020B0604020202020204" pitchFamily="34" charset="0"/>
            </a:endParaRPr>
          </a:p>
        </p:txBody>
      </p:sp>
      <p:sp>
        <p:nvSpPr>
          <p:cNvPr id="2" name="Content Placeholder 2">
            <a:extLst>
              <a:ext uri="{FF2B5EF4-FFF2-40B4-BE49-F238E27FC236}">
                <a16:creationId xmlns:a16="http://schemas.microsoft.com/office/drawing/2014/main" id="{5978DAD2-E1AE-9564-2659-BB3216273E8B}"/>
              </a:ext>
            </a:extLst>
          </p:cNvPr>
          <p:cNvSpPr txBox="1">
            <a:spLocks/>
          </p:cNvSpPr>
          <p:nvPr/>
        </p:nvSpPr>
        <p:spPr>
          <a:xfrm>
            <a:off x="471488" y="2637014"/>
            <a:ext cx="5915025" cy="6285266"/>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ZA" sz="2400" b="1" dirty="0"/>
              <a:t>Examples (pg. 192):</a:t>
            </a:r>
          </a:p>
          <a:p>
            <a:pPr algn="l"/>
            <a:endParaRPr lang="en-ZA" sz="2400" b="1" dirty="0"/>
          </a:p>
          <a:p>
            <a:pPr algn="l"/>
            <a:endParaRPr lang="en-ZA" sz="2400" b="1" dirty="0"/>
          </a:p>
        </p:txBody>
      </p:sp>
      <p:pic>
        <p:nvPicPr>
          <p:cNvPr id="6" name="Picture 5">
            <a:extLst>
              <a:ext uri="{FF2B5EF4-FFF2-40B4-BE49-F238E27FC236}">
                <a16:creationId xmlns:a16="http://schemas.microsoft.com/office/drawing/2014/main" id="{76863CD6-83C2-75F2-137A-17EC90EBA090}"/>
              </a:ext>
            </a:extLst>
          </p:cNvPr>
          <p:cNvPicPr>
            <a:picLocks noChangeAspect="1"/>
          </p:cNvPicPr>
          <p:nvPr/>
        </p:nvPicPr>
        <p:blipFill>
          <a:blip r:embed="rId3"/>
          <a:stretch>
            <a:fillRect/>
          </a:stretch>
        </p:blipFill>
        <p:spPr>
          <a:xfrm>
            <a:off x="274126" y="3104147"/>
            <a:ext cx="6261101" cy="5979695"/>
          </a:xfrm>
          <a:prstGeom prst="rect">
            <a:avLst/>
          </a:prstGeom>
        </p:spPr>
      </p:pic>
    </p:spTree>
    <p:extLst>
      <p:ext uri="{BB962C8B-B14F-4D97-AF65-F5344CB8AC3E}">
        <p14:creationId xmlns:p14="http://schemas.microsoft.com/office/powerpoint/2010/main" val="125793430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138DB1-5D1A-B8A8-82DF-DD93A83ADFE7}"/>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A1756918-1D59-44B5-379A-DC4B72C272D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9CF2B65E-805F-38DB-86DA-FD8B4A7B3F4C}"/>
              </a:ext>
            </a:extLst>
          </p:cNvPr>
          <p:cNvSpPr txBox="1"/>
          <p:nvPr/>
        </p:nvSpPr>
        <p:spPr>
          <a:xfrm>
            <a:off x="0" y="65927"/>
            <a:ext cx="6858000" cy="646331"/>
          </a:xfrm>
          <a:prstGeom prst="rect">
            <a:avLst/>
          </a:prstGeom>
          <a:noFill/>
        </p:spPr>
        <p:txBody>
          <a:bodyPr wrap="square" rtlCol="0">
            <a:spAutoFit/>
          </a:bodyPr>
          <a:lstStyle/>
          <a:p>
            <a:pPr algn="ctr"/>
            <a:r>
              <a:rPr lang="en-ZA" sz="3600" b="1" dirty="0"/>
              <a:t>Nested Control Structures:</a:t>
            </a:r>
            <a:endParaRPr lang="en-ZA" sz="3600" b="1" dirty="0">
              <a:latin typeface="Arial" panose="020B0604020202020204" pitchFamily="34" charset="0"/>
              <a:cs typeface="Arial" panose="020B0604020202020204" pitchFamily="34" charset="0"/>
            </a:endParaRPr>
          </a:p>
        </p:txBody>
      </p:sp>
      <p:sp>
        <p:nvSpPr>
          <p:cNvPr id="2" name="Content Placeholder 2">
            <a:extLst>
              <a:ext uri="{FF2B5EF4-FFF2-40B4-BE49-F238E27FC236}">
                <a16:creationId xmlns:a16="http://schemas.microsoft.com/office/drawing/2014/main" id="{945B5032-1A79-E2BD-CB51-219AAF02CF6F}"/>
              </a:ext>
            </a:extLst>
          </p:cNvPr>
          <p:cNvSpPr txBox="1">
            <a:spLocks/>
          </p:cNvSpPr>
          <p:nvPr/>
        </p:nvSpPr>
        <p:spPr>
          <a:xfrm>
            <a:off x="471488" y="2637014"/>
            <a:ext cx="5915025" cy="6285266"/>
          </a:xfrm>
          <a:prstGeom prst="rect">
            <a:avLst/>
          </a:prstGeom>
        </p:spPr>
        <p:txBody>
          <a:bodyPr vert="horz" lIns="91440" tIns="45720" rIns="91440" bIns="45720" rtlCol="0">
            <a:normAutofit lnSpcReduction="10000"/>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ZA" sz="2400" b="1" dirty="0"/>
              <a:t>Exercises:</a:t>
            </a:r>
          </a:p>
          <a:p>
            <a:pPr algn="l"/>
            <a:endParaRPr lang="en-ZA" sz="2400" b="1" dirty="0"/>
          </a:p>
          <a:p>
            <a:pPr algn="l"/>
            <a:r>
              <a:rPr lang="en-US" sz="2200" b="0" i="0" u="none" strike="noStrike" baseline="0" dirty="0">
                <a:solidFill>
                  <a:srgbClr val="211808"/>
                </a:solidFill>
                <a:latin typeface="WarnockPro-Regular"/>
              </a:rPr>
              <a:t>Suppose that the input is </a:t>
            </a:r>
            <a:r>
              <a:rPr lang="en-US" sz="2200" b="1" i="0" u="none" strike="noStrike" baseline="0" dirty="0">
                <a:solidFill>
                  <a:srgbClr val="211808"/>
                </a:solidFill>
                <a:latin typeface="CourierStd-Bold"/>
              </a:rPr>
              <a:t>20 -16 -5 15 6 0</a:t>
            </a:r>
            <a:r>
              <a:rPr lang="en-US" sz="2200" b="0" i="0" u="none" strike="noStrike" baseline="0" dirty="0">
                <a:solidFill>
                  <a:srgbClr val="211808"/>
                </a:solidFill>
                <a:latin typeface="WarnockPro-Regular"/>
              </a:rPr>
              <a:t>. </a:t>
            </a:r>
          </a:p>
          <a:p>
            <a:pPr algn="l"/>
            <a:r>
              <a:rPr lang="en-US" sz="2200" b="0" i="0" u="none" strike="noStrike" baseline="0" dirty="0">
                <a:solidFill>
                  <a:srgbClr val="211808"/>
                </a:solidFill>
                <a:latin typeface="WarnockPro-Regular"/>
              </a:rPr>
              <a:t>What is the output of the following code?</a:t>
            </a:r>
          </a:p>
          <a:p>
            <a:pPr algn="l"/>
            <a:endParaRPr lang="en-ZA" sz="2200" b="1" i="0" u="none" strike="noStrike" baseline="0" dirty="0">
              <a:solidFill>
                <a:srgbClr val="6A8899"/>
              </a:solidFill>
              <a:latin typeface="CourierStd-Bold"/>
            </a:endParaRPr>
          </a:p>
          <a:p>
            <a:pPr algn="l"/>
            <a:r>
              <a:rPr lang="en-ZA" sz="2000" b="1" i="0" u="none" strike="noStrike" baseline="0" dirty="0">
                <a:solidFill>
                  <a:srgbClr val="0070C0"/>
                </a:solidFill>
                <a:latin typeface="CourierStd-Bold"/>
              </a:rPr>
              <a:t>int</a:t>
            </a:r>
            <a:r>
              <a:rPr lang="en-ZA" sz="2000" b="1" i="0" u="none" strike="noStrike" baseline="0" dirty="0">
                <a:solidFill>
                  <a:srgbClr val="6A8899"/>
                </a:solidFill>
                <a:latin typeface="CourierStd-Bold"/>
              </a:rPr>
              <a:t> </a:t>
            </a:r>
            <a:r>
              <a:rPr lang="en-ZA" sz="2000" b="1" i="0" u="none" strike="noStrike" baseline="0" dirty="0" err="1">
                <a:solidFill>
                  <a:srgbClr val="211808"/>
                </a:solidFill>
                <a:latin typeface="CourierStd-Bold"/>
              </a:rPr>
              <a:t>num</a:t>
            </a:r>
            <a:r>
              <a:rPr lang="en-ZA" sz="2000" b="1" i="0" u="none" strike="noStrike" baseline="0" dirty="0">
                <a:solidFill>
                  <a:srgbClr val="211808"/>
                </a:solidFill>
                <a:latin typeface="CourierStd-Bold"/>
              </a:rPr>
              <a:t>;</a:t>
            </a:r>
          </a:p>
          <a:p>
            <a:pPr algn="l"/>
            <a:r>
              <a:rPr lang="en-ZA" sz="2000" b="1" i="0" u="none" strike="noStrike" baseline="0" dirty="0">
                <a:solidFill>
                  <a:srgbClr val="0070C0"/>
                </a:solidFill>
                <a:latin typeface="CourierStd-Bold"/>
              </a:rPr>
              <a:t>int</a:t>
            </a:r>
            <a:r>
              <a:rPr lang="en-ZA" sz="2000" b="1" i="0" u="none" strike="noStrike" baseline="0" dirty="0">
                <a:solidFill>
                  <a:srgbClr val="6A8899"/>
                </a:solidFill>
                <a:latin typeface="CourierStd-Bold"/>
              </a:rPr>
              <a:t> </a:t>
            </a:r>
            <a:r>
              <a:rPr lang="en-ZA" sz="2000" b="1" i="0" u="none" strike="noStrike" baseline="0" dirty="0">
                <a:solidFill>
                  <a:srgbClr val="211808"/>
                </a:solidFill>
                <a:latin typeface="CourierStd-Bold"/>
              </a:rPr>
              <a:t>temp = 0;</a:t>
            </a:r>
          </a:p>
          <a:p>
            <a:pPr algn="l"/>
            <a:r>
              <a:rPr lang="en-ZA" sz="2000" b="1" i="0" u="none" strike="noStrike" baseline="0" dirty="0" err="1">
                <a:solidFill>
                  <a:srgbClr val="0070C0"/>
                </a:solidFill>
                <a:latin typeface="CourierStd-Bold"/>
              </a:rPr>
              <a:t>cin</a:t>
            </a:r>
            <a:r>
              <a:rPr lang="en-ZA" sz="2000" b="1" i="0" u="none" strike="noStrike" baseline="0" dirty="0">
                <a:solidFill>
                  <a:srgbClr val="211808"/>
                </a:solidFill>
                <a:latin typeface="CourierStd-Bold"/>
              </a:rPr>
              <a:t> &gt;&gt; </a:t>
            </a:r>
            <a:r>
              <a:rPr lang="en-ZA" sz="2000" b="1" i="0" u="none" strike="noStrike" baseline="0" dirty="0" err="1">
                <a:solidFill>
                  <a:srgbClr val="211808"/>
                </a:solidFill>
                <a:latin typeface="CourierStd-Bold"/>
              </a:rPr>
              <a:t>num</a:t>
            </a:r>
            <a:r>
              <a:rPr lang="en-ZA" sz="2000" b="1" i="0" u="none" strike="noStrike" baseline="0" dirty="0">
                <a:solidFill>
                  <a:srgbClr val="211808"/>
                </a:solidFill>
                <a:latin typeface="CourierStd-Bold"/>
              </a:rPr>
              <a:t>;</a:t>
            </a:r>
          </a:p>
          <a:p>
            <a:pPr algn="l"/>
            <a:r>
              <a:rPr lang="en-ZA" sz="2000" b="1" i="0" u="none" strike="noStrike" baseline="0" dirty="0">
                <a:solidFill>
                  <a:srgbClr val="0070C0"/>
                </a:solidFill>
                <a:latin typeface="CourierStd-Bold"/>
              </a:rPr>
              <a:t>while</a:t>
            </a:r>
            <a:r>
              <a:rPr lang="en-ZA" sz="2000" b="1" i="0" u="none" strike="noStrike" baseline="0" dirty="0">
                <a:solidFill>
                  <a:srgbClr val="6A8899"/>
                </a:solidFill>
                <a:latin typeface="CourierStd-Bold"/>
              </a:rPr>
              <a:t> </a:t>
            </a:r>
            <a:r>
              <a:rPr lang="en-ZA" sz="2000" b="1" i="0" u="none" strike="noStrike" baseline="0" dirty="0">
                <a:solidFill>
                  <a:srgbClr val="211808"/>
                </a:solidFill>
                <a:latin typeface="CourierStd-Bold"/>
              </a:rPr>
              <a:t>(</a:t>
            </a:r>
            <a:r>
              <a:rPr lang="en-ZA" sz="2000" b="1" i="0" u="none" strike="noStrike" baseline="0" dirty="0" err="1">
                <a:solidFill>
                  <a:srgbClr val="211808"/>
                </a:solidFill>
                <a:latin typeface="CourierStd-Bold"/>
              </a:rPr>
              <a:t>num</a:t>
            </a:r>
            <a:r>
              <a:rPr lang="en-ZA" sz="2000" b="1" i="0" u="none" strike="noStrike" baseline="0" dirty="0">
                <a:solidFill>
                  <a:srgbClr val="211808"/>
                </a:solidFill>
                <a:latin typeface="CourierStd-Bold"/>
              </a:rPr>
              <a:t> != 0)</a:t>
            </a:r>
          </a:p>
          <a:p>
            <a:pPr algn="l"/>
            <a:r>
              <a:rPr lang="en-ZA" sz="2000" b="1" i="0" u="none" strike="noStrike" baseline="0" dirty="0">
                <a:solidFill>
                  <a:srgbClr val="211808"/>
                </a:solidFill>
                <a:latin typeface="CourierStd-Bold"/>
              </a:rPr>
              <a:t>{</a:t>
            </a:r>
          </a:p>
          <a:p>
            <a:pPr lvl="1" algn="l"/>
            <a:r>
              <a:rPr lang="en-ZA" sz="2000" b="1" i="0" u="none" strike="noStrike" baseline="0" dirty="0">
                <a:solidFill>
                  <a:srgbClr val="0070C0"/>
                </a:solidFill>
                <a:latin typeface="CourierStd-Bold"/>
              </a:rPr>
              <a:t>if</a:t>
            </a:r>
            <a:r>
              <a:rPr lang="en-ZA" sz="2000" b="1" i="0" u="none" strike="noStrike" baseline="0" dirty="0">
                <a:solidFill>
                  <a:srgbClr val="6A8899"/>
                </a:solidFill>
                <a:latin typeface="CourierStd-Bold"/>
              </a:rPr>
              <a:t> </a:t>
            </a:r>
            <a:r>
              <a:rPr lang="en-ZA" sz="2000" b="1" i="0" u="none" strike="noStrike" baseline="0" dirty="0">
                <a:solidFill>
                  <a:srgbClr val="211808"/>
                </a:solidFill>
                <a:latin typeface="CourierStd-Bold"/>
              </a:rPr>
              <a:t>(</a:t>
            </a:r>
            <a:r>
              <a:rPr lang="en-ZA" sz="2000" b="1" i="0" u="none" strike="noStrike" baseline="0" dirty="0" err="1">
                <a:solidFill>
                  <a:srgbClr val="211808"/>
                </a:solidFill>
                <a:latin typeface="CourierStd-Bold"/>
              </a:rPr>
              <a:t>num</a:t>
            </a:r>
            <a:r>
              <a:rPr lang="en-ZA" sz="2000" b="1" i="0" u="none" strike="noStrike" baseline="0" dirty="0">
                <a:solidFill>
                  <a:srgbClr val="211808"/>
                </a:solidFill>
                <a:latin typeface="CourierStd-Bold"/>
              </a:rPr>
              <a:t> % 2 == 0)</a:t>
            </a:r>
          </a:p>
          <a:p>
            <a:pPr lvl="1" algn="l"/>
            <a:r>
              <a:rPr lang="en-ZA" sz="2000" b="1" i="0" u="none" strike="noStrike" baseline="0" dirty="0">
                <a:solidFill>
                  <a:srgbClr val="211808"/>
                </a:solidFill>
                <a:latin typeface="CourierStd-Bold"/>
              </a:rPr>
              <a:t>	temp = temp + </a:t>
            </a:r>
            <a:r>
              <a:rPr lang="en-ZA" sz="2000" b="1" i="0" u="none" strike="noStrike" baseline="0" dirty="0" err="1">
                <a:solidFill>
                  <a:srgbClr val="211808"/>
                </a:solidFill>
                <a:latin typeface="CourierStd-Bold"/>
              </a:rPr>
              <a:t>num</a:t>
            </a:r>
            <a:r>
              <a:rPr lang="en-ZA" sz="2000" b="1" i="0" u="none" strike="noStrike" baseline="0" dirty="0">
                <a:solidFill>
                  <a:srgbClr val="211808"/>
                </a:solidFill>
                <a:latin typeface="CourierStd-Bold"/>
              </a:rPr>
              <a:t>;</a:t>
            </a:r>
          </a:p>
          <a:p>
            <a:pPr lvl="1" algn="l"/>
            <a:r>
              <a:rPr lang="en-ZA" sz="2000" b="1" i="0" u="none" strike="noStrike" baseline="0" dirty="0">
                <a:solidFill>
                  <a:srgbClr val="0070C0"/>
                </a:solidFill>
                <a:latin typeface="CourierStd-Bold"/>
              </a:rPr>
              <a:t>else</a:t>
            </a:r>
          </a:p>
          <a:p>
            <a:pPr lvl="2" algn="l"/>
            <a:r>
              <a:rPr lang="en-ZA" sz="2000" b="1" i="0" u="none" strike="noStrike" baseline="0" dirty="0">
                <a:solidFill>
                  <a:srgbClr val="211808"/>
                </a:solidFill>
                <a:latin typeface="CourierStd-Bold"/>
              </a:rPr>
              <a:t>temp = temp - </a:t>
            </a:r>
            <a:r>
              <a:rPr lang="en-ZA" sz="2000" b="1" i="0" u="none" strike="noStrike" baseline="0" dirty="0" err="1">
                <a:solidFill>
                  <a:srgbClr val="211808"/>
                </a:solidFill>
                <a:latin typeface="CourierStd-Bold"/>
              </a:rPr>
              <a:t>num</a:t>
            </a:r>
            <a:r>
              <a:rPr lang="en-ZA" sz="2000" b="1" i="0" u="none" strike="noStrike" baseline="0" dirty="0">
                <a:solidFill>
                  <a:srgbClr val="211808"/>
                </a:solidFill>
                <a:latin typeface="CourierStd-Bold"/>
              </a:rPr>
              <a:t>;</a:t>
            </a:r>
          </a:p>
          <a:p>
            <a:pPr lvl="2" algn="l"/>
            <a:r>
              <a:rPr lang="en-ZA" sz="2000" b="1" i="0" u="none" strike="noStrike" baseline="0" dirty="0" err="1">
                <a:solidFill>
                  <a:srgbClr val="0070C0"/>
                </a:solidFill>
                <a:latin typeface="CourierStd-Bold"/>
              </a:rPr>
              <a:t>cin</a:t>
            </a:r>
            <a:r>
              <a:rPr lang="en-ZA" sz="2000" b="1" i="0" u="none" strike="noStrike" baseline="0" dirty="0">
                <a:solidFill>
                  <a:srgbClr val="211808"/>
                </a:solidFill>
                <a:latin typeface="CourierStd-Bold"/>
              </a:rPr>
              <a:t> &gt;&gt; </a:t>
            </a:r>
            <a:r>
              <a:rPr lang="en-ZA" sz="2000" b="1" i="0" u="none" strike="noStrike" baseline="0" dirty="0" err="1">
                <a:solidFill>
                  <a:srgbClr val="211808"/>
                </a:solidFill>
                <a:latin typeface="CourierStd-Bold"/>
              </a:rPr>
              <a:t>num</a:t>
            </a:r>
            <a:r>
              <a:rPr lang="en-ZA" sz="2000" b="1" i="0" u="none" strike="noStrike" baseline="0" dirty="0">
                <a:solidFill>
                  <a:srgbClr val="211808"/>
                </a:solidFill>
                <a:latin typeface="CourierStd-Bold"/>
              </a:rPr>
              <a:t>;</a:t>
            </a:r>
          </a:p>
          <a:p>
            <a:pPr algn="l"/>
            <a:r>
              <a:rPr lang="en-ZA" sz="2000" b="1" i="0" u="none" strike="noStrike" baseline="0" dirty="0">
                <a:solidFill>
                  <a:srgbClr val="211808"/>
                </a:solidFill>
                <a:latin typeface="CourierStd-Bold"/>
              </a:rPr>
              <a:t>}</a:t>
            </a:r>
          </a:p>
          <a:p>
            <a:pPr algn="l"/>
            <a:r>
              <a:rPr lang="en-ZA" sz="2000" b="1" i="0" u="none" strike="noStrike" baseline="0" dirty="0" err="1">
                <a:solidFill>
                  <a:srgbClr val="211808"/>
                </a:solidFill>
                <a:latin typeface="CourierStd-Bold"/>
              </a:rPr>
              <a:t>cout</a:t>
            </a:r>
            <a:r>
              <a:rPr lang="en-ZA" sz="2000" b="1" i="0" u="none" strike="noStrike" baseline="0" dirty="0">
                <a:solidFill>
                  <a:srgbClr val="211808"/>
                </a:solidFill>
                <a:latin typeface="CourierStd-Bold"/>
              </a:rPr>
              <a:t> &lt;&lt; "temp = " &lt;&lt; temp &lt;&lt; </a:t>
            </a:r>
            <a:r>
              <a:rPr lang="en-ZA" sz="2000" b="1" i="0" u="none" strike="noStrike" baseline="0" dirty="0" err="1">
                <a:solidFill>
                  <a:srgbClr val="211808"/>
                </a:solidFill>
                <a:latin typeface="CourierStd-Bold"/>
              </a:rPr>
              <a:t>endl</a:t>
            </a:r>
            <a:r>
              <a:rPr lang="en-ZA" sz="2000" b="1" i="0" u="none" strike="noStrike" baseline="0" dirty="0">
                <a:solidFill>
                  <a:srgbClr val="211808"/>
                </a:solidFill>
                <a:latin typeface="CourierStd-Bold"/>
              </a:rPr>
              <a:t>;</a:t>
            </a:r>
            <a:endParaRPr lang="en-ZA" sz="2000" b="1" dirty="0"/>
          </a:p>
          <a:p>
            <a:pPr algn="l"/>
            <a:endParaRPr lang="en-ZA" sz="2400" b="1" dirty="0"/>
          </a:p>
        </p:txBody>
      </p:sp>
    </p:spTree>
    <p:extLst>
      <p:ext uri="{BB962C8B-B14F-4D97-AF65-F5344CB8AC3E}">
        <p14:creationId xmlns:p14="http://schemas.microsoft.com/office/powerpoint/2010/main" val="354627148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D53CB9-330C-9D0F-387C-7C612635119B}"/>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DAC803B0-D14C-D25B-BF13-FF1B4183915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A9D91B2B-FE47-F9DB-F13C-4104D3C48590}"/>
              </a:ext>
            </a:extLst>
          </p:cNvPr>
          <p:cNvSpPr txBox="1"/>
          <p:nvPr/>
        </p:nvSpPr>
        <p:spPr>
          <a:xfrm>
            <a:off x="0" y="65927"/>
            <a:ext cx="6858000" cy="646331"/>
          </a:xfrm>
          <a:prstGeom prst="rect">
            <a:avLst/>
          </a:prstGeom>
          <a:noFill/>
        </p:spPr>
        <p:txBody>
          <a:bodyPr wrap="square" rtlCol="0">
            <a:spAutoFit/>
          </a:bodyPr>
          <a:lstStyle/>
          <a:p>
            <a:pPr algn="ctr"/>
            <a:r>
              <a:rPr lang="en-ZA" sz="3600" b="1" dirty="0"/>
              <a:t>Nested Control Structures:</a:t>
            </a:r>
            <a:endParaRPr lang="en-ZA" sz="3600" b="1" dirty="0">
              <a:latin typeface="Arial" panose="020B0604020202020204" pitchFamily="34" charset="0"/>
              <a:cs typeface="Arial" panose="020B0604020202020204" pitchFamily="34" charset="0"/>
            </a:endParaRPr>
          </a:p>
        </p:txBody>
      </p:sp>
      <p:sp>
        <p:nvSpPr>
          <p:cNvPr id="2" name="Content Placeholder 2">
            <a:extLst>
              <a:ext uri="{FF2B5EF4-FFF2-40B4-BE49-F238E27FC236}">
                <a16:creationId xmlns:a16="http://schemas.microsoft.com/office/drawing/2014/main" id="{668DC498-4902-E380-D3AE-139A52CCE55C}"/>
              </a:ext>
            </a:extLst>
          </p:cNvPr>
          <p:cNvSpPr txBox="1">
            <a:spLocks/>
          </p:cNvSpPr>
          <p:nvPr/>
        </p:nvSpPr>
        <p:spPr>
          <a:xfrm>
            <a:off x="471488" y="2637014"/>
            <a:ext cx="5915025" cy="6285266"/>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ZA" sz="2400" b="1" dirty="0"/>
              <a:t>Exercises:</a:t>
            </a:r>
          </a:p>
          <a:p>
            <a:pPr algn="l"/>
            <a:endParaRPr lang="en-ZA" sz="2400" b="1" dirty="0"/>
          </a:p>
          <a:p>
            <a:pPr algn="l"/>
            <a:r>
              <a:rPr lang="en-US" sz="2000" b="0" i="0" u="none" strike="noStrike" baseline="0" dirty="0">
                <a:solidFill>
                  <a:srgbClr val="000000"/>
                </a:solidFill>
                <a:latin typeface="GiovanniStd-Book"/>
              </a:rPr>
              <a:t>Predict the output of the following nested loops:</a:t>
            </a:r>
          </a:p>
          <a:p>
            <a:pPr algn="l"/>
            <a:r>
              <a:rPr lang="en-ZA" sz="2000" b="1" u="none" strike="noStrike" baseline="0" dirty="0">
                <a:solidFill>
                  <a:srgbClr val="0070C0"/>
                </a:solidFill>
                <a:latin typeface="ArialMonoMTPro-Oblique"/>
              </a:rPr>
              <a:t>int</a:t>
            </a:r>
            <a:r>
              <a:rPr lang="en-ZA" sz="2000" b="0" i="1" u="none" strike="noStrike" baseline="0" dirty="0">
                <a:solidFill>
                  <a:srgbClr val="00AEF0"/>
                </a:solidFill>
                <a:latin typeface="ArialMonoMTPro-Oblique"/>
              </a:rPr>
              <a:t> </a:t>
            </a:r>
            <a:r>
              <a:rPr lang="en-ZA" sz="2000" b="0" i="0" u="none" strike="noStrike" baseline="0" dirty="0">
                <a:solidFill>
                  <a:srgbClr val="000000"/>
                </a:solidFill>
                <a:latin typeface="ArialMonoMTPro"/>
              </a:rPr>
              <a:t>n, m;</a:t>
            </a:r>
          </a:p>
          <a:p>
            <a:pPr algn="l"/>
            <a:r>
              <a:rPr lang="pt-BR" sz="2000" b="1" u="none" strike="noStrike" baseline="0" dirty="0">
                <a:solidFill>
                  <a:srgbClr val="0070C0"/>
                </a:solidFill>
                <a:latin typeface="ArialMonoMTPro-Oblique"/>
              </a:rPr>
              <a:t>for</a:t>
            </a:r>
            <a:r>
              <a:rPr lang="pt-BR" sz="2000" b="0" i="1" u="none" strike="noStrike" baseline="0" dirty="0">
                <a:solidFill>
                  <a:srgbClr val="00AEF0"/>
                </a:solidFill>
                <a:latin typeface="ArialMonoMTPro-Oblique"/>
              </a:rPr>
              <a:t> </a:t>
            </a:r>
            <a:r>
              <a:rPr lang="pt-BR" sz="2000" b="0" i="0" u="none" strike="noStrike" baseline="0" dirty="0">
                <a:solidFill>
                  <a:srgbClr val="000000"/>
                </a:solidFill>
                <a:latin typeface="ArialMonoMTPro"/>
              </a:rPr>
              <a:t>(n = 1; n &lt;= 10; n++)</a:t>
            </a:r>
          </a:p>
          <a:p>
            <a:pPr algn="l"/>
            <a:r>
              <a:rPr lang="en-ZA" sz="2000" b="0" i="1" u="none" strike="noStrike" baseline="0" dirty="0">
                <a:solidFill>
                  <a:srgbClr val="0070C0"/>
                </a:solidFill>
                <a:latin typeface="ArialMonoMTPro-Oblique"/>
              </a:rPr>
              <a:t>	</a:t>
            </a:r>
            <a:r>
              <a:rPr lang="en-ZA" sz="2000" b="1" u="none" strike="noStrike" baseline="0" dirty="0">
                <a:solidFill>
                  <a:srgbClr val="0070C0"/>
                </a:solidFill>
                <a:latin typeface="ArialMonoMTPro-Oblique"/>
              </a:rPr>
              <a:t>for</a:t>
            </a:r>
            <a:r>
              <a:rPr lang="en-ZA" sz="2000" b="0" i="1" u="none" strike="noStrike" baseline="0" dirty="0">
                <a:solidFill>
                  <a:srgbClr val="00AEF0"/>
                </a:solidFill>
                <a:latin typeface="ArialMonoMTPro-Oblique"/>
              </a:rPr>
              <a:t> </a:t>
            </a:r>
            <a:r>
              <a:rPr lang="en-ZA" sz="2000" b="0" i="0" u="none" strike="noStrike" baseline="0" dirty="0">
                <a:solidFill>
                  <a:srgbClr val="000000"/>
                </a:solidFill>
                <a:latin typeface="ArialMonoMTPro"/>
              </a:rPr>
              <a:t>(m = 10; m &gt;= 1; m −−)</a:t>
            </a:r>
          </a:p>
          <a:p>
            <a:pPr algn="l"/>
            <a:r>
              <a:rPr lang="en-ZA" sz="2000" b="0" i="0" u="none" strike="noStrike" baseline="0" dirty="0">
                <a:solidFill>
                  <a:srgbClr val="000000"/>
                </a:solidFill>
                <a:latin typeface="ArialMonoMTPro"/>
              </a:rPr>
              <a:t>		</a:t>
            </a:r>
            <a:r>
              <a:rPr lang="en-ZA" sz="2000" b="0" i="0" u="none" strike="noStrike" baseline="0" dirty="0" err="1">
                <a:solidFill>
                  <a:srgbClr val="000000"/>
                </a:solidFill>
                <a:latin typeface="ArialMonoMTPro"/>
              </a:rPr>
              <a:t>cout</a:t>
            </a:r>
            <a:r>
              <a:rPr lang="en-ZA" sz="2000" b="0" i="0" u="none" strike="noStrike" baseline="0" dirty="0">
                <a:solidFill>
                  <a:srgbClr val="000000"/>
                </a:solidFill>
                <a:latin typeface="ArialMonoMTPro"/>
              </a:rPr>
              <a:t> &lt;&lt; n &lt;&lt; " times " &lt;&lt; m</a:t>
            </a:r>
          </a:p>
          <a:p>
            <a:pPr algn="l"/>
            <a:r>
              <a:rPr lang="en-ZA" sz="2000" b="0" i="0" u="none" strike="noStrike" baseline="0" dirty="0">
                <a:solidFill>
                  <a:srgbClr val="000000"/>
                </a:solidFill>
                <a:latin typeface="ArialMonoMTPro"/>
              </a:rPr>
              <a:t>			&lt;&lt; " = " &lt;&lt; n * m &lt;&lt; </a:t>
            </a:r>
            <a:r>
              <a:rPr lang="en-ZA" sz="2000" b="0" i="0" u="none" strike="noStrike" baseline="0" dirty="0" err="1">
                <a:solidFill>
                  <a:srgbClr val="000000"/>
                </a:solidFill>
                <a:latin typeface="ArialMonoMTPro"/>
              </a:rPr>
              <a:t>endl</a:t>
            </a:r>
            <a:r>
              <a:rPr lang="en-ZA" sz="2000" b="0" i="0" u="none" strike="noStrike" baseline="0" dirty="0">
                <a:solidFill>
                  <a:srgbClr val="000000"/>
                </a:solidFill>
                <a:latin typeface="ArialMonoMTPro"/>
              </a:rPr>
              <a:t>;</a:t>
            </a:r>
            <a:endParaRPr lang="en-ZA" sz="2000" b="1" dirty="0"/>
          </a:p>
        </p:txBody>
      </p:sp>
    </p:spTree>
    <p:extLst>
      <p:ext uri="{BB962C8B-B14F-4D97-AF65-F5344CB8AC3E}">
        <p14:creationId xmlns:p14="http://schemas.microsoft.com/office/powerpoint/2010/main" val="244531126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503070-5CD8-3A34-73FC-F4FBBC04CEAB}"/>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F7D6599A-8755-0EC3-D069-D000939E21D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10C9A2B3-6E19-89D9-0E55-2B4B13575F24}"/>
              </a:ext>
            </a:extLst>
          </p:cNvPr>
          <p:cNvSpPr txBox="1"/>
          <p:nvPr/>
        </p:nvSpPr>
        <p:spPr>
          <a:xfrm>
            <a:off x="0" y="65927"/>
            <a:ext cx="6858000" cy="646331"/>
          </a:xfrm>
          <a:prstGeom prst="rect">
            <a:avLst/>
          </a:prstGeom>
          <a:noFill/>
        </p:spPr>
        <p:txBody>
          <a:bodyPr wrap="square" rtlCol="0">
            <a:spAutoFit/>
          </a:bodyPr>
          <a:lstStyle/>
          <a:p>
            <a:pPr algn="ctr"/>
            <a:r>
              <a:rPr lang="en-ZA" sz="3600" b="1" dirty="0"/>
              <a:t>Nested Control Structures:</a:t>
            </a:r>
            <a:endParaRPr lang="en-ZA" sz="3600" b="1" dirty="0">
              <a:latin typeface="Arial" panose="020B0604020202020204" pitchFamily="34" charset="0"/>
              <a:cs typeface="Arial" panose="020B0604020202020204" pitchFamily="34" charset="0"/>
            </a:endParaRPr>
          </a:p>
        </p:txBody>
      </p:sp>
      <p:sp>
        <p:nvSpPr>
          <p:cNvPr id="2" name="Content Placeholder 2">
            <a:extLst>
              <a:ext uri="{FF2B5EF4-FFF2-40B4-BE49-F238E27FC236}">
                <a16:creationId xmlns:a16="http://schemas.microsoft.com/office/drawing/2014/main" id="{5416F479-B49E-BA65-A325-448265DDD370}"/>
              </a:ext>
            </a:extLst>
          </p:cNvPr>
          <p:cNvSpPr txBox="1">
            <a:spLocks/>
          </p:cNvSpPr>
          <p:nvPr/>
        </p:nvSpPr>
        <p:spPr>
          <a:xfrm>
            <a:off x="471488" y="2637014"/>
            <a:ext cx="5915025" cy="6285266"/>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ZA" sz="2400" b="1" dirty="0"/>
              <a:t>Exercises: Classifying Numbers</a:t>
            </a:r>
          </a:p>
          <a:p>
            <a:pPr algn="l"/>
            <a:r>
              <a:rPr lang="en-US" sz="2000" dirty="0"/>
              <a:t>This program reads a given set of integers and then prints the number of odd and even integers. It also outputs the number of zeros.</a:t>
            </a:r>
          </a:p>
          <a:p>
            <a:pPr algn="l"/>
            <a:r>
              <a:rPr lang="en-US" sz="2000" dirty="0"/>
              <a:t>The program reads 20 integers, but you can easily modify it to read any set of </a:t>
            </a:r>
            <a:r>
              <a:rPr lang="en-ZA" sz="2000" dirty="0"/>
              <a:t>numbers.</a:t>
            </a:r>
          </a:p>
          <a:p>
            <a:pPr algn="l"/>
            <a:r>
              <a:rPr lang="en-US" sz="2000" dirty="0"/>
              <a:t>In fact, you can modify the program so that it first prompts the user to specify how many integers are to be read.</a:t>
            </a:r>
          </a:p>
          <a:p>
            <a:pPr lvl="1" algn="l"/>
            <a:r>
              <a:rPr lang="en-US" sz="2000" b="1" dirty="0"/>
              <a:t>Input </a:t>
            </a:r>
            <a:r>
              <a:rPr lang="en-US" sz="2000" dirty="0"/>
              <a:t>20 integers—positive, negative, or zeros.</a:t>
            </a:r>
          </a:p>
          <a:p>
            <a:pPr lvl="1" algn="l"/>
            <a:r>
              <a:rPr lang="en-US" sz="2000" b="1" dirty="0"/>
              <a:t>Output </a:t>
            </a:r>
            <a:r>
              <a:rPr lang="en-US" sz="2000" dirty="0"/>
              <a:t>The number of zeros, even numbers, and odd numbers.</a:t>
            </a:r>
            <a:endParaRPr lang="en-ZA" sz="2000" b="1" dirty="0"/>
          </a:p>
          <a:p>
            <a:pPr algn="l"/>
            <a:endParaRPr lang="en-US" sz="2400" b="1" dirty="0"/>
          </a:p>
          <a:p>
            <a:pPr algn="l"/>
            <a:r>
              <a:rPr lang="en-US" sz="2400" b="1" dirty="0">
                <a:solidFill>
                  <a:srgbClr val="FF0000"/>
                </a:solidFill>
              </a:rPr>
              <a:t>Hint: Use for loop and switch statement.</a:t>
            </a:r>
          </a:p>
          <a:p>
            <a:pPr algn="l"/>
            <a:endParaRPr lang="en-ZA" sz="2400" b="1" dirty="0"/>
          </a:p>
          <a:p>
            <a:pPr algn="l"/>
            <a:endParaRPr lang="en-ZA" sz="2400" b="1" dirty="0"/>
          </a:p>
          <a:p>
            <a:pPr algn="l"/>
            <a:endParaRPr lang="en-ZA" sz="2400" b="1" dirty="0"/>
          </a:p>
        </p:txBody>
      </p:sp>
    </p:spTree>
    <p:extLst>
      <p:ext uri="{BB962C8B-B14F-4D97-AF65-F5344CB8AC3E}">
        <p14:creationId xmlns:p14="http://schemas.microsoft.com/office/powerpoint/2010/main" val="3030315854"/>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BF4179-C845-7041-DC72-D62E11A34BEC}"/>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3D8E14B3-AC2A-C69A-B378-19C0462284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069104BE-A97C-B237-7C63-5449273D26F2}"/>
              </a:ext>
            </a:extLst>
          </p:cNvPr>
          <p:cNvSpPr txBox="1"/>
          <p:nvPr/>
        </p:nvSpPr>
        <p:spPr>
          <a:xfrm>
            <a:off x="0" y="65927"/>
            <a:ext cx="6858000" cy="646331"/>
          </a:xfrm>
          <a:prstGeom prst="rect">
            <a:avLst/>
          </a:prstGeom>
          <a:noFill/>
        </p:spPr>
        <p:txBody>
          <a:bodyPr wrap="square" rtlCol="0">
            <a:spAutoFit/>
          </a:bodyPr>
          <a:lstStyle/>
          <a:p>
            <a:r>
              <a:rPr lang="en-ZA" sz="3600" b="1" dirty="0">
                <a:latin typeface="Arial" panose="020B0604020202020204" pitchFamily="34" charset="0"/>
                <a:cs typeface="Arial" panose="020B0604020202020204" pitchFamily="34" charset="0"/>
              </a:rPr>
              <a:t>Useful Resources on OOP</a:t>
            </a:r>
          </a:p>
        </p:txBody>
      </p:sp>
      <p:sp>
        <p:nvSpPr>
          <p:cNvPr id="2" name="Content Placeholder 2">
            <a:extLst>
              <a:ext uri="{FF2B5EF4-FFF2-40B4-BE49-F238E27FC236}">
                <a16:creationId xmlns:a16="http://schemas.microsoft.com/office/drawing/2014/main" id="{33F03BAC-C8F9-A6B7-C97C-26E9A8ABC427}"/>
              </a:ext>
            </a:extLst>
          </p:cNvPr>
          <p:cNvSpPr txBox="1">
            <a:spLocks/>
          </p:cNvSpPr>
          <p:nvPr/>
        </p:nvSpPr>
        <p:spPr>
          <a:xfrm>
            <a:off x="471488" y="2021305"/>
            <a:ext cx="5915025" cy="6900975"/>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lnSpc>
                <a:spcPct val="107000"/>
              </a:lnSpc>
              <a:spcAft>
                <a:spcPts val="800"/>
              </a:spcAft>
              <a:buSzPts val="1000"/>
              <a:tabLst>
                <a:tab pos="457200" algn="l"/>
              </a:tabLst>
            </a:pPr>
            <a:r>
              <a:rPr lang="en-ZA" sz="2400" b="1" dirty="0">
                <a:solidFill>
                  <a:srgbClr val="000000"/>
                </a:solidFill>
              </a:rPr>
              <a:t>Useful Resources</a:t>
            </a:r>
          </a:p>
          <a:p>
            <a:pPr algn="l">
              <a:lnSpc>
                <a:spcPct val="107000"/>
              </a:lnSpc>
              <a:spcAft>
                <a:spcPts val="800"/>
              </a:spcAft>
              <a:buSzPts val="1000"/>
              <a:tabLst>
                <a:tab pos="457200" algn="l"/>
              </a:tabLst>
            </a:pPr>
            <a:r>
              <a:rPr lang="en-ZA" sz="2400" b="1" dirty="0">
                <a:solidFill>
                  <a:srgbClr val="000000"/>
                </a:solidFill>
              </a:rPr>
              <a:t>Prescribed Book:</a:t>
            </a:r>
          </a:p>
          <a:p>
            <a:pPr algn="l">
              <a:lnSpc>
                <a:spcPct val="107000"/>
              </a:lnSpc>
              <a:spcAft>
                <a:spcPts val="800"/>
              </a:spcAft>
              <a:buSzPts val="1000"/>
              <a:tabLst>
                <a:tab pos="457200" algn="l"/>
              </a:tabLst>
            </a:pPr>
            <a:r>
              <a:rPr lang="en-US" sz="2400" dirty="0"/>
              <a:t>Savitch, W., &amp; Mock, K. (2018). </a:t>
            </a:r>
            <a:r>
              <a:rPr lang="en-US" sz="2400" i="1" dirty="0"/>
              <a:t>Problem solving with C++</a:t>
            </a:r>
            <a:r>
              <a:rPr lang="en-US" sz="2400" dirty="0"/>
              <a:t> (10th ed.). Pearson. </a:t>
            </a:r>
          </a:p>
          <a:p>
            <a:pPr algn="l">
              <a:lnSpc>
                <a:spcPct val="107000"/>
              </a:lnSpc>
              <a:spcAft>
                <a:spcPts val="800"/>
              </a:spcAft>
              <a:buSzPts val="1000"/>
              <a:tabLst>
                <a:tab pos="457200" algn="l"/>
              </a:tabLst>
            </a:pPr>
            <a:r>
              <a:rPr lang="en-US" sz="2400" b="1" dirty="0">
                <a:solidFill>
                  <a:srgbClr val="000000"/>
                </a:solidFill>
              </a:rPr>
              <a:t>Recommended Book:</a:t>
            </a:r>
          </a:p>
          <a:p>
            <a:pPr algn="l">
              <a:lnSpc>
                <a:spcPct val="107000"/>
              </a:lnSpc>
              <a:spcAft>
                <a:spcPts val="800"/>
              </a:spcAft>
              <a:buSzPts val="1000"/>
              <a:tabLst>
                <a:tab pos="457200" algn="l"/>
              </a:tabLst>
            </a:pPr>
            <a:r>
              <a:rPr lang="en-US" sz="2400" dirty="0"/>
              <a:t>Malik, D. S. (2018). </a:t>
            </a:r>
            <a:r>
              <a:rPr lang="en-US" sz="2400" i="1" dirty="0"/>
              <a:t>C++ programming: Program design including data structures</a:t>
            </a:r>
            <a:r>
              <a:rPr lang="en-US" sz="2400" dirty="0"/>
              <a:t> (8th ed.). Cengage Learning.</a:t>
            </a:r>
            <a:endParaRPr lang="en-US" sz="2400" dirty="0">
              <a:solidFill>
                <a:srgbClr val="000000"/>
              </a:solidFill>
              <a:cs typeface="Arial" panose="020B0604020202020204" pitchFamily="34" charset="0"/>
            </a:endParaRPr>
          </a:p>
          <a:p>
            <a:pPr algn="l"/>
            <a:endParaRPr lang="en-US" dirty="0">
              <a:solidFill>
                <a:srgbClr val="000000"/>
              </a:solidFill>
              <a:latin typeface="Arial" panose="020B0604020202020204" pitchFamily="34" charset="0"/>
            </a:endParaRPr>
          </a:p>
        </p:txBody>
      </p:sp>
    </p:spTree>
    <p:extLst>
      <p:ext uri="{BB962C8B-B14F-4D97-AF65-F5344CB8AC3E}">
        <p14:creationId xmlns:p14="http://schemas.microsoft.com/office/powerpoint/2010/main" val="3276550910"/>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5847C5-D314-8BE7-6390-977246599644}"/>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01788FDE-A8FA-4E04-B28C-C139299727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02C52451-015E-46AC-8EAF-66CB50A69DEB}"/>
              </a:ext>
            </a:extLst>
          </p:cNvPr>
          <p:cNvSpPr txBox="1"/>
          <p:nvPr/>
        </p:nvSpPr>
        <p:spPr>
          <a:xfrm>
            <a:off x="0" y="65927"/>
            <a:ext cx="6858000" cy="646331"/>
          </a:xfrm>
          <a:prstGeom prst="rect">
            <a:avLst/>
          </a:prstGeom>
          <a:noFill/>
        </p:spPr>
        <p:txBody>
          <a:bodyPr wrap="square" rtlCol="0">
            <a:spAutoFit/>
          </a:bodyPr>
          <a:lstStyle/>
          <a:p>
            <a:r>
              <a:rPr lang="en-ZA" sz="3600" b="1" dirty="0">
                <a:latin typeface="Arial" panose="020B0604020202020204" pitchFamily="34" charset="0"/>
                <a:cs typeface="Arial" panose="020B0604020202020204" pitchFamily="34" charset="0"/>
              </a:rPr>
              <a:t>Useful Resources on OOP</a:t>
            </a:r>
          </a:p>
        </p:txBody>
      </p:sp>
      <p:sp>
        <p:nvSpPr>
          <p:cNvPr id="2" name="Content Placeholder 2">
            <a:extLst>
              <a:ext uri="{FF2B5EF4-FFF2-40B4-BE49-F238E27FC236}">
                <a16:creationId xmlns:a16="http://schemas.microsoft.com/office/drawing/2014/main" id="{CE4AD270-1B10-4098-9E60-7EEBD81D7D6F}"/>
              </a:ext>
            </a:extLst>
          </p:cNvPr>
          <p:cNvSpPr txBox="1">
            <a:spLocks/>
          </p:cNvSpPr>
          <p:nvPr/>
        </p:nvSpPr>
        <p:spPr>
          <a:xfrm>
            <a:off x="471488" y="2021305"/>
            <a:ext cx="5915025" cy="6900975"/>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lnSpc>
                <a:spcPct val="107000"/>
              </a:lnSpc>
              <a:spcAft>
                <a:spcPts val="800"/>
              </a:spcAft>
              <a:buSzPts val="1000"/>
              <a:tabLst>
                <a:tab pos="457200" algn="l"/>
              </a:tabLst>
            </a:pPr>
            <a:r>
              <a:rPr lang="en-ZA" sz="2400" b="1" dirty="0">
                <a:solidFill>
                  <a:srgbClr val="000000"/>
                </a:solidFill>
              </a:rPr>
              <a:t>Additional Resources:</a:t>
            </a:r>
            <a:endParaRPr lang="en-ZA" sz="2400" b="1" dirty="0">
              <a:solidFill>
                <a:srgbClr val="000000"/>
              </a:solidFill>
              <a:hlinkClick r:id="rId3">
                <a:extLst>
                  <a:ext uri="{A12FA001-AC4F-418D-AE19-62706E023703}">
                    <ahyp:hlinkClr xmlns:ahyp="http://schemas.microsoft.com/office/drawing/2018/hyperlinkcolor" val="tx"/>
                  </a:ext>
                </a:extLst>
              </a:hlinkClick>
            </a:endParaRPr>
          </a:p>
          <a:p>
            <a:pPr algn="l"/>
            <a:r>
              <a:rPr lang="en-ZA" sz="2400" b="1" dirty="0"/>
              <a:t>YouTube Videos</a:t>
            </a:r>
          </a:p>
          <a:p>
            <a:pPr algn="l"/>
            <a:endParaRPr lang="en-ZA" b="1" dirty="0"/>
          </a:p>
          <a:p>
            <a:pPr algn="l"/>
            <a:r>
              <a:rPr lang="en-ZA" sz="2000" b="1" dirty="0"/>
              <a:t>If…else and nested if else in C++</a:t>
            </a:r>
            <a:endParaRPr lang="en-ZA" sz="2000" dirty="0"/>
          </a:p>
          <a:p>
            <a:pPr algn="l"/>
            <a:r>
              <a:rPr lang="en-ZA" sz="2000" dirty="0"/>
              <a:t>https://www.youtube.com/watch?v=6eq3jb7_jaM&amp;list=PLBlnK6fEyqRipr0TpZ39rBn4mUrSQbXlC</a:t>
            </a:r>
          </a:p>
          <a:p>
            <a:pPr algn="l"/>
            <a:r>
              <a:rPr lang="en-ZA" sz="2000" dirty="0"/>
              <a:t> </a:t>
            </a:r>
          </a:p>
          <a:p>
            <a:pPr algn="l"/>
            <a:r>
              <a:rPr lang="en-ZA" sz="2000" b="1" dirty="0"/>
              <a:t>Switch statement in C++</a:t>
            </a:r>
            <a:endParaRPr lang="en-ZA" sz="2000" dirty="0"/>
          </a:p>
          <a:p>
            <a:pPr algn="l"/>
            <a:r>
              <a:rPr lang="en-ZA" sz="2000" dirty="0"/>
              <a:t>https://www.youtube.com/watch?v=OPKpGsvBtBg&amp;list=PLBlnK6fEyqRipr0TpZ39rBn4mUrSQbXlC&amp;index=2</a:t>
            </a:r>
          </a:p>
          <a:p>
            <a:pPr algn="l"/>
            <a:r>
              <a:rPr lang="en-ZA" sz="2000" dirty="0"/>
              <a:t> </a:t>
            </a:r>
          </a:p>
          <a:p>
            <a:pPr algn="l"/>
            <a:r>
              <a:rPr lang="en-ZA" sz="2000" b="1" dirty="0"/>
              <a:t>for, while, and do…while loops in C++</a:t>
            </a:r>
            <a:endParaRPr lang="en-ZA" sz="2000" dirty="0"/>
          </a:p>
          <a:p>
            <a:pPr algn="l"/>
            <a:r>
              <a:rPr lang="en-ZA" sz="2000" dirty="0"/>
              <a:t>https://www.youtube.com/watch?v=j4DB4u5u91g&amp;list=PLBlnK6fEyqRipr0TpZ39rBn4mUrSQbXlC&amp;index=3</a:t>
            </a:r>
          </a:p>
          <a:p>
            <a:pPr algn="l"/>
            <a:r>
              <a:rPr lang="en-ZA" sz="2000" dirty="0"/>
              <a:t> </a:t>
            </a:r>
          </a:p>
          <a:p>
            <a:pPr algn="l"/>
            <a:r>
              <a:rPr lang="en-ZA" sz="2000" b="1" dirty="0"/>
              <a:t>break and continue Statements in C++</a:t>
            </a:r>
            <a:endParaRPr lang="en-ZA" sz="2000" dirty="0"/>
          </a:p>
          <a:p>
            <a:pPr algn="l"/>
            <a:r>
              <a:rPr lang="en-ZA" sz="2000" dirty="0"/>
              <a:t>https://www.youtube.com/watch?v=hDGaCLETGYc&amp;list=PLBlnK6fEyqRipr0TpZ39rBn4mUrSQbXlC&amp;index=4</a:t>
            </a:r>
          </a:p>
          <a:p>
            <a:pPr algn="l">
              <a:lnSpc>
                <a:spcPct val="107000"/>
              </a:lnSpc>
              <a:spcAft>
                <a:spcPts val="800"/>
              </a:spcAft>
              <a:buSzPts val="1000"/>
              <a:tabLst>
                <a:tab pos="457200" algn="l"/>
              </a:tabLst>
            </a:pPr>
            <a:endParaRPr lang="en-US" sz="2400" dirty="0">
              <a:solidFill>
                <a:srgbClr val="000000"/>
              </a:solidFill>
              <a:cs typeface="Arial" panose="020B0604020202020204" pitchFamily="34" charset="0"/>
            </a:endParaRPr>
          </a:p>
          <a:p>
            <a:pPr algn="l"/>
            <a:endParaRPr lang="en-US" dirty="0">
              <a:solidFill>
                <a:srgbClr val="000000"/>
              </a:solidFill>
              <a:latin typeface="Arial" panose="020B0604020202020204" pitchFamily="34" charset="0"/>
            </a:endParaRPr>
          </a:p>
        </p:txBody>
      </p:sp>
    </p:spTree>
    <p:extLst>
      <p:ext uri="{BB962C8B-B14F-4D97-AF65-F5344CB8AC3E}">
        <p14:creationId xmlns:p14="http://schemas.microsoft.com/office/powerpoint/2010/main" val="1836061892"/>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7805D4-0218-1AE0-C05E-F23C60F8AF09}"/>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C29997BB-B647-0F65-90AE-3CFFC511C35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D19DD4C4-6B21-86AD-3013-59F1DF3EDF54}"/>
              </a:ext>
            </a:extLst>
          </p:cNvPr>
          <p:cNvSpPr txBox="1"/>
          <p:nvPr/>
        </p:nvSpPr>
        <p:spPr>
          <a:xfrm>
            <a:off x="0" y="65927"/>
            <a:ext cx="6858000" cy="646331"/>
          </a:xfrm>
          <a:prstGeom prst="rect">
            <a:avLst/>
          </a:prstGeom>
          <a:noFill/>
        </p:spPr>
        <p:txBody>
          <a:bodyPr wrap="square" rtlCol="0">
            <a:spAutoFit/>
          </a:bodyPr>
          <a:lstStyle/>
          <a:p>
            <a:r>
              <a:rPr lang="en-ZA" sz="3600" b="1" dirty="0">
                <a:latin typeface="Arial" panose="020B0604020202020204" pitchFamily="34" charset="0"/>
                <a:cs typeface="Arial" panose="020B0604020202020204" pitchFamily="34" charset="0"/>
              </a:rPr>
              <a:t>Useful Resources on OOP</a:t>
            </a:r>
          </a:p>
        </p:txBody>
      </p:sp>
      <p:sp>
        <p:nvSpPr>
          <p:cNvPr id="2" name="Content Placeholder 2">
            <a:extLst>
              <a:ext uri="{FF2B5EF4-FFF2-40B4-BE49-F238E27FC236}">
                <a16:creationId xmlns:a16="http://schemas.microsoft.com/office/drawing/2014/main" id="{A5844094-AF3A-A5CF-AB11-0C2536297C75}"/>
              </a:ext>
            </a:extLst>
          </p:cNvPr>
          <p:cNvSpPr txBox="1">
            <a:spLocks/>
          </p:cNvSpPr>
          <p:nvPr/>
        </p:nvSpPr>
        <p:spPr>
          <a:xfrm>
            <a:off x="471488" y="2021305"/>
            <a:ext cx="5915025" cy="6900975"/>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lnSpc>
                <a:spcPct val="107000"/>
              </a:lnSpc>
              <a:spcAft>
                <a:spcPts val="800"/>
              </a:spcAft>
              <a:buSzPts val="1000"/>
              <a:tabLst>
                <a:tab pos="457200" algn="l"/>
              </a:tabLst>
            </a:pPr>
            <a:r>
              <a:rPr lang="en-ZA" sz="2400" b="1" dirty="0">
                <a:solidFill>
                  <a:srgbClr val="000000"/>
                </a:solidFill>
              </a:rPr>
              <a:t>Web Resources:</a:t>
            </a:r>
            <a:endParaRPr lang="en-ZA" sz="2400" b="1" dirty="0">
              <a:solidFill>
                <a:srgbClr val="000000"/>
              </a:solidFill>
              <a:hlinkClick r:id="rId3">
                <a:extLst>
                  <a:ext uri="{A12FA001-AC4F-418D-AE19-62706E023703}">
                    <ahyp:hlinkClr xmlns:ahyp="http://schemas.microsoft.com/office/drawing/2018/hyperlinkcolor" val="tx"/>
                  </a:ext>
                </a:extLst>
              </a:hlinkClick>
            </a:endParaRPr>
          </a:p>
          <a:p>
            <a:pPr algn="l"/>
            <a:r>
              <a:rPr lang="en-ZA" dirty="0">
                <a:hlinkClick r:id="rId4"/>
              </a:rPr>
              <a:t>https://www.geeksforgeeks.org/computer-science-fundamentals/control-flow-statements-in-programming/</a:t>
            </a:r>
            <a:endParaRPr lang="en-ZA" dirty="0"/>
          </a:p>
          <a:p>
            <a:pPr algn="l"/>
            <a:endParaRPr lang="en-ZA" dirty="0"/>
          </a:p>
          <a:p>
            <a:pPr algn="l"/>
            <a:r>
              <a:rPr lang="en-ZA" dirty="0">
                <a:hlinkClick r:id="rId5"/>
              </a:rPr>
              <a:t>https://www.codecademy.com/learn/c-plus-plus-for-programmers/modules/control-flow-cpp/cheatsheet</a:t>
            </a:r>
            <a:endParaRPr lang="en-ZA" dirty="0"/>
          </a:p>
          <a:p>
            <a:pPr algn="l"/>
            <a:endParaRPr lang="en-ZA" dirty="0"/>
          </a:p>
          <a:p>
            <a:pPr algn="l"/>
            <a:r>
              <a:rPr lang="en-ZA" dirty="0">
                <a:hlinkClick r:id="rId6"/>
              </a:rPr>
              <a:t>https://www.w3schools.com/cpp/cpp_conditions.asp</a:t>
            </a:r>
            <a:endParaRPr lang="en-ZA" dirty="0"/>
          </a:p>
          <a:p>
            <a:pPr algn="l"/>
            <a:endParaRPr lang="en-ZA" dirty="0"/>
          </a:p>
          <a:p>
            <a:pPr algn="l"/>
            <a:endParaRPr lang="en-ZA" dirty="0"/>
          </a:p>
          <a:p>
            <a:pPr algn="l"/>
            <a:endParaRPr lang="en-ZA" dirty="0"/>
          </a:p>
          <a:p>
            <a:pPr algn="l">
              <a:lnSpc>
                <a:spcPct val="107000"/>
              </a:lnSpc>
              <a:spcAft>
                <a:spcPts val="800"/>
              </a:spcAft>
              <a:buSzPts val="1000"/>
              <a:tabLst>
                <a:tab pos="457200" algn="l"/>
              </a:tabLst>
            </a:pPr>
            <a:endParaRPr lang="en-US" sz="2400" dirty="0">
              <a:solidFill>
                <a:srgbClr val="000000"/>
              </a:solidFill>
              <a:cs typeface="Arial" panose="020B0604020202020204" pitchFamily="34" charset="0"/>
            </a:endParaRPr>
          </a:p>
          <a:p>
            <a:pPr algn="l"/>
            <a:endParaRPr lang="en-US" dirty="0">
              <a:solidFill>
                <a:srgbClr val="000000"/>
              </a:solidFill>
              <a:latin typeface="Arial" panose="020B0604020202020204" pitchFamily="34" charset="0"/>
            </a:endParaRPr>
          </a:p>
        </p:txBody>
      </p:sp>
    </p:spTree>
    <p:extLst>
      <p:ext uri="{BB962C8B-B14F-4D97-AF65-F5344CB8AC3E}">
        <p14:creationId xmlns:p14="http://schemas.microsoft.com/office/powerpoint/2010/main" val="2558747772"/>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ca9a8b8c-3ea3-4799-a43e-5510398e7a3b}" enabled="0" method="" siteId="{ca9a8b8c-3ea3-4799-a43e-5510398e7a3b}" removed="1"/>
</clbl:labelList>
</file>

<file path=docProps/app.xml><?xml version="1.0" encoding="utf-8"?>
<Properties xmlns="http://schemas.openxmlformats.org/officeDocument/2006/extended-properties" xmlns:vt="http://schemas.openxmlformats.org/officeDocument/2006/docPropsVTypes">
  <Template>Office Theme</Template>
  <TotalTime>3965</TotalTime>
  <Words>7047</Words>
  <Application>Microsoft Office PowerPoint</Application>
  <PresentationFormat>A4 Paper (210x297 mm)</PresentationFormat>
  <Paragraphs>1074</Paragraphs>
  <Slides>91</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91</vt:i4>
      </vt:variant>
    </vt:vector>
  </HeadingPairs>
  <TitlesOfParts>
    <vt:vector size="101" baseType="lpstr">
      <vt:lpstr>Arial</vt:lpstr>
      <vt:lpstr>ArialMonoMTPro</vt:lpstr>
      <vt:lpstr>ArialMonoMTPro-Oblique</vt:lpstr>
      <vt:lpstr>Calibri</vt:lpstr>
      <vt:lpstr>Calibri Light</vt:lpstr>
      <vt:lpstr>Courier New</vt:lpstr>
      <vt:lpstr>CourierStd-Bold</vt:lpstr>
      <vt:lpstr>GiovanniStd-Book</vt:lpstr>
      <vt:lpstr>WarnockPro-Regular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Examples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Duraan, Franciska</dc:creator>
  <cp:lastModifiedBy>Sewisha Thabo Lehong</cp:lastModifiedBy>
  <cp:revision>354</cp:revision>
  <dcterms:created xsi:type="dcterms:W3CDTF">2023-03-27T09:07:22Z</dcterms:created>
  <dcterms:modified xsi:type="dcterms:W3CDTF">2026-05-06T06:41:01Z</dcterms:modified>
</cp:coreProperties>
</file>