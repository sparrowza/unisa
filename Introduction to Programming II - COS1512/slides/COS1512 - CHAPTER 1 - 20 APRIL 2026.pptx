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8" r:id="rId2"/>
    <p:sldId id="266" r:id="rId3"/>
    <p:sldId id="267" r:id="rId4"/>
    <p:sldId id="268" r:id="rId5"/>
    <p:sldId id="269" r:id="rId6"/>
    <p:sldId id="303" r:id="rId7"/>
    <p:sldId id="300" r:id="rId8"/>
    <p:sldId id="271" r:id="rId9"/>
    <p:sldId id="304" r:id="rId10"/>
    <p:sldId id="282" r:id="rId11"/>
    <p:sldId id="302" r:id="rId12"/>
    <p:sldId id="286" r:id="rId13"/>
    <p:sldId id="284" r:id="rId14"/>
    <p:sldId id="301" r:id="rId15"/>
    <p:sldId id="285" r:id="rId16"/>
    <p:sldId id="299" r:id="rId17"/>
    <p:sldId id="272" r:id="rId18"/>
    <p:sldId id="283" r:id="rId19"/>
    <p:sldId id="287" r:id="rId20"/>
    <p:sldId id="296" r:id="rId21"/>
    <p:sldId id="288" r:id="rId22"/>
    <p:sldId id="270" r:id="rId23"/>
    <p:sldId id="307" r:id="rId24"/>
    <p:sldId id="289" r:id="rId25"/>
    <p:sldId id="308" r:id="rId26"/>
    <p:sldId id="290" r:id="rId27"/>
    <p:sldId id="316" r:id="rId28"/>
    <p:sldId id="280" r:id="rId29"/>
    <p:sldId id="291" r:id="rId30"/>
    <p:sldId id="281" r:id="rId31"/>
    <p:sldId id="322" r:id="rId32"/>
    <p:sldId id="318" r:id="rId33"/>
    <p:sldId id="317" r:id="rId34"/>
    <p:sldId id="292" r:id="rId35"/>
    <p:sldId id="310" r:id="rId36"/>
    <p:sldId id="293" r:id="rId37"/>
    <p:sldId id="294" r:id="rId38"/>
    <p:sldId id="309" r:id="rId39"/>
    <p:sldId id="311" r:id="rId40"/>
    <p:sldId id="312" r:id="rId41"/>
    <p:sldId id="314" r:id="rId42"/>
    <p:sldId id="313" r:id="rId43"/>
    <p:sldId id="319" r:id="rId44"/>
    <p:sldId id="321" r:id="rId45"/>
    <p:sldId id="320" r:id="rId46"/>
    <p:sldId id="315" r:id="rId47"/>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44" d="100"/>
          <a:sy n="44" d="100"/>
        </p:scale>
        <p:origin x="2220"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438951E-0A73-476C-B990-BA3D65A812C5}" type="datetimeFigureOut">
              <a:rPr lang="en-ZA" smtClean="0"/>
              <a:t>2026/04/21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3441363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38951E-0A73-476C-B990-BA3D65A812C5}" type="datetimeFigureOut">
              <a:rPr lang="en-ZA" smtClean="0"/>
              <a:t>2026/04/21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13564290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38951E-0A73-476C-B990-BA3D65A812C5}" type="datetimeFigureOut">
              <a:rPr lang="en-ZA" smtClean="0"/>
              <a:t>2026/04/21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3572060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438951E-0A73-476C-B990-BA3D65A812C5}" type="datetimeFigureOut">
              <a:rPr lang="en-ZA" smtClean="0"/>
              <a:t>2026/04/21</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31329634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438951E-0A73-476C-B990-BA3D65A812C5}" type="datetimeFigureOut">
              <a:rPr lang="en-ZA" smtClean="0"/>
              <a:t>2026/04/21</a:t>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41613378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438951E-0A73-476C-B990-BA3D65A812C5}" type="datetimeFigureOut">
              <a:rPr lang="en-ZA" smtClean="0"/>
              <a:t>2026/04/21</a:t>
            </a:fld>
            <a:endParaRPr lang="en-ZA"/>
          </a:p>
        </p:txBody>
      </p:sp>
      <p:sp>
        <p:nvSpPr>
          <p:cNvPr id="4" name="Footer Placeholder 3"/>
          <p:cNvSpPr>
            <a:spLocks noGrp="1"/>
          </p:cNvSpPr>
          <p:nvPr>
            <p:ph type="ftr" sz="quarter" idx="11"/>
          </p:nvPr>
        </p:nvSpPr>
        <p:spPr/>
        <p:txBody>
          <a:bodyPr/>
          <a:lstStyle/>
          <a:p>
            <a:endParaRPr lang="en-ZA"/>
          </a:p>
        </p:txBody>
      </p:sp>
      <p:sp>
        <p:nvSpPr>
          <p:cNvPr id="5" name="Slide Number Placeholder 4"/>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36985040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38951E-0A73-476C-B990-BA3D65A812C5}" type="datetimeFigureOut">
              <a:rPr lang="en-ZA" smtClean="0"/>
              <a:t>2026/04/21</a:t>
            </a:fld>
            <a:endParaRPr lang="en-ZA"/>
          </a:p>
        </p:txBody>
      </p:sp>
      <p:sp>
        <p:nvSpPr>
          <p:cNvPr id="3" name="Footer Placeholder 2"/>
          <p:cNvSpPr>
            <a:spLocks noGrp="1"/>
          </p:cNvSpPr>
          <p:nvPr>
            <p:ph type="ftr" sz="quarter" idx="11"/>
          </p:nvPr>
        </p:nvSpPr>
        <p:spPr/>
        <p:txBody>
          <a:bodyPr/>
          <a:lstStyle/>
          <a:p>
            <a:endParaRPr lang="en-ZA"/>
          </a:p>
        </p:txBody>
      </p:sp>
      <p:sp>
        <p:nvSpPr>
          <p:cNvPr id="4" name="Slide Number Placeholder 3"/>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25465132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438951E-0A73-476C-B990-BA3D65A812C5}" type="datetimeFigureOut">
              <a:rPr lang="en-ZA" smtClean="0"/>
              <a:t>2026/04/21</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38889070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438951E-0A73-476C-B990-BA3D65A812C5}" type="datetimeFigureOut">
              <a:rPr lang="en-ZA" smtClean="0"/>
              <a:t>2026/04/21</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3802182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38951E-0A73-476C-B990-BA3D65A812C5}" type="datetimeFigureOut">
              <a:rPr lang="en-ZA" smtClean="0"/>
              <a:t>2026/04/21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4009795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38951E-0A73-476C-B990-BA3D65A812C5}" type="datetimeFigureOut">
              <a:rPr lang="en-ZA" smtClean="0"/>
              <a:t>2026/04/21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14852315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1438951E-0A73-476C-B990-BA3D65A812C5}" type="datetimeFigureOut">
              <a:rPr lang="en-ZA" smtClean="0"/>
              <a:t>2026/04/21</a:t>
            </a:fld>
            <a:endParaRPr lang="en-ZA"/>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ZA"/>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5031DDEB-C667-44B1-BE9C-E4923D28CA10}" type="slidenum">
              <a:rPr lang="en-ZA" smtClean="0"/>
              <a:t>‹#›</a:t>
            </a:fld>
            <a:endParaRPr lang="en-ZA"/>
          </a:p>
        </p:txBody>
      </p:sp>
    </p:spTree>
    <p:extLst>
      <p:ext uri="{BB962C8B-B14F-4D97-AF65-F5344CB8AC3E}">
        <p14:creationId xmlns:p14="http://schemas.microsoft.com/office/powerpoint/2010/main" val="3058345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hyperlink" Target="https://www.geeksforgeeks.org/system-design/system-design-life-cycle-phases-models-and-use-cases/" TargetMode="External"/><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hyperlink" Target="https://aws.amazon.com/what-is/sdlc/" TargetMode="External"/></Relationships>
</file>

<file path=ppt/slides/_rels/slide4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hyperlink" Target="https://www.codecademy.com/articles/cpp-object-oriented-programming" TargetMode="External"/><Relationship Id="rId2" Type="http://schemas.openxmlformats.org/officeDocument/2006/relationships/image" Target="../media/image1.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3E509FF9-BDD9-A1BF-5237-538EDDB6BC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0"/>
            <a:ext cx="6930551" cy="10058400"/>
          </a:xfrm>
          <a:prstGeom prst="rect">
            <a:avLst/>
          </a:prstGeom>
        </p:spPr>
      </p:pic>
      <p:sp>
        <p:nvSpPr>
          <p:cNvPr id="4" name="TextBox 3">
            <a:extLst>
              <a:ext uri="{FF2B5EF4-FFF2-40B4-BE49-F238E27FC236}">
                <a16:creationId xmlns:a16="http://schemas.microsoft.com/office/drawing/2014/main" id="{D8BA4A3A-9CBD-44CA-33BC-CBAF4E859677}"/>
              </a:ext>
            </a:extLst>
          </p:cNvPr>
          <p:cNvSpPr txBox="1"/>
          <p:nvPr/>
        </p:nvSpPr>
        <p:spPr>
          <a:xfrm>
            <a:off x="0" y="65927"/>
            <a:ext cx="6858000" cy="1200329"/>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COS1512 – Online Class Session – 20 APRIL 2026</a:t>
            </a:r>
            <a:endParaRPr lang="en-ZA" sz="3600" b="1"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58C44F4B-5D92-BFC5-653C-CD4E349F6C3A}"/>
              </a:ext>
            </a:extLst>
          </p:cNvPr>
          <p:cNvSpPr txBox="1">
            <a:spLocks/>
          </p:cNvSpPr>
          <p:nvPr/>
        </p:nvSpPr>
        <p:spPr>
          <a:xfrm>
            <a:off x="467916" y="2469624"/>
            <a:ext cx="5915025" cy="2483376"/>
          </a:xfrm>
          <a:prstGeom prst="rect">
            <a:avLst/>
          </a:prstGeom>
        </p:spPr>
        <p:txBody>
          <a:bodyPr vert="horz" lIns="91440" tIns="45720" rIns="91440" bIns="45720" rtlCol="0" anchor="b">
            <a:normAutofit lnSpcReduction="10000"/>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n-US" sz="4800" b="1" dirty="0"/>
              <a:t>COS1512 – INTRODUCTION TO PROGRAMMING II – Using C++</a:t>
            </a:r>
            <a:endParaRPr lang="en-ZA" b="1" dirty="0"/>
          </a:p>
        </p:txBody>
      </p:sp>
      <p:sp>
        <p:nvSpPr>
          <p:cNvPr id="3" name="Text Placeholder 2">
            <a:extLst>
              <a:ext uri="{FF2B5EF4-FFF2-40B4-BE49-F238E27FC236}">
                <a16:creationId xmlns:a16="http://schemas.microsoft.com/office/drawing/2014/main" id="{7B3CD2F3-FE1E-ECCE-5428-E1525056D51E}"/>
              </a:ext>
            </a:extLst>
          </p:cNvPr>
          <p:cNvSpPr txBox="1">
            <a:spLocks/>
          </p:cNvSpPr>
          <p:nvPr/>
        </p:nvSpPr>
        <p:spPr>
          <a:xfrm>
            <a:off x="467916" y="5789289"/>
            <a:ext cx="5915025" cy="857269"/>
          </a:xfrm>
          <a:prstGeom prst="rect">
            <a:avLst/>
          </a:prstGeom>
        </p:spPr>
        <p:txBody>
          <a:bodyPr vert="horz" lIns="91440" tIns="45720" rIns="91440" bIns="45720" rtlCol="0">
            <a:normAutofit fontScale="70000" lnSpcReduction="2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lang="en-US" sz="2400" b="1" i="1" dirty="0"/>
              <a:t>Academic Year: 2026</a:t>
            </a:r>
          </a:p>
          <a:p>
            <a:r>
              <a:rPr lang="en-US" sz="2400" b="1" i="1" dirty="0"/>
              <a:t>Date: 20 APRIL 2026</a:t>
            </a:r>
          </a:p>
          <a:p>
            <a:r>
              <a:rPr lang="en-US" sz="2400" b="1" i="1" dirty="0"/>
              <a:t>Time: 17:00 PM to 19:00 PM</a:t>
            </a:r>
            <a:endParaRPr lang="en-ZA" sz="2400" b="1" i="1" dirty="0"/>
          </a:p>
        </p:txBody>
      </p:sp>
    </p:spTree>
    <p:extLst>
      <p:ext uri="{BB962C8B-B14F-4D97-AF65-F5344CB8AC3E}">
        <p14:creationId xmlns:p14="http://schemas.microsoft.com/office/powerpoint/2010/main" val="4965932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A1252-968A-A97A-6796-E8553F19BEFD}"/>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7BF1D3AB-2F2A-1FCB-96ED-9EF33DE562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0"/>
            <a:ext cx="6930551" cy="10058400"/>
          </a:xfrm>
          <a:prstGeom prst="rect">
            <a:avLst/>
          </a:prstGeom>
        </p:spPr>
      </p:pic>
      <p:sp>
        <p:nvSpPr>
          <p:cNvPr id="4" name="TextBox 3">
            <a:extLst>
              <a:ext uri="{FF2B5EF4-FFF2-40B4-BE49-F238E27FC236}">
                <a16:creationId xmlns:a16="http://schemas.microsoft.com/office/drawing/2014/main" id="{1B2EFCF2-CB78-E497-F9BE-A5AC45242B2A}"/>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Chapter 1</a:t>
            </a:r>
            <a:endParaRPr lang="en-ZA" sz="3600" b="1"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69E19299-7E0C-EB3F-6C39-08CDCDA7A501}"/>
              </a:ext>
            </a:extLst>
          </p:cNvPr>
          <p:cNvSpPr txBox="1">
            <a:spLocks/>
          </p:cNvSpPr>
          <p:nvPr/>
        </p:nvSpPr>
        <p:spPr>
          <a:xfrm>
            <a:off x="467916" y="2469624"/>
            <a:ext cx="5915025" cy="2483376"/>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n-US" sz="4800" b="1" dirty="0">
                <a:latin typeface="Arial" panose="020B0604020202020204" pitchFamily="34" charset="0"/>
                <a:cs typeface="Arial" panose="020B0604020202020204" pitchFamily="34" charset="0"/>
              </a:rPr>
              <a:t>Chapter 1</a:t>
            </a:r>
            <a:endParaRPr lang="en-US" sz="4800" b="1" dirty="0"/>
          </a:p>
        </p:txBody>
      </p:sp>
      <p:sp>
        <p:nvSpPr>
          <p:cNvPr id="3" name="Text Placeholder 2">
            <a:extLst>
              <a:ext uri="{FF2B5EF4-FFF2-40B4-BE49-F238E27FC236}">
                <a16:creationId xmlns:a16="http://schemas.microsoft.com/office/drawing/2014/main" id="{0E07602D-94A4-AD8F-019E-D2D062AF4298}"/>
              </a:ext>
            </a:extLst>
          </p:cNvPr>
          <p:cNvSpPr txBox="1">
            <a:spLocks/>
          </p:cNvSpPr>
          <p:nvPr/>
        </p:nvSpPr>
        <p:spPr>
          <a:xfrm>
            <a:off x="467916" y="5789289"/>
            <a:ext cx="5915025" cy="857269"/>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endParaRPr lang="en-ZA" b="1" i="1" dirty="0"/>
          </a:p>
        </p:txBody>
      </p:sp>
    </p:spTree>
    <p:extLst>
      <p:ext uri="{BB962C8B-B14F-4D97-AF65-F5344CB8AC3E}">
        <p14:creationId xmlns:p14="http://schemas.microsoft.com/office/powerpoint/2010/main" val="25913274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EBD26-80FA-7F66-3987-963EB7F23A91}"/>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CC44998F-9DCE-2AE0-4144-F073D5F733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D4EE4FF0-8370-A7DC-3EEE-615C5BB6B375}"/>
              </a:ext>
            </a:extLst>
          </p:cNvPr>
          <p:cNvSpPr txBox="1"/>
          <p:nvPr/>
        </p:nvSpPr>
        <p:spPr>
          <a:xfrm>
            <a:off x="0" y="65927"/>
            <a:ext cx="6858000" cy="1754326"/>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Chapter 1 Introduction to Computers and C++ Programming</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4CD28D54-B58B-08EC-2E1B-772D6B1BFB63}"/>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marL="457200" indent="-457200" algn="l">
              <a:buFont typeface="+mj-lt"/>
              <a:buAutoNum type="arabicPeriod"/>
            </a:pPr>
            <a:r>
              <a:rPr lang="en-US" sz="2400" b="1" dirty="0"/>
              <a:t>Introduction to Computers and C++ </a:t>
            </a:r>
          </a:p>
          <a:p>
            <a:pPr marL="457200" indent="-457200" algn="l">
              <a:buFont typeface="+mj-lt"/>
              <a:buAutoNum type="arabicPeriod"/>
            </a:pPr>
            <a:r>
              <a:rPr lang="en-US" sz="2400" b="1" dirty="0"/>
              <a:t>A Brief Overview of the History of Computers</a:t>
            </a:r>
          </a:p>
          <a:p>
            <a:pPr marL="457200" indent="-457200" algn="l">
              <a:buFont typeface="+mj-lt"/>
              <a:buAutoNum type="arabicPeriod"/>
            </a:pPr>
            <a:r>
              <a:rPr lang="en-US" sz="2400" b="1" dirty="0"/>
              <a:t>Computer Systems</a:t>
            </a:r>
          </a:p>
          <a:p>
            <a:pPr marL="457200" indent="-457200" algn="l">
              <a:buFont typeface="+mj-lt"/>
              <a:buAutoNum type="arabicPeriod"/>
            </a:pPr>
            <a:r>
              <a:rPr lang="en-US" sz="2400" b="1" dirty="0"/>
              <a:t>The Language of a Computer</a:t>
            </a:r>
          </a:p>
          <a:p>
            <a:pPr marL="457200" indent="-457200" algn="l">
              <a:buFont typeface="+mj-lt"/>
              <a:buAutoNum type="arabicPeriod"/>
            </a:pPr>
            <a:r>
              <a:rPr lang="en-ZA" sz="2400" b="1" dirty="0"/>
              <a:t>Processing a C++ Program</a:t>
            </a:r>
          </a:p>
          <a:p>
            <a:pPr marL="457200" indent="-457200" algn="l">
              <a:buFont typeface="+mj-lt"/>
              <a:buAutoNum type="arabicPeriod"/>
            </a:pPr>
            <a:r>
              <a:rPr lang="en-ZA" sz="2400" b="1" dirty="0"/>
              <a:t>Problem Solving in Programming</a:t>
            </a:r>
          </a:p>
          <a:p>
            <a:pPr marL="457200" indent="-457200" algn="l">
              <a:buFont typeface="+mj-lt"/>
              <a:buAutoNum type="arabicPeriod"/>
            </a:pPr>
            <a:r>
              <a:rPr lang="en-ZA" sz="2400" b="1" dirty="0"/>
              <a:t>Programming Methodologies</a:t>
            </a:r>
          </a:p>
          <a:p>
            <a:pPr marL="457200" indent="-457200" algn="l">
              <a:buFont typeface="+mj-lt"/>
              <a:buAutoNum type="arabicPeriod"/>
            </a:pPr>
            <a:r>
              <a:rPr lang="en-ZA" sz="2400" b="1" dirty="0"/>
              <a:t>Systems Development Lifecycle Cycle</a:t>
            </a:r>
            <a:endParaRPr lang="en-US" sz="2400" b="1" dirty="0"/>
          </a:p>
        </p:txBody>
      </p:sp>
    </p:spTree>
    <p:extLst>
      <p:ext uri="{BB962C8B-B14F-4D97-AF65-F5344CB8AC3E}">
        <p14:creationId xmlns:p14="http://schemas.microsoft.com/office/powerpoint/2010/main" val="33164230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A4B07-4801-FE8E-85AC-EDAF599B6C65}"/>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85806CA6-7342-7D12-53F8-8B8CB80247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7DB88A41-482E-793F-57AA-C23CD9D42D81}"/>
              </a:ext>
            </a:extLst>
          </p:cNvPr>
          <p:cNvSpPr txBox="1"/>
          <p:nvPr/>
        </p:nvSpPr>
        <p:spPr>
          <a:xfrm>
            <a:off x="0" y="65927"/>
            <a:ext cx="6858000" cy="646331"/>
          </a:xfrm>
          <a:prstGeom prst="rect">
            <a:avLst/>
          </a:prstGeom>
          <a:noFill/>
        </p:spPr>
        <p:txBody>
          <a:bodyPr wrap="square" rtlCol="0">
            <a:spAutoFit/>
          </a:bodyPr>
          <a:lstStyle/>
          <a:p>
            <a:pPr algn="ctr"/>
            <a:r>
              <a:rPr lang="en-US" sz="3600" b="1" dirty="0"/>
              <a:t>Introduction to Computers</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FE8290DF-774A-0B07-4DE8-6A6C33D7C644}"/>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marL="457200" indent="-457200" algn="l">
              <a:buFont typeface="+mj-lt"/>
              <a:buAutoNum type="arabicPeriod"/>
            </a:pPr>
            <a:r>
              <a:rPr lang="en-US" sz="2800" b="1" dirty="0"/>
              <a:t>Introduction to Computers</a:t>
            </a:r>
          </a:p>
          <a:p>
            <a:pPr marL="457200" indent="-457200" algn="l">
              <a:buFont typeface="+mj-lt"/>
              <a:buAutoNum type="arabicPeriod"/>
            </a:pPr>
            <a:endParaRPr lang="en-US" sz="2800" b="1" dirty="0"/>
          </a:p>
          <a:p>
            <a:pPr algn="l"/>
            <a:r>
              <a:rPr lang="en-US" sz="2400" b="1" dirty="0"/>
              <a:t>Outcomes:</a:t>
            </a:r>
          </a:p>
          <a:p>
            <a:pPr marL="285750" indent="-285750" algn="l">
              <a:buFont typeface="Wingdings" panose="05000000000000000000" pitchFamily="2" charset="2"/>
              <a:buChar char="§"/>
            </a:pPr>
            <a:r>
              <a:rPr lang="en-US" sz="2400" dirty="0"/>
              <a:t>Understand a brief History of Computers</a:t>
            </a:r>
          </a:p>
          <a:p>
            <a:pPr marL="285750" indent="-285750" algn="l">
              <a:buFont typeface="Wingdings" panose="05000000000000000000" pitchFamily="2" charset="2"/>
              <a:buChar char="§"/>
            </a:pPr>
            <a:r>
              <a:rPr lang="en-US" sz="2400" dirty="0"/>
              <a:t>Describe the basic components of a computer.</a:t>
            </a:r>
          </a:p>
          <a:p>
            <a:pPr marL="285750" indent="-285750" algn="l">
              <a:buFont typeface="Wingdings" panose="05000000000000000000" pitchFamily="2" charset="2"/>
              <a:buChar char="§"/>
            </a:pPr>
            <a:r>
              <a:rPr lang="en-US" sz="2400" dirty="0"/>
              <a:t>Understand OOP</a:t>
            </a:r>
          </a:p>
          <a:p>
            <a:pPr marL="285750" indent="-285750" algn="l">
              <a:buFont typeface="Wingdings" panose="05000000000000000000" pitchFamily="2" charset="2"/>
              <a:buChar char="§"/>
            </a:pPr>
            <a:r>
              <a:rPr lang="en-US" sz="2400" dirty="0"/>
              <a:t>Understand SDLC</a:t>
            </a:r>
          </a:p>
          <a:p>
            <a:pPr marL="285750" indent="-285750" algn="l">
              <a:buFont typeface="Wingdings" panose="05000000000000000000" pitchFamily="2" charset="2"/>
              <a:buChar char="§"/>
            </a:pPr>
            <a:r>
              <a:rPr lang="en-US" sz="2400" dirty="0"/>
              <a:t>Describe the basic technique for designing and writing a program.</a:t>
            </a:r>
          </a:p>
          <a:p>
            <a:pPr marL="285750" indent="-285750" algn="l">
              <a:buFont typeface="Wingdings" panose="05000000000000000000" pitchFamily="2" charset="2"/>
              <a:buChar char="§"/>
            </a:pPr>
            <a:r>
              <a:rPr lang="en-US" sz="2400" dirty="0"/>
              <a:t>Create the first C++ program and describe how it works.</a:t>
            </a:r>
          </a:p>
          <a:p>
            <a:pPr marL="285750" indent="-285750" algn="l">
              <a:buFont typeface="Wingdings" panose="05000000000000000000" pitchFamily="2" charset="2"/>
              <a:buChar char="§"/>
            </a:pPr>
            <a:endParaRPr lang="en-US" sz="2800" b="1" dirty="0"/>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38702089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C7E7C-3659-E552-CFFD-B7D70A9E1AA5}"/>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FF84FCE6-C0F6-6E5B-FE23-2628EC6928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DBD4E23B-6DD5-7975-A3A0-9F1E59820150}"/>
              </a:ext>
            </a:extLst>
          </p:cNvPr>
          <p:cNvSpPr txBox="1"/>
          <p:nvPr/>
        </p:nvSpPr>
        <p:spPr>
          <a:xfrm>
            <a:off x="0" y="65927"/>
            <a:ext cx="6858000" cy="1200329"/>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A Brief Overview of the History of Computers</a:t>
            </a:r>
          </a:p>
        </p:txBody>
      </p:sp>
      <p:sp>
        <p:nvSpPr>
          <p:cNvPr id="2" name="Content Placeholder 2">
            <a:extLst>
              <a:ext uri="{FF2B5EF4-FFF2-40B4-BE49-F238E27FC236}">
                <a16:creationId xmlns:a16="http://schemas.microsoft.com/office/drawing/2014/main" id="{847F876A-42CB-0D9F-B315-C6A516E3691F}"/>
              </a:ext>
            </a:extLst>
          </p:cNvPr>
          <p:cNvSpPr txBox="1">
            <a:spLocks/>
          </p:cNvSpPr>
          <p:nvPr/>
        </p:nvSpPr>
        <p:spPr>
          <a:xfrm>
            <a:off x="471488" y="2637014"/>
            <a:ext cx="5915025" cy="6285266"/>
          </a:xfrm>
          <a:prstGeom prst="rect">
            <a:avLst/>
          </a:prstGeom>
        </p:spPr>
        <p:txBody>
          <a:bodyPr vert="horz" lIns="91440" tIns="45720" rIns="91440" bIns="45720" rtlCol="0">
            <a:normAutofit lnSpcReduction="1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dirty="0"/>
              <a:t>The first device known to carry out calculations was the </a:t>
            </a:r>
            <a:r>
              <a:rPr lang="en-US" sz="2400" b="1" dirty="0"/>
              <a:t>abacus</a:t>
            </a:r>
            <a:r>
              <a:rPr lang="en-US" sz="2400" dirty="0"/>
              <a:t>. The abacus was invented in Asia but was used in ancient Babylon, China, and throughout Europe until the late middle ages. The abacus uses a system of sliding beads in a rack for addition and subtraction. In 1642, the French philosopher and mathematician </a:t>
            </a:r>
            <a:r>
              <a:rPr lang="en-US" sz="2400" b="1" dirty="0"/>
              <a:t>Blaise Pascal </a:t>
            </a:r>
            <a:r>
              <a:rPr lang="en-US" sz="2400" dirty="0"/>
              <a:t>invented the calculating device called the Pascaline. It had eight movable dials on wheels and could calculate sums up to eight figures long. Both the abacus and Pascaline could perform only addition and subtraction operations. Later in the 17th century, Gottfried von Leibniz invented a device that was able to add, subtract, multiply, and divide. In 1819, Joseph Jacquard, a French weaver, discovered that the weaving instructions for his looms could be stored on cards with holes punched in them.</a:t>
            </a:r>
            <a:endParaRPr lang="en-US" sz="2400" b="1" dirty="0"/>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9079851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B9CAC-E5DD-8EA8-B9F3-ECFB774A946D}"/>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998AEA64-72DF-6995-552F-5A40D27E36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11C34375-C7A6-A584-9E60-9C0766555B86}"/>
              </a:ext>
            </a:extLst>
          </p:cNvPr>
          <p:cNvSpPr txBox="1"/>
          <p:nvPr/>
        </p:nvSpPr>
        <p:spPr>
          <a:xfrm>
            <a:off x="0" y="65927"/>
            <a:ext cx="6858000" cy="1200329"/>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A Brief Overview of the History of Computers</a:t>
            </a:r>
          </a:p>
        </p:txBody>
      </p:sp>
      <p:sp>
        <p:nvSpPr>
          <p:cNvPr id="2" name="Content Placeholder 2">
            <a:extLst>
              <a:ext uri="{FF2B5EF4-FFF2-40B4-BE49-F238E27FC236}">
                <a16:creationId xmlns:a16="http://schemas.microsoft.com/office/drawing/2014/main" id="{2CCDB6ED-2C2A-FBBA-F0F3-1A96E56458B0}"/>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dirty="0"/>
              <a:t>In the early and mid-1800s, </a:t>
            </a:r>
            <a:r>
              <a:rPr lang="en-US" sz="2400" b="1" dirty="0"/>
              <a:t>Charles Babbage</a:t>
            </a:r>
            <a:r>
              <a:rPr lang="en-US" sz="2400" dirty="0"/>
              <a:t>, an English mathematician and physical scientist, designed two calculating machines: the difference engine and the analytical engine. The difference engine could perform complex operations such as squaring numbers automatically. Babbage built a prototype of the difference engine but did not build the actual device. The first complete difference engine was completed in London in 2002, 153 years after it was designed. It consists of 8,000 parts, weighs five tons, and measures 11 feet long. </a:t>
            </a:r>
            <a:r>
              <a:rPr lang="en-US" sz="2400" b="1" dirty="0"/>
              <a:t>Ada Augusta</a:t>
            </a:r>
            <a:r>
              <a:rPr lang="en-US" sz="2400" dirty="0"/>
              <a:t>, Countess of Lovelace, is considered the first computer programmer.</a:t>
            </a:r>
            <a:endParaRPr lang="en-US" sz="2400" b="1" dirty="0"/>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16052035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A583A-C116-AA8C-EC4B-587D9EA465BD}"/>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E4143AAC-B2FC-C075-9245-D6158866AC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7094BD68-3007-6603-E8E6-E059D0134E82}"/>
              </a:ext>
            </a:extLst>
          </p:cNvPr>
          <p:cNvSpPr txBox="1"/>
          <p:nvPr/>
        </p:nvSpPr>
        <p:spPr>
          <a:xfrm>
            <a:off x="0" y="65927"/>
            <a:ext cx="6858000" cy="1200329"/>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A Brief Overview of the History of Computers</a:t>
            </a:r>
          </a:p>
        </p:txBody>
      </p:sp>
      <p:sp>
        <p:nvSpPr>
          <p:cNvPr id="2" name="Content Placeholder 2">
            <a:extLst>
              <a:ext uri="{FF2B5EF4-FFF2-40B4-BE49-F238E27FC236}">
                <a16:creationId xmlns:a16="http://schemas.microsoft.com/office/drawing/2014/main" id="{EA140194-5BEF-666C-261D-0629723BBAA6}"/>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altLang="en-US" sz="2400" b="1" dirty="0"/>
              <a:t>Early calculation devices</a:t>
            </a:r>
          </a:p>
          <a:p>
            <a:pPr marL="628650" lvl="1" indent="-285750" algn="l">
              <a:buFont typeface="Arial" panose="020B0604020202020204" pitchFamily="34" charset="0"/>
              <a:buChar char="•"/>
            </a:pPr>
            <a:r>
              <a:rPr lang="en-US" altLang="en-US" sz="2400" dirty="0"/>
              <a:t>Abacus</a:t>
            </a:r>
          </a:p>
          <a:p>
            <a:pPr marL="628650" lvl="1" indent="-285750" algn="l">
              <a:buFont typeface="Arial" panose="020B0604020202020204" pitchFamily="34" charset="0"/>
              <a:buChar char="•"/>
            </a:pPr>
            <a:r>
              <a:rPr lang="en-US" altLang="en-US" sz="2400" dirty="0"/>
              <a:t>Pascaline</a:t>
            </a:r>
          </a:p>
          <a:p>
            <a:pPr marL="628650" lvl="1" indent="-285750" algn="l">
              <a:buFont typeface="Arial" panose="020B0604020202020204" pitchFamily="34" charset="0"/>
              <a:buChar char="•"/>
            </a:pPr>
            <a:r>
              <a:rPr lang="en-US" altLang="en-US" sz="2400" dirty="0"/>
              <a:t>Leibniz device</a:t>
            </a:r>
          </a:p>
          <a:p>
            <a:pPr marL="628650" lvl="1" indent="-285750" algn="l">
              <a:buFont typeface="Arial" panose="020B0604020202020204" pitchFamily="34" charset="0"/>
              <a:buChar char="•"/>
            </a:pPr>
            <a:r>
              <a:rPr lang="en-US" altLang="en-US" sz="2400" dirty="0"/>
              <a:t>Jacquard’s weaving looms</a:t>
            </a:r>
          </a:p>
          <a:p>
            <a:pPr marL="628650" lvl="1" indent="-285750" algn="l">
              <a:buFont typeface="Arial" panose="020B0604020202020204" pitchFamily="34" charset="0"/>
              <a:buChar char="•"/>
            </a:pPr>
            <a:r>
              <a:rPr lang="en-US" altLang="en-US" sz="2400" dirty="0"/>
              <a:t>Babbage machines: difference and analytic engines</a:t>
            </a:r>
          </a:p>
          <a:p>
            <a:pPr marL="628650" lvl="1" indent="-285750" algn="l">
              <a:buFont typeface="Arial" panose="020B0604020202020204" pitchFamily="34" charset="0"/>
              <a:buChar char="•"/>
            </a:pPr>
            <a:r>
              <a:rPr lang="en-US" altLang="en-US" sz="2400" dirty="0"/>
              <a:t>Hollerith machine</a:t>
            </a:r>
          </a:p>
          <a:p>
            <a:pPr marL="628650" lvl="1" indent="-285750" algn="l">
              <a:buFont typeface="Arial" panose="020B0604020202020204" pitchFamily="34" charset="0"/>
              <a:buChar char="•"/>
            </a:pPr>
            <a:endParaRPr lang="en-US" sz="2400" b="1" dirty="0"/>
          </a:p>
          <a:p>
            <a:pPr algn="l"/>
            <a:r>
              <a:rPr lang="en-US" altLang="en-US" sz="2400" b="1" dirty="0"/>
              <a:t>Early computer-like machines</a:t>
            </a:r>
          </a:p>
          <a:p>
            <a:pPr marL="628650" lvl="1" indent="-285750" algn="l">
              <a:buFont typeface="Arial" panose="020B0604020202020204" pitchFamily="34" charset="0"/>
              <a:buChar char="•"/>
            </a:pPr>
            <a:r>
              <a:rPr lang="en-US" altLang="en-US" sz="2400" dirty="0"/>
              <a:t>Mark I</a:t>
            </a:r>
          </a:p>
          <a:p>
            <a:pPr marL="628650" lvl="1" indent="-285750" algn="l">
              <a:buFont typeface="Arial" panose="020B0604020202020204" pitchFamily="34" charset="0"/>
              <a:buChar char="•"/>
            </a:pPr>
            <a:r>
              <a:rPr lang="en-US" sz="2400" dirty="0"/>
              <a:t>Electronic Numerical Integrator and Calculator (</a:t>
            </a:r>
            <a:r>
              <a:rPr lang="en-US" altLang="en-US" sz="2400" dirty="0"/>
              <a:t>ENIAC)</a:t>
            </a:r>
          </a:p>
          <a:p>
            <a:pPr marL="628650" lvl="1" indent="-285750" algn="l">
              <a:buFont typeface="Arial" panose="020B0604020202020204" pitchFamily="34" charset="0"/>
              <a:buChar char="•"/>
            </a:pPr>
            <a:r>
              <a:rPr lang="en-US" altLang="en-US" sz="2400" dirty="0"/>
              <a:t>Von Neumann architecture</a:t>
            </a:r>
          </a:p>
          <a:p>
            <a:pPr marL="628650" lvl="1" indent="-285750" algn="l">
              <a:buFont typeface="Arial" panose="020B0604020202020204" pitchFamily="34" charset="0"/>
              <a:buChar char="•"/>
            </a:pPr>
            <a:r>
              <a:rPr lang="en-US" sz="2400" dirty="0"/>
              <a:t>Universal Automatic Computer (</a:t>
            </a:r>
            <a:r>
              <a:rPr lang="en-US" altLang="en-US" sz="2400" dirty="0"/>
              <a:t>UNIVAC)</a:t>
            </a:r>
          </a:p>
          <a:p>
            <a:pPr marL="628650" lvl="1" indent="-285750" algn="l">
              <a:buFont typeface="Arial" panose="020B0604020202020204" pitchFamily="34" charset="0"/>
              <a:buChar char="•"/>
            </a:pPr>
            <a:r>
              <a:rPr lang="en-US" altLang="en-US" sz="2400" dirty="0"/>
              <a:t>Transistors and microprocessors</a:t>
            </a:r>
          </a:p>
          <a:p>
            <a:pPr lvl="1" algn="l"/>
            <a:endParaRPr lang="en-US" sz="2800" b="1" dirty="0"/>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10684548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708C2-7CD9-0D37-B20C-16D3C4433EFE}"/>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91CE124F-9AB8-FAC3-A306-0DCF94DA3C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FF1934DC-1712-1908-B8CB-652EF987FED9}"/>
              </a:ext>
            </a:extLst>
          </p:cNvPr>
          <p:cNvSpPr txBox="1"/>
          <p:nvPr/>
        </p:nvSpPr>
        <p:spPr>
          <a:xfrm>
            <a:off x="0" y="65927"/>
            <a:ext cx="6858000" cy="1200329"/>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Elements of a Computer System</a:t>
            </a:r>
          </a:p>
        </p:txBody>
      </p:sp>
      <p:sp>
        <p:nvSpPr>
          <p:cNvPr id="2" name="Content Placeholder 2">
            <a:extLst>
              <a:ext uri="{FF2B5EF4-FFF2-40B4-BE49-F238E27FC236}">
                <a16:creationId xmlns:a16="http://schemas.microsoft.com/office/drawing/2014/main" id="{FFC921D5-3B54-A65A-49C4-BE278394A5AD}"/>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ZA" sz="2800" b="1" dirty="0"/>
              <a:t>Computer Systems</a:t>
            </a:r>
            <a:endParaRPr lang="en-US" sz="2800" dirty="0"/>
          </a:p>
          <a:p>
            <a:pPr algn="l"/>
            <a:r>
              <a:rPr lang="en-US" sz="2800" dirty="0"/>
              <a:t>A set of instructions for a computer to follow is called a program. The collection of programs used by a computer is referred to as the </a:t>
            </a:r>
            <a:r>
              <a:rPr lang="en-US" sz="2800" b="1" dirty="0"/>
              <a:t>software </a:t>
            </a:r>
            <a:r>
              <a:rPr lang="en-US" sz="2800" dirty="0"/>
              <a:t>for that computer.</a:t>
            </a:r>
          </a:p>
          <a:p>
            <a:pPr algn="l"/>
            <a:r>
              <a:rPr lang="en-US" sz="2800" dirty="0"/>
              <a:t>The actual physical machines that make up a computer installation are referred </a:t>
            </a:r>
            <a:r>
              <a:rPr lang="en-ZA" sz="2800" dirty="0"/>
              <a:t>to as </a:t>
            </a:r>
            <a:r>
              <a:rPr lang="en-ZA" sz="2800" b="1" dirty="0"/>
              <a:t>hardware.</a:t>
            </a:r>
          </a:p>
        </p:txBody>
      </p:sp>
    </p:spTree>
    <p:extLst>
      <p:ext uri="{BB962C8B-B14F-4D97-AF65-F5344CB8AC3E}">
        <p14:creationId xmlns:p14="http://schemas.microsoft.com/office/powerpoint/2010/main" val="33602623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A6928-82CF-1007-CA59-F6770E5DC38E}"/>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87BA84ED-F4CB-72F7-3855-8D3050B268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F1197B58-FA45-D07C-3849-4612CD139596}"/>
              </a:ext>
            </a:extLst>
          </p:cNvPr>
          <p:cNvSpPr txBox="1"/>
          <p:nvPr/>
        </p:nvSpPr>
        <p:spPr>
          <a:xfrm>
            <a:off x="0" y="65927"/>
            <a:ext cx="6858000" cy="1200329"/>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Elements of a Computer System…cont.</a:t>
            </a:r>
          </a:p>
        </p:txBody>
      </p:sp>
      <p:sp>
        <p:nvSpPr>
          <p:cNvPr id="2" name="Content Placeholder 2">
            <a:extLst>
              <a:ext uri="{FF2B5EF4-FFF2-40B4-BE49-F238E27FC236}">
                <a16:creationId xmlns:a16="http://schemas.microsoft.com/office/drawing/2014/main" id="{8B9E6E35-E0D2-A2FB-DA35-E1212E0C20EB}"/>
              </a:ext>
            </a:extLst>
          </p:cNvPr>
          <p:cNvSpPr txBox="1">
            <a:spLocks/>
          </p:cNvSpPr>
          <p:nvPr/>
        </p:nvSpPr>
        <p:spPr>
          <a:xfrm>
            <a:off x="471488" y="2637014"/>
            <a:ext cx="5915025" cy="6285266"/>
          </a:xfrm>
          <a:prstGeom prst="rect">
            <a:avLst/>
          </a:prstGeom>
        </p:spPr>
        <p:txBody>
          <a:bodyPr vert="horz" lIns="91440" tIns="45720" rIns="91440" bIns="45720" rtlCol="0">
            <a:normAutofit lnSpcReduction="1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b="1" dirty="0"/>
              <a:t>Hardware</a:t>
            </a:r>
          </a:p>
          <a:p>
            <a:pPr algn="l"/>
            <a:r>
              <a:rPr lang="en-US" sz="2400" dirty="0"/>
              <a:t>There are three main classes of computers: </a:t>
            </a:r>
            <a:r>
              <a:rPr lang="en-US" sz="2400" i="1" dirty="0"/>
              <a:t>PCs</a:t>
            </a:r>
            <a:r>
              <a:rPr lang="en-US" sz="2400" dirty="0"/>
              <a:t>, </a:t>
            </a:r>
            <a:r>
              <a:rPr lang="en-US" sz="2400" i="1" dirty="0"/>
              <a:t>workstations</a:t>
            </a:r>
            <a:r>
              <a:rPr lang="en-US" sz="2400" dirty="0"/>
              <a:t>, and </a:t>
            </a:r>
            <a:r>
              <a:rPr lang="en-US" sz="2400" i="1" dirty="0"/>
              <a:t>mainframes</a:t>
            </a:r>
            <a:r>
              <a:rPr lang="en-US" sz="2400" dirty="0"/>
              <a:t>.</a:t>
            </a:r>
          </a:p>
          <a:p>
            <a:pPr algn="l"/>
            <a:r>
              <a:rPr lang="en-US" sz="2400" dirty="0"/>
              <a:t>A </a:t>
            </a:r>
            <a:r>
              <a:rPr lang="en-US" sz="2400" b="1" dirty="0"/>
              <a:t>PC </a:t>
            </a:r>
            <a:r>
              <a:rPr lang="en-US" sz="2400" dirty="0"/>
              <a:t>(</a:t>
            </a:r>
            <a:r>
              <a:rPr lang="en-US" sz="2400" b="1" dirty="0"/>
              <a:t>personal computer</a:t>
            </a:r>
            <a:r>
              <a:rPr lang="en-US" sz="2400" dirty="0"/>
              <a:t>) is a relatively small computer designed to be used by one person at a time. Most home computers are PCs, but PCs are also widely used in business, industry, and science. A </a:t>
            </a:r>
            <a:r>
              <a:rPr lang="en-US" sz="2400" b="1" dirty="0"/>
              <a:t>workstation </a:t>
            </a:r>
            <a:r>
              <a:rPr lang="en-US" sz="2400" dirty="0"/>
              <a:t>is essentially a larger and more powerful PC. You can think of it as an “industrial strength” PC. A </a:t>
            </a:r>
            <a:r>
              <a:rPr lang="en-US" sz="2400" b="1" dirty="0"/>
              <a:t>mainframe </a:t>
            </a:r>
            <a:r>
              <a:rPr lang="en-US" sz="2400" dirty="0"/>
              <a:t>is an even larger computer that typically requires some support staff and generally is shared by more than one user.</a:t>
            </a:r>
          </a:p>
          <a:p>
            <a:pPr algn="l"/>
            <a:r>
              <a:rPr lang="en-US" sz="2400" dirty="0"/>
              <a:t>A </a:t>
            </a:r>
            <a:r>
              <a:rPr lang="en-US" sz="2400" b="1" dirty="0"/>
              <a:t>network </a:t>
            </a:r>
            <a:r>
              <a:rPr lang="en-US" sz="2400" dirty="0"/>
              <a:t>consists of a number of computers connected so that they may share resources such as printers and may share information. A network might contain a number of workstations and one or more mainframes, as well as shared devices such as printers.</a:t>
            </a:r>
            <a:endParaRPr lang="en-US" sz="2400" b="1" dirty="0"/>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3929207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3F161-1076-02F1-46FC-E8F63DD2B946}"/>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F3AA30BA-5A57-7A6C-1F76-69D7F7ED48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B404A116-0CFD-5BA7-1D18-F2431489FB0B}"/>
              </a:ext>
            </a:extLst>
          </p:cNvPr>
          <p:cNvSpPr txBox="1"/>
          <p:nvPr/>
        </p:nvSpPr>
        <p:spPr>
          <a:xfrm>
            <a:off x="0" y="65927"/>
            <a:ext cx="6858000" cy="1200329"/>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Elements of a Computer System…cont.</a:t>
            </a:r>
          </a:p>
        </p:txBody>
      </p:sp>
      <p:sp>
        <p:nvSpPr>
          <p:cNvPr id="2" name="Content Placeholder 2">
            <a:extLst>
              <a:ext uri="{FF2B5EF4-FFF2-40B4-BE49-F238E27FC236}">
                <a16:creationId xmlns:a16="http://schemas.microsoft.com/office/drawing/2014/main" id="{53A2BBAE-C50C-399E-DFAD-DDCB352BAD2D}"/>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b="1" dirty="0"/>
              <a:t>Hardware</a:t>
            </a:r>
          </a:p>
          <a:p>
            <a:pPr algn="l"/>
            <a:r>
              <a:rPr lang="en-US" sz="2400" b="1" dirty="0"/>
              <a:t>The computer can be thought of as having five main components:</a:t>
            </a:r>
          </a:p>
          <a:p>
            <a:pPr algn="l"/>
            <a:r>
              <a:rPr lang="en-US" sz="2400" dirty="0"/>
              <a:t>the </a:t>
            </a:r>
            <a:r>
              <a:rPr lang="en-US" sz="2400" b="1" i="1" dirty="0"/>
              <a:t>input device(s)</a:t>
            </a:r>
            <a:r>
              <a:rPr lang="en-US" sz="2400" dirty="0"/>
              <a:t>, the </a:t>
            </a:r>
            <a:r>
              <a:rPr lang="en-US" sz="2400" b="1" i="1" dirty="0"/>
              <a:t>output device(s)</a:t>
            </a:r>
            <a:r>
              <a:rPr lang="en-US" sz="2400" dirty="0"/>
              <a:t>, the </a:t>
            </a:r>
            <a:r>
              <a:rPr lang="en-US" sz="2400" b="1" i="1" dirty="0"/>
              <a:t>processo</a:t>
            </a:r>
            <a:r>
              <a:rPr lang="en-US" sz="2400" i="1" dirty="0"/>
              <a:t>r </a:t>
            </a:r>
            <a:r>
              <a:rPr lang="en-US" sz="2400" dirty="0"/>
              <a:t>(also called the </a:t>
            </a:r>
            <a:r>
              <a:rPr lang="en-US" sz="2400" b="1" i="1" dirty="0"/>
              <a:t>CPU, </a:t>
            </a:r>
            <a:r>
              <a:rPr lang="en-US" sz="2400" b="1" dirty="0"/>
              <a:t>for </a:t>
            </a:r>
            <a:r>
              <a:rPr lang="en-US" sz="2400" b="1" i="1" dirty="0"/>
              <a:t>central processing unit</a:t>
            </a:r>
            <a:r>
              <a:rPr lang="en-US" sz="2400" dirty="0"/>
              <a:t>), the </a:t>
            </a:r>
            <a:r>
              <a:rPr lang="en-US" sz="2400" b="1" i="1" dirty="0"/>
              <a:t>main memory</a:t>
            </a:r>
            <a:r>
              <a:rPr lang="en-US" sz="2400" dirty="0"/>
              <a:t>, and the </a:t>
            </a:r>
            <a:r>
              <a:rPr lang="en-US" sz="2400" b="1" i="1" dirty="0"/>
              <a:t>secondary memory</a:t>
            </a:r>
            <a:r>
              <a:rPr lang="en-US" sz="2400" dirty="0"/>
              <a:t>.</a:t>
            </a:r>
          </a:p>
          <a:p>
            <a:pPr algn="l"/>
            <a:r>
              <a:rPr lang="en-US" sz="2400" dirty="0"/>
              <a:t>The processor, main memory, and secondary memory are normally housed in a single cabinet. The processor and main memory form the heart of a computer and can be thought of as an integrated unit. </a:t>
            </a:r>
            <a:r>
              <a:rPr lang="en-ZA" sz="2400" dirty="0"/>
              <a:t>Other components connect </a:t>
            </a:r>
            <a:r>
              <a:rPr lang="en-US" sz="2400" dirty="0"/>
              <a:t>to the main memory and operate under the direction of the processor.</a:t>
            </a:r>
            <a:endParaRPr lang="en-US" sz="2400" b="1" dirty="0"/>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35799292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BA56B-E1A8-0605-B1DD-C1428A8D8241}"/>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EEE919B6-B9F9-081E-DCC9-BC37754225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1ACB9E78-D16E-A4AF-5858-0C22044CDBA5}"/>
              </a:ext>
            </a:extLst>
          </p:cNvPr>
          <p:cNvSpPr txBox="1"/>
          <p:nvPr/>
        </p:nvSpPr>
        <p:spPr>
          <a:xfrm>
            <a:off x="0" y="65927"/>
            <a:ext cx="6858000" cy="1200329"/>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Elements of a Computer System…cont.</a:t>
            </a:r>
          </a:p>
        </p:txBody>
      </p:sp>
      <p:sp>
        <p:nvSpPr>
          <p:cNvPr id="2" name="Content Placeholder 2">
            <a:extLst>
              <a:ext uri="{FF2B5EF4-FFF2-40B4-BE49-F238E27FC236}">
                <a16:creationId xmlns:a16="http://schemas.microsoft.com/office/drawing/2014/main" id="{8711C636-10EC-AEDD-7325-C53D4390A9EF}"/>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b="1" dirty="0"/>
              <a:t>Hardware</a:t>
            </a:r>
          </a:p>
          <a:p>
            <a:pPr marL="457200" indent="-457200" algn="l">
              <a:buFont typeface="+mj-lt"/>
              <a:buAutoNum type="arabicPeriod"/>
            </a:pPr>
            <a:r>
              <a:rPr lang="en-US" sz="2400" b="1" dirty="0"/>
              <a:t>Main Components of a Computer</a:t>
            </a:r>
          </a:p>
          <a:p>
            <a:pPr marL="457200" indent="-457200" algn="l">
              <a:buFont typeface="+mj-lt"/>
              <a:buAutoNum type="arabicPeriod"/>
            </a:pPr>
            <a:endParaRPr lang="en-US" sz="2800" b="1" dirty="0"/>
          </a:p>
        </p:txBody>
      </p:sp>
      <p:pic>
        <p:nvPicPr>
          <p:cNvPr id="6" name="Picture 5">
            <a:extLst>
              <a:ext uri="{FF2B5EF4-FFF2-40B4-BE49-F238E27FC236}">
                <a16:creationId xmlns:a16="http://schemas.microsoft.com/office/drawing/2014/main" id="{3A4DA6EA-4E5E-E7E1-681A-DF8C4D74C14E}"/>
              </a:ext>
            </a:extLst>
          </p:cNvPr>
          <p:cNvPicPr>
            <a:picLocks noChangeAspect="1"/>
          </p:cNvPicPr>
          <p:nvPr/>
        </p:nvPicPr>
        <p:blipFill>
          <a:blip r:embed="rId3"/>
          <a:stretch>
            <a:fillRect/>
          </a:stretch>
        </p:blipFill>
        <p:spPr>
          <a:xfrm>
            <a:off x="682172" y="3877316"/>
            <a:ext cx="4833258" cy="4337769"/>
          </a:xfrm>
          <a:prstGeom prst="rect">
            <a:avLst/>
          </a:prstGeom>
        </p:spPr>
      </p:pic>
    </p:spTree>
    <p:extLst>
      <p:ext uri="{BB962C8B-B14F-4D97-AF65-F5344CB8AC3E}">
        <p14:creationId xmlns:p14="http://schemas.microsoft.com/office/powerpoint/2010/main" val="27284402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9E42-FFE7-A002-5DE2-718AB08D3FDF}"/>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550E3BBB-0284-D4BE-6B92-FC1A4FCFAF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B73D1A1C-B2C5-3294-BDFC-E59DCB9C60BB}"/>
              </a:ext>
            </a:extLst>
          </p:cNvPr>
          <p:cNvSpPr txBox="1"/>
          <p:nvPr/>
        </p:nvSpPr>
        <p:spPr>
          <a:xfrm>
            <a:off x="0" y="65927"/>
            <a:ext cx="6858000" cy="1200329"/>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Elements of a Computer System…cont.</a:t>
            </a:r>
          </a:p>
        </p:txBody>
      </p:sp>
      <p:sp>
        <p:nvSpPr>
          <p:cNvPr id="2" name="Content Placeholder 2">
            <a:extLst>
              <a:ext uri="{FF2B5EF4-FFF2-40B4-BE49-F238E27FC236}">
                <a16:creationId xmlns:a16="http://schemas.microsoft.com/office/drawing/2014/main" id="{DD9EDC9D-6FE3-F5FC-17B3-0CF05B34AB56}"/>
              </a:ext>
            </a:extLst>
          </p:cNvPr>
          <p:cNvSpPr txBox="1">
            <a:spLocks/>
          </p:cNvSpPr>
          <p:nvPr/>
        </p:nvSpPr>
        <p:spPr>
          <a:xfrm>
            <a:off x="471488" y="1915886"/>
            <a:ext cx="5915025" cy="7006394"/>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b="1" dirty="0"/>
              <a:t>Hardware</a:t>
            </a:r>
          </a:p>
          <a:p>
            <a:pPr algn="l"/>
            <a:endParaRPr lang="en-US" dirty="0"/>
          </a:p>
          <a:p>
            <a:pPr algn="l"/>
            <a:endParaRPr lang="en-US" dirty="0"/>
          </a:p>
          <a:p>
            <a:pPr algn="l"/>
            <a:endParaRPr lang="en-US" dirty="0"/>
          </a:p>
          <a:p>
            <a:pPr algn="l"/>
            <a:endParaRPr lang="en-US" dirty="0"/>
          </a:p>
          <a:p>
            <a:pPr algn="l"/>
            <a:endParaRPr lang="en-US" sz="2400" dirty="0"/>
          </a:p>
          <a:p>
            <a:pPr algn="l"/>
            <a:endParaRPr lang="en-US" sz="2400" dirty="0"/>
          </a:p>
          <a:p>
            <a:pPr algn="l"/>
            <a:r>
              <a:rPr lang="en-US" sz="2400" dirty="0"/>
              <a:t>An </a:t>
            </a:r>
            <a:r>
              <a:rPr lang="en-US" sz="2400" b="1" dirty="0"/>
              <a:t>input device </a:t>
            </a:r>
            <a:r>
              <a:rPr lang="en-US" sz="2400" dirty="0"/>
              <a:t>is any device that allows a person to communicate information to the computer. Your primary input devices are likely to be a keyboard </a:t>
            </a:r>
            <a:r>
              <a:rPr lang="en-ZA" sz="2400" dirty="0"/>
              <a:t>and a mouse.</a:t>
            </a:r>
          </a:p>
          <a:p>
            <a:pPr algn="l"/>
            <a:r>
              <a:rPr lang="en-US" sz="2400" dirty="0"/>
              <a:t>An </a:t>
            </a:r>
            <a:r>
              <a:rPr lang="en-US" sz="2400" b="1" dirty="0"/>
              <a:t>output device </a:t>
            </a:r>
            <a:r>
              <a:rPr lang="en-US" sz="2400" dirty="0"/>
              <a:t>is anything that allows the computer to communicate information to you. The most common output device is a display screen, </a:t>
            </a:r>
            <a:r>
              <a:rPr lang="en-ZA" sz="2400" dirty="0"/>
              <a:t>referred to as a </a:t>
            </a:r>
            <a:r>
              <a:rPr lang="en-ZA" sz="2400" i="1" dirty="0"/>
              <a:t>monitor.</a:t>
            </a:r>
          </a:p>
          <a:p>
            <a:pPr algn="l"/>
            <a:r>
              <a:rPr lang="en-US" sz="2400" dirty="0"/>
              <a:t>The keyboard and monitor are sometimes thought of as a single unit called a </a:t>
            </a:r>
            <a:r>
              <a:rPr lang="en-US" sz="2400" i="1" dirty="0"/>
              <a:t>terminal</a:t>
            </a:r>
            <a:r>
              <a:rPr lang="en-US" sz="2400" dirty="0"/>
              <a:t>.</a:t>
            </a:r>
            <a:endParaRPr lang="en-US" sz="2400" b="1" dirty="0"/>
          </a:p>
        </p:txBody>
      </p:sp>
      <p:pic>
        <p:nvPicPr>
          <p:cNvPr id="7" name="Picture 6">
            <a:extLst>
              <a:ext uri="{FF2B5EF4-FFF2-40B4-BE49-F238E27FC236}">
                <a16:creationId xmlns:a16="http://schemas.microsoft.com/office/drawing/2014/main" id="{904553EF-D7C7-87E4-A9A4-7512B345F690}"/>
              </a:ext>
            </a:extLst>
          </p:cNvPr>
          <p:cNvPicPr>
            <a:picLocks noChangeAspect="1"/>
          </p:cNvPicPr>
          <p:nvPr/>
        </p:nvPicPr>
        <p:blipFill>
          <a:blip r:embed="rId3"/>
          <a:stretch>
            <a:fillRect/>
          </a:stretch>
        </p:blipFill>
        <p:spPr>
          <a:xfrm>
            <a:off x="1998435" y="1915886"/>
            <a:ext cx="4242707" cy="2641600"/>
          </a:xfrm>
          <a:prstGeom prst="rect">
            <a:avLst/>
          </a:prstGeom>
        </p:spPr>
      </p:pic>
    </p:spTree>
    <p:extLst>
      <p:ext uri="{BB962C8B-B14F-4D97-AF65-F5344CB8AC3E}">
        <p14:creationId xmlns:p14="http://schemas.microsoft.com/office/powerpoint/2010/main" val="19316234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8D985-BC20-DACD-0A3D-F16B033DC064}"/>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AB86899E-FA75-227A-28A0-663EA73750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DDFF1A9F-9120-6FCC-4B4F-18AF2B74298B}"/>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The Language of a Computer</a:t>
            </a:r>
          </a:p>
        </p:txBody>
      </p:sp>
      <p:sp>
        <p:nvSpPr>
          <p:cNvPr id="2" name="Content Placeholder 2">
            <a:extLst>
              <a:ext uri="{FF2B5EF4-FFF2-40B4-BE49-F238E27FC236}">
                <a16:creationId xmlns:a16="http://schemas.microsoft.com/office/drawing/2014/main" id="{EDBADA1E-C35F-62DB-98A9-F6B799A27AAC}"/>
              </a:ext>
            </a:extLst>
          </p:cNvPr>
          <p:cNvSpPr txBox="1">
            <a:spLocks/>
          </p:cNvSpPr>
          <p:nvPr/>
        </p:nvSpPr>
        <p:spPr>
          <a:xfrm>
            <a:off x="471488" y="1959429"/>
            <a:ext cx="5915025" cy="6962851"/>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ZA" sz="2400" b="1" dirty="0"/>
              <a:t>Hardware</a:t>
            </a:r>
          </a:p>
          <a:p>
            <a:pPr marL="457200" indent="-457200" algn="l">
              <a:buFont typeface="+mj-lt"/>
              <a:buAutoNum type="arabicPeriod"/>
            </a:pPr>
            <a:r>
              <a:rPr lang="en-ZA" sz="2400" b="1" dirty="0"/>
              <a:t>Memory Locations and Bytes</a:t>
            </a:r>
            <a:endParaRPr lang="en-US" sz="2400" b="1" dirty="0"/>
          </a:p>
          <a:p>
            <a:pPr marL="457200" indent="-457200" algn="l">
              <a:buFont typeface="+mj-lt"/>
              <a:buAutoNum type="arabicPeriod"/>
            </a:pPr>
            <a:endParaRPr lang="en-US" sz="2400" b="1" dirty="0"/>
          </a:p>
          <a:p>
            <a:pPr marL="285750" indent="-285750">
              <a:buFont typeface="Arial" panose="020B0604020202020204" pitchFamily="34" charset="0"/>
              <a:buChar char="•"/>
            </a:pPr>
            <a:endParaRPr lang="en-US" sz="2400" b="1" dirty="0"/>
          </a:p>
          <a:p>
            <a:pPr marL="285750" indent="-285750">
              <a:buFont typeface="Arial" panose="020B0604020202020204" pitchFamily="34" charset="0"/>
              <a:buChar char="•"/>
            </a:pPr>
            <a:endParaRPr lang="en-US" sz="2400" b="1" dirty="0"/>
          </a:p>
          <a:p>
            <a:endParaRPr lang="en-US" sz="2400" b="1" dirty="0"/>
          </a:p>
          <a:p>
            <a:pPr algn="l"/>
            <a:endParaRPr lang="en-ZA" sz="2400" dirty="0"/>
          </a:p>
          <a:p>
            <a:pPr algn="l"/>
            <a:endParaRPr lang="en-ZA" sz="2400" dirty="0"/>
          </a:p>
          <a:p>
            <a:pPr algn="l"/>
            <a:r>
              <a:rPr lang="en-ZA" sz="2400" dirty="0"/>
              <a:t>A computer has two </a:t>
            </a:r>
            <a:r>
              <a:rPr lang="en-US" sz="2400" dirty="0"/>
              <a:t>forms of memory, called </a:t>
            </a:r>
            <a:r>
              <a:rPr lang="en-US" sz="2400" i="1" dirty="0"/>
              <a:t>main memory </a:t>
            </a:r>
            <a:r>
              <a:rPr lang="en-US" sz="2400" dirty="0"/>
              <a:t>and </a:t>
            </a:r>
            <a:r>
              <a:rPr lang="en-US" sz="2400" i="1" dirty="0"/>
              <a:t>secondary memory</a:t>
            </a:r>
            <a:r>
              <a:rPr lang="en-US" sz="2400" dirty="0"/>
              <a:t>. </a:t>
            </a:r>
            <a:r>
              <a:rPr lang="en-US" sz="2400" b="1" dirty="0"/>
              <a:t>Main memory </a:t>
            </a:r>
            <a:r>
              <a:rPr lang="en-US" sz="2400" dirty="0"/>
              <a:t>consists of a long list of numbered locations called </a:t>
            </a:r>
            <a:r>
              <a:rPr lang="en-US" sz="2400" i="1" dirty="0"/>
              <a:t>memory locations. </a:t>
            </a:r>
            <a:r>
              <a:rPr lang="en-US" sz="2400" dirty="0"/>
              <a:t>For example, in one commonly used set of codes, 01000001 is the code for the letter A and also for the number 65. In order to know what the string 01000001 in a particular location stands for, the computer must keep track of which code is currently being </a:t>
            </a:r>
            <a:r>
              <a:rPr lang="en-ZA" sz="2400" dirty="0"/>
              <a:t>used for that location.</a:t>
            </a:r>
          </a:p>
        </p:txBody>
      </p:sp>
      <p:pic>
        <p:nvPicPr>
          <p:cNvPr id="9" name="Picture 8">
            <a:extLst>
              <a:ext uri="{FF2B5EF4-FFF2-40B4-BE49-F238E27FC236}">
                <a16:creationId xmlns:a16="http://schemas.microsoft.com/office/drawing/2014/main" id="{128A9CC8-E9CE-2449-24C2-E36CF173E7BD}"/>
              </a:ext>
            </a:extLst>
          </p:cNvPr>
          <p:cNvPicPr>
            <a:picLocks noChangeAspect="1"/>
          </p:cNvPicPr>
          <p:nvPr/>
        </p:nvPicPr>
        <p:blipFill>
          <a:blip r:embed="rId3"/>
          <a:stretch>
            <a:fillRect/>
          </a:stretch>
        </p:blipFill>
        <p:spPr>
          <a:xfrm>
            <a:off x="1299811" y="2828432"/>
            <a:ext cx="3693103" cy="2414854"/>
          </a:xfrm>
          <a:prstGeom prst="rect">
            <a:avLst/>
          </a:prstGeom>
        </p:spPr>
      </p:pic>
    </p:spTree>
    <p:extLst>
      <p:ext uri="{BB962C8B-B14F-4D97-AF65-F5344CB8AC3E}">
        <p14:creationId xmlns:p14="http://schemas.microsoft.com/office/powerpoint/2010/main" val="42868594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99FDB-CCBF-64BE-8EF4-D7BD1FA32DB6}"/>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BCDB37BE-C3FD-2202-EB4B-8F18140583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CE22A100-CDFE-99BE-3A4F-B75A050736F6}"/>
              </a:ext>
            </a:extLst>
          </p:cNvPr>
          <p:cNvSpPr txBox="1"/>
          <p:nvPr/>
        </p:nvSpPr>
        <p:spPr>
          <a:xfrm>
            <a:off x="0" y="65927"/>
            <a:ext cx="6858000" cy="1200329"/>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The Language of a Computer…cont.</a:t>
            </a:r>
          </a:p>
        </p:txBody>
      </p:sp>
      <p:sp>
        <p:nvSpPr>
          <p:cNvPr id="2" name="Content Placeholder 2">
            <a:extLst>
              <a:ext uri="{FF2B5EF4-FFF2-40B4-BE49-F238E27FC236}">
                <a16:creationId xmlns:a16="http://schemas.microsoft.com/office/drawing/2014/main" id="{E0FA9D93-D6AC-163A-CDF4-8AC4E89E8989}"/>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ZA" sz="2400" b="1" dirty="0"/>
              <a:t>Hardware</a:t>
            </a:r>
          </a:p>
          <a:p>
            <a:pPr marL="457200" indent="-457200" algn="l">
              <a:buFont typeface="+mj-lt"/>
              <a:buAutoNum type="arabicPeriod"/>
            </a:pPr>
            <a:r>
              <a:rPr lang="en-ZA" sz="2400" b="1" dirty="0"/>
              <a:t>Memory Locations and Bytes</a:t>
            </a:r>
            <a:endParaRPr lang="en-US" sz="2400" b="1" dirty="0"/>
          </a:p>
          <a:p>
            <a:pPr algn="l"/>
            <a:endParaRPr lang="en-US" sz="2400" dirty="0"/>
          </a:p>
          <a:p>
            <a:pPr algn="l"/>
            <a:r>
              <a:rPr lang="en-US" sz="2400" dirty="0"/>
              <a:t>Main memory is divided into numbered locations called </a:t>
            </a:r>
            <a:r>
              <a:rPr lang="en-US" sz="2400" b="1" dirty="0"/>
              <a:t>bytes. </a:t>
            </a:r>
            <a:r>
              <a:rPr lang="en-US" sz="2400" dirty="0"/>
              <a:t>The </a:t>
            </a:r>
            <a:r>
              <a:rPr lang="en-ZA" sz="2400" dirty="0"/>
              <a:t>number </a:t>
            </a:r>
            <a:r>
              <a:rPr lang="en-US" sz="2400" dirty="0"/>
              <a:t>associated with a byte is called its </a:t>
            </a:r>
            <a:r>
              <a:rPr lang="en-US" sz="2400" b="1" dirty="0"/>
              <a:t>address. </a:t>
            </a:r>
            <a:r>
              <a:rPr lang="en-US" sz="2400" dirty="0"/>
              <a:t>A group of consecutive bytes is used as the location for a data item, such as a number or letter.</a:t>
            </a:r>
          </a:p>
          <a:p>
            <a:pPr algn="l"/>
            <a:r>
              <a:rPr lang="en-US" sz="2400" dirty="0"/>
              <a:t>The address of the first byte in the group is used as the address of </a:t>
            </a:r>
            <a:r>
              <a:rPr lang="en-ZA" sz="2400" dirty="0"/>
              <a:t>this larger memory location.</a:t>
            </a:r>
            <a:endParaRPr lang="en-US" sz="2400" b="1" dirty="0"/>
          </a:p>
        </p:txBody>
      </p:sp>
    </p:spTree>
    <p:extLst>
      <p:ext uri="{BB962C8B-B14F-4D97-AF65-F5344CB8AC3E}">
        <p14:creationId xmlns:p14="http://schemas.microsoft.com/office/powerpoint/2010/main" val="10238944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D4303-F29E-6DC6-D1CF-9DFF457AFDE9}"/>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C959CFD2-DAEE-9DED-9096-321F92850E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F1B356BC-8CDB-B1DD-0219-014E8639F734}"/>
              </a:ext>
            </a:extLst>
          </p:cNvPr>
          <p:cNvSpPr txBox="1"/>
          <p:nvPr/>
        </p:nvSpPr>
        <p:spPr>
          <a:xfrm>
            <a:off x="0" y="65927"/>
            <a:ext cx="6858000" cy="1200329"/>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The Language of a Computer…cont.</a:t>
            </a:r>
          </a:p>
        </p:txBody>
      </p:sp>
      <p:sp>
        <p:nvSpPr>
          <p:cNvPr id="2" name="Content Placeholder 2">
            <a:extLst>
              <a:ext uri="{FF2B5EF4-FFF2-40B4-BE49-F238E27FC236}">
                <a16:creationId xmlns:a16="http://schemas.microsoft.com/office/drawing/2014/main" id="{4959B370-28DD-2256-74A3-C05D5CBABB66}"/>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marL="457200" indent="-457200" algn="l">
              <a:buFont typeface="+mj-lt"/>
              <a:buAutoNum type="arabicPeriod"/>
            </a:pPr>
            <a:r>
              <a:rPr lang="en-ZA" sz="2400" b="1" dirty="0"/>
              <a:t>Binary Units</a:t>
            </a:r>
          </a:p>
          <a:p>
            <a:pPr marL="457200" indent="-457200" algn="l">
              <a:buFont typeface="+mj-lt"/>
              <a:buAutoNum type="arabicPeriod"/>
            </a:pPr>
            <a:endParaRPr lang="en-ZA" sz="2400" b="1" dirty="0"/>
          </a:p>
          <a:p>
            <a:pPr algn="l"/>
            <a:r>
              <a:rPr lang="en-ZA" sz="2400" dirty="0"/>
              <a:t>Computers use digital signals.</a:t>
            </a:r>
          </a:p>
          <a:p>
            <a:pPr algn="l"/>
            <a:r>
              <a:rPr lang="en-US" sz="2400" dirty="0"/>
              <a:t>Because digital signals are processed inside a computer, the language of a computer, called </a:t>
            </a:r>
            <a:r>
              <a:rPr lang="en-US" sz="2400" b="1" dirty="0"/>
              <a:t>machine language</a:t>
            </a:r>
            <a:r>
              <a:rPr lang="en-US" sz="2400" dirty="0"/>
              <a:t>, is a sequence of </a:t>
            </a:r>
            <a:r>
              <a:rPr lang="en-US" sz="2400" b="1" dirty="0"/>
              <a:t>0</a:t>
            </a:r>
            <a:r>
              <a:rPr lang="en-US" sz="2400" dirty="0"/>
              <a:t>s and </a:t>
            </a:r>
            <a:r>
              <a:rPr lang="en-US" sz="2400" b="1" dirty="0"/>
              <a:t>1</a:t>
            </a:r>
            <a:r>
              <a:rPr lang="en-US" sz="2400" dirty="0"/>
              <a:t>s. The digit </a:t>
            </a:r>
            <a:r>
              <a:rPr lang="en-US" sz="2400" b="1" dirty="0"/>
              <a:t>0 </a:t>
            </a:r>
            <a:r>
              <a:rPr lang="en-US" sz="2400" dirty="0"/>
              <a:t>or </a:t>
            </a:r>
            <a:r>
              <a:rPr lang="en-US" sz="2400" b="1" dirty="0"/>
              <a:t>1 </a:t>
            </a:r>
            <a:r>
              <a:rPr lang="en-US" sz="2400" dirty="0"/>
              <a:t>is called a </a:t>
            </a:r>
            <a:r>
              <a:rPr lang="en-US" sz="2400" b="1" dirty="0"/>
              <a:t>binary digit</a:t>
            </a:r>
            <a:r>
              <a:rPr lang="en-US" sz="2400" dirty="0"/>
              <a:t>, or </a:t>
            </a:r>
            <a:r>
              <a:rPr lang="en-US" sz="2400" b="1" dirty="0"/>
              <a:t>bit</a:t>
            </a:r>
            <a:r>
              <a:rPr lang="en-US" sz="2400" dirty="0"/>
              <a:t>. Sometimes a sequence of </a:t>
            </a:r>
            <a:r>
              <a:rPr lang="en-US" sz="2400" b="1" dirty="0"/>
              <a:t>0</a:t>
            </a:r>
            <a:r>
              <a:rPr lang="en-US" sz="2400" dirty="0"/>
              <a:t>s and </a:t>
            </a:r>
            <a:r>
              <a:rPr lang="en-US" sz="2400" b="1" dirty="0"/>
              <a:t>1</a:t>
            </a:r>
            <a:r>
              <a:rPr lang="en-US" sz="2400" dirty="0"/>
              <a:t>s is referred to as a </a:t>
            </a:r>
            <a:r>
              <a:rPr lang="en-US" sz="2400" b="1" dirty="0"/>
              <a:t>binary code </a:t>
            </a:r>
            <a:r>
              <a:rPr lang="en-ZA" sz="2400" dirty="0"/>
              <a:t>or a </a:t>
            </a:r>
            <a:r>
              <a:rPr lang="en-ZA" sz="2400" b="1" dirty="0"/>
              <a:t>binary number</a:t>
            </a:r>
            <a:r>
              <a:rPr lang="en-ZA" sz="2400" dirty="0"/>
              <a:t>.</a:t>
            </a:r>
          </a:p>
          <a:p>
            <a:r>
              <a:rPr lang="en-US" sz="2400" b="1" dirty="0"/>
              <a:t>Bit</a:t>
            </a:r>
            <a:r>
              <a:rPr lang="en-US" sz="2400" dirty="0"/>
              <a:t>: A binary digit </a:t>
            </a:r>
            <a:r>
              <a:rPr lang="en-US" sz="2400" b="1" dirty="0"/>
              <a:t>0 </a:t>
            </a:r>
            <a:r>
              <a:rPr lang="en-US" sz="2400" dirty="0"/>
              <a:t>or </a:t>
            </a:r>
            <a:r>
              <a:rPr lang="en-US" sz="2400" b="1" dirty="0"/>
              <a:t>1</a:t>
            </a:r>
            <a:r>
              <a:rPr lang="en-US" sz="2400" dirty="0"/>
              <a:t>.</a:t>
            </a:r>
          </a:p>
        </p:txBody>
      </p:sp>
    </p:spTree>
    <p:extLst>
      <p:ext uri="{BB962C8B-B14F-4D97-AF65-F5344CB8AC3E}">
        <p14:creationId xmlns:p14="http://schemas.microsoft.com/office/powerpoint/2010/main" val="36049468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65BA8-52F0-DD9C-0FF9-4A26D2E216F2}"/>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EA0C2260-8A5C-6F1B-D311-B8BEBB53C8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BE764B34-7313-C53D-35BE-9AE5B953A5E6}"/>
              </a:ext>
            </a:extLst>
          </p:cNvPr>
          <p:cNvSpPr txBox="1"/>
          <p:nvPr/>
        </p:nvSpPr>
        <p:spPr>
          <a:xfrm>
            <a:off x="0" y="65927"/>
            <a:ext cx="6858000" cy="1200329"/>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The Language of a Computer…cont.</a:t>
            </a:r>
          </a:p>
        </p:txBody>
      </p:sp>
      <p:sp>
        <p:nvSpPr>
          <p:cNvPr id="2" name="Content Placeholder 2">
            <a:extLst>
              <a:ext uri="{FF2B5EF4-FFF2-40B4-BE49-F238E27FC236}">
                <a16:creationId xmlns:a16="http://schemas.microsoft.com/office/drawing/2014/main" id="{72B91421-9009-8819-4FAB-018D62B9192C}"/>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marL="457200" indent="-457200" algn="l">
              <a:buFont typeface="+mj-lt"/>
              <a:buAutoNum type="arabicPeriod"/>
            </a:pPr>
            <a:r>
              <a:rPr lang="en-ZA" sz="2400" b="1" dirty="0"/>
              <a:t>Binary Units</a:t>
            </a:r>
          </a:p>
          <a:p>
            <a:pPr marL="457200" indent="-457200" algn="l">
              <a:buFont typeface="+mj-lt"/>
              <a:buAutoNum type="arabicPeriod"/>
            </a:pPr>
            <a:endParaRPr lang="en-ZA" sz="2400" b="1" dirty="0"/>
          </a:p>
          <a:p>
            <a:pPr algn="l"/>
            <a:r>
              <a:rPr lang="en-US" sz="2400" dirty="0"/>
              <a:t>A sequence of eight bits is called a </a:t>
            </a:r>
            <a:r>
              <a:rPr lang="en-US" sz="2400" b="1" dirty="0"/>
              <a:t>byte</a:t>
            </a:r>
            <a:r>
              <a:rPr lang="en-US" sz="2400" dirty="0"/>
              <a:t>. The number that identifies a byte is called its </a:t>
            </a:r>
            <a:r>
              <a:rPr lang="en-US" sz="2400" b="1" dirty="0"/>
              <a:t>address. </a:t>
            </a:r>
            <a:r>
              <a:rPr lang="en-US" sz="2400" dirty="0"/>
              <a:t>Moreover, 210 bytes 51024 bytes is called a </a:t>
            </a:r>
            <a:r>
              <a:rPr lang="en-US" sz="2400" b="1" dirty="0"/>
              <a:t>kilobyte (KB)</a:t>
            </a:r>
            <a:r>
              <a:rPr lang="en-US" sz="2400" dirty="0"/>
              <a:t>. Summary of the terms used to describe various numbers of </a:t>
            </a:r>
            <a:r>
              <a:rPr lang="en-ZA" sz="2400" dirty="0"/>
              <a:t>bytes.</a:t>
            </a:r>
          </a:p>
          <a:p>
            <a:pPr algn="l"/>
            <a:endParaRPr lang="en-US" b="1" dirty="0"/>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pic>
        <p:nvPicPr>
          <p:cNvPr id="6" name="Picture 5">
            <a:extLst>
              <a:ext uri="{FF2B5EF4-FFF2-40B4-BE49-F238E27FC236}">
                <a16:creationId xmlns:a16="http://schemas.microsoft.com/office/drawing/2014/main" id="{AD018EFF-49C0-5913-F44B-9E0D89C26289}"/>
              </a:ext>
            </a:extLst>
          </p:cNvPr>
          <p:cNvPicPr>
            <a:picLocks noChangeAspect="1"/>
          </p:cNvPicPr>
          <p:nvPr/>
        </p:nvPicPr>
        <p:blipFill>
          <a:blip r:embed="rId3"/>
          <a:stretch>
            <a:fillRect/>
          </a:stretch>
        </p:blipFill>
        <p:spPr>
          <a:xfrm>
            <a:off x="812800" y="5689600"/>
            <a:ext cx="4905829" cy="2982668"/>
          </a:xfrm>
          <a:prstGeom prst="rect">
            <a:avLst/>
          </a:prstGeom>
        </p:spPr>
      </p:pic>
    </p:spTree>
    <p:extLst>
      <p:ext uri="{BB962C8B-B14F-4D97-AF65-F5344CB8AC3E}">
        <p14:creationId xmlns:p14="http://schemas.microsoft.com/office/powerpoint/2010/main" val="17643689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1DE9C-FB50-8E81-3A13-8BDE1ECC0DA9}"/>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20F15CD1-B334-E85A-1C42-BECF6E92B3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794183EB-C6C4-92EB-1769-CF87890642D9}"/>
              </a:ext>
            </a:extLst>
          </p:cNvPr>
          <p:cNvSpPr txBox="1"/>
          <p:nvPr/>
        </p:nvSpPr>
        <p:spPr>
          <a:xfrm>
            <a:off x="0" y="65927"/>
            <a:ext cx="6858000" cy="1200329"/>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The Language of a Computer…cont.</a:t>
            </a:r>
          </a:p>
        </p:txBody>
      </p:sp>
      <p:sp>
        <p:nvSpPr>
          <p:cNvPr id="2" name="Content Placeholder 2">
            <a:extLst>
              <a:ext uri="{FF2B5EF4-FFF2-40B4-BE49-F238E27FC236}">
                <a16:creationId xmlns:a16="http://schemas.microsoft.com/office/drawing/2014/main" id="{BB80C3D7-6FC4-CD46-5F54-1E0EC33024A1}"/>
              </a:ext>
            </a:extLst>
          </p:cNvPr>
          <p:cNvSpPr txBox="1">
            <a:spLocks/>
          </p:cNvSpPr>
          <p:nvPr/>
        </p:nvSpPr>
        <p:spPr>
          <a:xfrm>
            <a:off x="471488" y="2637014"/>
            <a:ext cx="5915025" cy="6285266"/>
          </a:xfrm>
          <a:prstGeom prst="rect">
            <a:avLst/>
          </a:prstGeom>
        </p:spPr>
        <p:txBody>
          <a:bodyPr vert="horz" lIns="91440" tIns="45720" rIns="91440" bIns="45720" rtlCol="0">
            <a:normAutofit lnSpcReduction="1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b="1" dirty="0"/>
              <a:t>2. Keyboard and American Standard Code for Information Interchange (ASCII)</a:t>
            </a:r>
            <a:endParaRPr lang="en-US" sz="2400" dirty="0"/>
          </a:p>
          <a:p>
            <a:endParaRPr lang="en-US" sz="2400" b="1" dirty="0"/>
          </a:p>
          <a:p>
            <a:pPr algn="l"/>
            <a:r>
              <a:rPr lang="en-US" sz="2400" dirty="0"/>
              <a:t>Every letter, number, or special symbol (such as </a:t>
            </a:r>
            <a:r>
              <a:rPr lang="en-US" sz="2400" b="1" dirty="0"/>
              <a:t>* </a:t>
            </a:r>
            <a:r>
              <a:rPr lang="en-US" sz="2400" dirty="0"/>
              <a:t>or </a:t>
            </a:r>
            <a:r>
              <a:rPr lang="en-US" sz="2400" b="1" dirty="0"/>
              <a:t>{ </a:t>
            </a:r>
            <a:r>
              <a:rPr lang="en-US" sz="2400" dirty="0"/>
              <a:t>) on your keyboard is encoded 1 as a sequence of bits, each having a unique representation. The most commonly used encoding scheme on personal computers is the </a:t>
            </a:r>
            <a:r>
              <a:rPr lang="en-US" sz="2400" i="1" dirty="0"/>
              <a:t>seven-bit </a:t>
            </a:r>
            <a:r>
              <a:rPr lang="en-US" sz="2400" b="1" dirty="0"/>
              <a:t>American Standard Code for Information Interchange (ASCII)</a:t>
            </a:r>
            <a:r>
              <a:rPr lang="en-US" sz="2400" dirty="0"/>
              <a:t>. The ASCII data set consists of 128 characters </a:t>
            </a:r>
            <a:r>
              <a:rPr lang="en-ZA" sz="2400" dirty="0"/>
              <a:t>numbered 0 through 127.</a:t>
            </a:r>
          </a:p>
          <a:p>
            <a:pPr algn="l"/>
            <a:r>
              <a:rPr lang="en-US" sz="2400" dirty="0"/>
              <a:t>The number system that we use in our daily life is called the </a:t>
            </a:r>
            <a:r>
              <a:rPr lang="en-US" sz="2400" b="1" dirty="0"/>
              <a:t>decimal system</a:t>
            </a:r>
            <a:r>
              <a:rPr lang="en-US" sz="2400" dirty="0"/>
              <a:t>, or </a:t>
            </a:r>
            <a:r>
              <a:rPr lang="en-US" sz="2400" b="1" dirty="0"/>
              <a:t>base 10</a:t>
            </a:r>
            <a:r>
              <a:rPr lang="en-US" sz="2400" dirty="0"/>
              <a:t>.</a:t>
            </a:r>
          </a:p>
          <a:p>
            <a:pPr algn="l"/>
            <a:r>
              <a:rPr lang="en-US" sz="2400" dirty="0"/>
              <a:t>Because everything inside a computer is represented as a sequence of 0s and 1s, that is, binary numbers, the number system that a computer uses is called </a:t>
            </a:r>
            <a:r>
              <a:rPr lang="en-US" sz="2400" b="1" dirty="0"/>
              <a:t>binary</a:t>
            </a:r>
            <a:r>
              <a:rPr lang="en-US" sz="2400" dirty="0"/>
              <a:t>, or </a:t>
            </a:r>
            <a:r>
              <a:rPr lang="en-US" sz="2400" b="1" dirty="0"/>
              <a:t>base 2.</a:t>
            </a:r>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28602844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02F9F-65A4-B401-5015-CE068CA9A9B8}"/>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CE192C2E-343A-AD85-B1F0-31C452D072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FBE69562-FCE6-1699-C9A1-6346AD23249A}"/>
              </a:ext>
            </a:extLst>
          </p:cNvPr>
          <p:cNvSpPr txBox="1"/>
          <p:nvPr/>
        </p:nvSpPr>
        <p:spPr>
          <a:xfrm>
            <a:off x="0" y="65927"/>
            <a:ext cx="6858000" cy="1200329"/>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Elements of a Computer System…cont.</a:t>
            </a:r>
          </a:p>
        </p:txBody>
      </p:sp>
      <p:sp>
        <p:nvSpPr>
          <p:cNvPr id="2" name="Content Placeholder 2">
            <a:extLst>
              <a:ext uri="{FF2B5EF4-FFF2-40B4-BE49-F238E27FC236}">
                <a16:creationId xmlns:a16="http://schemas.microsoft.com/office/drawing/2014/main" id="{1762DB61-0564-23A4-EF74-26639E4D053B}"/>
              </a:ext>
            </a:extLst>
          </p:cNvPr>
          <p:cNvSpPr txBox="1">
            <a:spLocks/>
          </p:cNvSpPr>
          <p:nvPr/>
        </p:nvSpPr>
        <p:spPr>
          <a:xfrm>
            <a:off x="471488" y="2637014"/>
            <a:ext cx="5915025" cy="6285266"/>
          </a:xfrm>
          <a:prstGeom prst="rect">
            <a:avLst/>
          </a:prstGeom>
        </p:spPr>
        <p:txBody>
          <a:bodyPr vert="horz" lIns="91440" tIns="45720" rIns="91440" bIns="45720" rtlCol="0">
            <a:normAutofit lnSpcReduction="1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b="1" dirty="0"/>
              <a:t>Secondary memory</a:t>
            </a:r>
          </a:p>
          <a:p>
            <a:pPr algn="l"/>
            <a:r>
              <a:rPr lang="en-US" sz="2400" dirty="0"/>
              <a:t>Main memory is often referred to as </a:t>
            </a:r>
            <a:r>
              <a:rPr lang="en-US" sz="2400" b="1" dirty="0"/>
              <a:t>RAM </a:t>
            </a:r>
            <a:r>
              <a:rPr lang="en-US" sz="2400" dirty="0"/>
              <a:t>or </a:t>
            </a:r>
            <a:r>
              <a:rPr lang="en-US" sz="2400" b="1" dirty="0"/>
              <a:t>random-access memory. </a:t>
            </a:r>
            <a:r>
              <a:rPr lang="en-US" sz="2400" dirty="0"/>
              <a:t>It is called </a:t>
            </a:r>
            <a:r>
              <a:rPr lang="en-US" sz="2400" i="1" dirty="0"/>
              <a:t>random access </a:t>
            </a:r>
            <a:r>
              <a:rPr lang="en-US" sz="2400" dirty="0"/>
              <a:t>because the computer can immediately access the data  in any memory location. Secondary memory often requires </a:t>
            </a:r>
            <a:r>
              <a:rPr lang="en-US" sz="2400" b="1" dirty="0"/>
              <a:t>sequential access</a:t>
            </a:r>
            <a:r>
              <a:rPr lang="en-US" sz="2400" dirty="0"/>
              <a:t>, which means that the computer must look through all (or at least very many) memory locations until it finds the item it needs.</a:t>
            </a:r>
          </a:p>
          <a:p>
            <a:pPr algn="l"/>
            <a:endParaRPr lang="en-US" sz="2400" dirty="0"/>
          </a:p>
          <a:p>
            <a:pPr algn="l"/>
            <a:r>
              <a:rPr lang="en-US" sz="2400" dirty="0"/>
              <a:t>The </a:t>
            </a:r>
            <a:r>
              <a:rPr lang="en-US" sz="2400" b="1" dirty="0"/>
              <a:t>processor </a:t>
            </a:r>
            <a:r>
              <a:rPr lang="en-US" sz="2400" dirty="0"/>
              <a:t>(also known as the </a:t>
            </a:r>
            <a:r>
              <a:rPr lang="en-US" sz="2400" b="1" dirty="0"/>
              <a:t>central processing unit</a:t>
            </a:r>
            <a:r>
              <a:rPr lang="en-US" sz="2400" dirty="0"/>
              <a:t>, or </a:t>
            </a:r>
            <a:r>
              <a:rPr lang="en-US" sz="2400" b="1" dirty="0"/>
              <a:t>CPU</a:t>
            </a:r>
            <a:r>
              <a:rPr lang="en-US" sz="2400" dirty="0"/>
              <a:t>) is the “brain” of the computer. When a computer is advertised, the computer company tells you what </a:t>
            </a:r>
            <a:r>
              <a:rPr lang="en-US" sz="2400" i="1" dirty="0"/>
              <a:t>chip </a:t>
            </a:r>
            <a:r>
              <a:rPr lang="en-US" sz="2400" dirty="0"/>
              <a:t>it contains. The </a:t>
            </a:r>
            <a:r>
              <a:rPr lang="en-US" sz="2400" b="1" dirty="0"/>
              <a:t>chip </a:t>
            </a:r>
            <a:r>
              <a:rPr lang="en-US" sz="2400" dirty="0"/>
              <a:t>is the processor. The processor follows the instructions in a program and performs the calculations </a:t>
            </a:r>
          </a:p>
          <a:p>
            <a:pPr algn="l"/>
            <a:r>
              <a:rPr lang="en-US" sz="2400" dirty="0"/>
              <a:t>specified </a:t>
            </a:r>
            <a:r>
              <a:rPr lang="en-ZA" sz="2400" dirty="0"/>
              <a:t>by the program.</a:t>
            </a:r>
            <a:endParaRPr lang="en-US" sz="2400" b="1" dirty="0"/>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10152646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7DCE6-475A-B2E8-09FE-1C64F28123E8}"/>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6203EDA4-FBBB-CC24-C583-7EF0F9B8CB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CD3D8D7C-346C-29C8-20A8-6DE8C94B3FBE}"/>
              </a:ext>
            </a:extLst>
          </p:cNvPr>
          <p:cNvSpPr txBox="1"/>
          <p:nvPr/>
        </p:nvSpPr>
        <p:spPr>
          <a:xfrm>
            <a:off x="0" y="65927"/>
            <a:ext cx="6858000" cy="1200329"/>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Elements of a Computer System…cont.</a:t>
            </a:r>
          </a:p>
        </p:txBody>
      </p:sp>
      <p:sp>
        <p:nvSpPr>
          <p:cNvPr id="2" name="Content Placeholder 2">
            <a:extLst>
              <a:ext uri="{FF2B5EF4-FFF2-40B4-BE49-F238E27FC236}">
                <a16:creationId xmlns:a16="http://schemas.microsoft.com/office/drawing/2014/main" id="{75B352AF-ED91-2431-736A-0A7C166E78A6}"/>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800" b="1" dirty="0"/>
              <a:t>Software</a:t>
            </a:r>
          </a:p>
          <a:p>
            <a:pPr algn="l"/>
            <a:r>
              <a:rPr lang="en-US" sz="2600" dirty="0"/>
              <a:t>The </a:t>
            </a:r>
            <a:r>
              <a:rPr lang="en-US" sz="2600" b="1" dirty="0"/>
              <a:t>operating system </a:t>
            </a:r>
            <a:r>
              <a:rPr lang="en-US" sz="2600" dirty="0"/>
              <a:t>allocates the computer’s resources to the different tasks that the computer must accomplish. It is in charge of other programs. If you want to run a program, you tell the operating system the name of the file that contains it, and the operating system runs the program. If you want to edit a file, you tell the operating system the name of the file and it starts up the editor to work on that file. To most users, the operating system is the computer. Most users never see the computer without its operating system. The names of some common operating systems are UNIX, </a:t>
            </a:r>
            <a:r>
              <a:rPr lang="pt-BR" sz="2600" dirty="0"/>
              <a:t>DOS, Linux, Windows, Mac OS, iOS, and Android.</a:t>
            </a:r>
            <a:endParaRPr lang="en-US" sz="2800" b="1" dirty="0"/>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16882002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E0F74-6458-3868-48F8-076579B7C157}"/>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CE6B95A3-B38E-2896-1FC4-E2D77548B2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886359A3-C3ED-F3A2-7E40-F24791AACF2A}"/>
              </a:ext>
            </a:extLst>
          </p:cNvPr>
          <p:cNvSpPr txBox="1"/>
          <p:nvPr/>
        </p:nvSpPr>
        <p:spPr>
          <a:xfrm>
            <a:off x="0" y="65927"/>
            <a:ext cx="6858000" cy="1200329"/>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Elements of a Computer System…cont.</a:t>
            </a:r>
          </a:p>
        </p:txBody>
      </p:sp>
      <p:sp>
        <p:nvSpPr>
          <p:cNvPr id="2" name="Content Placeholder 2">
            <a:extLst>
              <a:ext uri="{FF2B5EF4-FFF2-40B4-BE49-F238E27FC236}">
                <a16:creationId xmlns:a16="http://schemas.microsoft.com/office/drawing/2014/main" id="{F324D475-A425-9330-362B-7BC4DD5CB9F9}"/>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800" b="1" dirty="0"/>
              <a:t>Software</a:t>
            </a:r>
          </a:p>
          <a:p>
            <a:pPr algn="l"/>
            <a:r>
              <a:rPr lang="en-US" sz="2600" dirty="0"/>
              <a:t>A </a:t>
            </a:r>
            <a:r>
              <a:rPr lang="en-US" sz="2600" b="1" dirty="0"/>
              <a:t>program</a:t>
            </a:r>
            <a:r>
              <a:rPr lang="en-US" sz="2600" dirty="0"/>
              <a:t> is a set of instructions for a computer to follow. </a:t>
            </a:r>
          </a:p>
          <a:p>
            <a:pPr algn="l"/>
            <a:r>
              <a:rPr lang="en-US" sz="2600" dirty="0"/>
              <a:t>The computer follows the instructions in the program and in that way performs some process. The </a:t>
            </a:r>
            <a:r>
              <a:rPr lang="en-US" sz="2600" b="1" dirty="0"/>
              <a:t>data</a:t>
            </a:r>
            <a:r>
              <a:rPr lang="en-US" sz="2600" dirty="0"/>
              <a:t> is what we conceptualize as the input to the program. For example, if the program adds two numbers, then the two numbers are the data. In other words, the data is the input to the program, and both the program and the data are input to the computer (usually via the operating system).</a:t>
            </a:r>
          </a:p>
          <a:p>
            <a:endParaRPr lang="en-US" sz="2800" b="1" dirty="0"/>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34055059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AF456-8697-6CFB-5D84-F647045F75B4}"/>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8F4928B3-8DF3-C06A-5F2C-628FC06426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9E28665E-3863-FA7E-9D90-456D464B0EF4}"/>
              </a:ext>
            </a:extLst>
          </p:cNvPr>
          <p:cNvSpPr txBox="1"/>
          <p:nvPr/>
        </p:nvSpPr>
        <p:spPr>
          <a:xfrm>
            <a:off x="0" y="65927"/>
            <a:ext cx="6858000" cy="1200329"/>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Elements of a Computer System…cont.</a:t>
            </a:r>
          </a:p>
        </p:txBody>
      </p:sp>
      <p:sp>
        <p:nvSpPr>
          <p:cNvPr id="2" name="Content Placeholder 2">
            <a:extLst>
              <a:ext uri="{FF2B5EF4-FFF2-40B4-BE49-F238E27FC236}">
                <a16:creationId xmlns:a16="http://schemas.microsoft.com/office/drawing/2014/main" id="{18F51EBF-9897-7D32-35A2-D0C8F11AC895}"/>
              </a:ext>
            </a:extLst>
          </p:cNvPr>
          <p:cNvSpPr txBox="1">
            <a:spLocks/>
          </p:cNvSpPr>
          <p:nvPr/>
        </p:nvSpPr>
        <p:spPr>
          <a:xfrm>
            <a:off x="471488" y="2637014"/>
            <a:ext cx="5915025" cy="6285266"/>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marL="457200" indent="-457200" algn="l">
              <a:buFont typeface="+mj-lt"/>
              <a:buAutoNum type="arabicPeriod"/>
            </a:pPr>
            <a:r>
              <a:rPr lang="en-ZA" sz="2400" b="1" dirty="0"/>
              <a:t>High-Level Languages and Low-Level Languages</a:t>
            </a:r>
            <a:endParaRPr lang="en-US" sz="2400" b="1" dirty="0"/>
          </a:p>
          <a:p>
            <a:pPr algn="l"/>
            <a:r>
              <a:rPr lang="en-US" sz="2400" dirty="0"/>
              <a:t>There are many languages for writing programs. </a:t>
            </a:r>
            <a:r>
              <a:rPr lang="en-ZA" sz="2400" dirty="0"/>
              <a:t>C++ is a high level </a:t>
            </a:r>
            <a:r>
              <a:rPr lang="en-US" sz="2400" dirty="0"/>
              <a:t>language, as are most of the other programming languages you are likely to have heard of, such as </a:t>
            </a:r>
            <a:r>
              <a:rPr lang="en-US" sz="2400" b="1" dirty="0"/>
              <a:t>C, C#, Java, Python, PHP, Pascal, Visual Basic, FORTRAN, COBOL, Lisp, Scheme, and Ada.</a:t>
            </a:r>
          </a:p>
          <a:p>
            <a:pPr algn="l"/>
            <a:r>
              <a:rPr lang="en-US" sz="2400" b="1" dirty="0"/>
              <a:t>High-level languages </a:t>
            </a:r>
            <a:r>
              <a:rPr lang="en-US" sz="2400" dirty="0"/>
              <a:t>resemble human languages in many ways. They are designed to be easy for human beings to write programs in and to be easy for human beings to read. A high level language, such as C++, contains instructions that are much more complicated than the simple instructions a computer’s processor (CPU) is capable of </a:t>
            </a:r>
            <a:r>
              <a:rPr lang="en-ZA" sz="2400" dirty="0"/>
              <a:t>following.</a:t>
            </a:r>
          </a:p>
        </p:txBody>
      </p:sp>
    </p:spTree>
    <p:extLst>
      <p:ext uri="{BB962C8B-B14F-4D97-AF65-F5344CB8AC3E}">
        <p14:creationId xmlns:p14="http://schemas.microsoft.com/office/powerpoint/2010/main" val="11384766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DC3FF-BA83-4AED-7AEF-7CA4A0F9C468}"/>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A6027DBA-E511-4F7A-F076-2F02D12A73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0720D4F0-C406-3508-0582-795B20EF58AB}"/>
              </a:ext>
            </a:extLst>
          </p:cNvPr>
          <p:cNvSpPr txBox="1"/>
          <p:nvPr/>
        </p:nvSpPr>
        <p:spPr>
          <a:xfrm>
            <a:off x="0" y="65927"/>
            <a:ext cx="6858000" cy="1200329"/>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Elements of a Computer System…cont.</a:t>
            </a:r>
          </a:p>
        </p:txBody>
      </p:sp>
      <p:sp>
        <p:nvSpPr>
          <p:cNvPr id="2" name="Content Placeholder 2">
            <a:extLst>
              <a:ext uri="{FF2B5EF4-FFF2-40B4-BE49-F238E27FC236}">
                <a16:creationId xmlns:a16="http://schemas.microsoft.com/office/drawing/2014/main" id="{BA3D97F2-8C68-A9B4-6E72-8A2A776E0316}"/>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600" b="1" dirty="0">
                <a:cs typeface="Arial" panose="020B0604020202020204" pitchFamily="34" charset="0"/>
              </a:rPr>
              <a:t>Low-level languages</a:t>
            </a:r>
          </a:p>
          <a:p>
            <a:pPr algn="l"/>
            <a:endParaRPr lang="en-ZA" sz="2600" dirty="0"/>
          </a:p>
          <a:p>
            <a:pPr algn="l"/>
            <a:r>
              <a:rPr lang="en-US" sz="2600" dirty="0"/>
              <a:t>The kind of language a computer can understand is called a </a:t>
            </a:r>
            <a:r>
              <a:rPr lang="en-US" sz="2600" b="1" dirty="0"/>
              <a:t>low-level language. </a:t>
            </a:r>
            <a:r>
              <a:rPr lang="en-US" sz="2600" dirty="0"/>
              <a:t>The exact details of low-level languages differ from one kind </a:t>
            </a:r>
            <a:r>
              <a:rPr lang="en-ZA" sz="2600" dirty="0"/>
              <a:t>of computer to another.</a:t>
            </a:r>
          </a:p>
          <a:p>
            <a:pPr algn="l"/>
            <a:r>
              <a:rPr lang="en-US" sz="2600" dirty="0"/>
              <a:t>Programs written in the form of 0s and 1s are said to be written in </a:t>
            </a:r>
            <a:r>
              <a:rPr lang="en-US" sz="2600" b="1" dirty="0"/>
              <a:t>machine language</a:t>
            </a:r>
            <a:r>
              <a:rPr lang="en-US" sz="2600" dirty="0"/>
              <a:t>, because that is the version of the program that the computer (the machine) actually reads and follows.</a:t>
            </a:r>
          </a:p>
        </p:txBody>
      </p:sp>
    </p:spTree>
    <p:extLst>
      <p:ext uri="{BB962C8B-B14F-4D97-AF65-F5344CB8AC3E}">
        <p14:creationId xmlns:p14="http://schemas.microsoft.com/office/powerpoint/2010/main" val="31777132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17826-0E62-622A-1340-9AC9522BD729}"/>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D8E3BE4A-DA1F-B291-85A8-5AF1BFD9AF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D4EB8FB0-5015-A20A-216B-2E87BB57B01B}"/>
              </a:ext>
            </a:extLst>
          </p:cNvPr>
          <p:cNvSpPr txBox="1"/>
          <p:nvPr/>
        </p:nvSpPr>
        <p:spPr>
          <a:xfrm>
            <a:off x="0" y="65927"/>
            <a:ext cx="6858000" cy="1200329"/>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Elements of a Computer System…cont.</a:t>
            </a:r>
          </a:p>
        </p:txBody>
      </p:sp>
      <p:sp>
        <p:nvSpPr>
          <p:cNvPr id="2" name="Content Placeholder 2">
            <a:extLst>
              <a:ext uri="{FF2B5EF4-FFF2-40B4-BE49-F238E27FC236}">
                <a16:creationId xmlns:a16="http://schemas.microsoft.com/office/drawing/2014/main" id="{C9FD8DBF-C331-CD69-75AD-B4A75D3BF752}"/>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600" b="1" dirty="0">
                <a:cs typeface="Arial" panose="020B0604020202020204" pitchFamily="34" charset="0"/>
              </a:rPr>
              <a:t>Low-level languages</a:t>
            </a:r>
          </a:p>
          <a:p>
            <a:pPr algn="l"/>
            <a:endParaRPr lang="en-ZA" sz="2600" dirty="0"/>
          </a:p>
          <a:p>
            <a:pPr algn="l"/>
            <a:r>
              <a:rPr lang="en-US" sz="2600" b="1" dirty="0"/>
              <a:t>Assembly language and machine language </a:t>
            </a:r>
            <a:r>
              <a:rPr lang="en-US" sz="2600" dirty="0"/>
              <a:t>are almost the same thing.</a:t>
            </a:r>
          </a:p>
          <a:p>
            <a:pPr algn="l"/>
            <a:r>
              <a:rPr lang="en-US" sz="2600" dirty="0"/>
              <a:t>The important distinction is that between machine language and high-level languages like C++: Any high-level language program must be translated into machine language before the computer can understand and follow the program.</a:t>
            </a:r>
            <a:endParaRPr lang="en-US" sz="2600" b="1" dirty="0"/>
          </a:p>
          <a:p>
            <a:pPr algn="l"/>
            <a:endParaRPr lang="en-US" sz="2800" b="1" dirty="0"/>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28460421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3A634-8BA4-0004-8FC1-D4C87482857F}"/>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49A7B61A-B44D-B55F-ADB6-5AF5BF22B9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4C3C9AA2-89AF-3314-629D-6A6FAD7972F1}"/>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Compilers</a:t>
            </a:r>
          </a:p>
        </p:txBody>
      </p:sp>
      <p:sp>
        <p:nvSpPr>
          <p:cNvPr id="2" name="Content Placeholder 2">
            <a:extLst>
              <a:ext uri="{FF2B5EF4-FFF2-40B4-BE49-F238E27FC236}">
                <a16:creationId xmlns:a16="http://schemas.microsoft.com/office/drawing/2014/main" id="{CE941846-CD79-9C00-4A2D-9868DD25131B}"/>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ZA" sz="2600" b="1" dirty="0"/>
              <a:t>Compilers</a:t>
            </a:r>
            <a:endParaRPr lang="en-US" sz="2600" b="1" dirty="0"/>
          </a:p>
          <a:p>
            <a:pPr algn="l"/>
            <a:r>
              <a:rPr lang="en-US" sz="2400" dirty="0"/>
              <a:t>A </a:t>
            </a:r>
            <a:r>
              <a:rPr lang="en-US" sz="2400" b="1" dirty="0"/>
              <a:t>compiler </a:t>
            </a:r>
            <a:r>
              <a:rPr lang="en-US" sz="2400" dirty="0"/>
              <a:t>is a program that translates a high-level language program, such as a C++ program, into a machine-language program that the computer can directly understand and execute.</a:t>
            </a:r>
          </a:p>
          <a:p>
            <a:pPr algn="l"/>
            <a:r>
              <a:rPr lang="en-US" sz="2400" b="1" dirty="0"/>
              <a:t>A </a:t>
            </a:r>
            <a:r>
              <a:rPr lang="en-US" sz="2400" dirty="0"/>
              <a:t>program that translates a high-level language like C++ to a machine language is called a </a:t>
            </a:r>
            <a:r>
              <a:rPr lang="en-US" sz="2400" b="1" dirty="0"/>
              <a:t>compiler. </a:t>
            </a:r>
            <a:r>
              <a:rPr lang="en-US" sz="2400" dirty="0"/>
              <a:t>A compiler is thus a somewhat peculiar sort of program, in that its input or data is some other program, and its output is yet another program. To avoid confusion, the input program is usually called the </a:t>
            </a:r>
            <a:r>
              <a:rPr lang="en-US" sz="2400" b="1" dirty="0"/>
              <a:t>source program </a:t>
            </a:r>
            <a:r>
              <a:rPr lang="en-US" sz="2400" dirty="0"/>
              <a:t>or </a:t>
            </a:r>
            <a:r>
              <a:rPr lang="en-US" sz="2400" b="1" dirty="0"/>
              <a:t>source code</a:t>
            </a:r>
            <a:r>
              <a:rPr lang="en-US" sz="2400" dirty="0"/>
              <a:t>, and the translated version produced by the compiler is called the </a:t>
            </a:r>
            <a:r>
              <a:rPr lang="en-US" sz="2400" b="1" dirty="0"/>
              <a:t>object program </a:t>
            </a:r>
            <a:r>
              <a:rPr lang="en-US" sz="2400" dirty="0"/>
              <a:t>or </a:t>
            </a:r>
            <a:r>
              <a:rPr lang="en-US" sz="2400" b="1" dirty="0"/>
              <a:t>object code.</a:t>
            </a:r>
          </a:p>
        </p:txBody>
      </p:sp>
    </p:spTree>
    <p:extLst>
      <p:ext uri="{BB962C8B-B14F-4D97-AF65-F5344CB8AC3E}">
        <p14:creationId xmlns:p14="http://schemas.microsoft.com/office/powerpoint/2010/main" val="32801350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B2F10-C3D1-1EBD-EA84-C3F2EE91E5F3}"/>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E1B6D4A7-9F32-4CB9-FE8E-533FA17478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AD2525C0-6434-86BB-FD2E-59A3E8B1B939}"/>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Compilers…cont.</a:t>
            </a:r>
          </a:p>
        </p:txBody>
      </p:sp>
      <p:sp>
        <p:nvSpPr>
          <p:cNvPr id="2" name="Content Placeholder 2">
            <a:extLst>
              <a:ext uri="{FF2B5EF4-FFF2-40B4-BE49-F238E27FC236}">
                <a16:creationId xmlns:a16="http://schemas.microsoft.com/office/drawing/2014/main" id="{25419416-CA22-8EB9-68C0-80071433FE38}"/>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ZA" sz="2600" b="1" dirty="0"/>
              <a:t>Compilers</a:t>
            </a:r>
            <a:endParaRPr lang="en-US" sz="2600" b="1" dirty="0"/>
          </a:p>
          <a:p>
            <a:pPr algn="l"/>
            <a:r>
              <a:rPr lang="en-US" sz="2400" dirty="0"/>
              <a:t>These items that are already programmed for you (like input and output routines) are already compiled and have their object code waiting to be combined with your program’s object code to produce a complete machine-language program that can be run on the computer.</a:t>
            </a:r>
          </a:p>
          <a:p>
            <a:pPr algn="l"/>
            <a:r>
              <a:rPr lang="en-US" sz="2400" dirty="0"/>
              <a:t>Another program, called a </a:t>
            </a:r>
            <a:r>
              <a:rPr lang="en-US" sz="2400" b="1" dirty="0"/>
              <a:t>linker</a:t>
            </a:r>
            <a:r>
              <a:rPr lang="en-US" sz="2400" dirty="0"/>
              <a:t>, combines the object code for these program pieces with the object code that the compiler produced from your C++ program. The interaction of the compiler and the linker are diagrammed… In routine cases, many systems will do this linking for you automatically. Thus, you may not need to worry about linking in </a:t>
            </a:r>
            <a:r>
              <a:rPr lang="en-ZA" sz="2400" dirty="0"/>
              <a:t>many cases.</a:t>
            </a:r>
            <a:endParaRPr lang="en-US" sz="2400" b="1" dirty="0"/>
          </a:p>
        </p:txBody>
      </p:sp>
    </p:spTree>
    <p:extLst>
      <p:ext uri="{BB962C8B-B14F-4D97-AF65-F5344CB8AC3E}">
        <p14:creationId xmlns:p14="http://schemas.microsoft.com/office/powerpoint/2010/main" val="40030974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61F36-BE3E-FB0D-00C6-DEDC40C7E595}"/>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0EBF15E1-AD79-5A6A-1CC4-0612B7E6D0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74158124-CB37-D337-B0E1-4A6C87FA2403}"/>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Compilers…cont.</a:t>
            </a:r>
          </a:p>
        </p:txBody>
      </p:sp>
      <p:sp>
        <p:nvSpPr>
          <p:cNvPr id="2" name="Content Placeholder 2">
            <a:extLst>
              <a:ext uri="{FF2B5EF4-FFF2-40B4-BE49-F238E27FC236}">
                <a16:creationId xmlns:a16="http://schemas.microsoft.com/office/drawing/2014/main" id="{C687605D-42B0-E312-B191-DB25BE85A66E}"/>
              </a:ext>
            </a:extLst>
          </p:cNvPr>
          <p:cNvSpPr txBox="1">
            <a:spLocks/>
          </p:cNvSpPr>
          <p:nvPr/>
        </p:nvSpPr>
        <p:spPr>
          <a:xfrm>
            <a:off x="471488" y="1689100"/>
            <a:ext cx="5915025" cy="7233180"/>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ZA" sz="2600" b="1" dirty="0"/>
              <a:t>Compilers</a:t>
            </a:r>
            <a:endParaRPr lang="en-US" sz="2600" b="1" dirty="0"/>
          </a:p>
          <a:p>
            <a:r>
              <a:rPr lang="en-US" b="1" dirty="0"/>
              <a:t>Compiling and Running a C++ Program (Basic Outline)</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r>
              <a:rPr lang="en-ZA" b="1" dirty="0"/>
              <a:t>Preparing a C++ Program for Running</a:t>
            </a:r>
          </a:p>
          <a:p>
            <a:endParaRPr lang="en-US" b="1" dirty="0"/>
          </a:p>
        </p:txBody>
      </p:sp>
      <p:pic>
        <p:nvPicPr>
          <p:cNvPr id="6" name="Picture 5">
            <a:extLst>
              <a:ext uri="{FF2B5EF4-FFF2-40B4-BE49-F238E27FC236}">
                <a16:creationId xmlns:a16="http://schemas.microsoft.com/office/drawing/2014/main" id="{3F53B28A-2E69-606F-E963-1540F8177BBD}"/>
              </a:ext>
            </a:extLst>
          </p:cNvPr>
          <p:cNvPicPr>
            <a:picLocks noChangeAspect="1"/>
          </p:cNvPicPr>
          <p:nvPr/>
        </p:nvPicPr>
        <p:blipFill>
          <a:blip r:embed="rId3"/>
          <a:stretch>
            <a:fillRect/>
          </a:stretch>
        </p:blipFill>
        <p:spPr>
          <a:xfrm>
            <a:off x="234786" y="2876961"/>
            <a:ext cx="3100185" cy="2470267"/>
          </a:xfrm>
          <a:prstGeom prst="rect">
            <a:avLst/>
          </a:prstGeom>
        </p:spPr>
      </p:pic>
      <p:pic>
        <p:nvPicPr>
          <p:cNvPr id="10" name="Picture 9">
            <a:extLst>
              <a:ext uri="{FF2B5EF4-FFF2-40B4-BE49-F238E27FC236}">
                <a16:creationId xmlns:a16="http://schemas.microsoft.com/office/drawing/2014/main" id="{5EBB5595-A137-C421-B3D0-0F19C7AB51C5}"/>
              </a:ext>
            </a:extLst>
          </p:cNvPr>
          <p:cNvPicPr>
            <a:picLocks noChangeAspect="1"/>
          </p:cNvPicPr>
          <p:nvPr/>
        </p:nvPicPr>
        <p:blipFill>
          <a:blip r:embed="rId4"/>
          <a:stretch>
            <a:fillRect/>
          </a:stretch>
        </p:blipFill>
        <p:spPr>
          <a:xfrm>
            <a:off x="234786" y="6169477"/>
            <a:ext cx="3100185" cy="2574360"/>
          </a:xfrm>
          <a:prstGeom prst="rect">
            <a:avLst/>
          </a:prstGeom>
        </p:spPr>
      </p:pic>
      <p:pic>
        <p:nvPicPr>
          <p:cNvPr id="14" name="Picture 13">
            <a:extLst>
              <a:ext uri="{FF2B5EF4-FFF2-40B4-BE49-F238E27FC236}">
                <a16:creationId xmlns:a16="http://schemas.microsoft.com/office/drawing/2014/main" id="{846C31D2-9D81-BB37-965C-FCFE631CA575}"/>
              </a:ext>
            </a:extLst>
          </p:cNvPr>
          <p:cNvPicPr>
            <a:picLocks noChangeAspect="1"/>
          </p:cNvPicPr>
          <p:nvPr/>
        </p:nvPicPr>
        <p:blipFill>
          <a:blip r:embed="rId5"/>
          <a:stretch>
            <a:fillRect/>
          </a:stretch>
        </p:blipFill>
        <p:spPr>
          <a:xfrm>
            <a:off x="3392724" y="6169477"/>
            <a:ext cx="2993788" cy="2076417"/>
          </a:xfrm>
          <a:prstGeom prst="rect">
            <a:avLst/>
          </a:prstGeom>
        </p:spPr>
      </p:pic>
    </p:spTree>
    <p:extLst>
      <p:ext uri="{BB962C8B-B14F-4D97-AF65-F5344CB8AC3E}">
        <p14:creationId xmlns:p14="http://schemas.microsoft.com/office/powerpoint/2010/main" val="14746539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B1AB4-6F8C-7AF2-7773-F4F8C4820956}"/>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17BD1944-0A2E-0157-4AD6-79465BBC10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6A7608A6-2622-B9FF-4305-4D93FE0FB097}"/>
              </a:ext>
            </a:extLst>
          </p:cNvPr>
          <p:cNvSpPr txBox="1"/>
          <p:nvPr/>
        </p:nvSpPr>
        <p:spPr>
          <a:xfrm>
            <a:off x="0" y="65927"/>
            <a:ext cx="6858000" cy="646331"/>
          </a:xfrm>
          <a:prstGeom prst="rect">
            <a:avLst/>
          </a:prstGeom>
          <a:noFill/>
        </p:spPr>
        <p:txBody>
          <a:bodyPr wrap="square" rtlCol="0">
            <a:spAutoFit/>
          </a:bodyPr>
          <a:lstStyle/>
          <a:p>
            <a:r>
              <a:rPr lang="en-ZA" sz="3600" b="1" dirty="0">
                <a:latin typeface="Arial" panose="020B0604020202020204" pitchFamily="34" charset="0"/>
                <a:cs typeface="Arial" panose="020B0604020202020204" pitchFamily="34" charset="0"/>
              </a:rPr>
              <a:t>Processing a C++ Program</a:t>
            </a:r>
          </a:p>
        </p:txBody>
      </p:sp>
      <p:sp>
        <p:nvSpPr>
          <p:cNvPr id="2" name="Content Placeholder 2">
            <a:extLst>
              <a:ext uri="{FF2B5EF4-FFF2-40B4-BE49-F238E27FC236}">
                <a16:creationId xmlns:a16="http://schemas.microsoft.com/office/drawing/2014/main" id="{300CDB67-B50A-DC7B-56E3-8B7E8C2682A0}"/>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000" i="1" dirty="0"/>
              <a:t>Programming is a process of problem solving.</a:t>
            </a:r>
          </a:p>
          <a:p>
            <a:pPr algn="l"/>
            <a:r>
              <a:rPr lang="en-US" sz="2000" dirty="0"/>
              <a:t>To be a good problem solver and a good programmer, you must follow good problem solving techniques. One common problem-solving technique includes analyzing a problem, outlining the problem requirements, and designing steps, called an </a:t>
            </a:r>
            <a:r>
              <a:rPr lang="en-US" sz="2000" b="1" dirty="0"/>
              <a:t>algorithm</a:t>
            </a:r>
            <a:r>
              <a:rPr lang="en-US" sz="2000" dirty="0"/>
              <a:t>, to solve the problem.</a:t>
            </a:r>
          </a:p>
          <a:p>
            <a:pPr algn="l"/>
            <a:r>
              <a:rPr lang="en-US" sz="2000" b="1" dirty="0"/>
              <a:t>Algorithm</a:t>
            </a:r>
            <a:r>
              <a:rPr lang="en-US" sz="2000" dirty="0"/>
              <a:t>: A step-by-step problem-solving process in which a solution is arrived at in a finite amount of time.</a:t>
            </a:r>
          </a:p>
          <a:p>
            <a:pPr algn="l"/>
            <a:r>
              <a:rPr lang="en-US" sz="2000" dirty="0"/>
              <a:t>In a programming environment, the problem-solving process requires the following </a:t>
            </a:r>
            <a:r>
              <a:rPr lang="en-ZA" sz="2000" dirty="0"/>
              <a:t>three steps:</a:t>
            </a:r>
          </a:p>
          <a:p>
            <a:pPr algn="l"/>
            <a:r>
              <a:rPr lang="en-US" sz="2000" dirty="0"/>
              <a:t>1.</a:t>
            </a:r>
            <a:r>
              <a:rPr lang="en-US" sz="2000" b="1" dirty="0"/>
              <a:t> Analyze and outline the problem </a:t>
            </a:r>
            <a:r>
              <a:rPr lang="en-US" sz="2000" dirty="0"/>
              <a:t>and its solution requirements, and</a:t>
            </a:r>
          </a:p>
          <a:p>
            <a:pPr algn="l"/>
            <a:r>
              <a:rPr lang="en-US" sz="2000" dirty="0"/>
              <a:t>design an algorithm to solve the problem.</a:t>
            </a:r>
          </a:p>
          <a:p>
            <a:pPr algn="l"/>
            <a:r>
              <a:rPr lang="en-US" sz="2000" dirty="0"/>
              <a:t>2. </a:t>
            </a:r>
            <a:r>
              <a:rPr lang="en-US" sz="2000" b="1" dirty="0"/>
              <a:t>Implement the algorithm </a:t>
            </a:r>
            <a:r>
              <a:rPr lang="en-US" sz="2000" dirty="0"/>
              <a:t>in a programming language, such as C++, and verify that the algorithm works.</a:t>
            </a:r>
          </a:p>
          <a:p>
            <a:pPr algn="l"/>
            <a:r>
              <a:rPr lang="en-US" sz="2000" dirty="0"/>
              <a:t>3. </a:t>
            </a:r>
            <a:r>
              <a:rPr lang="en-US" sz="2000" b="1" dirty="0"/>
              <a:t>Maintain the program </a:t>
            </a:r>
            <a:r>
              <a:rPr lang="en-US" sz="2000" dirty="0"/>
              <a:t>by using and modifying it if the problem </a:t>
            </a:r>
            <a:r>
              <a:rPr lang="en-ZA" sz="2000" dirty="0"/>
              <a:t>domain changes.</a:t>
            </a:r>
            <a:endParaRPr lang="en-US" sz="2000" b="1" dirty="0"/>
          </a:p>
        </p:txBody>
      </p:sp>
    </p:spTree>
    <p:extLst>
      <p:ext uri="{BB962C8B-B14F-4D97-AF65-F5344CB8AC3E}">
        <p14:creationId xmlns:p14="http://schemas.microsoft.com/office/powerpoint/2010/main" val="34622278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D0121-C7D4-70E7-6E93-8488C6497E2D}"/>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2CE7730E-AA3A-E81E-9110-073BD08B32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152400"/>
            <a:ext cx="6930551" cy="10058400"/>
          </a:xfrm>
          <a:prstGeom prst="rect">
            <a:avLst/>
          </a:prstGeom>
        </p:spPr>
      </p:pic>
      <p:sp>
        <p:nvSpPr>
          <p:cNvPr id="4" name="TextBox 3">
            <a:extLst>
              <a:ext uri="{FF2B5EF4-FFF2-40B4-BE49-F238E27FC236}">
                <a16:creationId xmlns:a16="http://schemas.microsoft.com/office/drawing/2014/main" id="{9B364C3A-AFEA-D4CF-886E-096EF51665EB}"/>
              </a:ext>
            </a:extLst>
          </p:cNvPr>
          <p:cNvSpPr txBox="1"/>
          <p:nvPr/>
        </p:nvSpPr>
        <p:spPr>
          <a:xfrm>
            <a:off x="0" y="65927"/>
            <a:ext cx="6858000" cy="646331"/>
          </a:xfrm>
          <a:prstGeom prst="rect">
            <a:avLst/>
          </a:prstGeom>
          <a:noFill/>
        </p:spPr>
        <p:txBody>
          <a:bodyPr wrap="square" rtlCol="0">
            <a:spAutoFit/>
          </a:bodyPr>
          <a:lstStyle/>
          <a:p>
            <a:r>
              <a:rPr lang="en-ZA" sz="3600" b="1" dirty="0">
                <a:latin typeface="Arial" panose="020B0604020202020204" pitchFamily="34" charset="0"/>
                <a:cs typeface="Arial" panose="020B0604020202020204" pitchFamily="34" charset="0"/>
              </a:rPr>
              <a:t>Processing a C++ Program</a:t>
            </a:r>
          </a:p>
        </p:txBody>
      </p:sp>
      <p:sp>
        <p:nvSpPr>
          <p:cNvPr id="2" name="Content Placeholder 2">
            <a:extLst>
              <a:ext uri="{FF2B5EF4-FFF2-40B4-BE49-F238E27FC236}">
                <a16:creationId xmlns:a16="http://schemas.microsoft.com/office/drawing/2014/main" id="{88A27541-4131-0FD2-8CE7-ABE81FAF0112}"/>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ZA" sz="2800" b="1" dirty="0"/>
              <a:t>Programming process with the Problem Analysis–Coding–Execution Cycle</a:t>
            </a:r>
            <a:endParaRPr lang="en-US" sz="2800" b="1" dirty="0"/>
          </a:p>
        </p:txBody>
      </p:sp>
      <p:pic>
        <p:nvPicPr>
          <p:cNvPr id="12" name="Picture 11">
            <a:extLst>
              <a:ext uri="{FF2B5EF4-FFF2-40B4-BE49-F238E27FC236}">
                <a16:creationId xmlns:a16="http://schemas.microsoft.com/office/drawing/2014/main" id="{2D179774-B075-706F-C92B-57CB859ED442}"/>
              </a:ext>
            </a:extLst>
          </p:cNvPr>
          <p:cNvPicPr>
            <a:picLocks noChangeAspect="1"/>
          </p:cNvPicPr>
          <p:nvPr/>
        </p:nvPicPr>
        <p:blipFill>
          <a:blip r:embed="rId3"/>
          <a:stretch>
            <a:fillRect/>
          </a:stretch>
        </p:blipFill>
        <p:spPr>
          <a:xfrm>
            <a:off x="580571" y="4000383"/>
            <a:ext cx="5326743" cy="4635617"/>
          </a:xfrm>
          <a:prstGeom prst="rect">
            <a:avLst/>
          </a:prstGeom>
        </p:spPr>
      </p:pic>
    </p:spTree>
    <p:extLst>
      <p:ext uri="{BB962C8B-B14F-4D97-AF65-F5344CB8AC3E}">
        <p14:creationId xmlns:p14="http://schemas.microsoft.com/office/powerpoint/2010/main" val="21511178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D472D-3935-B618-CAC6-38FA2B522CF7}"/>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C4C12A6B-1EE8-9898-8BB6-EB1572C690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59104C47-D2BE-8D1C-B173-9C8D5FFC3AAF}"/>
              </a:ext>
            </a:extLst>
          </p:cNvPr>
          <p:cNvSpPr txBox="1"/>
          <p:nvPr/>
        </p:nvSpPr>
        <p:spPr>
          <a:xfrm>
            <a:off x="0" y="65927"/>
            <a:ext cx="6858000" cy="1200329"/>
          </a:xfrm>
          <a:prstGeom prst="rect">
            <a:avLst/>
          </a:prstGeom>
          <a:noFill/>
        </p:spPr>
        <p:txBody>
          <a:bodyPr wrap="square" rtlCol="0">
            <a:spAutoFit/>
          </a:bodyPr>
          <a:lstStyle/>
          <a:p>
            <a:pPr algn="ctr"/>
            <a:r>
              <a:rPr lang="en-US" sz="3600" b="1" dirty="0"/>
              <a:t>Compiling and Running a C++ Program</a:t>
            </a:r>
            <a:endParaRPr lang="en-US"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9DAA7B47-22ED-6DF8-F206-87150CB5D224}"/>
              </a:ext>
            </a:extLst>
          </p:cNvPr>
          <p:cNvSpPr txBox="1">
            <a:spLocks/>
          </p:cNvSpPr>
          <p:nvPr/>
        </p:nvSpPr>
        <p:spPr>
          <a:xfrm>
            <a:off x="471488" y="1689100"/>
            <a:ext cx="5915025" cy="7233180"/>
          </a:xfrm>
          <a:prstGeom prst="rect">
            <a:avLst/>
          </a:prstGeom>
        </p:spPr>
        <p:txBody>
          <a:bodyPr vert="horz" lIns="91440" tIns="45720" rIns="91440" bIns="45720" rtlCol="0">
            <a:normAutofit lnSpcReduction="1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b="1" dirty="0"/>
              <a:t>Compiling and Running a C++ Program (Basic Outline)</a:t>
            </a:r>
          </a:p>
          <a:p>
            <a:pPr algn="l"/>
            <a:r>
              <a:rPr lang="en-ZA" dirty="0"/>
              <a:t>Statements that </a:t>
            </a:r>
            <a:r>
              <a:rPr lang="en-US" dirty="0"/>
              <a:t>begin with the symbol # are called preprocessor directives. These statements are processed by a program called </a:t>
            </a:r>
            <a:r>
              <a:rPr lang="en-US" b="1" dirty="0"/>
              <a:t>preprocessor</a:t>
            </a:r>
            <a:r>
              <a:rPr lang="en-US" dirty="0"/>
              <a:t>.</a:t>
            </a:r>
          </a:p>
          <a:p>
            <a:pPr algn="l"/>
            <a:r>
              <a:rPr lang="en-US" dirty="0"/>
              <a:t>The </a:t>
            </a:r>
            <a:r>
              <a:rPr lang="en-US" i="1" dirty="0"/>
              <a:t>compiler </a:t>
            </a:r>
            <a:r>
              <a:rPr lang="en-US" dirty="0"/>
              <a:t>checks the source program for syntax errors and, if no error is found, translates the program into the equivalent machine language. The equivalent machine language program is called an </a:t>
            </a:r>
            <a:r>
              <a:rPr lang="en-US" b="1" dirty="0"/>
              <a:t>object program.</a:t>
            </a:r>
          </a:p>
          <a:p>
            <a:pPr algn="l"/>
            <a:r>
              <a:rPr lang="en-US" b="1" dirty="0"/>
              <a:t>Object program: </a:t>
            </a:r>
            <a:r>
              <a:rPr lang="en-US" dirty="0"/>
              <a:t>The machine language version of the high-level language </a:t>
            </a:r>
            <a:r>
              <a:rPr lang="en-ZA" dirty="0"/>
              <a:t>program. </a:t>
            </a:r>
            <a:r>
              <a:rPr lang="en-US" dirty="0"/>
              <a:t>A program called a </a:t>
            </a:r>
            <a:r>
              <a:rPr lang="en-US" b="1" dirty="0"/>
              <a:t>compiler </a:t>
            </a:r>
            <a:r>
              <a:rPr lang="en-US" dirty="0"/>
              <a:t>translates instructions written in high-level languages into machine code.</a:t>
            </a:r>
          </a:p>
          <a:p>
            <a:pPr algn="l"/>
            <a:r>
              <a:rPr lang="en-US" b="1" dirty="0"/>
              <a:t>Compiler</a:t>
            </a:r>
            <a:r>
              <a:rPr lang="en-US" dirty="0"/>
              <a:t>: A program that translates instructions written in a high-level language into </a:t>
            </a:r>
            <a:r>
              <a:rPr lang="en-ZA" dirty="0"/>
              <a:t>the equivalent machine language.</a:t>
            </a:r>
          </a:p>
          <a:p>
            <a:pPr algn="l"/>
            <a:r>
              <a:rPr lang="en-ZA" dirty="0"/>
              <a:t>The prewritten </a:t>
            </a:r>
            <a:r>
              <a:rPr lang="en-US" dirty="0"/>
              <a:t>code (program) resides in a place called the </a:t>
            </a:r>
            <a:r>
              <a:rPr lang="en-US" b="1" dirty="0"/>
              <a:t>library</a:t>
            </a:r>
            <a:r>
              <a:rPr lang="en-US" dirty="0"/>
              <a:t>. A program called a </a:t>
            </a:r>
            <a:r>
              <a:rPr lang="en-US" b="1" dirty="0"/>
              <a:t>linker </a:t>
            </a:r>
            <a:r>
              <a:rPr lang="en-US" dirty="0"/>
              <a:t>combines the object program with the programs from libraries.</a:t>
            </a:r>
          </a:p>
          <a:p>
            <a:pPr algn="l"/>
            <a:r>
              <a:rPr lang="en-US" b="1" dirty="0"/>
              <a:t>Linker</a:t>
            </a:r>
            <a:r>
              <a:rPr lang="en-US" dirty="0"/>
              <a:t>: A program that combines the object program with other programs in the library and is used in the program to create the executable code.</a:t>
            </a:r>
          </a:p>
          <a:p>
            <a:pPr algn="l"/>
            <a:r>
              <a:rPr lang="en-US" dirty="0"/>
              <a:t>You must next load the executable program into main memory for execution. A program called a </a:t>
            </a:r>
            <a:r>
              <a:rPr lang="en-US" b="1" dirty="0"/>
              <a:t>loader </a:t>
            </a:r>
            <a:r>
              <a:rPr lang="en-US" dirty="0"/>
              <a:t>accomplishes this task.</a:t>
            </a:r>
          </a:p>
          <a:p>
            <a:pPr algn="l"/>
            <a:r>
              <a:rPr lang="en-US" b="1" dirty="0"/>
              <a:t>Loader</a:t>
            </a:r>
            <a:r>
              <a:rPr lang="en-US" dirty="0"/>
              <a:t>: A program that loads an executable program into main memory. The final step is to execute the program.</a:t>
            </a:r>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p:txBody>
      </p:sp>
    </p:spTree>
    <p:extLst>
      <p:ext uri="{BB962C8B-B14F-4D97-AF65-F5344CB8AC3E}">
        <p14:creationId xmlns:p14="http://schemas.microsoft.com/office/powerpoint/2010/main" val="12505286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1E79F-CA02-49B6-9791-9A6434A8D19A}"/>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4D861CA1-81B7-5A84-66E4-A97929AD55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46088F37-49EB-D339-AF5F-829AB9A60CDF}"/>
              </a:ext>
            </a:extLst>
          </p:cNvPr>
          <p:cNvSpPr txBox="1"/>
          <p:nvPr/>
        </p:nvSpPr>
        <p:spPr>
          <a:xfrm>
            <a:off x="0" y="65927"/>
            <a:ext cx="6858000" cy="1200329"/>
          </a:xfrm>
          <a:prstGeom prst="rect">
            <a:avLst/>
          </a:prstGeom>
          <a:noFill/>
        </p:spPr>
        <p:txBody>
          <a:bodyPr wrap="square" rtlCol="0">
            <a:spAutoFit/>
          </a:bodyPr>
          <a:lstStyle/>
          <a:p>
            <a:r>
              <a:rPr lang="en-ZA" sz="3600" b="1" dirty="0">
                <a:latin typeface="Arial" panose="020B0604020202020204" pitchFamily="34" charset="0"/>
                <a:cs typeface="Arial" panose="020B0604020202020204" pitchFamily="34" charset="0"/>
              </a:rPr>
              <a:t>Programming and Problem Solving</a:t>
            </a:r>
          </a:p>
        </p:txBody>
      </p:sp>
      <p:sp>
        <p:nvSpPr>
          <p:cNvPr id="2" name="Content Placeholder 2">
            <a:extLst>
              <a:ext uri="{FF2B5EF4-FFF2-40B4-BE49-F238E27FC236}">
                <a16:creationId xmlns:a16="http://schemas.microsoft.com/office/drawing/2014/main" id="{B5B213AD-9A7C-9257-F500-9E74736FFC7F}"/>
              </a:ext>
            </a:extLst>
          </p:cNvPr>
          <p:cNvSpPr txBox="1">
            <a:spLocks/>
          </p:cNvSpPr>
          <p:nvPr/>
        </p:nvSpPr>
        <p:spPr>
          <a:xfrm>
            <a:off x="471488" y="1538513"/>
            <a:ext cx="5915025" cy="7750629"/>
          </a:xfrm>
          <a:prstGeom prst="rect">
            <a:avLst/>
          </a:prstGeom>
        </p:spPr>
        <p:txBody>
          <a:bodyPr vert="horz" lIns="91440" tIns="45720" rIns="91440" bIns="45720" rtlCol="0">
            <a:normAutofit fontScale="925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ZA" altLang="en-US" sz="2400" b="1" dirty="0"/>
              <a:t>Principles to design and write programs by implementing algorithms and program design.</a:t>
            </a:r>
          </a:p>
          <a:p>
            <a:pPr algn="l"/>
            <a:endParaRPr lang="en-US" altLang="en-US" sz="2400" b="1" dirty="0"/>
          </a:p>
          <a:p>
            <a:pPr algn="l"/>
            <a:r>
              <a:rPr lang="en-ZA" sz="2400" b="1" dirty="0"/>
              <a:t>An Algorithm</a:t>
            </a:r>
          </a:p>
          <a:p>
            <a:pPr algn="l"/>
            <a:r>
              <a:rPr lang="en-US" sz="2400" dirty="0"/>
              <a:t>A sequence of precise instructions which leads to a solution is called an </a:t>
            </a:r>
            <a:r>
              <a:rPr lang="en-US" sz="2400" b="1" dirty="0"/>
              <a:t>algorithm.</a:t>
            </a:r>
          </a:p>
          <a:p>
            <a:pPr algn="l"/>
            <a:endParaRPr lang="en-US" sz="2400" b="1" dirty="0"/>
          </a:p>
          <a:p>
            <a:pPr algn="l"/>
            <a:r>
              <a:rPr lang="en-US" altLang="en-US" sz="2400" dirty="0"/>
              <a:t>Example:</a:t>
            </a:r>
          </a:p>
          <a:p>
            <a:pPr algn="l"/>
            <a:r>
              <a:rPr lang="en-US" altLang="en-US" sz="2400" dirty="0"/>
              <a:t>Design an algorithm to find the perimeter and area of a rectangle. The perimeter and area of the rectangle are given by the following formulas:</a:t>
            </a:r>
          </a:p>
          <a:p>
            <a:pPr algn="l"/>
            <a:r>
              <a:rPr lang="en-US" altLang="en-US" sz="2400" b="1" dirty="0">
                <a:latin typeface="Courier New" panose="02070309020205020404" pitchFamily="49" charset="0"/>
                <a:cs typeface="Courier New" panose="02070309020205020404" pitchFamily="49" charset="0"/>
              </a:rPr>
              <a:t>perimeter = 2 * (length + width)</a:t>
            </a:r>
          </a:p>
          <a:p>
            <a:pPr algn="l"/>
            <a:r>
              <a:rPr lang="en-US" altLang="en-US" sz="2400" b="1" dirty="0">
                <a:latin typeface="Courier New" panose="02070309020205020404" pitchFamily="49" charset="0"/>
                <a:cs typeface="Courier New" panose="02070309020205020404" pitchFamily="49" charset="0"/>
              </a:rPr>
              <a:t>area = length * width</a:t>
            </a:r>
            <a:endParaRPr lang="en-US" altLang="en-US" sz="2400" dirty="0"/>
          </a:p>
          <a:p>
            <a:pPr algn="l"/>
            <a:endParaRPr lang="en-US" sz="2400" b="1" dirty="0"/>
          </a:p>
          <a:p>
            <a:pPr algn="l"/>
            <a:r>
              <a:rPr lang="en-US" sz="2400" b="1" dirty="0"/>
              <a:t>An Example of an Algorithm.</a:t>
            </a:r>
            <a:endParaRPr lang="en-US" altLang="en-US" sz="2400" dirty="0"/>
          </a:p>
          <a:p>
            <a:pPr lvl="1" algn="l"/>
            <a:r>
              <a:rPr lang="en-US" altLang="en-US" sz="2400" dirty="0"/>
              <a:t>Get the length of the rectangle</a:t>
            </a:r>
          </a:p>
          <a:p>
            <a:pPr lvl="1" algn="l"/>
            <a:r>
              <a:rPr lang="en-US" altLang="en-US" sz="2400" dirty="0"/>
              <a:t>Get the width of the rectangle</a:t>
            </a:r>
          </a:p>
          <a:p>
            <a:pPr lvl="1" algn="l"/>
            <a:r>
              <a:rPr lang="en-US" altLang="en-US" sz="2400" dirty="0"/>
              <a:t>Find the perimeter with this equation:</a:t>
            </a:r>
          </a:p>
          <a:p>
            <a:pPr lvl="1" algn="l"/>
            <a:r>
              <a:rPr lang="en-US" altLang="en-US" sz="2400" dirty="0"/>
              <a:t>	</a:t>
            </a:r>
            <a:r>
              <a:rPr lang="en-US" altLang="en-US" sz="2400" b="1" dirty="0"/>
              <a:t>perimeter = 2 * (length + width)</a:t>
            </a:r>
          </a:p>
          <a:p>
            <a:pPr lvl="1" algn="l"/>
            <a:r>
              <a:rPr lang="en-US" altLang="en-US" sz="2400" dirty="0"/>
              <a:t>Find the area with this equation:</a:t>
            </a:r>
          </a:p>
          <a:p>
            <a:pPr lvl="1" algn="l"/>
            <a:r>
              <a:rPr lang="en-US" altLang="en-US" sz="2400" dirty="0"/>
              <a:t>	</a:t>
            </a:r>
            <a:r>
              <a:rPr lang="en-US" altLang="en-US" sz="2400" b="1" dirty="0"/>
              <a:t>area = length * width</a:t>
            </a:r>
            <a:endParaRPr lang="en-US" sz="2400" b="1" dirty="0"/>
          </a:p>
          <a:p>
            <a:pPr algn="l"/>
            <a:endParaRPr lang="en-US" sz="2400" b="1" dirty="0"/>
          </a:p>
        </p:txBody>
      </p:sp>
    </p:spTree>
    <p:extLst>
      <p:ext uri="{BB962C8B-B14F-4D97-AF65-F5344CB8AC3E}">
        <p14:creationId xmlns:p14="http://schemas.microsoft.com/office/powerpoint/2010/main" val="38794694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AA055-2D0F-C9E8-CE8C-2BCCC7356974}"/>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48B42F29-B57F-F165-3678-F6930A7CC1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E1EBE2FB-2C1F-DFB2-D168-2DCD9ED8F248}"/>
              </a:ext>
            </a:extLst>
          </p:cNvPr>
          <p:cNvSpPr txBox="1"/>
          <p:nvPr/>
        </p:nvSpPr>
        <p:spPr>
          <a:xfrm>
            <a:off x="0" y="65927"/>
            <a:ext cx="6858000" cy="1200329"/>
          </a:xfrm>
          <a:prstGeom prst="rect">
            <a:avLst/>
          </a:prstGeom>
          <a:noFill/>
        </p:spPr>
        <p:txBody>
          <a:bodyPr wrap="square" rtlCol="0">
            <a:spAutoFit/>
          </a:bodyPr>
          <a:lstStyle/>
          <a:p>
            <a:r>
              <a:rPr lang="en-ZA" sz="3600" b="1" dirty="0">
                <a:latin typeface="Arial" panose="020B0604020202020204" pitchFamily="34" charset="0"/>
                <a:cs typeface="Arial" panose="020B0604020202020204" pitchFamily="34" charset="0"/>
              </a:rPr>
              <a:t>Programming and Problem Solving</a:t>
            </a:r>
          </a:p>
        </p:txBody>
      </p:sp>
      <p:sp>
        <p:nvSpPr>
          <p:cNvPr id="2" name="Content Placeholder 2">
            <a:extLst>
              <a:ext uri="{FF2B5EF4-FFF2-40B4-BE49-F238E27FC236}">
                <a16:creationId xmlns:a16="http://schemas.microsoft.com/office/drawing/2014/main" id="{34524374-FEF0-5174-DB54-2E34AF2D1BE0}"/>
              </a:ext>
            </a:extLst>
          </p:cNvPr>
          <p:cNvSpPr txBox="1">
            <a:spLocks/>
          </p:cNvSpPr>
          <p:nvPr/>
        </p:nvSpPr>
        <p:spPr>
          <a:xfrm>
            <a:off x="471488" y="1538514"/>
            <a:ext cx="5915025" cy="73837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b="1" dirty="0"/>
              <a:t>Another Example of an Algorithm.</a:t>
            </a:r>
          </a:p>
          <a:p>
            <a:pPr algn="l"/>
            <a:endParaRPr lang="en-US" sz="2400" b="1" dirty="0"/>
          </a:p>
          <a:p>
            <a:pPr algn="l"/>
            <a:endParaRPr lang="en-US" sz="2400" b="1" dirty="0"/>
          </a:p>
        </p:txBody>
      </p:sp>
      <p:pic>
        <p:nvPicPr>
          <p:cNvPr id="6" name="Picture 5">
            <a:extLst>
              <a:ext uri="{FF2B5EF4-FFF2-40B4-BE49-F238E27FC236}">
                <a16:creationId xmlns:a16="http://schemas.microsoft.com/office/drawing/2014/main" id="{7E7B3902-F8E2-A9BC-E768-D2EA8135C65F}"/>
              </a:ext>
            </a:extLst>
          </p:cNvPr>
          <p:cNvPicPr>
            <a:picLocks noChangeAspect="1"/>
          </p:cNvPicPr>
          <p:nvPr/>
        </p:nvPicPr>
        <p:blipFill>
          <a:blip r:embed="rId3"/>
          <a:stretch>
            <a:fillRect/>
          </a:stretch>
        </p:blipFill>
        <p:spPr>
          <a:xfrm>
            <a:off x="471488" y="2430899"/>
            <a:ext cx="5915024" cy="3476415"/>
          </a:xfrm>
          <a:prstGeom prst="rect">
            <a:avLst/>
          </a:prstGeom>
        </p:spPr>
      </p:pic>
    </p:spTree>
    <p:extLst>
      <p:ext uri="{BB962C8B-B14F-4D97-AF65-F5344CB8AC3E}">
        <p14:creationId xmlns:p14="http://schemas.microsoft.com/office/powerpoint/2010/main" val="29620099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1A18D-EDEE-7841-68B2-7CE7FE95607C}"/>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F881E272-88F6-41D7-4F9B-3116319310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A5B40782-85B2-5902-0F4E-9461D00CF650}"/>
              </a:ext>
            </a:extLst>
          </p:cNvPr>
          <p:cNvSpPr txBox="1"/>
          <p:nvPr/>
        </p:nvSpPr>
        <p:spPr>
          <a:xfrm>
            <a:off x="0" y="65927"/>
            <a:ext cx="6858000" cy="1200329"/>
          </a:xfrm>
          <a:prstGeom prst="rect">
            <a:avLst/>
          </a:prstGeom>
          <a:noFill/>
        </p:spPr>
        <p:txBody>
          <a:bodyPr wrap="square" rtlCol="0">
            <a:spAutoFit/>
          </a:bodyPr>
          <a:lstStyle/>
          <a:p>
            <a:r>
              <a:rPr lang="en-ZA" sz="3600" b="1" dirty="0">
                <a:latin typeface="Arial" panose="020B0604020202020204" pitchFamily="34" charset="0"/>
                <a:cs typeface="Arial" panose="020B0604020202020204" pitchFamily="34" charset="0"/>
              </a:rPr>
              <a:t>Programming and Problem Solving</a:t>
            </a:r>
          </a:p>
        </p:txBody>
      </p:sp>
      <p:sp>
        <p:nvSpPr>
          <p:cNvPr id="2" name="Content Placeholder 2">
            <a:extLst>
              <a:ext uri="{FF2B5EF4-FFF2-40B4-BE49-F238E27FC236}">
                <a16:creationId xmlns:a16="http://schemas.microsoft.com/office/drawing/2014/main" id="{85BF6421-D2F3-6FB5-5FCF-2BFF6F767195}"/>
              </a:ext>
            </a:extLst>
          </p:cNvPr>
          <p:cNvSpPr txBox="1">
            <a:spLocks/>
          </p:cNvSpPr>
          <p:nvPr/>
        </p:nvSpPr>
        <p:spPr>
          <a:xfrm>
            <a:off x="471488" y="2235200"/>
            <a:ext cx="5915025" cy="6687080"/>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ZA" sz="2400" b="1" dirty="0"/>
              <a:t>Program Design</a:t>
            </a:r>
          </a:p>
          <a:p>
            <a:pPr algn="l">
              <a:lnSpc>
                <a:spcPct val="100000"/>
              </a:lnSpc>
            </a:pPr>
            <a:r>
              <a:rPr lang="en-US" sz="2400" dirty="0"/>
              <a:t>Designing a program is often a difficult task. There is no complete set of rules, no algorithm to tell you how to write programs. Program design is a creative process. Still, there is the outline of a plan to follow (</a:t>
            </a:r>
            <a:r>
              <a:rPr lang="en-US" sz="2400" b="1" dirty="0"/>
              <a:t>Program Design Process</a:t>
            </a:r>
            <a:r>
              <a:rPr lang="en-US" sz="2400" dirty="0"/>
              <a:t>).</a:t>
            </a:r>
          </a:p>
          <a:p>
            <a:pPr algn="l"/>
            <a:endParaRPr lang="en-US" sz="2400" b="1" dirty="0"/>
          </a:p>
          <a:p>
            <a:pPr algn="l"/>
            <a:r>
              <a:rPr lang="en-US" sz="2400" b="1" dirty="0"/>
              <a:t>Program Design Process</a:t>
            </a:r>
          </a:p>
          <a:p>
            <a:pPr algn="l"/>
            <a:endParaRPr lang="en-US" sz="2400" b="1" dirty="0"/>
          </a:p>
          <a:p>
            <a:pPr algn="l"/>
            <a:endParaRPr lang="en-US" sz="2400" b="1" dirty="0"/>
          </a:p>
        </p:txBody>
      </p:sp>
      <p:pic>
        <p:nvPicPr>
          <p:cNvPr id="7" name="Picture 6">
            <a:extLst>
              <a:ext uri="{FF2B5EF4-FFF2-40B4-BE49-F238E27FC236}">
                <a16:creationId xmlns:a16="http://schemas.microsoft.com/office/drawing/2014/main" id="{41AE9A10-0764-9880-DDA2-1E27FE88BE10}"/>
              </a:ext>
            </a:extLst>
          </p:cNvPr>
          <p:cNvPicPr>
            <a:picLocks noChangeAspect="1"/>
          </p:cNvPicPr>
          <p:nvPr/>
        </p:nvPicPr>
        <p:blipFill>
          <a:blip r:embed="rId3"/>
          <a:stretch>
            <a:fillRect/>
          </a:stretch>
        </p:blipFill>
        <p:spPr>
          <a:xfrm>
            <a:off x="471487" y="5950857"/>
            <a:ext cx="4964940" cy="3236686"/>
          </a:xfrm>
          <a:prstGeom prst="rect">
            <a:avLst/>
          </a:prstGeom>
        </p:spPr>
      </p:pic>
    </p:spTree>
    <p:extLst>
      <p:ext uri="{BB962C8B-B14F-4D97-AF65-F5344CB8AC3E}">
        <p14:creationId xmlns:p14="http://schemas.microsoft.com/office/powerpoint/2010/main" val="21868119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437E2-5F24-45A6-CF18-6939C632B5E7}"/>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D5DC7239-9BA8-E860-C7D8-332F49A31F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8C01A010-B806-07E8-8C83-771B6E5B462C}"/>
              </a:ext>
            </a:extLst>
          </p:cNvPr>
          <p:cNvSpPr txBox="1"/>
          <p:nvPr/>
        </p:nvSpPr>
        <p:spPr>
          <a:xfrm>
            <a:off x="0" y="65927"/>
            <a:ext cx="6858000" cy="646331"/>
          </a:xfrm>
          <a:prstGeom prst="rect">
            <a:avLst/>
          </a:prstGeom>
          <a:noFill/>
        </p:spPr>
        <p:txBody>
          <a:bodyPr wrap="square" rtlCol="0">
            <a:spAutoFit/>
          </a:bodyPr>
          <a:lstStyle/>
          <a:p>
            <a:r>
              <a:rPr lang="en-ZA" sz="3600" b="1" dirty="0">
                <a:latin typeface="Arial" panose="020B0604020202020204" pitchFamily="34" charset="0"/>
                <a:cs typeface="Arial" panose="020B0604020202020204" pitchFamily="34" charset="0"/>
              </a:rPr>
              <a:t>Programming Methodologies</a:t>
            </a:r>
          </a:p>
        </p:txBody>
      </p:sp>
      <p:sp>
        <p:nvSpPr>
          <p:cNvPr id="2" name="Content Placeholder 2">
            <a:extLst>
              <a:ext uri="{FF2B5EF4-FFF2-40B4-BE49-F238E27FC236}">
                <a16:creationId xmlns:a16="http://schemas.microsoft.com/office/drawing/2014/main" id="{82404CDE-9F50-CD52-E5E5-ADDE108290B9}"/>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altLang="en-US" sz="2800" b="1" dirty="0"/>
              <a:t>Two popular approaches to programming design</a:t>
            </a:r>
          </a:p>
          <a:p>
            <a:pPr marL="800100" lvl="1" indent="-457200" algn="l">
              <a:buFont typeface="Arial" panose="020B0604020202020204" pitchFamily="34" charset="0"/>
              <a:buChar char="•"/>
            </a:pPr>
            <a:r>
              <a:rPr lang="en-US" altLang="en-US" sz="2800" dirty="0"/>
              <a:t>Structured design</a:t>
            </a:r>
          </a:p>
          <a:p>
            <a:pPr marL="800100" lvl="1" indent="-457200" algn="l">
              <a:buFont typeface="Arial" panose="020B0604020202020204" pitchFamily="34" charset="0"/>
              <a:buChar char="•"/>
            </a:pPr>
            <a:r>
              <a:rPr lang="en-US" altLang="en-US" sz="2800" dirty="0"/>
              <a:t>Object-oriented design</a:t>
            </a:r>
          </a:p>
        </p:txBody>
      </p:sp>
    </p:spTree>
    <p:extLst>
      <p:ext uri="{BB962C8B-B14F-4D97-AF65-F5344CB8AC3E}">
        <p14:creationId xmlns:p14="http://schemas.microsoft.com/office/powerpoint/2010/main" val="20582371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2DCC2-C3E8-989A-937D-DDE8B6FE6FBC}"/>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CD80F5D8-0CD0-E600-4685-9568F479C1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63E41D0B-060E-E368-4BBD-DDE1F317714F}"/>
              </a:ext>
            </a:extLst>
          </p:cNvPr>
          <p:cNvSpPr txBox="1"/>
          <p:nvPr/>
        </p:nvSpPr>
        <p:spPr>
          <a:xfrm>
            <a:off x="0" y="65927"/>
            <a:ext cx="6858000" cy="1200329"/>
          </a:xfrm>
          <a:prstGeom prst="rect">
            <a:avLst/>
          </a:prstGeom>
          <a:noFill/>
        </p:spPr>
        <p:txBody>
          <a:bodyPr wrap="square" rtlCol="0">
            <a:spAutoFit/>
          </a:bodyPr>
          <a:lstStyle/>
          <a:p>
            <a:r>
              <a:rPr lang="en-ZA" sz="3600" b="1" dirty="0">
                <a:latin typeface="Arial" panose="020B0604020202020204" pitchFamily="34" charset="0"/>
                <a:cs typeface="Arial" panose="020B0604020202020204" pitchFamily="34" charset="0"/>
              </a:rPr>
              <a:t>Programming Methodologies...cont.</a:t>
            </a:r>
          </a:p>
        </p:txBody>
      </p:sp>
      <p:sp>
        <p:nvSpPr>
          <p:cNvPr id="2" name="Content Placeholder 2">
            <a:extLst>
              <a:ext uri="{FF2B5EF4-FFF2-40B4-BE49-F238E27FC236}">
                <a16:creationId xmlns:a16="http://schemas.microsoft.com/office/drawing/2014/main" id="{1A4F59AE-1BD3-BBBA-89EC-A60C3E549922}"/>
              </a:ext>
            </a:extLst>
          </p:cNvPr>
          <p:cNvSpPr txBox="1">
            <a:spLocks/>
          </p:cNvSpPr>
          <p:nvPr/>
        </p:nvSpPr>
        <p:spPr>
          <a:xfrm>
            <a:off x="471488" y="2637014"/>
            <a:ext cx="5915025" cy="6285266"/>
          </a:xfrm>
          <a:prstGeom prst="rect">
            <a:avLst/>
          </a:prstGeom>
        </p:spPr>
        <p:txBody>
          <a:bodyPr vert="horz" lIns="91440" tIns="45720" rIns="91440" bIns="45720" rtlCol="0">
            <a:normAutofit fontScale="92500" lnSpcReduction="1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800" b="1" dirty="0">
                <a:solidFill>
                  <a:srgbClr val="000000"/>
                </a:solidFill>
              </a:rPr>
              <a:t>Structured:</a:t>
            </a:r>
            <a:endParaRPr lang="en-US" sz="2800" dirty="0">
              <a:solidFill>
                <a:srgbClr val="000000"/>
              </a:solidFill>
            </a:endParaRPr>
          </a:p>
          <a:p>
            <a:pPr algn="l"/>
            <a:r>
              <a:rPr lang="en-US" sz="2800" dirty="0">
                <a:solidFill>
                  <a:srgbClr val="000000"/>
                </a:solidFill>
              </a:rPr>
              <a:t>Structured procedural programming: the program </a:t>
            </a:r>
            <a:r>
              <a:rPr lang="en-ZA" sz="2800" dirty="0">
                <a:solidFill>
                  <a:srgbClr val="000000"/>
                </a:solidFill>
              </a:rPr>
              <a:t>moves through a linear series of instructions</a:t>
            </a:r>
            <a:r>
              <a:rPr lang="en-US" sz="2800" dirty="0">
                <a:solidFill>
                  <a:srgbClr val="000000"/>
                </a:solidFill>
              </a:rPr>
              <a:t>.</a:t>
            </a:r>
          </a:p>
          <a:p>
            <a:pPr algn="l"/>
            <a:endParaRPr lang="en-US" dirty="0">
              <a:solidFill>
                <a:srgbClr val="000000"/>
              </a:solidFill>
              <a:latin typeface="Arial" panose="020B0604020202020204" pitchFamily="34" charset="0"/>
            </a:endParaRPr>
          </a:p>
          <a:p>
            <a:pPr algn="l"/>
            <a:r>
              <a:rPr lang="en-US" altLang="en-US" sz="2800" u="sng" dirty="0"/>
              <a:t>Structured design</a:t>
            </a:r>
            <a:r>
              <a:rPr lang="en-US" altLang="en-US" sz="2800" dirty="0"/>
              <a:t> </a:t>
            </a:r>
          </a:p>
          <a:p>
            <a:pPr lvl="1" algn="l"/>
            <a:r>
              <a:rPr lang="en-US" altLang="en-US" sz="2800" dirty="0"/>
              <a:t>Involves dividing a problem into smaller subproblems</a:t>
            </a:r>
          </a:p>
          <a:p>
            <a:pPr algn="l"/>
            <a:r>
              <a:rPr lang="en-US" altLang="en-US" sz="2800" u="sng" dirty="0"/>
              <a:t>Structured programming</a:t>
            </a:r>
          </a:p>
          <a:p>
            <a:pPr lvl="1" algn="l"/>
            <a:r>
              <a:rPr lang="en-US" altLang="en-US" sz="2800" dirty="0"/>
              <a:t>Involves implementing a structured design</a:t>
            </a:r>
          </a:p>
          <a:p>
            <a:pPr algn="l"/>
            <a:r>
              <a:rPr lang="en-US" altLang="en-US" sz="2800" dirty="0"/>
              <a:t>The </a:t>
            </a:r>
            <a:r>
              <a:rPr lang="en-US" altLang="en-US" sz="2800" u="sng" dirty="0"/>
              <a:t>structured design</a:t>
            </a:r>
            <a:r>
              <a:rPr lang="en-US" altLang="en-US" sz="2800" dirty="0"/>
              <a:t> approach is also called:</a:t>
            </a:r>
          </a:p>
          <a:p>
            <a:pPr marL="800100" lvl="1" indent="-457200" algn="l">
              <a:buFont typeface="Arial" panose="020B0604020202020204" pitchFamily="34" charset="0"/>
              <a:buChar char="•"/>
            </a:pPr>
            <a:r>
              <a:rPr lang="en-US" altLang="en-US" sz="2800" dirty="0"/>
              <a:t>Top-down (or bottom-up) design</a:t>
            </a:r>
          </a:p>
          <a:p>
            <a:pPr marL="800100" lvl="1" indent="-457200" algn="l">
              <a:buFont typeface="Arial" panose="020B0604020202020204" pitchFamily="34" charset="0"/>
              <a:buChar char="•"/>
            </a:pPr>
            <a:r>
              <a:rPr lang="en-US" altLang="en-US" sz="2800" dirty="0"/>
              <a:t>Stepwise refinement</a:t>
            </a:r>
          </a:p>
          <a:p>
            <a:pPr marL="800100" lvl="1" indent="-457200" algn="l">
              <a:buFont typeface="Arial" panose="020B0604020202020204" pitchFamily="34" charset="0"/>
              <a:buChar char="•"/>
            </a:pPr>
            <a:r>
              <a:rPr lang="en-US" altLang="en-US" sz="2800" dirty="0"/>
              <a:t>Modular programming</a:t>
            </a:r>
          </a:p>
          <a:p>
            <a:pPr algn="l"/>
            <a:endParaRPr lang="en-US" dirty="0">
              <a:solidFill>
                <a:srgbClr val="000000"/>
              </a:solidFill>
              <a:latin typeface="Arial" panose="020B0604020202020204" pitchFamily="34" charset="0"/>
            </a:endParaRPr>
          </a:p>
        </p:txBody>
      </p:sp>
    </p:spTree>
    <p:extLst>
      <p:ext uri="{BB962C8B-B14F-4D97-AF65-F5344CB8AC3E}">
        <p14:creationId xmlns:p14="http://schemas.microsoft.com/office/powerpoint/2010/main" val="16818542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F2CF9-6704-C540-9A32-47A3F5AE41A7}"/>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3CCEA421-8BFD-74D2-1C28-B686C072DB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970590D9-16D0-AD84-6E09-6FC305C24CFC}"/>
              </a:ext>
            </a:extLst>
          </p:cNvPr>
          <p:cNvSpPr txBox="1"/>
          <p:nvPr/>
        </p:nvSpPr>
        <p:spPr>
          <a:xfrm>
            <a:off x="0" y="65927"/>
            <a:ext cx="6858000" cy="1200329"/>
          </a:xfrm>
          <a:prstGeom prst="rect">
            <a:avLst/>
          </a:prstGeom>
          <a:noFill/>
        </p:spPr>
        <p:txBody>
          <a:bodyPr wrap="square" rtlCol="0">
            <a:spAutoFit/>
          </a:bodyPr>
          <a:lstStyle/>
          <a:p>
            <a:r>
              <a:rPr lang="en-ZA" sz="3600" b="1" dirty="0">
                <a:latin typeface="Arial" panose="020B0604020202020204" pitchFamily="34" charset="0"/>
                <a:cs typeface="Arial" panose="020B0604020202020204" pitchFamily="34" charset="0"/>
              </a:rPr>
              <a:t>Programming Methodologies...cont.</a:t>
            </a:r>
          </a:p>
        </p:txBody>
      </p:sp>
      <p:sp>
        <p:nvSpPr>
          <p:cNvPr id="2" name="Content Placeholder 2">
            <a:extLst>
              <a:ext uri="{FF2B5EF4-FFF2-40B4-BE49-F238E27FC236}">
                <a16:creationId xmlns:a16="http://schemas.microsoft.com/office/drawing/2014/main" id="{CC4C3F90-79A7-A377-B500-664F42889E69}"/>
              </a:ext>
            </a:extLst>
          </p:cNvPr>
          <p:cNvSpPr txBox="1">
            <a:spLocks/>
          </p:cNvSpPr>
          <p:nvPr/>
        </p:nvSpPr>
        <p:spPr>
          <a:xfrm>
            <a:off x="471488" y="2637014"/>
            <a:ext cx="5915025" cy="6285266"/>
          </a:xfrm>
          <a:prstGeom prst="rect">
            <a:avLst/>
          </a:prstGeom>
        </p:spPr>
        <p:txBody>
          <a:bodyPr vert="horz" lIns="91440" tIns="45720" rIns="91440" bIns="45720" rtlCol="0">
            <a:normAutofit fontScale="85000" lnSpcReduction="2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3100" b="1" dirty="0">
                <a:solidFill>
                  <a:srgbClr val="000000"/>
                </a:solidFill>
              </a:rPr>
              <a:t>Structured:</a:t>
            </a:r>
            <a:endParaRPr lang="en-US" sz="3100" dirty="0">
              <a:solidFill>
                <a:srgbClr val="000000"/>
              </a:solidFill>
            </a:endParaRPr>
          </a:p>
          <a:p>
            <a:pPr algn="l"/>
            <a:r>
              <a:rPr lang="en-US" sz="2800" dirty="0">
                <a:solidFill>
                  <a:srgbClr val="000000"/>
                </a:solidFill>
              </a:rPr>
              <a:t>Structured procedural programming: the program </a:t>
            </a:r>
            <a:r>
              <a:rPr lang="en-ZA" sz="2800" dirty="0">
                <a:solidFill>
                  <a:srgbClr val="000000"/>
                </a:solidFill>
              </a:rPr>
              <a:t>moves through a linear series of instructions</a:t>
            </a:r>
            <a:r>
              <a:rPr lang="en-US" sz="2800" dirty="0">
                <a:solidFill>
                  <a:srgbClr val="000000"/>
                </a:solidFill>
              </a:rPr>
              <a:t>.</a:t>
            </a:r>
          </a:p>
          <a:p>
            <a:pPr algn="l"/>
            <a:endParaRPr lang="en-US" dirty="0">
              <a:solidFill>
                <a:srgbClr val="000000"/>
              </a:solidFill>
              <a:latin typeface="Arial" panose="020B0604020202020204" pitchFamily="34" charset="0"/>
            </a:endParaRPr>
          </a:p>
          <a:p>
            <a:pPr algn="l"/>
            <a:r>
              <a:rPr lang="en-US" altLang="en-US" sz="2800" u="sng" dirty="0"/>
              <a:t>Structured design</a:t>
            </a:r>
            <a:r>
              <a:rPr lang="en-US" altLang="en-US" sz="2800" dirty="0"/>
              <a:t> </a:t>
            </a:r>
          </a:p>
          <a:p>
            <a:pPr lvl="1" algn="l"/>
            <a:r>
              <a:rPr lang="en-US" altLang="en-US" sz="2800" dirty="0"/>
              <a:t>Involves dividing a problem into smaller subproblems</a:t>
            </a:r>
          </a:p>
          <a:p>
            <a:pPr lvl="1" algn="l"/>
            <a:r>
              <a:rPr lang="en-US" sz="2800" dirty="0"/>
              <a:t>During the design stage, the processing steps are described in an algorithm. </a:t>
            </a:r>
          </a:p>
          <a:p>
            <a:pPr lvl="1" algn="l"/>
            <a:r>
              <a:rPr lang="en-US" sz="2800" dirty="0"/>
              <a:t>An algorithm is a sequence of precise instructions that leads to a solution.</a:t>
            </a:r>
          </a:p>
          <a:p>
            <a:pPr lvl="1" algn="l"/>
            <a:endParaRPr lang="en-US" altLang="en-US" sz="2800" dirty="0"/>
          </a:p>
          <a:p>
            <a:pPr algn="l"/>
            <a:r>
              <a:rPr lang="en-US" altLang="en-US" sz="2800" u="sng" dirty="0"/>
              <a:t>Structured programming</a:t>
            </a:r>
          </a:p>
          <a:p>
            <a:pPr lvl="1" algn="l"/>
            <a:r>
              <a:rPr lang="en-US" altLang="en-US" sz="2800" dirty="0"/>
              <a:t>Involves implementing a structured design</a:t>
            </a:r>
          </a:p>
          <a:p>
            <a:pPr algn="l"/>
            <a:r>
              <a:rPr lang="en-US" altLang="en-US" sz="2800" dirty="0"/>
              <a:t>The </a:t>
            </a:r>
            <a:r>
              <a:rPr lang="en-US" altLang="en-US" sz="2800" u="sng" dirty="0"/>
              <a:t>structured design</a:t>
            </a:r>
            <a:r>
              <a:rPr lang="en-US" altLang="en-US" sz="2800" dirty="0"/>
              <a:t> approach is also called:</a:t>
            </a:r>
          </a:p>
          <a:p>
            <a:pPr marL="800100" lvl="1" indent="-457200" algn="l">
              <a:buFont typeface="Arial" panose="020B0604020202020204" pitchFamily="34" charset="0"/>
              <a:buChar char="•"/>
            </a:pPr>
            <a:r>
              <a:rPr lang="en-US" altLang="en-US" sz="2800" dirty="0"/>
              <a:t>Top-down (or bottom-up) design</a:t>
            </a:r>
          </a:p>
          <a:p>
            <a:pPr marL="800100" lvl="1" indent="-457200" algn="l">
              <a:buFont typeface="Arial" panose="020B0604020202020204" pitchFamily="34" charset="0"/>
              <a:buChar char="•"/>
            </a:pPr>
            <a:r>
              <a:rPr lang="en-US" altLang="en-US" sz="2800" dirty="0"/>
              <a:t>Stepwise refinement</a:t>
            </a:r>
          </a:p>
          <a:p>
            <a:pPr marL="800100" lvl="1" indent="-457200" algn="l">
              <a:buFont typeface="Arial" panose="020B0604020202020204" pitchFamily="34" charset="0"/>
              <a:buChar char="•"/>
            </a:pPr>
            <a:r>
              <a:rPr lang="en-US" altLang="en-US" sz="2800" dirty="0"/>
              <a:t>Modular programming</a:t>
            </a:r>
          </a:p>
          <a:p>
            <a:pPr algn="l"/>
            <a:endParaRPr lang="en-US" dirty="0">
              <a:solidFill>
                <a:srgbClr val="000000"/>
              </a:solidFill>
              <a:latin typeface="Arial" panose="020B0604020202020204" pitchFamily="34" charset="0"/>
            </a:endParaRPr>
          </a:p>
        </p:txBody>
      </p:sp>
    </p:spTree>
    <p:extLst>
      <p:ext uri="{BB962C8B-B14F-4D97-AF65-F5344CB8AC3E}">
        <p14:creationId xmlns:p14="http://schemas.microsoft.com/office/powerpoint/2010/main" val="9776826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6A0B7-E958-1EA0-63C6-9BE1A73175B9}"/>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68B32566-68C2-BE2E-82B2-307B5AEE1E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FAB700B1-0898-C382-84D0-61B1650F1065}"/>
              </a:ext>
            </a:extLst>
          </p:cNvPr>
          <p:cNvSpPr txBox="1"/>
          <p:nvPr/>
        </p:nvSpPr>
        <p:spPr>
          <a:xfrm>
            <a:off x="0" y="65927"/>
            <a:ext cx="6858000" cy="1200329"/>
          </a:xfrm>
          <a:prstGeom prst="rect">
            <a:avLst/>
          </a:prstGeom>
          <a:noFill/>
        </p:spPr>
        <p:txBody>
          <a:bodyPr wrap="square" rtlCol="0">
            <a:spAutoFit/>
          </a:bodyPr>
          <a:lstStyle/>
          <a:p>
            <a:r>
              <a:rPr lang="en-ZA" sz="3600" b="1" dirty="0">
                <a:latin typeface="Arial" panose="020B0604020202020204" pitchFamily="34" charset="0"/>
                <a:cs typeface="Arial" panose="020B0604020202020204" pitchFamily="34" charset="0"/>
              </a:rPr>
              <a:t>Programming Methodologies…cont.</a:t>
            </a:r>
          </a:p>
        </p:txBody>
      </p:sp>
      <p:sp>
        <p:nvSpPr>
          <p:cNvPr id="2" name="Content Placeholder 2">
            <a:extLst>
              <a:ext uri="{FF2B5EF4-FFF2-40B4-BE49-F238E27FC236}">
                <a16:creationId xmlns:a16="http://schemas.microsoft.com/office/drawing/2014/main" id="{576BAB09-AC93-4253-AAEB-B621690588A8}"/>
              </a:ext>
            </a:extLst>
          </p:cNvPr>
          <p:cNvSpPr txBox="1">
            <a:spLocks/>
          </p:cNvSpPr>
          <p:nvPr/>
        </p:nvSpPr>
        <p:spPr>
          <a:xfrm>
            <a:off x="471488" y="2637014"/>
            <a:ext cx="5915025" cy="6285266"/>
          </a:xfrm>
          <a:prstGeom prst="rect">
            <a:avLst/>
          </a:prstGeom>
        </p:spPr>
        <p:txBody>
          <a:bodyPr vert="horz" lIns="91440" tIns="45720" rIns="91440" bIns="45720" rtlCol="0">
            <a:normAutofit lnSpcReduction="1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800" b="1" dirty="0">
                <a:solidFill>
                  <a:srgbClr val="000000"/>
                </a:solidFill>
              </a:rPr>
              <a:t>Object-oriented:</a:t>
            </a:r>
          </a:p>
          <a:p>
            <a:pPr algn="l"/>
            <a:r>
              <a:rPr lang="en-US" sz="2800" dirty="0">
                <a:solidFill>
                  <a:srgbClr val="000000"/>
                </a:solidFill>
              </a:rPr>
              <a:t>Object-oriented programming: the </a:t>
            </a:r>
            <a:r>
              <a:rPr lang="en-ZA" sz="2800" dirty="0">
                <a:solidFill>
                  <a:srgbClr val="000000"/>
                </a:solidFill>
              </a:rPr>
              <a:t>data states (attributes) and functionality to modify (functions) those data states</a:t>
            </a:r>
            <a:r>
              <a:rPr lang="en-US" sz="2800" dirty="0">
                <a:solidFill>
                  <a:srgbClr val="000000"/>
                </a:solidFill>
              </a:rPr>
              <a:t> are </a:t>
            </a:r>
            <a:r>
              <a:rPr lang="en-ZA" sz="2800" dirty="0">
                <a:solidFill>
                  <a:srgbClr val="000000"/>
                </a:solidFill>
              </a:rPr>
              <a:t>packaged together while keeping the implementation details hidden.</a:t>
            </a:r>
          </a:p>
          <a:p>
            <a:pPr algn="l"/>
            <a:r>
              <a:rPr lang="en-US" altLang="en-US" sz="2800" u="sng" dirty="0"/>
              <a:t>Object-oriented design (OOD) </a:t>
            </a:r>
          </a:p>
          <a:p>
            <a:pPr marL="800100" lvl="1" indent="-457200" algn="l">
              <a:buFont typeface="Arial" panose="020B0604020202020204" pitchFamily="34" charset="0"/>
              <a:buChar char="•"/>
            </a:pPr>
            <a:r>
              <a:rPr lang="en-US" altLang="en-US" sz="2800" dirty="0"/>
              <a:t>Identify components called objects</a:t>
            </a:r>
          </a:p>
          <a:p>
            <a:pPr marL="800100" lvl="1" indent="-457200" algn="l">
              <a:buFont typeface="Arial" panose="020B0604020202020204" pitchFamily="34" charset="0"/>
              <a:buChar char="•"/>
            </a:pPr>
            <a:r>
              <a:rPr lang="en-US" altLang="en-US" sz="2800" dirty="0"/>
              <a:t>Determine how objects interact with each other</a:t>
            </a:r>
          </a:p>
          <a:p>
            <a:pPr algn="l"/>
            <a:r>
              <a:rPr lang="en-US" altLang="en-US" sz="2800" dirty="0"/>
              <a:t>Specify relevant data and possible operations to be performed on that data</a:t>
            </a:r>
          </a:p>
          <a:p>
            <a:pPr algn="l"/>
            <a:r>
              <a:rPr lang="en-US" altLang="en-US" sz="2800" dirty="0"/>
              <a:t>Each object consists of data and operations on that data</a:t>
            </a:r>
          </a:p>
          <a:p>
            <a:pPr algn="l"/>
            <a:endParaRPr lang="en-US" dirty="0">
              <a:solidFill>
                <a:srgbClr val="000000"/>
              </a:solidFill>
              <a:latin typeface="Arial" panose="020B0604020202020204" pitchFamily="34" charset="0"/>
            </a:endParaRPr>
          </a:p>
        </p:txBody>
      </p:sp>
    </p:spTree>
    <p:extLst>
      <p:ext uri="{BB962C8B-B14F-4D97-AF65-F5344CB8AC3E}">
        <p14:creationId xmlns:p14="http://schemas.microsoft.com/office/powerpoint/2010/main" val="27236265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12248-5BF3-CC3C-D94D-7E20830B497D}"/>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1E696DE9-FB2E-EB17-1287-9EFEB9AD56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F5515DB1-945A-2C96-7502-57AC07FC0063}"/>
              </a:ext>
            </a:extLst>
          </p:cNvPr>
          <p:cNvSpPr txBox="1"/>
          <p:nvPr/>
        </p:nvSpPr>
        <p:spPr>
          <a:xfrm>
            <a:off x="0" y="65927"/>
            <a:ext cx="6858000" cy="1200329"/>
          </a:xfrm>
          <a:prstGeom prst="rect">
            <a:avLst/>
          </a:prstGeom>
          <a:noFill/>
        </p:spPr>
        <p:txBody>
          <a:bodyPr wrap="square" rtlCol="0">
            <a:spAutoFit/>
          </a:bodyPr>
          <a:lstStyle/>
          <a:p>
            <a:r>
              <a:rPr lang="en-ZA" sz="3600" b="1" dirty="0">
                <a:latin typeface="Arial" panose="020B0604020202020204" pitchFamily="34" charset="0"/>
                <a:cs typeface="Arial" panose="020B0604020202020204" pitchFamily="34" charset="0"/>
              </a:rPr>
              <a:t>Programming Methodologies…cont.</a:t>
            </a:r>
          </a:p>
        </p:txBody>
      </p:sp>
      <p:sp>
        <p:nvSpPr>
          <p:cNvPr id="2" name="Content Placeholder 2">
            <a:extLst>
              <a:ext uri="{FF2B5EF4-FFF2-40B4-BE49-F238E27FC236}">
                <a16:creationId xmlns:a16="http://schemas.microsoft.com/office/drawing/2014/main" id="{9764EB95-02A5-057B-F250-F0CFF4661DEB}"/>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800" b="1" dirty="0">
                <a:solidFill>
                  <a:srgbClr val="000000"/>
                </a:solidFill>
              </a:rPr>
              <a:t>Object-oriented programming</a:t>
            </a:r>
          </a:p>
          <a:p>
            <a:pPr algn="l"/>
            <a:r>
              <a:rPr lang="en-US" altLang="en-US" sz="2800" dirty="0"/>
              <a:t>An object combines data and operations on the data into a single unit (called a class).</a:t>
            </a:r>
          </a:p>
          <a:p>
            <a:pPr algn="l"/>
            <a:r>
              <a:rPr lang="en-US" altLang="en-US" sz="2800" dirty="0"/>
              <a:t>A programming language that implements OOD is called an </a:t>
            </a:r>
            <a:r>
              <a:rPr lang="en-US" altLang="en-US" sz="2800" u="sng" dirty="0"/>
              <a:t>object-oriented programming (OOP)</a:t>
            </a:r>
            <a:r>
              <a:rPr lang="en-US" altLang="en-US" sz="2800" dirty="0"/>
              <a:t> language.</a:t>
            </a:r>
          </a:p>
          <a:p>
            <a:pPr algn="l"/>
            <a:r>
              <a:rPr lang="en-US" altLang="en-US" sz="2800" dirty="0"/>
              <a:t>To design and use objects, you must learn how to:</a:t>
            </a:r>
          </a:p>
          <a:p>
            <a:pPr marL="800100" lvl="1" indent="-457200" algn="l">
              <a:buFont typeface="Arial" panose="020B0604020202020204" pitchFamily="34" charset="0"/>
              <a:buChar char="•"/>
            </a:pPr>
            <a:r>
              <a:rPr lang="en-US" altLang="en-US" sz="2800" dirty="0"/>
              <a:t>Represent data in computer memory</a:t>
            </a:r>
          </a:p>
          <a:p>
            <a:pPr marL="800100" lvl="1" indent="-457200" algn="l">
              <a:buFont typeface="Arial" panose="020B0604020202020204" pitchFamily="34" charset="0"/>
              <a:buChar char="•"/>
            </a:pPr>
            <a:r>
              <a:rPr lang="en-US" altLang="en-US" sz="2800" dirty="0"/>
              <a:t>Manipulate data</a:t>
            </a:r>
          </a:p>
          <a:p>
            <a:pPr marL="800100" lvl="1" indent="-457200" algn="l">
              <a:buFont typeface="Arial" panose="020B0604020202020204" pitchFamily="34" charset="0"/>
              <a:buChar char="•"/>
            </a:pPr>
            <a:r>
              <a:rPr lang="en-US" altLang="en-US" sz="2800" dirty="0"/>
              <a:t>Implement operations</a:t>
            </a:r>
          </a:p>
          <a:p>
            <a:pPr algn="l"/>
            <a:endParaRPr lang="en-US" dirty="0">
              <a:solidFill>
                <a:srgbClr val="000000"/>
              </a:solidFill>
              <a:latin typeface="Arial" panose="020B0604020202020204" pitchFamily="34" charset="0"/>
            </a:endParaRPr>
          </a:p>
        </p:txBody>
      </p:sp>
    </p:spTree>
    <p:extLst>
      <p:ext uri="{BB962C8B-B14F-4D97-AF65-F5344CB8AC3E}">
        <p14:creationId xmlns:p14="http://schemas.microsoft.com/office/powerpoint/2010/main" val="19670656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21D6F-CF9A-294C-DE23-D6B6D475ACF4}"/>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54AEFBBC-5673-EFA1-A949-B48FC9F4C9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674662E2-CBC6-8F1C-6CEA-BB055F6FFBB2}"/>
              </a:ext>
            </a:extLst>
          </p:cNvPr>
          <p:cNvSpPr txBox="1"/>
          <p:nvPr/>
        </p:nvSpPr>
        <p:spPr>
          <a:xfrm>
            <a:off x="0" y="65927"/>
            <a:ext cx="6858000" cy="1200329"/>
          </a:xfrm>
          <a:prstGeom prst="rect">
            <a:avLst/>
          </a:prstGeom>
          <a:noFill/>
        </p:spPr>
        <p:txBody>
          <a:bodyPr wrap="square" rtlCol="0">
            <a:spAutoFit/>
          </a:bodyPr>
          <a:lstStyle/>
          <a:p>
            <a:r>
              <a:rPr lang="en-ZA" sz="3600" b="1" dirty="0">
                <a:latin typeface="Arial" panose="020B0604020202020204" pitchFamily="34" charset="0"/>
                <a:cs typeface="Arial" panose="020B0604020202020204" pitchFamily="34" charset="0"/>
              </a:rPr>
              <a:t>Programming Methodologies…cont.</a:t>
            </a:r>
          </a:p>
        </p:txBody>
      </p:sp>
      <p:sp>
        <p:nvSpPr>
          <p:cNvPr id="2" name="Content Placeholder 2">
            <a:extLst>
              <a:ext uri="{FF2B5EF4-FFF2-40B4-BE49-F238E27FC236}">
                <a16:creationId xmlns:a16="http://schemas.microsoft.com/office/drawing/2014/main" id="{9F8E1BBF-04D4-10AC-A618-CB8BC7726350}"/>
              </a:ext>
            </a:extLst>
          </p:cNvPr>
          <p:cNvSpPr txBox="1">
            <a:spLocks/>
          </p:cNvSpPr>
          <p:nvPr/>
        </p:nvSpPr>
        <p:spPr>
          <a:xfrm>
            <a:off x="471488" y="2637014"/>
            <a:ext cx="5915025" cy="6285266"/>
          </a:xfrm>
          <a:prstGeom prst="rect">
            <a:avLst/>
          </a:prstGeom>
        </p:spPr>
        <p:txBody>
          <a:bodyPr vert="horz" lIns="91440" tIns="45720" rIns="91440" bIns="45720" rtlCol="0">
            <a:normAutofit fontScale="925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600" b="1" dirty="0">
                <a:solidFill>
                  <a:srgbClr val="000000"/>
                </a:solidFill>
              </a:rPr>
              <a:t>In object–oriented programming:</a:t>
            </a:r>
          </a:p>
          <a:p>
            <a:pPr algn="l"/>
            <a:r>
              <a:rPr lang="en-US" sz="2600" dirty="0">
                <a:solidFill>
                  <a:srgbClr val="000000"/>
                </a:solidFill>
              </a:rPr>
              <a:t>Applications are organized around </a:t>
            </a:r>
            <a:r>
              <a:rPr lang="en-US" sz="2600" i="1" dirty="0">
                <a:solidFill>
                  <a:srgbClr val="000000"/>
                </a:solidFill>
              </a:rPr>
              <a:t>objects </a:t>
            </a:r>
            <a:r>
              <a:rPr lang="en-US" sz="2600" dirty="0">
                <a:solidFill>
                  <a:srgbClr val="000000"/>
                </a:solidFill>
              </a:rPr>
              <a:t>rather than processes. </a:t>
            </a:r>
          </a:p>
          <a:p>
            <a:pPr algn="l"/>
            <a:r>
              <a:rPr lang="en-US" sz="2600" dirty="0">
                <a:solidFill>
                  <a:srgbClr val="000000"/>
                </a:solidFill>
              </a:rPr>
              <a:t>A system is seen as a collection of interacting objects. </a:t>
            </a:r>
          </a:p>
          <a:p>
            <a:pPr algn="l"/>
            <a:r>
              <a:rPr lang="en-US" sz="2600" dirty="0">
                <a:solidFill>
                  <a:srgbClr val="000000"/>
                </a:solidFill>
              </a:rPr>
              <a:t>Program components are envisioned as objects that belong to classes and are similar to real-world objects.</a:t>
            </a:r>
          </a:p>
          <a:p>
            <a:pPr algn="l"/>
            <a:r>
              <a:rPr lang="en-US" sz="2600" dirty="0">
                <a:solidFill>
                  <a:srgbClr val="000000"/>
                </a:solidFill>
              </a:rPr>
              <a:t>The programmer manipulates the objects and has them interrelate to achieve a desired result. The focus is on determining the objects you want to manipulate rather than the processes or logic required to manipulate the data. [UML Class Diagram]</a:t>
            </a:r>
          </a:p>
          <a:p>
            <a:pPr algn="l"/>
            <a:r>
              <a:rPr lang="en-US" sz="2600" dirty="0">
                <a:solidFill>
                  <a:srgbClr val="000000"/>
                </a:solidFill>
              </a:rPr>
              <a:t>Object-oriented programming involves three fundamental concepts: </a:t>
            </a:r>
            <a:r>
              <a:rPr lang="en-US" sz="2600" b="1" i="1" dirty="0">
                <a:solidFill>
                  <a:srgbClr val="000000"/>
                </a:solidFill>
              </a:rPr>
              <a:t>encapsulation</a:t>
            </a:r>
            <a:r>
              <a:rPr lang="en-US" sz="2600" dirty="0">
                <a:solidFill>
                  <a:srgbClr val="000000"/>
                </a:solidFill>
              </a:rPr>
              <a:t>, </a:t>
            </a:r>
            <a:r>
              <a:rPr lang="en-US" sz="2600" b="1" i="1" dirty="0">
                <a:solidFill>
                  <a:srgbClr val="000000"/>
                </a:solidFill>
              </a:rPr>
              <a:t>inheritance</a:t>
            </a:r>
            <a:r>
              <a:rPr lang="en-US" sz="2600" i="1" dirty="0">
                <a:solidFill>
                  <a:srgbClr val="000000"/>
                </a:solidFill>
              </a:rPr>
              <a:t> </a:t>
            </a:r>
            <a:r>
              <a:rPr lang="en-US" sz="2600" dirty="0">
                <a:solidFill>
                  <a:srgbClr val="000000"/>
                </a:solidFill>
              </a:rPr>
              <a:t>and </a:t>
            </a:r>
            <a:r>
              <a:rPr lang="en-US" sz="2600" b="1" i="1" dirty="0">
                <a:solidFill>
                  <a:srgbClr val="000000"/>
                </a:solidFill>
              </a:rPr>
              <a:t>polymorphism</a:t>
            </a:r>
            <a:r>
              <a:rPr lang="en-US" sz="2600" dirty="0">
                <a:solidFill>
                  <a:srgbClr val="000000"/>
                </a:solidFill>
              </a:rPr>
              <a:t>. </a:t>
            </a:r>
            <a:endParaRPr lang="en-ZA" sz="2600" dirty="0"/>
          </a:p>
          <a:p>
            <a:pPr algn="l"/>
            <a:endParaRPr lang="en-US" dirty="0">
              <a:solidFill>
                <a:srgbClr val="000000"/>
              </a:solidFill>
              <a:latin typeface="Arial" panose="020B0604020202020204" pitchFamily="34" charset="0"/>
            </a:endParaRPr>
          </a:p>
        </p:txBody>
      </p:sp>
    </p:spTree>
    <p:extLst>
      <p:ext uri="{BB962C8B-B14F-4D97-AF65-F5344CB8AC3E}">
        <p14:creationId xmlns:p14="http://schemas.microsoft.com/office/powerpoint/2010/main" val="34211153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ABBE1-DA9B-0976-13F3-B14579700A47}"/>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F3D48C06-2B14-DDFA-3944-271714F6C9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41CAF7F3-E85C-42CB-12B5-84DF26F39B16}"/>
              </a:ext>
            </a:extLst>
          </p:cNvPr>
          <p:cNvSpPr txBox="1"/>
          <p:nvPr/>
        </p:nvSpPr>
        <p:spPr>
          <a:xfrm>
            <a:off x="0" y="65927"/>
            <a:ext cx="6858000" cy="1200329"/>
          </a:xfrm>
          <a:prstGeom prst="rect">
            <a:avLst/>
          </a:prstGeom>
          <a:noFill/>
        </p:spPr>
        <p:txBody>
          <a:bodyPr wrap="square" rtlCol="0">
            <a:spAutoFit/>
          </a:bodyPr>
          <a:lstStyle/>
          <a:p>
            <a:r>
              <a:rPr lang="en-ZA" sz="3600" b="1" dirty="0">
                <a:latin typeface="Arial" panose="020B0604020202020204" pitchFamily="34" charset="0"/>
                <a:cs typeface="Arial" panose="020B0604020202020204" pitchFamily="34" charset="0"/>
              </a:rPr>
              <a:t>Programming Methodologies…cont.</a:t>
            </a:r>
          </a:p>
        </p:txBody>
      </p:sp>
      <p:sp>
        <p:nvSpPr>
          <p:cNvPr id="2" name="Content Placeholder 2">
            <a:extLst>
              <a:ext uri="{FF2B5EF4-FFF2-40B4-BE49-F238E27FC236}">
                <a16:creationId xmlns:a16="http://schemas.microsoft.com/office/drawing/2014/main" id="{4930EDE2-4963-8823-9AC9-8F466988D731}"/>
              </a:ext>
            </a:extLst>
          </p:cNvPr>
          <p:cNvSpPr txBox="1">
            <a:spLocks/>
          </p:cNvSpPr>
          <p:nvPr/>
        </p:nvSpPr>
        <p:spPr>
          <a:xfrm>
            <a:off x="471488" y="2637014"/>
            <a:ext cx="5915025" cy="6285266"/>
          </a:xfrm>
          <a:prstGeom prst="rect">
            <a:avLst/>
          </a:prstGeom>
        </p:spPr>
        <p:txBody>
          <a:bodyPr vert="horz" lIns="91440" tIns="45720" rIns="91440" bIns="45720" rtlCol="0">
            <a:normAutofit lnSpcReduction="1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dirty="0">
                <a:solidFill>
                  <a:srgbClr val="000000"/>
                </a:solidFill>
                <a:cs typeface="Arial" panose="020B0604020202020204" pitchFamily="34" charset="0"/>
              </a:rPr>
              <a:t>Writing object-oriented programs involves:</a:t>
            </a:r>
          </a:p>
          <a:p>
            <a:pPr marL="457200" indent="-457200" algn="l">
              <a:buFont typeface="Arial" panose="020B0604020202020204" pitchFamily="34" charset="0"/>
              <a:buChar char="•"/>
            </a:pPr>
            <a:r>
              <a:rPr lang="en-US" sz="2400" dirty="0">
                <a:solidFill>
                  <a:srgbClr val="000000"/>
                </a:solidFill>
                <a:cs typeface="Arial" panose="020B0604020202020204" pitchFamily="34" charset="0"/>
              </a:rPr>
              <a:t>Creating classes, write algorithms, and implement them</a:t>
            </a:r>
          </a:p>
          <a:p>
            <a:pPr marL="457200" indent="-457200" algn="l">
              <a:buFont typeface="Arial" panose="020B0604020202020204" pitchFamily="34" charset="0"/>
              <a:buChar char="•"/>
            </a:pPr>
            <a:r>
              <a:rPr lang="en-US" sz="2400" dirty="0">
                <a:solidFill>
                  <a:srgbClr val="000000"/>
                </a:solidFill>
                <a:cs typeface="Arial" panose="020B0604020202020204" pitchFamily="34" charset="0"/>
              </a:rPr>
              <a:t>Creating objects from those classes, and </a:t>
            </a:r>
          </a:p>
          <a:p>
            <a:pPr marL="457200" indent="-457200" algn="l">
              <a:buFont typeface="Arial" panose="020B0604020202020204" pitchFamily="34" charset="0"/>
              <a:buChar char="•"/>
            </a:pPr>
            <a:r>
              <a:rPr lang="en-US" sz="2400" dirty="0">
                <a:solidFill>
                  <a:srgbClr val="000000"/>
                </a:solidFill>
                <a:cs typeface="Arial" panose="020B0604020202020204" pitchFamily="34" charset="0"/>
              </a:rPr>
              <a:t>Creating applications, i.e. stand-alone executable programs, that use those objects. </a:t>
            </a:r>
          </a:p>
          <a:p>
            <a:pPr algn="l"/>
            <a:r>
              <a:rPr lang="en-US" altLang="en-US" sz="2400" dirty="0"/>
              <a:t>C++ was designed to implement OOD.</a:t>
            </a:r>
          </a:p>
          <a:p>
            <a:pPr algn="l"/>
            <a:r>
              <a:rPr lang="en-US" altLang="en-US" sz="2400" dirty="0"/>
              <a:t>OOD is used with structured design.</a:t>
            </a:r>
          </a:p>
          <a:p>
            <a:pPr algn="l"/>
            <a:endParaRPr lang="en-US" sz="2400" dirty="0">
              <a:solidFill>
                <a:srgbClr val="000000"/>
              </a:solidFill>
              <a:cs typeface="Arial" panose="020B0604020202020204" pitchFamily="34" charset="0"/>
            </a:endParaRPr>
          </a:p>
          <a:p>
            <a:pPr algn="l"/>
            <a:r>
              <a:rPr lang="en-US" sz="2400" dirty="0">
                <a:solidFill>
                  <a:srgbClr val="000000"/>
                </a:solidFill>
                <a:cs typeface="Arial" panose="020B0604020202020204" pitchFamily="34" charset="0"/>
              </a:rPr>
              <a:t>Code with OOP design is:</a:t>
            </a:r>
          </a:p>
          <a:p>
            <a:pPr marL="457200" indent="-457200" algn="l">
              <a:buFont typeface="Arial" panose="020B0604020202020204" pitchFamily="34" charset="0"/>
              <a:buChar char="•"/>
            </a:pPr>
            <a:r>
              <a:rPr lang="en-US" sz="2400" dirty="0">
                <a:solidFill>
                  <a:srgbClr val="000000"/>
                </a:solidFill>
                <a:cs typeface="Arial" panose="020B0604020202020204" pitchFamily="34" charset="0"/>
              </a:rPr>
              <a:t>Flexible</a:t>
            </a:r>
          </a:p>
          <a:p>
            <a:pPr marL="457200" indent="-457200" algn="l">
              <a:buFont typeface="Arial" panose="020B0604020202020204" pitchFamily="34" charset="0"/>
              <a:buChar char="•"/>
            </a:pPr>
            <a:r>
              <a:rPr lang="en-US" sz="2400" dirty="0">
                <a:solidFill>
                  <a:srgbClr val="000000"/>
                </a:solidFill>
                <a:cs typeface="Arial" panose="020B0604020202020204" pitchFamily="34" charset="0"/>
              </a:rPr>
              <a:t>Modular</a:t>
            </a:r>
          </a:p>
          <a:p>
            <a:pPr marL="457200" indent="-457200" algn="l">
              <a:buFont typeface="Arial" panose="020B0604020202020204" pitchFamily="34" charset="0"/>
              <a:buChar char="•"/>
            </a:pPr>
            <a:r>
              <a:rPr lang="en-US" sz="2400" dirty="0">
                <a:solidFill>
                  <a:srgbClr val="000000"/>
                </a:solidFill>
                <a:cs typeface="Arial" panose="020B0604020202020204" pitchFamily="34" charset="0"/>
              </a:rPr>
              <a:t>Abstract</a:t>
            </a:r>
          </a:p>
          <a:p>
            <a:pPr algn="l"/>
            <a:r>
              <a:rPr lang="en-US" sz="2400" dirty="0">
                <a:solidFill>
                  <a:srgbClr val="000000"/>
                </a:solidFill>
                <a:cs typeface="Arial" panose="020B0604020202020204" pitchFamily="34" charset="0"/>
              </a:rPr>
              <a:t>If classes are designed properly, they can be reused repeatedly to develop new programs. </a:t>
            </a:r>
          </a:p>
          <a:p>
            <a:pPr algn="l"/>
            <a:endParaRPr lang="en-US" dirty="0">
              <a:solidFill>
                <a:srgbClr val="000000"/>
              </a:solidFill>
              <a:latin typeface="Arial" panose="020B0604020202020204" pitchFamily="34" charset="0"/>
            </a:endParaRPr>
          </a:p>
        </p:txBody>
      </p:sp>
    </p:spTree>
    <p:extLst>
      <p:ext uri="{BB962C8B-B14F-4D97-AF65-F5344CB8AC3E}">
        <p14:creationId xmlns:p14="http://schemas.microsoft.com/office/powerpoint/2010/main" val="33255824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C7AB0-3C7F-A51A-AC8E-59B11DD4FFFE}"/>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D388DB40-45D3-61E0-6FC7-0AEE389F19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A739561C-1BAC-B9C9-8A7A-670BE327BAA7}"/>
              </a:ext>
            </a:extLst>
          </p:cNvPr>
          <p:cNvSpPr txBox="1"/>
          <p:nvPr/>
        </p:nvSpPr>
        <p:spPr>
          <a:xfrm>
            <a:off x="0" y="65927"/>
            <a:ext cx="6858000" cy="1200329"/>
          </a:xfrm>
          <a:prstGeom prst="rect">
            <a:avLst/>
          </a:prstGeom>
          <a:noFill/>
        </p:spPr>
        <p:txBody>
          <a:bodyPr wrap="square" rtlCol="0">
            <a:spAutoFit/>
          </a:bodyPr>
          <a:lstStyle/>
          <a:p>
            <a:r>
              <a:rPr lang="en-ZA" sz="3600" b="1" dirty="0">
                <a:latin typeface="Arial" panose="020B0604020202020204" pitchFamily="34" charset="0"/>
                <a:cs typeface="Arial" panose="020B0604020202020204" pitchFamily="34" charset="0"/>
              </a:rPr>
              <a:t>Programming Methodologies…cont.</a:t>
            </a:r>
          </a:p>
        </p:txBody>
      </p:sp>
      <p:sp>
        <p:nvSpPr>
          <p:cNvPr id="2" name="Content Placeholder 2">
            <a:extLst>
              <a:ext uri="{FF2B5EF4-FFF2-40B4-BE49-F238E27FC236}">
                <a16:creationId xmlns:a16="http://schemas.microsoft.com/office/drawing/2014/main" id="{F1A5F20B-FC44-8328-CD01-829577F5B336}"/>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b="1" dirty="0">
                <a:solidFill>
                  <a:srgbClr val="000000"/>
                </a:solidFill>
                <a:cs typeface="Arial" panose="020B0604020202020204" pitchFamily="34" charset="0"/>
              </a:rPr>
              <a:t>What is an Object?</a:t>
            </a:r>
          </a:p>
          <a:p>
            <a:pPr algn="l"/>
            <a:r>
              <a:rPr lang="en-US" sz="2400" dirty="0">
                <a:solidFill>
                  <a:srgbClr val="000000"/>
                </a:solidFill>
              </a:rPr>
              <a:t>An </a:t>
            </a:r>
            <a:r>
              <a:rPr lang="en-US" sz="2400" b="1" dirty="0"/>
              <a:t>object</a:t>
            </a:r>
            <a:r>
              <a:rPr lang="en-US" sz="2400" b="1" dirty="0">
                <a:solidFill>
                  <a:srgbClr val="FF0000"/>
                </a:solidFill>
              </a:rPr>
              <a:t> </a:t>
            </a:r>
            <a:r>
              <a:rPr lang="en-US" sz="2400" dirty="0">
                <a:solidFill>
                  <a:srgbClr val="000000"/>
                </a:solidFill>
              </a:rPr>
              <a:t>is an instance of a class. An object generally represents a concrete entity in the real world such as a person, place or thing. </a:t>
            </a:r>
          </a:p>
          <a:p>
            <a:pPr algn="l"/>
            <a:r>
              <a:rPr lang="en-US" sz="2400" dirty="0">
                <a:solidFill>
                  <a:srgbClr val="000000"/>
                </a:solidFill>
              </a:rPr>
              <a:t>Such an object has certain characteristics or </a:t>
            </a:r>
            <a:r>
              <a:rPr lang="en-US" sz="2400" i="1" dirty="0">
                <a:solidFill>
                  <a:srgbClr val="000000"/>
                </a:solidFill>
              </a:rPr>
              <a:t>attributes </a:t>
            </a:r>
            <a:r>
              <a:rPr lang="en-US" sz="2400" dirty="0">
                <a:solidFill>
                  <a:srgbClr val="000000"/>
                </a:solidFill>
              </a:rPr>
              <a:t>and certain </a:t>
            </a:r>
            <a:r>
              <a:rPr lang="en-US" sz="2400" i="1" dirty="0" err="1">
                <a:solidFill>
                  <a:srgbClr val="000000"/>
                </a:solidFill>
              </a:rPr>
              <a:t>behaviours</a:t>
            </a:r>
            <a:r>
              <a:rPr lang="en-US" sz="2400" i="1" dirty="0">
                <a:solidFill>
                  <a:srgbClr val="000000"/>
                </a:solidFill>
              </a:rPr>
              <a:t> </a:t>
            </a:r>
            <a:r>
              <a:rPr lang="en-US" sz="2400" dirty="0">
                <a:solidFill>
                  <a:srgbClr val="000000"/>
                </a:solidFill>
              </a:rPr>
              <a:t>or actions. </a:t>
            </a:r>
          </a:p>
          <a:p>
            <a:pPr algn="l"/>
            <a:r>
              <a:rPr lang="en-US" sz="2400" dirty="0">
                <a:solidFill>
                  <a:srgbClr val="000000"/>
                </a:solidFill>
              </a:rPr>
              <a:t>An object’s characteristics represent data or facts that we know about the object i.e. the state of the object. </a:t>
            </a:r>
          </a:p>
          <a:p>
            <a:pPr algn="l"/>
            <a:r>
              <a:rPr lang="en-US" sz="2400" dirty="0">
                <a:solidFill>
                  <a:srgbClr val="000000"/>
                </a:solidFill>
              </a:rPr>
              <a:t>The object’s </a:t>
            </a:r>
            <a:r>
              <a:rPr lang="en-US" sz="2400" dirty="0" err="1">
                <a:solidFill>
                  <a:srgbClr val="000000"/>
                </a:solidFill>
              </a:rPr>
              <a:t>behaviours</a:t>
            </a:r>
            <a:r>
              <a:rPr lang="en-US" sz="2400" dirty="0">
                <a:solidFill>
                  <a:srgbClr val="000000"/>
                </a:solidFill>
              </a:rPr>
              <a:t> are actions that the object can take. These actions are expressed in functions or methods that execute algorithms.</a:t>
            </a:r>
          </a:p>
          <a:p>
            <a:pPr algn="l"/>
            <a:r>
              <a:rPr lang="en-US" sz="2400" dirty="0">
                <a:solidFill>
                  <a:srgbClr val="000000"/>
                </a:solidFill>
              </a:rPr>
              <a:t>The object interacts with other objects through messages or function calls.</a:t>
            </a:r>
          </a:p>
          <a:p>
            <a:pPr algn="l"/>
            <a:r>
              <a:rPr lang="en-US" sz="2400" dirty="0">
                <a:solidFill>
                  <a:srgbClr val="000000"/>
                </a:solidFill>
              </a:rPr>
              <a:t>objects.</a:t>
            </a:r>
            <a:endParaRPr lang="en-US" sz="2400" dirty="0">
              <a:solidFill>
                <a:srgbClr val="000000"/>
              </a:solidFill>
              <a:cs typeface="Arial" panose="020B0604020202020204" pitchFamily="34" charset="0"/>
            </a:endParaRPr>
          </a:p>
          <a:p>
            <a:pPr algn="l"/>
            <a:endParaRPr lang="en-US" dirty="0">
              <a:solidFill>
                <a:srgbClr val="000000"/>
              </a:solidFill>
              <a:latin typeface="Arial" panose="020B0604020202020204" pitchFamily="34" charset="0"/>
            </a:endParaRPr>
          </a:p>
        </p:txBody>
      </p:sp>
    </p:spTree>
    <p:extLst>
      <p:ext uri="{BB962C8B-B14F-4D97-AF65-F5344CB8AC3E}">
        <p14:creationId xmlns:p14="http://schemas.microsoft.com/office/powerpoint/2010/main" val="18049522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07137-BCDF-08A3-2D53-C8C00D45E60E}"/>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2155D60F-2652-35AB-5CEE-A7F8BA6E6D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03BD6FDD-6364-B261-8629-EB4136433FEF}"/>
              </a:ext>
            </a:extLst>
          </p:cNvPr>
          <p:cNvSpPr txBox="1"/>
          <p:nvPr/>
        </p:nvSpPr>
        <p:spPr>
          <a:xfrm>
            <a:off x="0" y="65927"/>
            <a:ext cx="6858000" cy="1200329"/>
          </a:xfrm>
          <a:prstGeom prst="rect">
            <a:avLst/>
          </a:prstGeom>
          <a:noFill/>
        </p:spPr>
        <p:txBody>
          <a:bodyPr wrap="square" rtlCol="0">
            <a:spAutoFit/>
          </a:bodyPr>
          <a:lstStyle/>
          <a:p>
            <a:r>
              <a:rPr lang="en-ZA" sz="3600" b="1" dirty="0">
                <a:latin typeface="Arial" panose="020B0604020202020204" pitchFamily="34" charset="0"/>
                <a:cs typeface="Arial" panose="020B0604020202020204" pitchFamily="34" charset="0"/>
              </a:rPr>
              <a:t>Programming Methodologies…cont.</a:t>
            </a:r>
          </a:p>
        </p:txBody>
      </p:sp>
      <p:sp>
        <p:nvSpPr>
          <p:cNvPr id="2" name="Content Placeholder 2">
            <a:extLst>
              <a:ext uri="{FF2B5EF4-FFF2-40B4-BE49-F238E27FC236}">
                <a16:creationId xmlns:a16="http://schemas.microsoft.com/office/drawing/2014/main" id="{23B7BBAD-7D37-B2A7-7BB3-135267A330D5}"/>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b="1" dirty="0">
                <a:solidFill>
                  <a:srgbClr val="000000"/>
                </a:solidFill>
              </a:rPr>
              <a:t>What is a Class?</a:t>
            </a:r>
          </a:p>
          <a:p>
            <a:pPr algn="l"/>
            <a:r>
              <a:rPr lang="en-US" sz="2400" dirty="0">
                <a:solidFill>
                  <a:srgbClr val="000000"/>
                </a:solidFill>
              </a:rPr>
              <a:t>A </a:t>
            </a:r>
            <a:r>
              <a:rPr lang="en-US" sz="2400" b="1" dirty="0"/>
              <a:t>class </a:t>
            </a:r>
            <a:r>
              <a:rPr lang="en-US" sz="2400" dirty="0">
                <a:solidFill>
                  <a:srgbClr val="000000"/>
                </a:solidFill>
              </a:rPr>
              <a:t>is a template or blueprint that can be used to construct or </a:t>
            </a:r>
            <a:r>
              <a:rPr lang="en-US" sz="2400" i="1" dirty="0">
                <a:solidFill>
                  <a:srgbClr val="000000"/>
                </a:solidFill>
              </a:rPr>
              <a:t>instantiate </a:t>
            </a:r>
            <a:r>
              <a:rPr lang="en-US" sz="2400" dirty="0">
                <a:solidFill>
                  <a:srgbClr val="000000"/>
                </a:solidFill>
              </a:rPr>
              <a:t>many similar objects. A class can also be seen as a sort of user-defined data type, which we call an abstract data type (ADT). </a:t>
            </a:r>
          </a:p>
          <a:p>
            <a:pPr algn="l"/>
            <a:r>
              <a:rPr lang="en-US" sz="2400" dirty="0">
                <a:solidFill>
                  <a:srgbClr val="000000"/>
                </a:solidFill>
              </a:rPr>
              <a:t>A class hides information by restricting access to it. In effect the data and methods within an object are hidden from users to prevent inadvertent changes. Users of the class simply need to understand how to use the interface or interaction between the object and its methods. </a:t>
            </a:r>
          </a:p>
          <a:p>
            <a:pPr algn="l"/>
            <a:r>
              <a:rPr lang="en-US" sz="2400" b="1" dirty="0"/>
              <a:t>Encapsulation</a:t>
            </a:r>
            <a:r>
              <a:rPr lang="en-US" sz="2400" dirty="0">
                <a:solidFill>
                  <a:srgbClr val="000000"/>
                </a:solidFill>
              </a:rPr>
              <a:t>: combining the attributes and </a:t>
            </a:r>
            <a:r>
              <a:rPr lang="en-US" sz="2400" dirty="0" err="1">
                <a:solidFill>
                  <a:srgbClr val="000000"/>
                </a:solidFill>
              </a:rPr>
              <a:t>behaviours</a:t>
            </a:r>
            <a:r>
              <a:rPr lang="en-US" sz="2400" dirty="0">
                <a:solidFill>
                  <a:srgbClr val="000000"/>
                </a:solidFill>
              </a:rPr>
              <a:t>, i.e. an object’s data and functions together to form a class. </a:t>
            </a:r>
            <a:endParaRPr lang="en-ZA" sz="2400" dirty="0"/>
          </a:p>
          <a:p>
            <a:pPr algn="l"/>
            <a:endParaRPr lang="en-US" sz="2400" dirty="0">
              <a:solidFill>
                <a:srgbClr val="000000"/>
              </a:solidFill>
              <a:cs typeface="Arial" panose="020B0604020202020204" pitchFamily="34" charset="0"/>
            </a:endParaRPr>
          </a:p>
          <a:p>
            <a:pPr algn="l"/>
            <a:endParaRPr lang="en-US" dirty="0">
              <a:solidFill>
                <a:srgbClr val="000000"/>
              </a:solidFill>
              <a:latin typeface="Arial" panose="020B0604020202020204" pitchFamily="34" charset="0"/>
            </a:endParaRPr>
          </a:p>
        </p:txBody>
      </p:sp>
    </p:spTree>
    <p:extLst>
      <p:ext uri="{BB962C8B-B14F-4D97-AF65-F5344CB8AC3E}">
        <p14:creationId xmlns:p14="http://schemas.microsoft.com/office/powerpoint/2010/main" val="31104739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6F19C-EAB9-2A69-3552-1937EC0C909C}"/>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56C6047C-1124-FA07-D473-1F903D4D6B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878F5955-BFE9-DE9E-E0A0-6034968B4698}"/>
              </a:ext>
            </a:extLst>
          </p:cNvPr>
          <p:cNvSpPr txBox="1"/>
          <p:nvPr/>
        </p:nvSpPr>
        <p:spPr>
          <a:xfrm>
            <a:off x="0" y="65927"/>
            <a:ext cx="6858000" cy="1200329"/>
          </a:xfrm>
          <a:prstGeom prst="rect">
            <a:avLst/>
          </a:prstGeom>
          <a:noFill/>
        </p:spPr>
        <p:txBody>
          <a:bodyPr wrap="square" rtlCol="0">
            <a:spAutoFit/>
          </a:bodyPr>
          <a:lstStyle/>
          <a:p>
            <a:r>
              <a:rPr lang="en-ZA" sz="3600" b="1" dirty="0">
                <a:latin typeface="Arial" panose="020B0604020202020204" pitchFamily="34" charset="0"/>
                <a:cs typeface="Arial" panose="020B0604020202020204" pitchFamily="34" charset="0"/>
              </a:rPr>
              <a:t>Programming Methodologies…cont.</a:t>
            </a:r>
          </a:p>
        </p:txBody>
      </p:sp>
      <p:sp>
        <p:nvSpPr>
          <p:cNvPr id="2" name="Content Placeholder 2">
            <a:extLst>
              <a:ext uri="{FF2B5EF4-FFF2-40B4-BE49-F238E27FC236}">
                <a16:creationId xmlns:a16="http://schemas.microsoft.com/office/drawing/2014/main" id="{00024A3D-4F69-2B61-19FB-3AB80E4BE74F}"/>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lnSpc>
                <a:spcPct val="107000"/>
              </a:lnSpc>
              <a:spcAft>
                <a:spcPts val="800"/>
              </a:spcAft>
              <a:buSzPts val="1000"/>
              <a:tabLst>
                <a:tab pos="457200" algn="l"/>
              </a:tabLst>
            </a:pPr>
            <a:r>
              <a:rPr lang="en-ZA" sz="2400" dirty="0">
                <a:solidFill>
                  <a:srgbClr val="000000"/>
                </a:solidFill>
              </a:rPr>
              <a:t>There are four major benefits to object-oriented programming:</a:t>
            </a:r>
          </a:p>
          <a:p>
            <a:pPr lvl="0" algn="l">
              <a:lnSpc>
                <a:spcPct val="107000"/>
              </a:lnSpc>
              <a:spcAft>
                <a:spcPts val="800"/>
              </a:spcAft>
              <a:buSzPts val="1000"/>
              <a:tabLst>
                <a:tab pos="457200" algn="l"/>
              </a:tabLst>
            </a:pPr>
            <a:r>
              <a:rPr lang="en-ZA" sz="2400" b="1" dirty="0">
                <a:ea typeface="Times New Roman" panose="02020603050405020304" pitchFamily="18" charset="0"/>
                <a:cs typeface="Times New Roman" panose="02020603050405020304" pitchFamily="18" charset="0"/>
              </a:rPr>
              <a:t>Encapsulation</a:t>
            </a:r>
            <a:r>
              <a:rPr lang="en-ZA" sz="2400" b="1" dirty="0">
                <a:solidFill>
                  <a:srgbClr val="484848"/>
                </a:solidFill>
                <a:ea typeface="Times New Roman" panose="02020603050405020304" pitchFamily="18" charset="0"/>
                <a:cs typeface="Times New Roman" panose="02020603050405020304" pitchFamily="18" charset="0"/>
              </a:rPr>
              <a:t>:</a:t>
            </a:r>
            <a:r>
              <a:rPr lang="en-ZA" sz="2400" dirty="0">
                <a:solidFill>
                  <a:srgbClr val="484848"/>
                </a:solidFill>
                <a:ea typeface="Times New Roman" panose="02020603050405020304" pitchFamily="18" charset="0"/>
                <a:cs typeface="Times New Roman" panose="02020603050405020304" pitchFamily="18" charset="0"/>
              </a:rPr>
              <a:t> </a:t>
            </a:r>
            <a:r>
              <a:rPr lang="en-ZA" sz="2400" dirty="0">
                <a:solidFill>
                  <a:srgbClr val="000000"/>
                </a:solidFill>
              </a:rPr>
              <a:t>in OOP, you bundle code into a single unit where you can determine the scope of each piece of data.</a:t>
            </a:r>
          </a:p>
          <a:p>
            <a:pPr algn="l">
              <a:lnSpc>
                <a:spcPct val="107000"/>
              </a:lnSpc>
              <a:spcAft>
                <a:spcPts val="800"/>
              </a:spcAft>
              <a:buSzPts val="1000"/>
              <a:tabLst>
                <a:tab pos="457200" algn="l"/>
              </a:tabLst>
            </a:pPr>
            <a:r>
              <a:rPr lang="en-ZA" sz="2400" b="1" dirty="0">
                <a:ea typeface="Times New Roman" panose="02020603050405020304" pitchFamily="18" charset="0"/>
                <a:cs typeface="Times New Roman" panose="02020603050405020304" pitchFamily="18" charset="0"/>
              </a:rPr>
              <a:t>Abstraction</a:t>
            </a:r>
            <a:r>
              <a:rPr lang="en-ZA" sz="2400" b="1" dirty="0">
                <a:solidFill>
                  <a:srgbClr val="484848"/>
                </a:solidFill>
                <a:ea typeface="Times New Roman" panose="02020603050405020304" pitchFamily="18" charset="0"/>
                <a:cs typeface="Times New Roman" panose="02020603050405020304" pitchFamily="18" charset="0"/>
              </a:rPr>
              <a:t>:</a:t>
            </a:r>
            <a:r>
              <a:rPr lang="en-ZA" sz="2400" dirty="0">
                <a:solidFill>
                  <a:srgbClr val="484848"/>
                </a:solidFill>
                <a:ea typeface="Times New Roman" panose="02020603050405020304" pitchFamily="18" charset="0"/>
                <a:cs typeface="Times New Roman" panose="02020603050405020304" pitchFamily="18" charset="0"/>
              </a:rPr>
              <a:t> </a:t>
            </a:r>
            <a:r>
              <a:rPr lang="en-ZA" sz="2400" dirty="0">
                <a:solidFill>
                  <a:srgbClr val="000000"/>
                </a:solidFill>
              </a:rPr>
              <a:t>by using classes, you generalize your object types, simplifying your program.</a:t>
            </a:r>
          </a:p>
          <a:p>
            <a:pPr lvl="0" algn="l">
              <a:lnSpc>
                <a:spcPct val="107000"/>
              </a:lnSpc>
              <a:spcAft>
                <a:spcPts val="800"/>
              </a:spcAft>
              <a:buSzPts val="1000"/>
              <a:tabLst>
                <a:tab pos="457200" algn="l"/>
              </a:tabLst>
            </a:pPr>
            <a:r>
              <a:rPr lang="en-ZA" sz="2400" b="1" dirty="0">
                <a:ea typeface="Times New Roman" panose="02020603050405020304" pitchFamily="18" charset="0"/>
                <a:cs typeface="Times New Roman" panose="02020603050405020304" pitchFamily="18" charset="0"/>
              </a:rPr>
              <a:t>Inheritance</a:t>
            </a:r>
            <a:r>
              <a:rPr lang="en-ZA" sz="2400" b="1" dirty="0">
                <a:solidFill>
                  <a:srgbClr val="484848"/>
                </a:solidFill>
                <a:ea typeface="Times New Roman" panose="02020603050405020304" pitchFamily="18" charset="0"/>
                <a:cs typeface="Times New Roman" panose="02020603050405020304" pitchFamily="18" charset="0"/>
              </a:rPr>
              <a:t>:</a:t>
            </a:r>
            <a:r>
              <a:rPr lang="en-ZA" sz="2400" dirty="0">
                <a:solidFill>
                  <a:srgbClr val="484848"/>
                </a:solidFill>
                <a:ea typeface="Times New Roman" panose="02020603050405020304" pitchFamily="18" charset="0"/>
                <a:cs typeface="Times New Roman" panose="02020603050405020304" pitchFamily="18" charset="0"/>
              </a:rPr>
              <a:t> </a:t>
            </a:r>
            <a:r>
              <a:rPr lang="en-ZA" sz="2400" dirty="0">
                <a:solidFill>
                  <a:srgbClr val="000000"/>
                </a:solidFill>
              </a:rPr>
              <a:t>because a class can inherit attributes and behaviours from another class, you can reuse more code.</a:t>
            </a:r>
          </a:p>
          <a:p>
            <a:pPr lvl="0" algn="l">
              <a:lnSpc>
                <a:spcPct val="107000"/>
              </a:lnSpc>
              <a:spcAft>
                <a:spcPts val="800"/>
              </a:spcAft>
              <a:buSzPts val="1000"/>
              <a:tabLst>
                <a:tab pos="457200" algn="l"/>
              </a:tabLst>
            </a:pPr>
            <a:r>
              <a:rPr lang="en-ZA" sz="2400" b="1" dirty="0">
                <a:ea typeface="Times New Roman" panose="02020603050405020304" pitchFamily="18" charset="0"/>
                <a:cs typeface="Times New Roman" panose="02020603050405020304" pitchFamily="18" charset="0"/>
              </a:rPr>
              <a:t>Polymorphism</a:t>
            </a:r>
            <a:r>
              <a:rPr lang="en-ZA" sz="2400" b="1" dirty="0">
                <a:solidFill>
                  <a:srgbClr val="484848"/>
                </a:solidFill>
                <a:ea typeface="Times New Roman" panose="02020603050405020304" pitchFamily="18" charset="0"/>
                <a:cs typeface="Times New Roman" panose="02020603050405020304" pitchFamily="18" charset="0"/>
              </a:rPr>
              <a:t>:</a:t>
            </a:r>
            <a:r>
              <a:rPr lang="en-ZA" sz="2400" dirty="0">
                <a:solidFill>
                  <a:srgbClr val="484848"/>
                </a:solidFill>
                <a:ea typeface="Times New Roman" panose="02020603050405020304" pitchFamily="18" charset="0"/>
                <a:cs typeface="Times New Roman" panose="02020603050405020304" pitchFamily="18" charset="0"/>
              </a:rPr>
              <a:t> </a:t>
            </a:r>
            <a:r>
              <a:rPr lang="en-ZA" sz="2400" dirty="0">
                <a:solidFill>
                  <a:srgbClr val="000000"/>
                </a:solidFill>
              </a:rPr>
              <a:t>one class can be used to create many objects, all from the same flexible piece of code.</a:t>
            </a:r>
            <a:endParaRPr lang="en-US" sz="2400" dirty="0">
              <a:solidFill>
                <a:srgbClr val="000000"/>
              </a:solidFill>
              <a:cs typeface="Arial" panose="020B0604020202020204" pitchFamily="34" charset="0"/>
            </a:endParaRPr>
          </a:p>
          <a:p>
            <a:pPr algn="l"/>
            <a:endParaRPr lang="en-US" dirty="0">
              <a:solidFill>
                <a:srgbClr val="000000"/>
              </a:solidFill>
              <a:latin typeface="Arial" panose="020B0604020202020204" pitchFamily="34" charset="0"/>
            </a:endParaRPr>
          </a:p>
        </p:txBody>
      </p:sp>
    </p:spTree>
    <p:extLst>
      <p:ext uri="{BB962C8B-B14F-4D97-AF65-F5344CB8AC3E}">
        <p14:creationId xmlns:p14="http://schemas.microsoft.com/office/powerpoint/2010/main" val="24250885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01E01-9FF1-CC5E-CD65-74DA0049C783}"/>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E586ADA5-A34A-3DF8-90D0-DA6C48E551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D12C37C7-7651-13F2-8B01-132516F0C4D9}"/>
              </a:ext>
            </a:extLst>
          </p:cNvPr>
          <p:cNvSpPr txBox="1"/>
          <p:nvPr/>
        </p:nvSpPr>
        <p:spPr>
          <a:xfrm>
            <a:off x="0" y="65927"/>
            <a:ext cx="6858000" cy="1200329"/>
          </a:xfrm>
          <a:prstGeom prst="rect">
            <a:avLst/>
          </a:prstGeom>
          <a:noFill/>
        </p:spPr>
        <p:txBody>
          <a:bodyPr wrap="square" rtlCol="0">
            <a:spAutoFit/>
          </a:bodyPr>
          <a:lstStyle/>
          <a:p>
            <a:r>
              <a:rPr lang="en-ZA" sz="3600" b="1" dirty="0">
                <a:latin typeface="Arial" panose="020B0604020202020204" pitchFamily="34" charset="0"/>
                <a:cs typeface="Arial" panose="020B0604020202020204" pitchFamily="34" charset="0"/>
              </a:rPr>
              <a:t>Software Development Lifecycle</a:t>
            </a:r>
          </a:p>
        </p:txBody>
      </p:sp>
      <p:sp>
        <p:nvSpPr>
          <p:cNvPr id="2" name="Content Placeholder 2">
            <a:extLst>
              <a:ext uri="{FF2B5EF4-FFF2-40B4-BE49-F238E27FC236}">
                <a16:creationId xmlns:a16="http://schemas.microsoft.com/office/drawing/2014/main" id="{2DE67A15-091F-12AD-A890-57BDFED0574B}"/>
              </a:ext>
            </a:extLst>
          </p:cNvPr>
          <p:cNvSpPr txBox="1">
            <a:spLocks/>
          </p:cNvSpPr>
          <p:nvPr/>
        </p:nvSpPr>
        <p:spPr>
          <a:xfrm>
            <a:off x="471488" y="2293257"/>
            <a:ext cx="5915025" cy="6821713"/>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ZA" sz="2400" b="1" dirty="0"/>
              <a:t>The Software Life Cycle (pg. 49)</a:t>
            </a:r>
            <a:endParaRPr lang="en-US" altLang="en-US" sz="2400" b="1" dirty="0"/>
          </a:p>
          <a:p>
            <a:pPr algn="l"/>
            <a:endParaRPr lang="en-US" sz="2400" b="1" dirty="0"/>
          </a:p>
          <a:p>
            <a:pPr algn="l">
              <a:lnSpc>
                <a:spcPct val="110000"/>
              </a:lnSpc>
            </a:pPr>
            <a:r>
              <a:rPr lang="en-US" sz="2400" dirty="0"/>
              <a:t>The System Design Life Cycle (SDLC) is a structured process used to plan, design, develop, test, deploy, and maintain software systems. It helps teams build reliable, scalable, and high-quality systems by following well-defined phases, ensuring that business requirements are correctly translated into technical solutions.</a:t>
            </a:r>
          </a:p>
          <a:p>
            <a:pPr algn="l">
              <a:lnSpc>
                <a:spcPct val="110000"/>
              </a:lnSpc>
            </a:pPr>
            <a:r>
              <a:rPr lang="en-US" sz="2400" dirty="0"/>
              <a:t>Designers and Development Team of large software systems, such as compilers and operating systems, and other applications divide the software development process into six phases collectively known as the </a:t>
            </a:r>
            <a:r>
              <a:rPr lang="en-US" sz="2400" b="1" dirty="0"/>
              <a:t>software life cycle. </a:t>
            </a:r>
          </a:p>
        </p:txBody>
      </p:sp>
    </p:spTree>
    <p:extLst>
      <p:ext uri="{BB962C8B-B14F-4D97-AF65-F5344CB8AC3E}">
        <p14:creationId xmlns:p14="http://schemas.microsoft.com/office/powerpoint/2010/main" val="2068940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17955-B9D0-2CA0-FAF3-8337DF5CC387}"/>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68631205-BC2E-5651-358F-1C69ABF558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8E977A2D-EBCE-EA9E-F0CA-B796982029E3}"/>
              </a:ext>
            </a:extLst>
          </p:cNvPr>
          <p:cNvSpPr txBox="1"/>
          <p:nvPr/>
        </p:nvSpPr>
        <p:spPr>
          <a:xfrm>
            <a:off x="0" y="65927"/>
            <a:ext cx="6858000" cy="1200329"/>
          </a:xfrm>
          <a:prstGeom prst="rect">
            <a:avLst/>
          </a:prstGeom>
          <a:noFill/>
        </p:spPr>
        <p:txBody>
          <a:bodyPr wrap="square" rtlCol="0">
            <a:spAutoFit/>
          </a:bodyPr>
          <a:lstStyle/>
          <a:p>
            <a:r>
              <a:rPr lang="en-ZA" sz="3600" b="1" dirty="0">
                <a:latin typeface="Arial" panose="020B0604020202020204" pitchFamily="34" charset="0"/>
                <a:cs typeface="Arial" panose="020B0604020202020204" pitchFamily="34" charset="0"/>
              </a:rPr>
              <a:t>Software Development Lifecycle</a:t>
            </a:r>
          </a:p>
        </p:txBody>
      </p:sp>
      <p:sp>
        <p:nvSpPr>
          <p:cNvPr id="2" name="Content Placeholder 2">
            <a:extLst>
              <a:ext uri="{FF2B5EF4-FFF2-40B4-BE49-F238E27FC236}">
                <a16:creationId xmlns:a16="http://schemas.microsoft.com/office/drawing/2014/main" id="{90BE573A-CBAE-7A67-10C3-AB8160269E01}"/>
              </a:ext>
            </a:extLst>
          </p:cNvPr>
          <p:cNvSpPr txBox="1">
            <a:spLocks/>
          </p:cNvSpPr>
          <p:nvPr/>
        </p:nvSpPr>
        <p:spPr>
          <a:xfrm>
            <a:off x="471488" y="2293257"/>
            <a:ext cx="5915025" cy="6821713"/>
          </a:xfrm>
          <a:prstGeom prst="rect">
            <a:avLst/>
          </a:prstGeom>
        </p:spPr>
        <p:txBody>
          <a:bodyPr vert="horz" lIns="91440" tIns="45720" rIns="91440" bIns="45720" rtlCol="0">
            <a:normAutofit fontScale="92500" lnSpcReduction="2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ZA" sz="2400" b="1" dirty="0"/>
              <a:t>The Software Life Cycle (pg. 50)</a:t>
            </a:r>
          </a:p>
          <a:p>
            <a:pPr algn="l"/>
            <a:endParaRPr lang="en-ZA" altLang="en-US" sz="2400" b="1" dirty="0"/>
          </a:p>
          <a:p>
            <a:pPr algn="l">
              <a:lnSpc>
                <a:spcPct val="110000"/>
              </a:lnSpc>
            </a:pPr>
            <a:r>
              <a:rPr lang="en-US" sz="2600" dirty="0"/>
              <a:t>The six phases of this life cycle are:</a:t>
            </a:r>
          </a:p>
          <a:p>
            <a:pPr algn="l"/>
            <a:r>
              <a:rPr lang="en-US" sz="2400" dirty="0"/>
              <a:t>1. Analysis and specification of the task (problem definition or requirements gathering)</a:t>
            </a:r>
          </a:p>
          <a:p>
            <a:pPr algn="l"/>
            <a:r>
              <a:rPr lang="en-US" sz="2400" dirty="0"/>
              <a:t>2. Design of the software (object and algorithm design) [UML diagrams and algorithms]</a:t>
            </a:r>
          </a:p>
          <a:p>
            <a:pPr algn="l"/>
            <a:r>
              <a:rPr lang="en-ZA" sz="2400" dirty="0"/>
              <a:t>3. Implementation (development / coding)</a:t>
            </a:r>
          </a:p>
          <a:p>
            <a:pPr algn="l"/>
            <a:r>
              <a:rPr lang="en-ZA" sz="2400" dirty="0"/>
              <a:t>4. Testing</a:t>
            </a:r>
          </a:p>
          <a:p>
            <a:pPr algn="l"/>
            <a:r>
              <a:rPr lang="en-US" sz="2400" dirty="0"/>
              <a:t>5. Deployment</a:t>
            </a:r>
          </a:p>
          <a:p>
            <a:pPr algn="l"/>
            <a:r>
              <a:rPr lang="en-US" sz="2400" dirty="0"/>
              <a:t>6. Maintenance and evolution of the system</a:t>
            </a:r>
          </a:p>
          <a:p>
            <a:pPr algn="l"/>
            <a:r>
              <a:rPr lang="en-ZA" sz="2400" dirty="0"/>
              <a:t>7. Obsolescence</a:t>
            </a:r>
            <a:endParaRPr lang="en-US" sz="2400" b="1" dirty="0"/>
          </a:p>
          <a:p>
            <a:pPr algn="l"/>
            <a:endParaRPr lang="en-US" altLang="en-US" sz="2400" b="1" dirty="0"/>
          </a:p>
          <a:p>
            <a:pPr algn="l"/>
            <a:r>
              <a:rPr lang="en-US" sz="2400" b="1" dirty="0"/>
              <a:t>Refer to the below URLs to better understand the role of each phase:</a:t>
            </a:r>
          </a:p>
          <a:p>
            <a:pPr algn="l">
              <a:lnSpc>
                <a:spcPct val="110000"/>
              </a:lnSpc>
            </a:pPr>
            <a:r>
              <a:rPr lang="en-US" sz="2400" dirty="0">
                <a:hlinkClick r:id="rId3"/>
              </a:rPr>
              <a:t>https://www.geeksforgeeks.org/system-design/system-design-life-cycle-phases-models-and-use-cases/</a:t>
            </a:r>
            <a:r>
              <a:rPr lang="en-US" sz="2400" dirty="0"/>
              <a:t> </a:t>
            </a:r>
          </a:p>
          <a:p>
            <a:pPr algn="l">
              <a:lnSpc>
                <a:spcPct val="110000"/>
              </a:lnSpc>
            </a:pPr>
            <a:r>
              <a:rPr lang="en-US" sz="2400" dirty="0">
                <a:hlinkClick r:id="rId4"/>
              </a:rPr>
              <a:t>https://aws.amazon.com/what-is/sdlc/</a:t>
            </a:r>
            <a:endParaRPr lang="en-US" sz="2400" dirty="0"/>
          </a:p>
          <a:p>
            <a:pPr algn="l">
              <a:lnSpc>
                <a:spcPct val="110000"/>
              </a:lnSpc>
            </a:pPr>
            <a:endParaRPr lang="en-US" sz="2400" b="1" dirty="0"/>
          </a:p>
        </p:txBody>
      </p:sp>
    </p:spTree>
    <p:extLst>
      <p:ext uri="{BB962C8B-B14F-4D97-AF65-F5344CB8AC3E}">
        <p14:creationId xmlns:p14="http://schemas.microsoft.com/office/powerpoint/2010/main" val="18634043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13CCF-F0F5-52D3-8D36-691C30620BAD}"/>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D1E3B726-E614-32AF-EB4E-E7EFFB9F52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6DA5498A-32F8-EBAD-1ED2-E61CB795E0FC}"/>
              </a:ext>
            </a:extLst>
          </p:cNvPr>
          <p:cNvSpPr txBox="1"/>
          <p:nvPr/>
        </p:nvSpPr>
        <p:spPr>
          <a:xfrm>
            <a:off x="0" y="65927"/>
            <a:ext cx="6858000" cy="646331"/>
          </a:xfrm>
          <a:prstGeom prst="rect">
            <a:avLst/>
          </a:prstGeom>
          <a:noFill/>
        </p:spPr>
        <p:txBody>
          <a:bodyPr wrap="square" rtlCol="0">
            <a:spAutoFit/>
          </a:bodyPr>
          <a:lstStyle/>
          <a:p>
            <a:r>
              <a:rPr lang="en-ZA" sz="3600" b="1" dirty="0">
                <a:latin typeface="Arial" panose="020B0604020202020204" pitchFamily="34" charset="0"/>
                <a:cs typeface="Arial" panose="020B0604020202020204" pitchFamily="34" charset="0"/>
              </a:rPr>
              <a:t>Writing a C++ Program</a:t>
            </a:r>
          </a:p>
        </p:txBody>
      </p:sp>
      <p:sp>
        <p:nvSpPr>
          <p:cNvPr id="2" name="Content Placeholder 2">
            <a:extLst>
              <a:ext uri="{FF2B5EF4-FFF2-40B4-BE49-F238E27FC236}">
                <a16:creationId xmlns:a16="http://schemas.microsoft.com/office/drawing/2014/main" id="{EAD7D7F3-FEE5-FD28-28DB-2CC23BEA2F52}"/>
              </a:ext>
            </a:extLst>
          </p:cNvPr>
          <p:cNvSpPr txBox="1">
            <a:spLocks/>
          </p:cNvSpPr>
          <p:nvPr/>
        </p:nvSpPr>
        <p:spPr>
          <a:xfrm>
            <a:off x="471488" y="2293257"/>
            <a:ext cx="5915025" cy="6821713"/>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b="1" dirty="0"/>
              <a:t>This is a practical work, we will continue with it during the next class session.</a:t>
            </a:r>
          </a:p>
          <a:p>
            <a:pPr algn="l"/>
            <a:endParaRPr lang="en-US" sz="2400" b="1" dirty="0"/>
          </a:p>
          <a:p>
            <a:pPr algn="l"/>
            <a:r>
              <a:rPr lang="en-US" sz="2400" i="1" dirty="0"/>
              <a:t>See prescribed book from pg. 50.</a:t>
            </a:r>
          </a:p>
          <a:p>
            <a:pPr algn="l"/>
            <a:r>
              <a:rPr lang="en-US" sz="2400" i="1" dirty="0"/>
              <a:t>Intro.</a:t>
            </a:r>
          </a:p>
          <a:p>
            <a:pPr algn="l"/>
            <a:r>
              <a:rPr lang="en-US" sz="2400" i="1" dirty="0"/>
              <a:t>Origins of C++.</a:t>
            </a:r>
          </a:p>
          <a:p>
            <a:pPr algn="l"/>
            <a:r>
              <a:rPr lang="en-US" sz="2400" i="1" dirty="0"/>
              <a:t>Sample C++ Program with different components of a C++ program</a:t>
            </a:r>
          </a:p>
          <a:p>
            <a:pPr algn="l"/>
            <a:r>
              <a:rPr lang="en-US" sz="2400" i="1" dirty="0"/>
              <a:t>Program errors</a:t>
            </a:r>
          </a:p>
          <a:p>
            <a:pPr algn="l"/>
            <a:r>
              <a:rPr lang="en-US" sz="2400" i="1" dirty="0"/>
              <a:t>Testing and debugging.</a:t>
            </a:r>
          </a:p>
          <a:p>
            <a:pPr algn="l"/>
            <a:endParaRPr lang="en-US" sz="2400" b="1" dirty="0"/>
          </a:p>
          <a:p>
            <a:pPr algn="l"/>
            <a:endParaRPr lang="en-US" sz="2400" b="1" dirty="0"/>
          </a:p>
        </p:txBody>
      </p:sp>
    </p:spTree>
    <p:extLst>
      <p:ext uri="{BB962C8B-B14F-4D97-AF65-F5344CB8AC3E}">
        <p14:creationId xmlns:p14="http://schemas.microsoft.com/office/powerpoint/2010/main" val="13630437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F4179-C845-7041-DC72-D62E11A34BEC}"/>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3D8E14B3-AC2A-C69A-B378-19C0462284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069104BE-A97C-B237-7C63-5449273D26F2}"/>
              </a:ext>
            </a:extLst>
          </p:cNvPr>
          <p:cNvSpPr txBox="1"/>
          <p:nvPr/>
        </p:nvSpPr>
        <p:spPr>
          <a:xfrm>
            <a:off x="0" y="65927"/>
            <a:ext cx="6858000" cy="646331"/>
          </a:xfrm>
          <a:prstGeom prst="rect">
            <a:avLst/>
          </a:prstGeom>
          <a:noFill/>
        </p:spPr>
        <p:txBody>
          <a:bodyPr wrap="square" rtlCol="0">
            <a:spAutoFit/>
          </a:bodyPr>
          <a:lstStyle/>
          <a:p>
            <a:r>
              <a:rPr lang="en-ZA" sz="3600" b="1" dirty="0">
                <a:latin typeface="Arial" panose="020B0604020202020204" pitchFamily="34" charset="0"/>
                <a:cs typeface="Arial" panose="020B0604020202020204" pitchFamily="34" charset="0"/>
              </a:rPr>
              <a:t>Useful Resources on OOP</a:t>
            </a:r>
          </a:p>
        </p:txBody>
      </p:sp>
      <p:sp>
        <p:nvSpPr>
          <p:cNvPr id="2" name="Content Placeholder 2">
            <a:extLst>
              <a:ext uri="{FF2B5EF4-FFF2-40B4-BE49-F238E27FC236}">
                <a16:creationId xmlns:a16="http://schemas.microsoft.com/office/drawing/2014/main" id="{33F03BAC-C8F9-A6B7-C97C-26E9A8ABC427}"/>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lnSpc>
                <a:spcPct val="107000"/>
              </a:lnSpc>
              <a:spcAft>
                <a:spcPts val="800"/>
              </a:spcAft>
              <a:buSzPts val="1000"/>
              <a:tabLst>
                <a:tab pos="457200" algn="l"/>
              </a:tabLst>
            </a:pPr>
            <a:r>
              <a:rPr lang="en-ZA" sz="2400" b="1">
                <a:solidFill>
                  <a:srgbClr val="000000"/>
                </a:solidFill>
              </a:rPr>
              <a:t>Useful Resources</a:t>
            </a:r>
            <a:endParaRPr lang="en-ZA" sz="2400" b="1" dirty="0">
              <a:solidFill>
                <a:srgbClr val="000000"/>
              </a:solidFill>
            </a:endParaRPr>
          </a:p>
          <a:p>
            <a:pPr algn="l">
              <a:lnSpc>
                <a:spcPct val="107000"/>
              </a:lnSpc>
              <a:spcAft>
                <a:spcPts val="800"/>
              </a:spcAft>
              <a:buSzPts val="1000"/>
              <a:tabLst>
                <a:tab pos="457200" algn="l"/>
              </a:tabLst>
            </a:pPr>
            <a:r>
              <a:rPr lang="en-ZA" sz="2400" b="1" dirty="0">
                <a:solidFill>
                  <a:srgbClr val="000000"/>
                </a:solidFill>
              </a:rPr>
              <a:t>Prescribed Book:</a:t>
            </a:r>
          </a:p>
          <a:p>
            <a:pPr algn="l">
              <a:lnSpc>
                <a:spcPct val="107000"/>
              </a:lnSpc>
              <a:spcAft>
                <a:spcPts val="800"/>
              </a:spcAft>
              <a:buSzPts val="1000"/>
              <a:tabLst>
                <a:tab pos="457200" algn="l"/>
              </a:tabLst>
            </a:pPr>
            <a:r>
              <a:rPr lang="en-US" sz="2400" dirty="0"/>
              <a:t>Savitch, W., &amp; Mock, K. (2018). </a:t>
            </a:r>
            <a:r>
              <a:rPr lang="en-US" sz="2400" i="1" dirty="0"/>
              <a:t>Problem solving with C++</a:t>
            </a:r>
            <a:r>
              <a:rPr lang="en-US" sz="2400" dirty="0"/>
              <a:t> (10th ed.). Pearson. </a:t>
            </a:r>
          </a:p>
          <a:p>
            <a:pPr algn="l">
              <a:lnSpc>
                <a:spcPct val="107000"/>
              </a:lnSpc>
              <a:spcAft>
                <a:spcPts val="800"/>
              </a:spcAft>
              <a:buSzPts val="1000"/>
              <a:tabLst>
                <a:tab pos="457200" algn="l"/>
              </a:tabLst>
            </a:pPr>
            <a:r>
              <a:rPr lang="en-US" sz="2400" b="1" dirty="0">
                <a:solidFill>
                  <a:srgbClr val="000000"/>
                </a:solidFill>
              </a:rPr>
              <a:t>Recommended Book:</a:t>
            </a:r>
          </a:p>
          <a:p>
            <a:pPr algn="l">
              <a:lnSpc>
                <a:spcPct val="107000"/>
              </a:lnSpc>
              <a:spcAft>
                <a:spcPts val="800"/>
              </a:spcAft>
              <a:buSzPts val="1000"/>
              <a:tabLst>
                <a:tab pos="457200" algn="l"/>
              </a:tabLst>
            </a:pPr>
            <a:r>
              <a:rPr lang="en-US" sz="2400" dirty="0"/>
              <a:t>Malik, D. S. (2018). </a:t>
            </a:r>
            <a:r>
              <a:rPr lang="en-US" sz="2400" i="1" dirty="0"/>
              <a:t>C++ programming: Program design including data structures</a:t>
            </a:r>
            <a:r>
              <a:rPr lang="en-US" sz="2400" dirty="0"/>
              <a:t> (8th ed.). Cengage Learning.</a:t>
            </a:r>
          </a:p>
          <a:p>
            <a:pPr algn="l">
              <a:lnSpc>
                <a:spcPct val="107000"/>
              </a:lnSpc>
              <a:spcAft>
                <a:spcPts val="800"/>
              </a:spcAft>
              <a:buSzPts val="1000"/>
              <a:tabLst>
                <a:tab pos="457200" algn="l"/>
              </a:tabLst>
            </a:pPr>
            <a:r>
              <a:rPr lang="en-ZA" sz="2400" b="1" dirty="0">
                <a:solidFill>
                  <a:srgbClr val="000000"/>
                </a:solidFill>
              </a:rPr>
              <a:t>Web Resources:</a:t>
            </a:r>
            <a:endParaRPr lang="en-ZA" sz="2400" b="1" dirty="0">
              <a:solidFill>
                <a:srgbClr val="000000"/>
              </a:solidFill>
              <a:hlinkClick r:id="rId3">
                <a:extLst>
                  <a:ext uri="{A12FA001-AC4F-418D-AE19-62706E023703}">
                    <ahyp:hlinkClr xmlns:ahyp="http://schemas.microsoft.com/office/drawing/2018/hyperlinkcolor" val="tx"/>
                  </a:ext>
                </a:extLst>
              </a:hlinkClick>
            </a:endParaRPr>
          </a:p>
          <a:p>
            <a:pPr algn="l">
              <a:lnSpc>
                <a:spcPct val="107000"/>
              </a:lnSpc>
              <a:spcAft>
                <a:spcPts val="800"/>
              </a:spcAft>
              <a:buSzPts val="1000"/>
              <a:tabLst>
                <a:tab pos="457200" algn="l"/>
              </a:tabLst>
            </a:pPr>
            <a:r>
              <a:rPr lang="en-ZA" sz="2400" u="sng" dirty="0">
                <a:solidFill>
                  <a:srgbClr val="0563C1"/>
                </a:solidFill>
                <a:latin typeface="Calibri" panose="020F0502020204030204" pitchFamily="34" charset="0"/>
                <a:ea typeface="Calibri" panose="020F0502020204030204" pitchFamily="34" charset="0"/>
                <a:cs typeface="Arial" panose="020B0604020202020204" pitchFamily="34" charset="0"/>
                <a:hlinkClick r:id="rId3"/>
              </a:rPr>
              <a:t>https://www.codecademy.com/articles/cpp-object-oriented-programming</a:t>
            </a:r>
            <a:endParaRPr lang="en-ZA" sz="2400" dirty="0">
              <a:latin typeface="Calibri" panose="020F0502020204030204" pitchFamily="34" charset="0"/>
              <a:ea typeface="Calibri" panose="020F0502020204030204" pitchFamily="34" charset="0"/>
              <a:cs typeface="Arial" panose="020B0604020202020204" pitchFamily="34" charset="0"/>
            </a:endParaRPr>
          </a:p>
          <a:p>
            <a:pPr algn="l">
              <a:lnSpc>
                <a:spcPct val="107000"/>
              </a:lnSpc>
              <a:spcAft>
                <a:spcPts val="800"/>
              </a:spcAft>
              <a:buSzPts val="1000"/>
              <a:tabLst>
                <a:tab pos="457200" algn="l"/>
              </a:tabLst>
            </a:pPr>
            <a:endParaRPr lang="en-US" sz="2400" dirty="0">
              <a:solidFill>
                <a:srgbClr val="000000"/>
              </a:solidFill>
              <a:cs typeface="Arial" panose="020B0604020202020204" pitchFamily="34" charset="0"/>
            </a:endParaRPr>
          </a:p>
          <a:p>
            <a:pPr algn="l"/>
            <a:endParaRPr lang="en-US" dirty="0">
              <a:solidFill>
                <a:srgbClr val="000000"/>
              </a:solidFill>
              <a:latin typeface="Arial" panose="020B0604020202020204" pitchFamily="34" charset="0"/>
            </a:endParaRPr>
          </a:p>
        </p:txBody>
      </p:sp>
    </p:spTree>
    <p:extLst>
      <p:ext uri="{BB962C8B-B14F-4D97-AF65-F5344CB8AC3E}">
        <p14:creationId xmlns:p14="http://schemas.microsoft.com/office/powerpoint/2010/main" val="327655091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ca9a8b8c-3ea3-4799-a43e-5510398e7a3b}" enabled="0" method="" siteId="{ca9a8b8c-3ea3-4799-a43e-5510398e7a3b}" removed="1"/>
</clbl:labelList>
</file>

<file path=docProps/app.xml><?xml version="1.0" encoding="utf-8"?>
<Properties xmlns="http://schemas.openxmlformats.org/officeDocument/2006/extended-properties" xmlns:vt="http://schemas.openxmlformats.org/officeDocument/2006/docPropsVTypes">
  <Template>Office Theme</Template>
  <TotalTime>3524</TotalTime>
  <Words>3983</Words>
  <Application>Microsoft Office PowerPoint</Application>
  <PresentationFormat>A4 Paper (210x297 mm)</PresentationFormat>
  <Paragraphs>330</Paragraphs>
  <Slides>46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46</vt:i4>
      </vt:variant>
    </vt:vector>
  </HeadingPairs>
  <TitlesOfParts>
    <vt:vector size="53" baseType="lpstr">
      <vt:lpstr>Arial</vt:lpstr>
      <vt:lpstr>Calibri</vt:lpstr>
      <vt:lpstr>Calibri Light</vt:lpstr>
      <vt:lpstr>Courier New</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Duraan, Franciska</dc:creator>
  <cp:lastModifiedBy>Sewisha Thabo Lehong</cp:lastModifiedBy>
  <cp:revision>229</cp:revision>
  <dcterms:created xsi:type="dcterms:W3CDTF">2023-03-27T09:07:22Z</dcterms:created>
  <dcterms:modified xsi:type="dcterms:W3CDTF">2026-04-21T06:30:26Z</dcterms:modified>
</cp:coreProperties>
</file>