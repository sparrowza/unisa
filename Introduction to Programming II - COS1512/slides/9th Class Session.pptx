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6" r:id="rId3"/>
    <p:sldId id="267" r:id="rId4"/>
    <p:sldId id="402" r:id="rId5"/>
    <p:sldId id="288" r:id="rId6"/>
    <p:sldId id="404" r:id="rId7"/>
    <p:sldId id="289" r:id="rId8"/>
    <p:sldId id="403" r:id="rId9"/>
    <p:sldId id="405" r:id="rId10"/>
    <p:sldId id="406" r:id="rId11"/>
    <p:sldId id="407" r:id="rId12"/>
    <p:sldId id="408" r:id="rId13"/>
    <p:sldId id="409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20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136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42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206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296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33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850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651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890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218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79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523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8951E-0A73-476C-B990-BA3D65A812C5}" type="datetimeFigureOut">
              <a:rPr lang="en-ZA" smtClean="0"/>
              <a:t>2026/06/11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1DDEB-C667-44B1-BE9C-E4923D28CA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8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E509FF9-BDD9-A1BF-5237-538EDDB6B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BA4A3A-9CBD-44CA-33BC-CBAF4E859677}"/>
              </a:ext>
            </a:extLst>
          </p:cNvPr>
          <p:cNvSpPr txBox="1"/>
          <p:nvPr/>
        </p:nvSpPr>
        <p:spPr>
          <a:xfrm>
            <a:off x="0" y="65927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COS1512 – Online Class Session – 04 JUNE 2026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44F4B-5D92-BFC5-653C-CD4E349F6C3A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COS1512 – INTRODUCTION TO PROGRAMMING II – Using C++</a:t>
            </a:r>
            <a:endParaRPr lang="en-Z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CD2F3-FE1E-ECCE-5428-E1525056D51E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 dirty="0"/>
              <a:t>Academic Year: 2026</a:t>
            </a:r>
          </a:p>
          <a:p>
            <a:r>
              <a:rPr lang="en-US" sz="2400" b="1" i="1" dirty="0"/>
              <a:t>Date: 11 JUNE 2026</a:t>
            </a:r>
          </a:p>
          <a:p>
            <a:r>
              <a:rPr lang="en-US" sz="2400" b="1" i="1" dirty="0"/>
              <a:t>Time: 17:00 PM to 19:00 PM</a:t>
            </a:r>
            <a:endParaRPr lang="en-ZA" sz="2400" b="1" i="1" dirty="0"/>
          </a:p>
        </p:txBody>
      </p:sp>
    </p:spTree>
    <p:extLst>
      <p:ext uri="{BB962C8B-B14F-4D97-AF65-F5344CB8AC3E}">
        <p14:creationId xmlns:p14="http://schemas.microsoft.com/office/powerpoint/2010/main" val="49659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1252-968A-A97A-6796-E8553F19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BF1D3AB-2F2A-1FCB-96ED-9EF33DE56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65927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2EFCF2-CB78-E497-F9BE-A5AC45242B2A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19299-7E0C-EB3F-6C39-08CDCDA7A501}"/>
              </a:ext>
            </a:extLst>
          </p:cNvPr>
          <p:cNvSpPr txBox="1">
            <a:spLocks/>
          </p:cNvSpPr>
          <p:nvPr/>
        </p:nvSpPr>
        <p:spPr>
          <a:xfrm>
            <a:off x="467916" y="2469624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Chapter 7</a:t>
            </a:r>
            <a:endParaRPr lang="en-US" sz="4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602D-94A4-AD8F-019E-D2D062AF4298}"/>
              </a:ext>
            </a:extLst>
          </p:cNvPr>
          <p:cNvSpPr txBox="1">
            <a:spLocks/>
          </p:cNvSpPr>
          <p:nvPr/>
        </p:nvSpPr>
        <p:spPr>
          <a:xfrm>
            <a:off x="467916" y="5789289"/>
            <a:ext cx="5915025" cy="8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b="1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83F84A-C93A-7FC6-3E47-AA5B244F21FC}"/>
              </a:ext>
            </a:extLst>
          </p:cNvPr>
          <p:cNvSpPr txBox="1">
            <a:spLocks/>
          </p:cNvSpPr>
          <p:nvPr/>
        </p:nvSpPr>
        <p:spPr>
          <a:xfrm>
            <a:off x="435211" y="5789289"/>
            <a:ext cx="5915025" cy="2483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59132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BD26-80FA-7F66-3987-963EB7F2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C44998F-9DCE-2AE0-4144-F073D5F73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4FF0-8370-A7DC-3EEE-615C5BB6B37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D28D54-B58B-08EC-2E1B-772D6B1BFB63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ZA" sz="2800" b="1" dirty="0"/>
              <a:t>Introduction to Arrays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Declaring Arrays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dirty="0"/>
              <a:t>Referencing Arrays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1642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81680-B10D-B2BC-6C54-4EE6E6003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DFB8D5B-3AC6-F1C3-8D73-E6E8ED34A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1BD468-3F06-3772-F186-CC5CF7E6C13A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Introduction to Arrays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E4949E-1C85-80CD-B43D-F8CD2CAF39F6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/>
              <a:t>An </a:t>
            </a:r>
            <a:r>
              <a:rPr lang="en-US" sz="2400" b="1" dirty="0"/>
              <a:t>array </a:t>
            </a:r>
            <a:r>
              <a:rPr lang="en-US" sz="2400" dirty="0"/>
              <a:t>is a collection of a fixed number of components (also called elements) all of the same data type and in contiguous (that is, adjacent) memory space. 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 </a:t>
            </a:r>
            <a:r>
              <a:rPr lang="en-US" sz="2400" b="1" dirty="0"/>
              <a:t>one-dimensional array </a:t>
            </a:r>
            <a:r>
              <a:rPr lang="en-US" sz="2400" dirty="0"/>
              <a:t>is an array in which the components are arranged in a list form.</a:t>
            </a:r>
          </a:p>
          <a:p>
            <a:pPr algn="l"/>
            <a:endParaRPr 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243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DEC-6475-F371-90FD-8ECC7EA9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1E6F2AB-E172-71BC-6796-C2E719144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7B7B2E-3896-CF35-E344-CCB458487BC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Declaring an Array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98307D-9C35-F207-842D-218A4A840CFB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400" b="1" dirty="0" err="1"/>
              <a:t>dataType</a:t>
            </a:r>
            <a:r>
              <a:rPr lang="en-ZA" sz="2400" b="1" dirty="0"/>
              <a:t> </a:t>
            </a:r>
            <a:r>
              <a:rPr lang="en-ZA" sz="2400" b="1" dirty="0" err="1"/>
              <a:t>arrayName</a:t>
            </a:r>
            <a:r>
              <a:rPr lang="en-ZA" sz="2400" b="1" dirty="0"/>
              <a:t>[</a:t>
            </a:r>
            <a:r>
              <a:rPr lang="en-ZA" sz="2400" b="1" dirty="0" err="1"/>
              <a:t>intExp</a:t>
            </a:r>
            <a:r>
              <a:rPr lang="en-ZA" sz="2400" b="1" dirty="0"/>
              <a:t>];</a:t>
            </a:r>
          </a:p>
          <a:p>
            <a:pPr algn="l"/>
            <a:endParaRPr lang="en-ZA" sz="2400" dirty="0"/>
          </a:p>
          <a:p>
            <a:pPr algn="l"/>
            <a:r>
              <a:rPr lang="en-ZA" sz="2400" dirty="0"/>
              <a:t>The statement:</a:t>
            </a:r>
          </a:p>
          <a:p>
            <a:pPr algn="l"/>
            <a:r>
              <a:rPr lang="en-ZA" sz="2400" b="1" dirty="0"/>
              <a:t>int </a:t>
            </a:r>
            <a:r>
              <a:rPr lang="en-ZA" sz="2400" b="1" dirty="0" err="1"/>
              <a:t>num</a:t>
            </a:r>
            <a:r>
              <a:rPr lang="en-ZA" sz="2400" b="1" dirty="0"/>
              <a:t>[5];</a:t>
            </a:r>
          </a:p>
          <a:p>
            <a:pPr algn="l"/>
            <a:endParaRPr lang="en-ZA" sz="2400" b="1" dirty="0"/>
          </a:p>
          <a:p>
            <a:pPr algn="l"/>
            <a:r>
              <a:rPr lang="en-US" sz="2400" dirty="0"/>
              <a:t>declares an array </a:t>
            </a:r>
            <a:r>
              <a:rPr lang="en-US" sz="2400" b="1" dirty="0"/>
              <a:t>num </a:t>
            </a:r>
            <a:r>
              <a:rPr lang="en-US" sz="2400" dirty="0"/>
              <a:t>of five components. Each component is of type </a:t>
            </a:r>
            <a:r>
              <a:rPr lang="en-US" sz="2400" b="1" dirty="0"/>
              <a:t>int</a:t>
            </a:r>
            <a:r>
              <a:rPr lang="en-US" sz="2400" dirty="0"/>
              <a:t>. The </a:t>
            </a:r>
            <a:r>
              <a:rPr lang="pt-BR" sz="2400" dirty="0"/>
              <a:t>component names are </a:t>
            </a:r>
            <a:r>
              <a:rPr lang="pt-BR" sz="2400" b="1" dirty="0"/>
              <a:t>num[0]</a:t>
            </a:r>
            <a:r>
              <a:rPr lang="pt-BR" sz="2400" dirty="0"/>
              <a:t>, </a:t>
            </a:r>
            <a:r>
              <a:rPr lang="pt-BR" sz="2400" b="1" dirty="0"/>
              <a:t>num[1]</a:t>
            </a:r>
            <a:r>
              <a:rPr lang="pt-BR" sz="2400" dirty="0"/>
              <a:t>, </a:t>
            </a:r>
            <a:r>
              <a:rPr lang="pt-BR" sz="2400" b="1" dirty="0"/>
              <a:t>num[2]</a:t>
            </a:r>
            <a:r>
              <a:rPr lang="pt-BR" sz="2400" dirty="0"/>
              <a:t>, </a:t>
            </a:r>
            <a:r>
              <a:rPr lang="pt-BR" sz="2400" b="1" dirty="0"/>
              <a:t>num[3]</a:t>
            </a:r>
            <a:r>
              <a:rPr lang="pt-BR" sz="2400" dirty="0"/>
              <a:t>, and </a:t>
            </a:r>
            <a:r>
              <a:rPr lang="pt-BR" sz="2400" b="1" dirty="0"/>
              <a:t>num[4]</a:t>
            </a:r>
            <a:r>
              <a:rPr lang="pt-BR" sz="2400" dirty="0"/>
              <a:t>.</a:t>
            </a:r>
            <a:endParaRPr lang="en-ZA" altLang="en-US" sz="2400" b="1" dirty="0"/>
          </a:p>
          <a:p>
            <a:pPr algn="l"/>
            <a:endParaRPr lang="en-ZA" altLang="en-US" sz="2400" b="1" dirty="0"/>
          </a:p>
          <a:p>
            <a:pPr algn="l"/>
            <a:endParaRPr lang="en-US" altLang="en-US" sz="2400" b="1" dirty="0"/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6CB83-0810-357C-4431-8CB8C509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23" y="6369194"/>
            <a:ext cx="4247147" cy="269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2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9625-B98C-8509-7151-6FD7DDE0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146D3E8-EAFC-2F68-E1E5-1985ECA9A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414817-95E8-0B62-8C81-DFAD4249E6B6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Declaring an Array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94B3DE7-9C05-5FA9-E9F8-316CD6D9C541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ZA" altLang="en-US" sz="2400" b="1" dirty="0"/>
          </a:p>
          <a:p>
            <a:pPr algn="l"/>
            <a:endParaRPr lang="en-US" altLang="en-US" sz="2400" b="1" dirty="0"/>
          </a:p>
          <a:p>
            <a:pPr algn="l"/>
            <a:endParaRPr lang="en-US" altLang="en-US" sz="24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932C9-F817-F146-E79C-40EA0564D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2418347"/>
            <a:ext cx="5915025" cy="395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3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19629-B7F5-CEFA-2821-D2DFCEF3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BA33300-F636-C976-433F-07FB7F326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3F2489-ECE6-0130-694D-F7FFF7509B0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Referencing an Array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D17718-F0F3-510B-1E6A-DF293DC6D8B7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F34706-9DA0-BB85-64AF-89AA4472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2057400"/>
            <a:ext cx="5915025" cy="48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27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F0B2-8F99-38ED-CD31-25CBC7E3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61E73395-F9C7-240F-28C6-0B9064A45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62F3F7-B525-A40C-61F8-F609BD32ED6B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/>
              <a:t>Accessing Array Components</a:t>
            </a:r>
            <a:endParaRPr lang="en-US" sz="36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579949E-E4A7-FB07-384E-A0A89A7AEE9D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2400" dirty="0"/>
              <a:t>The assignment statement:</a:t>
            </a:r>
          </a:p>
          <a:p>
            <a:pPr algn="l"/>
            <a:endParaRPr lang="en-ZA" sz="2400" dirty="0"/>
          </a:p>
          <a:p>
            <a:pPr algn="l"/>
            <a:r>
              <a:rPr lang="en-ZA" sz="2400" b="1" dirty="0"/>
              <a:t>list[5] = 34;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stores </a:t>
            </a:r>
            <a:r>
              <a:rPr lang="en-US" sz="2400" b="1" dirty="0"/>
              <a:t>34 </a:t>
            </a:r>
            <a:r>
              <a:rPr lang="en-US" sz="2400" dirty="0"/>
              <a:t>in </a:t>
            </a:r>
            <a:r>
              <a:rPr lang="en-US" sz="2400" b="1" dirty="0"/>
              <a:t>list[5]</a:t>
            </a:r>
            <a:r>
              <a:rPr lang="en-US" sz="2400" dirty="0"/>
              <a:t>, which is the </a:t>
            </a:r>
            <a:r>
              <a:rPr lang="en-US" sz="2400" i="1" dirty="0"/>
              <a:t>sixth </a:t>
            </a:r>
            <a:r>
              <a:rPr lang="en-US" sz="2400" dirty="0"/>
              <a:t>component of the array </a:t>
            </a:r>
            <a:r>
              <a:rPr lang="en-US" sz="2400" b="1" dirty="0"/>
              <a:t>list.</a:t>
            </a:r>
          </a:p>
          <a:p>
            <a:pPr algn="l"/>
            <a:endParaRPr lang="en-US" sz="2400" b="1" dirty="0"/>
          </a:p>
          <a:p>
            <a:pPr algn="l"/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52D1A-1B08-BED4-A684-21B69B911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89" y="5484871"/>
            <a:ext cx="5915026" cy="190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3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B5DF-0323-8DF4-CA20-0E14CC28D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E5A7CCA6-2C11-19CC-E371-F8A8CB0BE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D94348-6E83-B72D-4ACA-6D9C70FCB8A9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Referencing an array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5BBF53-131D-C3FE-5AEA-C24EC048D632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/>
              <a:t>The position number in square brackets is called the element’s </a:t>
            </a:r>
            <a:r>
              <a:rPr lang="en-US" sz="2400" b="1" dirty="0"/>
              <a:t>index </a:t>
            </a:r>
            <a:r>
              <a:rPr lang="en-US" sz="2400" dirty="0"/>
              <a:t>or </a:t>
            </a:r>
            <a:r>
              <a:rPr lang="en-US" sz="2400" b="1" dirty="0"/>
              <a:t>subscript</a:t>
            </a:r>
            <a:r>
              <a:rPr lang="en-US" sz="2400" dirty="0"/>
              <a:t>. An index must be an integer or an integer expression. For example, the statement</a:t>
            </a:r>
          </a:p>
          <a:p>
            <a:pPr algn="l"/>
            <a:endParaRPr lang="en-US" sz="2400" dirty="0"/>
          </a:p>
          <a:p>
            <a:pPr algn="l"/>
            <a:r>
              <a:rPr lang="en-ZA" sz="2400" dirty="0"/>
              <a:t>	c[</a:t>
            </a:r>
            <a:r>
              <a:rPr lang="en-ZA" sz="2400" b="1" dirty="0"/>
              <a:t>2</a:t>
            </a:r>
            <a:r>
              <a:rPr lang="en-ZA" sz="2400" dirty="0"/>
              <a:t>] = </a:t>
            </a:r>
            <a:r>
              <a:rPr lang="en-ZA" sz="2400" b="1" dirty="0"/>
              <a:t>1000</a:t>
            </a:r>
            <a:r>
              <a:rPr lang="en-ZA" sz="2400" dirty="0"/>
              <a:t>;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assigns 1000 to array element c[2]. Similarly, if a = 5 and b = 6, then the statement</a:t>
            </a:r>
          </a:p>
          <a:p>
            <a:pPr algn="l"/>
            <a:endParaRPr lang="en-US" sz="2400" dirty="0"/>
          </a:p>
          <a:p>
            <a:pPr algn="l"/>
            <a:r>
              <a:rPr lang="en-ZA" sz="2400" dirty="0"/>
              <a:t>	c[a + b] += </a:t>
            </a:r>
            <a:r>
              <a:rPr lang="en-ZA" sz="2400" b="1" dirty="0"/>
              <a:t>2</a:t>
            </a:r>
            <a:r>
              <a:rPr lang="en-ZA" sz="2400" dirty="0"/>
              <a:t>;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adds 2 to array element c[11]. An indexed array name is an </a:t>
            </a:r>
            <a:r>
              <a:rPr lang="en-US" sz="2400" i="1" dirty="0" err="1"/>
              <a:t>lvalue</a:t>
            </a:r>
            <a:r>
              <a:rPr lang="en-US" sz="2400" dirty="0"/>
              <a:t>—it can be used on the</a:t>
            </a:r>
          </a:p>
          <a:p>
            <a:pPr algn="l"/>
            <a:r>
              <a:rPr lang="en-US" sz="2400" dirty="0"/>
              <a:t>left side of an assignment.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28428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198B-20AF-3B51-936A-8201BFC9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6EDEF5E-2528-8079-7E8A-18596B15D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DB691F-9DA4-DFF4-FBA0-08416CD9E1BA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/>
              <a:t>Two-and Multidimensional Arrays</a:t>
            </a:r>
            <a:endParaRPr lang="en-US" sz="44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782A5F-39F8-3832-17D5-D25C87B4E878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E2B4EB-5663-8302-751C-14414B3F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89" y="4343368"/>
            <a:ext cx="5739064" cy="316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5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260C-1857-F3DA-B8FA-35DE3A0A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62B71BA-9212-27C4-013F-5357AD062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BD4C2F-D240-F0AA-C4C8-03FD4FFED3D8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/>
              <a:t>Two-and Multidimensional Arrays</a:t>
            </a:r>
            <a:endParaRPr lang="en-US" sz="44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42F63C-5343-0328-9233-5A355C0F7A95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D6880-32FA-D58C-13C4-6D59BED3F899}"/>
              </a:ext>
            </a:extLst>
          </p:cNvPr>
          <p:cNvSpPr txBox="1"/>
          <p:nvPr/>
        </p:nvSpPr>
        <p:spPr>
          <a:xfrm>
            <a:off x="471487" y="2871083"/>
            <a:ext cx="59150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i="0" u="none" strike="noStrike" baseline="0" dirty="0" err="1">
                <a:solidFill>
                  <a:srgbClr val="211808"/>
                </a:solidFill>
                <a:latin typeface="CourierStd-Bold"/>
              </a:rPr>
              <a:t>dataType</a:t>
            </a:r>
            <a:r>
              <a:rPr lang="en-ZA" sz="2400" b="1" i="0" u="none" strike="noStrike" baseline="0" dirty="0">
                <a:solidFill>
                  <a:srgbClr val="211808"/>
                </a:solidFill>
                <a:latin typeface="CourierStd-Bold"/>
              </a:rPr>
              <a:t> </a:t>
            </a:r>
            <a:r>
              <a:rPr lang="en-ZA" sz="2400" b="1" i="0" u="none" strike="noStrike" baseline="0" dirty="0" err="1">
                <a:solidFill>
                  <a:srgbClr val="211808"/>
                </a:solidFill>
                <a:latin typeface="CourierStd-Bold"/>
              </a:rPr>
              <a:t>arrayName</a:t>
            </a:r>
            <a:r>
              <a:rPr lang="en-ZA" sz="2400" b="1" i="0" u="none" strike="noStrike" baseline="0" dirty="0">
                <a:solidFill>
                  <a:srgbClr val="211808"/>
                </a:solidFill>
                <a:latin typeface="CourierStd-Bold"/>
              </a:rPr>
              <a:t>[intExp1][intExp2];</a:t>
            </a:r>
          </a:p>
          <a:p>
            <a:endParaRPr lang="en-ZA" sz="2400" b="1" dirty="0">
              <a:solidFill>
                <a:srgbClr val="211808"/>
              </a:solidFill>
              <a:latin typeface="CourierStd-Bold"/>
            </a:endParaRPr>
          </a:p>
          <a:p>
            <a:r>
              <a:rPr lang="en-ZA" sz="2400" b="1" dirty="0"/>
              <a:t>double sales[10][5];</a:t>
            </a:r>
            <a:endParaRPr lang="en-ZA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C4DF34-F01E-5326-7007-977DEBD6F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4732668"/>
            <a:ext cx="5351796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DEB2E-D8B4-AF2F-D6BB-338F2D7B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5856C1F2-75BD-D6BA-0308-BDD82E538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51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915F9C-663B-9299-287C-A173FE2E6269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/>
              <a:t>Two-and Multidimensional Arrays</a:t>
            </a:r>
            <a:endParaRPr lang="en-US" sz="44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F8ACB97-F1BD-AB3C-B344-5D706E43BBF0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A4288-64E7-407F-4015-118A4DD73A27}"/>
              </a:ext>
            </a:extLst>
          </p:cNvPr>
          <p:cNvSpPr txBox="1"/>
          <p:nvPr/>
        </p:nvSpPr>
        <p:spPr>
          <a:xfrm>
            <a:off x="471487" y="2871083"/>
            <a:ext cx="59150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dirty="0"/>
              <a:t>Suppose that:</a:t>
            </a:r>
          </a:p>
          <a:p>
            <a:r>
              <a:rPr lang="en-ZA" sz="2400" b="1" dirty="0"/>
              <a:t>int </a:t>
            </a:r>
            <a:r>
              <a:rPr lang="en-ZA" sz="2400" b="1" dirty="0" err="1"/>
              <a:t>i</a:t>
            </a:r>
            <a:r>
              <a:rPr lang="en-ZA" sz="2400" b="1" dirty="0"/>
              <a:t> = 5;</a:t>
            </a:r>
          </a:p>
          <a:p>
            <a:r>
              <a:rPr lang="en-ZA" sz="2400" b="1" dirty="0"/>
              <a:t>int j = 3;</a:t>
            </a:r>
          </a:p>
          <a:p>
            <a:endParaRPr lang="en-ZA" sz="2400" dirty="0"/>
          </a:p>
          <a:p>
            <a:r>
              <a:rPr lang="en-ZA" sz="2400" dirty="0"/>
              <a:t>Then, the previous statement:</a:t>
            </a:r>
          </a:p>
          <a:p>
            <a:endParaRPr lang="en-ZA" sz="2400" dirty="0"/>
          </a:p>
          <a:p>
            <a:r>
              <a:rPr lang="en-ZA" sz="2400" b="1" dirty="0"/>
              <a:t>sales[5][3] = 25.75;</a:t>
            </a:r>
          </a:p>
          <a:p>
            <a:r>
              <a:rPr lang="en-ZA" sz="2400" dirty="0"/>
              <a:t>is equivalent to:</a:t>
            </a:r>
          </a:p>
          <a:p>
            <a:r>
              <a:rPr lang="en-ZA" sz="2400" b="1" dirty="0"/>
              <a:t>sales[</a:t>
            </a:r>
            <a:r>
              <a:rPr lang="en-ZA" sz="2400" b="1" dirty="0" err="1"/>
              <a:t>i</a:t>
            </a:r>
            <a:r>
              <a:rPr lang="en-ZA" sz="2400" b="1" dirty="0"/>
              <a:t>][j] = 25.75;</a:t>
            </a:r>
          </a:p>
          <a:p>
            <a:endParaRPr lang="en-ZA" sz="2400" b="1" dirty="0"/>
          </a:p>
          <a:p>
            <a:r>
              <a:rPr lang="en-US" sz="2400" dirty="0"/>
              <a:t>So, the indices can also be variables</a:t>
            </a:r>
            <a:r>
              <a:rPr lang="en-US" dirty="0"/>
              <a:t>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63280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0655-B153-67F6-36F2-693895784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B85E092-F8BA-5F8F-366C-B04EB4580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0"/>
            <a:ext cx="6930551" cy="1005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1FEF48-EFCD-6A51-3D24-7D8444BF6FC5}"/>
              </a:ext>
            </a:extLst>
          </p:cNvPr>
          <p:cNvSpPr txBox="1"/>
          <p:nvPr/>
        </p:nvSpPr>
        <p:spPr>
          <a:xfrm>
            <a:off x="0" y="6592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/>
              <a:t>Two-and Multidimensional Arrays</a:t>
            </a:r>
            <a:endParaRPr lang="en-US" sz="44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A9DD422-F26B-18AC-7BC5-2777E75C63F3}"/>
              </a:ext>
            </a:extLst>
          </p:cNvPr>
          <p:cNvSpPr txBox="1">
            <a:spLocks/>
          </p:cNvSpPr>
          <p:nvPr/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62F79-DDB4-16DE-1657-66995D805E9D}"/>
              </a:ext>
            </a:extLst>
          </p:cNvPr>
          <p:cNvSpPr txBox="1"/>
          <p:nvPr/>
        </p:nvSpPr>
        <p:spPr>
          <a:xfrm>
            <a:off x="471487" y="1740115"/>
            <a:ext cx="59150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dirty="0"/>
              <a:t>Suppose that:</a:t>
            </a:r>
          </a:p>
          <a:p>
            <a:r>
              <a:rPr lang="en-ZA" sz="2400" b="1" dirty="0"/>
              <a:t>int </a:t>
            </a:r>
            <a:r>
              <a:rPr lang="en-ZA" sz="2400" b="1" dirty="0" err="1"/>
              <a:t>i</a:t>
            </a:r>
            <a:r>
              <a:rPr lang="en-ZA" sz="2400" b="1" dirty="0"/>
              <a:t> = 5;</a:t>
            </a:r>
          </a:p>
          <a:p>
            <a:r>
              <a:rPr lang="en-ZA" sz="2400" b="1" dirty="0"/>
              <a:t>int j = 3;</a:t>
            </a:r>
          </a:p>
          <a:p>
            <a:endParaRPr lang="en-ZA" sz="2400" dirty="0"/>
          </a:p>
          <a:p>
            <a:r>
              <a:rPr lang="en-ZA" sz="2400" dirty="0"/>
              <a:t>Then, the previous statement:</a:t>
            </a:r>
          </a:p>
          <a:p>
            <a:endParaRPr lang="en-ZA" sz="2400" dirty="0"/>
          </a:p>
          <a:p>
            <a:r>
              <a:rPr lang="en-ZA" sz="2400" b="1" dirty="0"/>
              <a:t>sales[5][3] = 25.75;</a:t>
            </a:r>
          </a:p>
          <a:p>
            <a:r>
              <a:rPr lang="en-ZA" sz="2400" dirty="0"/>
              <a:t>is equivalent to:</a:t>
            </a:r>
          </a:p>
          <a:p>
            <a:r>
              <a:rPr lang="en-ZA" sz="2400" b="1" dirty="0"/>
              <a:t>sales[</a:t>
            </a:r>
            <a:r>
              <a:rPr lang="en-ZA" sz="2400" b="1" dirty="0" err="1"/>
              <a:t>i</a:t>
            </a:r>
            <a:r>
              <a:rPr lang="en-ZA" sz="2400" b="1" dirty="0"/>
              <a:t>][j] = 25.75;</a:t>
            </a:r>
          </a:p>
          <a:p>
            <a:endParaRPr lang="en-ZA" sz="2400" b="1" dirty="0"/>
          </a:p>
          <a:p>
            <a:r>
              <a:rPr lang="en-US" sz="2400" dirty="0"/>
              <a:t>So, the indices can also be variables</a:t>
            </a:r>
            <a:r>
              <a:rPr lang="en-US" dirty="0"/>
              <a:t>.</a:t>
            </a:r>
            <a:endParaRPr lang="en-ZA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B78C9-44E5-B9E6-F7BD-041B57A16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797" y="6441834"/>
            <a:ext cx="2540131" cy="137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04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a9a8b8c-3ea3-4799-a43e-5510398e7a3b}" enabled="0" method="" siteId="{ca9a8b8c-3ea3-4799-a43e-5510398e7a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5315</TotalTime>
  <Words>423</Words>
  <Application>Microsoft Office PowerPoint</Application>
  <PresentationFormat>A4 Paper (210x297 mm)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CourierStd-Bold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Duraan, Franciska</dc:creator>
  <cp:lastModifiedBy>Sewisha Thabo Lehong</cp:lastModifiedBy>
  <cp:revision>525</cp:revision>
  <dcterms:created xsi:type="dcterms:W3CDTF">2023-03-27T09:07:22Z</dcterms:created>
  <dcterms:modified xsi:type="dcterms:W3CDTF">2026-06-11T15:03:36Z</dcterms:modified>
</cp:coreProperties>
</file>