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2" r:id="rId5"/>
  </p:sldMasterIdLst>
  <p:notesMasterIdLst>
    <p:notesMasterId r:id="rId47"/>
  </p:notesMasterIdLst>
  <p:handoutMasterIdLst>
    <p:handoutMasterId r:id="rId48"/>
  </p:handoutMasterIdLst>
  <p:sldIdLst>
    <p:sldId id="256" r:id="rId6"/>
    <p:sldId id="370" r:id="rId7"/>
    <p:sldId id="371" r:id="rId8"/>
    <p:sldId id="372" r:id="rId9"/>
    <p:sldId id="373" r:id="rId10"/>
    <p:sldId id="376" r:id="rId11"/>
    <p:sldId id="374" r:id="rId12"/>
    <p:sldId id="377" r:id="rId13"/>
    <p:sldId id="378" r:id="rId14"/>
    <p:sldId id="379" r:id="rId15"/>
    <p:sldId id="380" r:id="rId16"/>
    <p:sldId id="381" r:id="rId17"/>
    <p:sldId id="382" r:id="rId18"/>
    <p:sldId id="383" r:id="rId19"/>
    <p:sldId id="385" r:id="rId20"/>
    <p:sldId id="386" r:id="rId21"/>
    <p:sldId id="387" r:id="rId22"/>
    <p:sldId id="388" r:id="rId23"/>
    <p:sldId id="389" r:id="rId24"/>
    <p:sldId id="390" r:id="rId25"/>
    <p:sldId id="391" r:id="rId26"/>
    <p:sldId id="392" r:id="rId27"/>
    <p:sldId id="393" r:id="rId28"/>
    <p:sldId id="394" r:id="rId29"/>
    <p:sldId id="395" r:id="rId30"/>
    <p:sldId id="396" r:id="rId31"/>
    <p:sldId id="397" r:id="rId32"/>
    <p:sldId id="398" r:id="rId33"/>
    <p:sldId id="399" r:id="rId34"/>
    <p:sldId id="400" r:id="rId35"/>
    <p:sldId id="401" r:id="rId36"/>
    <p:sldId id="403" r:id="rId37"/>
    <p:sldId id="404" r:id="rId38"/>
    <p:sldId id="405" r:id="rId39"/>
    <p:sldId id="406" r:id="rId40"/>
    <p:sldId id="407" r:id="rId41"/>
    <p:sldId id="408" r:id="rId42"/>
    <p:sldId id="409" r:id="rId43"/>
    <p:sldId id="410" r:id="rId44"/>
    <p:sldId id="411" r:id="rId45"/>
    <p:sldId id="412" r:id="rId46"/>
  </p:sldIdLst>
  <p:sldSz cx="9906000" cy="6858000" type="A4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B730C5-D359-45F4-B97B-9DDBDD487917}" v="83" dt="2026-04-13T10:51:29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86644" autoAdjust="0"/>
  </p:normalViewPr>
  <p:slideViewPr>
    <p:cSldViewPr snapToGrid="0" snapToObjects="1">
      <p:cViewPr varScale="1">
        <p:scale>
          <a:sx n="83" d="100"/>
          <a:sy n="83" d="100"/>
        </p:scale>
        <p:origin x="1166" y="58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6B677A-35BA-4DF6-33E0-30F1C35A13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EFB92-FC48-1741-E63F-85E9A4A993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0DAD980-4165-4E34-A807-E3B567C1A6B9}" type="datetimeFigureOut">
              <a:rPr lang="en-US"/>
              <a:pPr>
                <a:defRPr/>
              </a:pPr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00834B-4FA5-B657-41E5-89CD5347CD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2D6B4-9293-B57D-38A9-C5D3769AD2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B7869EC-07A9-4AB5-8921-E14612003B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74D46A-B152-1446-A2F0-CB2C2C871E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73CE95-116F-02CA-2CDC-3D2B0BEFD84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50700F5-C149-4548-95D0-03AA1097E402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D41312F-2154-558E-CCEE-92783579BD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EEF57D6-A6D0-AE21-AED6-BD477BCFB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E17A1-BBB4-7DF6-1A8E-77FF0C221C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A2F8A-72B3-5867-AEA4-082AC0A02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2B44D0A-4CFB-4D87-BF1C-6EEF5F52E2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4745451C-393E-BC21-87A9-4CB8A6AFD4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F51054C5-3A4C-94A1-87F7-E73CCDB5A6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55F09D87-C700-58C8-F377-732C23E94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A26DAD5-A01B-44AB-9C4C-14AA87D65C14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DA74110B-D8A1-7C11-0357-8CAF971C3C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BB9206D8-2809-C529-F803-02DFE7DB08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18DBA359-190B-02F1-8E7D-B7BB129670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95FA33C-FF8B-407A-BDB2-846DA7E46F09}" type="slidenum">
              <a:rPr lang="en-US" altLang="en-US" smtClean="0">
                <a:latin typeface="Calibri" panose="020F0502020204030204" pitchFamily="34" charset="0"/>
              </a:rPr>
              <a:pPr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466A8-594F-47D5-59DB-481E2F3F4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2E78B87E-AC39-F876-0EEB-A530677AA8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E2184AFE-35C9-7EDB-9AB5-DFFC34DCB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84DAC4EB-E615-D4EA-2FB5-313646C5AD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95FA33C-FF8B-407A-BDB2-846DA7E46F09}" type="slidenum">
              <a:rPr lang="en-US" altLang="en-US" smtClean="0">
                <a:latin typeface="Calibri" panose="020F0502020204030204" pitchFamily="34" charset="0"/>
              </a:rPr>
              <a:pPr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748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4E5C6-8CF3-ADFD-FFE0-B794061F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1BAF3585-E3A5-4132-2BA3-D8EAB84B15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E95A724A-E976-7D90-4744-98748EFB0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D74EFE8C-60A5-0893-9D68-1E067E183C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95FA33C-FF8B-407A-BDB2-846DA7E46F09}" type="slidenum">
              <a:rPr lang="en-US" altLang="en-US" smtClean="0">
                <a:latin typeface="Calibri" panose="020F0502020204030204" pitchFamily="34" charset="0"/>
              </a:rPr>
              <a:pPr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875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E135D-44B1-A47E-12A7-D75A95DDB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DD12A71A-F9F6-3AB8-6B9C-2312845395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31F25780-EEA3-A8E5-066B-827A24523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519D5385-9281-1DA5-3C96-23CC18F817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95FA33C-FF8B-407A-BDB2-846DA7E46F09}" type="slidenum">
              <a:rPr lang="en-US" altLang="en-US" smtClean="0">
                <a:latin typeface="Calibri" panose="020F0502020204030204" pitchFamily="34" charset="0"/>
              </a:rPr>
              <a:pPr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936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0D397-75F3-4B37-68B2-DA036BA6C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11C01AA1-4287-7D2B-9368-AA489CFC69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FF046E29-507F-ED5B-7225-D07C4D5F28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2A2F1296-0F5D-7E69-D21B-E1235B6B03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95FA33C-FF8B-407A-BDB2-846DA7E46F09}" type="slidenum">
              <a:rPr lang="en-US" altLang="en-US" smtClean="0">
                <a:latin typeface="Calibri" panose="020F0502020204030204" pitchFamily="34" charset="0"/>
              </a:rPr>
              <a:pPr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73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4D540-6432-CDB8-77F4-D45CCC480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202A5713-65C9-B2A4-9BB5-AEB602CE30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D6AFFD01-FBE5-BBC2-0AE7-580F1659AE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5FF3B136-5111-90B6-79E0-BDA2B15EDF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95FA33C-FF8B-407A-BDB2-846DA7E46F09}" type="slidenum">
              <a:rPr lang="en-US" altLang="en-US" smtClean="0">
                <a:latin typeface="Calibri" panose="020F0502020204030204" pitchFamily="34" charset="0"/>
              </a:rPr>
              <a:pPr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295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2CDE-9F26-A14C-07FC-1C8A759F1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7BEA093E-0393-6665-2AC9-872411DC82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43DE032F-8623-E9F4-DCD4-56A85B7827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F28E572B-39E1-8A28-E341-0F355AB846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95FA33C-FF8B-407A-BDB2-846DA7E46F09}" type="slidenum">
              <a:rPr lang="en-US" altLang="en-US" smtClean="0">
                <a:latin typeface="Calibri" panose="020F0502020204030204" pitchFamily="34" charset="0"/>
              </a:rPr>
              <a:pPr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18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13AAD-0BDC-D183-A770-0F401CF64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08C67035-26D7-2F55-F8AC-1FD2A96087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71FA894F-38AD-2B43-262E-95D0B641B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9C11A091-8898-3CA4-D6A0-86FB1AF68D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95FA33C-FF8B-407A-BDB2-846DA7E46F09}" type="slidenum">
              <a:rPr lang="en-US" altLang="en-US" smtClean="0">
                <a:latin typeface="Calibri" panose="020F0502020204030204" pitchFamily="34" charset="0"/>
              </a:rPr>
              <a:pPr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195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0F6A-0E89-6355-268F-0D0DD6B2C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4135EE9F-64D6-8B6E-AF2F-B738938868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831D3DA1-2E14-1794-6E62-9E0634DF47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316129E1-B9EC-B859-585B-8AC88F4BEA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95FA33C-FF8B-407A-BDB2-846DA7E46F09}" type="slidenum">
              <a:rPr lang="en-US" altLang="en-US" smtClean="0">
                <a:latin typeface="Calibri" panose="020F0502020204030204" pitchFamily="34" charset="0"/>
              </a:rPr>
              <a:pPr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4324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64601-DF85-3812-E5EA-143A52296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129A89B6-718F-205A-2561-1279BD79E2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CA96D247-A570-6682-A7A3-AF446AB57E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25EACCE7-81FB-9AE2-03CF-B70F4B3466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95FA33C-FF8B-407A-BDB2-846DA7E46F09}" type="slidenum">
              <a:rPr lang="en-US" altLang="en-US" smtClean="0">
                <a:latin typeface="Calibri" panose="020F0502020204030204" pitchFamily="34" charset="0"/>
              </a:rPr>
              <a:pPr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298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B6427-94CD-E353-224D-EAB82C45B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C59D5006-988D-3BC3-168C-E835A4C6B9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BE851FB3-C379-F8BC-D5DF-20AF6C4AB4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378477EF-5E93-36BF-F4D5-5A089BFA98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95FA33C-FF8B-407A-BDB2-846DA7E46F09}" type="slidenum">
              <a:rPr lang="en-US" altLang="en-US" smtClean="0">
                <a:latin typeface="Calibri" panose="020F0502020204030204" pitchFamily="34" charset="0"/>
              </a:rPr>
              <a:pPr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928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88CC3-2745-95F1-62CB-98E3A784F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AB704E06-5C9E-093C-93B0-6DCA67B90F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7950DE78-38E8-CED5-6839-07FCF45492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0F4BCF0F-F32A-6534-F546-D8C54534C8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95FA33C-FF8B-407A-BDB2-846DA7E46F09}" type="slidenum">
              <a:rPr lang="en-US" altLang="en-US" smtClean="0">
                <a:latin typeface="Calibri" panose="020F0502020204030204" pitchFamily="34" charset="0"/>
              </a:rPr>
              <a:pPr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067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01AC-8ECE-518D-8943-7BA90C3AC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528B4B4E-33D4-4170-6371-A3761CAE50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BA136BEF-FA01-95F7-A41D-7AC4DED5AD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2D610F6D-EBB2-E8F8-99CE-A7BC56EF7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95FA33C-FF8B-407A-BDB2-846DA7E46F09}" type="slidenum">
              <a:rPr lang="en-US" altLang="en-US" smtClean="0">
                <a:latin typeface="Calibri" panose="020F0502020204030204" pitchFamily="34" charset="0"/>
              </a:rPr>
              <a:pPr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699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0517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488C0-2BBE-3FF3-ADEC-A4FAC2D65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27652-BD95-7EDE-DDE1-A2F4EA5DD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611B1-E2C3-19AA-FEB6-490B4E5AD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66CAA-EC92-56B4-2CD9-C20633FCE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85349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F4001-8485-E222-ED55-701A1DE4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CAFA3C-AADE-1B11-BDD2-40B7BD977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79CE4-8303-1934-6388-5348438AD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BA0A0-68B3-0920-42FB-F67E4F4F9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0413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E386F-08A1-B758-CE87-B19A9539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F29B7-B8DB-ED7C-1779-7F3D11A4A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157486-FDFF-A37A-AFD6-C3BF01BB1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8929B-0FD6-7AAD-0FE6-B30AF2ADE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5858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6A138-FBD5-73B5-8DCB-54CDCEA59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3874C-9F9A-2D7B-47FB-4F5B06728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31151-7B1F-72C1-4548-1DA617F6F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44410-41BA-7865-50FD-287E51DCA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78015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22B38-BDC5-B495-4EB0-AD87021F6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B7BDC-E686-87C4-8202-B13F56EF5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EBCBC-2E42-6797-4D17-65C5FBD1D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412C1-9252-E449-4836-3F028F64D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24360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4B0B5-5EEF-4EAD-D42E-CB113CA5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50013-6317-07BD-B08C-147E3B694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3AAF8-92D4-B682-9E40-0BD475476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6D654-28C0-78C7-C248-C785FF7D4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05571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A494C-6034-0D8D-B3CD-A65AFD8D1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8EB0C-D6F0-949A-C8B9-FC054CA9D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B6004C-F9E3-4297-EAF2-D8CA57619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E9CC2-5BBB-EFDA-0E6A-4AD28BBDA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73274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A2A49-C353-C3AD-A476-F1C54CD75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E0856-76B5-ABA4-2CA6-82327EE94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E9198-6A69-3E16-EADD-C1E96B8E3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D37FC-9F63-A8F1-7454-122042D3E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7776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F602D-07FB-8935-EC58-547EE9F33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7A081-B325-4813-B2DB-B95E3AB52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2E076-E134-CE07-77D8-1DE21A745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D9B24-53F5-99EE-5ED9-3239478635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75194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7CB28-A4AA-D23F-990A-F0289C540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F9DDE-D70F-23D6-4E30-F688DC56A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9660F-2E67-75CB-6A1D-1B2A1E626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A6BD4-96FB-4C8E-BEB3-768A9185F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88004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99C63-42C3-4738-E274-AED4F901F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198AD-15EB-E8C2-1AC9-39DB72E66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D374C-3FFC-FF99-A7D1-97DF842B0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CF6EC-D042-5389-6A94-BEC559096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79491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DCC6E-4426-4BAD-E900-D589D1253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48E59-388E-99BA-7CC4-8943C36FB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7A77B9-ACF3-D3BD-3B1F-8E55AF38C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A83C1-FC34-3624-23ED-065C7FA59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10781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CF9EE-2414-5544-1393-E449729D6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DEEC5-82BE-2AE1-FC21-2302C0CA1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A6DDA-F3D6-3B14-8FDD-FB344CAE2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CED05-870B-2EA6-1917-5F05C2157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17811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78CC6-662A-40CD-A7E5-051A4C475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CF518-DF76-2773-E519-2494ABB2F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1E9596-931B-8D79-B8D2-E5A473BC8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23068-20E7-29E9-4F87-0B4FAD457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21588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5E319-4730-040B-BE61-A6A317B3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9777C-1110-3C13-B9A7-DDA9EB5C5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F665B6-28A5-BEAD-6AA1-9A58434BE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A3A31-1ABC-327C-674F-5599A20F5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18476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484C8-5694-E0F1-AF9F-E3688D7C1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7A5A3-8640-F2C8-28DE-98D93FEE0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FEF99-79D2-BEE8-9B4C-F2DD0C1D0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3FA37-DA3C-87A1-9855-77E17AA25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60620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54198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C1948-DAB5-B921-C4A6-0A88E1AC4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E4292-31A0-18F7-4759-DADFA52AC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212D5A-2E40-F220-188B-E83D47D92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FAD64-A778-57C9-331D-BFFC5F392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73338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14CD2-3507-B3F8-D14B-0B11AE743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CB330-707C-7E5F-7150-D2ADB56D9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9C6F4C-5D8D-2988-B9BE-ABE18E3F9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CB127-82F6-FE14-323F-9292646AF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5426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D8A84-B3BB-82F3-8D74-C5254A944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02C66-09F3-5433-D4A9-33048AFEB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4D8FAF-6949-20C2-2BC8-CFDCF40F3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FA545-ADB2-FAA7-3201-2B1D4B6E7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03940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17EAF-88FD-189E-CC73-33DB91B8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1E096-C60E-1B10-5D34-DDD1E79BC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12EE5-A0BF-CFBC-848B-085C844F9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0BD07-7304-9D07-742F-8D9F9F855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60066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6276F-377E-FDE8-F3A7-1A950C213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C0732-F58A-7D30-1B72-5238B40F3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EA300-A225-F3FE-A658-D447C764F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176FA-A7B5-27EF-7423-661B679C7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96180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FE87C-9E4C-A09E-B305-335883146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A4F79-5A6E-7995-3F96-E9F12A7E4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53BDD-7213-C01F-3FD6-17F9BF1A6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4AF14-4515-1953-2571-B8E7B4DAC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31426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65A3F-E119-AD16-0EA3-E0FDBC6C7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DD983-C564-3948-4F0F-E7617B56E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D0B16D-92F0-005F-24BF-C4A5DF0ED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060F4-008E-D4AF-E78E-D77C790B4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69353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B7A39-BD9F-1023-6F3E-19BECAC2B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42B6B-82AF-0725-0678-FE57419D2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0619D-C46C-AF1C-A4E3-55B990201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C4C8A-16AF-8D3D-B983-8BC8D1808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B44D0A-4CFB-4D87-BF1C-6EEF5F52E2AE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744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1703" y="278294"/>
            <a:ext cx="5562323" cy="2405271"/>
          </a:xfrm>
        </p:spPr>
        <p:txBody>
          <a:bodyPr anchor="t">
            <a:normAutofit/>
          </a:bodyPr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703" y="2941982"/>
            <a:ext cx="2332106" cy="2315817"/>
          </a:xfrm>
        </p:spPr>
        <p:txBody>
          <a:bodyPr rtlCol="0">
            <a:normAutofit/>
          </a:bodyPr>
          <a:lstStyle>
            <a:lvl1pPr marL="0" indent="0" algn="l" defTabSz="457200" rtl="0" eaLnBrk="1" latinLnBrk="0" hangingPunct="1">
              <a:spcBef>
                <a:spcPct val="0"/>
              </a:spcBef>
              <a:buNone/>
              <a:defRPr lang="en-US" sz="2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134C2-DBEB-F978-3595-4314BA8D4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D5830F-521E-4F97-B3DD-D1788C28F377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7EFA9-0131-D10D-BD5A-B4F7E766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24CCD-58B3-E2F6-BD4B-AC1CF515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174C6B-E3AC-4E4A-B64A-0785390C0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7791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solidFill>
                  <a:srgbClr val="E68F3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F7F70-5B7F-D663-CCBC-24EE00E7E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4D34E7-7F87-49CF-B6E1-184639B2EC9C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C68D0-A34A-F6C1-95D3-E960B0A7C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262FF-B7C6-5A34-7275-17E18F61F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B7E92D-2DC7-4604-9782-61001C53DD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1868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tcure &amp;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solidFill>
                  <a:srgbClr val="E68F3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1450" y="1600201"/>
            <a:ext cx="2889250" cy="418437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1600"/>
            </a:lvl1pPr>
            <a:lvl2pPr marL="0" indent="0">
              <a:lnSpc>
                <a:spcPct val="150000"/>
              </a:lnSpc>
              <a:buFontTx/>
              <a:buNone/>
              <a:defRPr sz="1600"/>
            </a:lvl2pPr>
            <a:lvl3pPr marL="0" indent="0">
              <a:lnSpc>
                <a:spcPct val="150000"/>
              </a:lnSpc>
              <a:buFontTx/>
              <a:buNone/>
              <a:defRPr sz="1600"/>
            </a:lvl3pPr>
            <a:lvl4pPr marL="0" indent="0">
              <a:lnSpc>
                <a:spcPct val="150000"/>
              </a:lnSpc>
              <a:buFontTx/>
              <a:buNone/>
              <a:defRPr sz="1600"/>
            </a:lvl4pPr>
            <a:lvl5pPr marL="0" indent="0">
              <a:lnSpc>
                <a:spcPct val="150000"/>
              </a:lnSpc>
              <a:buFontTx/>
              <a:buNone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3"/>
          </p:nvPr>
        </p:nvSpPr>
        <p:spPr>
          <a:xfrm>
            <a:off x="495300" y="1600200"/>
            <a:ext cx="5943600" cy="4184373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4FA17-C412-4279-61EA-88C6CF28D75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4DDE06-6CE4-4915-B9DB-957B29CE9B5F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1D363-4387-2DDA-D206-0B34D255242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F9008-6769-8760-BEF3-09599BEFEB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15A8EC-C05E-4ED2-B8F2-166FE60CE0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9517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&amp;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59614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692B6F-103A-054C-5AB8-9C5EB3AC4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20CE2C-56C2-4B47-B85E-E66C783BEDD6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784F222-352B-043E-EBDB-D0D268B38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D3DB9C-61DD-BA9E-9C98-D9ADD09B9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035616-E4C8-4441-B377-D251785675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6599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solidFill>
                  <a:srgbClr val="E68F3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5BEF670-3F5A-16FE-D568-424F8993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B4387-0C81-43B0-9C55-0DC6A0062107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2C9F93A-41C9-E5B4-CDC6-189936FB4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CF8FF0-82DC-51E2-207E-160F02F2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645362-D1E6-441D-AEB9-9D04A3E4BC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264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E68F3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31372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4733" y="1600201"/>
            <a:ext cx="431596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4259B63-2D40-D15C-464C-8C34A1236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143C6-D8CC-49B7-A1FA-C01B9BC7E8FA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B2B6FD1-CECB-4CFE-0387-92D7CF27F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D7C0B-74EC-D126-C316-6213931F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C70EC4-8AB9-4E61-8330-C6C483EF9B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8640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 rtlCol="0">
            <a:normAutofit/>
          </a:bodyPr>
          <a:lstStyle>
            <a:lvl1pPr>
              <a:def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E68F3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6261797-8A16-8361-D651-2569CA43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D26F3-0062-4B01-8C23-6DD2B2586D67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52BD0E9-20A2-4BDF-B526-BB2216E40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50C86AD-B90D-9F54-A05B-AFC101437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428E51-F3A9-4073-965E-53F8FC7F88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3479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DF295B9-0C4D-D67E-404B-F0F28A05D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49385-C44F-4241-BBFA-343E36E3359A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690C217-5C9B-9F47-41D3-FCD17C19B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750F869-1A66-9EE7-C886-FBD7669B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EB7E30-F642-4283-A7C2-AEE4F2147D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6152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25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F55BEAC0-EA91-336F-AB2C-5DDC377052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9931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254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1B853B5-B3AC-48E9-171A-CA4C6155DD4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D5D72EF-BBCE-2E6B-A79F-2619A2C5ED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55974-C59E-75CA-4C48-D7666F6FC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0DF210B-D4B1-4551-97C8-AF8BCD23C2DF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58C7D-AEFE-AB5B-9DE7-A0001BD64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DA478-CB86-A995-493C-D056F0F5D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3704CC5-1D5A-4E4F-957B-6AABCD864B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12">
            <a:extLst>
              <a:ext uri="{FF2B5EF4-FFF2-40B4-BE49-F238E27FC236}">
                <a16:creationId xmlns:a16="http://schemas.microsoft.com/office/drawing/2014/main" id="{BABD172A-6571-A4B8-0348-75BAD2CCAC1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9931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5" r:id="rId1"/>
    <p:sldLayoutId id="2147484076" r:id="rId2"/>
    <p:sldLayoutId id="2147484077" r:id="rId3"/>
    <p:sldLayoutId id="2147484078" r:id="rId4"/>
    <p:sldLayoutId id="2147484079" r:id="rId5"/>
    <p:sldLayoutId id="2147484080" r:id="rId6"/>
    <p:sldLayoutId id="2147484081" r:id="rId7"/>
    <p:sldLayoutId id="2147484082" r:id="rId8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BDE350EB-2484-939A-9CD5-33B77B9078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72A4C246-8BD5-020E-6353-A55B7943A4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97314-E45F-14F8-E9F3-9EFC21314A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6457ADB-96A2-4C70-933E-F284D012513F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DAFD8-58B2-94AC-D165-373F82917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CDB6C-48CE-B6AC-DA8A-F0836555B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88B2061-9B11-482A-A8ED-1D235F1EC9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84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9">
            <a:extLst>
              <a:ext uri="{FF2B5EF4-FFF2-40B4-BE49-F238E27FC236}">
                <a16:creationId xmlns:a16="http://schemas.microsoft.com/office/drawing/2014/main" id="{48CD6308-2C50-CEBE-69F8-74E97797E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9931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itle 12">
            <a:extLst>
              <a:ext uri="{FF2B5EF4-FFF2-40B4-BE49-F238E27FC236}">
                <a16:creationId xmlns:a16="http://schemas.microsoft.com/office/drawing/2014/main" id="{0BC966AB-DE2A-C406-4F65-8C9B66A7A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954088"/>
            <a:ext cx="5956300" cy="9144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Study Unit 3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78077326-23CE-18E4-1445-B0611FE24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0850" y="1797050"/>
            <a:ext cx="6761163" cy="3589338"/>
          </a:xfrm>
        </p:spPr>
        <p:txBody>
          <a:bodyPr/>
          <a:lstStyle/>
          <a:p>
            <a:pPr fontAlgn="auto">
              <a:spcAft>
                <a:spcPts val="0"/>
              </a:spcAft>
              <a:buFont typeface="Arial"/>
              <a:buNone/>
              <a:defRPr/>
            </a:pPr>
            <a:r>
              <a:rPr lang="en-ZA" sz="2000" dirty="0">
                <a:solidFill>
                  <a:schemeClr val="tx1"/>
                </a:solidFill>
              </a:rPr>
              <a:t>Subject Code: COS1501 </a:t>
            </a:r>
          </a:p>
          <a:p>
            <a:pPr fontAlgn="auto">
              <a:spcAft>
                <a:spcPts val="0"/>
              </a:spcAft>
              <a:buFont typeface="Arial"/>
              <a:buNone/>
              <a:defRPr/>
            </a:pPr>
            <a:r>
              <a:rPr lang="en-ZA" sz="2000" dirty="0">
                <a:solidFill>
                  <a:schemeClr val="tx1"/>
                </a:solidFill>
              </a:rPr>
              <a:t>Theoretical Computer Science</a:t>
            </a:r>
          </a:p>
          <a:p>
            <a:pPr fontAlgn="auto">
              <a:spcAft>
                <a:spcPts val="0"/>
              </a:spcAft>
              <a:buFont typeface="Arial"/>
              <a:buNone/>
              <a:defRPr/>
            </a:pPr>
            <a:endParaRPr lang="en-ZA" sz="2000" dirty="0">
              <a:solidFill>
                <a:schemeClr val="tx1"/>
              </a:solidFill>
            </a:endParaRPr>
          </a:p>
          <a:p>
            <a:pPr fontAlgn="auto">
              <a:spcAft>
                <a:spcPts val="0"/>
              </a:spcAft>
              <a:buFont typeface="Arial"/>
              <a:buNone/>
              <a:defRPr/>
            </a:pPr>
            <a:r>
              <a:rPr lang="en-ZA" sz="2000" dirty="0">
                <a:solidFill>
                  <a:schemeClr val="tx1"/>
                </a:solidFill>
              </a:rPr>
              <a:t>Primary Lecturer:</a:t>
            </a:r>
          </a:p>
          <a:p>
            <a:pPr fontAlgn="auto">
              <a:spcAft>
                <a:spcPts val="0"/>
              </a:spcAft>
              <a:buFont typeface="Arial"/>
              <a:buNone/>
              <a:defRPr/>
            </a:pPr>
            <a:r>
              <a:rPr sz="2000" dirty="0">
                <a:solidFill>
                  <a:schemeClr val="tx1"/>
                </a:solidFill>
              </a:rPr>
              <a:t>	Mr. Thapelo Sindane</a:t>
            </a:r>
          </a:p>
          <a:p>
            <a:pPr fontAlgn="auto">
              <a:spcAft>
                <a:spcPts val="0"/>
              </a:spcAft>
              <a:buFont typeface="Arial"/>
              <a:buNone/>
              <a:defRPr/>
            </a:pPr>
            <a:r>
              <a:rPr sz="2000" dirty="0">
                <a:solidFill>
                  <a:schemeClr val="tx1"/>
                </a:solidFill>
              </a:rPr>
              <a:t>	Dr.  Petra Le Roux</a:t>
            </a:r>
          </a:p>
          <a:p>
            <a:pPr fontAlgn="auto">
              <a:spcAft>
                <a:spcPts val="0"/>
              </a:spcAft>
              <a:buFont typeface="Arial"/>
              <a:buNone/>
              <a:defRPr/>
            </a:pPr>
            <a:endParaRPr sz="2000" dirty="0">
              <a:solidFill>
                <a:schemeClr val="tx1"/>
              </a:solidFill>
            </a:endParaRPr>
          </a:p>
          <a:p>
            <a:pPr fontAlgn="auto">
              <a:spcAft>
                <a:spcPts val="0"/>
              </a:spcAft>
              <a:buFont typeface="Arial"/>
              <a:buNone/>
              <a:defRPr/>
            </a:pPr>
            <a:r>
              <a:rPr sz="2000" dirty="0">
                <a:solidFill>
                  <a:schemeClr val="tx1"/>
                </a:solidFill>
              </a:rPr>
              <a:t>	 </a:t>
            </a:r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0447C3E4-B871-39A6-97E3-4BCF23EAE4E4}"/>
              </a:ext>
            </a:extLst>
          </p:cNvPr>
          <p:cNvSpPr txBox="1">
            <a:spLocks/>
          </p:cNvSpPr>
          <p:nvPr/>
        </p:nvSpPr>
        <p:spPr bwMode="auto">
          <a:xfrm>
            <a:off x="311150" y="430213"/>
            <a:ext cx="6038850" cy="731837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0000"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/>
              <a:t>Department of Computer Science</a:t>
            </a:r>
            <a:endParaRPr lang="en-US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>
            <a:extLst>
              <a:ext uri="{FF2B5EF4-FFF2-40B4-BE49-F238E27FC236}">
                <a16:creationId xmlns:a16="http://schemas.microsoft.com/office/drawing/2014/main" id="{58FBCB35-EE99-C08B-2873-95075BBDB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GB" dirty="0"/>
              <a:t>Study unit 3: Sets </a:t>
            </a:r>
            <a:endParaRPr lang="en-ZA" alt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6ADF5F-D144-2752-BB18-3C79322F3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409393" y="1996119"/>
            <a:ext cx="7087214" cy="3734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2EFA4-F96E-C97B-3B44-621ECF17C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>
            <a:extLst>
              <a:ext uri="{FF2B5EF4-FFF2-40B4-BE49-F238E27FC236}">
                <a16:creationId xmlns:a16="http://schemas.microsoft.com/office/drawing/2014/main" id="{7271049B-2105-0DC6-BEE0-802B5817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GB" dirty="0"/>
              <a:t>Set Theory Definition </a:t>
            </a:r>
            <a:endParaRPr lang="en-ZA" alt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720D90-E074-8D53-330D-2DCAB83F9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Set theory is the mathematical theory of well-determined collections, called </a:t>
            </a:r>
            <a:r>
              <a:rPr lang="en-GB" i="1" dirty="0"/>
              <a:t>sets</a:t>
            </a:r>
            <a:r>
              <a:rPr lang="en-GB" dirty="0"/>
              <a:t>, of objects that are called </a:t>
            </a:r>
            <a:r>
              <a:rPr lang="en-GB" i="1" dirty="0"/>
              <a:t>members</a:t>
            </a:r>
            <a:r>
              <a:rPr lang="en-GB" dirty="0"/>
              <a:t>, or </a:t>
            </a:r>
            <a:r>
              <a:rPr lang="en-GB" i="1" dirty="0"/>
              <a:t>elements</a:t>
            </a:r>
            <a:r>
              <a:rPr lang="en-GB" dirty="0"/>
              <a:t>, of the set.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43300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40CAD-D5B7-06B1-70A6-83382F5A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>
            <a:extLst>
              <a:ext uri="{FF2B5EF4-FFF2-40B4-BE49-F238E27FC236}">
                <a16:creationId xmlns:a16="http://schemas.microsoft.com/office/drawing/2014/main" id="{45D2F086-EDB1-2EE8-5C82-C7D335D7B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ZA" dirty="0"/>
              <a:t>Why do set theory? </a:t>
            </a:r>
            <a:endParaRPr lang="en-ZA" alt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9C48D2-4D14-D060-B3BD-46E563D53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541864" y="2041237"/>
            <a:ext cx="6595371" cy="321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4342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B26FB-1F13-E1A3-AFEF-C91DE85C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>
            <a:extLst>
              <a:ext uri="{FF2B5EF4-FFF2-40B4-BE49-F238E27FC236}">
                <a16:creationId xmlns:a16="http://schemas.microsoft.com/office/drawing/2014/main" id="{CDAC9475-2544-7BB4-A80B-A75D76207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ZA" dirty="0"/>
              <a:t>Set Formalism</a:t>
            </a:r>
            <a:endParaRPr lang="en-ZA" alt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920A94-B793-D1D9-BEA6-642E5A877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Suppose we want to tell you something about a set of all positive integers less than 5. </a:t>
            </a:r>
          </a:p>
          <a:p>
            <a:pPr lvl="1"/>
            <a:r>
              <a:rPr lang="en-ZA" dirty="0"/>
              <a:t>We can describe this set as mentioned. </a:t>
            </a:r>
          </a:p>
          <a:p>
            <a:pPr lvl="1"/>
            <a:r>
              <a:rPr lang="en-ZA" dirty="0"/>
              <a:t>Alternatively we can use list notation, where we identify a set as curly brackets {} all elements of the inserted in the curly braces </a:t>
            </a:r>
            <a:r>
              <a:rPr lang="en-ZA" dirty="0" err="1"/>
              <a:t>seperated</a:t>
            </a:r>
            <a:r>
              <a:rPr lang="en-ZA" dirty="0"/>
              <a:t> by commas.</a:t>
            </a:r>
          </a:p>
          <a:p>
            <a:pPr lvl="2"/>
            <a:r>
              <a:rPr lang="en-ZA" dirty="0"/>
              <a:t>Int_less_5 = {1,2,3,4}</a:t>
            </a:r>
            <a:br>
              <a:rPr lang="en-ZA" dirty="0"/>
            </a:br>
            <a:r>
              <a:rPr lang="en-ZA" dirty="0"/>
              <a:t>what is the problem here?</a:t>
            </a:r>
          </a:p>
        </p:txBody>
      </p:sp>
    </p:spTree>
    <p:extLst>
      <p:ext uri="{BB962C8B-B14F-4D97-AF65-F5344CB8AC3E}">
        <p14:creationId xmlns:p14="http://schemas.microsoft.com/office/powerpoint/2010/main" val="31502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7DC45-AE77-0FB3-3240-FB92BFCB2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>
            <a:extLst>
              <a:ext uri="{FF2B5EF4-FFF2-40B4-BE49-F238E27FC236}">
                <a16:creationId xmlns:a16="http://schemas.microsoft.com/office/drawing/2014/main" id="{22033CD1-8654-E608-E911-BB8F7240F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ZA" dirty="0"/>
              <a:t>Example</a:t>
            </a:r>
            <a:endParaRPr lang="en-ZA" alt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BB4B7B-1378-0D8C-516C-A745B9AAAB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814392" y="1554020"/>
            <a:ext cx="627721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4807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7B3E4-02CE-961A-8B0A-B64A39CC2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>
            <a:extLst>
              <a:ext uri="{FF2B5EF4-FFF2-40B4-BE49-F238E27FC236}">
                <a16:creationId xmlns:a16="http://schemas.microsoft.com/office/drawing/2014/main" id="{B1D74554-57E4-DCCF-3879-516B1C89C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ZA" dirty="0"/>
              <a:t>Set Naming and Referencing</a:t>
            </a:r>
            <a:endParaRPr lang="en-ZA" alt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26C0A6-1A7F-32A2-84F9-C2A5478F5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The third method involves giving sets names:</a:t>
            </a:r>
          </a:p>
          <a:p>
            <a:pPr lvl="1"/>
            <a:r>
              <a:rPr lang="en-ZA" dirty="0"/>
              <a:t>E.g. Lets A be a set of all positive </a:t>
            </a:r>
            <a:r>
              <a:rPr lang="en-ZA" dirty="0" err="1"/>
              <a:t>intergers</a:t>
            </a:r>
            <a:r>
              <a:rPr lang="en-ZA" dirty="0"/>
              <a:t> less than 5. </a:t>
            </a:r>
          </a:p>
          <a:p>
            <a:pPr lvl="1"/>
            <a:r>
              <a:rPr lang="en-ZA" dirty="0"/>
              <a:t>Whenever we want to talk about this set, we only refer to it as A.</a:t>
            </a:r>
          </a:p>
        </p:txBody>
      </p:sp>
    </p:spTree>
    <p:extLst>
      <p:ext uri="{BB962C8B-B14F-4D97-AF65-F5344CB8AC3E}">
        <p14:creationId xmlns:p14="http://schemas.microsoft.com/office/powerpoint/2010/main" val="3151052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F7F23-CDE7-9013-B0C3-19475C9A2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>
            <a:extLst>
              <a:ext uri="{FF2B5EF4-FFF2-40B4-BE49-F238E27FC236}">
                <a16:creationId xmlns:a16="http://schemas.microsoft.com/office/drawing/2014/main" id="{7FB1C6A5-7B5D-3579-A2C3-082AAB1D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ZA" dirty="0"/>
              <a:t>Set builder notation</a:t>
            </a:r>
            <a:endParaRPr lang="en-ZA" alt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4D2E2A-E8EC-EEC8-9524-E06631C9BB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95300" y="1309060"/>
            <a:ext cx="8611346" cy="3482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9710CE-8296-38CE-8B79-0037D6A83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791702"/>
            <a:ext cx="9121930" cy="168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325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17F2-8E0B-0648-910F-CE6827396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>
            <a:extLst>
              <a:ext uri="{FF2B5EF4-FFF2-40B4-BE49-F238E27FC236}">
                <a16:creationId xmlns:a16="http://schemas.microsoft.com/office/drawing/2014/main" id="{2B62F65B-4F94-EA5B-D704-C195445A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ZA" dirty="0"/>
              <a:t>Tools for builder notations</a:t>
            </a:r>
            <a:endParaRPr lang="en-ZA" alt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05D0AF2-65D1-A9A8-E1A3-A5D4EF9179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596900" y="1091397"/>
            <a:ext cx="8915400" cy="4028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A81D59-0093-CC0C-6EBB-81194DDF9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5099795"/>
            <a:ext cx="9000000" cy="13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40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B8AC-780F-78D4-83DD-BEF04C18A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>
            <a:extLst>
              <a:ext uri="{FF2B5EF4-FFF2-40B4-BE49-F238E27FC236}">
                <a16:creationId xmlns:a16="http://schemas.microsoft.com/office/drawing/2014/main" id="{68B4E61B-3800-3088-E04C-2D51B12A6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ZA" dirty="0"/>
              <a:t>Examples</a:t>
            </a:r>
            <a:endParaRPr lang="en-ZA" alt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6A13E1-2F43-10BD-8215-BE40EB2A6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95300" y="1872364"/>
            <a:ext cx="8915400" cy="3981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362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CDFA-E7B0-F312-183E-70BF0E941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>
            <a:extLst>
              <a:ext uri="{FF2B5EF4-FFF2-40B4-BE49-F238E27FC236}">
                <a16:creationId xmlns:a16="http://schemas.microsoft.com/office/drawing/2014/main" id="{B01F1AD9-2AB4-5986-04FE-A2A681855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ZA" dirty="0"/>
              <a:t>Practice examples</a:t>
            </a:r>
            <a:endParaRPr lang="en-ZA" alt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A5E608-DAD3-258C-EF0A-D3096416D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Using List notation and Builder notation Show how you w</a:t>
            </a:r>
            <a:r>
              <a:rPr lang="en-GB" dirty="0" err="1"/>
              <a:t>ould</a:t>
            </a:r>
            <a:r>
              <a:rPr lang="en-GB" dirty="0"/>
              <a:t> to talk about the set of all negative integers greater than −5.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79784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A3FE1-47C3-583B-208C-26D4C515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>
            <a:extLst>
              <a:ext uri="{FF2B5EF4-FFF2-40B4-BE49-F238E27FC236}">
                <a16:creationId xmlns:a16="http://schemas.microsoft.com/office/drawing/2014/main" id="{E8D27810-AC9F-90CA-4A54-5660DFB4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ZA" dirty="0"/>
              <a:t>Check set equality</a:t>
            </a:r>
            <a:endParaRPr lang="en-ZA" alt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761F4D-8CFC-6738-E99C-82B69BFD8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95300" y="2383268"/>
            <a:ext cx="8915400" cy="2959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7625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D9E29-4E63-1D27-783F-074AA0A7C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>
            <a:extLst>
              <a:ext uri="{FF2B5EF4-FFF2-40B4-BE49-F238E27FC236}">
                <a16:creationId xmlns:a16="http://schemas.microsoft.com/office/drawing/2014/main" id="{693AC654-CFB9-056C-0472-2BA5987E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defRPr/>
            </a:pPr>
            <a:r>
              <a:rPr lang="en-ZA" altLang="en-US" dirty="0"/>
              <a:t>Shopping items analogy: presence over order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76F8DE-69EB-9F0E-BBB2-A910114FB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563499" y="1881810"/>
            <a:ext cx="8779001" cy="3962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3067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64BE2-49CE-BAD3-5940-8729F7AEA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>
            <a:extLst>
              <a:ext uri="{FF2B5EF4-FFF2-40B4-BE49-F238E27FC236}">
                <a16:creationId xmlns:a16="http://schemas.microsoft.com/office/drawing/2014/main" id="{536D96A4-6325-3844-E414-325BAD16F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ZA" altLang="en-US" dirty="0"/>
              <a:t>Practice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568559-7DC7-C4BE-AF12-21092A821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Let A = {2,3}  and B= {3,2,3} are the two sets equal. That can we say {2,3} = {3,2,3} ?</a:t>
            </a:r>
          </a:p>
        </p:txBody>
      </p:sp>
    </p:spTree>
    <p:extLst>
      <p:ext uri="{BB962C8B-B14F-4D97-AF65-F5344CB8AC3E}">
        <p14:creationId xmlns:p14="http://schemas.microsoft.com/office/powerpoint/2010/main" val="3293914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EB592-1047-DE5F-FADE-D138F51A5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ZA" altLang="en-US" dirty="0"/>
              <a:t>What can be an element of a set ?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5FDD71-A4F3-049D-BAB6-3EDB0963E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95300" y="1809797"/>
            <a:ext cx="8915400" cy="4106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8362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58547-E3F0-17FF-8EFB-72C4A3373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B0FB0-AEC4-FB26-37B9-4A00920BA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ZA" altLang="en-US" dirty="0"/>
              <a:t>The empty set</a:t>
            </a:r>
            <a:endParaRPr lang="en-Z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6636A41-88D0-E6EF-241E-F6A14C1F9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95300" y="2187225"/>
            <a:ext cx="8915400" cy="335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7899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4F41D-D67C-4EC4-FAB1-856587DDA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5F30-BDA1-B49C-4B74-15CE43DF0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ZA" altLang="en-US" dirty="0"/>
              <a:t>Can an empty set be an element of a set?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CE133A-5AA5-939A-308E-4F70AD2D5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95300" y="2349677"/>
            <a:ext cx="8915400" cy="3027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6370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F01E6-C3A2-2EB0-3A25-650DDCA64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76BB8-DFE8-1397-7567-77D03B1AC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altLang="en-US" dirty="0"/>
              <a:t>Subset</a:t>
            </a:r>
            <a:endParaRPr lang="en-Z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BBEB7D-ECAD-9A3F-2B99-68BEE0280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547099" y="1600200"/>
            <a:ext cx="881180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6128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E6C5-A4A4-EFD0-D6FF-3D43BCB77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14B9F-1E04-631F-798F-968E3C27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altLang="en-US" dirty="0"/>
              <a:t>Subset Definition</a:t>
            </a:r>
            <a:endParaRPr lang="en-ZA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565B928-19B6-3227-DD2E-D5CD99811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95300" y="2011344"/>
            <a:ext cx="8915400" cy="37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7788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3C4FC-CEFB-C36B-F818-C88BAC42B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11022-3567-BFEE-0134-BB4870DD9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altLang="en-US" dirty="0"/>
              <a:t>Subset Examples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7C44F2-71C4-4966-1AA2-EB2784463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553265" y="1600200"/>
            <a:ext cx="6799469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1644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D197C-6F0B-A5E7-1539-6805CF1EA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41C1-D1BE-1332-D811-A4A841D31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altLang="en-US" dirty="0"/>
              <a:t>Subset Examples</a:t>
            </a:r>
            <a:endParaRPr lang="en-Z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20BF4F-DD03-23A5-D276-EDA09925D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944532" y="2426687"/>
            <a:ext cx="8016935" cy="2872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1626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D7DB7-858C-A70E-CCFB-0C4181CC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EFF47-7E57-4951-BF72-7D1A41A27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altLang="en-US" dirty="0"/>
              <a:t>Proper Subsets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9ADF11C-DDB9-6665-CBC0-C6AC67667D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95300" y="2856493"/>
            <a:ext cx="8915400" cy="201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673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9B6A2-69A6-5AD5-AD41-B945E7B0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75B86-C1D3-2E61-92E7-60AD75D15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altLang="en-US" dirty="0"/>
              <a:t>Union of a Set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3D7BDF-4FB3-228B-D239-F468579B7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220662" y="1600200"/>
            <a:ext cx="746467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066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0BC68-2EF9-A286-0F74-2E37C732B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D5A2-5000-779F-3540-ECA1A462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altLang="en-US" dirty="0"/>
              <a:t>Union example</a:t>
            </a:r>
            <a:endParaRPr lang="en-Z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991711-84C2-1BC4-15A3-ABDA680432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95300" y="1845019"/>
            <a:ext cx="8915400" cy="403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579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9126F-0BE4-3DED-2B08-B195AA4D3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4987-569F-3A5F-5584-6A432D080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altLang="en-US" dirty="0"/>
              <a:t>Union Practice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2DA9D-023A-B91B-A71A-C93CEBB2F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Let A= {a,2,3,d}, and B={1,c,b, 2,4}, find the Union of A and B.</a:t>
            </a:r>
          </a:p>
        </p:txBody>
      </p:sp>
    </p:spTree>
    <p:extLst>
      <p:ext uri="{BB962C8B-B14F-4D97-AF65-F5344CB8AC3E}">
        <p14:creationId xmlns:p14="http://schemas.microsoft.com/office/powerpoint/2010/main" val="38368177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19338-87F6-3ADD-8B2E-40BA1C1E2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B76B-8F9A-8D35-81BF-89E95FF76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altLang="en-US" dirty="0"/>
              <a:t>The Intersection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0276EA-559C-0F05-506B-DE4656F46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354752" y="2217118"/>
            <a:ext cx="8900931" cy="16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1479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FA80A-D6A4-BD83-474A-78C64BFD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E3AAA-4E33-B2B6-DB4A-FD551883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dirty="0"/>
              <a:t>Intersection Definition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502D445-F583-C9C2-567E-8D8C74303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225571" y="1600200"/>
            <a:ext cx="7454858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13166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0D2D4-DE54-C5E4-A711-678B2271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03347-F15C-B9ED-C308-540E2325D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dirty="0"/>
              <a:t>Set Complement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E6BFD0-2A31-F6F1-9889-C385AD02C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551431" y="1417638"/>
            <a:ext cx="652604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2622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46AEC-D326-6988-B4C2-88FB301AD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2AE71-6DA3-3F3C-5212-AC208D7E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dirty="0"/>
              <a:t>Set Complement 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53AF73B-9F7C-4723-067A-F71A131DA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825992" y="1600200"/>
            <a:ext cx="825401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3412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1AA1E-084F-30EE-ABAA-C601C648D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9745F-5DEC-52B8-D6B0-73747A15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dirty="0"/>
              <a:t>Set Complement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D9C0E-6033-5F1F-1C8C-EFB573AEE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Let A = {1,p,q} and B ={1, {}, q, a, p}, find complement of A relative to B and complement of B relative to A. </a:t>
            </a:r>
          </a:p>
        </p:txBody>
      </p:sp>
    </p:spTree>
    <p:extLst>
      <p:ext uri="{BB962C8B-B14F-4D97-AF65-F5344CB8AC3E}">
        <p14:creationId xmlns:p14="http://schemas.microsoft.com/office/powerpoint/2010/main" val="1744767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4211D-DC11-9BEE-06CC-E3C8F3CBF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6587-368F-FFE3-AE74-BF68B2A0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dirty="0"/>
              <a:t>Set Complement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20CF8A-61D8-1C01-7EF3-13CD85D800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754958" y="1600200"/>
            <a:ext cx="8396084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77621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2CD0C-FC90-85DA-362E-5EC588AC1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ZA" dirty="0"/>
              <a:t>Symmetry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ED939D-699F-4C47-4867-E913896A9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28848" y="1600200"/>
            <a:ext cx="7648304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57064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CC0B2-D2AF-1711-54E1-E2FD55057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2FD6B-9BC4-68D5-C9E7-FD265B5F4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ZA" dirty="0"/>
              <a:t>Symmetrical difference between sets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6B5071-EE14-09A7-31BC-BF64748BD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95300" y="2126192"/>
            <a:ext cx="8915400" cy="347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66065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007B4-1AD1-78B6-27F0-49B2D5E2A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2B868-F034-28FD-A008-E0325DDDC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ZA" dirty="0"/>
              <a:t>Symmetry: Union complement intersection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19D3F0-35A7-6F05-0057-46A67EB74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122839" y="1600200"/>
            <a:ext cx="766032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68398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69B4B-F083-D016-1A45-890F399F9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5544F-CCE0-D12F-4809-67AA8BE9C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dirty="0"/>
              <a:t>Teaser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550C7-E63C-296A-AF96-1C30BDD09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When would it be possible for the symmetry of set A and B be equal to their Union?</a:t>
            </a:r>
          </a:p>
        </p:txBody>
      </p:sp>
    </p:spTree>
    <p:extLst>
      <p:ext uri="{BB962C8B-B14F-4D97-AF65-F5344CB8AC3E}">
        <p14:creationId xmlns:p14="http://schemas.microsoft.com/office/powerpoint/2010/main" val="26343840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36763-5018-BAE8-715F-201170AD2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B74B9-4A83-5454-443B-C2C7A3DF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dirty="0"/>
              <a:t>Set </a:t>
            </a:r>
            <a:r>
              <a:rPr lang="en-ZA" dirty="0" err="1"/>
              <a:t>disjointness</a:t>
            </a:r>
            <a:r>
              <a:rPr lang="en-ZA" dirty="0"/>
              <a:t> and cardinality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92D98F-46F2-32AD-9651-C6D4249374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737449" y="1417638"/>
            <a:ext cx="643110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08729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00B4-D400-56A8-9BB1-4068ED5DE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57F0-DE0C-AB67-1588-497FAD523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dirty="0"/>
              <a:t>Cardinality 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E38985-4F8F-D3D9-3A5E-891AE2E62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95300" y="2354422"/>
            <a:ext cx="8915400" cy="3017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22222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8BEA8-0A5B-4343-D33C-6207CD3C7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E188-FE92-5229-6CF4-98F515B3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dirty="0"/>
              <a:t>Power sets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8E904D-5780-EC66-6A25-7665BA2DA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703590" y="1600200"/>
            <a:ext cx="6498819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95450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25545-3814-9227-BAED-A6C84B5FF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8E269-0832-2D32-4577-377025F83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dirty="0"/>
              <a:t>Summary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4D42C2B-42B4-621C-6F02-1DF3867EC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365851" y="1600200"/>
            <a:ext cx="717429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96837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54117-E3DF-555C-2BC0-5B6A1FDF7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2ECE1-0117-20DF-3FF4-59175C435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dirty="0"/>
              <a:t>Assessments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F0739D-F4CF-D15A-3FFB-CBB4B0DAC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95300" y="1672736"/>
            <a:ext cx="8915400" cy="4380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21749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F9FB9-D56F-1C41-5962-5A06A390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74C1-3ABB-E9AA-11F9-9F61D997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ZA" dirty="0"/>
              <a:t>Assessments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E7CD4-83A3-898A-E1B2-A5C1A3026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Do Activity 3-6: Self-assessment exercises </a:t>
            </a:r>
          </a:p>
        </p:txBody>
      </p:sp>
    </p:spTree>
    <p:extLst>
      <p:ext uri="{BB962C8B-B14F-4D97-AF65-F5344CB8AC3E}">
        <p14:creationId xmlns:p14="http://schemas.microsoft.com/office/powerpoint/2010/main" val="2718830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7EEFEFD31ECC4999130CACE6EC5C64" ma:contentTypeVersion="12" ma:contentTypeDescription="Create a new document." ma:contentTypeScope="" ma:versionID="b2885e11ede5279c5198849e40357113">
  <xsd:schema xmlns:xsd="http://www.w3.org/2001/XMLSchema" xmlns:xs="http://www.w3.org/2001/XMLSchema" xmlns:p="http://schemas.microsoft.com/office/2006/metadata/properties" xmlns:ns2="ce9897f1-4e24-4f98-8850-d51252be5227" xmlns:ns3="5c2a925a-fb26-419b-be9d-11e2d48d2759" targetNamespace="http://schemas.microsoft.com/office/2006/metadata/properties" ma:root="true" ma:fieldsID="d8423ea203436ec0c5ae863863f55ea2" ns2:_="" ns3:_="">
    <xsd:import namespace="ce9897f1-4e24-4f98-8850-d51252be5227"/>
    <xsd:import namespace="5c2a925a-fb26-419b-be9d-11e2d48d27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897f1-4e24-4f98-8850-d51252be52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2a925a-fb26-419b-be9d-11e2d48d275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D6FB57-6872-4DB8-81C9-E57637E90A0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FF1B5E2-5A85-495F-89CB-0EC9EC271B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3DC717-759F-44A5-86FA-4F0DC06532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9897f1-4e24-4f98-8850-d51252be5227"/>
    <ds:schemaRef ds:uri="5c2a925a-fb26-419b-be9d-11e2d48d27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10305</TotalTime>
  <Words>474</Words>
  <Application>Microsoft Office PowerPoint</Application>
  <PresentationFormat>A4 Paper (210x297 mm)</PresentationFormat>
  <Paragraphs>104</Paragraphs>
  <Slides>41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Office Theme</vt:lpstr>
      <vt:lpstr>Custom Design</vt:lpstr>
      <vt:lpstr>Study Unit 3</vt:lpstr>
      <vt:lpstr>Study unit 3: Sets </vt:lpstr>
      <vt:lpstr>Set Theory Definition </vt:lpstr>
      <vt:lpstr>Why do set theory? </vt:lpstr>
      <vt:lpstr>Set Formalism</vt:lpstr>
      <vt:lpstr>Example</vt:lpstr>
      <vt:lpstr>Set Naming and Referencing</vt:lpstr>
      <vt:lpstr>Set builder notation</vt:lpstr>
      <vt:lpstr>Tools for builder notations</vt:lpstr>
      <vt:lpstr>Examples</vt:lpstr>
      <vt:lpstr>Practice examples</vt:lpstr>
      <vt:lpstr>Check set equality</vt:lpstr>
      <vt:lpstr>Shopping items analogy: presence over order</vt:lpstr>
      <vt:lpstr>Practice example</vt:lpstr>
      <vt:lpstr>What can be an element of a set ?</vt:lpstr>
      <vt:lpstr>The empty set</vt:lpstr>
      <vt:lpstr>Can an empty set be an element of a set?</vt:lpstr>
      <vt:lpstr>Subset</vt:lpstr>
      <vt:lpstr>Subset Definition</vt:lpstr>
      <vt:lpstr>Subset Examples</vt:lpstr>
      <vt:lpstr>Subset Examples</vt:lpstr>
      <vt:lpstr>Proper Subsets</vt:lpstr>
      <vt:lpstr>Union of a Set</vt:lpstr>
      <vt:lpstr>Union example</vt:lpstr>
      <vt:lpstr>Union Practice</vt:lpstr>
      <vt:lpstr>The Intersection</vt:lpstr>
      <vt:lpstr>Intersection Definition </vt:lpstr>
      <vt:lpstr>Set Complement</vt:lpstr>
      <vt:lpstr>Set Complement Example</vt:lpstr>
      <vt:lpstr>Set Complement Practice</vt:lpstr>
      <vt:lpstr>Set Complement </vt:lpstr>
      <vt:lpstr>Symmetry</vt:lpstr>
      <vt:lpstr>Symmetrical difference between sets</vt:lpstr>
      <vt:lpstr>Symmetry: Union complement intersection</vt:lpstr>
      <vt:lpstr>Teaser</vt:lpstr>
      <vt:lpstr>Set disjointness and cardinality</vt:lpstr>
      <vt:lpstr>Cardinality example</vt:lpstr>
      <vt:lpstr>Power sets</vt:lpstr>
      <vt:lpstr>Summary</vt:lpstr>
      <vt:lpstr>Assessments</vt:lpstr>
      <vt:lpstr>Assessments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Pedrie Van De Walt</dc:creator>
  <cp:lastModifiedBy>Sindane, Thapelo Andrew</cp:lastModifiedBy>
  <cp:revision>203</cp:revision>
  <dcterms:created xsi:type="dcterms:W3CDTF">2012-05-21T07:36:33Z</dcterms:created>
  <dcterms:modified xsi:type="dcterms:W3CDTF">2026-04-14T10:49:09Z</dcterms:modified>
</cp:coreProperties>
</file>