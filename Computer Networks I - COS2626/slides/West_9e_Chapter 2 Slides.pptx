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7010400" cy="9296400"/>
  <p:custDataLst>
    <p:tags r:id="rId5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0" roundtripDataSignature="AMtx7mjyLvkavxLALzxOUOtEg7p49ZYj4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F17678-C7F2-676A-DCC8-1D962A3A436B}" name="Chris Parent" initials="CP" userId="f0181f24f314237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641" autoAdjust="0"/>
  </p:normalViewPr>
  <p:slideViewPr>
    <p:cSldViewPr snapToGrid="0">
      <p:cViewPr varScale="1">
        <p:scale>
          <a:sx n="88" d="100"/>
          <a:sy n="88" d="100"/>
        </p:scale>
        <p:origin x="102" y="312"/>
      </p:cViewPr>
      <p:guideLst/>
    </p:cSldViewPr>
  </p:slideViewPr>
  <p:outlineViewPr>
    <p:cViewPr>
      <p:scale>
        <a:sx n="33" d="100"/>
        <a:sy n="33" d="100"/>
      </p:scale>
      <p:origin x="0" y="-2222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60" Type="http://customschemas.google.com/relationships/presentationmetadata" Target="metadata"/><Relationship Id="rId6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6434"/>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6434"/>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73892"/>
            <a:ext cx="5608320" cy="3660458"/>
          </a:xfrm>
          <a:prstGeom prst="rect">
            <a:avLst/>
          </a:prstGeom>
          <a:noFill/>
          <a:ln>
            <a:noFill/>
          </a:ln>
        </p:spPr>
        <p:txBody>
          <a:bodyPr spcFirstLastPara="1" wrap="square" lIns="93175" tIns="46575" rIns="93175" bIns="465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967"/>
            <a:ext cx="3037840" cy="466433"/>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7"/>
            <a:ext cx="3037840" cy="466433"/>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04" name="Google Shape;104;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12" name="Google Shape;112;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18" name="Google Shape;118;p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13dc237b69_0_3: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24" name="Google Shape;124;g113dc237b69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13dc237b69_0_10: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30" name="Google Shape;130;g113dc237b69_0_1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13dc237b69_0_16: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38" name="Google Shape;138;g113dc237b69_0_1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45" name="Google Shape;145;p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51" name="Google Shape;151;p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57" name="Google Shape;157;p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63" name="Google Shape;163;p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69" name="Google Shape;169;p1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75" name="Google Shape;175;p1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81" name="Google Shape;181;p1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87" name="Google Shape;187;p1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93" name="Google Shape;193;p1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99" name="Google Shape;199;p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05" name="Google Shape;205;p1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11" name="Google Shape;211;p1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17" name="Google Shape;217;p1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23" name="Google Shape;223;p1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29" name="Google Shape;229;p2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35" name="Google Shape;235;p2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41" name="Google Shape;241;p2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47" name="Google Shape;247;p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53" name="Google Shape;253;p2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59" name="Google Shape;259;p2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65" name="Google Shape;265;p2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71" name="Google Shape;271;p2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78" name="Google Shape;278;p2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113dc237b69_0_39: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84" name="Google Shape;284;g113dc237b69_0_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90" name="Google Shape;290;p2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96" name="Google Shape;296;p3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113dc237b69_0_4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02" name="Google Shape;302;g113dc237b69_0_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08" name="Google Shape;308;p3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6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14" name="Google Shape;314;p6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5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20" name="Google Shape;320;p5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5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26" name="Google Shape;326;p5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5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32" name="Google Shape;332;p5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6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38" name="Google Shape;338;p6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6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44" name="Google Shape;344;p6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6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50" name="Google Shape;350;p6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6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56" name="Google Shape;356;p6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6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62" name="Google Shape;362;p6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6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68" name="Google Shape;368;p6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6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74" name="Google Shape;374;p6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6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80" name="Google Shape;380;p6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7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86" name="Google Shape;386;p7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7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92" name="Google Shape;392;p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hapter Slide">
  <p:cSld name="1_Chapter Slide">
    <p:spTree>
      <p:nvGrpSpPr>
        <p:cNvPr id="1" name="Shape 14"/>
        <p:cNvGrpSpPr/>
        <p:nvPr/>
      </p:nvGrpSpPr>
      <p:grpSpPr>
        <a:xfrm>
          <a:off x="0" y="0"/>
          <a:ext cx="0" cy="0"/>
          <a:chOff x="0" y="0"/>
          <a:chExt cx="0" cy="0"/>
        </a:xfrm>
      </p:grpSpPr>
      <p:pic>
        <p:nvPicPr>
          <p:cNvPr id="15" name="Google Shape;15;p80"/>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16" name="Google Shape;16;p80"/>
          <p:cNvSpPr txBox="1">
            <a:spLocks noGrp="1"/>
          </p:cNvSpPr>
          <p:nvPr>
            <p:ph type="body" idx="1"/>
          </p:nvPr>
        </p:nvSpPr>
        <p:spPr>
          <a:xfrm>
            <a:off x="5158065" y="3083849"/>
            <a:ext cx="5943392" cy="1343006"/>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chemeClr val="lt1"/>
              </a:buClr>
              <a:buSzPts val="3600"/>
              <a:buNone/>
              <a:defRPr sz="36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80"/>
          <p:cNvSpPr txBox="1">
            <a:spLocks noGrp="1"/>
          </p:cNvSpPr>
          <p:nvPr>
            <p:ph type="title"/>
          </p:nvPr>
        </p:nvSpPr>
        <p:spPr>
          <a:xfrm>
            <a:off x="5158065" y="2006622"/>
            <a:ext cx="5045478" cy="86722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sz="40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8" name="Google Shape;18;p80"/>
          <p:cNvSpPr>
            <a:spLocks noGrp="1"/>
          </p:cNvSpPr>
          <p:nvPr>
            <p:ph type="pic" idx="2"/>
          </p:nvPr>
        </p:nvSpPr>
        <p:spPr>
          <a:xfrm>
            <a:off x="246063" y="314482"/>
            <a:ext cx="3343275" cy="4318000"/>
          </a:xfrm>
          <a:prstGeom prst="rect">
            <a:avLst/>
          </a:prstGeom>
          <a:noFill/>
          <a:ln>
            <a:noFill/>
          </a:ln>
        </p:spPr>
      </p:sp>
      <p:pic>
        <p:nvPicPr>
          <p:cNvPr id="19" name="Google Shape;19;p80"/>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20" name="Google Shape;20;p80"/>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0"/>
          <p:cNvSpPr txBox="1">
            <a:spLocks noGrp="1"/>
          </p:cNvSpPr>
          <p:nvPr>
            <p:ph type="body" idx="3"/>
          </p:nvPr>
        </p:nvSpPr>
        <p:spPr>
          <a:xfrm>
            <a:off x="2909661" y="6356350"/>
            <a:ext cx="8815898" cy="36512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1800"/>
              <a:buNone/>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2"/>
        <p:cNvGrpSpPr/>
        <p:nvPr/>
      </p:nvGrpSpPr>
      <p:grpSpPr>
        <a:xfrm>
          <a:off x="0" y="0"/>
          <a:ext cx="0" cy="0"/>
          <a:chOff x="0" y="0"/>
          <a:chExt cx="0" cy="0"/>
        </a:xfrm>
      </p:grpSpPr>
      <p:sp>
        <p:nvSpPr>
          <p:cNvPr id="23" name="Google Shape;23;p8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 name="Google Shape;24;p81"/>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b="0" i="0">
                <a:solidFill>
                  <a:srgbClr val="000000"/>
                </a:solidFill>
                <a:latin typeface="Arial"/>
                <a:ea typeface="Arial"/>
                <a:cs typeface="Arial"/>
                <a:sym typeface="Arial"/>
              </a:defRPr>
            </a:lvl1pPr>
            <a:lvl2pPr marL="914400" lvl="1" indent="-381000" algn="l">
              <a:lnSpc>
                <a:spcPct val="100000"/>
              </a:lnSpc>
              <a:spcBef>
                <a:spcPts val="624"/>
              </a:spcBef>
              <a:spcAft>
                <a:spcPts val="0"/>
              </a:spcAft>
              <a:buClr>
                <a:srgbClr val="004A78"/>
              </a:buClr>
              <a:buSzPts val="2400"/>
              <a:buFont typeface="Arial"/>
              <a:buChar char="–"/>
              <a:defRPr>
                <a:solidFill>
                  <a:srgbClr val="000000"/>
                </a:solidFill>
                <a:latin typeface="Arial"/>
                <a:ea typeface="Arial"/>
                <a:cs typeface="Arial"/>
                <a:sym typeface="Arial"/>
              </a:defRPr>
            </a:lvl2pPr>
            <a:lvl3pPr marL="1371600" lvl="2" indent="-368300" algn="l">
              <a:lnSpc>
                <a:spcPct val="100000"/>
              </a:lnSpc>
              <a:spcBef>
                <a:spcPts val="624"/>
              </a:spcBef>
              <a:spcAft>
                <a:spcPts val="0"/>
              </a:spcAft>
              <a:buClr>
                <a:srgbClr val="000000"/>
              </a:buClr>
              <a:buSzPts val="2200"/>
              <a:buFont typeface="Noto Sans Symbols"/>
              <a:buChar char="▪"/>
              <a:defRPr sz="2200">
                <a:solidFill>
                  <a:srgbClr val="000000"/>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81"/>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26"/>
        <p:cNvGrpSpPr/>
        <p:nvPr/>
      </p:nvGrpSpPr>
      <p:grpSpPr>
        <a:xfrm>
          <a:off x="0" y="0"/>
          <a:ext cx="0" cy="0"/>
          <a:chOff x="0" y="0"/>
          <a:chExt cx="0" cy="0"/>
        </a:xfrm>
      </p:grpSpPr>
      <p:sp>
        <p:nvSpPr>
          <p:cNvPr id="27" name="Google Shape;27;p8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8" name="Google Shape;28;p82"/>
          <p:cNvSpPr txBox="1">
            <a:spLocks noGrp="1"/>
          </p:cNvSpPr>
          <p:nvPr>
            <p:ph type="body" idx="1"/>
          </p:nvPr>
        </p:nvSpPr>
        <p:spPr>
          <a:xfrm>
            <a:off x="743577" y="1289684"/>
            <a:ext cx="4606346" cy="4469766"/>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b="0" i="0">
                <a:solidFill>
                  <a:srgbClr val="000000"/>
                </a:solidFill>
                <a:latin typeface="Arial"/>
                <a:ea typeface="Arial"/>
                <a:cs typeface="Arial"/>
                <a:sym typeface="Arial"/>
              </a:defRPr>
            </a:lvl1pPr>
            <a:lvl2pPr marL="914400" lvl="1" indent="-381000" algn="l">
              <a:lnSpc>
                <a:spcPct val="100000"/>
              </a:lnSpc>
              <a:spcBef>
                <a:spcPts val="624"/>
              </a:spcBef>
              <a:spcAft>
                <a:spcPts val="0"/>
              </a:spcAft>
              <a:buClr>
                <a:srgbClr val="004A78"/>
              </a:buClr>
              <a:buSzPts val="2400"/>
              <a:buFont typeface="Arial"/>
              <a:buChar char="–"/>
              <a:defRPr>
                <a:solidFill>
                  <a:srgbClr val="000000"/>
                </a:solidFill>
                <a:latin typeface="Arial"/>
                <a:ea typeface="Arial"/>
                <a:cs typeface="Arial"/>
                <a:sym typeface="Arial"/>
              </a:defRPr>
            </a:lvl2pPr>
            <a:lvl3pPr marL="1371600" lvl="2" indent="-368300" algn="l">
              <a:lnSpc>
                <a:spcPct val="100000"/>
              </a:lnSpc>
              <a:spcBef>
                <a:spcPts val="624"/>
              </a:spcBef>
              <a:spcAft>
                <a:spcPts val="0"/>
              </a:spcAft>
              <a:buClr>
                <a:srgbClr val="000000"/>
              </a:buClr>
              <a:buSzPts val="2200"/>
              <a:buFont typeface="Arial"/>
              <a:buChar char="•"/>
              <a:defRPr sz="2200">
                <a:solidFill>
                  <a:srgbClr val="000000"/>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82"/>
          <p:cNvSpPr>
            <a:spLocks noGrp="1"/>
          </p:cNvSpPr>
          <p:nvPr>
            <p:ph type="pic" idx="2"/>
          </p:nvPr>
        </p:nvSpPr>
        <p:spPr>
          <a:xfrm>
            <a:off x="5813425" y="1289050"/>
            <a:ext cx="2947988" cy="1044575"/>
          </a:xfrm>
          <a:prstGeom prst="rect">
            <a:avLst/>
          </a:prstGeom>
          <a:noFill/>
          <a:ln>
            <a:noFill/>
          </a:ln>
        </p:spPr>
      </p:sp>
      <p:sp>
        <p:nvSpPr>
          <p:cNvPr id="30" name="Google Shape;30;p82"/>
          <p:cNvSpPr txBox="1">
            <a:spLocks noGrp="1"/>
          </p:cNvSpPr>
          <p:nvPr>
            <p:ph type="body" idx="3"/>
          </p:nvPr>
        </p:nvSpPr>
        <p:spPr>
          <a:xfrm>
            <a:off x="5813425" y="2586038"/>
            <a:ext cx="5540375" cy="1466850"/>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a:lvl1pPr>
            <a:lvl2pPr marL="914400" lvl="1" indent="-381000" algn="l">
              <a:lnSpc>
                <a:spcPct val="100000"/>
              </a:lnSpc>
              <a:spcBef>
                <a:spcPts val="624"/>
              </a:spcBef>
              <a:spcAft>
                <a:spcPts val="0"/>
              </a:spcAft>
              <a:buClr>
                <a:srgbClr val="000000"/>
              </a:buClr>
              <a:buSzPts val="2400"/>
              <a:buFont typeface="Arial"/>
              <a:buChar char="–"/>
              <a:defRPr>
                <a:solidFill>
                  <a:srgbClr val="000000"/>
                </a:solidFill>
              </a:defRPr>
            </a:lvl2pPr>
            <a:lvl3pPr marL="1371600" lvl="2" indent="-368300" algn="l">
              <a:lnSpc>
                <a:spcPct val="100000"/>
              </a:lnSpc>
              <a:spcBef>
                <a:spcPts val="624"/>
              </a:spcBef>
              <a:spcAft>
                <a:spcPts val="0"/>
              </a:spcAft>
              <a:buClr>
                <a:srgbClr val="000000"/>
              </a:buClr>
              <a:buSzPts val="2200"/>
              <a:buFont typeface="Noto Sans Symbols"/>
              <a:buChar char="▪"/>
              <a:defRPr sz="2200"/>
            </a:lvl3pPr>
            <a:lvl4pPr marL="1828800" lvl="3" indent="-342900" algn="l">
              <a:lnSpc>
                <a:spcPct val="100000"/>
              </a:lnSpc>
              <a:spcBef>
                <a:spcPts val="624"/>
              </a:spcBef>
              <a:spcAft>
                <a:spcPts val="0"/>
              </a:spcAft>
              <a:buClr>
                <a:srgbClr val="004A78"/>
              </a:buClr>
              <a:buSzPts val="1800"/>
              <a:buChar char="•"/>
              <a:defRPr/>
            </a:lvl4pPr>
            <a:lvl5pPr marL="2286000" lvl="4" indent="-342900" algn="l">
              <a:lnSpc>
                <a:spcPct val="100000"/>
              </a:lnSpc>
              <a:spcBef>
                <a:spcPts val="624"/>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82"/>
          <p:cNvSpPr>
            <a:spLocks noGrp="1"/>
          </p:cNvSpPr>
          <p:nvPr>
            <p:ph type="pic" idx="4"/>
          </p:nvPr>
        </p:nvSpPr>
        <p:spPr>
          <a:xfrm>
            <a:off x="5813425" y="4421188"/>
            <a:ext cx="2947988" cy="1235075"/>
          </a:xfrm>
          <a:prstGeom prst="rect">
            <a:avLst/>
          </a:prstGeom>
          <a:noFill/>
          <a:ln>
            <a:noFill/>
          </a:ln>
        </p:spPr>
      </p:sp>
      <p:sp>
        <p:nvSpPr>
          <p:cNvPr id="32" name="Google Shape;32;p82"/>
          <p:cNvSpPr>
            <a:spLocks noGrp="1"/>
          </p:cNvSpPr>
          <p:nvPr>
            <p:ph type="pic" idx="5"/>
          </p:nvPr>
        </p:nvSpPr>
        <p:spPr>
          <a:xfrm>
            <a:off x="6327775" y="5427663"/>
            <a:ext cx="1060450" cy="842962"/>
          </a:xfrm>
          <a:prstGeom prst="rect">
            <a:avLst/>
          </a:prstGeom>
          <a:noFill/>
          <a:ln>
            <a:noFill/>
          </a:ln>
        </p:spPr>
      </p:sp>
      <p:sp>
        <p:nvSpPr>
          <p:cNvPr id="33" name="Google Shape;33;p82"/>
          <p:cNvSpPr>
            <a:spLocks noGrp="1"/>
          </p:cNvSpPr>
          <p:nvPr>
            <p:ph type="pic" idx="6"/>
          </p:nvPr>
        </p:nvSpPr>
        <p:spPr>
          <a:xfrm>
            <a:off x="7902575" y="5427663"/>
            <a:ext cx="1211263" cy="946150"/>
          </a:xfrm>
          <a:prstGeom prst="rect">
            <a:avLst/>
          </a:prstGeom>
          <a:noFill/>
          <a:ln>
            <a:noFill/>
          </a:ln>
        </p:spPr>
      </p:sp>
      <p:sp>
        <p:nvSpPr>
          <p:cNvPr id="34" name="Google Shape;34;p82"/>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5"/>
        <p:cNvGrpSpPr/>
        <p:nvPr/>
      </p:nvGrpSpPr>
      <p:grpSpPr>
        <a:xfrm>
          <a:off x="0" y="0"/>
          <a:ext cx="0" cy="0"/>
          <a:chOff x="0" y="0"/>
          <a:chExt cx="0" cy="0"/>
        </a:xfrm>
      </p:grpSpPr>
      <p:pic>
        <p:nvPicPr>
          <p:cNvPr id="36" name="Google Shape;36;p83"/>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37" name="Google Shape;37;p83"/>
          <p:cNvSpPr txBox="1">
            <a:spLocks noGrp="1"/>
          </p:cNvSpPr>
          <p:nvPr>
            <p:ph type="title"/>
          </p:nvPr>
        </p:nvSpPr>
        <p:spPr>
          <a:xfrm>
            <a:off x="838200" y="2291187"/>
            <a:ext cx="10515600" cy="684026"/>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8" name="Google Shape;38;p83"/>
          <p:cNvSpPr txBox="1">
            <a:spLocks noGrp="1"/>
          </p:cNvSpPr>
          <p:nvPr>
            <p:ph type="body" idx="1"/>
          </p:nvPr>
        </p:nvSpPr>
        <p:spPr>
          <a:xfrm>
            <a:off x="4867275" y="3619985"/>
            <a:ext cx="2457450" cy="597477"/>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1000"/>
              </a:spcBef>
              <a:spcAft>
                <a:spcPts val="0"/>
              </a:spcAft>
              <a:buClr>
                <a:schemeClr val="lt1"/>
              </a:buClr>
              <a:buSzPts val="2000"/>
              <a:buNone/>
              <a:defRPr sz="2000" b="0"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9" name="Google Shape;39;p83"/>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40" name="Google Shape;40;p83"/>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Unit Slide">
  <p:cSld name="Unit Slide">
    <p:spTree>
      <p:nvGrpSpPr>
        <p:cNvPr id="1" name="Shape 41"/>
        <p:cNvGrpSpPr/>
        <p:nvPr/>
      </p:nvGrpSpPr>
      <p:grpSpPr>
        <a:xfrm>
          <a:off x="0" y="0"/>
          <a:ext cx="0" cy="0"/>
          <a:chOff x="0" y="0"/>
          <a:chExt cx="0" cy="0"/>
        </a:xfrm>
      </p:grpSpPr>
      <p:pic>
        <p:nvPicPr>
          <p:cNvPr id="42" name="Google Shape;42;p84"/>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43" name="Google Shape;43;p84"/>
          <p:cNvSpPr txBox="1">
            <a:spLocks noGrp="1"/>
          </p:cNvSpPr>
          <p:nvPr>
            <p:ph type="body" idx="1"/>
          </p:nvPr>
        </p:nvSpPr>
        <p:spPr>
          <a:xfrm>
            <a:off x="1274574" y="2193424"/>
            <a:ext cx="9642852" cy="618014"/>
          </a:xfrm>
          <a:prstGeom prst="rect">
            <a:avLst/>
          </a:prstGeom>
          <a:noFill/>
          <a:ln>
            <a:noFill/>
          </a:ln>
        </p:spPr>
        <p:txBody>
          <a:bodyPr spcFirstLastPara="1" wrap="square" lIns="0" tIns="0" rIns="0" bIns="0" anchor="b" anchorCtr="0">
            <a:noAutofit/>
          </a:bodyPr>
          <a:lstStyle>
            <a:lvl1pPr marL="457200" lvl="0" indent="-228600" algn="ctr">
              <a:lnSpc>
                <a:spcPct val="90000"/>
              </a:lnSpc>
              <a:spcBef>
                <a:spcPts val="1000"/>
              </a:spcBef>
              <a:spcAft>
                <a:spcPts val="0"/>
              </a:spcAft>
              <a:buClr>
                <a:schemeClr val="lt1"/>
              </a:buClr>
              <a:buSzPts val="5000"/>
              <a:buNone/>
              <a:defRPr sz="50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84"/>
          <p:cNvSpPr txBox="1">
            <a:spLocks noGrp="1"/>
          </p:cNvSpPr>
          <p:nvPr>
            <p:ph type="title"/>
          </p:nvPr>
        </p:nvSpPr>
        <p:spPr>
          <a:xfrm>
            <a:off x="838200" y="3096122"/>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pic>
        <p:nvPicPr>
          <p:cNvPr id="45" name="Google Shape;45;p84"/>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46" name="Google Shape;46;p84"/>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pter Slide">
  <p:cSld name="Chapter Slide">
    <p:spTree>
      <p:nvGrpSpPr>
        <p:cNvPr id="1" name="Shape 47"/>
        <p:cNvGrpSpPr/>
        <p:nvPr/>
      </p:nvGrpSpPr>
      <p:grpSpPr>
        <a:xfrm>
          <a:off x="0" y="0"/>
          <a:ext cx="0" cy="0"/>
          <a:chOff x="0" y="0"/>
          <a:chExt cx="0" cy="0"/>
        </a:xfrm>
      </p:grpSpPr>
      <p:pic>
        <p:nvPicPr>
          <p:cNvPr id="48" name="Google Shape;48;p85"/>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49" name="Google Shape;49;p85"/>
          <p:cNvSpPr txBox="1">
            <a:spLocks noGrp="1"/>
          </p:cNvSpPr>
          <p:nvPr>
            <p:ph type="body" idx="1"/>
          </p:nvPr>
        </p:nvSpPr>
        <p:spPr>
          <a:xfrm>
            <a:off x="3996910" y="3112899"/>
            <a:ext cx="3297426" cy="618014"/>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1000"/>
              </a:spcBef>
              <a:spcAft>
                <a:spcPts val="0"/>
              </a:spcAft>
              <a:buClr>
                <a:schemeClr val="lt1"/>
              </a:buClr>
              <a:buSzPts val="3600"/>
              <a:buNone/>
              <a:defRPr sz="36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85"/>
          <p:cNvSpPr txBox="1">
            <a:spLocks noGrp="1"/>
          </p:cNvSpPr>
          <p:nvPr>
            <p:ph type="title"/>
          </p:nvPr>
        </p:nvSpPr>
        <p:spPr>
          <a:xfrm>
            <a:off x="3996910" y="4035474"/>
            <a:ext cx="6402684" cy="672105"/>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85"/>
          <p:cNvSpPr>
            <a:spLocks noGrp="1"/>
          </p:cNvSpPr>
          <p:nvPr>
            <p:ph type="pic" idx="2"/>
          </p:nvPr>
        </p:nvSpPr>
        <p:spPr>
          <a:xfrm>
            <a:off x="246063" y="314482"/>
            <a:ext cx="3343275" cy="4318000"/>
          </a:xfrm>
          <a:prstGeom prst="rect">
            <a:avLst/>
          </a:prstGeom>
          <a:noFill/>
          <a:ln>
            <a:noFill/>
          </a:ln>
        </p:spPr>
      </p:sp>
      <p:pic>
        <p:nvPicPr>
          <p:cNvPr id="52" name="Google Shape;52;p85"/>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53" name="Google Shape;53;p85"/>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Sections and Content">
  <p:cSld name="Two Sections and Content">
    <p:spTree>
      <p:nvGrpSpPr>
        <p:cNvPr id="1" name="Shape 54"/>
        <p:cNvGrpSpPr/>
        <p:nvPr/>
      </p:nvGrpSpPr>
      <p:grpSpPr>
        <a:xfrm>
          <a:off x="0" y="0"/>
          <a:ext cx="0" cy="0"/>
          <a:chOff x="0" y="0"/>
          <a:chExt cx="0" cy="0"/>
        </a:xfrm>
      </p:grpSpPr>
      <p:sp>
        <p:nvSpPr>
          <p:cNvPr id="55" name="Google Shape;55;p8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6" name="Google Shape;56;p86"/>
          <p:cNvSpPr txBox="1">
            <a:spLocks noGrp="1"/>
          </p:cNvSpPr>
          <p:nvPr>
            <p:ph type="body" idx="1"/>
          </p:nvPr>
        </p:nvSpPr>
        <p:spPr>
          <a:xfrm>
            <a:off x="743574" y="1290690"/>
            <a:ext cx="10711543" cy="34804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6298"/>
              </a:buClr>
              <a:buSzPts val="2400"/>
              <a:buNone/>
              <a:defRPr sz="2400" b="1" i="0">
                <a:solidFill>
                  <a:srgbClr val="006298"/>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86"/>
          <p:cNvSpPr txBox="1">
            <a:spLocks noGrp="1"/>
          </p:cNvSpPr>
          <p:nvPr>
            <p:ph type="body" idx="2"/>
          </p:nvPr>
        </p:nvSpPr>
        <p:spPr>
          <a:xfrm>
            <a:off x="740228" y="1737343"/>
            <a:ext cx="10711543" cy="1462674"/>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000"/>
              </a:spcBef>
              <a:spcAft>
                <a:spcPts val="0"/>
              </a:spcAft>
              <a:buClr>
                <a:srgbClr val="000000"/>
              </a:buClr>
              <a:buSzPts val="2400"/>
              <a:buFont typeface="Arial"/>
              <a:buChar char="•"/>
              <a:defRPr sz="2400" b="0" i="0">
                <a:solidFill>
                  <a:srgbClr val="000000"/>
                </a:solidFill>
                <a:latin typeface="Arial"/>
                <a:ea typeface="Arial"/>
                <a:cs typeface="Arial"/>
                <a:sym typeface="Arial"/>
              </a:defRPr>
            </a:lvl1pPr>
            <a:lvl2pPr marL="914400" lvl="1" indent="-228600" algn="l">
              <a:lnSpc>
                <a:spcPct val="90000"/>
              </a:lnSpc>
              <a:spcBef>
                <a:spcPts val="500"/>
              </a:spcBef>
              <a:spcAft>
                <a:spcPts val="0"/>
              </a:spcAft>
              <a:buClr>
                <a:srgbClr val="000000"/>
              </a:buClr>
              <a:buSzPts val="2400"/>
              <a:buFont typeface="Arial"/>
              <a:buNone/>
              <a:defRPr>
                <a:solidFill>
                  <a:srgbClr val="000000"/>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86"/>
          <p:cNvSpPr txBox="1">
            <a:spLocks noGrp="1"/>
          </p:cNvSpPr>
          <p:nvPr>
            <p:ph type="body" idx="3"/>
          </p:nvPr>
        </p:nvSpPr>
        <p:spPr>
          <a:xfrm>
            <a:off x="743573" y="3389727"/>
            <a:ext cx="10711543" cy="34804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6298"/>
              </a:buClr>
              <a:buSzPts val="2400"/>
              <a:buNone/>
              <a:defRPr sz="2400" b="1" i="0">
                <a:solidFill>
                  <a:srgbClr val="006298"/>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86"/>
          <p:cNvSpPr txBox="1">
            <a:spLocks noGrp="1"/>
          </p:cNvSpPr>
          <p:nvPr>
            <p:ph type="body" idx="4"/>
          </p:nvPr>
        </p:nvSpPr>
        <p:spPr>
          <a:xfrm>
            <a:off x="743572" y="3856204"/>
            <a:ext cx="10711543" cy="146267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2400"/>
              <a:buNone/>
              <a:defRPr sz="2400" b="0" i="0">
                <a:solidFill>
                  <a:srgbClr val="000000"/>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86"/>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Comparison">
  <p:cSld name="Two Content Comparison">
    <p:spTree>
      <p:nvGrpSpPr>
        <p:cNvPr id="1" name="Shape 61"/>
        <p:cNvGrpSpPr/>
        <p:nvPr/>
      </p:nvGrpSpPr>
      <p:grpSpPr>
        <a:xfrm>
          <a:off x="0" y="0"/>
          <a:ext cx="0" cy="0"/>
          <a:chOff x="0" y="0"/>
          <a:chExt cx="0" cy="0"/>
        </a:xfrm>
      </p:grpSpPr>
      <p:sp>
        <p:nvSpPr>
          <p:cNvPr id="62" name="Google Shape;62;p8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3" name="Google Shape;63;p87"/>
          <p:cNvSpPr txBox="1">
            <a:spLocks noGrp="1"/>
          </p:cNvSpPr>
          <p:nvPr>
            <p:ph type="body" idx="1"/>
          </p:nvPr>
        </p:nvSpPr>
        <p:spPr>
          <a:xfrm>
            <a:off x="743576" y="1579015"/>
            <a:ext cx="5084468"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87"/>
          <p:cNvSpPr txBox="1">
            <a:spLocks noGrp="1"/>
          </p:cNvSpPr>
          <p:nvPr>
            <p:ph type="body" idx="2"/>
          </p:nvPr>
        </p:nvSpPr>
        <p:spPr>
          <a:xfrm>
            <a:off x="743576" y="2202774"/>
            <a:ext cx="5084468"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Font typeface="Arial"/>
              <a:buNone/>
              <a:defRPr sz="1800">
                <a:solidFill>
                  <a:srgbClr val="000000"/>
                </a:solidFill>
              </a:defRPr>
            </a:lvl1pPr>
            <a:lvl2pPr marL="914400" lvl="1" indent="-228600" algn="l">
              <a:lnSpc>
                <a:spcPct val="90000"/>
              </a:lnSpc>
              <a:spcBef>
                <a:spcPts val="500"/>
              </a:spcBef>
              <a:spcAft>
                <a:spcPts val="0"/>
              </a:spcAft>
              <a:buClr>
                <a:srgbClr val="004A78"/>
              </a:buClr>
              <a:buSzPts val="1800"/>
              <a:buFont typeface="Arial"/>
              <a:buNone/>
              <a:defRPr sz="1800">
                <a:solidFill>
                  <a:srgbClr val="000000"/>
                </a:solidFill>
              </a:defRPr>
            </a:lvl2pPr>
            <a:lvl3pPr marL="1371600" lvl="2" indent="-342900" algn="l">
              <a:lnSpc>
                <a:spcPct val="90000"/>
              </a:lnSpc>
              <a:spcBef>
                <a:spcPts val="500"/>
              </a:spcBef>
              <a:spcAft>
                <a:spcPts val="0"/>
              </a:spcAft>
              <a:buClr>
                <a:srgbClr val="004A78"/>
              </a:buClr>
              <a:buSzPts val="1800"/>
              <a:buFont typeface="Arial"/>
              <a:buChar char="•"/>
              <a:defRPr sz="1800">
                <a:solidFill>
                  <a:srgbClr val="000000"/>
                </a:solidFill>
              </a:defRPr>
            </a:lvl3pPr>
            <a:lvl4pPr marL="1828800" lvl="3" indent="-342900" algn="l">
              <a:lnSpc>
                <a:spcPct val="90000"/>
              </a:lnSpc>
              <a:spcBef>
                <a:spcPts val="500"/>
              </a:spcBef>
              <a:spcAft>
                <a:spcPts val="0"/>
              </a:spcAft>
              <a:buClr>
                <a:srgbClr val="004A78"/>
              </a:buClr>
              <a:buSzPts val="1800"/>
              <a:buFont typeface="Arial"/>
              <a:buChar char="•"/>
              <a:defRPr sz="1800">
                <a:solidFill>
                  <a:srgbClr val="000000"/>
                </a:solidFill>
              </a:defRPr>
            </a:lvl4pPr>
            <a:lvl5pPr marL="2286000" lvl="4" indent="-342900" algn="l">
              <a:lnSpc>
                <a:spcPct val="90000"/>
              </a:lnSpc>
              <a:spcBef>
                <a:spcPts val="500"/>
              </a:spcBef>
              <a:spcAft>
                <a:spcPts val="0"/>
              </a:spcAft>
              <a:buClr>
                <a:srgbClr val="004A78"/>
              </a:buClr>
              <a:buSzPts val="1800"/>
              <a:buFont typeface="Arial"/>
              <a:buChar char="•"/>
              <a:defRPr sz="1800">
                <a:solidFill>
                  <a:srgbClr val="00000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87"/>
          <p:cNvSpPr txBox="1">
            <a:spLocks noGrp="1"/>
          </p:cNvSpPr>
          <p:nvPr>
            <p:ph type="body" idx="3"/>
          </p:nvPr>
        </p:nvSpPr>
        <p:spPr>
          <a:xfrm>
            <a:off x="6370651" y="1579015"/>
            <a:ext cx="5084468"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87"/>
          <p:cNvSpPr txBox="1">
            <a:spLocks noGrp="1"/>
          </p:cNvSpPr>
          <p:nvPr>
            <p:ph type="body" idx="4"/>
          </p:nvPr>
        </p:nvSpPr>
        <p:spPr>
          <a:xfrm>
            <a:off x="6370651" y="2202774"/>
            <a:ext cx="5084468"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solidFill>
                  <a:srgbClr val="000000"/>
                </a:solidFill>
              </a:defRPr>
            </a:lvl2pPr>
            <a:lvl3pPr marL="1371600" lvl="2" indent="-342900" algn="l">
              <a:lnSpc>
                <a:spcPct val="90000"/>
              </a:lnSpc>
              <a:spcBef>
                <a:spcPts val="500"/>
              </a:spcBef>
              <a:spcAft>
                <a:spcPts val="0"/>
              </a:spcAft>
              <a:buClr>
                <a:srgbClr val="004A78"/>
              </a:buClr>
              <a:buSzPts val="1800"/>
              <a:buChar char="•"/>
              <a:defRPr sz="1800">
                <a:solidFill>
                  <a:srgbClr val="000000"/>
                </a:solidFill>
              </a:defRPr>
            </a:lvl3pPr>
            <a:lvl4pPr marL="1828800" lvl="3" indent="-342900" algn="l">
              <a:lnSpc>
                <a:spcPct val="90000"/>
              </a:lnSpc>
              <a:spcBef>
                <a:spcPts val="500"/>
              </a:spcBef>
              <a:spcAft>
                <a:spcPts val="0"/>
              </a:spcAft>
              <a:buClr>
                <a:srgbClr val="004A78"/>
              </a:buClr>
              <a:buSzPts val="1800"/>
              <a:buChar char="•"/>
              <a:defRPr sz="1800">
                <a:solidFill>
                  <a:srgbClr val="000000"/>
                </a:solidFill>
              </a:defRPr>
            </a:lvl4pPr>
            <a:lvl5pPr marL="2286000" lvl="4" indent="-342900" algn="l">
              <a:lnSpc>
                <a:spcPct val="90000"/>
              </a:lnSpc>
              <a:spcBef>
                <a:spcPts val="500"/>
              </a:spcBef>
              <a:spcAft>
                <a:spcPts val="0"/>
              </a:spcAft>
              <a:buClr>
                <a:srgbClr val="004A78"/>
              </a:buClr>
              <a:buSzPts val="1800"/>
              <a:buChar char="•"/>
              <a:defRPr sz="1800">
                <a:solidFill>
                  <a:srgbClr val="00000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87"/>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ntent Comparison">
  <p:cSld name="Three Content Comparison">
    <p:spTree>
      <p:nvGrpSpPr>
        <p:cNvPr id="1" name="Shape 68"/>
        <p:cNvGrpSpPr/>
        <p:nvPr/>
      </p:nvGrpSpPr>
      <p:grpSpPr>
        <a:xfrm>
          <a:off x="0" y="0"/>
          <a:ext cx="0" cy="0"/>
          <a:chOff x="0" y="0"/>
          <a:chExt cx="0" cy="0"/>
        </a:xfrm>
      </p:grpSpPr>
      <p:sp>
        <p:nvSpPr>
          <p:cNvPr id="69" name="Google Shape;69;p8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0" name="Google Shape;70;p88"/>
          <p:cNvSpPr txBox="1">
            <a:spLocks noGrp="1"/>
          </p:cNvSpPr>
          <p:nvPr>
            <p:ph type="body" idx="1"/>
          </p:nvPr>
        </p:nvSpPr>
        <p:spPr>
          <a:xfrm>
            <a:off x="743576"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88"/>
          <p:cNvSpPr txBox="1">
            <a:spLocks noGrp="1"/>
          </p:cNvSpPr>
          <p:nvPr>
            <p:ph type="body" idx="2"/>
          </p:nvPr>
        </p:nvSpPr>
        <p:spPr>
          <a:xfrm>
            <a:off x="743576"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Font typeface="Arial"/>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88"/>
          <p:cNvSpPr txBox="1">
            <a:spLocks noGrp="1"/>
          </p:cNvSpPr>
          <p:nvPr>
            <p:ph type="body" idx="3"/>
          </p:nvPr>
        </p:nvSpPr>
        <p:spPr>
          <a:xfrm>
            <a:off x="4445799"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88"/>
          <p:cNvSpPr txBox="1">
            <a:spLocks noGrp="1"/>
          </p:cNvSpPr>
          <p:nvPr>
            <p:ph type="body" idx="4"/>
          </p:nvPr>
        </p:nvSpPr>
        <p:spPr>
          <a:xfrm>
            <a:off x="4445799"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88"/>
          <p:cNvSpPr txBox="1">
            <a:spLocks noGrp="1"/>
          </p:cNvSpPr>
          <p:nvPr>
            <p:ph type="body" idx="5"/>
          </p:nvPr>
        </p:nvSpPr>
        <p:spPr>
          <a:xfrm>
            <a:off x="8145953"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88"/>
          <p:cNvSpPr txBox="1">
            <a:spLocks noGrp="1"/>
          </p:cNvSpPr>
          <p:nvPr>
            <p:ph type="body" idx="6"/>
          </p:nvPr>
        </p:nvSpPr>
        <p:spPr>
          <a:xfrm>
            <a:off x="8154717"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88"/>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with Caption">
  <p:cSld name="Title and Content with Caption">
    <p:spTree>
      <p:nvGrpSpPr>
        <p:cNvPr id="1" name="Shape 77"/>
        <p:cNvGrpSpPr/>
        <p:nvPr/>
      </p:nvGrpSpPr>
      <p:grpSpPr>
        <a:xfrm>
          <a:off x="0" y="0"/>
          <a:ext cx="0" cy="0"/>
          <a:chOff x="0" y="0"/>
          <a:chExt cx="0" cy="0"/>
        </a:xfrm>
      </p:grpSpPr>
      <p:sp>
        <p:nvSpPr>
          <p:cNvPr id="78" name="Google Shape;78;p8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9" name="Google Shape;79;p89"/>
          <p:cNvSpPr txBox="1">
            <a:spLocks noGrp="1"/>
          </p:cNvSpPr>
          <p:nvPr>
            <p:ph type="body" idx="1"/>
          </p:nvPr>
        </p:nvSpPr>
        <p:spPr>
          <a:xfrm>
            <a:off x="743576" y="1289684"/>
            <a:ext cx="10711543" cy="2750053"/>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2400"/>
              <a:buFont typeface="Arial"/>
              <a:buNone/>
              <a:defRPr sz="2400" b="0" i="0">
                <a:solidFill>
                  <a:srgbClr val="000000"/>
                </a:solidFill>
                <a:latin typeface="Arial"/>
                <a:ea typeface="Arial"/>
                <a:cs typeface="Arial"/>
                <a:sym typeface="Arial"/>
              </a:defRPr>
            </a:lvl1pPr>
            <a:lvl2pPr marL="914400" lvl="1" indent="-228600" algn="l">
              <a:lnSpc>
                <a:spcPct val="90000"/>
              </a:lnSpc>
              <a:spcBef>
                <a:spcPts val="500"/>
              </a:spcBef>
              <a:spcAft>
                <a:spcPts val="0"/>
              </a:spcAft>
              <a:buClr>
                <a:srgbClr val="000000"/>
              </a:buClr>
              <a:buSzPts val="2400"/>
              <a:buFont typeface="Arial"/>
              <a:buNone/>
              <a:defRPr>
                <a:solidFill>
                  <a:srgbClr val="000000"/>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89"/>
          <p:cNvSpPr txBox="1">
            <a:spLocks noGrp="1"/>
          </p:cNvSpPr>
          <p:nvPr>
            <p:ph type="body" idx="2"/>
          </p:nvPr>
        </p:nvSpPr>
        <p:spPr>
          <a:xfrm>
            <a:off x="740228" y="4846655"/>
            <a:ext cx="10711543" cy="8255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rgbClr val="006298"/>
              </a:buClr>
              <a:buSzPts val="1800"/>
              <a:buFont typeface="Arial"/>
              <a:buNone/>
              <a:defRPr sz="1800">
                <a:solidFill>
                  <a:srgbClr val="006298"/>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89"/>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 and Caption">
  <p:cSld name="Image and Caption">
    <p:spTree>
      <p:nvGrpSpPr>
        <p:cNvPr id="1" name="Shape 82"/>
        <p:cNvGrpSpPr/>
        <p:nvPr/>
      </p:nvGrpSpPr>
      <p:grpSpPr>
        <a:xfrm>
          <a:off x="0" y="0"/>
          <a:ext cx="0" cy="0"/>
          <a:chOff x="0" y="0"/>
          <a:chExt cx="0" cy="0"/>
        </a:xfrm>
      </p:grpSpPr>
      <p:sp>
        <p:nvSpPr>
          <p:cNvPr id="83" name="Google Shape;83;p9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4" name="Google Shape;84;p90"/>
          <p:cNvSpPr>
            <a:spLocks noGrp="1"/>
          </p:cNvSpPr>
          <p:nvPr>
            <p:ph type="pic" idx="2"/>
          </p:nvPr>
        </p:nvSpPr>
        <p:spPr>
          <a:xfrm>
            <a:off x="733118" y="1619557"/>
            <a:ext cx="6477000" cy="4259263"/>
          </a:xfrm>
          <a:prstGeom prst="rect">
            <a:avLst/>
          </a:prstGeom>
          <a:noFill/>
          <a:ln>
            <a:noFill/>
          </a:ln>
        </p:spPr>
      </p:sp>
      <p:sp>
        <p:nvSpPr>
          <p:cNvPr id="85" name="Google Shape;85;p90"/>
          <p:cNvSpPr txBox="1">
            <a:spLocks noGrp="1"/>
          </p:cNvSpPr>
          <p:nvPr>
            <p:ph type="body" idx="1"/>
          </p:nvPr>
        </p:nvSpPr>
        <p:spPr>
          <a:xfrm>
            <a:off x="7478972" y="4070657"/>
            <a:ext cx="3976406" cy="180816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rgbClr val="006298"/>
              </a:buClr>
              <a:buSzPts val="1800"/>
              <a:buFont typeface="Arial"/>
              <a:buNone/>
              <a:defRPr sz="1800">
                <a:solidFill>
                  <a:srgbClr val="006298"/>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90"/>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ulleted List">
  <p:cSld name="Bulleted List">
    <p:spTree>
      <p:nvGrpSpPr>
        <p:cNvPr id="1" name="Shape 87"/>
        <p:cNvGrpSpPr/>
        <p:nvPr/>
      </p:nvGrpSpPr>
      <p:grpSpPr>
        <a:xfrm>
          <a:off x="0" y="0"/>
          <a:ext cx="0" cy="0"/>
          <a:chOff x="0" y="0"/>
          <a:chExt cx="0" cy="0"/>
        </a:xfrm>
      </p:grpSpPr>
      <p:sp>
        <p:nvSpPr>
          <p:cNvPr id="88" name="Google Shape;88;p9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9" name="Google Shape;89;p91"/>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Arial"/>
              <a:buChar char="•"/>
              <a:defRPr sz="2000">
                <a:solidFill>
                  <a:srgbClr val="000000"/>
                </a:solidFill>
              </a:defRPr>
            </a:lvl1pPr>
            <a:lvl2pPr marL="914400" marR="0" lvl="1" indent="-355600" algn="l">
              <a:lnSpc>
                <a:spcPct val="90000"/>
              </a:lnSpc>
              <a:spcBef>
                <a:spcPts val="500"/>
              </a:spcBef>
              <a:spcAft>
                <a:spcPts val="0"/>
              </a:spcAft>
              <a:buClr>
                <a:srgbClr val="FF6300"/>
              </a:buClr>
              <a:buSzPts val="2000"/>
              <a:buFont typeface="Arial"/>
              <a:buChar char="•"/>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91"/>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ed List">
  <p:cSld name="Numbered List">
    <p:spTree>
      <p:nvGrpSpPr>
        <p:cNvPr id="1" name="Shape 91"/>
        <p:cNvGrpSpPr/>
        <p:nvPr/>
      </p:nvGrpSpPr>
      <p:grpSpPr>
        <a:xfrm>
          <a:off x="0" y="0"/>
          <a:ext cx="0" cy="0"/>
          <a:chOff x="0" y="0"/>
          <a:chExt cx="0" cy="0"/>
        </a:xfrm>
      </p:grpSpPr>
      <p:sp>
        <p:nvSpPr>
          <p:cNvPr id="92" name="Google Shape;92;p9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3" name="Google Shape;93;p92"/>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Calibri"/>
              <a:buAutoNum type="arabicPeriod"/>
              <a:defRPr sz="2000">
                <a:solidFill>
                  <a:srgbClr val="000000"/>
                </a:solidFill>
              </a:defRPr>
            </a:lvl1pPr>
            <a:lvl2pPr marL="914400" marR="0" lvl="1" indent="-228600" algn="l">
              <a:lnSpc>
                <a:spcPct val="90000"/>
              </a:lnSpc>
              <a:spcBef>
                <a:spcPts val="500"/>
              </a:spcBef>
              <a:spcAft>
                <a:spcPts val="0"/>
              </a:spcAft>
              <a:buClr>
                <a:srgbClr val="006298"/>
              </a:buClr>
              <a:buSzPts val="2000"/>
              <a:buFont typeface="Arial"/>
              <a:buNone/>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92"/>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ullets">
  <p:cSld name="Title and Bullets">
    <p:spTree>
      <p:nvGrpSpPr>
        <p:cNvPr id="1" name="Shape 95"/>
        <p:cNvGrpSpPr/>
        <p:nvPr/>
      </p:nvGrpSpPr>
      <p:grpSpPr>
        <a:xfrm>
          <a:off x="0" y="0"/>
          <a:ext cx="0" cy="0"/>
          <a:chOff x="0" y="0"/>
          <a:chExt cx="0" cy="0"/>
        </a:xfrm>
      </p:grpSpPr>
      <p:sp>
        <p:nvSpPr>
          <p:cNvPr id="96" name="Google Shape;96;p9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7" name="Google Shape;97;p93"/>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Arial"/>
              <a:buChar char="•"/>
              <a:defRPr sz="2000">
                <a:solidFill>
                  <a:srgbClr val="004A78"/>
                </a:solidFill>
              </a:defRPr>
            </a:lvl1pPr>
            <a:lvl2pPr marL="914400" marR="0" lvl="1" indent="-355600" algn="l">
              <a:lnSpc>
                <a:spcPct val="90000"/>
              </a:lnSpc>
              <a:spcBef>
                <a:spcPts val="500"/>
              </a:spcBef>
              <a:spcAft>
                <a:spcPts val="0"/>
              </a:spcAft>
              <a:buClr>
                <a:srgbClr val="006298"/>
              </a:buClr>
              <a:buSzPts val="2000"/>
              <a:buFont typeface="Arial"/>
              <a:buChar char="•"/>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93"/>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Title and Table">
    <p:spTree>
      <p:nvGrpSpPr>
        <p:cNvPr id="1" name="Shape 99"/>
        <p:cNvGrpSpPr/>
        <p:nvPr/>
      </p:nvGrpSpPr>
      <p:grpSpPr>
        <a:xfrm>
          <a:off x="0" y="0"/>
          <a:ext cx="0" cy="0"/>
          <a:chOff x="0" y="0"/>
          <a:chExt cx="0" cy="0"/>
        </a:xfrm>
      </p:grpSpPr>
      <p:sp>
        <p:nvSpPr>
          <p:cNvPr id="100" name="Google Shape;100;p9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1" name="Google Shape;101;p94"/>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marR="0" lvl="0" algn="ctr" rtl="0">
              <a:lnSpc>
                <a:spcPct val="90000"/>
              </a:lnSpc>
              <a:spcBef>
                <a:spcPts val="0"/>
              </a:spcBef>
              <a:spcAft>
                <a:spcPts val="0"/>
              </a:spcAft>
              <a:buSzPts val="1400"/>
              <a:buNone/>
              <a:defRPr sz="3400" b="1" i="0" u="none" strike="noStrike" cap="none">
                <a:solidFill>
                  <a:srgbClr val="004A78"/>
                </a:solidFill>
                <a:latin typeface="Arial"/>
                <a:ea typeface="Arial"/>
                <a:cs typeface="Arial"/>
                <a:sym typeface="Arial"/>
              </a:defRPr>
            </a:lvl1pPr>
            <a:lvl2pPr marR="0" lvl="1"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2pPr>
            <a:lvl3pPr marR="0" lvl="2"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3pPr>
            <a:lvl4pPr marR="0" lvl="3"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4pPr>
            <a:lvl5pPr marR="0" lvl="4"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5pPr>
            <a:lvl6pPr marR="0" lvl="5"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6pPr>
            <a:lvl7pPr marR="0" lvl="6"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7pPr>
            <a:lvl8pPr marR="0" lvl="7"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8pPr>
            <a:lvl9pPr marR="0" lvl="8"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9pPr>
          </a:lstStyle>
          <a:p>
            <a:endParaRPr/>
          </a:p>
        </p:txBody>
      </p:sp>
      <p:sp>
        <p:nvSpPr>
          <p:cNvPr id="11" name="Google Shape;11;p79"/>
          <p:cNvSpPr txBox="1">
            <a:spLocks noGrp="1"/>
          </p:cNvSpPr>
          <p:nvPr>
            <p:ph type="body" idx="1"/>
          </p:nvPr>
        </p:nvSpPr>
        <p:spPr>
          <a:xfrm>
            <a:off x="838200" y="1825625"/>
            <a:ext cx="10515600" cy="4351338"/>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L="914400" marR="0" lvl="1" indent="-381000" algn="l" rtl="0">
              <a:lnSpc>
                <a:spcPct val="90000"/>
              </a:lnSpc>
              <a:spcBef>
                <a:spcPts val="500"/>
              </a:spcBef>
              <a:spcAft>
                <a:spcPts val="0"/>
              </a:spcAft>
              <a:buClr>
                <a:srgbClr val="004A78"/>
              </a:buClr>
              <a:buSzPts val="2400"/>
              <a:buFont typeface="Arial"/>
              <a:buChar char="•"/>
              <a:defRPr sz="2400" b="0" i="0" u="none" strike="noStrike" cap="none">
                <a:solidFill>
                  <a:srgbClr val="004A78"/>
                </a:solidFill>
                <a:latin typeface="Arial"/>
                <a:ea typeface="Arial"/>
                <a:cs typeface="Arial"/>
                <a:sym typeface="Arial"/>
              </a:defRPr>
            </a:lvl2pPr>
            <a:lvl3pPr marL="1371600" marR="0" lvl="2" indent="-355600" algn="l" rtl="0">
              <a:lnSpc>
                <a:spcPct val="90000"/>
              </a:lnSpc>
              <a:spcBef>
                <a:spcPts val="500"/>
              </a:spcBef>
              <a:spcAft>
                <a:spcPts val="0"/>
              </a:spcAft>
              <a:buClr>
                <a:srgbClr val="004A78"/>
              </a:buClr>
              <a:buSzPts val="2000"/>
              <a:buFont typeface="Arial"/>
              <a:buChar char="•"/>
              <a:defRPr sz="2000" b="0" i="0" u="none" strike="noStrike" cap="none">
                <a:solidFill>
                  <a:srgbClr val="004A78"/>
                </a:solidFill>
                <a:latin typeface="Arial"/>
                <a:ea typeface="Arial"/>
                <a:cs typeface="Arial"/>
                <a:sym typeface="Arial"/>
              </a:defRPr>
            </a:lvl3pPr>
            <a:lvl4pPr marL="1828800" marR="0" lvl="3" indent="-342900" algn="l" rtl="0">
              <a:lnSpc>
                <a:spcPct val="90000"/>
              </a:lnSpc>
              <a:spcBef>
                <a:spcPts val="500"/>
              </a:spcBef>
              <a:spcAft>
                <a:spcPts val="0"/>
              </a:spcAft>
              <a:buClr>
                <a:srgbClr val="004A78"/>
              </a:buClr>
              <a:buSzPts val="1800"/>
              <a:buFont typeface="Arial"/>
              <a:buChar char="•"/>
              <a:defRPr sz="1800" b="0" i="0" u="none" strike="noStrike" cap="none">
                <a:solidFill>
                  <a:srgbClr val="004A78"/>
                </a:solidFill>
                <a:latin typeface="Arial"/>
                <a:ea typeface="Arial"/>
                <a:cs typeface="Arial"/>
                <a:sym typeface="Arial"/>
              </a:defRPr>
            </a:lvl4pPr>
            <a:lvl5pPr marL="2286000" marR="0" lvl="4" indent="-342900" algn="l" rtl="0">
              <a:lnSpc>
                <a:spcPct val="90000"/>
              </a:lnSpc>
              <a:spcBef>
                <a:spcPts val="500"/>
              </a:spcBef>
              <a:spcAft>
                <a:spcPts val="0"/>
              </a:spcAft>
              <a:buClr>
                <a:srgbClr val="004A78"/>
              </a:buClr>
              <a:buSzPts val="1800"/>
              <a:buFont typeface="Arial"/>
              <a:buChar char="•"/>
              <a:defRPr sz="1800" b="0" i="0" u="none" strike="noStrike" cap="none">
                <a:solidFill>
                  <a:srgbClr val="004A78"/>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2" name="Google Shape;12;p79"/>
          <p:cNvPicPr preferRelativeResize="0"/>
          <p:nvPr/>
        </p:nvPicPr>
        <p:blipFill rotWithShape="1">
          <a:blip r:embed="rId17">
            <a:alphaModFix/>
          </a:blip>
          <a:srcRect/>
          <a:stretch/>
        </p:blipFill>
        <p:spPr>
          <a:xfrm>
            <a:off x="476843" y="6356350"/>
            <a:ext cx="1579562" cy="354013"/>
          </a:xfrm>
          <a:prstGeom prst="rect">
            <a:avLst/>
          </a:prstGeom>
          <a:noFill/>
          <a:ln>
            <a:noFill/>
          </a:ln>
        </p:spPr>
      </p:pic>
      <p:sp>
        <p:nvSpPr>
          <p:cNvPr id="13" name="Google Shape;13;p79"/>
          <p:cNvSpPr txBox="1">
            <a:spLocks noGrp="1"/>
          </p:cNvSpPr>
          <p:nvPr>
            <p:ph type="ftr" idx="11"/>
          </p:nvPr>
        </p:nvSpPr>
        <p:spPr>
          <a:xfrm>
            <a:off x="2934268" y="6356350"/>
            <a:ext cx="880166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rgbClr val="00629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16.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19.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24.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28.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30.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31.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
          <p:cNvSpPr txBox="1">
            <a:spLocks noGrp="1"/>
          </p:cNvSpPr>
          <p:nvPr>
            <p:ph type="title"/>
          </p:nvPr>
        </p:nvSpPr>
        <p:spPr>
          <a:xfrm>
            <a:off x="5892167" y="1805383"/>
            <a:ext cx="5550026" cy="1269698"/>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a:t>Chapter 2</a:t>
            </a:r>
            <a:endParaRPr/>
          </a:p>
        </p:txBody>
      </p:sp>
      <p:pic>
        <p:nvPicPr>
          <p:cNvPr id="107" name="Google Shape;107;p1" descr="Cover: Data Communications and Computer Networks, A Business User's Approach by Jill West and Curt M.White, Ninth Edition."/>
          <p:cNvPicPr preferRelativeResize="0">
            <a:picLocks noGrp="1"/>
          </p:cNvPicPr>
          <p:nvPr>
            <p:ph type="pic" idx="2"/>
          </p:nvPr>
        </p:nvPicPr>
        <p:blipFill rotWithShape="1">
          <a:blip r:embed="rId4">
            <a:alphaModFix/>
          </a:blip>
          <a:srcRect/>
          <a:stretch/>
        </p:blipFill>
        <p:spPr>
          <a:xfrm>
            <a:off x="0" y="0"/>
            <a:ext cx="4786645" cy="6125029"/>
          </a:xfrm>
          <a:prstGeom prst="rect">
            <a:avLst/>
          </a:prstGeom>
          <a:noFill/>
          <a:ln>
            <a:noFill/>
          </a:ln>
        </p:spPr>
      </p:pic>
      <p:sp>
        <p:nvSpPr>
          <p:cNvPr id="108" name="Google Shape;108;p1"/>
          <p:cNvSpPr txBox="1">
            <a:spLocks noGrp="1"/>
          </p:cNvSpPr>
          <p:nvPr>
            <p:ph type="body" idx="1"/>
          </p:nvPr>
        </p:nvSpPr>
        <p:spPr>
          <a:xfrm>
            <a:off x="5799657" y="3168913"/>
            <a:ext cx="5943394" cy="1343006"/>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chemeClr val="lt1"/>
              </a:buClr>
              <a:buSzPts val="2800"/>
              <a:buFont typeface="Arial"/>
              <a:buNone/>
            </a:pPr>
            <a:r>
              <a:rPr lang="en-US" sz="2800"/>
              <a:t>Conducted and Radiated Media</a:t>
            </a:r>
            <a:endParaRPr/>
          </a:p>
        </p:txBody>
      </p:sp>
      <p:sp>
        <p:nvSpPr>
          <p:cNvPr id="109" name="Google Shape;109;p1"/>
          <p:cNvSpPr txBox="1">
            <a:spLocks noGrp="1"/>
          </p:cNvSpPr>
          <p:nvPr>
            <p:ph type="body" idx="3"/>
          </p:nvPr>
        </p:nvSpPr>
        <p:spPr>
          <a:xfrm>
            <a:off x="2615881" y="6423442"/>
            <a:ext cx="9456516" cy="3651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lt1"/>
              </a:buClr>
              <a:buSzPts val="1100"/>
              <a:buNone/>
            </a:pPr>
            <a:r>
              <a:rPr lang="en-US" sz="1100">
                <a:solidFill>
                  <a:schemeClr val="lt1"/>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
          <p:cNvSpPr txBox="1">
            <a:spLocks noGrp="1"/>
          </p:cNvSpPr>
          <p:nvPr>
            <p:ph type="title"/>
          </p:nvPr>
        </p:nvSpPr>
        <p:spPr>
          <a:xfrm>
            <a:off x="838200" y="365125"/>
            <a:ext cx="108831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After reading this chapter, you should be able to:</a:t>
            </a:r>
            <a:endParaRPr dirty="0"/>
          </a:p>
        </p:txBody>
      </p:sp>
      <p:sp>
        <p:nvSpPr>
          <p:cNvPr id="115" name="Google Shape;115;p2"/>
          <p:cNvSpPr txBox="1">
            <a:spLocks noGrp="1"/>
          </p:cNvSpPr>
          <p:nvPr>
            <p:ph type="body" idx="1"/>
          </p:nvPr>
        </p:nvSpPr>
        <p:spPr>
          <a:xfrm>
            <a:off x="743575" y="1878300"/>
            <a:ext cx="10711500" cy="26646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SzPts val="2600"/>
              <a:buChar char="•"/>
            </a:pPr>
            <a:r>
              <a:rPr lang="en-US" dirty="0"/>
              <a:t>Identify common cabling standards</a:t>
            </a:r>
            <a:endParaRPr dirty="0"/>
          </a:p>
          <a:p>
            <a:pPr marL="457200" lvl="0" indent="-457200" algn="l" rtl="0">
              <a:lnSpc>
                <a:spcPct val="100000"/>
              </a:lnSpc>
              <a:spcBef>
                <a:spcPts val="624"/>
              </a:spcBef>
              <a:spcAft>
                <a:spcPts val="0"/>
              </a:spcAft>
              <a:buSzPts val="2600"/>
              <a:buChar char="•"/>
            </a:pPr>
            <a:r>
              <a:rPr lang="en-US" dirty="0"/>
              <a:t>Compare types of network cables</a:t>
            </a:r>
            <a:endParaRPr dirty="0"/>
          </a:p>
          <a:p>
            <a:pPr marL="457200" lvl="0" indent="-457200" algn="l" rtl="0">
              <a:lnSpc>
                <a:spcPct val="100000"/>
              </a:lnSpc>
              <a:spcBef>
                <a:spcPts val="624"/>
              </a:spcBef>
              <a:spcAft>
                <a:spcPts val="0"/>
              </a:spcAft>
              <a:buSzPts val="2600"/>
              <a:buChar char="•"/>
            </a:pPr>
            <a:r>
              <a:rPr lang="en-US" dirty="0"/>
              <a:t>Compare wireless network technologies</a:t>
            </a:r>
            <a:endParaRPr dirty="0"/>
          </a:p>
          <a:p>
            <a:pPr marL="457200" lvl="0" indent="-457200" algn="l" rtl="0">
              <a:lnSpc>
                <a:spcPct val="100000"/>
              </a:lnSpc>
              <a:spcBef>
                <a:spcPts val="624"/>
              </a:spcBef>
              <a:spcAft>
                <a:spcPts val="0"/>
              </a:spcAft>
              <a:buSzPts val="2600"/>
              <a:buChar char="•"/>
            </a:pPr>
            <a:r>
              <a:rPr lang="en-US" dirty="0"/>
              <a:t>Evaluate the best media for network connections</a:t>
            </a:r>
            <a:endParaRPr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a:t>Introduction</a:t>
            </a:r>
            <a:endParaRPr/>
          </a:p>
        </p:txBody>
      </p:sp>
      <p:sp>
        <p:nvSpPr>
          <p:cNvPr id="121" name="Google Shape;121;p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3000"/>
              </a:spcAft>
              <a:buClr>
                <a:srgbClr val="004A78"/>
              </a:buClr>
              <a:buSzPts val="2600"/>
              <a:buFont typeface="Arial"/>
              <a:buChar char="•"/>
            </a:pPr>
            <a:r>
              <a:rPr lang="en-US" dirty="0"/>
              <a:t>The world of computer networks would not exist if there were no medium by which to transfer data</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The two major categories of media include:</a:t>
            </a:r>
            <a:endParaRPr dirty="0"/>
          </a:p>
          <a:p>
            <a:pPr marL="900112" lvl="1" indent="-442912" algn="l" rtl="0">
              <a:lnSpc>
                <a:spcPct val="100000"/>
              </a:lnSpc>
              <a:spcBef>
                <a:spcPts val="624"/>
              </a:spcBef>
              <a:spcAft>
                <a:spcPts val="0"/>
              </a:spcAft>
              <a:buSzPts val="2400"/>
              <a:buChar char="–"/>
            </a:pPr>
            <a:r>
              <a:rPr lang="en-US" dirty="0"/>
              <a:t>Conducted (wired) media</a:t>
            </a:r>
            <a:endParaRPr dirty="0"/>
          </a:p>
          <a:p>
            <a:pPr marL="1257300" lvl="2" indent="-342900">
              <a:buFont typeface="Arial" panose="020B0604020202020204" pitchFamily="34" charset="0"/>
              <a:buChar char="•"/>
            </a:pPr>
            <a:r>
              <a:rPr lang="en-US" dirty="0"/>
              <a:t>standards for cables and connectors</a:t>
            </a:r>
            <a:endParaRPr dirty="0"/>
          </a:p>
          <a:p>
            <a:pPr marL="900112" lvl="1" indent="-442912" algn="l" rtl="0">
              <a:lnSpc>
                <a:spcPct val="100000"/>
              </a:lnSpc>
              <a:spcBef>
                <a:spcPts val="624"/>
              </a:spcBef>
              <a:spcAft>
                <a:spcPts val="0"/>
              </a:spcAft>
              <a:buSzPts val="2400"/>
              <a:buChar char="–"/>
            </a:pPr>
            <a:r>
              <a:rPr lang="en-US" dirty="0"/>
              <a:t>Radiated (wireless) media</a:t>
            </a:r>
            <a:endParaRPr dirty="0"/>
          </a:p>
          <a:p>
            <a:pPr marL="1257300" lvl="2" indent="-342900">
              <a:spcAft>
                <a:spcPts val="3000"/>
              </a:spcAft>
              <a:buFont typeface="Arial" panose="020B0604020202020204" pitchFamily="34" charset="0"/>
              <a:buChar char="•"/>
            </a:pPr>
            <a:r>
              <a:rPr lang="en-US" dirty="0"/>
              <a:t>standards for transmission</a:t>
            </a:r>
            <a:endParaRPr dirty="0"/>
          </a:p>
          <a:p>
            <a:pPr marL="457200" lvl="0" indent="-457200" algn="l" rtl="0">
              <a:lnSpc>
                <a:spcPct val="100000"/>
              </a:lnSpc>
              <a:spcBef>
                <a:spcPts val="624"/>
              </a:spcBef>
              <a:spcAft>
                <a:spcPts val="0"/>
              </a:spcAft>
              <a:buSzPts val="2600"/>
              <a:buChar char="•"/>
            </a:pPr>
            <a:r>
              <a:rPr lang="en-US" dirty="0"/>
              <a:t>Media selection criteria</a:t>
            </a:r>
            <a:endParaRPr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113dc237b69_0_3"/>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Cabling Standards (1 of 3)</a:t>
            </a:r>
            <a:endParaRPr dirty="0"/>
          </a:p>
        </p:txBody>
      </p:sp>
      <p:sp>
        <p:nvSpPr>
          <p:cNvPr id="127" name="Google Shape;127;g113dc237b69_0_3"/>
          <p:cNvSpPr txBox="1">
            <a:spLocks noGrp="1"/>
          </p:cNvSpPr>
          <p:nvPr>
            <p:ph type="body" idx="1"/>
          </p:nvPr>
        </p:nvSpPr>
        <p:spPr>
          <a:xfrm>
            <a:off x="743576" y="1289684"/>
            <a:ext cx="10711500" cy="480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3000"/>
              </a:spcAft>
              <a:buClr>
                <a:srgbClr val="004A78"/>
              </a:buClr>
              <a:buSzPts val="2600"/>
              <a:buFont typeface="Arial"/>
              <a:buChar char="•"/>
            </a:pPr>
            <a:r>
              <a:rPr lang="en-US" dirty="0"/>
              <a:t>The need for agreement between network devices starts with the definition of standards for physical equipment</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Components:</a:t>
            </a:r>
            <a:endParaRPr dirty="0"/>
          </a:p>
          <a:p>
            <a:pPr marL="900112" lvl="1" indent="-442912" algn="l" rtl="0">
              <a:lnSpc>
                <a:spcPct val="100000"/>
              </a:lnSpc>
              <a:spcBef>
                <a:spcPts val="624"/>
              </a:spcBef>
              <a:spcAft>
                <a:spcPts val="0"/>
              </a:spcAft>
              <a:buSzPts val="2400"/>
              <a:buChar char="–"/>
            </a:pPr>
            <a:r>
              <a:rPr lang="en-US" dirty="0"/>
              <a:t>electrical components</a:t>
            </a:r>
            <a:endParaRPr dirty="0"/>
          </a:p>
          <a:p>
            <a:pPr marL="900112" lvl="1" indent="-442912" algn="l" rtl="0">
              <a:lnSpc>
                <a:spcPct val="100000"/>
              </a:lnSpc>
              <a:spcBef>
                <a:spcPts val="624"/>
              </a:spcBef>
              <a:spcAft>
                <a:spcPts val="0"/>
              </a:spcAft>
              <a:buSzPts val="2400"/>
              <a:buChar char="–"/>
            </a:pPr>
            <a:r>
              <a:rPr lang="en-US" dirty="0"/>
              <a:t>mechanical components</a:t>
            </a:r>
            <a:endParaRPr dirty="0"/>
          </a:p>
          <a:p>
            <a:pPr marL="900112" lvl="1" indent="-442912" algn="l" rtl="0">
              <a:lnSpc>
                <a:spcPct val="100000"/>
              </a:lnSpc>
              <a:spcBef>
                <a:spcPts val="624"/>
              </a:spcBef>
              <a:spcAft>
                <a:spcPts val="0"/>
              </a:spcAft>
              <a:buSzPts val="2400"/>
              <a:buChar char="–"/>
            </a:pPr>
            <a:r>
              <a:rPr lang="en-US" dirty="0"/>
              <a:t>functional components</a:t>
            </a:r>
            <a:endParaRPr dirty="0"/>
          </a:p>
          <a:p>
            <a:pPr marL="900112" lvl="1" indent="-442912" algn="l" rtl="0">
              <a:lnSpc>
                <a:spcPct val="100000"/>
              </a:lnSpc>
              <a:spcBef>
                <a:spcPts val="624"/>
              </a:spcBef>
              <a:spcAft>
                <a:spcPts val="0"/>
              </a:spcAft>
              <a:buSzPts val="2400"/>
              <a:buChar char="–"/>
            </a:pPr>
            <a:r>
              <a:rPr lang="en-US" dirty="0"/>
              <a:t>procedural components</a:t>
            </a:r>
            <a:endParaRPr dirty="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113dc237b69_0_10">
            <a:extLst>
              <a:ext uri="{C183D7F6-B498-43B3-948B-1728B52AA6E4}">
                <adec:decorative xmlns:adec="http://schemas.microsoft.com/office/drawing/2017/decorative" val="0"/>
              </a:ext>
            </a:extLst>
          </p:cNvPr>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Cabling Standards (2 of 3)</a:t>
            </a:r>
            <a:endParaRPr dirty="0"/>
          </a:p>
        </p:txBody>
      </p:sp>
      <p:sp>
        <p:nvSpPr>
          <p:cNvPr id="133" name="Google Shape;133;g113dc237b69_0_10">
            <a:extLst>
              <a:ext uri="{C183D7F6-B498-43B3-948B-1728B52AA6E4}">
                <adec:decorative xmlns:adec="http://schemas.microsoft.com/office/drawing/2017/decorative" val="0"/>
              </a:ext>
            </a:extLst>
          </p:cNvPr>
          <p:cNvSpPr txBox="1">
            <a:spLocks noGrp="1"/>
          </p:cNvSpPr>
          <p:nvPr>
            <p:ph type="body" idx="1"/>
          </p:nvPr>
        </p:nvSpPr>
        <p:spPr>
          <a:xfrm>
            <a:off x="743575" y="1289674"/>
            <a:ext cx="8706300" cy="2412900"/>
          </a:xfrm>
          <a:prstGeom prst="rect">
            <a:avLst/>
          </a:prstGeom>
          <a:noFill/>
          <a:ln>
            <a:noFill/>
          </a:ln>
        </p:spPr>
        <p:txBody>
          <a:bodyPr spcFirstLastPara="1" wrap="square" lIns="0" tIns="0" rIns="0" bIns="0" anchor="t" anchorCtr="0">
            <a:noAutofit/>
          </a:bodyPr>
          <a:lstStyle/>
          <a:p>
            <a:pPr marL="457200" lvl="0" indent="-457200" algn="l" rtl="0">
              <a:lnSpc>
                <a:spcPct val="100000"/>
              </a:lnSpc>
              <a:spcAft>
                <a:spcPts val="0"/>
              </a:spcAft>
              <a:buSzPts val="2600"/>
              <a:buChar char="•"/>
            </a:pPr>
            <a:r>
              <a:rPr lang="en-US" sz="2400" dirty="0"/>
              <a:t>Personal Area Network (PAN) Connector Standards</a:t>
            </a:r>
            <a:endParaRPr sz="2400" dirty="0"/>
          </a:p>
          <a:p>
            <a:pPr marL="900112" lvl="1" indent="-442912" algn="l" rtl="0">
              <a:lnSpc>
                <a:spcPct val="100000"/>
              </a:lnSpc>
              <a:spcAft>
                <a:spcPts val="0"/>
              </a:spcAft>
              <a:buSzPts val="2400"/>
              <a:buChar char="–"/>
            </a:pPr>
            <a:r>
              <a:rPr lang="en-US" sz="2200" dirty="0"/>
              <a:t>USB Type-A</a:t>
            </a:r>
            <a:endParaRPr sz="2200" dirty="0"/>
          </a:p>
          <a:p>
            <a:pPr marL="900112" lvl="1" indent="-442912" algn="l" rtl="0">
              <a:lnSpc>
                <a:spcPct val="100000"/>
              </a:lnSpc>
              <a:spcAft>
                <a:spcPts val="0"/>
              </a:spcAft>
              <a:buSzPts val="2400"/>
              <a:buChar char="–"/>
            </a:pPr>
            <a:r>
              <a:rPr lang="en-US" sz="2200" dirty="0"/>
              <a:t>USB Type-B</a:t>
            </a:r>
            <a:endParaRPr sz="2200" dirty="0"/>
          </a:p>
          <a:p>
            <a:pPr marL="900112" lvl="1" indent="-442912" algn="l" rtl="0">
              <a:lnSpc>
                <a:spcPct val="100000"/>
              </a:lnSpc>
              <a:spcAft>
                <a:spcPts val="0"/>
              </a:spcAft>
              <a:buSzPts val="2400"/>
              <a:buChar char="–"/>
            </a:pPr>
            <a:r>
              <a:rPr lang="en-US" sz="2200" dirty="0"/>
              <a:t>USB Type-B Micro</a:t>
            </a:r>
            <a:endParaRPr sz="2200" dirty="0"/>
          </a:p>
          <a:p>
            <a:pPr marL="900112" lvl="1" indent="-442912" algn="l" rtl="0">
              <a:lnSpc>
                <a:spcPct val="100000"/>
              </a:lnSpc>
              <a:spcAft>
                <a:spcPts val="0"/>
              </a:spcAft>
              <a:buSzPts val="2400"/>
              <a:buChar char="–"/>
            </a:pPr>
            <a:r>
              <a:rPr lang="en-US" sz="2200" dirty="0"/>
              <a:t>USB-C</a:t>
            </a:r>
            <a:endParaRPr sz="2200" dirty="0"/>
          </a:p>
          <a:p>
            <a:pPr marL="900112" lvl="1" indent="-442912" algn="l" rtl="0">
              <a:lnSpc>
                <a:spcPct val="100000"/>
              </a:lnSpc>
              <a:spcAft>
                <a:spcPts val="0"/>
              </a:spcAft>
              <a:buSzPts val="2400"/>
              <a:buChar char="–"/>
            </a:pPr>
            <a:r>
              <a:rPr lang="en-US" sz="2200" dirty="0"/>
              <a:t>Lightning</a:t>
            </a:r>
            <a:endParaRPr sz="2200" dirty="0"/>
          </a:p>
        </p:txBody>
      </p:sp>
      <p:pic>
        <p:nvPicPr>
          <p:cNvPr id="2" name="Picture 1" descr="A photo of a lightning connector placed near a port.&#10;Figure 2-3 Lightning cables only work on Apple devices">
            <a:extLst>
              <a:ext uri="{FF2B5EF4-FFF2-40B4-BE49-F238E27FC236}">
                <a16:creationId xmlns:a16="http://schemas.microsoft.com/office/drawing/2014/main" id="{040A0E68-45CB-4412-A019-2F101EA231EF}"/>
              </a:ext>
            </a:extLst>
          </p:cNvPr>
          <p:cNvPicPr>
            <a:picLocks noChangeAspect="1"/>
          </p:cNvPicPr>
          <p:nvPr/>
        </p:nvPicPr>
        <p:blipFill>
          <a:blip r:embed="rId4"/>
          <a:stretch>
            <a:fillRect/>
          </a:stretch>
        </p:blipFill>
        <p:spPr>
          <a:xfrm>
            <a:off x="1039525" y="3955123"/>
            <a:ext cx="3450635" cy="2139881"/>
          </a:xfrm>
          <a:prstGeom prst="rect">
            <a:avLst/>
          </a:prstGeom>
        </p:spPr>
      </p:pic>
      <p:pic>
        <p:nvPicPr>
          <p:cNvPr id="3" name="Picture 2" descr="A photo of several types of U S B connectors. Type A, Type B, Type B Micro, and U S B-C are displayed from left to right.&#10;Figure 2-1 Four types of USB Connectors (left to right): Type-A, Type-B, Type-B Micro, and USB-C">
            <a:extLst>
              <a:ext uri="{FF2B5EF4-FFF2-40B4-BE49-F238E27FC236}">
                <a16:creationId xmlns:a16="http://schemas.microsoft.com/office/drawing/2014/main" id="{FEC5A850-85D6-4BFB-9D57-11844DF1FE7E}"/>
              </a:ext>
            </a:extLst>
          </p:cNvPr>
          <p:cNvPicPr>
            <a:picLocks noChangeAspect="1"/>
          </p:cNvPicPr>
          <p:nvPr/>
        </p:nvPicPr>
        <p:blipFill>
          <a:blip r:embed="rId5"/>
          <a:stretch>
            <a:fillRect/>
          </a:stretch>
        </p:blipFill>
        <p:spPr>
          <a:xfrm>
            <a:off x="6187121" y="1975504"/>
            <a:ext cx="5261304" cy="3706689"/>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113dc237b69_0_16"/>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Cabling Standards (3 of 3)</a:t>
            </a:r>
            <a:endParaRPr dirty="0"/>
          </a:p>
        </p:txBody>
      </p:sp>
      <p:sp>
        <p:nvSpPr>
          <p:cNvPr id="141" name="Google Shape;141;g113dc237b69_0_16"/>
          <p:cNvSpPr txBox="1">
            <a:spLocks noGrp="1"/>
          </p:cNvSpPr>
          <p:nvPr>
            <p:ph type="body" idx="1"/>
          </p:nvPr>
        </p:nvSpPr>
        <p:spPr>
          <a:xfrm>
            <a:off x="740250" y="1289679"/>
            <a:ext cx="9495900" cy="29037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Clr>
                <a:srgbClr val="004A78"/>
              </a:buClr>
              <a:buSzPts val="2600"/>
              <a:buFont typeface="Arial"/>
              <a:buChar char="•"/>
            </a:pPr>
            <a:r>
              <a:rPr lang="en-US" dirty="0"/>
              <a:t>Personal Area Network (PAN) Protocol Standards:</a:t>
            </a:r>
            <a:endParaRPr dirty="0"/>
          </a:p>
          <a:p>
            <a:pPr marL="900112" lvl="1" indent="-442912" algn="l" rtl="0">
              <a:lnSpc>
                <a:spcPct val="100000"/>
              </a:lnSpc>
              <a:spcBef>
                <a:spcPts val="624"/>
              </a:spcBef>
              <a:spcAft>
                <a:spcPts val="0"/>
              </a:spcAft>
              <a:buSzPts val="2400"/>
              <a:buChar char="–"/>
            </a:pPr>
            <a:r>
              <a:rPr lang="en-US" dirty="0"/>
              <a:t>USB 1.0</a:t>
            </a:r>
            <a:endParaRPr dirty="0"/>
          </a:p>
          <a:p>
            <a:pPr marL="900112" lvl="1" indent="-442912" algn="l" rtl="0">
              <a:lnSpc>
                <a:spcPct val="100000"/>
              </a:lnSpc>
              <a:spcBef>
                <a:spcPts val="624"/>
              </a:spcBef>
              <a:spcAft>
                <a:spcPts val="0"/>
              </a:spcAft>
              <a:buSzPts val="2400"/>
              <a:buChar char="–"/>
            </a:pPr>
            <a:r>
              <a:rPr lang="en-US" dirty="0"/>
              <a:t>USB 2.0</a:t>
            </a:r>
            <a:endParaRPr dirty="0"/>
          </a:p>
          <a:p>
            <a:pPr marL="900112" lvl="1" indent="-442912" algn="l" rtl="0">
              <a:lnSpc>
                <a:spcPct val="100000"/>
              </a:lnSpc>
              <a:spcBef>
                <a:spcPts val="624"/>
              </a:spcBef>
              <a:spcAft>
                <a:spcPts val="0"/>
              </a:spcAft>
              <a:buSzPts val="2400"/>
              <a:buChar char="–"/>
            </a:pPr>
            <a:r>
              <a:rPr lang="en-US" dirty="0"/>
              <a:t>USB 3.0</a:t>
            </a:r>
            <a:endParaRPr dirty="0"/>
          </a:p>
          <a:p>
            <a:pPr marL="900112" lvl="1" indent="-442912" algn="l" rtl="0">
              <a:lnSpc>
                <a:spcPct val="100000"/>
              </a:lnSpc>
              <a:spcBef>
                <a:spcPts val="624"/>
              </a:spcBef>
              <a:spcAft>
                <a:spcPts val="0"/>
              </a:spcAft>
              <a:buSzPts val="2400"/>
              <a:buChar char="–"/>
            </a:pPr>
            <a:r>
              <a:rPr lang="en-US" dirty="0"/>
              <a:t>Thunderbolt</a:t>
            </a:r>
            <a:endParaRPr dirty="0"/>
          </a:p>
        </p:txBody>
      </p:sp>
      <p:pic>
        <p:nvPicPr>
          <p:cNvPr id="2" name="Picture 1" descr="A photo of a thunderbolt cable attached to a U S B-C connector placed near a laptop. Two thunderbolt cable ports are zoomed in on the laptop.&#10;Figure 2-2 Thunderbolt cables use USB-C connectors&#10;">
            <a:extLst>
              <a:ext uri="{FF2B5EF4-FFF2-40B4-BE49-F238E27FC236}">
                <a16:creationId xmlns:a16="http://schemas.microsoft.com/office/drawing/2014/main" id="{D0F4C77A-5DE0-4DA1-806E-470C62DCDD09}"/>
              </a:ext>
            </a:extLst>
          </p:cNvPr>
          <p:cNvPicPr>
            <a:picLocks noChangeAspect="1"/>
          </p:cNvPicPr>
          <p:nvPr/>
        </p:nvPicPr>
        <p:blipFill>
          <a:blip r:embed="rId4"/>
          <a:stretch>
            <a:fillRect/>
          </a:stretch>
        </p:blipFill>
        <p:spPr>
          <a:xfrm>
            <a:off x="4009308" y="1873825"/>
            <a:ext cx="7754784" cy="3694496"/>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a:t>Twisted Pair Wire (1 of 5)</a:t>
            </a:r>
            <a:endParaRPr/>
          </a:p>
        </p:txBody>
      </p:sp>
      <p:sp>
        <p:nvSpPr>
          <p:cNvPr id="148" name="Google Shape;148;p6"/>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One or more pairs of single conductor wires that have been twisted around each other</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Twisted pair wire is classified by category. Twisted pair is currently Category 1 through Category 8, although Categories 1, 2, 3, and 4 are nearly obsolete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Twisting the wires helps to eliminate electromagnetic interference between the two wires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Shielding can further help to eliminate interference</a:t>
            </a:r>
            <a:endParaRPr dirty="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Twisted Pair Wire (2 of 5)</a:t>
            </a:r>
            <a:endParaRPr dirty="0"/>
          </a:p>
        </p:txBody>
      </p:sp>
      <p:pic>
        <p:nvPicPr>
          <p:cNvPr id="2" name="Picture 1" descr="An illustration shows a twisted pair cable. Four pairs of wire emerge out from the outer jacket. Each pair has two twisted strands and each strand is encased inside plastic insulation.&#10;Figure 2-4 Example of four-pair twisted pair cable">
            <a:extLst>
              <a:ext uri="{FF2B5EF4-FFF2-40B4-BE49-F238E27FC236}">
                <a16:creationId xmlns:a16="http://schemas.microsoft.com/office/drawing/2014/main" id="{9EA4EEAF-B66C-49B3-9E05-EF3D9343FFFE}"/>
              </a:ext>
            </a:extLst>
          </p:cNvPr>
          <p:cNvPicPr>
            <a:picLocks noChangeAspect="1"/>
          </p:cNvPicPr>
          <p:nvPr/>
        </p:nvPicPr>
        <p:blipFill>
          <a:blip r:embed="rId4"/>
          <a:stretch>
            <a:fillRect/>
          </a:stretch>
        </p:blipFill>
        <p:spPr>
          <a:xfrm>
            <a:off x="3602520" y="1286557"/>
            <a:ext cx="4986960" cy="4767485"/>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Twisted Pair Wire (3 of 5)</a:t>
            </a:r>
            <a:endParaRPr dirty="0"/>
          </a:p>
        </p:txBody>
      </p:sp>
      <p:pic>
        <p:nvPicPr>
          <p:cNvPr id="2" name="Picture 1" descr="Three figures a, b, and c depict different types of wires. Figure a, represents two parallel wires placed one below the other. Figure b, represents two perpendicular wires where one is placed vertically and the other is placed horizontally. Figure c, represents a pair of twisted wires that are entwined.&#10;Figure 2-5 A) Parallel wires - greater chance of crosstalk, b) perpendicular wires - less chance of crosstalk, c) twisted wires - crosstalk reduced because wires keep crossing each other at nearly perpendicular angles">
            <a:extLst>
              <a:ext uri="{FF2B5EF4-FFF2-40B4-BE49-F238E27FC236}">
                <a16:creationId xmlns:a16="http://schemas.microsoft.com/office/drawing/2014/main" id="{339BE446-35D2-4886-8376-814A8321876D}"/>
              </a:ext>
            </a:extLst>
          </p:cNvPr>
          <p:cNvPicPr>
            <a:picLocks noChangeAspect="1"/>
          </p:cNvPicPr>
          <p:nvPr/>
        </p:nvPicPr>
        <p:blipFill>
          <a:blip r:embed="rId4"/>
          <a:stretch>
            <a:fillRect/>
          </a:stretch>
        </p:blipFill>
        <p:spPr>
          <a:xfrm>
            <a:off x="4096338" y="1294175"/>
            <a:ext cx="3999323" cy="4828450"/>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Twisted Pair Wire (4 of 5)</a:t>
            </a:r>
            <a:endParaRPr dirty="0"/>
          </a:p>
        </p:txBody>
      </p:sp>
      <p:pic>
        <p:nvPicPr>
          <p:cNvPr id="2" name="Picture 1" descr="A photo represents shielding inside two cables. A shielding around each twisted pair is done in the first cable. An additional shielding around each of the four pairs inside a twisted pair is done in the second cable.&#10;Figure 2-7 Shielding around each twisted pair and additional shielding around all four pairs in a Cat 8 cable">
            <a:extLst>
              <a:ext uri="{FF2B5EF4-FFF2-40B4-BE49-F238E27FC236}">
                <a16:creationId xmlns:a16="http://schemas.microsoft.com/office/drawing/2014/main" id="{F179776D-3A72-4BEE-935C-AB9861B9D74A}"/>
              </a:ext>
            </a:extLst>
          </p:cNvPr>
          <p:cNvPicPr>
            <a:picLocks noChangeAspect="1"/>
          </p:cNvPicPr>
          <p:nvPr/>
        </p:nvPicPr>
        <p:blipFill>
          <a:blip r:embed="rId4"/>
          <a:stretch>
            <a:fillRect/>
          </a:stretch>
        </p:blipFill>
        <p:spPr>
          <a:xfrm>
            <a:off x="2230801" y="1454212"/>
            <a:ext cx="7730398" cy="4432176"/>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0"/>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Twisted Pair Wire (5 of 5)</a:t>
            </a:r>
            <a:endParaRPr dirty="0"/>
          </a:p>
        </p:txBody>
      </p:sp>
      <p:sp>
        <p:nvSpPr>
          <p:cNvPr id="2" name="Text Placeholder 1">
            <a:extLst>
              <a:ext uri="{FF2B5EF4-FFF2-40B4-BE49-F238E27FC236}">
                <a16:creationId xmlns:a16="http://schemas.microsoft.com/office/drawing/2014/main" id="{18237716-8569-4CD7-8917-77D565775E40}"/>
              </a:ext>
            </a:extLst>
          </p:cNvPr>
          <p:cNvSpPr>
            <a:spLocks noGrp="1"/>
          </p:cNvSpPr>
          <p:nvPr>
            <p:ph type="body" idx="1"/>
          </p:nvPr>
        </p:nvSpPr>
        <p:spPr>
          <a:xfrm>
            <a:off x="743576" y="1289684"/>
            <a:ext cx="5352423" cy="408487"/>
          </a:xfrm>
        </p:spPr>
        <p:txBody>
          <a:bodyPr/>
          <a:lstStyle/>
          <a:p>
            <a:pPr marL="63500" indent="0">
              <a:buNone/>
            </a:pPr>
            <a:r>
              <a:rPr lang="en-US" sz="1800" b="1" dirty="0"/>
              <a:t>Table 2-1 Characteristics of twisted pair cables</a:t>
            </a:r>
            <a:endParaRPr lang="en-IN" sz="1800" b="1" dirty="0"/>
          </a:p>
        </p:txBody>
      </p:sp>
      <p:graphicFrame>
        <p:nvGraphicFramePr>
          <p:cNvPr id="8" name="Table 8">
            <a:extLst>
              <a:ext uri="{FF2B5EF4-FFF2-40B4-BE49-F238E27FC236}">
                <a16:creationId xmlns:a16="http://schemas.microsoft.com/office/drawing/2014/main" id="{4717E811-61CE-4645-B2BA-6E18F8C2ADAD}"/>
              </a:ext>
            </a:extLst>
          </p:cNvPr>
          <p:cNvGraphicFramePr>
            <a:graphicFrameLocks noGrp="1"/>
          </p:cNvGraphicFramePr>
          <p:nvPr>
            <p:extLst>
              <p:ext uri="{D42A27DB-BD31-4B8C-83A1-F6EECF244321}">
                <p14:modId xmlns:p14="http://schemas.microsoft.com/office/powerpoint/2010/main" val="2933102736"/>
              </p:ext>
            </p:extLst>
          </p:nvPr>
        </p:nvGraphicFramePr>
        <p:xfrm>
          <a:off x="809172" y="1746382"/>
          <a:ext cx="10874829" cy="4206240"/>
        </p:xfrm>
        <a:graphic>
          <a:graphicData uri="http://schemas.openxmlformats.org/drawingml/2006/table">
            <a:tbl>
              <a:tblPr firstRow="1" bandRow="1"/>
              <a:tblGrid>
                <a:gridCol w="1280886">
                  <a:extLst>
                    <a:ext uri="{9D8B030D-6E8A-4147-A177-3AD203B41FA5}">
                      <a16:colId xmlns:a16="http://schemas.microsoft.com/office/drawing/2014/main" val="1459367476"/>
                    </a:ext>
                  </a:extLst>
                </a:gridCol>
                <a:gridCol w="1074057">
                  <a:extLst>
                    <a:ext uri="{9D8B030D-6E8A-4147-A177-3AD203B41FA5}">
                      <a16:colId xmlns:a16="http://schemas.microsoft.com/office/drawing/2014/main" val="3139065576"/>
                    </a:ext>
                  </a:extLst>
                </a:gridCol>
                <a:gridCol w="1233714">
                  <a:extLst>
                    <a:ext uri="{9D8B030D-6E8A-4147-A177-3AD203B41FA5}">
                      <a16:colId xmlns:a16="http://schemas.microsoft.com/office/drawing/2014/main" val="4293396200"/>
                    </a:ext>
                  </a:extLst>
                </a:gridCol>
                <a:gridCol w="1698172">
                  <a:extLst>
                    <a:ext uri="{9D8B030D-6E8A-4147-A177-3AD203B41FA5}">
                      <a16:colId xmlns:a16="http://schemas.microsoft.com/office/drawing/2014/main" val="4106913781"/>
                    </a:ext>
                  </a:extLst>
                </a:gridCol>
                <a:gridCol w="2307771">
                  <a:extLst>
                    <a:ext uri="{9D8B030D-6E8A-4147-A177-3AD203B41FA5}">
                      <a16:colId xmlns:a16="http://schemas.microsoft.com/office/drawing/2014/main" val="220262176"/>
                    </a:ext>
                  </a:extLst>
                </a:gridCol>
                <a:gridCol w="3280229">
                  <a:extLst>
                    <a:ext uri="{9D8B030D-6E8A-4147-A177-3AD203B41FA5}">
                      <a16:colId xmlns:a16="http://schemas.microsoft.com/office/drawing/2014/main" val="2182517045"/>
                    </a:ext>
                  </a:extLst>
                </a:gridCol>
              </a:tblGrid>
              <a:tr h="223490">
                <a:tc>
                  <a:txBody>
                    <a:bodyPr/>
                    <a:lstStyle/>
                    <a:p>
                      <a:r>
                        <a:rPr lang="en-IN" sz="1200" b="1" dirty="0">
                          <a:solidFill>
                            <a:schemeClr val="tx2">
                              <a:lumMod val="10000"/>
                            </a:schemeClr>
                          </a:solidFill>
                          <a:latin typeface="Arial" panose="020B0604020202020204" pitchFamily="34" charset="0"/>
                          <a:cs typeface="Arial" panose="020B0604020202020204" pitchFamily="34" charset="0"/>
                        </a:rPr>
                        <a:t>UTP Category</a:t>
                      </a:r>
                    </a:p>
                  </a:txBody>
                  <a:tcPr anchor="b"/>
                </a:tc>
                <a:tc>
                  <a:txBody>
                    <a:bodyPr/>
                    <a:lstStyle/>
                    <a:p>
                      <a:r>
                        <a:rPr lang="en-IN" sz="1200" b="1" dirty="0">
                          <a:solidFill>
                            <a:schemeClr val="tx2">
                              <a:lumMod val="10000"/>
                            </a:schemeClr>
                          </a:solidFill>
                          <a:latin typeface="Arial" panose="020B0604020202020204" pitchFamily="34" charset="0"/>
                          <a:cs typeface="Arial" panose="020B0604020202020204" pitchFamily="34" charset="0"/>
                        </a:rPr>
                        <a:t>Typical Use</a:t>
                      </a:r>
                    </a:p>
                  </a:txBody>
                  <a:tcPr anchor="b"/>
                </a:tc>
                <a:tc>
                  <a:txBody>
                    <a:bodyPr/>
                    <a:lstStyle/>
                    <a:p>
                      <a:r>
                        <a:rPr lang="en-IN" sz="1200" b="1" dirty="0">
                          <a:solidFill>
                            <a:schemeClr val="tx2">
                              <a:lumMod val="10000"/>
                            </a:schemeClr>
                          </a:solidFill>
                          <a:latin typeface="Arial" panose="020B0604020202020204" pitchFamily="34" charset="0"/>
                          <a:cs typeface="Arial" panose="020B0604020202020204" pitchFamily="34" charset="0"/>
                        </a:rPr>
                        <a:t>Maximum Data</a:t>
                      </a:r>
                    </a:p>
                  </a:txBody>
                  <a:tcPr anchor="b"/>
                </a:tc>
                <a:tc>
                  <a:txBody>
                    <a:bodyPr/>
                    <a:lstStyle/>
                    <a:p>
                      <a:pPr algn="ctr"/>
                      <a:r>
                        <a:rPr lang="en-IN" sz="1200" b="1" dirty="0">
                          <a:solidFill>
                            <a:schemeClr val="tx2">
                              <a:lumMod val="10000"/>
                            </a:schemeClr>
                          </a:solidFill>
                          <a:latin typeface="Arial" panose="020B0604020202020204" pitchFamily="34" charset="0"/>
                          <a:cs typeface="Arial" panose="020B0604020202020204" pitchFamily="34" charset="0"/>
                        </a:rPr>
                        <a:t>Maximum Transmission Range</a:t>
                      </a:r>
                    </a:p>
                  </a:txBody>
                  <a:tcPr anchor="b"/>
                </a:tc>
                <a:tc>
                  <a:txBody>
                    <a:bodyPr/>
                    <a:lstStyle/>
                    <a:p>
                      <a:r>
                        <a:rPr lang="en-IN" sz="1200" b="1" dirty="0">
                          <a:solidFill>
                            <a:schemeClr val="tx2">
                              <a:lumMod val="10000"/>
                            </a:schemeClr>
                          </a:solidFill>
                          <a:latin typeface="Arial" panose="020B0604020202020204" pitchFamily="34" charset="0"/>
                          <a:cs typeface="Arial" panose="020B0604020202020204" pitchFamily="34" charset="0"/>
                        </a:rPr>
                        <a:t>Advantages</a:t>
                      </a:r>
                    </a:p>
                  </a:txBody>
                  <a:tcPr anchor="b"/>
                </a:tc>
                <a:tc>
                  <a:txBody>
                    <a:bodyPr/>
                    <a:lstStyle/>
                    <a:p>
                      <a:r>
                        <a:rPr lang="en-IN" sz="1200" b="1" dirty="0">
                          <a:solidFill>
                            <a:schemeClr val="tx2">
                              <a:lumMod val="10000"/>
                            </a:schemeClr>
                          </a:solidFill>
                          <a:latin typeface="Arial" panose="020B0604020202020204" pitchFamily="34" charset="0"/>
                          <a:cs typeface="Arial" panose="020B0604020202020204" pitchFamily="34" charset="0"/>
                        </a:rPr>
                        <a:t>Disadvantages</a:t>
                      </a:r>
                    </a:p>
                  </a:txBody>
                  <a:tcPr anchor="b"/>
                </a:tc>
                <a:extLst>
                  <a:ext uri="{0D108BD9-81ED-4DB2-BD59-A6C34878D82A}">
                    <a16:rowId xmlns:a16="http://schemas.microsoft.com/office/drawing/2014/main" val="3825005619"/>
                  </a:ext>
                </a:extLst>
              </a:tr>
              <a:tr h="275536">
                <a:tc>
                  <a:txBody>
                    <a:bodyPr/>
                    <a:lstStyle/>
                    <a:p>
                      <a:r>
                        <a:rPr lang="en-IN" sz="1200" dirty="0">
                          <a:solidFill>
                            <a:schemeClr val="tx2">
                              <a:lumMod val="10000"/>
                            </a:schemeClr>
                          </a:solidFill>
                          <a:latin typeface="Arial" panose="020B0604020202020204" pitchFamily="34" charset="0"/>
                          <a:cs typeface="Arial" panose="020B0604020202020204" pitchFamily="34" charset="0"/>
                        </a:rPr>
                        <a:t>Cat 5</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LANs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100 Mbps </a:t>
                      </a:r>
                    </a:p>
                    <a:p>
                      <a:r>
                        <a:rPr lang="en-IN" sz="1200" dirty="0">
                          <a:solidFill>
                            <a:schemeClr val="tx2">
                              <a:lumMod val="10000"/>
                            </a:schemeClr>
                          </a:solidFill>
                          <a:latin typeface="Arial" panose="020B0604020202020204" pitchFamily="34" charset="0"/>
                          <a:cs typeface="Arial" panose="020B0604020202020204" pitchFamily="34" charset="0"/>
                        </a:rPr>
                        <a:t>(100 MHz)</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 100 m (328 ft)</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Inexpensive, easy to install and interface</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Security, noise, obsolete</a:t>
                      </a:r>
                    </a:p>
                  </a:txBody>
                  <a:tcPr/>
                </a:tc>
                <a:extLst>
                  <a:ext uri="{0D108BD9-81ED-4DB2-BD59-A6C34878D82A}">
                    <a16:rowId xmlns:a16="http://schemas.microsoft.com/office/drawing/2014/main" val="169607983"/>
                  </a:ext>
                </a:extLst>
              </a:tr>
              <a:tr h="223490">
                <a:tc>
                  <a:txBody>
                    <a:bodyPr/>
                    <a:lstStyle/>
                    <a:p>
                      <a:r>
                        <a:rPr lang="en-IN" sz="1200" dirty="0">
                          <a:solidFill>
                            <a:schemeClr val="tx2">
                              <a:lumMod val="10000"/>
                            </a:schemeClr>
                          </a:solidFill>
                          <a:latin typeface="Arial" panose="020B0604020202020204" pitchFamily="34" charset="0"/>
                          <a:cs typeface="Arial" panose="020B0604020202020204" pitchFamily="34" charset="0"/>
                        </a:rPr>
                        <a:t>Cat 5e</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LANs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250 Mbps per pair (125 MHz) </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100 m (328 ft)</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Inexpensive, easy to install and interface, supports Gigabit Ethernet</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Security, noise</a:t>
                      </a:r>
                    </a:p>
                  </a:txBody>
                  <a:tcPr/>
                </a:tc>
                <a:extLst>
                  <a:ext uri="{0D108BD9-81ED-4DB2-BD59-A6C34878D82A}">
                    <a16:rowId xmlns:a16="http://schemas.microsoft.com/office/drawing/2014/main" val="2433980619"/>
                  </a:ext>
                </a:extLst>
              </a:tr>
              <a:tr h="223490">
                <a:tc>
                  <a:txBody>
                    <a:bodyPr/>
                    <a:lstStyle/>
                    <a:p>
                      <a:r>
                        <a:rPr lang="en-IN" sz="1200" dirty="0">
                          <a:solidFill>
                            <a:schemeClr val="tx2">
                              <a:lumMod val="10000"/>
                            </a:schemeClr>
                          </a:solidFill>
                          <a:latin typeface="Arial" panose="020B0604020202020204" pitchFamily="34" charset="0"/>
                          <a:cs typeface="Arial" panose="020B0604020202020204" pitchFamily="34" charset="0"/>
                        </a:rPr>
                        <a:t>Cat 6</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LANs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250 Mbps per pair (250 MHz)</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100 m (328 ft)</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Higher data rates than Cat 5e, less noise</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Security, noise</a:t>
                      </a:r>
                    </a:p>
                  </a:txBody>
                  <a:tcPr/>
                </a:tc>
                <a:extLst>
                  <a:ext uri="{0D108BD9-81ED-4DB2-BD59-A6C34878D82A}">
                    <a16:rowId xmlns:a16="http://schemas.microsoft.com/office/drawing/2014/main" val="2160232146"/>
                  </a:ext>
                </a:extLst>
              </a:tr>
              <a:tr h="223490">
                <a:tc>
                  <a:txBody>
                    <a:bodyPr/>
                    <a:lstStyle/>
                    <a:p>
                      <a:r>
                        <a:rPr lang="en-IN" sz="1200" dirty="0">
                          <a:solidFill>
                            <a:schemeClr val="tx2">
                              <a:lumMod val="10000"/>
                            </a:schemeClr>
                          </a:solidFill>
                          <a:latin typeface="Arial" panose="020B0604020202020204" pitchFamily="34" charset="0"/>
                          <a:cs typeface="Arial" panose="020B0604020202020204" pitchFamily="34" charset="0"/>
                        </a:rPr>
                        <a:t>Cat 6a</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LANs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500 MHz</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100 m (328 ft)</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Support for 10 Gig Ethernet, increased shielding</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Security, noise</a:t>
                      </a:r>
                    </a:p>
                  </a:txBody>
                  <a:tcPr/>
                </a:tc>
                <a:extLst>
                  <a:ext uri="{0D108BD9-81ED-4DB2-BD59-A6C34878D82A}">
                    <a16:rowId xmlns:a16="http://schemas.microsoft.com/office/drawing/2014/main" val="1449564839"/>
                  </a:ext>
                </a:extLst>
              </a:tr>
              <a:tr h="275536">
                <a:tc>
                  <a:txBody>
                    <a:bodyPr/>
                    <a:lstStyle/>
                    <a:p>
                      <a:r>
                        <a:rPr lang="en-IN" sz="1200" dirty="0">
                          <a:solidFill>
                            <a:schemeClr val="tx2">
                              <a:lumMod val="10000"/>
                            </a:schemeClr>
                          </a:solidFill>
                          <a:latin typeface="Arial" panose="020B0604020202020204" pitchFamily="34" charset="0"/>
                          <a:cs typeface="Arial" panose="020B0604020202020204" pitchFamily="34" charset="0"/>
                        </a:rPr>
                        <a:t>Cat 7</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Backbone connections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600 MHz</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100 m (328 ft)</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100 Gig Ethernet at very short distances (15 m)</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Security, cost, requires special connectors</a:t>
                      </a:r>
                    </a:p>
                  </a:txBody>
                  <a:tcPr/>
                </a:tc>
                <a:extLst>
                  <a:ext uri="{0D108BD9-81ED-4DB2-BD59-A6C34878D82A}">
                    <a16:rowId xmlns:a16="http://schemas.microsoft.com/office/drawing/2014/main" val="3393904136"/>
                  </a:ext>
                </a:extLst>
              </a:tr>
              <a:tr h="385750">
                <a:tc>
                  <a:txBody>
                    <a:bodyPr/>
                    <a:lstStyle/>
                    <a:p>
                      <a:r>
                        <a:rPr lang="en-IN" sz="1200" dirty="0">
                          <a:solidFill>
                            <a:schemeClr val="tx2">
                              <a:lumMod val="10000"/>
                            </a:schemeClr>
                          </a:solidFill>
                          <a:latin typeface="Arial" panose="020B0604020202020204" pitchFamily="34" charset="0"/>
                          <a:cs typeface="Arial" panose="020B0604020202020204" pitchFamily="34" charset="0"/>
                        </a:rPr>
                        <a:t>Cat 7a</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Backbone connections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1000 MHz</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100 m (328 ft)</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Same as Cat 7, plus additional shielding</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Security, cost, requires special connectors, thicker and more difficult to install</a:t>
                      </a:r>
                    </a:p>
                  </a:txBody>
                  <a:tcPr/>
                </a:tc>
                <a:extLst>
                  <a:ext uri="{0D108BD9-81ED-4DB2-BD59-A6C34878D82A}">
                    <a16:rowId xmlns:a16="http://schemas.microsoft.com/office/drawing/2014/main" val="3689362155"/>
                  </a:ext>
                </a:extLst>
              </a:tr>
              <a:tr h="22349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Cat 8 Class I and Class II</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Backbone connections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2000 MHz</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30 m (98 ft)</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25 Gig and 40 Gig support at longer distances than Cat 7; Cat 8 Class I uses standard connectors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Security, cost </a:t>
                      </a:r>
                    </a:p>
                  </a:txBody>
                  <a:tcPr/>
                </a:tc>
                <a:extLst>
                  <a:ext uri="{0D108BD9-81ED-4DB2-BD59-A6C34878D82A}">
                    <a16:rowId xmlns:a16="http://schemas.microsoft.com/office/drawing/2014/main" val="3306841204"/>
                  </a:ext>
                </a:extLst>
              </a:tr>
            </a:tbl>
          </a:graphicData>
        </a:graphic>
      </p:graphicFrame>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Twisted Pair Summary</a:t>
            </a:r>
            <a:endParaRPr dirty="0"/>
          </a:p>
        </p:txBody>
      </p:sp>
      <p:sp>
        <p:nvSpPr>
          <p:cNvPr id="178" name="Google Shape;178;p11"/>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Most common form of wire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Relatively inexpensive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Easy to install</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Carries high data rates (but not the highest)</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Can suffer from electromagnetic noise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Can be easily wire-tapped</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Comes in shielded and unshielded forms</a:t>
            </a:r>
            <a:endParaRPr dirty="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Coaxial Cable (1 of 3)</a:t>
            </a:r>
            <a:endParaRPr dirty="0"/>
          </a:p>
        </p:txBody>
      </p:sp>
      <p:sp>
        <p:nvSpPr>
          <p:cNvPr id="184" name="Google Shape;184;p12"/>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A single wire wrapped in a foam insulation surrounded by a braided metal shield, then covered in a plastic jacket.</a:t>
            </a:r>
            <a:endParaRPr dirty="0"/>
          </a:p>
          <a:p>
            <a:pPr marL="457200" lvl="0" indent="-457200" algn="l" rtl="0">
              <a:lnSpc>
                <a:spcPct val="100000"/>
              </a:lnSpc>
              <a:spcBef>
                <a:spcPts val="0"/>
              </a:spcBef>
              <a:spcAft>
                <a:spcPts val="0"/>
              </a:spcAft>
              <a:buClr>
                <a:srgbClr val="004A78"/>
              </a:buClr>
              <a:buSzPts val="2600"/>
              <a:buFont typeface="Arial"/>
              <a:buChar char="•"/>
            </a:pPr>
            <a:r>
              <a:rPr lang="en-US" dirty="0"/>
              <a:t>Cable comes in various thicknesses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Baseband coaxial technology uses digital signaling in which the cable carries only one channel of digital data</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Broadband coaxial technology transmits analog signals and is capable of supporting multiple channels</a:t>
            </a:r>
            <a:endParaRPr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Coaxial Cable (2 of 3)</a:t>
            </a:r>
            <a:endParaRPr dirty="0"/>
          </a:p>
        </p:txBody>
      </p:sp>
      <p:pic>
        <p:nvPicPr>
          <p:cNvPr id="2" name="Picture 1" descr="A coaxial cable with braided shielding. The conducting core forms the innermost layer. Insulation made of P V C or Teflon surrounds the core. A braided shielding is provided around the insulation. The sheath forms the outermost layer that surrounds the braided shielding.&#10;Figure 2-9 Example of coaxial cable showing braided shielding">
            <a:extLst>
              <a:ext uri="{FF2B5EF4-FFF2-40B4-BE49-F238E27FC236}">
                <a16:creationId xmlns:a16="http://schemas.microsoft.com/office/drawing/2014/main" id="{C5E77A32-42D5-40AE-BF6E-CA9798543810}"/>
              </a:ext>
            </a:extLst>
          </p:cNvPr>
          <p:cNvPicPr>
            <a:picLocks noChangeAspect="1"/>
          </p:cNvPicPr>
          <p:nvPr/>
        </p:nvPicPr>
        <p:blipFill>
          <a:blip r:embed="rId4"/>
          <a:stretch>
            <a:fillRect/>
          </a:stretch>
        </p:blipFill>
        <p:spPr>
          <a:xfrm>
            <a:off x="3303790" y="1501957"/>
            <a:ext cx="5584420" cy="4590686"/>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Coaxial Cable (3 of 3)</a:t>
            </a:r>
            <a:endParaRPr dirty="0"/>
          </a:p>
        </p:txBody>
      </p:sp>
      <p:pic>
        <p:nvPicPr>
          <p:cNvPr id="2" name="Picture 1" descr="A photo of two coaxial cables connected to a satellite receiver.&#10;Figure 2-10 Coaxial cables connected to a satellite receiver">
            <a:extLst>
              <a:ext uri="{FF2B5EF4-FFF2-40B4-BE49-F238E27FC236}">
                <a16:creationId xmlns:a16="http://schemas.microsoft.com/office/drawing/2014/main" id="{19259D43-37B8-4939-AEAF-CEC3DD1C29E7}"/>
              </a:ext>
            </a:extLst>
          </p:cNvPr>
          <p:cNvPicPr>
            <a:picLocks noChangeAspect="1"/>
          </p:cNvPicPr>
          <p:nvPr/>
        </p:nvPicPr>
        <p:blipFill>
          <a:blip r:embed="rId4"/>
          <a:stretch>
            <a:fillRect/>
          </a:stretch>
        </p:blipFill>
        <p:spPr>
          <a:xfrm>
            <a:off x="2998963" y="1454205"/>
            <a:ext cx="6194073" cy="4584589"/>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Coaxial Cable Summary</a:t>
            </a:r>
            <a:endParaRPr dirty="0"/>
          </a:p>
        </p:txBody>
      </p:sp>
      <p:sp>
        <p:nvSpPr>
          <p:cNvPr id="202" name="Google Shape;202;p1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A single wire surrounded by a braided shield</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Because of shielding, can carry a wide bandwidth of frequencies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Thus, is good with applications such as cable television</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Not as easy to install as twisted pair</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More expensive than twisted pair</a:t>
            </a:r>
            <a:endParaRPr dirty="0"/>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6"/>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Fiber-Optic Cable (1 of 7)</a:t>
            </a:r>
            <a:endParaRPr dirty="0"/>
          </a:p>
        </p:txBody>
      </p:sp>
      <p:sp>
        <p:nvSpPr>
          <p:cNvPr id="208" name="Google Shape;208;p16"/>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A thin glass cable approximately a little thicker than a human hair surrounded by a plastic coating and packaged into an insulated cable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A photo diode or laser generates pulses of light which travel down the fiber optic cable and are received by a photoreceptor</a:t>
            </a:r>
            <a:endParaRPr dirty="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Fiber-Optic Cable (2 of 7)</a:t>
            </a:r>
            <a:endParaRPr dirty="0"/>
          </a:p>
        </p:txBody>
      </p:sp>
      <p:pic>
        <p:nvPicPr>
          <p:cNvPr id="2" name="Picture 1" descr="A photo of fiber optic cables. The cables are coiled, with each cable connected to a pair of connectors at its end.&#10;Figure 2-11 Fiber-optic cables where &#10;each cable has a pair of connectors on each end">
            <a:extLst>
              <a:ext uri="{FF2B5EF4-FFF2-40B4-BE49-F238E27FC236}">
                <a16:creationId xmlns:a16="http://schemas.microsoft.com/office/drawing/2014/main" id="{C0EB25B6-2D87-45BB-8FA2-5A2188AD4731}"/>
              </a:ext>
            </a:extLst>
          </p:cNvPr>
          <p:cNvPicPr>
            <a:picLocks noChangeAspect="1"/>
          </p:cNvPicPr>
          <p:nvPr/>
        </p:nvPicPr>
        <p:blipFill>
          <a:blip r:embed="rId4"/>
          <a:stretch>
            <a:fillRect/>
          </a:stretch>
        </p:blipFill>
        <p:spPr>
          <a:xfrm>
            <a:off x="3242824" y="1543105"/>
            <a:ext cx="5706351" cy="4584589"/>
          </a:xfrm>
          <a:prstGeom prst="rect">
            <a:avLst/>
          </a:prstGeom>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Fiber-Optic Cable (3 of 7)</a:t>
            </a:r>
            <a:endParaRPr dirty="0"/>
          </a:p>
        </p:txBody>
      </p:sp>
      <p:sp>
        <p:nvSpPr>
          <p:cNvPr id="220" name="Google Shape;220;p18"/>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Fiber-optic cable is capable of supporting millions of bits per second for 1000s of meters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Thick cable (62.5/125 microns) causes more ray collisions, so you have to transmit slower. This is step index multimode fiber. Typically use LED for light source, shorter distance transmissions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Thin cable (8.3/125 microns) – very little reflection, fast transmission, typically uses a laser, longer transmission distances; known as single mode fiber</a:t>
            </a:r>
            <a:endParaRPr dirty="0"/>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Fiber-Optic Cable (4 of 7)</a:t>
            </a:r>
            <a:endParaRPr dirty="0"/>
          </a:p>
        </p:txBody>
      </p:sp>
      <p:pic>
        <p:nvPicPr>
          <p:cNvPr id="2" name="Picture 1" descr="A photo of an optical fiber cable. Multiple strands of fiber inside the fiber optic cable emerge out of the outermost layer.&#10;Figure 2-12 A fiber-optic cable with multiple strands of fiber">
            <a:extLst>
              <a:ext uri="{FF2B5EF4-FFF2-40B4-BE49-F238E27FC236}">
                <a16:creationId xmlns:a16="http://schemas.microsoft.com/office/drawing/2014/main" id="{699F3FFF-73DA-443E-A69C-CC1BFFB49CCF}"/>
              </a:ext>
            </a:extLst>
          </p:cNvPr>
          <p:cNvPicPr>
            <a:picLocks noChangeAspect="1"/>
          </p:cNvPicPr>
          <p:nvPr/>
        </p:nvPicPr>
        <p:blipFill>
          <a:blip r:embed="rId4"/>
          <a:stretch>
            <a:fillRect/>
          </a:stretch>
        </p:blipFill>
        <p:spPr>
          <a:xfrm>
            <a:off x="639607" y="1567511"/>
            <a:ext cx="10912786" cy="4078577"/>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Fiber-Optic Cable (5 of 7)</a:t>
            </a:r>
            <a:endParaRPr dirty="0"/>
          </a:p>
        </p:txBody>
      </p:sp>
      <p:sp>
        <p:nvSpPr>
          <p:cNvPr id="232" name="Google Shape;232;p20"/>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Fiber-optic cable is susceptible to reflection (where the light source bounces around inside the cable) and refraction (where the light source passes out of the core and into the surrounding cladding)</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Thus, fiber-optic cable is not perfect either. Noise is still a potential problem</a:t>
            </a:r>
            <a:endParaRPr dirty="0"/>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Fiber-Optic Cable (6 of 7)</a:t>
            </a:r>
            <a:endParaRPr dirty="0"/>
          </a:p>
        </p:txBody>
      </p:sp>
      <p:pic>
        <p:nvPicPr>
          <p:cNvPr id="2" name="Picture 1" descr="A diagram of a network connected using fiber optic cable. A C A T 6 twisted pair that runs across the workstations, connects workstations to switches. The first two workstations on the left are connected to one switch and the next two workstations on the right are connected to another switch. The fiber-optic cable backbone connects the two switches to a third switch in the center of the network.&#10;Figure 2-13 A fiber-optic backbone with CAT 6 twisted pair running to the &#10;workstations">
            <a:extLst>
              <a:ext uri="{FF2B5EF4-FFF2-40B4-BE49-F238E27FC236}">
                <a16:creationId xmlns:a16="http://schemas.microsoft.com/office/drawing/2014/main" id="{19B267F9-5465-42A9-8C5D-5F78C1334335}"/>
              </a:ext>
            </a:extLst>
          </p:cNvPr>
          <p:cNvPicPr>
            <a:picLocks noChangeAspect="1"/>
          </p:cNvPicPr>
          <p:nvPr/>
        </p:nvPicPr>
        <p:blipFill>
          <a:blip r:embed="rId4"/>
          <a:stretch>
            <a:fillRect/>
          </a:stretch>
        </p:blipFill>
        <p:spPr>
          <a:xfrm>
            <a:off x="2227476" y="1332398"/>
            <a:ext cx="7737049" cy="4633362"/>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Fiber-Optic Cable (7 of 7)</a:t>
            </a:r>
            <a:endParaRPr dirty="0"/>
          </a:p>
        </p:txBody>
      </p:sp>
      <p:pic>
        <p:nvPicPr>
          <p:cNvPr id="2" name="Picture 1" descr="An illustration depicts the process of reflection and refraction in a fiber optic cable. In the first cable, the light wave moves in a zigzag pattern. The signal bounces off the cable wall and back into the cable that depicts the process of reflection. In the second cable, the signal passes from inside the cable into the surrounding away from the outside wall of the cable which represents refraction.&#10;Figure 2-14 A simple demonstration of &#10;reflection and refraction in a fiber-optic cable">
            <a:extLst>
              <a:ext uri="{FF2B5EF4-FFF2-40B4-BE49-F238E27FC236}">
                <a16:creationId xmlns:a16="http://schemas.microsoft.com/office/drawing/2014/main" id="{7A299260-2F6E-4A51-9F53-D56FD2712E9F}"/>
              </a:ext>
            </a:extLst>
          </p:cNvPr>
          <p:cNvPicPr>
            <a:picLocks noChangeAspect="1"/>
          </p:cNvPicPr>
          <p:nvPr/>
        </p:nvPicPr>
        <p:blipFill>
          <a:blip r:embed="rId4"/>
          <a:stretch>
            <a:fillRect/>
          </a:stretch>
        </p:blipFill>
        <p:spPr>
          <a:xfrm>
            <a:off x="3852477" y="1374437"/>
            <a:ext cx="4487045" cy="4871126"/>
          </a:xfrm>
          <a:prstGeom prst="rect">
            <a:avLst/>
          </a:prstGeom>
        </p:spPr>
      </p:pic>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Fiber-Optic Cable Summary</a:t>
            </a:r>
            <a:endParaRPr dirty="0"/>
          </a:p>
        </p:txBody>
      </p:sp>
      <p:sp>
        <p:nvSpPr>
          <p:cNvPr id="250" name="Google Shape;250;p23"/>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Fiber optic cable can carry the highest data rate for the longest distances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Initial cost-wise, more expensive than twisted pair, but less than coaxial cable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But when you consider the superiority of fiber, initial costs outweighed by capacities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Need two fibers for a round-trip connection</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Not affected by electromagnetic noise and cannot be easily wiretapped, but still noise</a:t>
            </a:r>
            <a:endParaRPr dirty="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4"/>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Conducted Media</a:t>
            </a:r>
            <a:endParaRPr dirty="0"/>
          </a:p>
        </p:txBody>
      </p:sp>
      <p:sp>
        <p:nvSpPr>
          <p:cNvPr id="4" name="Text Placeholder 3">
            <a:extLst>
              <a:ext uri="{FF2B5EF4-FFF2-40B4-BE49-F238E27FC236}">
                <a16:creationId xmlns:a16="http://schemas.microsoft.com/office/drawing/2014/main" id="{DE352DC8-30F2-4E47-A403-C2FF62F9A7FE}"/>
              </a:ext>
            </a:extLst>
          </p:cNvPr>
          <p:cNvSpPr>
            <a:spLocks noGrp="1"/>
          </p:cNvSpPr>
          <p:nvPr>
            <p:ph type="body" idx="1"/>
          </p:nvPr>
        </p:nvSpPr>
        <p:spPr>
          <a:xfrm>
            <a:off x="743577" y="1289684"/>
            <a:ext cx="9474480" cy="510087"/>
          </a:xfrm>
        </p:spPr>
        <p:txBody>
          <a:bodyPr/>
          <a:lstStyle/>
          <a:p>
            <a:pPr marL="63500" indent="0">
              <a:buNone/>
            </a:pPr>
            <a:r>
              <a:rPr lang="en-IN" sz="2400" b="1" dirty="0"/>
              <a:t>Table 2-4 A summary of the characteristics of conducted media </a:t>
            </a:r>
          </a:p>
        </p:txBody>
      </p:sp>
      <p:graphicFrame>
        <p:nvGraphicFramePr>
          <p:cNvPr id="11" name="Table 12">
            <a:extLst>
              <a:ext uri="{FF2B5EF4-FFF2-40B4-BE49-F238E27FC236}">
                <a16:creationId xmlns:a16="http://schemas.microsoft.com/office/drawing/2014/main" id="{5780F9BD-CAE3-456A-BEFD-07F9E5F4E36A}"/>
              </a:ext>
            </a:extLst>
          </p:cNvPr>
          <p:cNvGraphicFramePr>
            <a:graphicFrameLocks noGrp="1"/>
          </p:cNvGraphicFramePr>
          <p:nvPr>
            <p:extLst>
              <p:ext uri="{D42A27DB-BD31-4B8C-83A1-F6EECF244321}">
                <p14:modId xmlns:p14="http://schemas.microsoft.com/office/powerpoint/2010/main" val="3883599833"/>
              </p:ext>
            </p:extLst>
          </p:nvPr>
        </p:nvGraphicFramePr>
        <p:xfrm>
          <a:off x="743577" y="1799771"/>
          <a:ext cx="10435774" cy="3870960"/>
        </p:xfrm>
        <a:graphic>
          <a:graphicData uri="http://schemas.openxmlformats.org/drawingml/2006/table">
            <a:tbl>
              <a:tblPr firstRow="1" bandRow="1"/>
              <a:tblGrid>
                <a:gridCol w="1915889">
                  <a:extLst>
                    <a:ext uri="{9D8B030D-6E8A-4147-A177-3AD203B41FA5}">
                      <a16:colId xmlns:a16="http://schemas.microsoft.com/office/drawing/2014/main" val="2378086399"/>
                    </a:ext>
                  </a:extLst>
                </a:gridCol>
                <a:gridCol w="2119085">
                  <a:extLst>
                    <a:ext uri="{9D8B030D-6E8A-4147-A177-3AD203B41FA5}">
                      <a16:colId xmlns:a16="http://schemas.microsoft.com/office/drawing/2014/main" val="1086586406"/>
                    </a:ext>
                  </a:extLst>
                </a:gridCol>
                <a:gridCol w="1538515">
                  <a:extLst>
                    <a:ext uri="{9D8B030D-6E8A-4147-A177-3AD203B41FA5}">
                      <a16:colId xmlns:a16="http://schemas.microsoft.com/office/drawing/2014/main" val="217990491"/>
                    </a:ext>
                  </a:extLst>
                </a:gridCol>
                <a:gridCol w="1917426">
                  <a:extLst>
                    <a:ext uri="{9D8B030D-6E8A-4147-A177-3AD203B41FA5}">
                      <a16:colId xmlns:a16="http://schemas.microsoft.com/office/drawing/2014/main" val="3715157993"/>
                    </a:ext>
                  </a:extLst>
                </a:gridCol>
                <a:gridCol w="1354667">
                  <a:extLst>
                    <a:ext uri="{9D8B030D-6E8A-4147-A177-3AD203B41FA5}">
                      <a16:colId xmlns:a16="http://schemas.microsoft.com/office/drawing/2014/main" val="3579839692"/>
                    </a:ext>
                  </a:extLst>
                </a:gridCol>
                <a:gridCol w="1590192">
                  <a:extLst>
                    <a:ext uri="{9D8B030D-6E8A-4147-A177-3AD203B41FA5}">
                      <a16:colId xmlns:a16="http://schemas.microsoft.com/office/drawing/2014/main" val="4058690145"/>
                    </a:ext>
                  </a:extLst>
                </a:gridCol>
              </a:tblGrid>
              <a:tr h="33276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b="1" dirty="0">
                          <a:solidFill>
                            <a:schemeClr val="tx2">
                              <a:lumMod val="10000"/>
                            </a:schemeClr>
                          </a:solidFill>
                          <a:latin typeface="Arial" panose="020B0604020202020204" pitchFamily="34" charset="0"/>
                          <a:cs typeface="Arial" panose="020B0604020202020204" pitchFamily="34" charset="0"/>
                        </a:rPr>
                        <a:t>Type of Conducted Medium</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b="1" dirty="0">
                          <a:solidFill>
                            <a:schemeClr val="tx2">
                              <a:lumMod val="10000"/>
                            </a:schemeClr>
                          </a:solidFill>
                          <a:latin typeface="Arial" panose="020B0604020202020204" pitchFamily="34" charset="0"/>
                          <a:cs typeface="Arial" panose="020B0604020202020204" pitchFamily="34" charset="0"/>
                        </a:rPr>
                        <a:t>Typical Use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b="1" dirty="0">
                          <a:solidFill>
                            <a:schemeClr val="tx2">
                              <a:lumMod val="10000"/>
                            </a:schemeClr>
                          </a:solidFill>
                          <a:latin typeface="Arial" panose="020B0604020202020204" pitchFamily="34" charset="0"/>
                          <a:cs typeface="Arial" panose="020B0604020202020204" pitchFamily="34" charset="0"/>
                        </a:rPr>
                        <a:t>Maximum Data Rate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b="1" dirty="0">
                          <a:solidFill>
                            <a:schemeClr val="tx2">
                              <a:lumMod val="10000"/>
                            </a:schemeClr>
                          </a:solidFill>
                          <a:latin typeface="Arial" panose="020B0604020202020204" pitchFamily="34" charset="0"/>
                          <a:cs typeface="Arial" panose="020B0604020202020204" pitchFamily="34" charset="0"/>
                        </a:rPr>
                        <a:t>Maximum Transmission Range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b="1" dirty="0">
                          <a:solidFill>
                            <a:schemeClr val="tx2">
                              <a:lumMod val="10000"/>
                            </a:schemeClr>
                          </a:solidFill>
                          <a:latin typeface="Arial" panose="020B0604020202020204" pitchFamily="34" charset="0"/>
                          <a:cs typeface="Arial" panose="020B0604020202020204" pitchFamily="34" charset="0"/>
                        </a:rPr>
                        <a:t>Advantages</a:t>
                      </a:r>
                    </a:p>
                  </a:txBody>
                  <a:tcPr/>
                </a:tc>
                <a:tc>
                  <a:txBody>
                    <a:bodyPr/>
                    <a:lstStyle/>
                    <a:p>
                      <a:r>
                        <a:rPr lang="en-IN" b="1" dirty="0">
                          <a:solidFill>
                            <a:schemeClr val="tx2">
                              <a:lumMod val="10000"/>
                            </a:schemeClr>
                          </a:solidFill>
                          <a:latin typeface="Arial" panose="020B0604020202020204" pitchFamily="34" charset="0"/>
                          <a:cs typeface="Arial" panose="020B0604020202020204" pitchFamily="34" charset="0"/>
                        </a:rPr>
                        <a:t>Disadvantages</a:t>
                      </a:r>
                    </a:p>
                  </a:txBody>
                  <a:tcPr/>
                </a:tc>
                <a:extLst>
                  <a:ext uri="{0D108BD9-81ED-4DB2-BD59-A6C34878D82A}">
                    <a16:rowId xmlns:a16="http://schemas.microsoft.com/office/drawing/2014/main" val="3397856880"/>
                  </a:ext>
                </a:extLst>
              </a:tr>
              <a:tr h="370840">
                <a:tc>
                  <a:txBody>
                    <a:bodyPr/>
                    <a:lstStyle/>
                    <a:p>
                      <a:r>
                        <a:rPr lang="en-IN" dirty="0">
                          <a:solidFill>
                            <a:schemeClr val="tx2">
                              <a:lumMod val="10000"/>
                            </a:schemeClr>
                          </a:solidFill>
                          <a:latin typeface="Arial" panose="020B0604020202020204" pitchFamily="34" charset="0"/>
                          <a:cs typeface="Arial" panose="020B0604020202020204" pitchFamily="34" charset="0"/>
                        </a:rPr>
                        <a:t>Twisted pair Cat 5, 5e, 6, 6a, 7, 7a, 8</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LANs</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100 Mbps-100 Gbps</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100 m (328 feet)</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latin typeface="Arial" panose="020B0604020202020204" pitchFamily="34" charset="0"/>
                          <a:cs typeface="Arial" panose="020B0604020202020204" pitchFamily="34" charset="0"/>
                        </a:rPr>
                        <a:t>Inexpensive, versatile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latin typeface="Arial" panose="020B0604020202020204" pitchFamily="34" charset="0"/>
                          <a:cs typeface="Arial" panose="020B0604020202020204" pitchFamily="34" charset="0"/>
                        </a:rPr>
                        <a:t>Noise, security</a:t>
                      </a:r>
                    </a:p>
                  </a:txBody>
                  <a:tcPr/>
                </a:tc>
                <a:extLst>
                  <a:ext uri="{0D108BD9-81ED-4DB2-BD59-A6C34878D82A}">
                    <a16:rowId xmlns:a16="http://schemas.microsoft.com/office/drawing/2014/main" val="2552234328"/>
                  </a:ext>
                </a:extLst>
              </a:tr>
              <a:tr h="370840">
                <a:tc>
                  <a:txBody>
                    <a:bodyPr/>
                    <a:lstStyle/>
                    <a:p>
                      <a:r>
                        <a:rPr lang="en-IN" dirty="0">
                          <a:solidFill>
                            <a:schemeClr val="tx2">
                              <a:lumMod val="10000"/>
                            </a:schemeClr>
                          </a:solidFill>
                          <a:latin typeface="Arial" panose="020B0604020202020204" pitchFamily="34" charset="0"/>
                          <a:cs typeface="Arial" panose="020B0604020202020204" pitchFamily="34" charset="0"/>
                        </a:rPr>
                        <a:t>Coaxial cable</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Cable TV, long-distance telephone, short-run computer system links</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1 Gbps</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5-6 </a:t>
                      </a:r>
                      <a:r>
                        <a:rPr lang="en-IN" dirty="0" err="1">
                          <a:solidFill>
                            <a:schemeClr val="tx2">
                              <a:lumMod val="10000"/>
                            </a:schemeClr>
                          </a:solidFill>
                          <a:latin typeface="Arial" panose="020B0604020202020204" pitchFamily="34" charset="0"/>
                          <a:cs typeface="Arial" panose="020B0604020202020204" pitchFamily="34" charset="0"/>
                        </a:rPr>
                        <a:t>kilometers</a:t>
                      </a:r>
                      <a:r>
                        <a:rPr lang="en-IN" dirty="0">
                          <a:solidFill>
                            <a:schemeClr val="tx2">
                              <a:lumMod val="10000"/>
                            </a:schemeClr>
                          </a:solidFill>
                          <a:latin typeface="Arial" panose="020B0604020202020204" pitchFamily="34" charset="0"/>
                          <a:cs typeface="Arial" panose="020B0604020202020204" pitchFamily="34" charset="0"/>
                        </a:rPr>
                        <a:t> (3-4 miles) (at lower data rates)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latin typeface="Arial" panose="020B0604020202020204" pitchFamily="34" charset="0"/>
                          <a:cs typeface="Arial" panose="020B0604020202020204" pitchFamily="34" charset="0"/>
                        </a:rPr>
                        <a:t>Low noise, multiple channels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latin typeface="Arial" panose="020B0604020202020204" pitchFamily="34" charset="0"/>
                          <a:cs typeface="Arial" panose="020B0604020202020204" pitchFamily="34" charset="0"/>
                        </a:rPr>
                        <a:t>Security </a:t>
                      </a:r>
                    </a:p>
                  </a:txBody>
                  <a:tcPr/>
                </a:tc>
                <a:extLst>
                  <a:ext uri="{0D108BD9-81ED-4DB2-BD59-A6C34878D82A}">
                    <a16:rowId xmlns:a16="http://schemas.microsoft.com/office/drawing/2014/main" val="4099160011"/>
                  </a:ext>
                </a:extLst>
              </a:tr>
              <a:tr h="370840">
                <a:tc>
                  <a:txBody>
                    <a:bodyPr/>
                    <a:lstStyle/>
                    <a:p>
                      <a:r>
                        <a:rPr lang="en-IN" dirty="0">
                          <a:solidFill>
                            <a:schemeClr val="tx2">
                              <a:lumMod val="10000"/>
                            </a:schemeClr>
                          </a:solidFill>
                          <a:latin typeface="Arial" panose="020B0604020202020204" pitchFamily="34" charset="0"/>
                          <a:cs typeface="Arial" panose="020B0604020202020204" pitchFamily="34" charset="0"/>
                        </a:rPr>
                        <a:t>LED </a:t>
                      </a:r>
                      <a:r>
                        <a:rPr lang="en-IN" dirty="0" err="1">
                          <a:solidFill>
                            <a:schemeClr val="tx2">
                              <a:lumMod val="10000"/>
                            </a:schemeClr>
                          </a:solidFill>
                          <a:latin typeface="Arial" panose="020B0604020202020204" pitchFamily="34" charset="0"/>
                          <a:cs typeface="Arial" panose="020B0604020202020204" pitchFamily="34" charset="0"/>
                        </a:rPr>
                        <a:t>fiber</a:t>
                      </a:r>
                      <a:r>
                        <a:rPr lang="en-IN" dirty="0">
                          <a:solidFill>
                            <a:schemeClr val="tx2">
                              <a:lumMod val="10000"/>
                            </a:schemeClr>
                          </a:solidFill>
                          <a:latin typeface="Arial" panose="020B0604020202020204" pitchFamily="34" charset="0"/>
                          <a:cs typeface="Arial" panose="020B0604020202020204" pitchFamily="34" charset="0"/>
                        </a:rPr>
                        <a:t> optic</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Data, video, audio, LANs</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10 Gbps</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300 meters (approx. 1000 feet) </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Secure, high capacity, low noise </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Expensive interface but decreasing in cost </a:t>
                      </a:r>
                    </a:p>
                    <a:p>
                      <a:endParaRPr lang="en-IN" dirty="0">
                        <a:solidFill>
                          <a:schemeClr val="tx2">
                            <a:lumMod val="10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18314266"/>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latin typeface="Arial" panose="020B0604020202020204" pitchFamily="34" charset="0"/>
                          <a:cs typeface="Arial" panose="020B0604020202020204" pitchFamily="34" charset="0"/>
                        </a:rPr>
                        <a:t>Laser </a:t>
                      </a:r>
                      <a:r>
                        <a:rPr lang="en-IN" dirty="0" err="1">
                          <a:solidFill>
                            <a:schemeClr val="tx2">
                              <a:lumMod val="10000"/>
                            </a:schemeClr>
                          </a:solidFill>
                          <a:latin typeface="Arial" panose="020B0604020202020204" pitchFamily="34" charset="0"/>
                          <a:cs typeface="Arial" panose="020B0604020202020204" pitchFamily="34" charset="0"/>
                        </a:rPr>
                        <a:t>fiber</a:t>
                      </a:r>
                      <a:r>
                        <a:rPr lang="en-IN" dirty="0">
                          <a:solidFill>
                            <a:schemeClr val="tx2">
                              <a:lumMod val="10000"/>
                            </a:schemeClr>
                          </a:solidFill>
                          <a:latin typeface="Arial" panose="020B0604020202020204" pitchFamily="34" charset="0"/>
                          <a:cs typeface="Arial" panose="020B0604020202020204" pitchFamily="34" charset="0"/>
                        </a:rPr>
                        <a:t> optic</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latin typeface="Arial" panose="020B0604020202020204" pitchFamily="34" charset="0"/>
                          <a:cs typeface="Arial" panose="020B0604020202020204" pitchFamily="34" charset="0"/>
                        </a:rPr>
                        <a:t>Data, video, audio, LANs, WANs, MANs</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100s Gbps</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100 </a:t>
                      </a:r>
                      <a:r>
                        <a:rPr lang="en-IN" dirty="0" err="1">
                          <a:solidFill>
                            <a:schemeClr val="tx2">
                              <a:lumMod val="10000"/>
                            </a:schemeClr>
                          </a:solidFill>
                          <a:latin typeface="Arial" panose="020B0604020202020204" pitchFamily="34" charset="0"/>
                          <a:cs typeface="Arial" panose="020B0604020202020204" pitchFamily="34" charset="0"/>
                        </a:rPr>
                        <a:t>kilometers</a:t>
                      </a:r>
                      <a:r>
                        <a:rPr lang="en-IN" dirty="0">
                          <a:solidFill>
                            <a:schemeClr val="tx2">
                              <a:lumMod val="10000"/>
                            </a:schemeClr>
                          </a:solidFill>
                          <a:latin typeface="Arial" panose="020B0604020202020204" pitchFamily="34" charset="0"/>
                          <a:cs typeface="Arial" panose="020B0604020202020204" pitchFamily="34" charset="0"/>
                        </a:rPr>
                        <a:t> (approx. 60 miles) </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Secure, high capacity, very low noise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latin typeface="Arial" panose="020B0604020202020204" pitchFamily="34" charset="0"/>
                          <a:cs typeface="Arial" panose="020B0604020202020204" pitchFamily="34" charset="0"/>
                        </a:rPr>
                        <a:t>Expensive interface </a:t>
                      </a:r>
                    </a:p>
                  </a:txBody>
                  <a:tcPr/>
                </a:tc>
                <a:extLst>
                  <a:ext uri="{0D108BD9-81ED-4DB2-BD59-A6C34878D82A}">
                    <a16:rowId xmlns:a16="http://schemas.microsoft.com/office/drawing/2014/main" val="1099342732"/>
                  </a:ext>
                </a:extLst>
              </a:tr>
            </a:tbl>
          </a:graphicData>
        </a:graphic>
      </p:graphicFrame>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5"/>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Radiated Media on LANs (1 of 2)</a:t>
            </a:r>
            <a:endParaRPr dirty="0"/>
          </a:p>
        </p:txBody>
      </p:sp>
      <p:sp>
        <p:nvSpPr>
          <p:cNvPr id="262" name="Google Shape;262;p25"/>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Radio, satellite transmissions, and infrared light are all different forms of electromagnetic waves that are used to transmit data</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Technically speaking – in wireless transmissions, space is the medium</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Note in the following figure how each source occupies a different set of frequencies</a:t>
            </a:r>
            <a:endParaRPr dirty="0"/>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Radiated Media on LANs (2 of 2)</a:t>
            </a:r>
            <a:endParaRPr dirty="0"/>
          </a:p>
        </p:txBody>
      </p:sp>
      <p:pic>
        <p:nvPicPr>
          <p:cNvPr id="3" name="Picture 2" descr="A figure represents the frequencies of various electromagnetic waves. A scale is marked from 10 to the power 1 to 10 to the power 21 hertz and the electromagnetic waves are marked against each. Kilo hertz, mega hertz, Giga hertz, and Tera hertz are marked against the corresponding values. The frequencies marked are as follows: long wave radio, 10 to the power of 1 to 10 to the power of 4; A M radio, 10 to the power of 5 to 10 to the power of 6; F M radio, T V, 10 to the power of 7 to 10 to the power of 8; cellular telephone, 10 to the power of 8; P C S telephone, 10 to the power of 9. The cellular telephone and P C S telephone together are labeled, terrestrial microwave. Satellite microwave: 10 to the power of 9; infrared: 10 to the power of 12 to 10 to the power of 14; visible light: 10 to the power of 15; ultraviolet light: 10 to the power of 16; gamma rays: 10 to the power of 18 to 10 to the power of 21. Ultra violet light and gamma rays together are labeled, X-rays. 10 to the power of 3 is labeled, Kilo Hertz, 10 to the power of 6 is labeled, Mega Hertz, 10 to the power of 9 is labeled, Giga Hertz, 10 to the power of 12 is labeled, Tera Hertz. A table below the figure lists the approximate frequencies. A M radio: 10 to the power of 5 to 10 to the power of 6. F M radio, TV: 10 to the power of 7 to 10 to the power of 8. Terrestrial microwave: 10 to the power of 8 to 10 to the power of 9 (x 0 0 Mega Hertz to x Giga Hertz). Cellular telephone: 10 to the power of 8 (800 Mega Hertz). Satellite microwave: 10 to the power of 9 (x Giga Hertz). P C S telephone 10 to the power of 9 (2000 Mega Hertz or 2 Giga Hertz). Infrared: 10 to the power of 12 to 10 to the power of 14. Visible light: 10 to the power of 14. Ultraviolet light: 10 to the power of 15 to 10 to the power of 16. X-rays: 10 to the power of 15 to 10 to the power of 20. Gamma rays: 10 to the power of 18 to 10 to the power of 21.&#10;Figure 2-19 Electromagnetic wave frequencies">
            <a:extLst>
              <a:ext uri="{FF2B5EF4-FFF2-40B4-BE49-F238E27FC236}">
                <a16:creationId xmlns:a16="http://schemas.microsoft.com/office/drawing/2014/main" id="{B25F447D-AC0D-4AF9-9773-5CD001207303}"/>
              </a:ext>
            </a:extLst>
          </p:cNvPr>
          <p:cNvPicPr>
            <a:picLocks noChangeAspect="1"/>
          </p:cNvPicPr>
          <p:nvPr/>
        </p:nvPicPr>
        <p:blipFill>
          <a:blip r:embed="rId4"/>
          <a:stretch>
            <a:fillRect/>
          </a:stretch>
        </p:blipFill>
        <p:spPr>
          <a:xfrm>
            <a:off x="3913443" y="1497888"/>
            <a:ext cx="4365114" cy="4700423"/>
          </a:xfrm>
          <a:prstGeom prst="rect">
            <a:avLst/>
          </a:prstGeom>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Wi-Fi (1 of 4)</a:t>
            </a:r>
            <a:endParaRPr dirty="0"/>
          </a:p>
        </p:txBody>
      </p:sp>
      <p:sp>
        <p:nvSpPr>
          <p:cNvPr id="274" name="Google Shape;274;p27"/>
          <p:cNvSpPr txBox="1">
            <a:spLocks noGrp="1"/>
          </p:cNvSpPr>
          <p:nvPr>
            <p:ph type="body" idx="1"/>
          </p:nvPr>
        </p:nvSpPr>
        <p:spPr>
          <a:xfrm>
            <a:off x="743575" y="1289675"/>
            <a:ext cx="6638700" cy="480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Clr>
                <a:srgbClr val="004A78"/>
              </a:buClr>
              <a:buSzPts val="2600"/>
              <a:buFont typeface="Arial"/>
              <a:buChar char="•"/>
            </a:pPr>
            <a:r>
              <a:rPr lang="en-US" dirty="0"/>
              <a:t>Wireless LAN, often referred to by the trademarked term Wi-Fi (wireless fidelity)</a:t>
            </a:r>
            <a:endParaRPr dirty="0"/>
          </a:p>
          <a:p>
            <a:pPr marL="457200" lvl="0" indent="-457200" algn="l" rtl="0">
              <a:lnSpc>
                <a:spcPct val="100000"/>
              </a:lnSpc>
              <a:spcBef>
                <a:spcPts val="624"/>
              </a:spcBef>
              <a:spcAft>
                <a:spcPts val="0"/>
              </a:spcAft>
              <a:buSzPts val="2600"/>
              <a:buChar char="•"/>
            </a:pPr>
            <a:r>
              <a:rPr lang="en-US" dirty="0"/>
              <a:t>Constituents:</a:t>
            </a:r>
            <a:endParaRPr dirty="0"/>
          </a:p>
          <a:p>
            <a:pPr marL="900112" lvl="1" indent="-442912" algn="l" rtl="0">
              <a:lnSpc>
                <a:spcPct val="100000"/>
              </a:lnSpc>
              <a:spcBef>
                <a:spcPts val="624"/>
              </a:spcBef>
              <a:spcAft>
                <a:spcPts val="0"/>
              </a:spcAft>
              <a:buSzPts val="2400"/>
              <a:buChar char="–"/>
            </a:pPr>
            <a:r>
              <a:rPr lang="en-US" dirty="0"/>
              <a:t>Wireless clients</a:t>
            </a:r>
            <a:endParaRPr dirty="0"/>
          </a:p>
          <a:p>
            <a:pPr marL="1257300" lvl="2" indent="-342900">
              <a:buFont typeface="Arial" panose="020B0604020202020204" pitchFamily="34" charset="0"/>
              <a:buChar char="•"/>
            </a:pPr>
            <a:r>
              <a:rPr lang="en-US" dirty="0"/>
              <a:t>desktops, laptops, mobile devices, etc.</a:t>
            </a:r>
            <a:endParaRPr dirty="0"/>
          </a:p>
          <a:p>
            <a:pPr marL="900112" lvl="1" indent="-442912" algn="l" rtl="0">
              <a:lnSpc>
                <a:spcPct val="100000"/>
              </a:lnSpc>
              <a:spcBef>
                <a:spcPts val="624"/>
              </a:spcBef>
              <a:spcAft>
                <a:spcPts val="0"/>
              </a:spcAft>
              <a:buSzPts val="2400"/>
              <a:buChar char="–"/>
            </a:pPr>
            <a:r>
              <a:rPr lang="en-US" dirty="0"/>
              <a:t>A wired LAN</a:t>
            </a:r>
            <a:endParaRPr dirty="0"/>
          </a:p>
          <a:p>
            <a:pPr marL="900112" lvl="1" indent="-442912" algn="l" rtl="0">
              <a:lnSpc>
                <a:spcPct val="100000"/>
              </a:lnSpc>
              <a:spcBef>
                <a:spcPts val="624"/>
              </a:spcBef>
              <a:spcAft>
                <a:spcPts val="0"/>
              </a:spcAft>
              <a:buSzPts val="2400"/>
              <a:buChar char="–"/>
            </a:pPr>
            <a:r>
              <a:rPr lang="en-US" dirty="0"/>
              <a:t>Access point, </a:t>
            </a:r>
            <a:r>
              <a:rPr lang="en-US" dirty="0" err="1"/>
              <a:t>a.k.a</a:t>
            </a:r>
            <a:r>
              <a:rPr lang="en-US" dirty="0"/>
              <a:t>, wireless router</a:t>
            </a:r>
            <a:endParaRPr dirty="0"/>
          </a:p>
        </p:txBody>
      </p:sp>
      <p:pic>
        <p:nvPicPr>
          <p:cNvPr id="2" name="Picture 1" descr="An illustration of the basic service set of a single cell wireless LAN. The access point at the center is connected to a LAN by a wired network. A laptop, workstations, and a Smartphone send signals to the access point.&#10;Figure 2-20 A single-cell wireless LAN configuration">
            <a:extLst>
              <a:ext uri="{FF2B5EF4-FFF2-40B4-BE49-F238E27FC236}">
                <a16:creationId xmlns:a16="http://schemas.microsoft.com/office/drawing/2014/main" id="{B01C53B2-A1A7-4721-9C3C-8E55CA2A1851}"/>
              </a:ext>
            </a:extLst>
          </p:cNvPr>
          <p:cNvPicPr>
            <a:picLocks noChangeAspect="1"/>
          </p:cNvPicPr>
          <p:nvPr/>
        </p:nvPicPr>
        <p:blipFill>
          <a:blip r:embed="rId4"/>
          <a:stretch>
            <a:fillRect/>
          </a:stretch>
        </p:blipFill>
        <p:spPr>
          <a:xfrm>
            <a:off x="7382275" y="1289675"/>
            <a:ext cx="4505334" cy="3639627"/>
          </a:xfrm>
          <a:prstGeom prst="rect">
            <a:avLst/>
          </a:prstGeom>
        </p:spPr>
      </p:pic>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dirty="0"/>
              <a:t>Wi-Fi (2 of 4)</a:t>
            </a:r>
            <a:endParaRPr dirty="0"/>
          </a:p>
        </p:txBody>
      </p:sp>
      <p:pic>
        <p:nvPicPr>
          <p:cNvPr id="2" name="Picture 1" descr="An illustration of the extended service set of a multiple cell wireless LAN. Two basic service sets are displayed. One basic service set represents a laptop and a workstation sending signals to access point. The other basic service set represents two laptops and a workstation sending signals to access point. The access points at the center of basic service sets are wired to Local Area network.&#10;Figure 2-21 A multiple-cell wireless LAN configuration">
            <a:extLst>
              <a:ext uri="{FF2B5EF4-FFF2-40B4-BE49-F238E27FC236}">
                <a16:creationId xmlns:a16="http://schemas.microsoft.com/office/drawing/2014/main" id="{8E45F01F-EC8E-4333-A2AF-CC9F6B14A76D}"/>
              </a:ext>
            </a:extLst>
          </p:cNvPr>
          <p:cNvPicPr>
            <a:picLocks noChangeAspect="1"/>
          </p:cNvPicPr>
          <p:nvPr/>
        </p:nvPicPr>
        <p:blipFill>
          <a:blip r:embed="rId4"/>
          <a:stretch>
            <a:fillRect/>
          </a:stretch>
        </p:blipFill>
        <p:spPr>
          <a:xfrm>
            <a:off x="2645365" y="1323130"/>
            <a:ext cx="6901270" cy="4846740"/>
          </a:xfrm>
          <a:prstGeom prst="rect">
            <a:avLst/>
          </a:prstGeom>
        </p:spPr>
      </p:pic>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113dc237b69_0_39"/>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dirty="0"/>
              <a:t>Wi-Fi (3 of 4)</a:t>
            </a:r>
            <a:endParaRPr dirty="0"/>
          </a:p>
        </p:txBody>
      </p:sp>
      <p:pic>
        <p:nvPicPr>
          <p:cNvPr id="2" name="Picture 1" descr="A diagram of a network of interconnected I o T devices. The smart speaker is connected to the smart T V, smart door lock, and smart environmental controls (pedestal fan). The smart light bulb is connected to the smart coffee maker and the smart door lock. The smart T V is connected to the smart environmental controls.&#10;Figure 2-22 Many IoT devices can communicate with each other to expand their network coverage">
            <a:extLst>
              <a:ext uri="{FF2B5EF4-FFF2-40B4-BE49-F238E27FC236}">
                <a16:creationId xmlns:a16="http://schemas.microsoft.com/office/drawing/2014/main" id="{3DD3754A-DAB8-478A-AE37-C1F4A134123C}"/>
              </a:ext>
            </a:extLst>
          </p:cNvPr>
          <p:cNvPicPr>
            <a:picLocks noChangeAspect="1"/>
          </p:cNvPicPr>
          <p:nvPr/>
        </p:nvPicPr>
        <p:blipFill>
          <a:blip r:embed="rId4"/>
          <a:stretch>
            <a:fillRect/>
          </a:stretch>
        </p:blipFill>
        <p:spPr>
          <a:xfrm>
            <a:off x="2151546" y="1200692"/>
            <a:ext cx="7888908" cy="5066215"/>
          </a:xfrm>
          <a:prstGeom prst="rect">
            <a:avLst/>
          </a:prstGeom>
        </p:spPr>
      </p:pic>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9"/>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dirty="0"/>
              <a:t>Wi-Fi (4 of 4)</a:t>
            </a:r>
            <a:endParaRPr dirty="0"/>
          </a:p>
        </p:txBody>
      </p:sp>
      <p:sp>
        <p:nvSpPr>
          <p:cNvPr id="6" name="Text Placeholder 5">
            <a:extLst>
              <a:ext uri="{FF2B5EF4-FFF2-40B4-BE49-F238E27FC236}">
                <a16:creationId xmlns:a16="http://schemas.microsoft.com/office/drawing/2014/main" id="{E1ED0314-C3F4-4F78-99CF-C2ABB896F23E}"/>
              </a:ext>
            </a:extLst>
          </p:cNvPr>
          <p:cNvSpPr>
            <a:spLocks noGrp="1"/>
          </p:cNvSpPr>
          <p:nvPr>
            <p:ph type="body" idx="1"/>
          </p:nvPr>
        </p:nvSpPr>
        <p:spPr>
          <a:xfrm>
            <a:off x="743576" y="1289684"/>
            <a:ext cx="6992537" cy="452030"/>
          </a:xfrm>
        </p:spPr>
        <p:txBody>
          <a:bodyPr/>
          <a:lstStyle/>
          <a:p>
            <a:pPr marL="63500" indent="0">
              <a:buNone/>
            </a:pPr>
            <a:r>
              <a:rPr lang="en-IN" sz="2000" b="1" dirty="0">
                <a:solidFill>
                  <a:schemeClr val="tx2">
                    <a:lumMod val="10000"/>
                  </a:schemeClr>
                </a:solidFill>
              </a:rPr>
              <a:t>Table 2-5 Technical details for 802.11 wireless standards </a:t>
            </a:r>
          </a:p>
        </p:txBody>
      </p:sp>
      <p:graphicFrame>
        <p:nvGraphicFramePr>
          <p:cNvPr id="15" name="Table 12">
            <a:extLst>
              <a:ext uri="{FF2B5EF4-FFF2-40B4-BE49-F238E27FC236}">
                <a16:creationId xmlns:a16="http://schemas.microsoft.com/office/drawing/2014/main" id="{A40D4E34-04D4-444E-B34C-02C5D56AF800}"/>
              </a:ext>
            </a:extLst>
          </p:cNvPr>
          <p:cNvGraphicFramePr>
            <a:graphicFrameLocks noGrp="1"/>
          </p:cNvGraphicFramePr>
          <p:nvPr>
            <p:extLst>
              <p:ext uri="{D42A27DB-BD31-4B8C-83A1-F6EECF244321}">
                <p14:modId xmlns:p14="http://schemas.microsoft.com/office/powerpoint/2010/main" val="1563745903"/>
              </p:ext>
            </p:extLst>
          </p:nvPr>
        </p:nvGraphicFramePr>
        <p:xfrm>
          <a:off x="711197" y="1848783"/>
          <a:ext cx="10225817" cy="3103880"/>
        </p:xfrm>
        <a:graphic>
          <a:graphicData uri="http://schemas.openxmlformats.org/drawingml/2006/table">
            <a:tbl>
              <a:tblPr firstRow="1" bandRow="1"/>
              <a:tblGrid>
                <a:gridCol w="1915889">
                  <a:extLst>
                    <a:ext uri="{9D8B030D-6E8A-4147-A177-3AD203B41FA5}">
                      <a16:colId xmlns:a16="http://schemas.microsoft.com/office/drawing/2014/main" val="2378086399"/>
                    </a:ext>
                  </a:extLst>
                </a:gridCol>
                <a:gridCol w="2716530">
                  <a:extLst>
                    <a:ext uri="{9D8B030D-6E8A-4147-A177-3AD203B41FA5}">
                      <a16:colId xmlns:a16="http://schemas.microsoft.com/office/drawing/2014/main" val="1086586406"/>
                    </a:ext>
                  </a:extLst>
                </a:gridCol>
                <a:gridCol w="3088005">
                  <a:extLst>
                    <a:ext uri="{9D8B030D-6E8A-4147-A177-3AD203B41FA5}">
                      <a16:colId xmlns:a16="http://schemas.microsoft.com/office/drawing/2014/main" val="217990491"/>
                    </a:ext>
                  </a:extLst>
                </a:gridCol>
                <a:gridCol w="2505393">
                  <a:extLst>
                    <a:ext uri="{9D8B030D-6E8A-4147-A177-3AD203B41FA5}">
                      <a16:colId xmlns:a16="http://schemas.microsoft.com/office/drawing/2014/main" val="3715157993"/>
                    </a:ext>
                  </a:extLst>
                </a:gridCol>
              </a:tblGrid>
              <a:tr h="370840">
                <a:tc>
                  <a:txBody>
                    <a:bodyPr/>
                    <a:lstStyle/>
                    <a:p>
                      <a:r>
                        <a:rPr lang="en-IN" b="1" dirty="0">
                          <a:solidFill>
                            <a:schemeClr val="tx2">
                              <a:lumMod val="10000"/>
                            </a:schemeClr>
                          </a:solidFill>
                        </a:rPr>
                        <a:t>Standard </a:t>
                      </a:r>
                    </a:p>
                  </a:txBody>
                  <a:tcPr/>
                </a:tc>
                <a:tc>
                  <a:txBody>
                    <a:bodyPr/>
                    <a:lstStyle/>
                    <a:p>
                      <a:r>
                        <a:rPr lang="en-IN" b="1" dirty="0">
                          <a:solidFill>
                            <a:schemeClr val="tx2">
                              <a:lumMod val="10000"/>
                            </a:schemeClr>
                          </a:solidFill>
                        </a:rPr>
                        <a:t>Frequency Band </a:t>
                      </a:r>
                    </a:p>
                  </a:txBody>
                  <a:tcPr/>
                </a:tc>
                <a:tc>
                  <a:txBody>
                    <a:bodyPr/>
                    <a:lstStyle/>
                    <a:p>
                      <a:r>
                        <a:rPr lang="en-IN" b="1" dirty="0">
                          <a:solidFill>
                            <a:schemeClr val="tx2">
                              <a:lumMod val="10000"/>
                            </a:schemeClr>
                          </a:solidFill>
                        </a:rPr>
                        <a:t>Maximum Theoretical Throughput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b="1" dirty="0">
                          <a:solidFill>
                            <a:schemeClr val="tx2">
                              <a:lumMod val="10000"/>
                            </a:schemeClr>
                          </a:solidFill>
                        </a:rPr>
                        <a:t>Geographic Range </a:t>
                      </a:r>
                    </a:p>
                  </a:txBody>
                  <a:tcPr/>
                </a:tc>
                <a:extLst>
                  <a:ext uri="{0D108BD9-81ED-4DB2-BD59-A6C34878D82A}">
                    <a16:rowId xmlns:a16="http://schemas.microsoft.com/office/drawing/2014/main" val="3397856880"/>
                  </a:ext>
                </a:extLst>
              </a:tr>
              <a:tr h="370840">
                <a:tc>
                  <a:txBody>
                    <a:bodyPr/>
                    <a:lstStyle/>
                    <a:p>
                      <a:r>
                        <a:rPr lang="en-IN" dirty="0">
                          <a:solidFill>
                            <a:schemeClr val="tx2">
                              <a:lumMod val="10000"/>
                            </a:schemeClr>
                          </a:solidFill>
                        </a:rPr>
                        <a:t>802.11b (Wi-Fi 1)</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2.4 GHz</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11 Mbps</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100 m</a:t>
                      </a:r>
                      <a:endParaRPr lang="en-IN" dirty="0">
                        <a:solidFill>
                          <a:schemeClr val="tx2">
                            <a:lumMod val="10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52234328"/>
                  </a:ext>
                </a:extLst>
              </a:tr>
              <a:tr h="370840">
                <a:tc>
                  <a:txBody>
                    <a:bodyPr/>
                    <a:lstStyle/>
                    <a:p>
                      <a:r>
                        <a:rPr lang="en-IN" dirty="0">
                          <a:solidFill>
                            <a:schemeClr val="tx2">
                              <a:lumMod val="10000"/>
                            </a:schemeClr>
                          </a:solidFill>
                        </a:rPr>
                        <a:t>802.11 a (</a:t>
                      </a:r>
                      <a:r>
                        <a:rPr lang="en-IN" dirty="0" err="1">
                          <a:solidFill>
                            <a:schemeClr val="tx2">
                              <a:lumMod val="10000"/>
                            </a:schemeClr>
                          </a:solidFill>
                        </a:rPr>
                        <a:t>VVi</a:t>
                      </a:r>
                      <a:r>
                        <a:rPr lang="en-IN" dirty="0">
                          <a:solidFill>
                            <a:schemeClr val="tx2">
                              <a:lumMod val="10000"/>
                            </a:schemeClr>
                          </a:solidFill>
                        </a:rPr>
                        <a:t>-Fi 2)</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5 GHz</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54 Mbps</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50 m</a:t>
                      </a:r>
                      <a:endParaRPr lang="en-IN" dirty="0">
                        <a:solidFill>
                          <a:schemeClr val="tx2">
                            <a:lumMod val="10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99160011"/>
                  </a:ext>
                </a:extLst>
              </a:tr>
              <a:tr h="370840">
                <a:tc>
                  <a:txBody>
                    <a:bodyPr/>
                    <a:lstStyle/>
                    <a:p>
                      <a:r>
                        <a:rPr lang="en-IN" dirty="0">
                          <a:solidFill>
                            <a:schemeClr val="tx2">
                              <a:lumMod val="10000"/>
                            </a:schemeClr>
                          </a:solidFill>
                        </a:rPr>
                        <a:t>802.11g (Wi-Fi 3)</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2.4 GHz</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54 Mbps</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100 m</a:t>
                      </a:r>
                      <a:endParaRPr lang="en-IN" dirty="0">
                        <a:solidFill>
                          <a:schemeClr val="tx2">
                            <a:lumMod val="10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18314266"/>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rPr>
                        <a:t>802.11 n (Wi-Fi 4)</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rPr>
                        <a:t>2.4 GHz or 5 GHz</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600 Mbps</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Indoor: 70 m Outdoor: 250 m</a:t>
                      </a:r>
                      <a:endParaRPr lang="en-IN" dirty="0">
                        <a:solidFill>
                          <a:schemeClr val="tx2">
                            <a:lumMod val="10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9934273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rPr>
                        <a:t>802.11ac (Wi-Fi 5)</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rPr>
                        <a:t>5 GHz</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Wave 1 (3 data streams): 1.3 Gbps</a:t>
                      </a:r>
                    </a:p>
                    <a:p>
                      <a:r>
                        <a:rPr lang="en-IN" dirty="0">
                          <a:solidFill>
                            <a:schemeClr val="tx2">
                              <a:lumMod val="10000"/>
                            </a:schemeClr>
                          </a:solidFill>
                        </a:rPr>
                        <a:t>Wave 2 (4 data streams): 3.47 Gbps</a:t>
                      </a:r>
                    </a:p>
                    <a:p>
                      <a:r>
                        <a:rPr lang="en-IN" dirty="0">
                          <a:solidFill>
                            <a:schemeClr val="tx2">
                              <a:lumMod val="10000"/>
                            </a:schemeClr>
                          </a:solidFill>
                        </a:rPr>
                        <a:t>Wave 3 (8 data streams): 6.93 Gbps</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Indoor: 70 m Outdoor: 250 m</a:t>
                      </a:r>
                      <a:endParaRPr lang="en-IN" dirty="0">
                        <a:solidFill>
                          <a:schemeClr val="tx2">
                            <a:lumMod val="10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04759734"/>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rPr>
                        <a:t>802.11 </a:t>
                      </a:r>
                      <a:r>
                        <a:rPr lang="en-IN" dirty="0" err="1">
                          <a:solidFill>
                            <a:schemeClr val="tx2">
                              <a:lumMod val="10000"/>
                            </a:schemeClr>
                          </a:solidFill>
                        </a:rPr>
                        <a:t>ax</a:t>
                      </a:r>
                      <a:r>
                        <a:rPr lang="en-IN" dirty="0">
                          <a:solidFill>
                            <a:schemeClr val="tx2">
                              <a:lumMod val="10000"/>
                            </a:schemeClr>
                          </a:solidFill>
                        </a:rPr>
                        <a:t> (Wi-Fi 6 and Wi-Fi 6E)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rPr>
                        <a:t>2.4 GHz or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rPr>
                        <a:t>5 GHz or (</a:t>
                      </a:r>
                      <a:r>
                        <a:rPr lang="en-IN" i="1" dirty="0">
                          <a:solidFill>
                            <a:schemeClr val="tx2">
                              <a:lumMod val="10000"/>
                            </a:schemeClr>
                          </a:solidFill>
                        </a:rPr>
                        <a:t>Wi-Fi 6E only</a:t>
                      </a:r>
                      <a:r>
                        <a:rPr lang="en-IN" dirty="0">
                          <a:solidFill>
                            <a:schemeClr val="tx2">
                              <a:lumMod val="10000"/>
                            </a:schemeClr>
                          </a:solidFill>
                        </a:rPr>
                        <a:t>) 6 GHz</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9.6 Gbps</a:t>
                      </a:r>
                      <a:endParaRPr lang="en-IN" dirty="0">
                        <a:solidFill>
                          <a:schemeClr val="tx2">
                            <a:lumMod val="10000"/>
                          </a:schemeClr>
                        </a:solidFill>
                        <a:latin typeface="Arial" panose="020B0604020202020204" pitchFamily="34" charset="0"/>
                        <a:cs typeface="Arial" panose="020B0604020202020204" pitchFamily="34" charset="0"/>
                      </a:endParaRPr>
                    </a:p>
                  </a:txBody>
                  <a:tcPr/>
                </a:tc>
                <a:tc>
                  <a:txBody>
                    <a:bodyPr/>
                    <a:lstStyle/>
                    <a:p>
                      <a:r>
                        <a:rPr lang="en-IN" dirty="0">
                          <a:solidFill>
                            <a:schemeClr val="tx2">
                              <a:lumMod val="10000"/>
                            </a:schemeClr>
                          </a:solidFill>
                        </a:rPr>
                        <a:t>Indoor: 70 m Outdoor: 250 m</a:t>
                      </a:r>
                      <a:endParaRPr lang="en-IN" dirty="0">
                        <a:solidFill>
                          <a:schemeClr val="tx2">
                            <a:lumMod val="10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40168615"/>
                  </a:ext>
                </a:extLst>
              </a:tr>
            </a:tbl>
          </a:graphicData>
        </a:graphic>
      </p:graphicFrame>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0"/>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Bluetooth (1 of 2)</a:t>
            </a:r>
            <a:endParaRPr dirty="0"/>
          </a:p>
        </p:txBody>
      </p:sp>
      <p:sp>
        <p:nvSpPr>
          <p:cNvPr id="299" name="Google Shape;299;p30"/>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Clr>
                <a:srgbClr val="004A78"/>
              </a:buClr>
              <a:buSzPts val="2600"/>
              <a:buFont typeface="Arial"/>
              <a:buChar char="•"/>
            </a:pPr>
            <a:r>
              <a:rPr lang="en-US" dirty="0"/>
              <a:t>Bluetooth protocol was created to unify separate nodes as mobile devices, computers, and accessories within a smaller range than the Wi-Fi standards</a:t>
            </a:r>
            <a:endParaRPr dirty="0"/>
          </a:p>
          <a:p>
            <a:pPr marL="457200" lvl="0" indent="-457200" algn="l" rtl="0">
              <a:lnSpc>
                <a:spcPct val="100000"/>
              </a:lnSpc>
              <a:spcBef>
                <a:spcPts val="624"/>
              </a:spcBef>
              <a:spcAft>
                <a:spcPts val="0"/>
              </a:spcAft>
              <a:buSzPts val="2600"/>
              <a:buChar char="•"/>
            </a:pPr>
            <a:r>
              <a:rPr lang="en-US" dirty="0"/>
              <a:t>A wireless technology that uses low-power, short-range radio frequencies to communicate between devices</a:t>
            </a:r>
            <a:endParaRPr dirty="0"/>
          </a:p>
          <a:p>
            <a:pPr marL="457200" lvl="0" indent="-457200" algn="l" rtl="0">
              <a:spcBef>
                <a:spcPts val="624"/>
              </a:spcBef>
              <a:spcAft>
                <a:spcPts val="0"/>
              </a:spcAft>
              <a:buSzPts val="2600"/>
              <a:buChar char="•"/>
            </a:pPr>
            <a:r>
              <a:rPr lang="en-US" dirty="0"/>
              <a:t>Bluetooth can transmit through solid, non-metal objects</a:t>
            </a:r>
            <a:endParaRPr dirty="0"/>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g113dc237b69_0_48"/>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Bluetooth (2 of 2)</a:t>
            </a:r>
            <a:endParaRPr dirty="0"/>
          </a:p>
        </p:txBody>
      </p:sp>
      <p:sp>
        <p:nvSpPr>
          <p:cNvPr id="305" name="Google Shape;305;g113dc237b69_0_48"/>
          <p:cNvSpPr txBox="1">
            <a:spLocks noGrp="1"/>
          </p:cNvSpPr>
          <p:nvPr>
            <p:ph type="body" idx="1"/>
          </p:nvPr>
        </p:nvSpPr>
        <p:spPr>
          <a:xfrm>
            <a:off x="743575" y="1289675"/>
            <a:ext cx="10875600" cy="480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1200"/>
              </a:spcAft>
              <a:buSzPts val="2600"/>
              <a:buChar char="•"/>
            </a:pPr>
            <a:r>
              <a:rPr lang="en-US" dirty="0"/>
              <a:t>Its typical link range is from 10 cm to 10 m, but can be extended to  100 m by increasing the power</a:t>
            </a:r>
            <a:endParaRPr dirty="0"/>
          </a:p>
          <a:p>
            <a:pPr marL="457200" lvl="0" indent="-457200" algn="l" rtl="0">
              <a:lnSpc>
                <a:spcPct val="100000"/>
              </a:lnSpc>
              <a:spcBef>
                <a:spcPts val="624"/>
              </a:spcBef>
              <a:spcAft>
                <a:spcPts val="0"/>
              </a:spcAft>
              <a:buSzPts val="2600"/>
              <a:buChar char="•"/>
            </a:pPr>
            <a:r>
              <a:rPr lang="en-US" dirty="0"/>
              <a:t>Class 1 devices: transmission of data up to 100 meters</a:t>
            </a:r>
            <a:endParaRPr dirty="0"/>
          </a:p>
          <a:p>
            <a:pPr marL="900112" lvl="1" indent="-442912" algn="l" rtl="0">
              <a:lnSpc>
                <a:spcPct val="100000"/>
              </a:lnSpc>
              <a:spcBef>
                <a:spcPts val="624"/>
              </a:spcBef>
              <a:spcAft>
                <a:spcPts val="0"/>
              </a:spcAft>
              <a:buSzPts val="2400"/>
              <a:buChar char="–"/>
            </a:pPr>
            <a:r>
              <a:rPr lang="en-US" dirty="0"/>
              <a:t>computers</a:t>
            </a:r>
            <a:endParaRPr dirty="0"/>
          </a:p>
          <a:p>
            <a:pPr marL="457200" lvl="0" indent="-457200" algn="l" rtl="0">
              <a:lnSpc>
                <a:spcPct val="100000"/>
              </a:lnSpc>
              <a:spcBef>
                <a:spcPts val="624"/>
              </a:spcBef>
              <a:spcAft>
                <a:spcPts val="0"/>
              </a:spcAft>
              <a:buSzPts val="2600"/>
              <a:buChar char="•"/>
            </a:pPr>
            <a:r>
              <a:rPr lang="en-US" dirty="0"/>
              <a:t>Class 2 devices: transmission of data up to 10 meters</a:t>
            </a:r>
            <a:endParaRPr dirty="0"/>
          </a:p>
          <a:p>
            <a:pPr marL="900112" lvl="1" indent="-442912" algn="l" rtl="0">
              <a:lnSpc>
                <a:spcPct val="100000"/>
              </a:lnSpc>
              <a:spcBef>
                <a:spcPts val="624"/>
              </a:spcBef>
              <a:spcAft>
                <a:spcPts val="0"/>
              </a:spcAft>
              <a:buSzPts val="2400"/>
              <a:buChar char="–"/>
            </a:pPr>
            <a:r>
              <a:rPr lang="en-US" dirty="0"/>
              <a:t>mobile devices, headphones, etc.</a:t>
            </a:r>
            <a:endParaRPr dirty="0"/>
          </a:p>
          <a:p>
            <a:pPr marL="457200" lvl="0" indent="-457200" algn="l" rtl="0">
              <a:lnSpc>
                <a:spcPct val="100000"/>
              </a:lnSpc>
              <a:spcBef>
                <a:spcPts val="624"/>
              </a:spcBef>
              <a:spcAft>
                <a:spcPts val="0"/>
              </a:spcAft>
              <a:buSzPts val="2600"/>
              <a:buChar char="•"/>
            </a:pPr>
            <a:r>
              <a:rPr lang="en-US" dirty="0"/>
              <a:t>Class 3 devices: transmission of data up to a couple of meters</a:t>
            </a:r>
            <a:endParaRPr dirty="0"/>
          </a:p>
          <a:p>
            <a:pPr marL="900112" lvl="1" indent="-442912" algn="l" rtl="0">
              <a:lnSpc>
                <a:spcPct val="100000"/>
              </a:lnSpc>
              <a:spcBef>
                <a:spcPts val="624"/>
              </a:spcBef>
              <a:spcAft>
                <a:spcPts val="0"/>
              </a:spcAft>
              <a:buSzPts val="2400"/>
              <a:buChar char="–"/>
            </a:pPr>
            <a:r>
              <a:rPr lang="en-US" dirty="0"/>
              <a:t>mouses and keyboards</a:t>
            </a:r>
            <a:endParaRPr dirty="0"/>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Zigbee (1 of 2)</a:t>
            </a:r>
            <a:endParaRPr dirty="0"/>
          </a:p>
        </p:txBody>
      </p:sp>
      <p:sp>
        <p:nvSpPr>
          <p:cNvPr id="311" name="Google Shape;311;p31"/>
          <p:cNvSpPr txBox="1">
            <a:spLocks noGrp="1"/>
          </p:cNvSpPr>
          <p:nvPr>
            <p:ph type="body" idx="1"/>
          </p:nvPr>
        </p:nvSpPr>
        <p:spPr>
          <a:xfrm>
            <a:off x="743575" y="1289675"/>
            <a:ext cx="10875600" cy="480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SzPts val="2600"/>
              <a:buChar char="•"/>
            </a:pPr>
            <a:r>
              <a:rPr lang="en-US" dirty="0"/>
              <a:t>New wireless technology designed for data transmission between smaller, often embedded, devices</a:t>
            </a:r>
            <a:endParaRPr dirty="0"/>
          </a:p>
          <a:p>
            <a:pPr marL="457200" lvl="0" indent="-457200" algn="l" rtl="0">
              <a:lnSpc>
                <a:spcPct val="100000"/>
              </a:lnSpc>
              <a:spcBef>
                <a:spcPts val="624"/>
              </a:spcBef>
              <a:spcAft>
                <a:spcPts val="0"/>
              </a:spcAft>
              <a:buSzPts val="2600"/>
              <a:buChar char="•"/>
            </a:pPr>
            <a:r>
              <a:rPr lang="en-US" dirty="0"/>
              <a:t>Low data transfer rates (20–250 Kbps) and corresponding low power consumption</a:t>
            </a:r>
            <a:endParaRPr dirty="0"/>
          </a:p>
          <a:p>
            <a:pPr marL="457200" lvl="0" indent="-457200" algn="l" rtl="0">
              <a:spcBef>
                <a:spcPts val="624"/>
              </a:spcBef>
              <a:spcAft>
                <a:spcPts val="0"/>
              </a:spcAft>
              <a:buSzPts val="2600"/>
              <a:buChar char="•"/>
            </a:pPr>
            <a:r>
              <a:rPr lang="en-US" dirty="0"/>
              <a:t>Bluetooth is best at replacing cables for short distances, while Zigbee is good at sending low-speed and low-power signals over short to medium distances</a:t>
            </a:r>
            <a:endParaRPr dirty="0"/>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6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ZigBee (2 of 2)</a:t>
            </a:r>
            <a:endParaRPr dirty="0"/>
          </a:p>
        </p:txBody>
      </p:sp>
      <p:sp>
        <p:nvSpPr>
          <p:cNvPr id="317" name="Google Shape;317;p61"/>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Based upon IEEE 802.15.4 standard</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Ideal for heating, cooling, security, lighting, and smoke and CO detector systems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ZigBee can use a mesh design – a ZigBee-enabled device can both accept and then pass on ZigBee signals </a:t>
            </a:r>
            <a:endParaRPr dirty="0"/>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Ultra-Wideband (1 of 2)</a:t>
            </a:r>
            <a:endParaRPr dirty="0"/>
          </a:p>
        </p:txBody>
      </p:sp>
      <p:sp>
        <p:nvSpPr>
          <p:cNvPr id="323" name="Google Shape;323;p5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Ultra-wideband</a:t>
            </a:r>
            <a:endParaRPr dirty="0"/>
          </a:p>
          <a:p>
            <a:pPr marL="900113" lvl="1" indent="-442913" algn="l" rtl="0">
              <a:lnSpc>
                <a:spcPct val="100000"/>
              </a:lnSpc>
              <a:spcBef>
                <a:spcPts val="624"/>
              </a:spcBef>
              <a:spcAft>
                <a:spcPts val="0"/>
              </a:spcAft>
              <a:buSzPts val="2400"/>
              <a:buChar char="–"/>
            </a:pPr>
            <a:r>
              <a:rPr lang="en-US" dirty="0"/>
              <a:t>UWB not limited to a fixed bandwidth but broadcasts over a wide range of frequencies simultaneously</a:t>
            </a:r>
            <a:endParaRPr dirty="0"/>
          </a:p>
          <a:p>
            <a:pPr marL="900113" lvl="1" indent="-442913" algn="l" rtl="0">
              <a:lnSpc>
                <a:spcPct val="100000"/>
              </a:lnSpc>
              <a:spcBef>
                <a:spcPts val="624"/>
              </a:spcBef>
              <a:spcAft>
                <a:spcPts val="0"/>
              </a:spcAft>
              <a:buSzPts val="2400"/>
              <a:buChar char="–"/>
            </a:pPr>
            <a:r>
              <a:rPr lang="en-US" dirty="0"/>
              <a:t>Many of these frequencies are used by other sources, but UWB uses such low power that it “should not” interfere with these other sources</a:t>
            </a:r>
            <a:endParaRPr dirty="0"/>
          </a:p>
          <a:p>
            <a:pPr marL="900113" lvl="1" indent="-442913" algn="l" rtl="0">
              <a:lnSpc>
                <a:spcPct val="100000"/>
              </a:lnSpc>
              <a:spcBef>
                <a:spcPts val="624"/>
              </a:spcBef>
              <a:spcAft>
                <a:spcPts val="0"/>
              </a:spcAft>
              <a:buSzPts val="2400"/>
              <a:buChar char="–"/>
            </a:pPr>
            <a:r>
              <a:rPr lang="en-US" dirty="0"/>
              <a:t>Can achieve speeds up to 100 Mbps but for small distances such as wireless LANs</a:t>
            </a:r>
            <a:endParaRPr dirty="0"/>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Ultra-Wideband (2 of 2)</a:t>
            </a:r>
            <a:endParaRPr dirty="0"/>
          </a:p>
        </p:txBody>
      </p:sp>
      <p:sp>
        <p:nvSpPr>
          <p:cNvPr id="329" name="Google Shape;329;p58"/>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Ultra-wideband (continued)</a:t>
            </a:r>
            <a:endParaRPr dirty="0"/>
          </a:p>
          <a:p>
            <a:pPr marL="900113" lvl="1" indent="-442913" algn="l" rtl="0">
              <a:lnSpc>
                <a:spcPct val="100000"/>
              </a:lnSpc>
              <a:spcBef>
                <a:spcPts val="624"/>
              </a:spcBef>
              <a:spcAft>
                <a:spcPts val="0"/>
              </a:spcAft>
              <a:buSzPts val="2400"/>
              <a:buChar char="–"/>
            </a:pPr>
            <a:r>
              <a:rPr lang="en-US" dirty="0"/>
              <a:t>Proponents for UWB say it gets something for nothing, since it shares frequencies with other sources. Opponents disagree</a:t>
            </a:r>
            <a:endParaRPr dirty="0"/>
          </a:p>
          <a:p>
            <a:pPr marL="900113" lvl="1" indent="-442913" algn="l" rtl="0">
              <a:lnSpc>
                <a:spcPct val="100000"/>
              </a:lnSpc>
              <a:spcBef>
                <a:spcPts val="624"/>
              </a:spcBef>
              <a:spcAft>
                <a:spcPts val="0"/>
              </a:spcAft>
              <a:buSzPts val="2400"/>
              <a:buChar char="–"/>
            </a:pPr>
            <a:r>
              <a:rPr lang="en-US" dirty="0"/>
              <a:t>Cell phone industry against UWB because CDMA most susceptible to interference of UWB</a:t>
            </a:r>
            <a:endParaRPr dirty="0"/>
          </a:p>
          <a:p>
            <a:pPr marL="900113" lvl="1" indent="-442913" algn="l" rtl="0">
              <a:lnSpc>
                <a:spcPct val="100000"/>
              </a:lnSpc>
              <a:spcBef>
                <a:spcPts val="624"/>
              </a:spcBef>
              <a:spcAft>
                <a:spcPts val="0"/>
              </a:spcAft>
              <a:buSzPts val="2400"/>
              <a:buChar char="–"/>
            </a:pPr>
            <a:r>
              <a:rPr lang="en-US" dirty="0"/>
              <a:t>GPS may also be affected</a:t>
            </a:r>
            <a:endParaRPr dirty="0"/>
          </a:p>
          <a:p>
            <a:pPr marL="900113" lvl="1" indent="-442913" algn="l" rtl="0">
              <a:lnSpc>
                <a:spcPct val="100000"/>
              </a:lnSpc>
              <a:spcBef>
                <a:spcPts val="624"/>
              </a:spcBef>
              <a:spcAft>
                <a:spcPts val="0"/>
              </a:spcAft>
              <a:buSzPts val="2400"/>
              <a:buChar char="–"/>
            </a:pPr>
            <a:r>
              <a:rPr lang="en-US" dirty="0"/>
              <a:t>One solution may be to have two types of systems – one for indoors (stronger) and one for outdoors (1/10 the power)</a:t>
            </a:r>
            <a:endParaRPr dirty="0"/>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Infrared Transmissions</a:t>
            </a:r>
            <a:endParaRPr dirty="0"/>
          </a:p>
        </p:txBody>
      </p:sp>
      <p:sp>
        <p:nvSpPr>
          <p:cNvPr id="335" name="Google Shape;335;p5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Transmissions that use a focused ray of light in the infrared frequency range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Very common with remote control devices, but can also be used for device-to-device transfers, such as PDA to computer</a:t>
            </a:r>
            <a:endParaRPr dirty="0"/>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6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Near-Field Communications</a:t>
            </a:r>
            <a:endParaRPr dirty="0"/>
          </a:p>
        </p:txBody>
      </p:sp>
      <p:sp>
        <p:nvSpPr>
          <p:cNvPr id="341" name="Google Shape;341;p60"/>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Very close distances or devices touching</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Magnetic induction (such as radio frequency ID) used for transmission of data</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Commonly used for data transmission between cellphones (non-Apple devices)</a:t>
            </a:r>
            <a:endParaRPr dirty="0"/>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62"/>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Summary of Wireless LAN Technologies</a:t>
            </a:r>
            <a:endParaRPr dirty="0"/>
          </a:p>
        </p:txBody>
      </p:sp>
      <p:sp>
        <p:nvSpPr>
          <p:cNvPr id="3" name="Text Placeholder 2">
            <a:extLst>
              <a:ext uri="{FF2B5EF4-FFF2-40B4-BE49-F238E27FC236}">
                <a16:creationId xmlns:a16="http://schemas.microsoft.com/office/drawing/2014/main" id="{E6F2E325-FD2A-4A17-A6C7-62E3A261F721}"/>
              </a:ext>
            </a:extLst>
          </p:cNvPr>
          <p:cNvSpPr>
            <a:spLocks noGrp="1"/>
          </p:cNvSpPr>
          <p:nvPr>
            <p:ph type="body" idx="1"/>
          </p:nvPr>
        </p:nvSpPr>
        <p:spPr>
          <a:xfrm>
            <a:off x="743577" y="1289684"/>
            <a:ext cx="5686252" cy="481059"/>
          </a:xfrm>
        </p:spPr>
        <p:txBody>
          <a:bodyPr/>
          <a:lstStyle/>
          <a:p>
            <a:pPr marL="63500" indent="0">
              <a:buNone/>
            </a:pPr>
            <a:r>
              <a:rPr lang="en-IN" sz="2400" b="1" dirty="0"/>
              <a:t>Table 2-6 Summary of wireless media </a:t>
            </a:r>
          </a:p>
        </p:txBody>
      </p:sp>
      <p:graphicFrame>
        <p:nvGraphicFramePr>
          <p:cNvPr id="13" name="Table 12">
            <a:extLst>
              <a:ext uri="{FF2B5EF4-FFF2-40B4-BE49-F238E27FC236}">
                <a16:creationId xmlns:a16="http://schemas.microsoft.com/office/drawing/2014/main" id="{AE89E23F-191D-47FB-B6BA-2C51C3CCFF29}"/>
              </a:ext>
            </a:extLst>
          </p:cNvPr>
          <p:cNvGraphicFramePr>
            <a:graphicFrameLocks noGrp="1"/>
          </p:cNvGraphicFramePr>
          <p:nvPr>
            <p:extLst>
              <p:ext uri="{D42A27DB-BD31-4B8C-83A1-F6EECF244321}">
                <p14:modId xmlns:p14="http://schemas.microsoft.com/office/powerpoint/2010/main" val="3025133783"/>
              </p:ext>
            </p:extLst>
          </p:nvPr>
        </p:nvGraphicFramePr>
        <p:xfrm>
          <a:off x="743577" y="1799771"/>
          <a:ext cx="10435774" cy="4114800"/>
        </p:xfrm>
        <a:graphic>
          <a:graphicData uri="http://schemas.openxmlformats.org/drawingml/2006/table">
            <a:tbl>
              <a:tblPr firstRow="1" bandRow="1"/>
              <a:tblGrid>
                <a:gridCol w="1915889">
                  <a:extLst>
                    <a:ext uri="{9D8B030D-6E8A-4147-A177-3AD203B41FA5}">
                      <a16:colId xmlns:a16="http://schemas.microsoft.com/office/drawing/2014/main" val="2378086399"/>
                    </a:ext>
                  </a:extLst>
                </a:gridCol>
                <a:gridCol w="2119085">
                  <a:extLst>
                    <a:ext uri="{9D8B030D-6E8A-4147-A177-3AD203B41FA5}">
                      <a16:colId xmlns:a16="http://schemas.microsoft.com/office/drawing/2014/main" val="1086586406"/>
                    </a:ext>
                  </a:extLst>
                </a:gridCol>
                <a:gridCol w="1360992">
                  <a:extLst>
                    <a:ext uri="{9D8B030D-6E8A-4147-A177-3AD203B41FA5}">
                      <a16:colId xmlns:a16="http://schemas.microsoft.com/office/drawing/2014/main" val="217990491"/>
                    </a:ext>
                  </a:extLst>
                </a:gridCol>
                <a:gridCol w="1959428">
                  <a:extLst>
                    <a:ext uri="{9D8B030D-6E8A-4147-A177-3AD203B41FA5}">
                      <a16:colId xmlns:a16="http://schemas.microsoft.com/office/drawing/2014/main" val="3715157993"/>
                    </a:ext>
                  </a:extLst>
                </a:gridCol>
                <a:gridCol w="1567543">
                  <a:extLst>
                    <a:ext uri="{9D8B030D-6E8A-4147-A177-3AD203B41FA5}">
                      <a16:colId xmlns:a16="http://schemas.microsoft.com/office/drawing/2014/main" val="3579839692"/>
                    </a:ext>
                  </a:extLst>
                </a:gridCol>
                <a:gridCol w="1512837">
                  <a:extLst>
                    <a:ext uri="{9D8B030D-6E8A-4147-A177-3AD203B41FA5}">
                      <a16:colId xmlns:a16="http://schemas.microsoft.com/office/drawing/2014/main" val="4058690145"/>
                    </a:ext>
                  </a:extLst>
                </a:gridCol>
              </a:tblGrid>
              <a:tr h="33276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b="1" dirty="0">
                          <a:solidFill>
                            <a:schemeClr val="tx2">
                              <a:lumMod val="10000"/>
                            </a:schemeClr>
                          </a:solidFill>
                          <a:latin typeface="Arial" panose="020B0604020202020204" pitchFamily="34" charset="0"/>
                          <a:cs typeface="Arial" panose="020B0604020202020204" pitchFamily="34" charset="0"/>
                        </a:rPr>
                        <a:t>Type of Wireless Medium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b="1" dirty="0">
                          <a:solidFill>
                            <a:schemeClr val="tx2">
                              <a:lumMod val="10000"/>
                            </a:schemeClr>
                          </a:solidFill>
                          <a:latin typeface="Arial" panose="020B0604020202020204" pitchFamily="34" charset="0"/>
                          <a:cs typeface="Arial" panose="020B0604020202020204" pitchFamily="34" charset="0"/>
                        </a:rPr>
                        <a:t>Typical Use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b="1" dirty="0">
                          <a:solidFill>
                            <a:schemeClr val="tx2">
                              <a:lumMod val="10000"/>
                            </a:schemeClr>
                          </a:solidFill>
                          <a:latin typeface="Arial" panose="020B0604020202020204" pitchFamily="34" charset="0"/>
                          <a:cs typeface="Arial" panose="020B0604020202020204" pitchFamily="34" charset="0"/>
                        </a:rPr>
                        <a:t>Maximum Data Transfer Rate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b="1" dirty="0">
                          <a:solidFill>
                            <a:schemeClr val="tx2">
                              <a:lumMod val="10000"/>
                            </a:schemeClr>
                          </a:solidFill>
                          <a:latin typeface="Arial" panose="020B0604020202020204" pitchFamily="34" charset="0"/>
                          <a:cs typeface="Arial" panose="020B0604020202020204" pitchFamily="34" charset="0"/>
                        </a:rPr>
                        <a:t>Typical transmission Range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b="1" dirty="0">
                          <a:solidFill>
                            <a:schemeClr val="tx2">
                              <a:lumMod val="10000"/>
                            </a:schemeClr>
                          </a:solidFill>
                          <a:latin typeface="Arial" panose="020B0604020202020204" pitchFamily="34" charset="0"/>
                          <a:cs typeface="Arial" panose="020B0604020202020204" pitchFamily="34" charset="0"/>
                        </a:rPr>
                        <a:t>Advantages</a:t>
                      </a:r>
                    </a:p>
                  </a:txBody>
                  <a:tcPr/>
                </a:tc>
                <a:tc>
                  <a:txBody>
                    <a:bodyPr/>
                    <a:lstStyle/>
                    <a:p>
                      <a:r>
                        <a:rPr lang="en-IN" sz="1200" b="1" dirty="0">
                          <a:solidFill>
                            <a:schemeClr val="tx2">
                              <a:lumMod val="10000"/>
                            </a:schemeClr>
                          </a:solidFill>
                          <a:latin typeface="Arial" panose="020B0604020202020204" pitchFamily="34" charset="0"/>
                          <a:cs typeface="Arial" panose="020B0604020202020204" pitchFamily="34" charset="0"/>
                        </a:rPr>
                        <a:t>Disadvantages</a:t>
                      </a:r>
                    </a:p>
                  </a:txBody>
                  <a:tcPr/>
                </a:tc>
                <a:extLst>
                  <a:ext uri="{0D108BD9-81ED-4DB2-BD59-A6C34878D82A}">
                    <a16:rowId xmlns:a16="http://schemas.microsoft.com/office/drawing/2014/main" val="3397856880"/>
                  </a:ext>
                </a:extLst>
              </a:tr>
              <a:tr h="370840">
                <a:tc>
                  <a:txBody>
                    <a:bodyPr/>
                    <a:lstStyle/>
                    <a:p>
                      <a:r>
                        <a:rPr lang="en-IN" sz="1200" dirty="0">
                          <a:solidFill>
                            <a:schemeClr val="tx2">
                              <a:lumMod val="10000"/>
                            </a:schemeClr>
                          </a:solidFill>
                          <a:latin typeface="Arial" panose="020B0604020202020204" pitchFamily="34" charset="0"/>
                          <a:cs typeface="Arial" panose="020B0604020202020204" pitchFamily="34" charset="0"/>
                        </a:rPr>
                        <a:t>Wi-Fi</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Local area networks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 Gbps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45-90 meters (150-300 feet)</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Relative ease of use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Several standards</a:t>
                      </a:r>
                    </a:p>
                  </a:txBody>
                  <a:tcPr/>
                </a:tc>
                <a:extLst>
                  <a:ext uri="{0D108BD9-81ED-4DB2-BD59-A6C34878D82A}">
                    <a16:rowId xmlns:a16="http://schemas.microsoft.com/office/drawing/2014/main" val="2552234328"/>
                  </a:ext>
                </a:extLst>
              </a:tr>
              <a:tr h="370840">
                <a:tc>
                  <a:txBody>
                    <a:bodyPr/>
                    <a:lstStyle/>
                    <a:p>
                      <a:r>
                        <a:rPr lang="en-IN" sz="1200" dirty="0">
                          <a:solidFill>
                            <a:schemeClr val="tx2">
                              <a:lumMod val="10000"/>
                            </a:schemeClr>
                          </a:solidFill>
                          <a:latin typeface="Arial" panose="020B0604020202020204" pitchFamily="34" charset="0"/>
                          <a:cs typeface="Arial" panose="020B0604020202020204" pitchFamily="34" charset="0"/>
                        </a:rPr>
                        <a:t>Bluetooth</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Short-distance transfer</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2 Mbps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A few feet to 100 meters (328 feet) depending on device class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Universal protocol</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Limited distances</a:t>
                      </a:r>
                    </a:p>
                  </a:txBody>
                  <a:tcPr/>
                </a:tc>
                <a:extLst>
                  <a:ext uri="{0D108BD9-81ED-4DB2-BD59-A6C34878D82A}">
                    <a16:rowId xmlns:a16="http://schemas.microsoft.com/office/drawing/2014/main" val="4099160011"/>
                  </a:ext>
                </a:extLst>
              </a:tr>
              <a:tr h="370840">
                <a:tc>
                  <a:txBody>
                    <a:bodyPr/>
                    <a:lstStyle/>
                    <a:p>
                      <a:r>
                        <a:rPr lang="en-IN" sz="1200" dirty="0">
                          <a:solidFill>
                            <a:schemeClr val="tx2">
                              <a:lumMod val="10000"/>
                            </a:schemeClr>
                          </a:solidFill>
                          <a:latin typeface="Arial" panose="020B0604020202020204" pitchFamily="34" charset="0"/>
                          <a:cs typeface="Arial" panose="020B0604020202020204" pitchFamily="34" charset="0"/>
                        </a:rPr>
                        <a:t>Zigbee</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Short-to-medium distance, low- speed transfers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250 Kbps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Almost unlimited distance (mesh)</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Low power</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Low transfer speeds</a:t>
                      </a:r>
                    </a:p>
                  </a:txBody>
                  <a:tcPr/>
                </a:tc>
                <a:extLst>
                  <a:ext uri="{0D108BD9-81ED-4DB2-BD59-A6C34878D82A}">
                    <a16:rowId xmlns:a16="http://schemas.microsoft.com/office/drawing/2014/main" val="1518314266"/>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IR</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Short-distance data transfer</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Varies by protocol used</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 meters (33 feet)</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Fast, inexpensive, secure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Short distances, line of sight </a:t>
                      </a:r>
                    </a:p>
                  </a:txBody>
                  <a:tcPr/>
                </a:tc>
                <a:extLst>
                  <a:ext uri="{0D108BD9-81ED-4DB2-BD59-A6C34878D82A}">
                    <a16:rowId xmlns:a16="http://schemas.microsoft.com/office/drawing/2014/main" val="109934273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UWB</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Short-distance, high-speed transfers; location discovery</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100 Mbps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100 meters (328 feet)</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High speed, not restricted to fixed frequencies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May interfere with other sources</a:t>
                      </a:r>
                    </a:p>
                  </a:txBody>
                  <a:tcPr/>
                </a:tc>
                <a:extLst>
                  <a:ext uri="{0D108BD9-81ED-4DB2-BD59-A6C34878D82A}">
                    <a16:rowId xmlns:a16="http://schemas.microsoft.com/office/drawing/2014/main" val="1709559425"/>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NFC</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Very short distance data transfer</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424 Kbps</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About 4 cm</a:t>
                      </a:r>
                    </a:p>
                  </a:txBody>
                  <a:tcPr/>
                </a:tc>
                <a:tc>
                  <a:txBody>
                    <a:bodyPr/>
                    <a:lstStyle/>
                    <a:p>
                      <a:r>
                        <a:rPr lang="en-IN" sz="1200" dirty="0">
                          <a:solidFill>
                            <a:schemeClr val="tx2">
                              <a:lumMod val="10000"/>
                            </a:schemeClr>
                          </a:solidFill>
                          <a:latin typeface="Arial" panose="020B0604020202020204" pitchFamily="34" charset="0"/>
                          <a:cs typeface="Arial" panose="020B0604020202020204" pitchFamily="34" charset="0"/>
                        </a:rPr>
                        <a:t>High-speed connections; allows for passive devices with no internal power supply</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solidFill>
                            <a:schemeClr val="tx2">
                              <a:lumMod val="10000"/>
                            </a:schemeClr>
                          </a:solidFill>
                          <a:latin typeface="Arial" panose="020B0604020202020204" pitchFamily="34" charset="0"/>
                          <a:cs typeface="Arial" panose="020B0604020202020204" pitchFamily="34" charset="0"/>
                        </a:rPr>
                        <a:t>Very limited distance </a:t>
                      </a:r>
                    </a:p>
                  </a:txBody>
                  <a:tcPr/>
                </a:tc>
                <a:extLst>
                  <a:ext uri="{0D108BD9-81ED-4DB2-BD59-A6C34878D82A}">
                    <a16:rowId xmlns:a16="http://schemas.microsoft.com/office/drawing/2014/main" val="912052253"/>
                  </a:ext>
                </a:extLst>
              </a:tr>
            </a:tbl>
          </a:graphicData>
        </a:graphic>
      </p:graphicFrame>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6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Media Selection Criteria</a:t>
            </a:r>
            <a:endParaRPr dirty="0"/>
          </a:p>
        </p:txBody>
      </p:sp>
      <p:sp>
        <p:nvSpPr>
          <p:cNvPr id="353" name="Google Shape;353;p64"/>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Cost</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Speed</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Distance and expandability</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Environment</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Security</a:t>
            </a:r>
            <a:endParaRPr dirty="0"/>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6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Cost</a:t>
            </a:r>
            <a:endParaRPr dirty="0"/>
          </a:p>
        </p:txBody>
      </p:sp>
      <p:sp>
        <p:nvSpPr>
          <p:cNvPr id="359" name="Google Shape;359;p6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Different types of costs</a:t>
            </a:r>
            <a:endParaRPr dirty="0"/>
          </a:p>
          <a:p>
            <a:pPr marL="900113" lvl="1" indent="-442913" algn="l" rtl="0">
              <a:lnSpc>
                <a:spcPct val="100000"/>
              </a:lnSpc>
              <a:spcBef>
                <a:spcPts val="624"/>
              </a:spcBef>
              <a:spcAft>
                <a:spcPts val="0"/>
              </a:spcAft>
              <a:buSzPts val="2400"/>
              <a:buChar char="–"/>
            </a:pPr>
            <a:r>
              <a:rPr lang="en-US" dirty="0"/>
              <a:t>Initial cost – what does a particular type of medium cost to purchase?  To install?</a:t>
            </a:r>
            <a:endParaRPr dirty="0"/>
          </a:p>
          <a:p>
            <a:pPr marL="900113" lvl="1" indent="-442913" algn="l" rtl="0">
              <a:lnSpc>
                <a:spcPct val="100000"/>
              </a:lnSpc>
              <a:spcBef>
                <a:spcPts val="624"/>
              </a:spcBef>
              <a:spcAft>
                <a:spcPts val="0"/>
              </a:spcAft>
              <a:buSzPts val="2400"/>
              <a:buChar char="–"/>
            </a:pPr>
            <a:r>
              <a:rPr lang="en-US" dirty="0"/>
              <a:t>Maintenance / support cost</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ROI (return on investment) – if one medium is cheaper to purchase and install but is not cost effective, where are the savings?</a:t>
            </a:r>
            <a:endParaRPr dirty="0"/>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6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Speed</a:t>
            </a:r>
            <a:endParaRPr dirty="0"/>
          </a:p>
        </p:txBody>
      </p:sp>
      <p:sp>
        <p:nvSpPr>
          <p:cNvPr id="365" name="Google Shape;365;p66"/>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Two different forms of speed:</a:t>
            </a:r>
            <a:endParaRPr dirty="0"/>
          </a:p>
          <a:p>
            <a:pPr marL="900113" lvl="1" indent="-442913" algn="l" rtl="0">
              <a:lnSpc>
                <a:spcPct val="100000"/>
              </a:lnSpc>
              <a:spcBef>
                <a:spcPts val="624"/>
              </a:spcBef>
              <a:spcAft>
                <a:spcPts val="0"/>
              </a:spcAft>
              <a:buSzPts val="2400"/>
              <a:buChar char="–"/>
            </a:pPr>
            <a:r>
              <a:rPr lang="en-US" dirty="0"/>
              <a:t>Propagation speed – the time to send the first bit across the medium</a:t>
            </a:r>
            <a:endParaRPr dirty="0"/>
          </a:p>
          <a:p>
            <a:pPr marL="1257300" lvl="2" indent="-342900">
              <a:buFont typeface="Arial" panose="020B0604020202020204" pitchFamily="34" charset="0"/>
              <a:buChar char="•"/>
            </a:pPr>
            <a:r>
              <a:rPr lang="en-US" dirty="0"/>
              <a:t>This speed depends upon the medium</a:t>
            </a:r>
            <a:endParaRPr dirty="0"/>
          </a:p>
          <a:p>
            <a:pPr marL="1257300" lvl="2" indent="-342900">
              <a:buFont typeface="Arial" panose="020B0604020202020204" pitchFamily="34" charset="0"/>
              <a:buChar char="•"/>
            </a:pPr>
            <a:r>
              <a:rPr lang="en-US" dirty="0"/>
              <a:t>Airwaves and fiber are speed of light</a:t>
            </a:r>
            <a:endParaRPr dirty="0"/>
          </a:p>
          <a:p>
            <a:pPr marL="1257300" lvl="2" indent="-342900">
              <a:buFont typeface="Arial" panose="020B0604020202020204" pitchFamily="34" charset="0"/>
              <a:buChar char="•"/>
            </a:pPr>
            <a:r>
              <a:rPr lang="en-US" dirty="0"/>
              <a:t>Copper wire is two thirds the speed of light</a:t>
            </a:r>
            <a:endParaRPr dirty="0"/>
          </a:p>
          <a:p>
            <a:pPr marL="900113" lvl="1" indent="-442913" algn="l" rtl="0">
              <a:lnSpc>
                <a:spcPct val="100000"/>
              </a:lnSpc>
              <a:spcBef>
                <a:spcPts val="624"/>
              </a:spcBef>
              <a:spcAft>
                <a:spcPts val="0"/>
              </a:spcAft>
              <a:buSzPts val="2400"/>
              <a:buChar char="–"/>
            </a:pPr>
            <a:r>
              <a:rPr lang="en-US" dirty="0"/>
              <a:t>Data transfer speed – the time to transmit the rest of the bits in the message</a:t>
            </a:r>
            <a:endParaRPr dirty="0"/>
          </a:p>
          <a:p>
            <a:pPr marL="1257300" lvl="2" indent="-342900">
              <a:buFont typeface="Arial" panose="020B0604020202020204" pitchFamily="34" charset="0"/>
              <a:buChar char="•"/>
            </a:pPr>
            <a:r>
              <a:rPr lang="en-US" dirty="0"/>
              <a:t>This speed is measured in bits per second</a:t>
            </a:r>
            <a:endParaRPr dirty="0"/>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6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Expandability and Distance</a:t>
            </a:r>
            <a:endParaRPr dirty="0"/>
          </a:p>
        </p:txBody>
      </p:sp>
      <p:sp>
        <p:nvSpPr>
          <p:cNvPr id="371" name="Google Shape;371;p6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Certain media lend themselves more easily to expansion</a:t>
            </a:r>
            <a:endParaRPr/>
          </a:p>
          <a:p>
            <a:pPr marL="457200" lvl="0" indent="-457200" algn="l" rtl="0">
              <a:lnSpc>
                <a:spcPct val="100000"/>
              </a:lnSpc>
              <a:spcBef>
                <a:spcPts val="624"/>
              </a:spcBef>
              <a:spcAft>
                <a:spcPts val="0"/>
              </a:spcAft>
              <a:buClr>
                <a:srgbClr val="004A78"/>
              </a:buClr>
              <a:buSzPts val="2600"/>
              <a:buFont typeface="Arial"/>
              <a:buChar char="•"/>
            </a:pPr>
            <a:r>
              <a:rPr lang="en-US"/>
              <a:t>Don’t forget right-of-way issue for conducted media and line-of-sight for certain wireless media</a:t>
            </a:r>
            <a:endParaRP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6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Environment</a:t>
            </a:r>
            <a:endParaRPr dirty="0"/>
          </a:p>
        </p:txBody>
      </p:sp>
      <p:sp>
        <p:nvSpPr>
          <p:cNvPr id="377" name="Google Shape;377;p68"/>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Many types of environments are hazardous to certain media</a:t>
            </a:r>
            <a:endParaRPr/>
          </a:p>
          <a:p>
            <a:pPr marL="900113" lvl="1" indent="-442913" algn="l" rtl="0">
              <a:lnSpc>
                <a:spcPct val="100000"/>
              </a:lnSpc>
              <a:spcBef>
                <a:spcPts val="624"/>
              </a:spcBef>
              <a:spcAft>
                <a:spcPts val="0"/>
              </a:spcAft>
              <a:buSzPts val="2400"/>
              <a:buChar char="–"/>
            </a:pPr>
            <a:r>
              <a:rPr lang="en-US"/>
              <a:t>Electromagnetic noise</a:t>
            </a:r>
            <a:endParaRPr/>
          </a:p>
          <a:p>
            <a:pPr marL="900113" lvl="1" indent="-442913" algn="l" rtl="0">
              <a:lnSpc>
                <a:spcPct val="100000"/>
              </a:lnSpc>
              <a:spcBef>
                <a:spcPts val="624"/>
              </a:spcBef>
              <a:spcAft>
                <a:spcPts val="0"/>
              </a:spcAft>
              <a:buSzPts val="2400"/>
              <a:buChar char="–"/>
            </a:pPr>
            <a:r>
              <a:rPr lang="en-US"/>
              <a:t>Scintillation and movement</a:t>
            </a:r>
            <a:endParaRPr/>
          </a:p>
          <a:p>
            <a:pPr marL="900113" lvl="1" indent="-442913" algn="l" rtl="0">
              <a:lnSpc>
                <a:spcPct val="100000"/>
              </a:lnSpc>
              <a:spcBef>
                <a:spcPts val="624"/>
              </a:spcBef>
              <a:spcAft>
                <a:spcPts val="0"/>
              </a:spcAft>
              <a:buSzPts val="2400"/>
              <a:buChar char="–"/>
            </a:pPr>
            <a:r>
              <a:rPr lang="en-US"/>
              <a:t>Extreme environmental conditions</a:t>
            </a:r>
            <a:endParaRP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6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Security</a:t>
            </a:r>
            <a:endParaRPr dirty="0"/>
          </a:p>
        </p:txBody>
      </p:sp>
      <p:sp>
        <p:nvSpPr>
          <p:cNvPr id="383" name="Google Shape;383;p6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If data must be secure during transmission, it is important that the medium not be easy to tap</a:t>
            </a:r>
            <a:endParaRPr/>
          </a:p>
          <a:p>
            <a:pPr marL="900113" lvl="1" indent="-442913" algn="l" rtl="0">
              <a:lnSpc>
                <a:spcPct val="100000"/>
              </a:lnSpc>
              <a:spcBef>
                <a:spcPts val="624"/>
              </a:spcBef>
              <a:spcAft>
                <a:spcPts val="0"/>
              </a:spcAft>
              <a:buSzPts val="2400"/>
              <a:buChar char="–"/>
            </a:pPr>
            <a:r>
              <a:rPr lang="en-US"/>
              <a:t>Make the wire impervious to electromagnetic wiretapping</a:t>
            </a:r>
            <a:endParaRPr/>
          </a:p>
          <a:p>
            <a:pPr marL="900113" lvl="1" indent="-442913" algn="l" rtl="0">
              <a:lnSpc>
                <a:spcPct val="100000"/>
              </a:lnSpc>
              <a:spcBef>
                <a:spcPts val="624"/>
              </a:spcBef>
              <a:spcAft>
                <a:spcPts val="0"/>
              </a:spcAft>
              <a:buSzPts val="2400"/>
              <a:buChar char="–"/>
            </a:pPr>
            <a:r>
              <a:rPr lang="en-US"/>
              <a:t>Encrypt the signal going over the medium</a:t>
            </a:r>
            <a:endParaRPr/>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7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Summary (1 of 2)</a:t>
            </a:r>
            <a:endParaRPr dirty="0"/>
          </a:p>
        </p:txBody>
      </p:sp>
      <p:sp>
        <p:nvSpPr>
          <p:cNvPr id="389" name="Google Shape;389;p77"/>
          <p:cNvSpPr txBox="1">
            <a:spLocks noGrp="1"/>
          </p:cNvSpPr>
          <p:nvPr>
            <p:ph type="body" idx="1"/>
          </p:nvPr>
        </p:nvSpPr>
        <p:spPr>
          <a:xfrm>
            <a:off x="743576" y="1289683"/>
            <a:ext cx="10711543" cy="5081619"/>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All data communication media can be divided into two basic categories: conducted (wired) media, and radiated (wireless) media</a:t>
            </a:r>
            <a:endParaRPr/>
          </a:p>
          <a:p>
            <a:pPr marL="457200" lvl="0" indent="-457200" algn="l" rtl="0">
              <a:lnSpc>
                <a:spcPct val="100000"/>
              </a:lnSpc>
              <a:spcBef>
                <a:spcPts val="0"/>
              </a:spcBef>
              <a:spcAft>
                <a:spcPts val="0"/>
              </a:spcAft>
              <a:buSzPts val="2600"/>
              <a:buChar char="•"/>
            </a:pPr>
            <a:r>
              <a:rPr lang="en-US"/>
              <a:t>Cabling standards define both physical and logical (protocols) standards</a:t>
            </a:r>
            <a:endParaRPr/>
          </a:p>
          <a:p>
            <a:pPr marL="457200" lvl="0" indent="-457200" algn="l" rtl="0">
              <a:lnSpc>
                <a:spcPct val="100000"/>
              </a:lnSpc>
              <a:spcBef>
                <a:spcPts val="624"/>
              </a:spcBef>
              <a:spcAft>
                <a:spcPts val="0"/>
              </a:spcAft>
              <a:buClr>
                <a:srgbClr val="004A78"/>
              </a:buClr>
              <a:buSzPts val="2600"/>
              <a:buFont typeface="Arial"/>
              <a:buChar char="•"/>
            </a:pPr>
            <a:r>
              <a:rPr lang="en-US"/>
              <a:t>The three types of conducted media are twisted pair, coaxial cable, and fiber-optic cable</a:t>
            </a:r>
            <a:endParaRPr/>
          </a:p>
          <a:p>
            <a:pPr marL="457200" lvl="0" indent="-457200" algn="l" rtl="0">
              <a:lnSpc>
                <a:spcPct val="100000"/>
              </a:lnSpc>
              <a:spcBef>
                <a:spcPts val="624"/>
              </a:spcBef>
              <a:spcAft>
                <a:spcPts val="0"/>
              </a:spcAft>
              <a:buClr>
                <a:srgbClr val="004A78"/>
              </a:buClr>
              <a:buSzPts val="2600"/>
              <a:buFont typeface="Arial"/>
              <a:buChar char="•"/>
            </a:pPr>
            <a:r>
              <a:rPr lang="en-US"/>
              <a:t>Twisted pair and coaxial cable are both metal wires and are subject to electromagnetic interference</a:t>
            </a:r>
            <a:endParaRPr/>
          </a:p>
          <a:p>
            <a:pPr marL="457200" lvl="0" indent="-457200" algn="l" rtl="0">
              <a:lnSpc>
                <a:spcPct val="100000"/>
              </a:lnSpc>
              <a:spcBef>
                <a:spcPts val="624"/>
              </a:spcBef>
              <a:spcAft>
                <a:spcPts val="0"/>
              </a:spcAft>
              <a:buClr>
                <a:srgbClr val="004A78"/>
              </a:buClr>
              <a:buSzPts val="2600"/>
              <a:buFont typeface="Arial"/>
              <a:buChar char="•"/>
            </a:pPr>
            <a:r>
              <a:rPr lang="en-US"/>
              <a:t>Fiber-optic cable is a glass wire and is impervious to electromagnetic interference</a:t>
            </a:r>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7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Summary (2 of 2)</a:t>
            </a:r>
            <a:endParaRPr dirty="0"/>
          </a:p>
        </p:txBody>
      </p:sp>
      <p:sp>
        <p:nvSpPr>
          <p:cNvPr id="395" name="Google Shape;395;p78"/>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Several basic groups of wireless media exist: Wi-Fi, Bluetooth, ZigBee, ultra-wideband, near-field communications, and infrared</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Each of the wireless technologies is designed for specific applications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When trying to select a particular medium for an application, it helps to compare the different media using these criteria: cost, speed, expandability and distance, environment, and security</a:t>
            </a:r>
            <a:endParaRPr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1470</TotalTime>
  <Words>2401</Words>
  <Application>Microsoft Office PowerPoint</Application>
  <PresentationFormat>Widescreen</PresentationFormat>
  <Paragraphs>338</Paragraphs>
  <Slides>48</Slides>
  <Notes>48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Arial</vt:lpstr>
      <vt:lpstr>Calibri</vt:lpstr>
      <vt:lpstr>Helvetica Neue</vt:lpstr>
      <vt:lpstr>Noto Sans Symbols</vt:lpstr>
      <vt:lpstr>Open Sans</vt:lpstr>
      <vt:lpstr>Office Theme</vt:lpstr>
      <vt:lpstr>Chapter 2</vt:lpstr>
      <vt:lpstr>After reading this chapter, you should be able to:</vt:lpstr>
      <vt:lpstr>Introduction</vt:lpstr>
      <vt:lpstr>Cabling Standards (1 of 3)</vt:lpstr>
      <vt:lpstr>Cabling Standards (2 of 3)</vt:lpstr>
      <vt:lpstr>Cabling Standards (3 of 3)</vt:lpstr>
      <vt:lpstr>Twisted Pair Wire (1 of 5)</vt:lpstr>
      <vt:lpstr>Twisted Pair Wire (2 of 5)</vt:lpstr>
      <vt:lpstr>Twisted Pair Wire (3 of 5)</vt:lpstr>
      <vt:lpstr>Twisted Pair Wire (4 of 5)</vt:lpstr>
      <vt:lpstr>Twisted Pair Wire (5 of 5)</vt:lpstr>
      <vt:lpstr>Twisted Pair Summary</vt:lpstr>
      <vt:lpstr>Coaxial Cable (1 of 3)</vt:lpstr>
      <vt:lpstr>Coaxial Cable (2 of 3)</vt:lpstr>
      <vt:lpstr>Coaxial Cable (3 of 3)</vt:lpstr>
      <vt:lpstr>Coaxial Cable Summary</vt:lpstr>
      <vt:lpstr>Fiber-Optic Cable (1 of 7)</vt:lpstr>
      <vt:lpstr>Fiber-Optic Cable (2 of 7)</vt:lpstr>
      <vt:lpstr>Fiber-Optic Cable (3 of 7)</vt:lpstr>
      <vt:lpstr>Fiber-Optic Cable (4 of 7)</vt:lpstr>
      <vt:lpstr>Fiber-Optic Cable (5 of 7)</vt:lpstr>
      <vt:lpstr>Fiber-Optic Cable (6 of 7)</vt:lpstr>
      <vt:lpstr>Fiber-Optic Cable (7 of 7)</vt:lpstr>
      <vt:lpstr>Fiber-Optic Cable Summary</vt:lpstr>
      <vt:lpstr>Conducted Media</vt:lpstr>
      <vt:lpstr>Radiated Media on LANs (1 of 2)</vt:lpstr>
      <vt:lpstr>Radiated Media on LANs (2 of 2)</vt:lpstr>
      <vt:lpstr>Wi-Fi (1 of 4)</vt:lpstr>
      <vt:lpstr>Wi-Fi (2 of 4)</vt:lpstr>
      <vt:lpstr>Wi-Fi (3 of 4)</vt:lpstr>
      <vt:lpstr>Wi-Fi (4 of 4)</vt:lpstr>
      <vt:lpstr>Bluetooth (1 of 2)</vt:lpstr>
      <vt:lpstr>Bluetooth (2 of 2)</vt:lpstr>
      <vt:lpstr>Zigbee (1 of 2)</vt:lpstr>
      <vt:lpstr>ZigBee (2 of 2)</vt:lpstr>
      <vt:lpstr>Ultra-Wideband (1 of 2)</vt:lpstr>
      <vt:lpstr>Ultra-Wideband (2 of 2)</vt:lpstr>
      <vt:lpstr>Infrared Transmissions</vt:lpstr>
      <vt:lpstr>Near-Field Communications</vt:lpstr>
      <vt:lpstr>Summary of Wireless LAN Technologies</vt:lpstr>
      <vt:lpstr>Media Selection Criteria</vt:lpstr>
      <vt:lpstr>Cost</vt:lpstr>
      <vt:lpstr>Speed</vt:lpstr>
      <vt:lpstr>Expandability and Distance</vt:lpstr>
      <vt:lpstr>Environment</vt:lpstr>
      <vt:lpstr>Security</vt:lpstr>
      <vt:lpstr>Summary (1 of 2)</vt:lpstr>
      <vt:lpstr>Summary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Chris Parent</dc:creator>
  <cp:lastModifiedBy>LAVANYA K Kasirajan</cp:lastModifiedBy>
  <cp:revision>38</cp:revision>
  <dcterms:created xsi:type="dcterms:W3CDTF">2019-11-14T21:20:16Z</dcterms:created>
  <dcterms:modified xsi:type="dcterms:W3CDTF">2022-03-25T11:32:32Z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y fmtid="{D5CDD505-2E9C-101B-9397-08002B2CF9AE}" pid="18" name="ArticulateGUID">
    <vt:lpwstr>E00CA42D-005F-4294-9694-1C5BE4116CD9</vt:lpwstr>
  </property>
  <property fmtid="{D5CDD505-2E9C-101B-9397-08002B2CF9AE}" pid="19" name="ArticulatePath">
    <vt:lpwstr>Chapter 2 Slides_SME</vt:lpwstr>
  </property>
</Properties>
</file>