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7010400" cy="9296400"/>
  <p:custDataLst>
    <p:tags r:id="rId5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3" roundtripDataSignature="AMtx7mhxTr6NBhXIPJA5j9dbWT7RzFisA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F17678-C7F2-676A-DCC8-1D962A3A436B}" name="Chris Parent" initials="CP" userId="f0181f24f314237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76" autoAdjust="0"/>
    <p:restoredTop sz="86375" autoAdjust="0"/>
  </p:normalViewPr>
  <p:slideViewPr>
    <p:cSldViewPr snapToGrid="0">
      <p:cViewPr varScale="1">
        <p:scale>
          <a:sx n="89" d="100"/>
          <a:sy n="89" d="100"/>
        </p:scale>
        <p:origin x="108" y="90"/>
      </p:cViewPr>
      <p:guideLst/>
    </p:cSldViewPr>
  </p:slideViewPr>
  <p:outlineViewPr>
    <p:cViewPr>
      <p:scale>
        <a:sx n="33" d="100"/>
        <a:sy n="33" d="100"/>
      </p:scale>
      <p:origin x="0" y="-120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63" Type="http://customschemas.google.com/relationships/presentationmetadata" Target="metadata"/><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04" name="Google Shape;104;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2" name="Google Shape;112;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18" name="Google Shape;118;p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4" name="Google Shape;124;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0" name="Google Shape;130;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36" name="Google Shape;136;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2" name="Google Shape;142;p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48" name="Google Shape;148;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54" name="Google Shape;154;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0" name="Google Shape;160;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6" name="Google Shape;166;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2" name="Google Shape;172;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8" name="Google Shape;178;p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84" name="Google Shape;184;p1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0" name="Google Shape;190;p1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96" name="Google Shape;196;p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2" name="Google Shape;202;p1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08" name="Google Shape;208;p2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14" name="Google Shape;214;p2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0" name="Google Shape;220;p2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26" name="Google Shape;226;p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2" name="Google Shape;232;p2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38" name="Google Shape;238;p2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44" name="Google Shape;244;p2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115732a0e29_1_1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0" name="Google Shape;250;g115732a0e29_1_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15732a0e29_1_1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56" name="Google Shape;256;g115732a0e29_1_1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2" name="Google Shape;262;p2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68" name="Google Shape;268;p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75" name="Google Shape;275;p2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1" name="Google Shape;281;p3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87" name="Google Shape;287;p3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3" name="Google Shape;293;p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3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299" name="Google Shape;299;p3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05" name="Google Shape;305;p3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1" name="Google Shape;311;p3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17" name="Google Shape;317;p3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3" name="Google Shape;323;p3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29" name="Google Shape;329;p3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35" name="Google Shape;335;p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115732a0e29_1_3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1" name="Google Shape;341;g115732a0e29_1_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15732a0e29_1_3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47" name="Google Shape;347;g115732a0e29_1_3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15732a0e29_1_44: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3" name="Google Shape;353;g115732a0e29_1_4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15732a0e29_1_50: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59" name="Google Shape;359;g115732a0e29_1_5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15732a0e29_1_5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65" name="Google Shape;365;g115732a0e29_1_5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15732a0e29_1_62: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1" name="Google Shape;371;g115732a0e29_1_6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15732a0e29_1_6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77" name="Google Shape;377;g115732a0e29_1_6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3" name="Google Shape;383;p4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89" name="Google Shape;389;p4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395" name="Google Shape;395;p4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4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1" name="Google Shape;401;p4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115732a0e29_1_7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407" name="Google Shape;407;g115732a0e29_1_7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hapter Slide">
  <p:cSld name="1_Chapter Slide">
    <p:spTree>
      <p:nvGrpSpPr>
        <p:cNvPr id="1" name="Shape 14"/>
        <p:cNvGrpSpPr/>
        <p:nvPr/>
      </p:nvGrpSpPr>
      <p:grpSpPr>
        <a:xfrm>
          <a:off x="0" y="0"/>
          <a:ext cx="0" cy="0"/>
          <a:chOff x="0" y="0"/>
          <a:chExt cx="0" cy="0"/>
        </a:xfrm>
      </p:grpSpPr>
      <p:pic>
        <p:nvPicPr>
          <p:cNvPr id="15" name="Google Shape;15;p45"/>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16" name="Google Shape;16;p45"/>
          <p:cNvSpPr txBox="1">
            <a:spLocks noGrp="1"/>
          </p:cNvSpPr>
          <p:nvPr>
            <p:ph type="body" idx="1"/>
          </p:nvPr>
        </p:nvSpPr>
        <p:spPr>
          <a:xfrm>
            <a:off x="5158065" y="3083849"/>
            <a:ext cx="5943392" cy="1343006"/>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45"/>
          <p:cNvSpPr txBox="1">
            <a:spLocks noGrp="1"/>
          </p:cNvSpPr>
          <p:nvPr>
            <p:ph type="title"/>
          </p:nvPr>
        </p:nvSpPr>
        <p:spPr>
          <a:xfrm>
            <a:off x="5158065" y="2006622"/>
            <a:ext cx="5045478" cy="867221"/>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sz="400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8" name="Google Shape;18;p45"/>
          <p:cNvSpPr>
            <a:spLocks noGrp="1"/>
          </p:cNvSpPr>
          <p:nvPr>
            <p:ph type="pic" idx="2"/>
          </p:nvPr>
        </p:nvSpPr>
        <p:spPr>
          <a:xfrm>
            <a:off x="246063" y="314482"/>
            <a:ext cx="3343275" cy="4318000"/>
          </a:xfrm>
          <a:prstGeom prst="rect">
            <a:avLst/>
          </a:prstGeom>
          <a:noFill/>
          <a:ln>
            <a:noFill/>
          </a:ln>
        </p:spPr>
      </p:sp>
      <p:pic>
        <p:nvPicPr>
          <p:cNvPr id="19" name="Google Shape;19;p45"/>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20" name="Google Shape;20;p45"/>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5"/>
          <p:cNvSpPr txBox="1">
            <a:spLocks noGrp="1"/>
          </p:cNvSpPr>
          <p:nvPr>
            <p:ph type="body" idx="3"/>
          </p:nvPr>
        </p:nvSpPr>
        <p:spPr>
          <a:xfrm>
            <a:off x="2909661" y="6356350"/>
            <a:ext cx="8815898" cy="365125"/>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1800"/>
              <a:buNone/>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2"/>
        <p:cNvGrpSpPr/>
        <p:nvPr/>
      </p:nvGrpSpPr>
      <p:grpSpPr>
        <a:xfrm>
          <a:off x="0" y="0"/>
          <a:ext cx="0" cy="0"/>
          <a:chOff x="0" y="0"/>
          <a:chExt cx="0" cy="0"/>
        </a:xfrm>
      </p:grpSpPr>
      <p:sp>
        <p:nvSpPr>
          <p:cNvPr id="23" name="Google Shape;23;p4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4" name="Google Shape;24;p4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Noto Sans Symbols"/>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Image">
  <p:cSld name="Content and Image">
    <p:spTree>
      <p:nvGrpSpPr>
        <p:cNvPr id="1" name="Shape 26"/>
        <p:cNvGrpSpPr/>
        <p:nvPr/>
      </p:nvGrpSpPr>
      <p:grpSpPr>
        <a:xfrm>
          <a:off x="0" y="0"/>
          <a:ext cx="0" cy="0"/>
          <a:chOff x="0" y="0"/>
          <a:chExt cx="0" cy="0"/>
        </a:xfrm>
      </p:grpSpPr>
      <p:sp>
        <p:nvSpPr>
          <p:cNvPr id="27" name="Google Shape;27;p4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8" name="Google Shape;28;p47"/>
          <p:cNvSpPr txBox="1">
            <a:spLocks noGrp="1"/>
          </p:cNvSpPr>
          <p:nvPr>
            <p:ph type="body" idx="1"/>
          </p:nvPr>
        </p:nvSpPr>
        <p:spPr>
          <a:xfrm>
            <a:off x="743577" y="1289684"/>
            <a:ext cx="4606346" cy="4469766"/>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b="0" i="0">
                <a:solidFill>
                  <a:srgbClr val="000000"/>
                </a:solidFill>
                <a:latin typeface="Arial"/>
                <a:ea typeface="Arial"/>
                <a:cs typeface="Arial"/>
                <a:sym typeface="Arial"/>
              </a:defRPr>
            </a:lvl1pPr>
            <a:lvl2pPr marL="914400" lvl="1" indent="-381000" algn="l">
              <a:lnSpc>
                <a:spcPct val="100000"/>
              </a:lnSpc>
              <a:spcBef>
                <a:spcPts val="624"/>
              </a:spcBef>
              <a:spcAft>
                <a:spcPts val="0"/>
              </a:spcAft>
              <a:buClr>
                <a:srgbClr val="004A78"/>
              </a:buClr>
              <a:buSzPts val="2400"/>
              <a:buFont typeface="Arial"/>
              <a:buChar char="–"/>
              <a:defRPr>
                <a:solidFill>
                  <a:srgbClr val="000000"/>
                </a:solidFill>
                <a:latin typeface="Arial"/>
                <a:ea typeface="Arial"/>
                <a:cs typeface="Arial"/>
                <a:sym typeface="Arial"/>
              </a:defRPr>
            </a:lvl2pPr>
            <a:lvl3pPr marL="1371600" lvl="2" indent="-368300" algn="l">
              <a:lnSpc>
                <a:spcPct val="100000"/>
              </a:lnSpc>
              <a:spcBef>
                <a:spcPts val="624"/>
              </a:spcBef>
              <a:spcAft>
                <a:spcPts val="0"/>
              </a:spcAft>
              <a:buClr>
                <a:srgbClr val="000000"/>
              </a:buClr>
              <a:buSzPts val="2200"/>
              <a:buFont typeface="Arial"/>
              <a:buChar char="•"/>
              <a:defRPr sz="2200">
                <a:solidFill>
                  <a:srgbClr val="000000"/>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47"/>
          <p:cNvSpPr>
            <a:spLocks noGrp="1"/>
          </p:cNvSpPr>
          <p:nvPr>
            <p:ph type="pic" idx="2"/>
          </p:nvPr>
        </p:nvSpPr>
        <p:spPr>
          <a:xfrm>
            <a:off x="5813425" y="1289050"/>
            <a:ext cx="2947988" cy="1044575"/>
          </a:xfrm>
          <a:prstGeom prst="rect">
            <a:avLst/>
          </a:prstGeom>
          <a:noFill/>
          <a:ln>
            <a:noFill/>
          </a:ln>
        </p:spPr>
      </p:sp>
      <p:sp>
        <p:nvSpPr>
          <p:cNvPr id="30" name="Google Shape;30;p47"/>
          <p:cNvSpPr txBox="1">
            <a:spLocks noGrp="1"/>
          </p:cNvSpPr>
          <p:nvPr>
            <p:ph type="body" idx="3"/>
          </p:nvPr>
        </p:nvSpPr>
        <p:spPr>
          <a:xfrm>
            <a:off x="5813425" y="2586038"/>
            <a:ext cx="5540375" cy="1466850"/>
          </a:xfrm>
          <a:prstGeom prst="rect">
            <a:avLst/>
          </a:prstGeom>
          <a:noFill/>
          <a:ln>
            <a:noFill/>
          </a:ln>
        </p:spPr>
        <p:txBody>
          <a:bodyPr spcFirstLastPara="1" wrap="square" lIns="0" tIns="0" rIns="0" bIns="0" anchor="t" anchorCtr="0">
            <a:noAutofit/>
          </a:bodyPr>
          <a:lstStyle>
            <a:lvl1pPr marL="457200" lvl="0" indent="-393700" algn="l">
              <a:lnSpc>
                <a:spcPct val="100000"/>
              </a:lnSpc>
              <a:spcBef>
                <a:spcPts val="624"/>
              </a:spcBef>
              <a:spcAft>
                <a:spcPts val="0"/>
              </a:spcAft>
              <a:buClr>
                <a:srgbClr val="004A78"/>
              </a:buClr>
              <a:buSzPts val="2600"/>
              <a:buFont typeface="Arial"/>
              <a:buChar char="•"/>
              <a:defRPr sz="2600"/>
            </a:lvl1pPr>
            <a:lvl2pPr marL="914400" lvl="1" indent="-381000" algn="l">
              <a:lnSpc>
                <a:spcPct val="100000"/>
              </a:lnSpc>
              <a:spcBef>
                <a:spcPts val="624"/>
              </a:spcBef>
              <a:spcAft>
                <a:spcPts val="0"/>
              </a:spcAft>
              <a:buClr>
                <a:srgbClr val="000000"/>
              </a:buClr>
              <a:buSzPts val="2400"/>
              <a:buFont typeface="Arial"/>
              <a:buChar char="–"/>
              <a:defRPr>
                <a:solidFill>
                  <a:srgbClr val="000000"/>
                </a:solidFill>
              </a:defRPr>
            </a:lvl2pPr>
            <a:lvl3pPr marL="1371600" lvl="2" indent="-368300" algn="l">
              <a:lnSpc>
                <a:spcPct val="100000"/>
              </a:lnSpc>
              <a:spcBef>
                <a:spcPts val="624"/>
              </a:spcBef>
              <a:spcAft>
                <a:spcPts val="0"/>
              </a:spcAft>
              <a:buClr>
                <a:srgbClr val="000000"/>
              </a:buClr>
              <a:buSzPts val="2200"/>
              <a:buFont typeface="Noto Sans Symbols"/>
              <a:buChar char="▪"/>
              <a:defRPr sz="2200"/>
            </a:lvl3pPr>
            <a:lvl4pPr marL="1828800" lvl="3" indent="-342900" algn="l">
              <a:lnSpc>
                <a:spcPct val="100000"/>
              </a:lnSpc>
              <a:spcBef>
                <a:spcPts val="624"/>
              </a:spcBef>
              <a:spcAft>
                <a:spcPts val="0"/>
              </a:spcAft>
              <a:buClr>
                <a:srgbClr val="004A78"/>
              </a:buClr>
              <a:buSzPts val="1800"/>
              <a:buChar char="•"/>
              <a:defRPr/>
            </a:lvl4pPr>
            <a:lvl5pPr marL="2286000" lvl="4" indent="-342900" algn="l">
              <a:lnSpc>
                <a:spcPct val="100000"/>
              </a:lnSpc>
              <a:spcBef>
                <a:spcPts val="624"/>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7"/>
          <p:cNvSpPr>
            <a:spLocks noGrp="1"/>
          </p:cNvSpPr>
          <p:nvPr>
            <p:ph type="pic" idx="4"/>
          </p:nvPr>
        </p:nvSpPr>
        <p:spPr>
          <a:xfrm>
            <a:off x="5813425" y="4421188"/>
            <a:ext cx="2947988" cy="1235075"/>
          </a:xfrm>
          <a:prstGeom prst="rect">
            <a:avLst/>
          </a:prstGeom>
          <a:noFill/>
          <a:ln>
            <a:noFill/>
          </a:ln>
        </p:spPr>
      </p:sp>
      <p:sp>
        <p:nvSpPr>
          <p:cNvPr id="32" name="Google Shape;32;p47"/>
          <p:cNvSpPr>
            <a:spLocks noGrp="1"/>
          </p:cNvSpPr>
          <p:nvPr>
            <p:ph type="pic" idx="5"/>
          </p:nvPr>
        </p:nvSpPr>
        <p:spPr>
          <a:xfrm>
            <a:off x="6327775" y="5427663"/>
            <a:ext cx="1060450" cy="842962"/>
          </a:xfrm>
          <a:prstGeom prst="rect">
            <a:avLst/>
          </a:prstGeom>
          <a:noFill/>
          <a:ln>
            <a:noFill/>
          </a:ln>
        </p:spPr>
      </p:sp>
      <p:sp>
        <p:nvSpPr>
          <p:cNvPr id="33" name="Google Shape;33;p47"/>
          <p:cNvSpPr>
            <a:spLocks noGrp="1"/>
          </p:cNvSpPr>
          <p:nvPr>
            <p:ph type="pic" idx="6"/>
          </p:nvPr>
        </p:nvSpPr>
        <p:spPr>
          <a:xfrm>
            <a:off x="7902575" y="5427663"/>
            <a:ext cx="1211263" cy="946150"/>
          </a:xfrm>
          <a:prstGeom prst="rect">
            <a:avLst/>
          </a:prstGeom>
          <a:noFill/>
          <a:ln>
            <a:noFill/>
          </a:ln>
        </p:spPr>
      </p:sp>
      <p:sp>
        <p:nvSpPr>
          <p:cNvPr id="34" name="Google Shape;34;p47"/>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5"/>
        <p:cNvGrpSpPr/>
        <p:nvPr/>
      </p:nvGrpSpPr>
      <p:grpSpPr>
        <a:xfrm>
          <a:off x="0" y="0"/>
          <a:ext cx="0" cy="0"/>
          <a:chOff x="0" y="0"/>
          <a:chExt cx="0" cy="0"/>
        </a:xfrm>
      </p:grpSpPr>
      <p:pic>
        <p:nvPicPr>
          <p:cNvPr id="36" name="Google Shape;36;p48"/>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37" name="Google Shape;37;p48"/>
          <p:cNvSpPr txBox="1">
            <a:spLocks noGrp="1"/>
          </p:cNvSpPr>
          <p:nvPr>
            <p:ph type="title"/>
          </p:nvPr>
        </p:nvSpPr>
        <p:spPr>
          <a:xfrm>
            <a:off x="838200" y="2291187"/>
            <a:ext cx="10515600" cy="684026"/>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8" name="Google Shape;38;p48"/>
          <p:cNvSpPr txBox="1">
            <a:spLocks noGrp="1"/>
          </p:cNvSpPr>
          <p:nvPr>
            <p:ph type="body" idx="1"/>
          </p:nvPr>
        </p:nvSpPr>
        <p:spPr>
          <a:xfrm>
            <a:off x="4867275" y="3619985"/>
            <a:ext cx="2457450" cy="597477"/>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1000"/>
              </a:spcBef>
              <a:spcAft>
                <a:spcPts val="0"/>
              </a:spcAft>
              <a:buClr>
                <a:schemeClr val="lt1"/>
              </a:buClr>
              <a:buSzPts val="2000"/>
              <a:buNone/>
              <a:defRPr sz="2000" b="0" i="0">
                <a:solidFill>
                  <a:schemeClr val="lt1"/>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 name="Google Shape;39;p48"/>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0" name="Google Shape;40;p48"/>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Unit Slide">
  <p:cSld name="Unit Slide">
    <p:spTree>
      <p:nvGrpSpPr>
        <p:cNvPr id="1" name="Shape 41"/>
        <p:cNvGrpSpPr/>
        <p:nvPr/>
      </p:nvGrpSpPr>
      <p:grpSpPr>
        <a:xfrm>
          <a:off x="0" y="0"/>
          <a:ext cx="0" cy="0"/>
          <a:chOff x="0" y="0"/>
          <a:chExt cx="0" cy="0"/>
        </a:xfrm>
      </p:grpSpPr>
      <p:pic>
        <p:nvPicPr>
          <p:cNvPr id="42" name="Google Shape;42;p49"/>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3" name="Google Shape;43;p49"/>
          <p:cNvSpPr txBox="1">
            <a:spLocks noGrp="1"/>
          </p:cNvSpPr>
          <p:nvPr>
            <p:ph type="body" idx="1"/>
          </p:nvPr>
        </p:nvSpPr>
        <p:spPr>
          <a:xfrm>
            <a:off x="1274574" y="2193424"/>
            <a:ext cx="9642852" cy="618014"/>
          </a:xfrm>
          <a:prstGeom prst="rect">
            <a:avLst/>
          </a:prstGeom>
          <a:noFill/>
          <a:ln>
            <a:noFill/>
          </a:ln>
        </p:spPr>
        <p:txBody>
          <a:bodyPr spcFirstLastPara="1" wrap="square" lIns="0" tIns="0" rIns="0" bIns="0" anchor="b" anchorCtr="0">
            <a:noAutofit/>
          </a:bodyPr>
          <a:lstStyle>
            <a:lvl1pPr marL="457200" lvl="0" indent="-228600" algn="ctr">
              <a:lnSpc>
                <a:spcPct val="90000"/>
              </a:lnSpc>
              <a:spcBef>
                <a:spcPts val="1000"/>
              </a:spcBef>
              <a:spcAft>
                <a:spcPts val="0"/>
              </a:spcAft>
              <a:buClr>
                <a:schemeClr val="lt1"/>
              </a:buClr>
              <a:buSzPts val="5000"/>
              <a:buNone/>
              <a:defRPr sz="50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9"/>
          <p:cNvSpPr txBox="1">
            <a:spLocks noGrp="1"/>
          </p:cNvSpPr>
          <p:nvPr>
            <p:ph type="title"/>
          </p:nvPr>
        </p:nvSpPr>
        <p:spPr>
          <a:xfrm>
            <a:off x="838200" y="3096122"/>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pic>
        <p:nvPicPr>
          <p:cNvPr id="45" name="Google Shape;45;p49"/>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46" name="Google Shape;46;p49"/>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pter Slide">
  <p:cSld name="Chapter Slide">
    <p:spTree>
      <p:nvGrpSpPr>
        <p:cNvPr id="1" name="Shape 47"/>
        <p:cNvGrpSpPr/>
        <p:nvPr/>
      </p:nvGrpSpPr>
      <p:grpSpPr>
        <a:xfrm>
          <a:off x="0" y="0"/>
          <a:ext cx="0" cy="0"/>
          <a:chOff x="0" y="0"/>
          <a:chExt cx="0" cy="0"/>
        </a:xfrm>
      </p:grpSpPr>
      <p:pic>
        <p:nvPicPr>
          <p:cNvPr id="48" name="Google Shape;48;p50"/>
          <p:cNvPicPr preferRelativeResize="0"/>
          <p:nvPr/>
        </p:nvPicPr>
        <p:blipFill rotWithShape="1">
          <a:blip r:embed="rId2">
            <a:alphaModFix/>
          </a:blip>
          <a:srcRect/>
          <a:stretch/>
        </p:blipFill>
        <p:spPr>
          <a:xfrm>
            <a:off x="192" y="16"/>
            <a:ext cx="12191807" cy="6865874"/>
          </a:xfrm>
          <a:prstGeom prst="rect">
            <a:avLst/>
          </a:prstGeom>
          <a:noFill/>
          <a:ln>
            <a:noFill/>
          </a:ln>
        </p:spPr>
      </p:pic>
      <p:sp>
        <p:nvSpPr>
          <p:cNvPr id="49" name="Google Shape;49;p50"/>
          <p:cNvSpPr txBox="1">
            <a:spLocks noGrp="1"/>
          </p:cNvSpPr>
          <p:nvPr>
            <p:ph type="body" idx="1"/>
          </p:nvPr>
        </p:nvSpPr>
        <p:spPr>
          <a:xfrm>
            <a:off x="3996910" y="3112899"/>
            <a:ext cx="3297426" cy="618014"/>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1"/>
              </a:buClr>
              <a:buSzPts val="3600"/>
              <a:buNone/>
              <a:defRPr sz="3600" b="0" i="0">
                <a:solidFill>
                  <a:schemeClr val="lt1"/>
                </a:solidFill>
                <a:latin typeface="Arial"/>
                <a:ea typeface="Arial"/>
                <a:cs typeface="Arial"/>
                <a:sym typeface="Arial"/>
              </a:defRPr>
            </a:lvl1pPr>
            <a:lvl2pPr marL="914400" lvl="1" indent="-228600" algn="ctr">
              <a:lnSpc>
                <a:spcPct val="90000"/>
              </a:lnSpc>
              <a:spcBef>
                <a:spcPts val="500"/>
              </a:spcBef>
              <a:spcAft>
                <a:spcPts val="0"/>
              </a:spcAft>
              <a:buClr>
                <a:srgbClr val="004A78"/>
              </a:buClr>
              <a:buSzPts val="2400"/>
              <a:buNone/>
              <a:defRPr>
                <a:latin typeface="Arial"/>
                <a:ea typeface="Arial"/>
                <a:cs typeface="Arial"/>
                <a:sym typeface="Arial"/>
              </a:defRPr>
            </a:lvl2pPr>
            <a:lvl3pPr marL="1371600" lvl="2" indent="-228600" algn="ctr">
              <a:lnSpc>
                <a:spcPct val="90000"/>
              </a:lnSpc>
              <a:spcBef>
                <a:spcPts val="500"/>
              </a:spcBef>
              <a:spcAft>
                <a:spcPts val="0"/>
              </a:spcAft>
              <a:buClr>
                <a:srgbClr val="004A78"/>
              </a:buClr>
              <a:buSzPts val="2000"/>
              <a:buNone/>
              <a:defRPr>
                <a:latin typeface="Arial"/>
                <a:ea typeface="Arial"/>
                <a:cs typeface="Arial"/>
                <a:sym typeface="Arial"/>
              </a:defRPr>
            </a:lvl3pPr>
            <a:lvl4pPr marL="1828800" lvl="3" indent="-228600" algn="ctr">
              <a:lnSpc>
                <a:spcPct val="90000"/>
              </a:lnSpc>
              <a:spcBef>
                <a:spcPts val="500"/>
              </a:spcBef>
              <a:spcAft>
                <a:spcPts val="0"/>
              </a:spcAft>
              <a:buClr>
                <a:srgbClr val="004A78"/>
              </a:buClr>
              <a:buSzPts val="1800"/>
              <a:buNone/>
              <a:defRPr>
                <a:latin typeface="Arial"/>
                <a:ea typeface="Arial"/>
                <a:cs typeface="Arial"/>
                <a:sym typeface="Arial"/>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50"/>
          <p:cNvSpPr txBox="1">
            <a:spLocks noGrp="1"/>
          </p:cNvSpPr>
          <p:nvPr>
            <p:ph type="title"/>
          </p:nvPr>
        </p:nvSpPr>
        <p:spPr>
          <a:xfrm>
            <a:off x="3996910" y="4035474"/>
            <a:ext cx="6402684" cy="672105"/>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1400"/>
              <a:buNone/>
              <a:defRPr>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50"/>
          <p:cNvSpPr>
            <a:spLocks noGrp="1"/>
          </p:cNvSpPr>
          <p:nvPr>
            <p:ph type="pic" idx="2"/>
          </p:nvPr>
        </p:nvSpPr>
        <p:spPr>
          <a:xfrm>
            <a:off x="246063" y="314482"/>
            <a:ext cx="3343275" cy="4318000"/>
          </a:xfrm>
          <a:prstGeom prst="rect">
            <a:avLst/>
          </a:prstGeom>
          <a:noFill/>
          <a:ln>
            <a:noFill/>
          </a:ln>
        </p:spPr>
      </p:sp>
      <p:pic>
        <p:nvPicPr>
          <p:cNvPr id="52" name="Google Shape;52;p50"/>
          <p:cNvPicPr preferRelativeResize="0"/>
          <p:nvPr/>
        </p:nvPicPr>
        <p:blipFill rotWithShape="1">
          <a:blip r:embed="rId3">
            <a:alphaModFix/>
          </a:blip>
          <a:srcRect/>
          <a:stretch/>
        </p:blipFill>
        <p:spPr>
          <a:xfrm>
            <a:off x="424861" y="6356350"/>
            <a:ext cx="1699425" cy="383864"/>
          </a:xfrm>
          <a:prstGeom prst="rect">
            <a:avLst/>
          </a:prstGeom>
          <a:noFill/>
          <a:ln>
            <a:noFill/>
          </a:ln>
        </p:spPr>
      </p:pic>
      <p:sp>
        <p:nvSpPr>
          <p:cNvPr id="53" name="Google Shape;53;p50"/>
          <p:cNvSpPr txBox="1">
            <a:spLocks noGrp="1"/>
          </p:cNvSpPr>
          <p:nvPr>
            <p:ph type="ftr" idx="11"/>
          </p:nvPr>
        </p:nvSpPr>
        <p:spPr>
          <a:xfrm>
            <a:off x="2923890" y="6356350"/>
            <a:ext cx="880166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400" b="0" i="0" u="none" strike="noStrike">
                <a:solidFill>
                  <a:schemeClr val="lt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Sections and Content">
  <p:cSld name="Two Sections and Content">
    <p:spTree>
      <p:nvGrpSpPr>
        <p:cNvPr id="1" name="Shape 54"/>
        <p:cNvGrpSpPr/>
        <p:nvPr/>
      </p:nvGrpSpPr>
      <p:grpSpPr>
        <a:xfrm>
          <a:off x="0" y="0"/>
          <a:ext cx="0" cy="0"/>
          <a:chOff x="0" y="0"/>
          <a:chExt cx="0" cy="0"/>
        </a:xfrm>
      </p:grpSpPr>
      <p:sp>
        <p:nvSpPr>
          <p:cNvPr id="55" name="Google Shape;55;p5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6" name="Google Shape;56;p51"/>
          <p:cNvSpPr txBox="1">
            <a:spLocks noGrp="1"/>
          </p:cNvSpPr>
          <p:nvPr>
            <p:ph type="body" idx="1"/>
          </p:nvPr>
        </p:nvSpPr>
        <p:spPr>
          <a:xfrm>
            <a:off x="743574" y="1290690"/>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51"/>
          <p:cNvSpPr txBox="1">
            <a:spLocks noGrp="1"/>
          </p:cNvSpPr>
          <p:nvPr>
            <p:ph type="body" idx="2"/>
          </p:nvPr>
        </p:nvSpPr>
        <p:spPr>
          <a:xfrm>
            <a:off x="740228" y="1737343"/>
            <a:ext cx="10711543" cy="1462674"/>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1000"/>
              </a:spcBef>
              <a:spcAft>
                <a:spcPts val="0"/>
              </a:spcAft>
              <a:buClr>
                <a:srgbClr val="000000"/>
              </a:buClr>
              <a:buSzPts val="2400"/>
              <a:buFont typeface="Arial"/>
              <a:buChar char="•"/>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51"/>
          <p:cNvSpPr txBox="1">
            <a:spLocks noGrp="1"/>
          </p:cNvSpPr>
          <p:nvPr>
            <p:ph type="body" idx="3"/>
          </p:nvPr>
        </p:nvSpPr>
        <p:spPr>
          <a:xfrm>
            <a:off x="743573" y="3389727"/>
            <a:ext cx="10711543" cy="34804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6298"/>
              </a:buClr>
              <a:buSzPts val="2400"/>
              <a:buNone/>
              <a:defRPr sz="2400" b="1" i="0">
                <a:solidFill>
                  <a:srgbClr val="006298"/>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51"/>
          <p:cNvSpPr txBox="1">
            <a:spLocks noGrp="1"/>
          </p:cNvSpPr>
          <p:nvPr>
            <p:ph type="body" idx="4"/>
          </p:nvPr>
        </p:nvSpPr>
        <p:spPr>
          <a:xfrm>
            <a:off x="743572" y="3856204"/>
            <a:ext cx="10711543" cy="1462674"/>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None/>
              <a:defRPr sz="2400" b="0" i="0">
                <a:solidFill>
                  <a:srgbClr val="000000"/>
                </a:solidFill>
                <a:latin typeface="Arial"/>
                <a:ea typeface="Arial"/>
                <a:cs typeface="Arial"/>
                <a:sym typeface="Arial"/>
              </a:defRPr>
            </a:lvl1pPr>
            <a:lvl2pPr marL="914400" lvl="1" indent="-381000" algn="l">
              <a:lnSpc>
                <a:spcPct val="90000"/>
              </a:lnSpc>
              <a:spcBef>
                <a:spcPts val="500"/>
              </a:spcBef>
              <a:spcAft>
                <a:spcPts val="0"/>
              </a:spcAft>
              <a:buClr>
                <a:schemeClr val="lt1"/>
              </a:buClr>
              <a:buSzPts val="2400"/>
              <a:buChar char="•"/>
              <a:defRPr>
                <a:solidFill>
                  <a:schemeClr val="lt1"/>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1"/>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Comparison">
  <p:cSld name="Two Content Comparison">
    <p:spTree>
      <p:nvGrpSpPr>
        <p:cNvPr id="1" name="Shape 61"/>
        <p:cNvGrpSpPr/>
        <p:nvPr/>
      </p:nvGrpSpPr>
      <p:grpSpPr>
        <a:xfrm>
          <a:off x="0" y="0"/>
          <a:ext cx="0" cy="0"/>
          <a:chOff x="0" y="0"/>
          <a:chExt cx="0" cy="0"/>
        </a:xfrm>
      </p:grpSpPr>
      <p:sp>
        <p:nvSpPr>
          <p:cNvPr id="62" name="Google Shape;62;p5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3" name="Google Shape;63;p52"/>
          <p:cNvSpPr txBox="1">
            <a:spLocks noGrp="1"/>
          </p:cNvSpPr>
          <p:nvPr>
            <p:ph type="body" idx="1"/>
          </p:nvPr>
        </p:nvSpPr>
        <p:spPr>
          <a:xfrm>
            <a:off x="743576"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52"/>
          <p:cNvSpPr txBox="1">
            <a:spLocks noGrp="1"/>
          </p:cNvSpPr>
          <p:nvPr>
            <p:ph type="body" idx="2"/>
          </p:nvPr>
        </p:nvSpPr>
        <p:spPr>
          <a:xfrm>
            <a:off x="743576"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228600" algn="l">
              <a:lnSpc>
                <a:spcPct val="90000"/>
              </a:lnSpc>
              <a:spcBef>
                <a:spcPts val="500"/>
              </a:spcBef>
              <a:spcAft>
                <a:spcPts val="0"/>
              </a:spcAft>
              <a:buClr>
                <a:srgbClr val="004A78"/>
              </a:buClr>
              <a:buSzPts val="1800"/>
              <a:buFont typeface="Arial"/>
              <a:buNone/>
              <a:defRPr sz="1800">
                <a:solidFill>
                  <a:srgbClr val="000000"/>
                </a:solidFill>
              </a:defRPr>
            </a:lvl2pPr>
            <a:lvl3pPr marL="1371600" lvl="2" indent="-342900" algn="l">
              <a:lnSpc>
                <a:spcPct val="90000"/>
              </a:lnSpc>
              <a:spcBef>
                <a:spcPts val="500"/>
              </a:spcBef>
              <a:spcAft>
                <a:spcPts val="0"/>
              </a:spcAft>
              <a:buClr>
                <a:srgbClr val="004A78"/>
              </a:buClr>
              <a:buSzPts val="1800"/>
              <a:buFont typeface="Arial"/>
              <a:buChar char="•"/>
              <a:defRPr sz="1800">
                <a:solidFill>
                  <a:srgbClr val="000000"/>
                </a:solidFill>
              </a:defRPr>
            </a:lvl3pPr>
            <a:lvl4pPr marL="1828800" lvl="3" indent="-342900" algn="l">
              <a:lnSpc>
                <a:spcPct val="90000"/>
              </a:lnSpc>
              <a:spcBef>
                <a:spcPts val="500"/>
              </a:spcBef>
              <a:spcAft>
                <a:spcPts val="0"/>
              </a:spcAft>
              <a:buClr>
                <a:srgbClr val="004A78"/>
              </a:buClr>
              <a:buSzPts val="1800"/>
              <a:buFont typeface="Arial"/>
              <a:buChar char="•"/>
              <a:defRPr sz="1800">
                <a:solidFill>
                  <a:srgbClr val="000000"/>
                </a:solidFill>
              </a:defRPr>
            </a:lvl4pPr>
            <a:lvl5pPr marL="2286000" lvl="4" indent="-342900" algn="l">
              <a:lnSpc>
                <a:spcPct val="90000"/>
              </a:lnSpc>
              <a:spcBef>
                <a:spcPts val="500"/>
              </a:spcBef>
              <a:spcAft>
                <a:spcPts val="0"/>
              </a:spcAft>
              <a:buClr>
                <a:srgbClr val="004A78"/>
              </a:buClr>
              <a:buSzPts val="1800"/>
              <a:buFont typeface="Arial"/>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2"/>
          <p:cNvSpPr txBox="1">
            <a:spLocks noGrp="1"/>
          </p:cNvSpPr>
          <p:nvPr>
            <p:ph type="body" idx="3"/>
          </p:nvPr>
        </p:nvSpPr>
        <p:spPr>
          <a:xfrm>
            <a:off x="6370651" y="1579015"/>
            <a:ext cx="5084468"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2"/>
          <p:cNvSpPr txBox="1">
            <a:spLocks noGrp="1"/>
          </p:cNvSpPr>
          <p:nvPr>
            <p:ph type="body" idx="4"/>
          </p:nvPr>
        </p:nvSpPr>
        <p:spPr>
          <a:xfrm>
            <a:off x="6370651" y="2202774"/>
            <a:ext cx="5084468"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solidFill>
                  <a:srgbClr val="000000"/>
                </a:solidFill>
              </a:defRPr>
            </a:lvl2pPr>
            <a:lvl3pPr marL="1371600" lvl="2" indent="-342900" algn="l">
              <a:lnSpc>
                <a:spcPct val="90000"/>
              </a:lnSpc>
              <a:spcBef>
                <a:spcPts val="500"/>
              </a:spcBef>
              <a:spcAft>
                <a:spcPts val="0"/>
              </a:spcAft>
              <a:buClr>
                <a:srgbClr val="004A78"/>
              </a:buClr>
              <a:buSzPts val="1800"/>
              <a:buChar char="•"/>
              <a:defRPr sz="1800">
                <a:solidFill>
                  <a:srgbClr val="000000"/>
                </a:solidFill>
              </a:defRPr>
            </a:lvl3pPr>
            <a:lvl4pPr marL="1828800" lvl="3" indent="-342900" algn="l">
              <a:lnSpc>
                <a:spcPct val="90000"/>
              </a:lnSpc>
              <a:spcBef>
                <a:spcPts val="500"/>
              </a:spcBef>
              <a:spcAft>
                <a:spcPts val="0"/>
              </a:spcAft>
              <a:buClr>
                <a:srgbClr val="004A78"/>
              </a:buClr>
              <a:buSzPts val="1800"/>
              <a:buChar char="•"/>
              <a:defRPr sz="1800">
                <a:solidFill>
                  <a:srgbClr val="000000"/>
                </a:solidFill>
              </a:defRPr>
            </a:lvl4pPr>
            <a:lvl5pPr marL="2286000" lvl="4" indent="-342900" algn="l">
              <a:lnSpc>
                <a:spcPct val="90000"/>
              </a:lnSpc>
              <a:spcBef>
                <a:spcPts val="500"/>
              </a:spcBef>
              <a:spcAft>
                <a:spcPts val="0"/>
              </a:spcAft>
              <a:buClr>
                <a:srgbClr val="004A78"/>
              </a:buClr>
              <a:buSzPts val="1800"/>
              <a:buChar char="•"/>
              <a:defRPr sz="1800">
                <a:solidFill>
                  <a:srgbClr val="000000"/>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52"/>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Comparison">
  <p:cSld name="Three Content Comparison">
    <p:spTree>
      <p:nvGrpSpPr>
        <p:cNvPr id="1" name="Shape 68"/>
        <p:cNvGrpSpPr/>
        <p:nvPr/>
      </p:nvGrpSpPr>
      <p:grpSpPr>
        <a:xfrm>
          <a:off x="0" y="0"/>
          <a:ext cx="0" cy="0"/>
          <a:chOff x="0" y="0"/>
          <a:chExt cx="0" cy="0"/>
        </a:xfrm>
      </p:grpSpPr>
      <p:sp>
        <p:nvSpPr>
          <p:cNvPr id="69" name="Google Shape;69;p5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53"/>
          <p:cNvSpPr txBox="1">
            <a:spLocks noGrp="1"/>
          </p:cNvSpPr>
          <p:nvPr>
            <p:ph type="body" idx="1"/>
          </p:nvPr>
        </p:nvSpPr>
        <p:spPr>
          <a:xfrm>
            <a:off x="743576"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3"/>
          <p:cNvSpPr txBox="1">
            <a:spLocks noGrp="1"/>
          </p:cNvSpPr>
          <p:nvPr>
            <p:ph type="body" idx="2"/>
          </p:nvPr>
        </p:nvSpPr>
        <p:spPr>
          <a:xfrm>
            <a:off x="743576"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Font typeface="Arial"/>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3"/>
          <p:cNvSpPr txBox="1">
            <a:spLocks noGrp="1"/>
          </p:cNvSpPr>
          <p:nvPr>
            <p:ph type="body" idx="3"/>
          </p:nvPr>
        </p:nvSpPr>
        <p:spPr>
          <a:xfrm>
            <a:off x="4445799"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3"/>
          <p:cNvSpPr txBox="1">
            <a:spLocks noGrp="1"/>
          </p:cNvSpPr>
          <p:nvPr>
            <p:ph type="body" idx="4"/>
          </p:nvPr>
        </p:nvSpPr>
        <p:spPr>
          <a:xfrm>
            <a:off x="4445799"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3"/>
          <p:cNvSpPr txBox="1">
            <a:spLocks noGrp="1"/>
          </p:cNvSpPr>
          <p:nvPr>
            <p:ph type="body" idx="5"/>
          </p:nvPr>
        </p:nvSpPr>
        <p:spPr>
          <a:xfrm>
            <a:off x="8145953" y="1579015"/>
            <a:ext cx="3300402" cy="492443"/>
          </a:xfrm>
          <a:prstGeom prst="rect">
            <a:avLst/>
          </a:prstGeom>
          <a:solidFill>
            <a:schemeClr val="lt1"/>
          </a:solidFill>
          <a:ln>
            <a:noFill/>
          </a:ln>
          <a:effectLst>
            <a:outerShdw dist="12700" dir="5400000" algn="t" rotWithShape="0">
              <a:srgbClr val="000000"/>
            </a:outerShdw>
          </a:effectLst>
        </p:spPr>
        <p:txBody>
          <a:bodyPr spcFirstLastPara="1" wrap="square" lIns="0" tIns="91425" rIns="0" bIns="91425" anchor="b" anchorCtr="0">
            <a:spAutoFit/>
          </a:bodyPr>
          <a:lstStyle>
            <a:lvl1pPr marL="457200" lvl="0" indent="-228600" algn="ctr">
              <a:lnSpc>
                <a:spcPct val="100000"/>
              </a:lnSpc>
              <a:spcBef>
                <a:spcPts val="0"/>
              </a:spcBef>
              <a:spcAft>
                <a:spcPts val="0"/>
              </a:spcAft>
              <a:buClr>
                <a:srgbClr val="006298"/>
              </a:buClr>
              <a:buSzPts val="2000"/>
              <a:buNone/>
              <a:defRPr sz="2000" b="1">
                <a:solidFill>
                  <a:srgbClr val="006298"/>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body" idx="6"/>
          </p:nvPr>
        </p:nvSpPr>
        <p:spPr>
          <a:xfrm>
            <a:off x="8154717" y="2202774"/>
            <a:ext cx="3300402" cy="395357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004A78"/>
              </a:buClr>
              <a:buSzPts val="1800"/>
              <a:buNone/>
              <a:defRPr sz="1800">
                <a:solidFill>
                  <a:srgbClr val="000000"/>
                </a:solidFill>
              </a:defRPr>
            </a:lvl1pPr>
            <a:lvl2pPr marL="914400" lvl="1" indent="-342900" algn="l">
              <a:lnSpc>
                <a:spcPct val="90000"/>
              </a:lnSpc>
              <a:spcBef>
                <a:spcPts val="500"/>
              </a:spcBef>
              <a:spcAft>
                <a:spcPts val="0"/>
              </a:spcAft>
              <a:buClr>
                <a:srgbClr val="004A78"/>
              </a:buClr>
              <a:buSzPts val="1800"/>
              <a:buFont typeface="Arial"/>
              <a:buChar char="‒"/>
              <a:defRPr sz="1800"/>
            </a:lvl2pPr>
            <a:lvl3pPr marL="1371600" lvl="2" indent="-342900" algn="l">
              <a:lnSpc>
                <a:spcPct val="90000"/>
              </a:lnSpc>
              <a:spcBef>
                <a:spcPts val="500"/>
              </a:spcBef>
              <a:spcAft>
                <a:spcPts val="0"/>
              </a:spcAft>
              <a:buClr>
                <a:srgbClr val="004A78"/>
              </a:buClr>
              <a:buSzPts val="1800"/>
              <a:buChar char="•"/>
              <a:defRPr sz="1800"/>
            </a:lvl3pPr>
            <a:lvl4pPr marL="1828800" lvl="3" indent="-342900" algn="l">
              <a:lnSpc>
                <a:spcPct val="90000"/>
              </a:lnSpc>
              <a:spcBef>
                <a:spcPts val="500"/>
              </a:spcBef>
              <a:spcAft>
                <a:spcPts val="0"/>
              </a:spcAft>
              <a:buClr>
                <a:srgbClr val="004A78"/>
              </a:buClr>
              <a:buSzPts val="1800"/>
              <a:buChar char="•"/>
              <a:defRPr sz="1800"/>
            </a:lvl4pPr>
            <a:lvl5pPr marL="2286000" lvl="4" indent="-342900" algn="l">
              <a:lnSpc>
                <a:spcPct val="90000"/>
              </a:lnSpc>
              <a:spcBef>
                <a:spcPts val="500"/>
              </a:spcBef>
              <a:spcAft>
                <a:spcPts val="0"/>
              </a:spcAft>
              <a:buClr>
                <a:srgbClr val="004A78"/>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53"/>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ith Caption">
  <p:cSld name="Title and Content with Caption">
    <p:spTree>
      <p:nvGrpSpPr>
        <p:cNvPr id="1" name="Shape 77"/>
        <p:cNvGrpSpPr/>
        <p:nvPr/>
      </p:nvGrpSpPr>
      <p:grpSpPr>
        <a:xfrm>
          <a:off x="0" y="0"/>
          <a:ext cx="0" cy="0"/>
          <a:chOff x="0" y="0"/>
          <a:chExt cx="0" cy="0"/>
        </a:xfrm>
      </p:grpSpPr>
      <p:sp>
        <p:nvSpPr>
          <p:cNvPr id="78" name="Google Shape;78;p5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54"/>
          <p:cNvSpPr txBox="1">
            <a:spLocks noGrp="1"/>
          </p:cNvSpPr>
          <p:nvPr>
            <p:ph type="body" idx="1"/>
          </p:nvPr>
        </p:nvSpPr>
        <p:spPr>
          <a:xfrm>
            <a:off x="743576" y="1289684"/>
            <a:ext cx="10711543" cy="2750053"/>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rgbClr val="000000"/>
              </a:buClr>
              <a:buSzPts val="2400"/>
              <a:buFont typeface="Arial"/>
              <a:buNone/>
              <a:defRPr sz="2400" b="0" i="0">
                <a:solidFill>
                  <a:srgbClr val="000000"/>
                </a:solidFill>
                <a:latin typeface="Arial"/>
                <a:ea typeface="Arial"/>
                <a:cs typeface="Arial"/>
                <a:sym typeface="Arial"/>
              </a:defRPr>
            </a:lvl1pPr>
            <a:lvl2pPr marL="914400" lvl="1" indent="-228600" algn="l">
              <a:lnSpc>
                <a:spcPct val="90000"/>
              </a:lnSpc>
              <a:spcBef>
                <a:spcPts val="500"/>
              </a:spcBef>
              <a:spcAft>
                <a:spcPts val="0"/>
              </a:spcAft>
              <a:buClr>
                <a:srgbClr val="000000"/>
              </a:buClr>
              <a:buSzPts val="2400"/>
              <a:buFont typeface="Arial"/>
              <a:buNone/>
              <a:defRPr>
                <a:solidFill>
                  <a:srgbClr val="000000"/>
                </a:solidFill>
                <a:latin typeface="Arial"/>
                <a:ea typeface="Arial"/>
                <a:cs typeface="Arial"/>
                <a:sym typeface="Arial"/>
              </a:defRPr>
            </a:lvl2pPr>
            <a:lvl3pPr marL="1371600" lvl="2" indent="-355600" algn="l">
              <a:lnSpc>
                <a:spcPct val="90000"/>
              </a:lnSpc>
              <a:spcBef>
                <a:spcPts val="500"/>
              </a:spcBef>
              <a:spcAft>
                <a:spcPts val="0"/>
              </a:spcAft>
              <a:buClr>
                <a:schemeClr val="lt1"/>
              </a:buClr>
              <a:buSzPts val="2000"/>
              <a:buChar char="•"/>
              <a:defRPr>
                <a:solidFill>
                  <a:schemeClr val="lt1"/>
                </a:solidFill>
                <a:latin typeface="Arial"/>
                <a:ea typeface="Arial"/>
                <a:cs typeface="Arial"/>
                <a:sym typeface="Arial"/>
              </a:defRPr>
            </a:lvl3pPr>
            <a:lvl4pPr marL="1828800" lvl="3"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4pPr>
            <a:lvl5pPr marL="2286000" lvl="4" indent="-342900" algn="l">
              <a:lnSpc>
                <a:spcPct val="90000"/>
              </a:lnSpc>
              <a:spcBef>
                <a:spcPts val="500"/>
              </a:spcBef>
              <a:spcAft>
                <a:spcPts val="0"/>
              </a:spcAft>
              <a:buClr>
                <a:schemeClr val="lt1"/>
              </a:buClr>
              <a:buSzPts val="1800"/>
              <a:buChar char="•"/>
              <a:defRPr>
                <a:solidFill>
                  <a:schemeClr val="lt1"/>
                </a:solidFill>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4"/>
          <p:cNvSpPr txBox="1">
            <a:spLocks noGrp="1"/>
          </p:cNvSpPr>
          <p:nvPr>
            <p:ph type="body" idx="2"/>
          </p:nvPr>
        </p:nvSpPr>
        <p:spPr>
          <a:xfrm>
            <a:off x="740228" y="4846655"/>
            <a:ext cx="10711543" cy="825500"/>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4"/>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nd Caption">
  <p:cSld name="Image and Caption">
    <p:spTree>
      <p:nvGrpSpPr>
        <p:cNvPr id="1" name="Shape 82"/>
        <p:cNvGrpSpPr/>
        <p:nvPr/>
      </p:nvGrpSpPr>
      <p:grpSpPr>
        <a:xfrm>
          <a:off x="0" y="0"/>
          <a:ext cx="0" cy="0"/>
          <a:chOff x="0" y="0"/>
          <a:chExt cx="0" cy="0"/>
        </a:xfrm>
      </p:grpSpPr>
      <p:sp>
        <p:nvSpPr>
          <p:cNvPr id="83" name="Google Shape;83;p5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4" name="Google Shape;84;p55"/>
          <p:cNvSpPr>
            <a:spLocks noGrp="1"/>
          </p:cNvSpPr>
          <p:nvPr>
            <p:ph type="pic" idx="2"/>
          </p:nvPr>
        </p:nvSpPr>
        <p:spPr>
          <a:xfrm>
            <a:off x="733118" y="1619557"/>
            <a:ext cx="6477000" cy="4259263"/>
          </a:xfrm>
          <a:prstGeom prst="rect">
            <a:avLst/>
          </a:prstGeom>
          <a:noFill/>
          <a:ln>
            <a:noFill/>
          </a:ln>
        </p:spPr>
      </p:sp>
      <p:sp>
        <p:nvSpPr>
          <p:cNvPr id="85" name="Google Shape;85;p55"/>
          <p:cNvSpPr txBox="1">
            <a:spLocks noGrp="1"/>
          </p:cNvSpPr>
          <p:nvPr>
            <p:ph type="body" idx="1"/>
          </p:nvPr>
        </p:nvSpPr>
        <p:spPr>
          <a:xfrm>
            <a:off x="7478972" y="4070657"/>
            <a:ext cx="3976406" cy="1808163"/>
          </a:xfrm>
          <a:prstGeom prst="rect">
            <a:avLst/>
          </a:prstGeom>
          <a:noFill/>
          <a:ln>
            <a:noFill/>
          </a:ln>
        </p:spPr>
        <p:txBody>
          <a:bodyPr spcFirstLastPara="1" wrap="square" lIns="0" tIns="0" rIns="0" bIns="0" anchor="t" anchorCtr="0">
            <a:noAutofit/>
          </a:bodyPr>
          <a:lstStyle>
            <a:lvl1pPr marL="457200" marR="0" lvl="0" indent="-228600" algn="l">
              <a:lnSpc>
                <a:spcPct val="100000"/>
              </a:lnSpc>
              <a:spcBef>
                <a:spcPts val="0"/>
              </a:spcBef>
              <a:spcAft>
                <a:spcPts val="0"/>
              </a:spcAft>
              <a:buClr>
                <a:srgbClr val="006298"/>
              </a:buClr>
              <a:buSzPts val="1800"/>
              <a:buFont typeface="Arial"/>
              <a:buNone/>
              <a:defRPr sz="1800">
                <a:solidFill>
                  <a:srgbClr val="006298"/>
                </a:solidFill>
                <a:latin typeface="Arial"/>
                <a:ea typeface="Arial"/>
                <a:cs typeface="Arial"/>
                <a:sym typeface="Arial"/>
              </a:defRPr>
            </a:lvl1pPr>
            <a:lvl2pPr marL="914400" lvl="1" indent="-342900" algn="l">
              <a:lnSpc>
                <a:spcPct val="90000"/>
              </a:lnSpc>
              <a:spcBef>
                <a:spcPts val="500"/>
              </a:spcBef>
              <a:spcAft>
                <a:spcPts val="0"/>
              </a:spcAft>
              <a:buClr>
                <a:srgbClr val="004A78"/>
              </a:buClr>
              <a:buSzPts val="1800"/>
              <a:buChar char="•"/>
              <a:defRPr/>
            </a:lvl2pPr>
            <a:lvl3pPr marL="1371600" lvl="2" indent="-342900" algn="l">
              <a:lnSpc>
                <a:spcPct val="90000"/>
              </a:lnSpc>
              <a:spcBef>
                <a:spcPts val="500"/>
              </a:spcBef>
              <a:spcAft>
                <a:spcPts val="0"/>
              </a:spcAft>
              <a:buClr>
                <a:srgbClr val="004A78"/>
              </a:buClr>
              <a:buSzPts val="1800"/>
              <a:buChar char="•"/>
              <a:defRPr/>
            </a:lvl3pPr>
            <a:lvl4pPr marL="1828800" lvl="3" indent="-342900" algn="l">
              <a:lnSpc>
                <a:spcPct val="90000"/>
              </a:lnSpc>
              <a:spcBef>
                <a:spcPts val="500"/>
              </a:spcBef>
              <a:spcAft>
                <a:spcPts val="0"/>
              </a:spcAft>
              <a:buClr>
                <a:srgbClr val="004A78"/>
              </a:buClr>
              <a:buSzPts val="1800"/>
              <a:buChar char="•"/>
              <a:defRPr/>
            </a:lvl4pPr>
            <a:lvl5pPr marL="2286000" lvl="4" indent="-342900" algn="l">
              <a:lnSpc>
                <a:spcPct val="90000"/>
              </a:lnSpc>
              <a:spcBef>
                <a:spcPts val="500"/>
              </a:spcBef>
              <a:spcAft>
                <a:spcPts val="0"/>
              </a:spcAft>
              <a:buClr>
                <a:srgbClr val="004A78"/>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5"/>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ulleted List">
  <p:cSld name="Bulleted List">
    <p:spTree>
      <p:nvGrpSpPr>
        <p:cNvPr id="1" name="Shape 87"/>
        <p:cNvGrpSpPr/>
        <p:nvPr/>
      </p:nvGrpSpPr>
      <p:grpSpPr>
        <a:xfrm>
          <a:off x="0" y="0"/>
          <a:ext cx="0" cy="0"/>
          <a:chOff x="0" y="0"/>
          <a:chExt cx="0" cy="0"/>
        </a:xfrm>
      </p:grpSpPr>
      <p:sp>
        <p:nvSpPr>
          <p:cNvPr id="88" name="Google Shape;88;p5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9" name="Google Shape;89;p56"/>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0000"/>
                </a:solidFill>
              </a:defRPr>
            </a:lvl1pPr>
            <a:lvl2pPr marL="914400" marR="0" lvl="1" indent="-355600" algn="l">
              <a:lnSpc>
                <a:spcPct val="90000"/>
              </a:lnSpc>
              <a:spcBef>
                <a:spcPts val="500"/>
              </a:spcBef>
              <a:spcAft>
                <a:spcPts val="0"/>
              </a:spcAft>
              <a:buClr>
                <a:srgbClr val="FF6300"/>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56"/>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ed List">
  <p:cSld name="Numbered List">
    <p:spTree>
      <p:nvGrpSpPr>
        <p:cNvPr id="1" name="Shape 91"/>
        <p:cNvGrpSpPr/>
        <p:nvPr/>
      </p:nvGrpSpPr>
      <p:grpSpPr>
        <a:xfrm>
          <a:off x="0" y="0"/>
          <a:ext cx="0" cy="0"/>
          <a:chOff x="0" y="0"/>
          <a:chExt cx="0" cy="0"/>
        </a:xfrm>
      </p:grpSpPr>
      <p:sp>
        <p:nvSpPr>
          <p:cNvPr id="92" name="Google Shape;92;p5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3" name="Google Shape;93;p57"/>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Calibri"/>
              <a:buAutoNum type="arabicPeriod"/>
              <a:defRPr sz="2000">
                <a:solidFill>
                  <a:srgbClr val="000000"/>
                </a:solidFill>
              </a:defRPr>
            </a:lvl1pPr>
            <a:lvl2pPr marL="914400" marR="0" lvl="1" indent="-228600" algn="l">
              <a:lnSpc>
                <a:spcPct val="90000"/>
              </a:lnSpc>
              <a:spcBef>
                <a:spcPts val="500"/>
              </a:spcBef>
              <a:spcAft>
                <a:spcPts val="0"/>
              </a:spcAft>
              <a:buClr>
                <a:srgbClr val="006298"/>
              </a:buClr>
              <a:buSzPts val="2000"/>
              <a:buFont typeface="Arial"/>
              <a:buNone/>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57"/>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ullets">
  <p:cSld name="Title and Bullets">
    <p:spTree>
      <p:nvGrpSpPr>
        <p:cNvPr id="1" name="Shape 95"/>
        <p:cNvGrpSpPr/>
        <p:nvPr/>
      </p:nvGrpSpPr>
      <p:grpSpPr>
        <a:xfrm>
          <a:off x="0" y="0"/>
          <a:ext cx="0" cy="0"/>
          <a:chOff x="0" y="0"/>
          <a:chExt cx="0" cy="0"/>
        </a:xfrm>
      </p:grpSpPr>
      <p:sp>
        <p:nvSpPr>
          <p:cNvPr id="96" name="Google Shape;96;p5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7" name="Google Shape;97;p58"/>
          <p:cNvSpPr txBox="1">
            <a:spLocks noGrp="1"/>
          </p:cNvSpPr>
          <p:nvPr>
            <p:ph type="body" idx="1"/>
          </p:nvPr>
        </p:nvSpPr>
        <p:spPr>
          <a:xfrm>
            <a:off x="743576" y="1638300"/>
            <a:ext cx="10711543" cy="4394200"/>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1000"/>
              </a:spcBef>
              <a:spcAft>
                <a:spcPts val="0"/>
              </a:spcAft>
              <a:buClr>
                <a:srgbClr val="004A78"/>
              </a:buClr>
              <a:buSzPts val="2000"/>
              <a:buFont typeface="Arial"/>
              <a:buChar char="•"/>
              <a:defRPr sz="2000">
                <a:solidFill>
                  <a:srgbClr val="004A78"/>
                </a:solidFill>
              </a:defRPr>
            </a:lvl1pPr>
            <a:lvl2pPr marL="914400" marR="0" lvl="1" indent="-355600" algn="l">
              <a:lnSpc>
                <a:spcPct val="90000"/>
              </a:lnSpc>
              <a:spcBef>
                <a:spcPts val="500"/>
              </a:spcBef>
              <a:spcAft>
                <a:spcPts val="0"/>
              </a:spcAft>
              <a:buClr>
                <a:srgbClr val="006298"/>
              </a:buClr>
              <a:buSzPts val="2000"/>
              <a:buFont typeface="Arial"/>
              <a:buChar char="•"/>
              <a:defRPr sz="2000"/>
            </a:lvl2pPr>
            <a:lvl3pPr marL="1371600" lvl="2" indent="-355600" algn="l">
              <a:lnSpc>
                <a:spcPct val="90000"/>
              </a:lnSpc>
              <a:spcBef>
                <a:spcPts val="500"/>
              </a:spcBef>
              <a:spcAft>
                <a:spcPts val="0"/>
              </a:spcAft>
              <a:buClr>
                <a:srgbClr val="000000"/>
              </a:buClr>
              <a:buSzPts val="2000"/>
              <a:buFont typeface="Arial"/>
              <a:buChar char="•"/>
              <a:defRPr sz="2000"/>
            </a:lvl3pPr>
            <a:lvl4pPr marL="1828800" lvl="3" indent="-292100" algn="l">
              <a:lnSpc>
                <a:spcPct val="90000"/>
              </a:lnSpc>
              <a:spcBef>
                <a:spcPts val="500"/>
              </a:spcBef>
              <a:spcAft>
                <a:spcPts val="0"/>
              </a:spcAft>
              <a:buClr>
                <a:srgbClr val="000000"/>
              </a:buClr>
              <a:buSzPts val="1000"/>
              <a:buFont typeface="Calibri"/>
              <a:buChar char="▶"/>
              <a:defRPr sz="2000"/>
            </a:lvl4pPr>
            <a:lvl5pPr marL="2286000" lvl="4" indent="-355600" algn="l">
              <a:lnSpc>
                <a:spcPct val="90000"/>
              </a:lnSpc>
              <a:spcBef>
                <a:spcPts val="500"/>
              </a:spcBef>
              <a:spcAft>
                <a:spcPts val="0"/>
              </a:spcAft>
              <a:buClr>
                <a:srgbClr val="000000"/>
              </a:buClr>
              <a:buSzPts val="2000"/>
              <a:buFont typeface="Helvetica Neue"/>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58"/>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99"/>
        <p:cNvGrpSpPr/>
        <p:nvPr/>
      </p:nvGrpSpPr>
      <p:grpSpPr>
        <a:xfrm>
          <a:off x="0" y="0"/>
          <a:ext cx="0" cy="0"/>
          <a:chOff x="0" y="0"/>
          <a:chExt cx="0" cy="0"/>
        </a:xfrm>
      </p:grpSpPr>
      <p:sp>
        <p:nvSpPr>
          <p:cNvPr id="100" name="Google Shape;100;p5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lvl="0" algn="ctr">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59"/>
          <p:cNvSpPr txBox="1"/>
          <p:nvPr/>
        </p:nvSpPr>
        <p:spPr>
          <a:xfrm>
            <a:off x="2615881" y="6373069"/>
            <a:ext cx="9456516" cy="415498"/>
          </a:xfrm>
          <a:prstGeom prst="rect">
            <a:avLst/>
          </a:prstGeom>
          <a:noFill/>
          <a:ln>
            <a:noFill/>
          </a:ln>
        </p:spPr>
        <p:txBody>
          <a:bodyPr spcFirstLastPara="1" wrap="square" lIns="0" tIns="0" rIns="0" bIns="45700" anchor="b" anchorCtr="0">
            <a:spAutoFit/>
          </a:bodyPr>
          <a:lstStyle/>
          <a:p>
            <a:pPr marL="0" marR="0" lvl="0" indent="0" algn="l" rtl="0">
              <a:lnSpc>
                <a:spcPct val="100000"/>
              </a:lnSpc>
              <a:spcBef>
                <a:spcPts val="0"/>
              </a:spcBef>
              <a:spcAft>
                <a:spcPts val="0"/>
              </a:spcAft>
              <a:buClr>
                <a:srgbClr val="004A78"/>
              </a:buClr>
              <a:buSzPts val="1200"/>
              <a:buFont typeface="arial"/>
              <a:buNone/>
            </a:pPr>
            <a:r>
              <a:rPr lang="en-US" sz="1200" b="0" i="0" u="none" strike="noStrike" cap="none">
                <a:solidFill>
                  <a:srgbClr val="004A78"/>
                </a:solidFill>
                <a:latin typeface="arial"/>
                <a:ea typeface="arial"/>
                <a:cs typeface="arial"/>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t" anchorCtr="0">
            <a:noAutofit/>
          </a:bodyPr>
          <a:lstStyle>
            <a:lvl1pPr marR="0" lvl="0" algn="ctr" rtl="0">
              <a:lnSpc>
                <a:spcPct val="90000"/>
              </a:lnSpc>
              <a:spcBef>
                <a:spcPts val="0"/>
              </a:spcBef>
              <a:spcAft>
                <a:spcPts val="0"/>
              </a:spcAft>
              <a:buSzPts val="1400"/>
              <a:buNone/>
              <a:defRPr sz="3400" b="1" i="0" u="none" strike="noStrike" cap="none">
                <a:solidFill>
                  <a:srgbClr val="004A78"/>
                </a:solidFill>
                <a:latin typeface="Arial"/>
                <a:ea typeface="Arial"/>
                <a:cs typeface="Arial"/>
                <a:sym typeface="Arial"/>
              </a:defRPr>
            </a:lvl1pPr>
            <a:lvl2pPr marR="0" lvl="1"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2pPr>
            <a:lvl3pPr marR="0" lvl="2"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3pPr>
            <a:lvl4pPr marR="0" lvl="3"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4pPr>
            <a:lvl5pPr marR="0" lvl="4"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5pPr>
            <a:lvl6pPr marR="0" lvl="5"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6pPr>
            <a:lvl7pPr marR="0" lvl="6"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7pPr>
            <a:lvl8pPr marR="0" lvl="7"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8pPr>
            <a:lvl9pPr marR="0" lvl="8" algn="l" rtl="0">
              <a:lnSpc>
                <a:spcPct val="90000"/>
              </a:lnSpc>
              <a:spcBef>
                <a:spcPts val="0"/>
              </a:spcBef>
              <a:spcAft>
                <a:spcPts val="0"/>
              </a:spcAft>
              <a:buSzPts val="1400"/>
              <a:buNone/>
              <a:defRPr sz="3400" b="0" i="0" u="none" strike="noStrike" cap="none">
                <a:solidFill>
                  <a:schemeClr val="dk1"/>
                </a:solidFill>
                <a:latin typeface="Open Sans"/>
                <a:ea typeface="Open Sans"/>
                <a:cs typeface="Open Sans"/>
                <a:sym typeface="Open Sans"/>
              </a:defRPr>
            </a:lvl9pPr>
          </a:lstStyle>
          <a:p>
            <a:endParaRPr/>
          </a:p>
        </p:txBody>
      </p:sp>
      <p:sp>
        <p:nvSpPr>
          <p:cNvPr id="11" name="Google Shape;11;p44"/>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2800"/>
              <a:buFont typeface="Arial"/>
              <a:buNone/>
              <a:defRPr sz="2800" b="0" i="0" u="none" strike="noStrike" cap="none">
                <a:solidFill>
                  <a:srgbClr val="000000"/>
                </a:solidFill>
                <a:latin typeface="Arial"/>
                <a:ea typeface="Arial"/>
                <a:cs typeface="Arial"/>
                <a:sym typeface="Arial"/>
              </a:defRPr>
            </a:lvl1pPr>
            <a:lvl2pPr marL="914400" marR="0" lvl="1" indent="-381000" algn="l" rtl="0">
              <a:lnSpc>
                <a:spcPct val="90000"/>
              </a:lnSpc>
              <a:spcBef>
                <a:spcPts val="500"/>
              </a:spcBef>
              <a:spcAft>
                <a:spcPts val="0"/>
              </a:spcAft>
              <a:buClr>
                <a:srgbClr val="004A78"/>
              </a:buClr>
              <a:buSzPts val="2400"/>
              <a:buFont typeface="Arial"/>
              <a:buChar char="•"/>
              <a:defRPr sz="2400" b="0" i="0" u="none" strike="noStrike" cap="none">
                <a:solidFill>
                  <a:srgbClr val="004A78"/>
                </a:solidFill>
                <a:latin typeface="Arial"/>
                <a:ea typeface="Arial"/>
                <a:cs typeface="Arial"/>
                <a:sym typeface="Arial"/>
              </a:defRPr>
            </a:lvl2pPr>
            <a:lvl3pPr marL="1371600" marR="0" lvl="2" indent="-355600" algn="l" rtl="0">
              <a:lnSpc>
                <a:spcPct val="90000"/>
              </a:lnSpc>
              <a:spcBef>
                <a:spcPts val="500"/>
              </a:spcBef>
              <a:spcAft>
                <a:spcPts val="0"/>
              </a:spcAft>
              <a:buClr>
                <a:srgbClr val="004A78"/>
              </a:buClr>
              <a:buSzPts val="2000"/>
              <a:buFont typeface="Arial"/>
              <a:buChar char="•"/>
              <a:defRPr sz="2000" b="0" i="0" u="none" strike="noStrike" cap="none">
                <a:solidFill>
                  <a:srgbClr val="004A78"/>
                </a:solidFill>
                <a:latin typeface="Arial"/>
                <a:ea typeface="Arial"/>
                <a:cs typeface="Arial"/>
                <a:sym typeface="Arial"/>
              </a:defRPr>
            </a:lvl3pPr>
            <a:lvl4pPr marL="1828800" marR="0" lvl="3"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4pPr>
            <a:lvl5pPr marL="2286000" marR="0" lvl="4" indent="-342900" algn="l" rtl="0">
              <a:lnSpc>
                <a:spcPct val="90000"/>
              </a:lnSpc>
              <a:spcBef>
                <a:spcPts val="500"/>
              </a:spcBef>
              <a:spcAft>
                <a:spcPts val="0"/>
              </a:spcAft>
              <a:buClr>
                <a:srgbClr val="004A78"/>
              </a:buClr>
              <a:buSzPts val="1800"/>
              <a:buFont typeface="Arial"/>
              <a:buChar char="•"/>
              <a:defRPr sz="1800" b="0" i="0" u="none" strike="noStrike" cap="none">
                <a:solidFill>
                  <a:srgbClr val="004A78"/>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44"/>
          <p:cNvPicPr preferRelativeResize="0"/>
          <p:nvPr/>
        </p:nvPicPr>
        <p:blipFill rotWithShape="1">
          <a:blip r:embed="rId17">
            <a:alphaModFix/>
          </a:blip>
          <a:srcRect/>
          <a:stretch/>
        </p:blipFill>
        <p:spPr>
          <a:xfrm>
            <a:off x="476843" y="6356350"/>
            <a:ext cx="1579562" cy="354013"/>
          </a:xfrm>
          <a:prstGeom prst="rect">
            <a:avLst/>
          </a:prstGeom>
          <a:noFill/>
          <a:ln>
            <a:noFill/>
          </a:ln>
        </p:spPr>
      </p:pic>
      <p:sp>
        <p:nvSpPr>
          <p:cNvPr id="13" name="Google Shape;13;p44"/>
          <p:cNvSpPr txBox="1">
            <a:spLocks noGrp="1"/>
          </p:cNvSpPr>
          <p:nvPr>
            <p:ph type="ftr" idx="11"/>
          </p:nvPr>
        </p:nvSpPr>
        <p:spPr>
          <a:xfrm>
            <a:off x="2934268" y="6356350"/>
            <a:ext cx="880166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rgbClr val="00629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25.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29.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3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33.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40.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41.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5.xml"/><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
          <p:cNvSpPr txBox="1">
            <a:spLocks noGrp="1"/>
          </p:cNvSpPr>
          <p:nvPr>
            <p:ph type="title"/>
          </p:nvPr>
        </p:nvSpPr>
        <p:spPr>
          <a:xfrm>
            <a:off x="5892167" y="1805383"/>
            <a:ext cx="5550026" cy="1269698"/>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Chapter 1</a:t>
            </a:r>
            <a:endParaRPr dirty="0">
              <a:latin typeface="Arial" panose="020B0604020202020204" pitchFamily="34" charset="0"/>
              <a:cs typeface="Arial" panose="020B0604020202020204" pitchFamily="34" charset="0"/>
            </a:endParaRPr>
          </a:p>
        </p:txBody>
      </p:sp>
      <p:pic>
        <p:nvPicPr>
          <p:cNvPr id="107" name="Google Shape;107;p1" descr="Cover: Data Communications and Computer Networks, A Business User's Approach by Jill West and Curt M.White, Ninth Edition."/>
          <p:cNvPicPr preferRelativeResize="0">
            <a:picLocks noGrp="1"/>
          </p:cNvPicPr>
          <p:nvPr>
            <p:ph type="pic" idx="2"/>
          </p:nvPr>
        </p:nvPicPr>
        <p:blipFill rotWithShape="1">
          <a:blip r:embed="rId4">
            <a:alphaModFix/>
          </a:blip>
          <a:srcRect/>
          <a:stretch/>
        </p:blipFill>
        <p:spPr>
          <a:xfrm>
            <a:off x="0" y="0"/>
            <a:ext cx="4786645" cy="6125029"/>
          </a:xfrm>
          <a:prstGeom prst="rect">
            <a:avLst/>
          </a:prstGeom>
          <a:noFill/>
          <a:ln>
            <a:noFill/>
          </a:ln>
        </p:spPr>
      </p:pic>
      <p:sp>
        <p:nvSpPr>
          <p:cNvPr id="108" name="Google Shape;108;p1"/>
          <p:cNvSpPr txBox="1">
            <a:spLocks noGrp="1"/>
          </p:cNvSpPr>
          <p:nvPr>
            <p:ph type="body" idx="1"/>
          </p:nvPr>
        </p:nvSpPr>
        <p:spPr>
          <a:xfrm>
            <a:off x="5799657" y="3168913"/>
            <a:ext cx="5943394" cy="1343006"/>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chemeClr val="lt1"/>
              </a:buClr>
              <a:buSzPts val="2800"/>
              <a:buFont typeface="Arial"/>
              <a:buNone/>
            </a:pPr>
            <a:r>
              <a:rPr lang="en-US" sz="2800" dirty="0">
                <a:latin typeface="Arial" panose="020B0604020202020204" pitchFamily="34" charset="0"/>
                <a:cs typeface="Arial" panose="020B0604020202020204" pitchFamily="34" charset="0"/>
              </a:rPr>
              <a:t>Introduction to Computer Networks and Data Communications</a:t>
            </a:r>
            <a:endParaRPr dirty="0">
              <a:latin typeface="Arial" panose="020B0604020202020204" pitchFamily="34" charset="0"/>
              <a:cs typeface="Arial" panose="020B0604020202020204" pitchFamily="34" charset="0"/>
            </a:endParaRPr>
          </a:p>
        </p:txBody>
      </p:sp>
      <p:sp>
        <p:nvSpPr>
          <p:cNvPr id="109" name="Google Shape;109;p1"/>
          <p:cNvSpPr txBox="1">
            <a:spLocks noGrp="1"/>
          </p:cNvSpPr>
          <p:nvPr>
            <p:ph type="body" idx="3"/>
          </p:nvPr>
        </p:nvSpPr>
        <p:spPr>
          <a:xfrm>
            <a:off x="2615881" y="6423442"/>
            <a:ext cx="9456516" cy="36512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lt1"/>
              </a:buClr>
              <a:buSzPts val="1100"/>
              <a:buNone/>
            </a:pPr>
            <a:r>
              <a:rPr lang="en-US" sz="1100" dirty="0">
                <a:solidFill>
                  <a:schemeClr val="lt1"/>
                </a:solidFill>
                <a:latin typeface="Arial" panose="020B0604020202020204" pitchFamily="34" charset="0"/>
                <a:ea typeface="Arial"/>
                <a:cs typeface="Arial" panose="020B0604020202020204" pitchFamily="34" charset="0"/>
                <a:sym typeface="Arial"/>
              </a:rPr>
              <a:t>Jill West | Curt M. White, Data Communications and Computer Networks: A Business User’s Approach, 9th Edition. © 2023 Cengage. All Rights Reserved. May not be scanned, copied or duplicated, or posted to a publicly accessible website, in whole or in part.</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
          <p:cNvSpPr txBox="1">
            <a:spLocks noGrp="1"/>
          </p:cNvSpPr>
          <p:nvPr>
            <p:ph type="title"/>
          </p:nvPr>
        </p:nvSpPr>
        <p:spPr>
          <a:xfrm>
            <a:off x="642300" y="365125"/>
            <a:ext cx="11093898"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After reading this chapter, you should be able to:</a:t>
            </a:r>
            <a:endParaRPr dirty="0">
              <a:latin typeface="Arial" panose="020B0604020202020204" pitchFamily="34" charset="0"/>
              <a:cs typeface="Arial" panose="020B0604020202020204" pitchFamily="34" charset="0"/>
            </a:endParaRPr>
          </a:p>
        </p:txBody>
      </p:sp>
      <p:sp>
        <p:nvSpPr>
          <p:cNvPr id="115" name="Google Shape;115;p2"/>
          <p:cNvSpPr txBox="1">
            <a:spLocks noGrp="1"/>
          </p:cNvSpPr>
          <p:nvPr>
            <p:ph type="body" idx="1"/>
          </p:nvPr>
        </p:nvSpPr>
        <p:spPr>
          <a:xfrm>
            <a:off x="743575" y="1592026"/>
            <a:ext cx="10711500" cy="44991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Understand and employ the basic terminology of computer networks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Identify the most common computer network devices and their usage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Outline the basic networks types and their characteristics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List the layers of the TCP/IP protocol suite and describe the duties of each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List the layers of the OSI model and describe the duties of each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Understand the cloud computing concepts and its importance</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Introduction</a:t>
            </a:r>
            <a:endParaRPr dirty="0">
              <a:latin typeface="Arial" panose="020B0604020202020204" pitchFamily="34" charset="0"/>
              <a:cs typeface="Arial" panose="020B0604020202020204" pitchFamily="34" charset="0"/>
            </a:endParaRPr>
          </a:p>
        </p:txBody>
      </p:sp>
      <p:sp>
        <p:nvSpPr>
          <p:cNvPr id="121" name="Google Shape;121;p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Who today has not used a computer network?</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Mass transit, interstate highways, 24-hour bankers, grocery stores, cable television, smartphones, businesses and schools, and retail outlets support some form of computer network</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Language of Computer Networks (1 of 3)</a:t>
            </a:r>
            <a:endParaRPr dirty="0">
              <a:latin typeface="Arial" panose="020B0604020202020204" pitchFamily="34" charset="0"/>
              <a:cs typeface="Arial" panose="020B0604020202020204" pitchFamily="34" charset="0"/>
            </a:endParaRPr>
          </a:p>
        </p:txBody>
      </p:sp>
      <p:sp>
        <p:nvSpPr>
          <p:cNvPr id="127" name="Google Shape;127;p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Computer network – an interconnection of computers and computing equipment using either wires or radio waves over small or large geographic areas</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Wireless computer networks – networks that rely on different kinds of low energy radiation</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PAN: Personal Area Network – a network of a few meters, between wireless devices such as PDAs, laptops, and similar devices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LAN: Local Area Network – networks that are small in geographic size spanning a room, floor, building, or campus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Language of Computer Networks (2 of 3)</a:t>
            </a:r>
            <a:endParaRPr dirty="0">
              <a:latin typeface="Arial" panose="020B0604020202020204" pitchFamily="34" charset="0"/>
              <a:cs typeface="Arial" panose="020B0604020202020204" pitchFamily="34" charset="0"/>
            </a:endParaRPr>
          </a:p>
        </p:txBody>
      </p:sp>
      <p:sp>
        <p:nvSpPr>
          <p:cNvPr id="133" name="Google Shape;133;p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CAN: Campus Area Network – a network that spans multiple buildings on a business or school campus</a:t>
            </a:r>
            <a:endParaRPr dirty="0">
              <a:latin typeface="Arial" panose="020B0604020202020204" pitchFamily="34" charset="0"/>
              <a:cs typeface="Arial" panose="020B0604020202020204" pitchFamily="34" charset="0"/>
            </a:endParaRPr>
          </a:p>
          <a:p>
            <a:pPr marL="457200" lvl="0" indent="-457200" algn="l" rtl="0">
              <a:spcBef>
                <a:spcPts val="624"/>
              </a:spcBef>
              <a:spcAft>
                <a:spcPts val="0"/>
              </a:spcAft>
              <a:buSzPts val="2600"/>
              <a:buChar char="•"/>
            </a:pPr>
            <a:r>
              <a:rPr lang="en-US" dirty="0">
                <a:latin typeface="Arial" panose="020B0604020202020204" pitchFamily="34" charset="0"/>
                <a:cs typeface="Arial" panose="020B0604020202020204" pitchFamily="34" charset="0"/>
              </a:rPr>
              <a:t>MAN: Metropolitan Area Network – networks that serve an area of 1 to 30 miles, approximately the size of a typical city</a:t>
            </a:r>
            <a:endParaRPr dirty="0">
              <a:latin typeface="Arial" panose="020B0604020202020204" pitchFamily="34" charset="0"/>
              <a:cs typeface="Arial" panose="020B0604020202020204" pitchFamily="34" charset="0"/>
            </a:endParaRPr>
          </a:p>
          <a:p>
            <a:pPr marL="457200" lvl="0" indent="-457200" algn="l" rtl="0">
              <a:spcBef>
                <a:spcPts val="0"/>
              </a:spcBef>
              <a:spcAft>
                <a:spcPts val="0"/>
              </a:spcAft>
              <a:buSzPts val="2600"/>
              <a:buChar char="•"/>
            </a:pPr>
            <a:r>
              <a:rPr lang="en-US" dirty="0">
                <a:latin typeface="Arial" panose="020B0604020202020204" pitchFamily="34" charset="0"/>
                <a:cs typeface="Arial" panose="020B0604020202020204" pitchFamily="34" charset="0"/>
              </a:rPr>
              <a:t>WAN: Wide Area Network – a large network that encompasses parts of states, multiple states, countries, and the world</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Language of Computer Networks (3 of 3)</a:t>
            </a:r>
            <a:endParaRPr dirty="0">
              <a:latin typeface="Arial" panose="020B0604020202020204" pitchFamily="34" charset="0"/>
              <a:cs typeface="Arial" panose="020B0604020202020204" pitchFamily="34" charset="0"/>
            </a:endParaRPr>
          </a:p>
        </p:txBody>
      </p:sp>
      <p:sp>
        <p:nvSpPr>
          <p:cNvPr id="139" name="Google Shape;139;p8"/>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Data communications and protocols – the transfer of digital or analog data using digital or analog signals following predefined standards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 management – the design, installation, and support of a network, including its hardware and software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Cloud computing – service provided over the Internet instead of provided by an underlying hardware</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Big Picture of Networks (1 of 2)</a:t>
            </a:r>
            <a:endParaRPr dirty="0">
              <a:latin typeface="Arial" panose="020B0604020202020204" pitchFamily="34" charset="0"/>
              <a:cs typeface="Arial" panose="020B0604020202020204" pitchFamily="34" charset="0"/>
            </a:endParaRPr>
          </a:p>
        </p:txBody>
      </p:sp>
      <p:sp>
        <p:nvSpPr>
          <p:cNvPr id="145" name="Google Shape;145;p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Networks are composed of many devices, including:</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Workstations (computers, tablets, smartphones, etc.)</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Servers</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PANs</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Network switches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Routers (LAN to WAN and WAN to WAN)</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Network nodes and subnetworks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Big Picture of Networks (2 of 2)</a:t>
            </a:r>
            <a:endParaRPr dirty="0">
              <a:latin typeface="Arial" panose="020B0604020202020204" pitchFamily="34" charset="0"/>
              <a:cs typeface="Arial" panose="020B0604020202020204" pitchFamily="34" charset="0"/>
            </a:endParaRPr>
          </a:p>
        </p:txBody>
      </p:sp>
      <p:pic>
        <p:nvPicPr>
          <p:cNvPr id="2" name="Picture 1" descr="An illustration depicts the interconnection between different types of networks. User A of a computer system is connected through a modem to WAN 1. Routers are connected between WAN 1 and WAN 2. Then WAN 2 is connected to Cellular lower. Workstations with a number of computer systems are connected to LAN 1 to which the router from WAN 1 is also connected. A switch connects LAN 1 and LAN 2. Bluetooth headphone which is PAN 1 is connected to a computer system. The system which is connected with PAN 1, and another computer system, are connected to LAN 2. A web server is also connected to LAN 2. &#10;Figure 1-2 An overall view of the interconnection between different types of networks">
            <a:extLst>
              <a:ext uri="{FF2B5EF4-FFF2-40B4-BE49-F238E27FC236}">
                <a16:creationId xmlns:a16="http://schemas.microsoft.com/office/drawing/2014/main" id="{A9A11D22-492C-4166-AC57-3D3B38F6E0D7}"/>
              </a:ext>
            </a:extLst>
          </p:cNvPr>
          <p:cNvPicPr>
            <a:picLocks noChangeAspect="1"/>
          </p:cNvPicPr>
          <p:nvPr/>
        </p:nvPicPr>
        <p:blipFill>
          <a:blip r:embed="rId4"/>
          <a:stretch>
            <a:fillRect/>
          </a:stretch>
        </p:blipFill>
        <p:spPr>
          <a:xfrm>
            <a:off x="3031109" y="1322911"/>
            <a:ext cx="6129782" cy="4577938"/>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Common Examples of Communications Networks (1 of 2)</a:t>
            </a:r>
            <a:endParaRPr dirty="0">
              <a:latin typeface="Arial" panose="020B0604020202020204" pitchFamily="34" charset="0"/>
              <a:cs typeface="Arial" panose="020B0604020202020204" pitchFamily="34" charset="0"/>
            </a:endParaRPr>
          </a:p>
        </p:txBody>
      </p:sp>
      <p:sp>
        <p:nvSpPr>
          <p:cNvPr id="157" name="Google Shape;157;p11"/>
          <p:cNvSpPr txBox="1">
            <a:spLocks noGrp="1"/>
          </p:cNvSpPr>
          <p:nvPr>
            <p:ph type="body" idx="1"/>
          </p:nvPr>
        </p:nvSpPr>
        <p:spPr>
          <a:xfrm>
            <a:off x="743575" y="1561426"/>
            <a:ext cx="10711500" cy="45297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The desktop computer and the Internet</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A laptop computer and a wireless connection</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Cellular networks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Sensor networks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Business mainframe networks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Satellite networks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Cloud networks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Common Examples of Communications Networks (2 of 2)</a:t>
            </a:r>
            <a:endParaRPr dirty="0">
              <a:latin typeface="Arial" panose="020B0604020202020204" pitchFamily="34" charset="0"/>
              <a:cs typeface="Arial" panose="020B0604020202020204" pitchFamily="34" charset="0"/>
            </a:endParaRPr>
          </a:p>
        </p:txBody>
      </p:sp>
      <p:pic>
        <p:nvPicPr>
          <p:cNvPr id="2" name="Picture 1" descr="An illustration of a woman named Katrina seated with network and connections in front of her on a desk. A LAN connection is given to the desktop computer on the desk. A laptop computer has a wireless connection. Katrina’s smartphone is in her hand. &#10;Figure 1-3 Katrina sitting at a desk at school, surrounded by networks and their connections">
            <a:extLst>
              <a:ext uri="{FF2B5EF4-FFF2-40B4-BE49-F238E27FC236}">
                <a16:creationId xmlns:a16="http://schemas.microsoft.com/office/drawing/2014/main" id="{882A5112-AFE6-480C-9B76-C6463CBA8331}"/>
              </a:ext>
            </a:extLst>
          </p:cNvPr>
          <p:cNvPicPr>
            <a:picLocks noChangeAspect="1"/>
          </p:cNvPicPr>
          <p:nvPr/>
        </p:nvPicPr>
        <p:blipFill>
          <a:blip r:embed="rId4"/>
          <a:stretch>
            <a:fillRect/>
          </a:stretch>
        </p:blipFill>
        <p:spPr>
          <a:xfrm>
            <a:off x="3492782" y="1209122"/>
            <a:ext cx="5206435" cy="4999153"/>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Desktop Computer and the Internet (1 of 4)</a:t>
            </a:r>
            <a:endParaRPr dirty="0">
              <a:latin typeface="Arial" panose="020B0604020202020204" pitchFamily="34" charset="0"/>
              <a:cs typeface="Arial" panose="020B0604020202020204" pitchFamily="34" charset="0"/>
            </a:endParaRPr>
          </a:p>
        </p:txBody>
      </p:sp>
      <p:sp>
        <p:nvSpPr>
          <p:cNvPr id="169" name="Google Shape;169;p1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Common throughout business, academic environments, and homes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Typically, a medium- to high-speed connection</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Computer (device) requires a NIC (network interface card)</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NIC connects to a hub-like device (switch)</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Often considered a client/server system</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Desktop Computer and the Internet (2 of 4)</a:t>
            </a:r>
            <a:endParaRPr dirty="0">
              <a:latin typeface="Arial" panose="020B0604020202020204" pitchFamily="34" charset="0"/>
              <a:cs typeface="Arial" panose="020B0604020202020204" pitchFamily="34" charset="0"/>
            </a:endParaRPr>
          </a:p>
        </p:txBody>
      </p:sp>
      <p:pic>
        <p:nvPicPr>
          <p:cNvPr id="2" name="Picture 1" descr="An illustration depicts desktop to internet connection. A LAN collection point is connected through cables with metal conduit to cables that run between two workstations.&#10;Figure 1-4 A desktop computer (or microcomputer) at a business or school &#10;connected from the user’s desk to the company’s local area network">
            <a:extLst>
              <a:ext uri="{FF2B5EF4-FFF2-40B4-BE49-F238E27FC236}">
                <a16:creationId xmlns:a16="http://schemas.microsoft.com/office/drawing/2014/main" id="{37197E7B-3C17-48C7-8E48-D525D8CCF672}"/>
              </a:ext>
            </a:extLst>
          </p:cNvPr>
          <p:cNvPicPr>
            <a:picLocks noChangeAspect="1"/>
          </p:cNvPicPr>
          <p:nvPr/>
        </p:nvPicPr>
        <p:blipFill>
          <a:blip r:embed="rId4"/>
          <a:stretch>
            <a:fillRect/>
          </a:stretch>
        </p:blipFill>
        <p:spPr>
          <a:xfrm>
            <a:off x="2155425" y="1263256"/>
            <a:ext cx="7881148" cy="4611193"/>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Desktop Computer and the Internet (3 of 4)</a:t>
            </a:r>
            <a:endParaRPr dirty="0">
              <a:latin typeface="Arial" panose="020B0604020202020204" pitchFamily="34" charset="0"/>
              <a:cs typeface="Arial" panose="020B0604020202020204" pitchFamily="34" charset="0"/>
            </a:endParaRPr>
          </a:p>
        </p:txBody>
      </p:sp>
      <p:sp>
        <p:nvSpPr>
          <p:cNvPr id="181" name="Google Shape;181;p1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At work or at school – connection is typically some form of Ethernet</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At home, for some, a dial-up modem is used to connect user’s microcomputer to an Internet service provider</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Technologies such as DSL and cable modems are replacing dial-up modems</a:t>
            </a:r>
            <a:endParaRPr>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Desktop Computer and the Internet (4 of 4)</a:t>
            </a:r>
            <a:endParaRPr dirty="0">
              <a:latin typeface="Arial" panose="020B0604020202020204" pitchFamily="34" charset="0"/>
              <a:cs typeface="Arial" panose="020B0604020202020204" pitchFamily="34" charset="0"/>
            </a:endParaRPr>
          </a:p>
        </p:txBody>
      </p:sp>
      <p:pic>
        <p:nvPicPr>
          <p:cNvPr id="2" name="Picture 1" descr="An illustration depicts a typical home computer connected to the internet. A computer system is connected through a router to a modem. The modem is connected to antennas. The wires from the antennas are connected to modems that are connected to the Internet service provider. The internet service provider is connected to a router that connects to the internet with a high-speed line. &#10;Figure 1-5 A computer sending data over a DSL line to an Internet service provider and onto the Internet">
            <a:extLst>
              <a:ext uri="{FF2B5EF4-FFF2-40B4-BE49-F238E27FC236}">
                <a16:creationId xmlns:a16="http://schemas.microsoft.com/office/drawing/2014/main" id="{B6439BD9-9FFB-4D81-A3A7-BAA19AE1AD84}"/>
              </a:ext>
            </a:extLst>
          </p:cNvPr>
          <p:cNvPicPr>
            <a:picLocks noChangeAspect="1"/>
          </p:cNvPicPr>
          <p:nvPr/>
        </p:nvPicPr>
        <p:blipFill>
          <a:blip r:embed="rId4"/>
          <a:stretch>
            <a:fillRect/>
          </a:stretch>
        </p:blipFill>
        <p:spPr>
          <a:xfrm>
            <a:off x="2090581" y="1169139"/>
            <a:ext cx="8010838" cy="4993057"/>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A Laptop Computer and a Wireless Connection (1 of 2)</a:t>
            </a:r>
            <a:endParaRPr dirty="0">
              <a:latin typeface="Arial" panose="020B0604020202020204" pitchFamily="34" charset="0"/>
              <a:cs typeface="Arial" panose="020B0604020202020204" pitchFamily="34" charset="0"/>
            </a:endParaRPr>
          </a:p>
        </p:txBody>
      </p:sp>
      <p:sp>
        <p:nvSpPr>
          <p:cNvPr id="193" name="Google Shape;193;p1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At work or at school – connection is typically some form of wireless Ethernet</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Laptop wirelessly communicates with a wireless router or wireless access point</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Wireless router is typically connected to a wired-network</a:t>
            </a:r>
            <a:endParaRPr>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A Laptop Computer and a Wireless Connection (2 of 2)</a:t>
            </a:r>
            <a:endParaRPr dirty="0">
              <a:latin typeface="Arial" panose="020B0604020202020204" pitchFamily="34" charset="0"/>
              <a:cs typeface="Arial" panose="020B0604020202020204" pitchFamily="34" charset="0"/>
            </a:endParaRPr>
          </a:p>
        </p:txBody>
      </p:sp>
      <p:pic>
        <p:nvPicPr>
          <p:cNvPr id="2" name="Picture 1" descr="An illustration depicts two LAN networks A and B connected by two switches 1 and 2. LAN A contains four computer systems that are connected to switch 1 and LAN B contains three computer systems and an internet service provider that are connected to switch 2. Switches 1 and 2 are interconnected.&#10;Figure 1-6 Two local area networks connected by switches">
            <a:extLst>
              <a:ext uri="{FF2B5EF4-FFF2-40B4-BE49-F238E27FC236}">
                <a16:creationId xmlns:a16="http://schemas.microsoft.com/office/drawing/2014/main" id="{E0403E28-9D05-4255-B430-688C1FB8C2C2}"/>
              </a:ext>
            </a:extLst>
          </p:cNvPr>
          <p:cNvPicPr>
            <a:picLocks noChangeAspect="1"/>
          </p:cNvPicPr>
          <p:nvPr/>
        </p:nvPicPr>
        <p:blipFill>
          <a:blip r:embed="rId4"/>
          <a:stretch>
            <a:fillRect/>
          </a:stretch>
        </p:blipFill>
        <p:spPr>
          <a:xfrm>
            <a:off x="2480758" y="1311150"/>
            <a:ext cx="7230483" cy="4773582"/>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Cellular Networks (1 of 2)</a:t>
            </a:r>
            <a:endParaRPr dirty="0">
              <a:latin typeface="Arial" panose="020B0604020202020204" pitchFamily="34" charset="0"/>
              <a:cs typeface="Arial" panose="020B0604020202020204" pitchFamily="34" charset="0"/>
            </a:endParaRPr>
          </a:p>
        </p:txBody>
      </p:sp>
      <p:sp>
        <p:nvSpPr>
          <p:cNvPr id="205" name="Google Shape;205;p1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Constantly expanding market across the U.S. and world</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5G services available in many areas and under many types of plans with an ever-evolving set of services continuing to appear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Latest generation includes higher speed data transfers (20 Gigabits per second for 5G)</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Cell Phone Networks (2 of 2)</a:t>
            </a:r>
            <a:endParaRPr dirty="0">
              <a:latin typeface="Arial" panose="020B0604020202020204" pitchFamily="34" charset="0"/>
              <a:cs typeface="Arial" panose="020B0604020202020204" pitchFamily="34" charset="0"/>
            </a:endParaRPr>
          </a:p>
        </p:txBody>
      </p:sp>
      <p:pic>
        <p:nvPicPr>
          <p:cNvPr id="2" name="Picture 1" descr="An illustration depicts a user using a smartphone that transmits and receives data. A smartphone from a user sends the signal to a wireless transmission tower. A land based telephone line near the tower is connected to the telephone company. &#10;Figure 1-7 An example of a user with a smartphone transmitting and &#10;receiving data">
            <a:extLst>
              <a:ext uri="{FF2B5EF4-FFF2-40B4-BE49-F238E27FC236}">
                <a16:creationId xmlns:a16="http://schemas.microsoft.com/office/drawing/2014/main" id="{F87AFBFE-AADB-4A62-8D2D-B4B595F192FB}"/>
              </a:ext>
            </a:extLst>
          </p:cNvPr>
          <p:cNvPicPr>
            <a:picLocks noChangeAspect="1"/>
          </p:cNvPicPr>
          <p:nvPr/>
        </p:nvPicPr>
        <p:blipFill>
          <a:blip r:embed="rId4"/>
          <a:stretch>
            <a:fillRect/>
          </a:stretch>
        </p:blipFill>
        <p:spPr>
          <a:xfrm>
            <a:off x="2797778" y="1250717"/>
            <a:ext cx="6596444" cy="5023539"/>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Industrial Sensor-based Systems (1 of 2)</a:t>
            </a:r>
            <a:endParaRPr dirty="0">
              <a:latin typeface="Arial" panose="020B0604020202020204" pitchFamily="34" charset="0"/>
              <a:cs typeface="Arial" panose="020B0604020202020204" pitchFamily="34" charset="0"/>
            </a:endParaRPr>
          </a:p>
        </p:txBody>
      </p:sp>
      <p:sp>
        <p:nvSpPr>
          <p:cNvPr id="217" name="Google Shape;217;p2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Not all local area networks deal with microcomputer workstations</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Often found in industrial and laboratory environments</a:t>
            </a:r>
            <a:endParaRPr>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Assembly lines and robotic controls depend heavily on sensor-based local area networks</a:t>
            </a:r>
            <a:endParaRPr>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Industrial Sensor-based Systems (2 of 2)</a:t>
            </a:r>
            <a:endParaRPr dirty="0">
              <a:latin typeface="Arial" panose="020B0604020202020204" pitchFamily="34" charset="0"/>
              <a:cs typeface="Arial" panose="020B0604020202020204" pitchFamily="34" charset="0"/>
            </a:endParaRPr>
          </a:p>
        </p:txBody>
      </p:sp>
      <p:pic>
        <p:nvPicPr>
          <p:cNvPr id="2" name="Picture 1" descr="A diagram depicts a typical sensor network in a manufacturing place. Two cars are placed at a distance from each other. The cars are considered as LAN and wiring is given to each LAN. Robot arm is fixed for each LAN. Sensors are placed between the LAN.&#10;Figure 1-8 Automobiles move down an assembly line and trigger &#10;a sensor">
            <a:extLst>
              <a:ext uri="{FF2B5EF4-FFF2-40B4-BE49-F238E27FC236}">
                <a16:creationId xmlns:a16="http://schemas.microsoft.com/office/drawing/2014/main" id="{5FD64167-ACA4-48AD-8DD1-568B0C6AFD2B}"/>
              </a:ext>
            </a:extLst>
          </p:cNvPr>
          <p:cNvPicPr>
            <a:picLocks noChangeAspect="1"/>
          </p:cNvPicPr>
          <p:nvPr/>
        </p:nvPicPr>
        <p:blipFill>
          <a:blip r:embed="rId4"/>
          <a:stretch>
            <a:fillRect/>
          </a:stretch>
        </p:blipFill>
        <p:spPr>
          <a:xfrm>
            <a:off x="2358828" y="1245169"/>
            <a:ext cx="7474344" cy="4797968"/>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Mainframe Systems (1 of 2)</a:t>
            </a:r>
            <a:endParaRPr dirty="0">
              <a:latin typeface="Arial" panose="020B0604020202020204" pitchFamily="34" charset="0"/>
              <a:cs typeface="Arial" panose="020B0604020202020204" pitchFamily="34" charset="0"/>
            </a:endParaRPr>
          </a:p>
        </p:txBody>
      </p:sp>
      <p:sp>
        <p:nvSpPr>
          <p:cNvPr id="229" name="Google Shape;229;p2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Predominant form in the 1960s and 1970s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Still used in many types of businesses for data entry and data retrieval</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Few dumb terminals left today – most are microcomputers with terminal emulation card, a web browser and web interface, Telnet software, or a thin client</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Mainframe Systems (2 of 2)</a:t>
            </a:r>
            <a:endParaRPr dirty="0">
              <a:latin typeface="Arial" panose="020B0604020202020204" pitchFamily="34" charset="0"/>
              <a:cs typeface="Arial" panose="020B0604020202020204" pitchFamily="34" charset="0"/>
            </a:endParaRPr>
          </a:p>
        </p:txBody>
      </p:sp>
      <p:pic>
        <p:nvPicPr>
          <p:cNvPr id="2" name="Picture 1" descr="An illustration depicts an ATM terminal operated by users. A computer terminal of ATM and a cable connecting to the mainframe are displayed.&#10;Figure 1-9 Using an ATM terminal (or thin-client workstation) to perform a financial transaction">
            <a:extLst>
              <a:ext uri="{FF2B5EF4-FFF2-40B4-BE49-F238E27FC236}">
                <a16:creationId xmlns:a16="http://schemas.microsoft.com/office/drawing/2014/main" id="{1FA3D054-A64B-4AF9-A7D0-7D7FC428CE5F}"/>
              </a:ext>
            </a:extLst>
          </p:cNvPr>
          <p:cNvPicPr>
            <a:picLocks noChangeAspect="1"/>
          </p:cNvPicPr>
          <p:nvPr/>
        </p:nvPicPr>
        <p:blipFill>
          <a:blip r:embed="rId4"/>
          <a:stretch>
            <a:fillRect/>
          </a:stretch>
        </p:blipFill>
        <p:spPr>
          <a:xfrm>
            <a:off x="2614882" y="1227589"/>
            <a:ext cx="6962235" cy="500525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Satellite and Microwave Networks (1 of 2)</a:t>
            </a:r>
            <a:endParaRPr dirty="0">
              <a:latin typeface="Arial" panose="020B0604020202020204" pitchFamily="34" charset="0"/>
              <a:cs typeface="Arial" panose="020B0604020202020204" pitchFamily="34" charset="0"/>
            </a:endParaRPr>
          </a:p>
        </p:txBody>
      </p:sp>
      <p:sp>
        <p:nvSpPr>
          <p:cNvPr id="241" name="Google Shape;241;p2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Typically long distance wireless connections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Many types of applications including long distance telephone, television, radio, long-haul data transfers, and wireless data services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Typically expensive services but many companies offer competitive services and rates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Newer shorter-distance services such as Wi-Max</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Satellite and Microwave Networks (2 of 2)</a:t>
            </a:r>
            <a:endParaRPr dirty="0">
              <a:latin typeface="Arial" panose="020B0604020202020204" pitchFamily="34" charset="0"/>
              <a:cs typeface="Arial" panose="020B0604020202020204" pitchFamily="34" charset="0"/>
            </a:endParaRPr>
          </a:p>
        </p:txBody>
      </p:sp>
      <p:pic>
        <p:nvPicPr>
          <p:cNvPr id="2" name="Picture 1" descr="A diagram depicts the typical satellite system. A television company broadcasts services by sending signals through a satellite, to satellite dishes in homes, business, and individual home.&#10;Figure 1-10 Example of a television company using a satellite system &#10;to broadcast television services into homes and businesses">
            <a:extLst>
              <a:ext uri="{FF2B5EF4-FFF2-40B4-BE49-F238E27FC236}">
                <a16:creationId xmlns:a16="http://schemas.microsoft.com/office/drawing/2014/main" id="{FB45A21C-EAE1-4B84-9427-09F516DCA979}"/>
              </a:ext>
            </a:extLst>
          </p:cNvPr>
          <p:cNvPicPr>
            <a:picLocks noChangeAspect="1"/>
          </p:cNvPicPr>
          <p:nvPr/>
        </p:nvPicPr>
        <p:blipFill>
          <a:blip r:embed="rId4"/>
          <a:stretch>
            <a:fillRect/>
          </a:stretch>
        </p:blipFill>
        <p:spPr>
          <a:xfrm>
            <a:off x="2779488" y="1246233"/>
            <a:ext cx="6633023" cy="5054022"/>
          </a:xfrm>
          <a:prstGeom prst="rect">
            <a:avLst/>
          </a:prstGeom>
        </p:spPr>
      </p:pic>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115732a0e29_1_13"/>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Networks (1 of 2)</a:t>
            </a:r>
            <a:endParaRPr dirty="0">
              <a:latin typeface="Arial" panose="020B0604020202020204" pitchFamily="34" charset="0"/>
              <a:cs typeface="Arial" panose="020B0604020202020204" pitchFamily="34" charset="0"/>
            </a:endParaRPr>
          </a:p>
        </p:txBody>
      </p:sp>
      <p:sp>
        <p:nvSpPr>
          <p:cNvPr id="253" name="Google Shape;253;g115732a0e29_1_13"/>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Networks that connect resources that reside “in the cloud”</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Based on the concept of virtualization of services (virtualization software - hypervisor)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Typically creating virtual machines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Public clouds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Private clouds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Hybrid clouds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g115732a0e29_1_1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Networks (2 of 2)</a:t>
            </a:r>
            <a:endParaRPr dirty="0">
              <a:latin typeface="Arial" panose="020B0604020202020204" pitchFamily="34" charset="0"/>
              <a:cs typeface="Arial" panose="020B0604020202020204" pitchFamily="34" charset="0"/>
            </a:endParaRPr>
          </a:p>
        </p:txBody>
      </p:sp>
      <p:pic>
        <p:nvPicPr>
          <p:cNvPr id="2" name="Picture 1" descr="&#10;A screenshot displays a hypervisor window on a windows computer desktop. The Hypervisor displays the Oracle V M Virtual Box Manager in which the Ubuntu Linux Virtual Machine is running. Another window in the desktop displays the Ubuntu Linux V M (Running) – Oracle V M Virtual box. This represents the virtual machine running a different O S.&#10;Figure 1-11 A Linux VM running in a hypervisor on a Windows computer">
            <a:extLst>
              <a:ext uri="{FF2B5EF4-FFF2-40B4-BE49-F238E27FC236}">
                <a16:creationId xmlns:a16="http://schemas.microsoft.com/office/drawing/2014/main" id="{847628BA-49A2-4F64-9CE4-1E9E09039B31}"/>
              </a:ext>
            </a:extLst>
          </p:cNvPr>
          <p:cNvPicPr>
            <a:picLocks noChangeAspect="1"/>
          </p:cNvPicPr>
          <p:nvPr/>
        </p:nvPicPr>
        <p:blipFill>
          <a:blip r:embed="rId4"/>
          <a:stretch>
            <a:fillRect/>
          </a:stretch>
        </p:blipFill>
        <p:spPr>
          <a:xfrm>
            <a:off x="1395576" y="1176494"/>
            <a:ext cx="9400847" cy="4913802"/>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Network Architectures</a:t>
            </a:r>
            <a:endParaRPr dirty="0">
              <a:latin typeface="Arial" panose="020B0604020202020204" pitchFamily="34" charset="0"/>
              <a:cs typeface="Arial" panose="020B0604020202020204" pitchFamily="34" charset="0"/>
            </a:endParaRPr>
          </a:p>
        </p:txBody>
      </p:sp>
      <p:sp>
        <p:nvSpPr>
          <p:cNvPr id="265" name="Google Shape;265;p27"/>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 reference model that describes the layers of hardware and  software necessary to transmit data between two points or for  multiple devices/applications to interoperate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Reference models are necessary to increase likelihood that different components from different manufacturers will converse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Two models to learn: TCP/IP protocol suite and OSI model</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(1 of 4)</a:t>
            </a:r>
            <a:endParaRPr dirty="0">
              <a:latin typeface="Arial" panose="020B0604020202020204" pitchFamily="34" charset="0"/>
              <a:cs typeface="Arial" panose="020B0604020202020204" pitchFamily="34" charset="0"/>
            </a:endParaRPr>
          </a:p>
        </p:txBody>
      </p:sp>
      <p:sp>
        <p:nvSpPr>
          <p:cNvPr id="271" name="Google Shape;271;p28"/>
          <p:cNvSpPr txBox="1">
            <a:spLocks noGrp="1"/>
          </p:cNvSpPr>
          <p:nvPr>
            <p:ph type="body" idx="1"/>
          </p:nvPr>
        </p:nvSpPr>
        <p:spPr>
          <a:xfrm>
            <a:off x="743576" y="4714874"/>
            <a:ext cx="11005971" cy="447061"/>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400"/>
              <a:buNone/>
            </a:pPr>
            <a:r>
              <a:rPr lang="en-US" sz="2400">
                <a:latin typeface="Arial" panose="020B0604020202020204" pitchFamily="34" charset="0"/>
                <a:cs typeface="Arial" panose="020B0604020202020204" pitchFamily="34" charset="0"/>
              </a:rPr>
              <a:t>Note: Some authors show only four layers, combining the two bottom layers.</a:t>
            </a:r>
            <a:endParaRPr>
              <a:latin typeface="Arial" panose="020B0604020202020204" pitchFamily="34" charset="0"/>
              <a:cs typeface="Arial" panose="020B0604020202020204" pitchFamily="34" charset="0"/>
            </a:endParaRPr>
          </a:p>
        </p:txBody>
      </p:sp>
      <p:pic>
        <p:nvPicPr>
          <p:cNvPr id="2" name="Picture 1" descr="An illustration depicts five layers of T C P and I P protocol suite. The layers from top to bottom are as follows: Application, Transport, Network, Data link, and Physical.&#10;Figure 1-12 The five layers of the TCP/IP protocol suite">
            <a:extLst>
              <a:ext uri="{FF2B5EF4-FFF2-40B4-BE49-F238E27FC236}">
                <a16:creationId xmlns:a16="http://schemas.microsoft.com/office/drawing/2014/main" id="{B500A21A-6073-4CC8-8DE5-DAE2F239BAA4}"/>
              </a:ext>
            </a:extLst>
          </p:cNvPr>
          <p:cNvPicPr>
            <a:picLocks noChangeAspect="1"/>
          </p:cNvPicPr>
          <p:nvPr/>
        </p:nvPicPr>
        <p:blipFill>
          <a:blip r:embed="rId4"/>
          <a:stretch>
            <a:fillRect/>
          </a:stretch>
        </p:blipFill>
        <p:spPr>
          <a:xfrm>
            <a:off x="2822164" y="1190362"/>
            <a:ext cx="6547671" cy="3371380"/>
          </a:xfrm>
          <a:prstGeom prst="rect">
            <a:avLst/>
          </a:prstGeom>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(2 of 4)</a:t>
            </a:r>
            <a:endParaRPr dirty="0">
              <a:latin typeface="Arial" panose="020B0604020202020204" pitchFamily="34" charset="0"/>
              <a:cs typeface="Arial" panose="020B0604020202020204" pitchFamily="34" charset="0"/>
            </a:endParaRPr>
          </a:p>
        </p:txBody>
      </p:sp>
      <p:sp>
        <p:nvSpPr>
          <p:cNvPr id="278" name="Google Shape;278;p29"/>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Application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Where the application using the network resides</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Common network applications include web browsing, email, file transfers, and remote logins</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Transport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Performs a series of miscellaneous functions (at the </a:t>
            </a:r>
            <a:r>
              <a:rPr lang="en-US" i="1" dirty="0">
                <a:latin typeface="Arial" panose="020B0604020202020204" pitchFamily="34" charset="0"/>
                <a:cs typeface="Arial" panose="020B0604020202020204" pitchFamily="34" charset="0"/>
              </a:rPr>
              <a:t>end-points</a:t>
            </a:r>
            <a:r>
              <a:rPr lang="en-US" dirty="0">
                <a:latin typeface="Arial" panose="020B0604020202020204" pitchFamily="34" charset="0"/>
                <a:cs typeface="Arial" panose="020B0604020202020204" pitchFamily="34" charset="0"/>
              </a:rPr>
              <a:t> of the connection) necessary for presenting the data package properly to the sender or receiver</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(3 of 4)</a:t>
            </a:r>
            <a:endParaRPr dirty="0">
              <a:latin typeface="Arial" panose="020B0604020202020204" pitchFamily="34" charset="0"/>
              <a:cs typeface="Arial" panose="020B0604020202020204" pitchFamily="34" charset="0"/>
            </a:endParaRPr>
          </a:p>
        </p:txBody>
      </p:sp>
      <p:sp>
        <p:nvSpPr>
          <p:cNvPr id="284" name="Google Shape;284;p3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 (Internet or internetwork or IP)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Responsible for creating, maintaining, and ending network connections</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Transfers data packet from node to node (e.g., router to router) within network</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 access (data link)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Responsible for taking the data and transforming it into a frame with header, control and address information, and error detection code, then transmitting it between the workstation and the network</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Physical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Handles the transmission of bits over a communications channel</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Includes voltage levels, connectors, media choice, modulation techniques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(4 of 4)</a:t>
            </a:r>
            <a:endParaRPr dirty="0">
              <a:latin typeface="Arial" panose="020B0604020202020204" pitchFamily="34" charset="0"/>
              <a:cs typeface="Arial" panose="020B0604020202020204" pitchFamily="34" charset="0"/>
            </a:endParaRPr>
          </a:p>
        </p:txBody>
      </p:sp>
      <p:pic>
        <p:nvPicPr>
          <p:cNvPr id="3" name="Picture 2" descr="An illustration depicts different workers doing their job. A user sends the data to an application worker who sends the message to the transport worker. The transport worker sends the message with transport information to the Network worker. The network worker sends the message with transport information and network address to the data link worker. The data link worker sends the message with transport information, network address, and error checking data to the physical worker. The physical worker finally creates a binary output.&#10;Figure 1-13 Several kinds of workers perform their job duties at each layer in the model">
            <a:extLst>
              <a:ext uri="{FF2B5EF4-FFF2-40B4-BE49-F238E27FC236}">
                <a16:creationId xmlns:a16="http://schemas.microsoft.com/office/drawing/2014/main" id="{AAA26040-FF56-4519-9BEC-FCF5226FEF83}"/>
              </a:ext>
            </a:extLst>
          </p:cNvPr>
          <p:cNvPicPr>
            <a:picLocks noChangeAspect="1"/>
          </p:cNvPicPr>
          <p:nvPr/>
        </p:nvPicPr>
        <p:blipFill>
          <a:blip r:embed="rId4"/>
          <a:stretch>
            <a:fillRect/>
          </a:stretch>
        </p:blipFill>
        <p:spPr>
          <a:xfrm>
            <a:off x="1316321" y="1244815"/>
            <a:ext cx="9559357" cy="4712616"/>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Open Systems Interconnection (OSI) Model (1 of 4)</a:t>
            </a:r>
            <a:endParaRPr dirty="0">
              <a:latin typeface="Arial" panose="020B0604020202020204" pitchFamily="34" charset="0"/>
              <a:cs typeface="Arial" panose="020B0604020202020204" pitchFamily="34" charset="0"/>
            </a:endParaRPr>
          </a:p>
        </p:txBody>
      </p:sp>
      <p:pic>
        <p:nvPicPr>
          <p:cNvPr id="2" name="Picture 1" descr="An illustration depicts O S I model with seven layers and T C P or I P protocol suite with five layers. The seven layers of O S I model from top to bottom are as follows: Application, Presentation, Session, Transport, Network, Data Link, and Physical. The five layers of T C P or I P protocol suite from top to bottom are as follows: Application, Transport, Network, Data link, and Physical.&#10;Figure 1-14 The seven layers of the OSI model compared to the five layers of the TCP/IP protocol suite">
            <a:extLst>
              <a:ext uri="{FF2B5EF4-FFF2-40B4-BE49-F238E27FC236}">
                <a16:creationId xmlns:a16="http://schemas.microsoft.com/office/drawing/2014/main" id="{530C6594-8B9F-4D42-8320-205A91163C76}"/>
              </a:ext>
            </a:extLst>
          </p:cNvPr>
          <p:cNvPicPr>
            <a:picLocks noChangeAspect="1"/>
          </p:cNvPicPr>
          <p:nvPr/>
        </p:nvPicPr>
        <p:blipFill>
          <a:blip r:embed="rId4"/>
          <a:stretch>
            <a:fillRect/>
          </a:stretch>
        </p:blipFill>
        <p:spPr>
          <a:xfrm>
            <a:off x="2492951" y="1469660"/>
            <a:ext cx="7206097" cy="4456562"/>
          </a:xfrm>
          <a:prstGeom prst="rect">
            <a:avLst/>
          </a:prstGeom>
        </p:spPr>
      </p:pic>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Open Systems Interconnection (OSI) Model (2 of 4)</a:t>
            </a:r>
            <a:endParaRPr dirty="0">
              <a:latin typeface="Arial" panose="020B0604020202020204" pitchFamily="34" charset="0"/>
              <a:cs typeface="Arial" panose="020B0604020202020204" pitchFamily="34" charset="0"/>
            </a:endParaRPr>
          </a:p>
        </p:txBody>
      </p:sp>
      <p:sp>
        <p:nvSpPr>
          <p:cNvPr id="302" name="Google Shape;302;p3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Application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Equivalent to TCP/IP’s application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Presentation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Responsible for “final presentation” of data (code conversions, compression, encryption)</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Session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Responsible for establishing “sessions” between users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4"/>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Open Systems Interconnection (OSI) Model (3 of 4)</a:t>
            </a:r>
            <a:endParaRPr dirty="0">
              <a:latin typeface="Arial" panose="020B0604020202020204" pitchFamily="34" charset="0"/>
              <a:cs typeface="Arial" panose="020B0604020202020204" pitchFamily="34" charset="0"/>
            </a:endParaRPr>
          </a:p>
        </p:txBody>
      </p:sp>
      <p:sp>
        <p:nvSpPr>
          <p:cNvPr id="308" name="Google Shape;308;p34"/>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Transport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Equivalent to TCP/IP’s transport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Network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Equivalent to TCP/IP’s network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Data link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Responsible for taking the data and transforming it into a frame with header, control and address information, and error detection code</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5"/>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Open Systems Interconnection (OSI) Model (4 of 4)</a:t>
            </a:r>
            <a:endParaRPr dirty="0">
              <a:latin typeface="Arial" panose="020B0604020202020204" pitchFamily="34" charset="0"/>
              <a:cs typeface="Arial" panose="020B0604020202020204" pitchFamily="34" charset="0"/>
            </a:endParaRPr>
          </a:p>
        </p:txBody>
      </p:sp>
      <p:sp>
        <p:nvSpPr>
          <p:cNvPr id="314" name="Google Shape;314;p35"/>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Physical layer </a:t>
            </a:r>
            <a:endParaRPr>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a:latin typeface="Arial" panose="020B0604020202020204" pitchFamily="34" charset="0"/>
                <a:cs typeface="Arial" panose="020B0604020202020204" pitchFamily="34" charset="0"/>
              </a:rPr>
              <a:t>Handles the transmission of bits over a communications channel</a:t>
            </a:r>
            <a:endParaRPr>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a:latin typeface="Arial" panose="020B0604020202020204" pitchFamily="34" charset="0"/>
                <a:cs typeface="Arial" panose="020B0604020202020204" pitchFamily="34" charset="0"/>
              </a:rPr>
              <a:t>Includes voltage levels, connectors, media choice, modulation techniques</a:t>
            </a:r>
            <a:endParaRPr>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6"/>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Logical and Physical Connections (1 of 3)</a:t>
            </a:r>
            <a:endParaRPr dirty="0">
              <a:latin typeface="Arial" panose="020B0604020202020204" pitchFamily="34" charset="0"/>
              <a:cs typeface="Arial" panose="020B0604020202020204" pitchFamily="34" charset="0"/>
            </a:endParaRPr>
          </a:p>
        </p:txBody>
      </p:sp>
      <p:sp>
        <p:nvSpPr>
          <p:cNvPr id="320" name="Google Shape;320;p36"/>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 logical connection is one that exists only in the software, while a physical connection is one that exists in the hardware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Note that in a network architecture, only the lowest layer contains the physical connection, while all higher layers contain logical connections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7"/>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Logical and Physical Connections (2 of 3)</a:t>
            </a:r>
            <a:endParaRPr dirty="0">
              <a:latin typeface="Arial" panose="020B0604020202020204" pitchFamily="34" charset="0"/>
              <a:cs typeface="Arial" panose="020B0604020202020204" pitchFamily="34" charset="0"/>
            </a:endParaRPr>
          </a:p>
        </p:txBody>
      </p:sp>
      <p:pic>
        <p:nvPicPr>
          <p:cNvPr id="2" name="Picture 1" descr="An illustration depicts logical and physical connections between the sender and the receiver using T C P or I P protocol suite. The first four layers in the sender and the receiver namely, application, transport, network, and data link have logical connections and the layer named physical has a physical connection.&#10;Figure 1-15 Sender and receiver communicating using the TCP/IP protocol suite">
            <a:extLst>
              <a:ext uri="{FF2B5EF4-FFF2-40B4-BE49-F238E27FC236}">
                <a16:creationId xmlns:a16="http://schemas.microsoft.com/office/drawing/2014/main" id="{BB6F759D-58C8-4429-83B2-AE19440FECE5}"/>
              </a:ext>
            </a:extLst>
          </p:cNvPr>
          <p:cNvPicPr>
            <a:picLocks noChangeAspect="1"/>
          </p:cNvPicPr>
          <p:nvPr/>
        </p:nvPicPr>
        <p:blipFill>
          <a:blip r:embed="rId4"/>
          <a:stretch>
            <a:fillRect/>
          </a:stretch>
        </p:blipFill>
        <p:spPr>
          <a:xfrm>
            <a:off x="2340538" y="1427516"/>
            <a:ext cx="7510923" cy="4669941"/>
          </a:xfrm>
          <a:prstGeom prst="rect">
            <a:avLst/>
          </a:prstGeom>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8"/>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Logical and Physical Connections (3 of 3)</a:t>
            </a:r>
            <a:endParaRPr dirty="0">
              <a:latin typeface="Arial" panose="020B0604020202020204" pitchFamily="34" charset="0"/>
              <a:cs typeface="Arial" panose="020B0604020202020204" pitchFamily="34" charset="0"/>
            </a:endParaRPr>
          </a:p>
        </p:txBody>
      </p:sp>
      <p:pic>
        <p:nvPicPr>
          <p:cNvPr id="2" name="Picture 1" descr="An illustration depicts the flow of data through layers of people and technology. The messages are sent back and forth during negotiation. Home buyer to real estate agent and vice versa; then from real estate agent to smartphone and vice versa; from smartphone to smartphone; then again from smartphone to real estate agent and vice versa; then from real estate agent to home owner and vice versa.&#10;Figure 1-16 Flow of data through the layers of bureaucracy">
            <a:extLst>
              <a:ext uri="{FF2B5EF4-FFF2-40B4-BE49-F238E27FC236}">
                <a16:creationId xmlns:a16="http://schemas.microsoft.com/office/drawing/2014/main" id="{847E2716-B7A3-4B4E-A5FD-4956B166DD5E}"/>
              </a:ext>
            </a:extLst>
          </p:cNvPr>
          <p:cNvPicPr>
            <a:picLocks noChangeAspect="1"/>
          </p:cNvPicPr>
          <p:nvPr/>
        </p:nvPicPr>
        <p:blipFill>
          <a:blip r:embed="rId4"/>
          <a:stretch>
            <a:fillRect/>
          </a:stretch>
        </p:blipFill>
        <p:spPr>
          <a:xfrm>
            <a:off x="2614882" y="1371938"/>
            <a:ext cx="6962235" cy="4608975"/>
          </a:xfrm>
          <a:prstGeom prst="rect">
            <a:avLst/>
          </a:prstGeom>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9"/>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in Action (1 of 2)</a:t>
            </a:r>
            <a:endParaRPr dirty="0">
              <a:latin typeface="Arial" panose="020B0604020202020204" pitchFamily="34" charset="0"/>
              <a:cs typeface="Arial" panose="020B0604020202020204" pitchFamily="34" charset="0"/>
            </a:endParaRPr>
          </a:p>
        </p:txBody>
      </p:sp>
      <p:pic>
        <p:nvPicPr>
          <p:cNvPr id="2" name="Picture 1" descr="The path of a web page request by a user from a personal computer. User Web browser application requests, “Get web page.” It is sent to the transport layer. The layer is divided into two which contains T C P header and the Get web page. The T C P header is highlighted. The transport layer leads to the network layer. The network layer contains three divisions. I P header, T C P header, and the Get web page. The I P header is highlighted. The network layer leads to the data link layer. The data link layer contains five divisions. Data link header, I P header, T C P header, Get web page, and data link trailer. The data link header and data link trailer are highlighted. The local LAN connects the data link layer to another data link layer. The second data link layer is not highlighted with any divisions. The data link layer without any highlights is sent to the network layer. The network layer contains three divisions. I P header, T C P header, and Get web page. All three divisions are highlighted. The network layer again leads to another data link layer that contains four layers. Data link header, I P header, T C P header and Get web page. Data link header division is highlighted. This data link layer with four divisions and highlighted with data link header is given to WAN. The data link layer with no highlights and the network layer connected to it and the data link layer with four divisions are entirely connected to the local router.&#10;Figure 1-17 Path of a web page request as it flows from browser to Internet web server and back - Part 1 of 2">
            <a:extLst>
              <a:ext uri="{FF2B5EF4-FFF2-40B4-BE49-F238E27FC236}">
                <a16:creationId xmlns:a16="http://schemas.microsoft.com/office/drawing/2014/main" id="{A62B6CA7-289E-4FA3-94AE-F365943868A8}"/>
              </a:ext>
            </a:extLst>
          </p:cNvPr>
          <p:cNvPicPr>
            <a:picLocks noChangeAspect="1"/>
          </p:cNvPicPr>
          <p:nvPr/>
        </p:nvPicPr>
        <p:blipFill>
          <a:blip r:embed="rId4"/>
          <a:stretch>
            <a:fillRect/>
          </a:stretch>
        </p:blipFill>
        <p:spPr>
          <a:xfrm>
            <a:off x="154933" y="1188526"/>
            <a:ext cx="11882134" cy="4480948"/>
          </a:xfrm>
          <a:prstGeom prst="rect">
            <a:avLst/>
          </a:prstGeom>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g115732a0e29_1_32" descr="The TCP/IP Protocol Suite in Action (2 of 2)"/>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The TCP/IP Protocol Suite in Action (2 of 2)</a:t>
            </a:r>
            <a:endParaRPr dirty="0">
              <a:latin typeface="Arial" panose="020B0604020202020204" pitchFamily="34" charset="0"/>
              <a:cs typeface="Arial" panose="020B0604020202020204" pitchFamily="34" charset="0"/>
            </a:endParaRPr>
          </a:p>
        </p:txBody>
      </p:sp>
      <p:pic>
        <p:nvPicPr>
          <p:cNvPr id="2" name="Picture 1" descr="The path of a web page request. Remote router contains two data link layers and a network layer as follows. The first data link layer contains four divisions. Data link header, I P header, T C P header, and Get web page. It has no highlights. This data link layer is connected to a network layer with three divisions. IP header, T C P header, and Get web page and all the three are highlighted. The network layer then leads to data link layer with five divisions. Data link header, I P header, T C P header, Get web page, and Data link trailer. Data link header and Data link trailer are highlighted. This second data link layer is connected with remote LAN to another data link layer. The data link layer connected with remote LAN has five divisions. Data link header, I P header, T C P header, Get web page, and data link trailer. This data link layer has no highlights and leads to a network layer with three divisions. The network layer with three divisions, IP layer, T C P layer, and Get web page has no highlights. This network layer leads to the transport layer with two divisions. T C P header and Get web page. The transport layer leads to Get web page which is in the web server application. This finally leads to the web page.&#10;Figure 1-17 Path of a web page request as it flows from browser to Internet web server and back - Part 2 of 2">
            <a:extLst>
              <a:ext uri="{FF2B5EF4-FFF2-40B4-BE49-F238E27FC236}">
                <a16:creationId xmlns:a16="http://schemas.microsoft.com/office/drawing/2014/main" id="{3095A061-9162-4F10-B907-E806AE4F568F}"/>
              </a:ext>
            </a:extLst>
          </p:cNvPr>
          <p:cNvPicPr>
            <a:picLocks noChangeAspect="1"/>
          </p:cNvPicPr>
          <p:nvPr/>
        </p:nvPicPr>
        <p:blipFill>
          <a:blip r:embed="rId4"/>
          <a:stretch>
            <a:fillRect/>
          </a:stretch>
        </p:blipFill>
        <p:spPr>
          <a:xfrm>
            <a:off x="1041424" y="1277661"/>
            <a:ext cx="10109153" cy="4810715"/>
          </a:xfrm>
          <a:prstGeom prst="rect">
            <a:avLst/>
          </a:prstGeom>
        </p:spPr>
      </p:pic>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115732a0e29_1_3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(1 of 6)</a:t>
            </a:r>
            <a:endParaRPr dirty="0">
              <a:latin typeface="Arial" panose="020B0604020202020204" pitchFamily="34" charset="0"/>
              <a:cs typeface="Arial" panose="020B0604020202020204" pitchFamily="34" charset="0"/>
            </a:endParaRPr>
          </a:p>
        </p:txBody>
      </p:sp>
      <p:sp>
        <p:nvSpPr>
          <p:cNvPr id="350" name="Google Shape;350;g115732a0e29_1_38"/>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Cloud computing relies on the abstraction of compute, network, security, and storage functions, instead of underlying over physical hardware</a:t>
            </a:r>
            <a:endParaRPr>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Clr>
                <a:srgbClr val="004A78"/>
              </a:buClr>
              <a:buSzPts val="2600"/>
              <a:buFont typeface="Arial"/>
              <a:buChar char="•"/>
            </a:pPr>
            <a:r>
              <a:rPr lang="en-US">
                <a:latin typeface="Arial" panose="020B0604020202020204" pitchFamily="34" charset="0"/>
                <a:cs typeface="Arial" panose="020B0604020202020204" pitchFamily="34" charset="0"/>
              </a:rPr>
              <a:t>It gives network admins and other IT professionals almost unlimited resources at affordable prices</a:t>
            </a:r>
            <a:endParaRPr>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115732a0e29_1_44"/>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(2 of 6)</a:t>
            </a:r>
            <a:endParaRPr dirty="0">
              <a:latin typeface="Arial" panose="020B0604020202020204" pitchFamily="34" charset="0"/>
              <a:cs typeface="Arial" panose="020B0604020202020204" pitchFamily="34" charset="0"/>
            </a:endParaRPr>
          </a:p>
        </p:txBody>
      </p:sp>
      <p:sp>
        <p:nvSpPr>
          <p:cNvPr id="356" name="Google Shape;356;g115732a0e29_1_44"/>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2400"/>
              </a:spcAft>
              <a:buNone/>
            </a:pPr>
            <a:r>
              <a:rPr lang="en-US" dirty="0">
                <a:latin typeface="Arial" panose="020B0604020202020204" pitchFamily="34" charset="0"/>
                <a:cs typeface="Arial" panose="020B0604020202020204" pitchFamily="34" charset="0"/>
              </a:rPr>
              <a:t>Characteristics:</a:t>
            </a:r>
          </a:p>
          <a:p>
            <a:pPr indent="-457200">
              <a:spcBef>
                <a:spcPts val="0"/>
              </a:spcBef>
            </a:pPr>
            <a:r>
              <a:rPr lang="en-US" dirty="0">
                <a:latin typeface="Arial" panose="020B0604020202020204" pitchFamily="34" charset="0"/>
                <a:cs typeface="Arial" panose="020B0604020202020204" pitchFamily="34" charset="0"/>
              </a:rPr>
              <a:t>Scalability: demands can be adjusted over time</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Elasticity: quick increase and decrease in resources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Pay-as-you-go: charged based on the allocated/requested resources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Self-service: change of resources can be controlled by the user automatically</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Broad network access: resources can be accessed from any device connected to the Internet</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Availability: resources can withstand losses or outages minimizing disruption of service</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115732a0e29_1_50"/>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(3 of 6)</a:t>
            </a:r>
            <a:endParaRPr dirty="0">
              <a:latin typeface="Arial" panose="020B0604020202020204" pitchFamily="34" charset="0"/>
              <a:cs typeface="Arial" panose="020B0604020202020204" pitchFamily="34" charset="0"/>
            </a:endParaRPr>
          </a:p>
        </p:txBody>
      </p:sp>
      <p:sp>
        <p:nvSpPr>
          <p:cNvPr id="362" name="Google Shape;362;g115732a0e29_1_50"/>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2400"/>
              </a:spcAft>
              <a:buNone/>
            </a:pPr>
            <a:r>
              <a:rPr lang="en-US" dirty="0">
                <a:latin typeface="Arial" panose="020B0604020202020204" pitchFamily="34" charset="0"/>
                <a:cs typeface="Arial" panose="020B0604020202020204" pitchFamily="34" charset="0"/>
              </a:rPr>
              <a:t>Models of Service:</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SaaS (Software-as-a-Service) to provide applications over cloud resources</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PaaS (Platform-as-a-Service) to provide basic configuration options</a:t>
            </a:r>
            <a:endParaRPr dirty="0">
              <a:latin typeface="Arial" panose="020B0604020202020204" pitchFamily="34" charset="0"/>
              <a:cs typeface="Arial" panose="020B0604020202020204" pitchFamily="34" charset="0"/>
            </a:endParaRPr>
          </a:p>
          <a:p>
            <a:pPr marL="457200" lvl="0" indent="-457200" algn="l" rtl="0">
              <a:lnSpc>
                <a:spcPct val="100000"/>
              </a:lnSpc>
              <a:spcBef>
                <a:spcPts val="0"/>
              </a:spcBef>
              <a:spcAft>
                <a:spcPts val="0"/>
              </a:spcAft>
              <a:buSzPts val="2600"/>
              <a:buChar char="•"/>
            </a:pPr>
            <a:r>
              <a:rPr lang="en-US" dirty="0">
                <a:latin typeface="Arial" panose="020B0604020202020204" pitchFamily="34" charset="0"/>
                <a:cs typeface="Arial" panose="020B0604020202020204" pitchFamily="34" charset="0"/>
              </a:rPr>
              <a:t>IaaS (Infrastructure-as-a-Service) to provide deep configuration options to replicate as close as possible the availability of a real data center</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115732a0e29_1_55"/>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(4 of 6)</a:t>
            </a:r>
            <a:endParaRPr dirty="0">
              <a:latin typeface="Arial" panose="020B0604020202020204" pitchFamily="34" charset="0"/>
              <a:cs typeface="Arial" panose="020B0604020202020204" pitchFamily="34" charset="0"/>
            </a:endParaRPr>
          </a:p>
        </p:txBody>
      </p:sp>
      <p:pic>
        <p:nvPicPr>
          <p:cNvPr id="2" name="Picture 1" descr="An illustration depicts service model variations. An inverted triangle lists the following from top to bottom. S a a S, P a a S, and I a a S. S a a S is immediately accessible to the users. P a a S is accessible to the application developers. I a a S is accessible to Network architects. I a a S is required for both P a a S and S a a S. P a a S is required for S a a S.&#10;Figure 1-20 SaaS services are more immediately accessible to a wide market of users than other categories of &#10;cloud services">
            <a:extLst>
              <a:ext uri="{FF2B5EF4-FFF2-40B4-BE49-F238E27FC236}">
                <a16:creationId xmlns:a16="http://schemas.microsoft.com/office/drawing/2014/main" id="{3C9C878E-33D0-4EC3-999D-C9F62B62D753}"/>
              </a:ext>
            </a:extLst>
          </p:cNvPr>
          <p:cNvPicPr>
            <a:picLocks noChangeAspect="1"/>
          </p:cNvPicPr>
          <p:nvPr/>
        </p:nvPicPr>
        <p:blipFill>
          <a:blip r:embed="rId4"/>
          <a:stretch>
            <a:fillRect/>
          </a:stretch>
        </p:blipFill>
        <p:spPr>
          <a:xfrm>
            <a:off x="2474662" y="1263458"/>
            <a:ext cx="7242676" cy="4761389"/>
          </a:xfrm>
          <a:prstGeom prst="rect">
            <a:avLst/>
          </a:prstGeom>
        </p:spPr>
      </p:pic>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15732a0e29_1_62"/>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(5 of 6)</a:t>
            </a:r>
            <a:endParaRPr dirty="0">
              <a:latin typeface="Arial" panose="020B0604020202020204" pitchFamily="34" charset="0"/>
              <a:cs typeface="Arial" panose="020B0604020202020204" pitchFamily="34" charset="0"/>
            </a:endParaRPr>
          </a:p>
        </p:txBody>
      </p:sp>
      <p:pic>
        <p:nvPicPr>
          <p:cNvPr id="2" name="Picture 1" descr="An illustration depicts different levels of technical skill for each service model. A triangle lists the technical skills from top to bottom as follows. S a a S, P a a S, and I a a S. S a a S is immediately accessible through Email, social media, online games, and C R M. P a a S is accessible through web-hosted database and web servers. I a a S is accessible through cloud storage and web hosted V M.&#10;Figure 1-21 IaaS customers must understand more about configuring their cloud infrastructure—and they have &#10;more control—than do SaaS customers">
            <a:extLst>
              <a:ext uri="{FF2B5EF4-FFF2-40B4-BE49-F238E27FC236}">
                <a16:creationId xmlns:a16="http://schemas.microsoft.com/office/drawing/2014/main" id="{067C46A2-2955-4198-B9E7-5226F44DCA3A}"/>
              </a:ext>
            </a:extLst>
          </p:cNvPr>
          <p:cNvPicPr>
            <a:picLocks noChangeAspect="1"/>
          </p:cNvPicPr>
          <p:nvPr/>
        </p:nvPicPr>
        <p:blipFill>
          <a:blip r:embed="rId4"/>
          <a:stretch>
            <a:fillRect/>
          </a:stretch>
        </p:blipFill>
        <p:spPr>
          <a:xfrm>
            <a:off x="2468565" y="1387179"/>
            <a:ext cx="7254869" cy="4578493"/>
          </a:xfrm>
          <a:prstGeom prst="rect">
            <a:avLst/>
          </a:prstGeom>
        </p:spPr>
      </p:pic>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115732a0e29_1_68"/>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Cloud Computing (6 of 6)</a:t>
            </a:r>
            <a:endParaRPr dirty="0">
              <a:latin typeface="Arial" panose="020B0604020202020204" pitchFamily="34" charset="0"/>
              <a:cs typeface="Arial" panose="020B0604020202020204" pitchFamily="34" charset="0"/>
            </a:endParaRPr>
          </a:p>
        </p:txBody>
      </p:sp>
      <p:pic>
        <p:nvPicPr>
          <p:cNvPr id="2" name="Picture 1" descr="An illustration depicts progressive levels of cloud service models. Each of the four models from left to right, list the computing responsibilities one below the other. On-premises model has seven responsibilities, which are Application, Data storage, O S, Virtualization, Servers, Storage, and Networking. The responsibilities are same for I a a S, P a a S, and S a a S. In I a a S, O S is selected, and the responsibilities from virtualization to networking are highlighted. In P a a S, the responsibilities from O S to networking are highlighted. In S a a S, the entire responsibilities from applications to networking are highlighted. The highlighted responsibilities in each model are vendor managed.&#10;Figure 1-22 At each progressive level of these cloud service models, the &#10;vendor takes over more computing responsibility for the organization">
            <a:extLst>
              <a:ext uri="{FF2B5EF4-FFF2-40B4-BE49-F238E27FC236}">
                <a16:creationId xmlns:a16="http://schemas.microsoft.com/office/drawing/2014/main" id="{217FDE01-8853-46C8-80DD-39C6F74DCFEA}"/>
              </a:ext>
            </a:extLst>
          </p:cNvPr>
          <p:cNvPicPr>
            <a:picLocks noChangeAspect="1"/>
          </p:cNvPicPr>
          <p:nvPr/>
        </p:nvPicPr>
        <p:blipFill>
          <a:blip r:embed="rId4"/>
          <a:stretch>
            <a:fillRect/>
          </a:stretch>
        </p:blipFill>
        <p:spPr>
          <a:xfrm>
            <a:off x="2602689" y="1285151"/>
            <a:ext cx="6986622" cy="4804064"/>
          </a:xfrm>
          <a:prstGeom prst="rect">
            <a:avLst/>
          </a:prstGeom>
        </p:spPr>
      </p:pic>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0"/>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Summary (1 of 5)</a:t>
            </a:r>
            <a:endParaRPr dirty="0">
              <a:latin typeface="Arial" panose="020B0604020202020204" pitchFamily="34" charset="0"/>
              <a:cs typeface="Arial" panose="020B0604020202020204" pitchFamily="34" charset="0"/>
            </a:endParaRPr>
          </a:p>
        </p:txBody>
      </p:sp>
      <p:sp>
        <p:nvSpPr>
          <p:cNvPr id="386" name="Google Shape;386;p40"/>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Many services and products that we use every day employ computer networks and data communications in some way</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Field of data communications and computer networks includes data networks, voice networks, wireless networks, local area networks, metropolitan area networks, wide area networks, and personal area networks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1"/>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Summary (2 of 5)</a:t>
            </a:r>
            <a:endParaRPr dirty="0">
              <a:latin typeface="Arial" panose="020B0604020202020204" pitchFamily="34" charset="0"/>
              <a:cs typeface="Arial" panose="020B0604020202020204" pitchFamily="34" charset="0"/>
            </a:endParaRPr>
          </a:p>
        </p:txBody>
      </p:sp>
      <p:sp>
        <p:nvSpPr>
          <p:cNvPr id="392" name="Google Shape;392;p41"/>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Common examples of communications networks: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The desktop computer and the Internet</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A laptop computer and a wireless connection</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Cellular networks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Sensor networks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Business mainframe networks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Satellite networks</a:t>
            </a:r>
            <a:endParaRPr dirty="0">
              <a:latin typeface="Arial" panose="020B0604020202020204" pitchFamily="34" charset="0"/>
              <a:cs typeface="Arial" panose="020B0604020202020204" pitchFamily="34" charset="0"/>
            </a:endParaRPr>
          </a:p>
          <a:p>
            <a:pPr marL="900112" lvl="1" indent="-442912"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Cloud networks</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2"/>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Summary (3 of 5)</a:t>
            </a:r>
            <a:endParaRPr dirty="0">
              <a:latin typeface="Arial" panose="020B0604020202020204" pitchFamily="34" charset="0"/>
              <a:cs typeface="Arial" panose="020B0604020202020204" pitchFamily="34" charset="0"/>
            </a:endParaRPr>
          </a:p>
        </p:txBody>
      </p:sp>
      <p:sp>
        <p:nvSpPr>
          <p:cNvPr id="398" name="Google Shape;398;p42"/>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Key concept in networking is convergence</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 network architecture, or communications model, places network pieces in layers</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Layers define </a:t>
            </a:r>
            <a:r>
              <a:rPr lang="en-US" i="1" dirty="0">
                <a:latin typeface="Arial" panose="020B0604020202020204" pitchFamily="34" charset="0"/>
                <a:cs typeface="Arial" panose="020B0604020202020204" pitchFamily="34" charset="0"/>
              </a:rPr>
              <a:t>model</a:t>
            </a:r>
            <a:r>
              <a:rPr lang="en-US" dirty="0">
                <a:latin typeface="Arial" panose="020B0604020202020204" pitchFamily="34" charset="0"/>
                <a:cs typeface="Arial" panose="020B0604020202020204" pitchFamily="34" charset="0"/>
              </a:rPr>
              <a:t> for functions or services that need to be performed</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The TCP/IP protocol suite is also known as the Internet model and is composed of five layers (some show four):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Application layer </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Transport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Network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Network access layer</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Physical layer</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3"/>
          <p:cNvSpPr txBox="1">
            <a:spLocks noGrp="1"/>
          </p:cNvSpPr>
          <p:nvPr>
            <p:ph type="title"/>
          </p:nvPr>
        </p:nvSpPr>
        <p:spPr>
          <a:xfrm>
            <a:off x="838200" y="365125"/>
            <a:ext cx="10515600" cy="67210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Summary (4 of 5)</a:t>
            </a:r>
            <a:endParaRPr dirty="0">
              <a:latin typeface="Arial" panose="020B0604020202020204" pitchFamily="34" charset="0"/>
              <a:cs typeface="Arial" panose="020B0604020202020204" pitchFamily="34" charset="0"/>
            </a:endParaRPr>
          </a:p>
        </p:txBody>
      </p:sp>
      <p:sp>
        <p:nvSpPr>
          <p:cNvPr id="404" name="Google Shape;404;p43"/>
          <p:cNvSpPr txBox="1">
            <a:spLocks noGrp="1"/>
          </p:cNvSpPr>
          <p:nvPr>
            <p:ph type="body" idx="1"/>
          </p:nvPr>
        </p:nvSpPr>
        <p:spPr>
          <a:xfrm>
            <a:off x="743576" y="1289684"/>
            <a:ext cx="10711543" cy="48014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0"/>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The International Organization for Standardization (ISO) created the Open Systems Interconnection (OSI) model</a:t>
            </a:r>
            <a:endParaRPr dirty="0">
              <a:latin typeface="Arial" panose="020B0604020202020204" pitchFamily="34" charset="0"/>
              <a:cs typeface="Arial" panose="020B0604020202020204" pitchFamily="34" charset="0"/>
            </a:endParaRPr>
          </a:p>
          <a:p>
            <a:pPr marL="900113" lvl="1" indent="-442913" algn="l" rtl="0">
              <a:lnSpc>
                <a:spcPct val="100000"/>
              </a:lnSpc>
              <a:spcBef>
                <a:spcPts val="624"/>
              </a:spcBef>
              <a:spcAft>
                <a:spcPts val="0"/>
              </a:spcAft>
              <a:buSzPts val="2400"/>
              <a:buChar char="–"/>
            </a:pPr>
            <a:r>
              <a:rPr lang="en-US" dirty="0">
                <a:latin typeface="Arial" panose="020B0604020202020204" pitchFamily="34" charset="0"/>
                <a:cs typeface="Arial" panose="020B0604020202020204" pitchFamily="34" charset="0"/>
              </a:rPr>
              <a:t>OSI model is based on seven layers: application layer, presentation layer, session layer, transport layer, network layer, data link layer, physical layer</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 logical connection is a flow of ideas that occurs, without a direct physical connection, between the sender and receiver at a particular layer</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115732a0e29_1_75"/>
          <p:cNvSpPr txBox="1">
            <a:spLocks noGrp="1"/>
          </p:cNvSpPr>
          <p:nvPr>
            <p:ph type="title"/>
          </p:nvPr>
        </p:nvSpPr>
        <p:spPr>
          <a:xfrm>
            <a:off x="838200" y="365125"/>
            <a:ext cx="10515600" cy="6720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US" dirty="0">
                <a:latin typeface="Arial" panose="020B0604020202020204" pitchFamily="34" charset="0"/>
                <a:cs typeface="Arial" panose="020B0604020202020204" pitchFamily="34" charset="0"/>
              </a:rPr>
              <a:t>Summary (5 of 5)</a:t>
            </a:r>
            <a:endParaRPr dirty="0">
              <a:latin typeface="Arial" panose="020B0604020202020204" pitchFamily="34" charset="0"/>
              <a:cs typeface="Arial" panose="020B0604020202020204" pitchFamily="34" charset="0"/>
            </a:endParaRPr>
          </a:p>
        </p:txBody>
      </p:sp>
      <p:sp>
        <p:nvSpPr>
          <p:cNvPr id="410" name="Google Shape;410;g115732a0e29_1_75"/>
          <p:cNvSpPr txBox="1">
            <a:spLocks noGrp="1"/>
          </p:cNvSpPr>
          <p:nvPr>
            <p:ph type="body" idx="1"/>
          </p:nvPr>
        </p:nvSpPr>
        <p:spPr>
          <a:xfrm>
            <a:off x="743576" y="1289684"/>
            <a:ext cx="10711500" cy="4801500"/>
          </a:xfrm>
          <a:prstGeom prst="rect">
            <a:avLst/>
          </a:prstGeom>
          <a:noFill/>
          <a:ln>
            <a:noFill/>
          </a:ln>
        </p:spPr>
        <p:txBody>
          <a:bodyPr spcFirstLastPara="1" wrap="square" lIns="0" tIns="0" rIns="0" bIns="0" anchor="t" anchorCtr="0">
            <a:noAutofit/>
          </a:bodyPr>
          <a:lstStyle/>
          <a:p>
            <a:pPr marL="457200" lvl="0" indent="-457200"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Characteristics of cloud computing are:</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scalability</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elasticity</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pay-as-you-go</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self-service</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broad network access</a:t>
            </a:r>
            <a:endParaRPr dirty="0">
              <a:latin typeface="Arial" panose="020B0604020202020204" pitchFamily="34" charset="0"/>
              <a:cs typeface="Arial" panose="020B0604020202020204" pitchFamily="34" charset="0"/>
            </a:endParaRPr>
          </a:p>
          <a:p>
            <a:pPr marL="900112" lvl="1" indent="-455612" algn="l" rtl="0">
              <a:lnSpc>
                <a:spcPct val="100000"/>
              </a:lnSpc>
              <a:spcBef>
                <a:spcPts val="624"/>
              </a:spcBef>
              <a:spcAft>
                <a:spcPts val="0"/>
              </a:spcAft>
              <a:buClr>
                <a:srgbClr val="004A78"/>
              </a:buClr>
              <a:buSzPts val="2600"/>
              <a:buFont typeface="Arial"/>
              <a:buChar char="–"/>
            </a:pPr>
            <a:r>
              <a:rPr lang="en-US" dirty="0">
                <a:latin typeface="Arial" panose="020B0604020202020204" pitchFamily="34" charset="0"/>
                <a:cs typeface="Arial" panose="020B0604020202020204" pitchFamily="34" charset="0"/>
              </a:rPr>
              <a:t>availability</a:t>
            </a:r>
            <a:endParaRPr dirty="0">
              <a:latin typeface="Arial" panose="020B0604020202020204" pitchFamily="34" charset="0"/>
              <a:cs typeface="Arial" panose="020B0604020202020204" pitchFamily="34" charset="0"/>
            </a:endParaRPr>
          </a:p>
          <a:p>
            <a:pPr marL="457200" lvl="0" indent="-457200" algn="l" rtl="0">
              <a:lnSpc>
                <a:spcPct val="100000"/>
              </a:lnSpc>
              <a:spcBef>
                <a:spcPts val="624"/>
              </a:spcBef>
              <a:spcAft>
                <a:spcPts val="0"/>
              </a:spcAft>
              <a:buSzPts val="2600"/>
              <a:buChar char="•"/>
            </a:pPr>
            <a:r>
              <a:rPr lang="en-US" dirty="0">
                <a:latin typeface="Arial" panose="020B0604020202020204" pitchFamily="34" charset="0"/>
                <a:cs typeface="Arial" panose="020B0604020202020204" pitchFamily="34" charset="0"/>
              </a:rPr>
              <a:t>Usual cloud services are: SaaS (Software-as-a-Service), PaaS (Platform-as-a-Service), and IaaS (Infrastructure-as-a-Service) </a:t>
            </a:r>
            <a:endParaRPr dirty="0">
              <a:latin typeface="Arial" panose="020B0604020202020204" pitchFamily="34" charset="0"/>
              <a:cs typeface="Arial" panose="020B0604020202020204" pitchFamily="34" charset="0"/>
            </a:endParaRP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5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1338</TotalTime>
  <Words>1972</Words>
  <Application>Microsoft Office PowerPoint</Application>
  <PresentationFormat>Widescreen</PresentationFormat>
  <Paragraphs>192</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arial</vt:lpstr>
      <vt:lpstr>Calibri</vt:lpstr>
      <vt:lpstr>Helvetica Neue</vt:lpstr>
      <vt:lpstr>Noto Sans Symbols</vt:lpstr>
      <vt:lpstr>Open Sans</vt:lpstr>
      <vt:lpstr>Office Theme</vt:lpstr>
      <vt:lpstr>Chapter 1</vt:lpstr>
      <vt:lpstr>After reading this chapter, you should be able to:</vt:lpstr>
      <vt:lpstr>Introduction</vt:lpstr>
      <vt:lpstr>The Language of Computer Networks (1 of 3)</vt:lpstr>
      <vt:lpstr>The Language of Computer Networks (2 of 3)</vt:lpstr>
      <vt:lpstr>The Language of Computer Networks (3 of 3)</vt:lpstr>
      <vt:lpstr>The Big Picture of Networks (1 of 2)</vt:lpstr>
      <vt:lpstr>The Big Picture of Networks (2 of 2)</vt:lpstr>
      <vt:lpstr>Common Examples of Communications Networks (1 of 2)</vt:lpstr>
      <vt:lpstr>Common Examples of Communications Networks (2 of 2)</vt:lpstr>
      <vt:lpstr>The Desktop Computer and the Internet (1 of 4)</vt:lpstr>
      <vt:lpstr>The Desktop Computer and the Internet (2 of 4)</vt:lpstr>
      <vt:lpstr>The Desktop Computer and the Internet (3 of 4)</vt:lpstr>
      <vt:lpstr>The Desktop Computer and the Internet (4 of 4)</vt:lpstr>
      <vt:lpstr>A Laptop Computer and a Wireless Connection (1 of 2)</vt:lpstr>
      <vt:lpstr>A Laptop Computer and a Wireless Connection (2 of 2)</vt:lpstr>
      <vt:lpstr>Cellular Networks (1 of 2)</vt:lpstr>
      <vt:lpstr>Cell Phone Networks (2 of 2)</vt:lpstr>
      <vt:lpstr>Industrial Sensor-based Systems (1 of 2)</vt:lpstr>
      <vt:lpstr>Industrial Sensor-based Systems (2 of 2)</vt:lpstr>
      <vt:lpstr>Mainframe Systems (1 of 2)</vt:lpstr>
      <vt:lpstr>Mainframe Systems (2 of 2)</vt:lpstr>
      <vt:lpstr>Satellite and Microwave Networks (1 of 2)</vt:lpstr>
      <vt:lpstr>Satellite and Microwave Networks (2 of 2)</vt:lpstr>
      <vt:lpstr>Cloud Networks (1 of 2)</vt:lpstr>
      <vt:lpstr>Cloud Networks (2 of 2)</vt:lpstr>
      <vt:lpstr>Network Architectures</vt:lpstr>
      <vt:lpstr>The TCP/IP Protocol Suite (1 of 4)</vt:lpstr>
      <vt:lpstr>The TCP/IP Protocol Suite (2 of 4)</vt:lpstr>
      <vt:lpstr>The TCP/IP Protocol Suite (3 of 4)</vt:lpstr>
      <vt:lpstr>The TCP/IP Protocol Suite (4 of 4)</vt:lpstr>
      <vt:lpstr>The Open Systems Interconnection (OSI) Model (1 of 4)</vt:lpstr>
      <vt:lpstr>The Open Systems Interconnection (OSI) Model (2 of 4)</vt:lpstr>
      <vt:lpstr>The Open Systems Interconnection (OSI) Model (3 of 4)</vt:lpstr>
      <vt:lpstr>The Open Systems Interconnection (OSI) Model (4 of 4)</vt:lpstr>
      <vt:lpstr>Logical and Physical Connections (1 of 3)</vt:lpstr>
      <vt:lpstr>Logical and Physical Connections (2 of 3)</vt:lpstr>
      <vt:lpstr>Logical and Physical Connections (3 of 3)</vt:lpstr>
      <vt:lpstr>The TCP/IP Protocol Suite in Action (1 of 2)</vt:lpstr>
      <vt:lpstr>The TCP/IP Protocol Suite in Action (2 of 2)</vt:lpstr>
      <vt:lpstr>Cloud Computing (1 of 6)</vt:lpstr>
      <vt:lpstr>Cloud Computing (2 of 6)</vt:lpstr>
      <vt:lpstr>Cloud Computing (3 of 6)</vt:lpstr>
      <vt:lpstr>Cloud Computing (4 of 6)</vt:lpstr>
      <vt:lpstr>Cloud Computing (5 of 6)</vt:lpstr>
      <vt:lpstr>Cloud Computing (6 of 6)</vt:lpstr>
      <vt:lpstr>Summary (1 of 5)</vt:lpstr>
      <vt:lpstr>Summary (2 of 5)</vt:lpstr>
      <vt:lpstr>Summary (3 of 5)</vt:lpstr>
      <vt:lpstr>Summary (4 of 5)</vt:lpstr>
      <vt:lpstr>Summary (5 of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Chris Parent</dc:creator>
  <cp:lastModifiedBy>LAVANYA K Kasirajan</cp:lastModifiedBy>
  <cp:revision>19</cp:revision>
  <dcterms:created xsi:type="dcterms:W3CDTF">2019-11-14T21:20:16Z</dcterms:created>
  <dcterms:modified xsi:type="dcterms:W3CDTF">2022-03-25T11:09:50Z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y fmtid="{D5CDD505-2E9C-101B-9397-08002B2CF9AE}" pid="18" name="ArticulateGUID">
    <vt:lpwstr>8116FC33-58C0-4194-BB7B-C4FB34F910BF</vt:lpwstr>
  </property>
  <property fmtid="{D5CDD505-2E9C-101B-9397-08002B2CF9AE}" pid="19" name="ArticulatePath">
    <vt:lpwstr>Chapter 1 Slides_SME</vt:lpwstr>
  </property>
</Properties>
</file>