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tags/tag56.xml" ContentType="application/vnd.openxmlformats-officedocument.presentationml.tags+xml"/>
  <Override PartName="/ppt/notesSlides/notesSlide55.xml" ContentType="application/vnd.openxmlformats-officedocument.presentationml.notesSlide+xml"/>
  <Override PartName="/ppt/tags/tag57.xml" ContentType="application/vnd.openxmlformats-officedocument.presentationml.tags+xml"/>
  <Override PartName="/ppt/notesSlides/notesSlide56.xml" ContentType="application/vnd.openxmlformats-officedocument.presentationml.notesSlide+xml"/>
  <Override PartName="/ppt/tags/tag58.xml" ContentType="application/vnd.openxmlformats-officedocument.presentationml.tags+xml"/>
  <Override PartName="/ppt/notesSlides/notesSlide57.xml" ContentType="application/vnd.openxmlformats-officedocument.presentationml.notesSlide+xml"/>
  <Override PartName="/ppt/tags/tag59.xml" ContentType="application/vnd.openxmlformats-officedocument.presentationml.tags+xml"/>
  <Override PartName="/ppt/notesSlides/notesSlide58.xml" ContentType="application/vnd.openxmlformats-officedocument.presentationml.notesSlide+xml"/>
  <Override PartName="/ppt/tags/tag60.xml" ContentType="application/vnd.openxmlformats-officedocument.presentationml.tags+xml"/>
  <Override PartName="/ppt/notesSlides/notesSlide59.xml" ContentType="application/vnd.openxmlformats-officedocument.presentationml.notesSlide+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notesSlides/notesSlide62.xml" ContentType="application/vnd.openxmlformats-officedocument.presentationml.notesSlide+xml"/>
  <Override PartName="/ppt/tags/tag64.xml" ContentType="application/vnd.openxmlformats-officedocument.presentationml.tags+xml"/>
  <Override PartName="/ppt/notesSlides/notesSlide63.xml" ContentType="application/vnd.openxmlformats-officedocument.presentationml.notesSlide+xml"/>
  <Override PartName="/ppt/tags/tag65.xml" ContentType="application/vnd.openxmlformats-officedocument.presentationml.tags+xml"/>
  <Override PartName="/ppt/notesSlides/notesSlide6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sldSz cx="12192000" cy="6858000"/>
  <p:notesSz cx="7010400" cy="9296400"/>
  <p:custDataLst>
    <p:tags r:id="rId67"/>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6" roundtripDataSignature="AMtx7mgy+xwfmmQM9HRWhvsD4AtSZd2K4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AF17678-C7F2-676A-DCC8-1D962A3A436B}" name="Chris Parent" initials="CP" userId="f0181f24f314237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35" autoAdjust="0"/>
    <p:restoredTop sz="86375" autoAdjust="0"/>
  </p:normalViewPr>
  <p:slideViewPr>
    <p:cSldViewPr snapToGrid="0">
      <p:cViewPr varScale="1">
        <p:scale>
          <a:sx n="79" d="100"/>
          <a:sy n="79" d="100"/>
        </p:scale>
        <p:origin x="114" y="312"/>
      </p:cViewPr>
      <p:guideLst/>
    </p:cSldViewPr>
  </p:slideViewPr>
  <p:outlineViewPr>
    <p:cViewPr>
      <p:scale>
        <a:sx n="33" d="100"/>
        <a:sy n="33" d="100"/>
      </p:scale>
      <p:origin x="0" y="-3409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8" Type="http://schemas.openxmlformats.org/officeDocument/2006/relationships/viewProps" Target="viewProps.xml"/><Relationship Id="rId8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customschemas.google.com/relationships/presentationmetadata" Target="metadata"/><Relationship Id="rId7"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7840" cy="466434"/>
          </a:xfrm>
          <a:prstGeom prst="rect">
            <a:avLst/>
          </a:prstGeom>
          <a:noFill/>
          <a:ln>
            <a:noFill/>
          </a:ln>
        </p:spPr>
        <p:txBody>
          <a:bodyPr spcFirstLastPara="1" wrap="square" lIns="93175" tIns="46575" rIns="93175" bIns="4657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0"/>
            <a:ext cx="3037840" cy="466434"/>
          </a:xfrm>
          <a:prstGeom prst="rect">
            <a:avLst/>
          </a:prstGeom>
          <a:noFill/>
          <a:ln>
            <a:noFill/>
          </a:ln>
        </p:spPr>
        <p:txBody>
          <a:bodyPr spcFirstLastPara="1" wrap="square" lIns="93175" tIns="46575" rIns="93175" bIns="4657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73892"/>
            <a:ext cx="5608320" cy="3660458"/>
          </a:xfrm>
          <a:prstGeom prst="rect">
            <a:avLst/>
          </a:prstGeom>
          <a:noFill/>
          <a:ln>
            <a:noFill/>
          </a:ln>
        </p:spPr>
        <p:txBody>
          <a:bodyPr spcFirstLastPara="1" wrap="square" lIns="93175" tIns="46575" rIns="93175" bIns="4657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9967"/>
            <a:ext cx="3037840" cy="466433"/>
          </a:xfrm>
          <a:prstGeom prst="rect">
            <a:avLst/>
          </a:prstGeom>
          <a:noFill/>
          <a:ln>
            <a:noFill/>
          </a:ln>
        </p:spPr>
        <p:txBody>
          <a:bodyPr spcFirstLastPara="1" wrap="square" lIns="93175" tIns="46575" rIns="93175" bIns="4657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829967"/>
            <a:ext cx="3037840" cy="466433"/>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04" name="Google Shape;104;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12" name="Google Shape;112;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18" name="Google Shape;118;p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24" name="Google Shape;124;p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30" name="Google Shape;130;p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36" name="Google Shape;136;p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42" name="Google Shape;142;p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48" name="Google Shape;148;p1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54" name="Google Shape;154;p1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60" name="Google Shape;160;p1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66" name="Google Shape;166;p1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72" name="Google Shape;172;p1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78" name="Google Shape;178;p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84" name="Google Shape;184;p1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90" name="Google Shape;190;p1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96" name="Google Shape;196;p1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02" name="Google Shape;202;p1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08" name="Google Shape;208;p2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14" name="Google Shape;214;p2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20" name="Google Shape;220;p2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26" name="Google Shape;226;p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32" name="Google Shape;232;p2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38" name="Google Shape;238;p2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44" name="Google Shape;244;p2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50" name="Google Shape;250;p2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56" name="Google Shape;256;p2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62" name="Google Shape;262;p2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3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68" name="Google Shape;268;p3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3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74" name="Google Shape;274;p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3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80" name="Google Shape;280;p3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3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86" name="Google Shape;286;p3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3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92" name="Google Shape;292;p3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3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98" name="Google Shape;298;p3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11491eafe5a_0_17: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04" name="Google Shape;304;g11491eafe5a_0_1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3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10" name="Google Shape;310;p3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16" name="Google Shape;316;p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4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23" name="Google Shape;323;p4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4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30" name="Google Shape;330;p4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4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37" name="Google Shape;337;p4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4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44" name="Google Shape;344;p4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4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51" name="Google Shape;351;p4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4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57" name="Google Shape;357;p4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4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63" name="Google Shape;363;p4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4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70" name="Google Shape;370;p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4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76" name="Google Shape;376;p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82" name="Google Shape;382;p4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5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88" name="Google Shape;388;p5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5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94" name="Google Shape;394;p5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11491eafe5a_0_35: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00" name="Google Shape;400;g11491eafe5a_0_3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06" name="Google Shape;406;p5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5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12" name="Google Shape;412;p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5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18" name="Google Shape;418;p5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5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24" name="Google Shape;424;p5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5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30" name="Google Shape;430;p5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5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36" name="Google Shape;436;p5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5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42" name="Google Shape;442;p5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6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48" name="Google Shape;448;p6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6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54" name="Google Shape;454;p6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11491eafe5a_0_48: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60" name="Google Shape;460;g11491eafe5a_0_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11491eafe5a_0_54: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66" name="Google Shape;466;g11491eafe5a_0_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6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72" name="Google Shape;472;p6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6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81" name="Google Shape;481;p6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6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87" name="Google Shape;487;p6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7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93" name="Google Shape;493;p7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hapter Slide">
  <p:cSld name="1_Chapter Slide">
    <p:spTree>
      <p:nvGrpSpPr>
        <p:cNvPr id="1" name="Shape 14"/>
        <p:cNvGrpSpPr/>
        <p:nvPr/>
      </p:nvGrpSpPr>
      <p:grpSpPr>
        <a:xfrm>
          <a:off x="0" y="0"/>
          <a:ext cx="0" cy="0"/>
          <a:chOff x="0" y="0"/>
          <a:chExt cx="0" cy="0"/>
        </a:xfrm>
      </p:grpSpPr>
      <p:pic>
        <p:nvPicPr>
          <p:cNvPr id="15" name="Google Shape;15;p72"/>
          <p:cNvPicPr preferRelativeResize="0"/>
          <p:nvPr/>
        </p:nvPicPr>
        <p:blipFill rotWithShape="1">
          <a:blip r:embed="rId2">
            <a:alphaModFix/>
          </a:blip>
          <a:srcRect/>
          <a:stretch/>
        </p:blipFill>
        <p:spPr>
          <a:xfrm>
            <a:off x="192" y="16"/>
            <a:ext cx="12191807" cy="6865874"/>
          </a:xfrm>
          <a:prstGeom prst="rect">
            <a:avLst/>
          </a:prstGeom>
          <a:noFill/>
          <a:ln>
            <a:noFill/>
          </a:ln>
        </p:spPr>
      </p:pic>
      <p:sp>
        <p:nvSpPr>
          <p:cNvPr id="16" name="Google Shape;16;p72"/>
          <p:cNvSpPr txBox="1">
            <a:spLocks noGrp="1"/>
          </p:cNvSpPr>
          <p:nvPr>
            <p:ph type="body" idx="1"/>
          </p:nvPr>
        </p:nvSpPr>
        <p:spPr>
          <a:xfrm>
            <a:off x="5158065" y="3083849"/>
            <a:ext cx="5943392" cy="1343006"/>
          </a:xfrm>
          <a:prstGeom prst="rect">
            <a:avLst/>
          </a:prstGeom>
          <a:noFill/>
          <a:ln>
            <a:noFill/>
          </a:ln>
        </p:spPr>
        <p:txBody>
          <a:bodyPr spcFirstLastPara="1" wrap="square" lIns="0" tIns="0" rIns="0" bIns="0" anchor="ctr" anchorCtr="0">
            <a:noAutofit/>
          </a:bodyPr>
          <a:lstStyle>
            <a:lvl1pPr marL="457200" lvl="0" indent="-228600" algn="l">
              <a:lnSpc>
                <a:spcPct val="90000"/>
              </a:lnSpc>
              <a:spcBef>
                <a:spcPts val="1000"/>
              </a:spcBef>
              <a:spcAft>
                <a:spcPts val="0"/>
              </a:spcAft>
              <a:buClr>
                <a:schemeClr val="lt1"/>
              </a:buClr>
              <a:buSzPts val="3600"/>
              <a:buNone/>
              <a:defRPr sz="3600" b="0" i="0">
                <a:solidFill>
                  <a:schemeClr val="lt1"/>
                </a:solidFill>
                <a:latin typeface="Arial"/>
                <a:ea typeface="Arial"/>
                <a:cs typeface="Arial"/>
                <a:sym typeface="Arial"/>
              </a:defRPr>
            </a:lvl1pPr>
            <a:lvl2pPr marL="914400" lvl="1" indent="-228600" algn="ctr">
              <a:lnSpc>
                <a:spcPct val="90000"/>
              </a:lnSpc>
              <a:spcBef>
                <a:spcPts val="500"/>
              </a:spcBef>
              <a:spcAft>
                <a:spcPts val="0"/>
              </a:spcAft>
              <a:buClr>
                <a:srgbClr val="004A78"/>
              </a:buClr>
              <a:buSzPts val="2400"/>
              <a:buNone/>
              <a:defRPr>
                <a:latin typeface="Arial"/>
                <a:ea typeface="Arial"/>
                <a:cs typeface="Arial"/>
                <a:sym typeface="Arial"/>
              </a:defRPr>
            </a:lvl2pPr>
            <a:lvl3pPr marL="1371600" lvl="2" indent="-228600" algn="ctr">
              <a:lnSpc>
                <a:spcPct val="90000"/>
              </a:lnSpc>
              <a:spcBef>
                <a:spcPts val="500"/>
              </a:spcBef>
              <a:spcAft>
                <a:spcPts val="0"/>
              </a:spcAft>
              <a:buClr>
                <a:srgbClr val="004A78"/>
              </a:buClr>
              <a:buSzPts val="2000"/>
              <a:buNone/>
              <a:defRPr>
                <a:latin typeface="Arial"/>
                <a:ea typeface="Arial"/>
                <a:cs typeface="Arial"/>
                <a:sym typeface="Arial"/>
              </a:defRPr>
            </a:lvl3pPr>
            <a:lvl4pPr marL="1828800" lvl="3" indent="-228600" algn="ctr">
              <a:lnSpc>
                <a:spcPct val="90000"/>
              </a:lnSpc>
              <a:spcBef>
                <a:spcPts val="500"/>
              </a:spcBef>
              <a:spcAft>
                <a:spcPts val="0"/>
              </a:spcAft>
              <a:buClr>
                <a:srgbClr val="004A78"/>
              </a:buClr>
              <a:buSzPts val="1800"/>
              <a:buNone/>
              <a:defRPr>
                <a:latin typeface="Arial"/>
                <a:ea typeface="Arial"/>
                <a:cs typeface="Arial"/>
                <a:sym typeface="Arial"/>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72"/>
          <p:cNvSpPr txBox="1">
            <a:spLocks noGrp="1"/>
          </p:cNvSpPr>
          <p:nvPr>
            <p:ph type="title"/>
          </p:nvPr>
        </p:nvSpPr>
        <p:spPr>
          <a:xfrm>
            <a:off x="5158065" y="2006622"/>
            <a:ext cx="5045478" cy="86722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1400"/>
              <a:buNone/>
              <a:defRPr sz="40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8" name="Google Shape;18;p72"/>
          <p:cNvSpPr>
            <a:spLocks noGrp="1"/>
          </p:cNvSpPr>
          <p:nvPr>
            <p:ph type="pic" idx="2"/>
          </p:nvPr>
        </p:nvSpPr>
        <p:spPr>
          <a:xfrm>
            <a:off x="246063" y="314482"/>
            <a:ext cx="3343275" cy="4318000"/>
          </a:xfrm>
          <a:prstGeom prst="rect">
            <a:avLst/>
          </a:prstGeom>
          <a:noFill/>
          <a:ln>
            <a:noFill/>
          </a:ln>
        </p:spPr>
      </p:sp>
      <p:pic>
        <p:nvPicPr>
          <p:cNvPr id="19" name="Google Shape;19;p72"/>
          <p:cNvPicPr preferRelativeResize="0"/>
          <p:nvPr/>
        </p:nvPicPr>
        <p:blipFill rotWithShape="1">
          <a:blip r:embed="rId3">
            <a:alphaModFix/>
          </a:blip>
          <a:srcRect/>
          <a:stretch/>
        </p:blipFill>
        <p:spPr>
          <a:xfrm>
            <a:off x="424861" y="6356350"/>
            <a:ext cx="1699425" cy="383864"/>
          </a:xfrm>
          <a:prstGeom prst="rect">
            <a:avLst/>
          </a:prstGeom>
          <a:noFill/>
          <a:ln>
            <a:noFill/>
          </a:ln>
        </p:spPr>
      </p:pic>
      <p:sp>
        <p:nvSpPr>
          <p:cNvPr id="20" name="Google Shape;20;p72"/>
          <p:cNvSpPr txBox="1">
            <a:spLocks noGrp="1"/>
          </p:cNvSpPr>
          <p:nvPr>
            <p:ph type="ftr" idx="11"/>
          </p:nvPr>
        </p:nvSpPr>
        <p:spPr>
          <a:xfrm>
            <a:off x="2923890" y="6356350"/>
            <a:ext cx="880166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b="0" i="0" u="none" strike="noStrike">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72"/>
          <p:cNvSpPr txBox="1">
            <a:spLocks noGrp="1"/>
          </p:cNvSpPr>
          <p:nvPr>
            <p:ph type="body" idx="3"/>
          </p:nvPr>
        </p:nvSpPr>
        <p:spPr>
          <a:xfrm>
            <a:off x="2909661" y="6356350"/>
            <a:ext cx="8815898" cy="36512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0000"/>
              </a:buClr>
              <a:buSzPts val="1800"/>
              <a:buNone/>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2"/>
        <p:cNvGrpSpPr/>
        <p:nvPr/>
      </p:nvGrpSpPr>
      <p:grpSpPr>
        <a:xfrm>
          <a:off x="0" y="0"/>
          <a:ext cx="0" cy="0"/>
          <a:chOff x="0" y="0"/>
          <a:chExt cx="0" cy="0"/>
        </a:xfrm>
      </p:grpSpPr>
      <p:sp>
        <p:nvSpPr>
          <p:cNvPr id="23" name="Google Shape;23;p7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4" name="Google Shape;24;p73"/>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lvl1pPr marL="457200" lvl="0" indent="-393700" algn="l">
              <a:lnSpc>
                <a:spcPct val="100000"/>
              </a:lnSpc>
              <a:spcBef>
                <a:spcPts val="624"/>
              </a:spcBef>
              <a:spcAft>
                <a:spcPts val="0"/>
              </a:spcAft>
              <a:buClr>
                <a:srgbClr val="004A78"/>
              </a:buClr>
              <a:buSzPts val="2600"/>
              <a:buFont typeface="Arial"/>
              <a:buChar char="•"/>
              <a:defRPr sz="2600" b="0" i="0">
                <a:solidFill>
                  <a:srgbClr val="000000"/>
                </a:solidFill>
                <a:latin typeface="Arial"/>
                <a:ea typeface="Arial"/>
                <a:cs typeface="Arial"/>
                <a:sym typeface="Arial"/>
              </a:defRPr>
            </a:lvl1pPr>
            <a:lvl2pPr marL="914400" lvl="1" indent="-381000" algn="l">
              <a:lnSpc>
                <a:spcPct val="100000"/>
              </a:lnSpc>
              <a:spcBef>
                <a:spcPts val="624"/>
              </a:spcBef>
              <a:spcAft>
                <a:spcPts val="0"/>
              </a:spcAft>
              <a:buClr>
                <a:srgbClr val="004A78"/>
              </a:buClr>
              <a:buSzPts val="2400"/>
              <a:buFont typeface="Arial"/>
              <a:buChar char="–"/>
              <a:defRPr>
                <a:solidFill>
                  <a:srgbClr val="000000"/>
                </a:solidFill>
                <a:latin typeface="Arial"/>
                <a:ea typeface="Arial"/>
                <a:cs typeface="Arial"/>
                <a:sym typeface="Arial"/>
              </a:defRPr>
            </a:lvl2pPr>
            <a:lvl3pPr marL="1371600" lvl="2" indent="-368300" algn="l">
              <a:lnSpc>
                <a:spcPct val="100000"/>
              </a:lnSpc>
              <a:spcBef>
                <a:spcPts val="624"/>
              </a:spcBef>
              <a:spcAft>
                <a:spcPts val="0"/>
              </a:spcAft>
              <a:buClr>
                <a:srgbClr val="000000"/>
              </a:buClr>
              <a:buSzPts val="2200"/>
              <a:buFont typeface="Noto Sans Symbols"/>
              <a:buChar char="▪"/>
              <a:defRPr sz="2200">
                <a:solidFill>
                  <a:srgbClr val="000000"/>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73"/>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and Image">
  <p:cSld name="Content and Image">
    <p:spTree>
      <p:nvGrpSpPr>
        <p:cNvPr id="1" name="Shape 26"/>
        <p:cNvGrpSpPr/>
        <p:nvPr/>
      </p:nvGrpSpPr>
      <p:grpSpPr>
        <a:xfrm>
          <a:off x="0" y="0"/>
          <a:ext cx="0" cy="0"/>
          <a:chOff x="0" y="0"/>
          <a:chExt cx="0" cy="0"/>
        </a:xfrm>
      </p:grpSpPr>
      <p:sp>
        <p:nvSpPr>
          <p:cNvPr id="27" name="Google Shape;27;p7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8" name="Google Shape;28;p74"/>
          <p:cNvSpPr txBox="1">
            <a:spLocks noGrp="1"/>
          </p:cNvSpPr>
          <p:nvPr>
            <p:ph type="body" idx="1"/>
          </p:nvPr>
        </p:nvSpPr>
        <p:spPr>
          <a:xfrm>
            <a:off x="743577" y="1289684"/>
            <a:ext cx="4606346" cy="4469766"/>
          </a:xfrm>
          <a:prstGeom prst="rect">
            <a:avLst/>
          </a:prstGeom>
          <a:noFill/>
          <a:ln>
            <a:noFill/>
          </a:ln>
        </p:spPr>
        <p:txBody>
          <a:bodyPr spcFirstLastPara="1" wrap="square" lIns="0" tIns="0" rIns="0" bIns="0" anchor="t" anchorCtr="0">
            <a:noAutofit/>
          </a:bodyPr>
          <a:lstStyle>
            <a:lvl1pPr marL="457200" lvl="0" indent="-393700" algn="l">
              <a:lnSpc>
                <a:spcPct val="100000"/>
              </a:lnSpc>
              <a:spcBef>
                <a:spcPts val="624"/>
              </a:spcBef>
              <a:spcAft>
                <a:spcPts val="0"/>
              </a:spcAft>
              <a:buClr>
                <a:srgbClr val="004A78"/>
              </a:buClr>
              <a:buSzPts val="2600"/>
              <a:buFont typeface="Arial"/>
              <a:buChar char="•"/>
              <a:defRPr sz="2600" b="0" i="0">
                <a:solidFill>
                  <a:srgbClr val="000000"/>
                </a:solidFill>
                <a:latin typeface="Arial"/>
                <a:ea typeface="Arial"/>
                <a:cs typeface="Arial"/>
                <a:sym typeface="Arial"/>
              </a:defRPr>
            </a:lvl1pPr>
            <a:lvl2pPr marL="914400" lvl="1" indent="-381000" algn="l">
              <a:lnSpc>
                <a:spcPct val="100000"/>
              </a:lnSpc>
              <a:spcBef>
                <a:spcPts val="624"/>
              </a:spcBef>
              <a:spcAft>
                <a:spcPts val="0"/>
              </a:spcAft>
              <a:buClr>
                <a:srgbClr val="004A78"/>
              </a:buClr>
              <a:buSzPts val="2400"/>
              <a:buFont typeface="Arial"/>
              <a:buChar char="–"/>
              <a:defRPr>
                <a:solidFill>
                  <a:srgbClr val="000000"/>
                </a:solidFill>
                <a:latin typeface="Arial"/>
                <a:ea typeface="Arial"/>
                <a:cs typeface="Arial"/>
                <a:sym typeface="Arial"/>
              </a:defRPr>
            </a:lvl2pPr>
            <a:lvl3pPr marL="1371600" lvl="2" indent="-368300" algn="l">
              <a:lnSpc>
                <a:spcPct val="100000"/>
              </a:lnSpc>
              <a:spcBef>
                <a:spcPts val="624"/>
              </a:spcBef>
              <a:spcAft>
                <a:spcPts val="0"/>
              </a:spcAft>
              <a:buClr>
                <a:srgbClr val="000000"/>
              </a:buClr>
              <a:buSzPts val="2200"/>
              <a:buFont typeface="Arial"/>
              <a:buChar char="•"/>
              <a:defRPr sz="2200">
                <a:solidFill>
                  <a:srgbClr val="000000"/>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74"/>
          <p:cNvSpPr>
            <a:spLocks noGrp="1"/>
          </p:cNvSpPr>
          <p:nvPr>
            <p:ph type="pic" idx="2"/>
          </p:nvPr>
        </p:nvSpPr>
        <p:spPr>
          <a:xfrm>
            <a:off x="5813425" y="1289050"/>
            <a:ext cx="2947988" cy="1044575"/>
          </a:xfrm>
          <a:prstGeom prst="rect">
            <a:avLst/>
          </a:prstGeom>
          <a:noFill/>
          <a:ln>
            <a:noFill/>
          </a:ln>
        </p:spPr>
      </p:sp>
      <p:sp>
        <p:nvSpPr>
          <p:cNvPr id="30" name="Google Shape;30;p74"/>
          <p:cNvSpPr txBox="1">
            <a:spLocks noGrp="1"/>
          </p:cNvSpPr>
          <p:nvPr>
            <p:ph type="body" idx="3"/>
          </p:nvPr>
        </p:nvSpPr>
        <p:spPr>
          <a:xfrm>
            <a:off x="5813425" y="2586038"/>
            <a:ext cx="5540375" cy="1466850"/>
          </a:xfrm>
          <a:prstGeom prst="rect">
            <a:avLst/>
          </a:prstGeom>
          <a:noFill/>
          <a:ln>
            <a:noFill/>
          </a:ln>
        </p:spPr>
        <p:txBody>
          <a:bodyPr spcFirstLastPara="1" wrap="square" lIns="0" tIns="0" rIns="0" bIns="0" anchor="t" anchorCtr="0">
            <a:noAutofit/>
          </a:bodyPr>
          <a:lstStyle>
            <a:lvl1pPr marL="457200" lvl="0" indent="-393700" algn="l">
              <a:lnSpc>
                <a:spcPct val="100000"/>
              </a:lnSpc>
              <a:spcBef>
                <a:spcPts val="624"/>
              </a:spcBef>
              <a:spcAft>
                <a:spcPts val="0"/>
              </a:spcAft>
              <a:buClr>
                <a:srgbClr val="004A78"/>
              </a:buClr>
              <a:buSzPts val="2600"/>
              <a:buFont typeface="Arial"/>
              <a:buChar char="•"/>
              <a:defRPr sz="2600"/>
            </a:lvl1pPr>
            <a:lvl2pPr marL="914400" lvl="1" indent="-381000" algn="l">
              <a:lnSpc>
                <a:spcPct val="100000"/>
              </a:lnSpc>
              <a:spcBef>
                <a:spcPts val="624"/>
              </a:spcBef>
              <a:spcAft>
                <a:spcPts val="0"/>
              </a:spcAft>
              <a:buClr>
                <a:srgbClr val="000000"/>
              </a:buClr>
              <a:buSzPts val="2400"/>
              <a:buFont typeface="Arial"/>
              <a:buChar char="–"/>
              <a:defRPr>
                <a:solidFill>
                  <a:srgbClr val="000000"/>
                </a:solidFill>
              </a:defRPr>
            </a:lvl2pPr>
            <a:lvl3pPr marL="1371600" lvl="2" indent="-368300" algn="l">
              <a:lnSpc>
                <a:spcPct val="100000"/>
              </a:lnSpc>
              <a:spcBef>
                <a:spcPts val="624"/>
              </a:spcBef>
              <a:spcAft>
                <a:spcPts val="0"/>
              </a:spcAft>
              <a:buClr>
                <a:srgbClr val="000000"/>
              </a:buClr>
              <a:buSzPts val="2200"/>
              <a:buFont typeface="Noto Sans Symbols"/>
              <a:buChar char="▪"/>
              <a:defRPr sz="2200"/>
            </a:lvl3pPr>
            <a:lvl4pPr marL="1828800" lvl="3" indent="-342900" algn="l">
              <a:lnSpc>
                <a:spcPct val="100000"/>
              </a:lnSpc>
              <a:spcBef>
                <a:spcPts val="624"/>
              </a:spcBef>
              <a:spcAft>
                <a:spcPts val="0"/>
              </a:spcAft>
              <a:buClr>
                <a:srgbClr val="004A78"/>
              </a:buClr>
              <a:buSzPts val="1800"/>
              <a:buChar char="•"/>
              <a:defRPr/>
            </a:lvl4pPr>
            <a:lvl5pPr marL="2286000" lvl="4" indent="-342900" algn="l">
              <a:lnSpc>
                <a:spcPct val="100000"/>
              </a:lnSpc>
              <a:spcBef>
                <a:spcPts val="624"/>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74"/>
          <p:cNvSpPr>
            <a:spLocks noGrp="1"/>
          </p:cNvSpPr>
          <p:nvPr>
            <p:ph type="pic" idx="4"/>
          </p:nvPr>
        </p:nvSpPr>
        <p:spPr>
          <a:xfrm>
            <a:off x="5813425" y="4421188"/>
            <a:ext cx="2947988" cy="1235075"/>
          </a:xfrm>
          <a:prstGeom prst="rect">
            <a:avLst/>
          </a:prstGeom>
          <a:noFill/>
          <a:ln>
            <a:noFill/>
          </a:ln>
        </p:spPr>
      </p:sp>
      <p:sp>
        <p:nvSpPr>
          <p:cNvPr id="32" name="Google Shape;32;p74"/>
          <p:cNvSpPr>
            <a:spLocks noGrp="1"/>
          </p:cNvSpPr>
          <p:nvPr>
            <p:ph type="pic" idx="5"/>
          </p:nvPr>
        </p:nvSpPr>
        <p:spPr>
          <a:xfrm>
            <a:off x="6327775" y="5427663"/>
            <a:ext cx="1060450" cy="842962"/>
          </a:xfrm>
          <a:prstGeom prst="rect">
            <a:avLst/>
          </a:prstGeom>
          <a:noFill/>
          <a:ln>
            <a:noFill/>
          </a:ln>
        </p:spPr>
      </p:sp>
      <p:sp>
        <p:nvSpPr>
          <p:cNvPr id="33" name="Google Shape;33;p74"/>
          <p:cNvSpPr>
            <a:spLocks noGrp="1"/>
          </p:cNvSpPr>
          <p:nvPr>
            <p:ph type="pic" idx="6"/>
          </p:nvPr>
        </p:nvSpPr>
        <p:spPr>
          <a:xfrm>
            <a:off x="7902575" y="5427663"/>
            <a:ext cx="1211263" cy="946150"/>
          </a:xfrm>
          <a:prstGeom prst="rect">
            <a:avLst/>
          </a:prstGeom>
          <a:noFill/>
          <a:ln>
            <a:noFill/>
          </a:ln>
        </p:spPr>
      </p:sp>
      <p:sp>
        <p:nvSpPr>
          <p:cNvPr id="34" name="Google Shape;34;p74"/>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5"/>
        <p:cNvGrpSpPr/>
        <p:nvPr/>
      </p:nvGrpSpPr>
      <p:grpSpPr>
        <a:xfrm>
          <a:off x="0" y="0"/>
          <a:ext cx="0" cy="0"/>
          <a:chOff x="0" y="0"/>
          <a:chExt cx="0" cy="0"/>
        </a:xfrm>
      </p:grpSpPr>
      <p:pic>
        <p:nvPicPr>
          <p:cNvPr id="36" name="Google Shape;36;p75"/>
          <p:cNvPicPr preferRelativeResize="0"/>
          <p:nvPr/>
        </p:nvPicPr>
        <p:blipFill rotWithShape="1">
          <a:blip r:embed="rId2">
            <a:alphaModFix/>
          </a:blip>
          <a:srcRect/>
          <a:stretch/>
        </p:blipFill>
        <p:spPr>
          <a:xfrm>
            <a:off x="192" y="16"/>
            <a:ext cx="12191807" cy="6865874"/>
          </a:xfrm>
          <a:prstGeom prst="rect">
            <a:avLst/>
          </a:prstGeom>
          <a:noFill/>
          <a:ln>
            <a:noFill/>
          </a:ln>
        </p:spPr>
      </p:pic>
      <p:sp>
        <p:nvSpPr>
          <p:cNvPr id="37" name="Google Shape;37;p75"/>
          <p:cNvSpPr txBox="1">
            <a:spLocks noGrp="1"/>
          </p:cNvSpPr>
          <p:nvPr>
            <p:ph type="title"/>
          </p:nvPr>
        </p:nvSpPr>
        <p:spPr>
          <a:xfrm>
            <a:off x="838200" y="2291187"/>
            <a:ext cx="10515600" cy="684026"/>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8" name="Google Shape;38;p75"/>
          <p:cNvSpPr txBox="1">
            <a:spLocks noGrp="1"/>
          </p:cNvSpPr>
          <p:nvPr>
            <p:ph type="body" idx="1"/>
          </p:nvPr>
        </p:nvSpPr>
        <p:spPr>
          <a:xfrm>
            <a:off x="4867275" y="3619985"/>
            <a:ext cx="2457450" cy="597477"/>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1000"/>
              </a:spcBef>
              <a:spcAft>
                <a:spcPts val="0"/>
              </a:spcAft>
              <a:buClr>
                <a:schemeClr val="lt1"/>
              </a:buClr>
              <a:buSzPts val="2000"/>
              <a:buNone/>
              <a:defRPr sz="2000" b="0" i="0">
                <a:solidFill>
                  <a:schemeClr val="lt1"/>
                </a:solidFill>
                <a:latin typeface="Arial"/>
                <a:ea typeface="Arial"/>
                <a:cs typeface="Arial"/>
                <a:sym typeface="Arial"/>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9" name="Google Shape;39;p75"/>
          <p:cNvPicPr preferRelativeResize="0"/>
          <p:nvPr/>
        </p:nvPicPr>
        <p:blipFill rotWithShape="1">
          <a:blip r:embed="rId3">
            <a:alphaModFix/>
          </a:blip>
          <a:srcRect/>
          <a:stretch/>
        </p:blipFill>
        <p:spPr>
          <a:xfrm>
            <a:off x="424861" y="6356350"/>
            <a:ext cx="1699425" cy="383864"/>
          </a:xfrm>
          <a:prstGeom prst="rect">
            <a:avLst/>
          </a:prstGeom>
          <a:noFill/>
          <a:ln>
            <a:noFill/>
          </a:ln>
        </p:spPr>
      </p:pic>
      <p:sp>
        <p:nvSpPr>
          <p:cNvPr id="40" name="Google Shape;40;p75"/>
          <p:cNvSpPr txBox="1">
            <a:spLocks noGrp="1"/>
          </p:cNvSpPr>
          <p:nvPr>
            <p:ph type="ftr" idx="11"/>
          </p:nvPr>
        </p:nvSpPr>
        <p:spPr>
          <a:xfrm>
            <a:off x="2923890" y="6356350"/>
            <a:ext cx="880166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b="0" i="0" u="none" strike="noStrike">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Unit Slide">
  <p:cSld name="Unit Slide">
    <p:spTree>
      <p:nvGrpSpPr>
        <p:cNvPr id="1" name="Shape 41"/>
        <p:cNvGrpSpPr/>
        <p:nvPr/>
      </p:nvGrpSpPr>
      <p:grpSpPr>
        <a:xfrm>
          <a:off x="0" y="0"/>
          <a:ext cx="0" cy="0"/>
          <a:chOff x="0" y="0"/>
          <a:chExt cx="0" cy="0"/>
        </a:xfrm>
      </p:grpSpPr>
      <p:pic>
        <p:nvPicPr>
          <p:cNvPr id="42" name="Google Shape;42;p76"/>
          <p:cNvPicPr preferRelativeResize="0"/>
          <p:nvPr/>
        </p:nvPicPr>
        <p:blipFill rotWithShape="1">
          <a:blip r:embed="rId2">
            <a:alphaModFix/>
          </a:blip>
          <a:srcRect/>
          <a:stretch/>
        </p:blipFill>
        <p:spPr>
          <a:xfrm>
            <a:off x="192" y="16"/>
            <a:ext cx="12191807" cy="6865874"/>
          </a:xfrm>
          <a:prstGeom prst="rect">
            <a:avLst/>
          </a:prstGeom>
          <a:noFill/>
          <a:ln>
            <a:noFill/>
          </a:ln>
        </p:spPr>
      </p:pic>
      <p:sp>
        <p:nvSpPr>
          <p:cNvPr id="43" name="Google Shape;43;p76"/>
          <p:cNvSpPr txBox="1">
            <a:spLocks noGrp="1"/>
          </p:cNvSpPr>
          <p:nvPr>
            <p:ph type="body" idx="1"/>
          </p:nvPr>
        </p:nvSpPr>
        <p:spPr>
          <a:xfrm>
            <a:off x="1274574" y="2193424"/>
            <a:ext cx="9642852" cy="618014"/>
          </a:xfrm>
          <a:prstGeom prst="rect">
            <a:avLst/>
          </a:prstGeom>
          <a:noFill/>
          <a:ln>
            <a:noFill/>
          </a:ln>
        </p:spPr>
        <p:txBody>
          <a:bodyPr spcFirstLastPara="1" wrap="square" lIns="0" tIns="0" rIns="0" bIns="0" anchor="b" anchorCtr="0">
            <a:noAutofit/>
          </a:bodyPr>
          <a:lstStyle>
            <a:lvl1pPr marL="457200" lvl="0" indent="-228600" algn="ctr">
              <a:lnSpc>
                <a:spcPct val="90000"/>
              </a:lnSpc>
              <a:spcBef>
                <a:spcPts val="1000"/>
              </a:spcBef>
              <a:spcAft>
                <a:spcPts val="0"/>
              </a:spcAft>
              <a:buClr>
                <a:schemeClr val="lt1"/>
              </a:buClr>
              <a:buSzPts val="5000"/>
              <a:buNone/>
              <a:defRPr sz="5000" b="0" i="0">
                <a:solidFill>
                  <a:schemeClr val="lt1"/>
                </a:solidFill>
                <a:latin typeface="Arial"/>
                <a:ea typeface="Arial"/>
                <a:cs typeface="Arial"/>
                <a:sym typeface="Arial"/>
              </a:defRPr>
            </a:lvl1pPr>
            <a:lvl2pPr marL="914400" lvl="1" indent="-228600" algn="ctr">
              <a:lnSpc>
                <a:spcPct val="90000"/>
              </a:lnSpc>
              <a:spcBef>
                <a:spcPts val="500"/>
              </a:spcBef>
              <a:spcAft>
                <a:spcPts val="0"/>
              </a:spcAft>
              <a:buClr>
                <a:srgbClr val="004A78"/>
              </a:buClr>
              <a:buSzPts val="2400"/>
              <a:buNone/>
              <a:defRPr>
                <a:latin typeface="Arial"/>
                <a:ea typeface="Arial"/>
                <a:cs typeface="Arial"/>
                <a:sym typeface="Arial"/>
              </a:defRPr>
            </a:lvl2pPr>
            <a:lvl3pPr marL="1371600" lvl="2" indent="-228600" algn="ctr">
              <a:lnSpc>
                <a:spcPct val="90000"/>
              </a:lnSpc>
              <a:spcBef>
                <a:spcPts val="500"/>
              </a:spcBef>
              <a:spcAft>
                <a:spcPts val="0"/>
              </a:spcAft>
              <a:buClr>
                <a:srgbClr val="004A78"/>
              </a:buClr>
              <a:buSzPts val="2000"/>
              <a:buNone/>
              <a:defRPr>
                <a:latin typeface="Arial"/>
                <a:ea typeface="Arial"/>
                <a:cs typeface="Arial"/>
                <a:sym typeface="Arial"/>
              </a:defRPr>
            </a:lvl3pPr>
            <a:lvl4pPr marL="1828800" lvl="3" indent="-228600" algn="ctr">
              <a:lnSpc>
                <a:spcPct val="90000"/>
              </a:lnSpc>
              <a:spcBef>
                <a:spcPts val="500"/>
              </a:spcBef>
              <a:spcAft>
                <a:spcPts val="0"/>
              </a:spcAft>
              <a:buClr>
                <a:srgbClr val="004A78"/>
              </a:buClr>
              <a:buSzPts val="1800"/>
              <a:buNone/>
              <a:defRPr>
                <a:latin typeface="Arial"/>
                <a:ea typeface="Arial"/>
                <a:cs typeface="Arial"/>
                <a:sym typeface="Arial"/>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6"/>
          <p:cNvSpPr txBox="1">
            <a:spLocks noGrp="1"/>
          </p:cNvSpPr>
          <p:nvPr>
            <p:ph type="title"/>
          </p:nvPr>
        </p:nvSpPr>
        <p:spPr>
          <a:xfrm>
            <a:off x="838200" y="3096122"/>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pic>
        <p:nvPicPr>
          <p:cNvPr id="45" name="Google Shape;45;p76"/>
          <p:cNvPicPr preferRelativeResize="0"/>
          <p:nvPr/>
        </p:nvPicPr>
        <p:blipFill rotWithShape="1">
          <a:blip r:embed="rId3">
            <a:alphaModFix/>
          </a:blip>
          <a:srcRect/>
          <a:stretch/>
        </p:blipFill>
        <p:spPr>
          <a:xfrm>
            <a:off x="424861" y="6356350"/>
            <a:ext cx="1699425" cy="383864"/>
          </a:xfrm>
          <a:prstGeom prst="rect">
            <a:avLst/>
          </a:prstGeom>
          <a:noFill/>
          <a:ln>
            <a:noFill/>
          </a:ln>
        </p:spPr>
      </p:pic>
      <p:sp>
        <p:nvSpPr>
          <p:cNvPr id="46" name="Google Shape;46;p76"/>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hapter Slide">
  <p:cSld name="Chapter Slide">
    <p:spTree>
      <p:nvGrpSpPr>
        <p:cNvPr id="1" name="Shape 47"/>
        <p:cNvGrpSpPr/>
        <p:nvPr/>
      </p:nvGrpSpPr>
      <p:grpSpPr>
        <a:xfrm>
          <a:off x="0" y="0"/>
          <a:ext cx="0" cy="0"/>
          <a:chOff x="0" y="0"/>
          <a:chExt cx="0" cy="0"/>
        </a:xfrm>
      </p:grpSpPr>
      <p:pic>
        <p:nvPicPr>
          <p:cNvPr id="48" name="Google Shape;48;p77"/>
          <p:cNvPicPr preferRelativeResize="0"/>
          <p:nvPr/>
        </p:nvPicPr>
        <p:blipFill rotWithShape="1">
          <a:blip r:embed="rId2">
            <a:alphaModFix/>
          </a:blip>
          <a:srcRect/>
          <a:stretch/>
        </p:blipFill>
        <p:spPr>
          <a:xfrm>
            <a:off x="192" y="16"/>
            <a:ext cx="12191807" cy="6865874"/>
          </a:xfrm>
          <a:prstGeom prst="rect">
            <a:avLst/>
          </a:prstGeom>
          <a:noFill/>
          <a:ln>
            <a:noFill/>
          </a:ln>
        </p:spPr>
      </p:pic>
      <p:sp>
        <p:nvSpPr>
          <p:cNvPr id="49" name="Google Shape;49;p77"/>
          <p:cNvSpPr txBox="1">
            <a:spLocks noGrp="1"/>
          </p:cNvSpPr>
          <p:nvPr>
            <p:ph type="body" idx="1"/>
          </p:nvPr>
        </p:nvSpPr>
        <p:spPr>
          <a:xfrm>
            <a:off x="3996910" y="3112899"/>
            <a:ext cx="3297426" cy="618014"/>
          </a:xfrm>
          <a:prstGeom prst="rect">
            <a:avLst/>
          </a:prstGeom>
          <a:noFill/>
          <a:ln>
            <a:noFill/>
          </a:ln>
        </p:spPr>
        <p:txBody>
          <a:bodyPr spcFirstLastPara="1" wrap="square" lIns="0" tIns="0" rIns="0" bIns="0" anchor="b" anchorCtr="0">
            <a:noAutofit/>
          </a:bodyPr>
          <a:lstStyle>
            <a:lvl1pPr marL="457200" lvl="0" indent="-228600" algn="l">
              <a:lnSpc>
                <a:spcPct val="90000"/>
              </a:lnSpc>
              <a:spcBef>
                <a:spcPts val="1000"/>
              </a:spcBef>
              <a:spcAft>
                <a:spcPts val="0"/>
              </a:spcAft>
              <a:buClr>
                <a:schemeClr val="lt1"/>
              </a:buClr>
              <a:buSzPts val="3600"/>
              <a:buNone/>
              <a:defRPr sz="3600" b="0" i="0">
                <a:solidFill>
                  <a:schemeClr val="lt1"/>
                </a:solidFill>
                <a:latin typeface="Arial"/>
                <a:ea typeface="Arial"/>
                <a:cs typeface="Arial"/>
                <a:sym typeface="Arial"/>
              </a:defRPr>
            </a:lvl1pPr>
            <a:lvl2pPr marL="914400" lvl="1" indent="-228600" algn="ctr">
              <a:lnSpc>
                <a:spcPct val="90000"/>
              </a:lnSpc>
              <a:spcBef>
                <a:spcPts val="500"/>
              </a:spcBef>
              <a:spcAft>
                <a:spcPts val="0"/>
              </a:spcAft>
              <a:buClr>
                <a:srgbClr val="004A78"/>
              </a:buClr>
              <a:buSzPts val="2400"/>
              <a:buNone/>
              <a:defRPr>
                <a:latin typeface="Arial"/>
                <a:ea typeface="Arial"/>
                <a:cs typeface="Arial"/>
                <a:sym typeface="Arial"/>
              </a:defRPr>
            </a:lvl2pPr>
            <a:lvl3pPr marL="1371600" lvl="2" indent="-228600" algn="ctr">
              <a:lnSpc>
                <a:spcPct val="90000"/>
              </a:lnSpc>
              <a:spcBef>
                <a:spcPts val="500"/>
              </a:spcBef>
              <a:spcAft>
                <a:spcPts val="0"/>
              </a:spcAft>
              <a:buClr>
                <a:srgbClr val="004A78"/>
              </a:buClr>
              <a:buSzPts val="2000"/>
              <a:buNone/>
              <a:defRPr>
                <a:latin typeface="Arial"/>
                <a:ea typeface="Arial"/>
                <a:cs typeface="Arial"/>
                <a:sym typeface="Arial"/>
              </a:defRPr>
            </a:lvl3pPr>
            <a:lvl4pPr marL="1828800" lvl="3" indent="-228600" algn="ctr">
              <a:lnSpc>
                <a:spcPct val="90000"/>
              </a:lnSpc>
              <a:spcBef>
                <a:spcPts val="500"/>
              </a:spcBef>
              <a:spcAft>
                <a:spcPts val="0"/>
              </a:spcAft>
              <a:buClr>
                <a:srgbClr val="004A78"/>
              </a:buClr>
              <a:buSzPts val="1800"/>
              <a:buNone/>
              <a:defRPr>
                <a:latin typeface="Arial"/>
                <a:ea typeface="Arial"/>
                <a:cs typeface="Arial"/>
                <a:sym typeface="Arial"/>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7"/>
          <p:cNvSpPr txBox="1">
            <a:spLocks noGrp="1"/>
          </p:cNvSpPr>
          <p:nvPr>
            <p:ph type="title"/>
          </p:nvPr>
        </p:nvSpPr>
        <p:spPr>
          <a:xfrm>
            <a:off x="3996910" y="4035474"/>
            <a:ext cx="6402684" cy="672105"/>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77"/>
          <p:cNvSpPr>
            <a:spLocks noGrp="1"/>
          </p:cNvSpPr>
          <p:nvPr>
            <p:ph type="pic" idx="2"/>
          </p:nvPr>
        </p:nvSpPr>
        <p:spPr>
          <a:xfrm>
            <a:off x="246063" y="314482"/>
            <a:ext cx="3343275" cy="4318000"/>
          </a:xfrm>
          <a:prstGeom prst="rect">
            <a:avLst/>
          </a:prstGeom>
          <a:noFill/>
          <a:ln>
            <a:noFill/>
          </a:ln>
        </p:spPr>
      </p:sp>
      <p:pic>
        <p:nvPicPr>
          <p:cNvPr id="52" name="Google Shape;52;p77"/>
          <p:cNvPicPr preferRelativeResize="0"/>
          <p:nvPr/>
        </p:nvPicPr>
        <p:blipFill rotWithShape="1">
          <a:blip r:embed="rId3">
            <a:alphaModFix/>
          </a:blip>
          <a:srcRect/>
          <a:stretch/>
        </p:blipFill>
        <p:spPr>
          <a:xfrm>
            <a:off x="424861" y="6356350"/>
            <a:ext cx="1699425" cy="383864"/>
          </a:xfrm>
          <a:prstGeom prst="rect">
            <a:avLst/>
          </a:prstGeom>
          <a:noFill/>
          <a:ln>
            <a:noFill/>
          </a:ln>
        </p:spPr>
      </p:pic>
      <p:sp>
        <p:nvSpPr>
          <p:cNvPr id="53" name="Google Shape;53;p77"/>
          <p:cNvSpPr txBox="1">
            <a:spLocks noGrp="1"/>
          </p:cNvSpPr>
          <p:nvPr>
            <p:ph type="ftr" idx="11"/>
          </p:nvPr>
        </p:nvSpPr>
        <p:spPr>
          <a:xfrm>
            <a:off x="2923890" y="6356350"/>
            <a:ext cx="880166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b="0" i="0" u="none" strike="noStrike">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Sections and Content">
  <p:cSld name="Two Sections and Content">
    <p:spTree>
      <p:nvGrpSpPr>
        <p:cNvPr id="1" name="Shape 54"/>
        <p:cNvGrpSpPr/>
        <p:nvPr/>
      </p:nvGrpSpPr>
      <p:grpSpPr>
        <a:xfrm>
          <a:off x="0" y="0"/>
          <a:ext cx="0" cy="0"/>
          <a:chOff x="0" y="0"/>
          <a:chExt cx="0" cy="0"/>
        </a:xfrm>
      </p:grpSpPr>
      <p:sp>
        <p:nvSpPr>
          <p:cNvPr id="55" name="Google Shape;55;p7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6" name="Google Shape;56;p78"/>
          <p:cNvSpPr txBox="1">
            <a:spLocks noGrp="1"/>
          </p:cNvSpPr>
          <p:nvPr>
            <p:ph type="body" idx="1"/>
          </p:nvPr>
        </p:nvSpPr>
        <p:spPr>
          <a:xfrm>
            <a:off x="743574" y="1290690"/>
            <a:ext cx="10711543" cy="34804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6298"/>
              </a:buClr>
              <a:buSzPts val="2400"/>
              <a:buNone/>
              <a:defRPr sz="2400" b="1" i="0">
                <a:solidFill>
                  <a:srgbClr val="006298"/>
                </a:solidFill>
                <a:latin typeface="Arial"/>
                <a:ea typeface="Arial"/>
                <a:cs typeface="Arial"/>
                <a:sym typeface="Arial"/>
              </a:defRPr>
            </a:lvl1pPr>
            <a:lvl2pPr marL="914400" lvl="1" indent="-381000" algn="l">
              <a:lnSpc>
                <a:spcPct val="90000"/>
              </a:lnSpc>
              <a:spcBef>
                <a:spcPts val="500"/>
              </a:spcBef>
              <a:spcAft>
                <a:spcPts val="0"/>
              </a:spcAft>
              <a:buClr>
                <a:schemeClr val="lt1"/>
              </a:buClr>
              <a:buSzPts val="2400"/>
              <a:buChar char="•"/>
              <a:defRPr>
                <a:solidFill>
                  <a:schemeClr val="lt1"/>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78"/>
          <p:cNvSpPr txBox="1">
            <a:spLocks noGrp="1"/>
          </p:cNvSpPr>
          <p:nvPr>
            <p:ph type="body" idx="2"/>
          </p:nvPr>
        </p:nvSpPr>
        <p:spPr>
          <a:xfrm>
            <a:off x="740228" y="1737343"/>
            <a:ext cx="10711543" cy="1462674"/>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1000"/>
              </a:spcBef>
              <a:spcAft>
                <a:spcPts val="0"/>
              </a:spcAft>
              <a:buClr>
                <a:srgbClr val="000000"/>
              </a:buClr>
              <a:buSzPts val="2400"/>
              <a:buFont typeface="Arial"/>
              <a:buChar char="•"/>
              <a:defRPr sz="2400" b="0" i="0">
                <a:solidFill>
                  <a:srgbClr val="000000"/>
                </a:solidFill>
                <a:latin typeface="Arial"/>
                <a:ea typeface="Arial"/>
                <a:cs typeface="Arial"/>
                <a:sym typeface="Arial"/>
              </a:defRPr>
            </a:lvl1pPr>
            <a:lvl2pPr marL="914400" lvl="1" indent="-228600" algn="l">
              <a:lnSpc>
                <a:spcPct val="90000"/>
              </a:lnSpc>
              <a:spcBef>
                <a:spcPts val="500"/>
              </a:spcBef>
              <a:spcAft>
                <a:spcPts val="0"/>
              </a:spcAft>
              <a:buClr>
                <a:srgbClr val="000000"/>
              </a:buClr>
              <a:buSzPts val="2400"/>
              <a:buFont typeface="Arial"/>
              <a:buNone/>
              <a:defRPr>
                <a:solidFill>
                  <a:srgbClr val="000000"/>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78"/>
          <p:cNvSpPr txBox="1">
            <a:spLocks noGrp="1"/>
          </p:cNvSpPr>
          <p:nvPr>
            <p:ph type="body" idx="3"/>
          </p:nvPr>
        </p:nvSpPr>
        <p:spPr>
          <a:xfrm>
            <a:off x="743573" y="3389727"/>
            <a:ext cx="10711543" cy="34804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6298"/>
              </a:buClr>
              <a:buSzPts val="2400"/>
              <a:buNone/>
              <a:defRPr sz="2400" b="1" i="0">
                <a:solidFill>
                  <a:srgbClr val="006298"/>
                </a:solidFill>
                <a:latin typeface="Arial"/>
                <a:ea typeface="Arial"/>
                <a:cs typeface="Arial"/>
                <a:sym typeface="Arial"/>
              </a:defRPr>
            </a:lvl1pPr>
            <a:lvl2pPr marL="914400" lvl="1" indent="-381000" algn="l">
              <a:lnSpc>
                <a:spcPct val="90000"/>
              </a:lnSpc>
              <a:spcBef>
                <a:spcPts val="500"/>
              </a:spcBef>
              <a:spcAft>
                <a:spcPts val="0"/>
              </a:spcAft>
              <a:buClr>
                <a:schemeClr val="lt1"/>
              </a:buClr>
              <a:buSzPts val="2400"/>
              <a:buChar char="•"/>
              <a:defRPr>
                <a:solidFill>
                  <a:schemeClr val="lt1"/>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78"/>
          <p:cNvSpPr txBox="1">
            <a:spLocks noGrp="1"/>
          </p:cNvSpPr>
          <p:nvPr>
            <p:ph type="body" idx="4"/>
          </p:nvPr>
        </p:nvSpPr>
        <p:spPr>
          <a:xfrm>
            <a:off x="743572" y="3856204"/>
            <a:ext cx="10711543" cy="1462674"/>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0000"/>
              </a:buClr>
              <a:buSzPts val="2400"/>
              <a:buNone/>
              <a:defRPr sz="2400" b="0" i="0">
                <a:solidFill>
                  <a:srgbClr val="000000"/>
                </a:solidFill>
                <a:latin typeface="Arial"/>
                <a:ea typeface="Arial"/>
                <a:cs typeface="Arial"/>
                <a:sym typeface="Arial"/>
              </a:defRPr>
            </a:lvl1pPr>
            <a:lvl2pPr marL="914400" lvl="1" indent="-381000" algn="l">
              <a:lnSpc>
                <a:spcPct val="90000"/>
              </a:lnSpc>
              <a:spcBef>
                <a:spcPts val="500"/>
              </a:spcBef>
              <a:spcAft>
                <a:spcPts val="0"/>
              </a:spcAft>
              <a:buClr>
                <a:schemeClr val="lt1"/>
              </a:buClr>
              <a:buSzPts val="2400"/>
              <a:buChar char="•"/>
              <a:defRPr>
                <a:solidFill>
                  <a:schemeClr val="lt1"/>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78"/>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Comparison">
  <p:cSld name="Two Content Comparison">
    <p:spTree>
      <p:nvGrpSpPr>
        <p:cNvPr id="1" name="Shape 61"/>
        <p:cNvGrpSpPr/>
        <p:nvPr/>
      </p:nvGrpSpPr>
      <p:grpSpPr>
        <a:xfrm>
          <a:off x="0" y="0"/>
          <a:ext cx="0" cy="0"/>
          <a:chOff x="0" y="0"/>
          <a:chExt cx="0" cy="0"/>
        </a:xfrm>
      </p:grpSpPr>
      <p:sp>
        <p:nvSpPr>
          <p:cNvPr id="62" name="Google Shape;62;p7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3" name="Google Shape;63;p79"/>
          <p:cNvSpPr txBox="1">
            <a:spLocks noGrp="1"/>
          </p:cNvSpPr>
          <p:nvPr>
            <p:ph type="body" idx="1"/>
          </p:nvPr>
        </p:nvSpPr>
        <p:spPr>
          <a:xfrm>
            <a:off x="743576" y="1579015"/>
            <a:ext cx="5084468"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79"/>
          <p:cNvSpPr txBox="1">
            <a:spLocks noGrp="1"/>
          </p:cNvSpPr>
          <p:nvPr>
            <p:ph type="body" idx="2"/>
          </p:nvPr>
        </p:nvSpPr>
        <p:spPr>
          <a:xfrm>
            <a:off x="743576" y="2202774"/>
            <a:ext cx="5084468"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Font typeface="Arial"/>
              <a:buNone/>
              <a:defRPr sz="1800">
                <a:solidFill>
                  <a:srgbClr val="000000"/>
                </a:solidFill>
              </a:defRPr>
            </a:lvl1pPr>
            <a:lvl2pPr marL="914400" lvl="1" indent="-228600" algn="l">
              <a:lnSpc>
                <a:spcPct val="90000"/>
              </a:lnSpc>
              <a:spcBef>
                <a:spcPts val="500"/>
              </a:spcBef>
              <a:spcAft>
                <a:spcPts val="0"/>
              </a:spcAft>
              <a:buClr>
                <a:srgbClr val="004A78"/>
              </a:buClr>
              <a:buSzPts val="1800"/>
              <a:buFont typeface="Arial"/>
              <a:buNone/>
              <a:defRPr sz="1800">
                <a:solidFill>
                  <a:srgbClr val="000000"/>
                </a:solidFill>
              </a:defRPr>
            </a:lvl2pPr>
            <a:lvl3pPr marL="1371600" lvl="2" indent="-342900" algn="l">
              <a:lnSpc>
                <a:spcPct val="90000"/>
              </a:lnSpc>
              <a:spcBef>
                <a:spcPts val="500"/>
              </a:spcBef>
              <a:spcAft>
                <a:spcPts val="0"/>
              </a:spcAft>
              <a:buClr>
                <a:srgbClr val="004A78"/>
              </a:buClr>
              <a:buSzPts val="1800"/>
              <a:buFont typeface="Arial"/>
              <a:buChar char="•"/>
              <a:defRPr sz="1800">
                <a:solidFill>
                  <a:srgbClr val="000000"/>
                </a:solidFill>
              </a:defRPr>
            </a:lvl3pPr>
            <a:lvl4pPr marL="1828800" lvl="3" indent="-342900" algn="l">
              <a:lnSpc>
                <a:spcPct val="90000"/>
              </a:lnSpc>
              <a:spcBef>
                <a:spcPts val="500"/>
              </a:spcBef>
              <a:spcAft>
                <a:spcPts val="0"/>
              </a:spcAft>
              <a:buClr>
                <a:srgbClr val="004A78"/>
              </a:buClr>
              <a:buSzPts val="1800"/>
              <a:buFont typeface="Arial"/>
              <a:buChar char="•"/>
              <a:defRPr sz="1800">
                <a:solidFill>
                  <a:srgbClr val="000000"/>
                </a:solidFill>
              </a:defRPr>
            </a:lvl4pPr>
            <a:lvl5pPr marL="2286000" lvl="4" indent="-342900" algn="l">
              <a:lnSpc>
                <a:spcPct val="90000"/>
              </a:lnSpc>
              <a:spcBef>
                <a:spcPts val="500"/>
              </a:spcBef>
              <a:spcAft>
                <a:spcPts val="0"/>
              </a:spcAft>
              <a:buClr>
                <a:srgbClr val="004A78"/>
              </a:buClr>
              <a:buSzPts val="1800"/>
              <a:buFont typeface="Arial"/>
              <a:buChar char="•"/>
              <a:defRPr sz="1800">
                <a:solidFill>
                  <a:srgbClr val="000000"/>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79"/>
          <p:cNvSpPr txBox="1">
            <a:spLocks noGrp="1"/>
          </p:cNvSpPr>
          <p:nvPr>
            <p:ph type="body" idx="3"/>
          </p:nvPr>
        </p:nvSpPr>
        <p:spPr>
          <a:xfrm>
            <a:off x="6370651" y="1579015"/>
            <a:ext cx="5084468"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79"/>
          <p:cNvSpPr txBox="1">
            <a:spLocks noGrp="1"/>
          </p:cNvSpPr>
          <p:nvPr>
            <p:ph type="body" idx="4"/>
          </p:nvPr>
        </p:nvSpPr>
        <p:spPr>
          <a:xfrm>
            <a:off x="6370651" y="2202774"/>
            <a:ext cx="5084468"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None/>
              <a:defRPr sz="1800">
                <a:solidFill>
                  <a:srgbClr val="000000"/>
                </a:solidFill>
              </a:defRPr>
            </a:lvl1pPr>
            <a:lvl2pPr marL="914400" lvl="1" indent="-342900" algn="l">
              <a:lnSpc>
                <a:spcPct val="90000"/>
              </a:lnSpc>
              <a:spcBef>
                <a:spcPts val="500"/>
              </a:spcBef>
              <a:spcAft>
                <a:spcPts val="0"/>
              </a:spcAft>
              <a:buClr>
                <a:srgbClr val="004A78"/>
              </a:buClr>
              <a:buSzPts val="1800"/>
              <a:buFont typeface="Arial"/>
              <a:buChar char="‒"/>
              <a:defRPr sz="1800">
                <a:solidFill>
                  <a:srgbClr val="000000"/>
                </a:solidFill>
              </a:defRPr>
            </a:lvl2pPr>
            <a:lvl3pPr marL="1371600" lvl="2" indent="-342900" algn="l">
              <a:lnSpc>
                <a:spcPct val="90000"/>
              </a:lnSpc>
              <a:spcBef>
                <a:spcPts val="500"/>
              </a:spcBef>
              <a:spcAft>
                <a:spcPts val="0"/>
              </a:spcAft>
              <a:buClr>
                <a:srgbClr val="004A78"/>
              </a:buClr>
              <a:buSzPts val="1800"/>
              <a:buChar char="•"/>
              <a:defRPr sz="1800">
                <a:solidFill>
                  <a:srgbClr val="000000"/>
                </a:solidFill>
              </a:defRPr>
            </a:lvl3pPr>
            <a:lvl4pPr marL="1828800" lvl="3" indent="-342900" algn="l">
              <a:lnSpc>
                <a:spcPct val="90000"/>
              </a:lnSpc>
              <a:spcBef>
                <a:spcPts val="500"/>
              </a:spcBef>
              <a:spcAft>
                <a:spcPts val="0"/>
              </a:spcAft>
              <a:buClr>
                <a:srgbClr val="004A78"/>
              </a:buClr>
              <a:buSzPts val="1800"/>
              <a:buChar char="•"/>
              <a:defRPr sz="1800">
                <a:solidFill>
                  <a:srgbClr val="000000"/>
                </a:solidFill>
              </a:defRPr>
            </a:lvl4pPr>
            <a:lvl5pPr marL="2286000" lvl="4" indent="-342900" algn="l">
              <a:lnSpc>
                <a:spcPct val="90000"/>
              </a:lnSpc>
              <a:spcBef>
                <a:spcPts val="500"/>
              </a:spcBef>
              <a:spcAft>
                <a:spcPts val="0"/>
              </a:spcAft>
              <a:buClr>
                <a:srgbClr val="004A78"/>
              </a:buClr>
              <a:buSzPts val="1800"/>
              <a:buChar char="•"/>
              <a:defRPr sz="1800">
                <a:solidFill>
                  <a:srgbClr val="000000"/>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79"/>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ree Content Comparison">
  <p:cSld name="Three Content Comparison">
    <p:spTree>
      <p:nvGrpSpPr>
        <p:cNvPr id="1" name="Shape 68"/>
        <p:cNvGrpSpPr/>
        <p:nvPr/>
      </p:nvGrpSpPr>
      <p:grpSpPr>
        <a:xfrm>
          <a:off x="0" y="0"/>
          <a:ext cx="0" cy="0"/>
          <a:chOff x="0" y="0"/>
          <a:chExt cx="0" cy="0"/>
        </a:xfrm>
      </p:grpSpPr>
      <p:sp>
        <p:nvSpPr>
          <p:cNvPr id="69" name="Google Shape;69;p8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0" name="Google Shape;70;p80"/>
          <p:cNvSpPr txBox="1">
            <a:spLocks noGrp="1"/>
          </p:cNvSpPr>
          <p:nvPr>
            <p:ph type="body" idx="1"/>
          </p:nvPr>
        </p:nvSpPr>
        <p:spPr>
          <a:xfrm>
            <a:off x="743576" y="1579015"/>
            <a:ext cx="3300402"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80"/>
          <p:cNvSpPr txBox="1">
            <a:spLocks noGrp="1"/>
          </p:cNvSpPr>
          <p:nvPr>
            <p:ph type="body" idx="2"/>
          </p:nvPr>
        </p:nvSpPr>
        <p:spPr>
          <a:xfrm>
            <a:off x="743576" y="2202774"/>
            <a:ext cx="3300402"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Font typeface="Arial"/>
              <a:buNone/>
              <a:defRPr sz="1800">
                <a:solidFill>
                  <a:srgbClr val="000000"/>
                </a:solidFill>
              </a:defRPr>
            </a:lvl1pPr>
            <a:lvl2pPr marL="914400" lvl="1" indent="-342900" algn="l">
              <a:lnSpc>
                <a:spcPct val="90000"/>
              </a:lnSpc>
              <a:spcBef>
                <a:spcPts val="500"/>
              </a:spcBef>
              <a:spcAft>
                <a:spcPts val="0"/>
              </a:spcAft>
              <a:buClr>
                <a:srgbClr val="004A78"/>
              </a:buClr>
              <a:buSzPts val="1800"/>
              <a:buFont typeface="Arial"/>
              <a:buChar char="‒"/>
              <a:defRPr sz="1800"/>
            </a:lvl2pPr>
            <a:lvl3pPr marL="1371600" lvl="2" indent="-342900" algn="l">
              <a:lnSpc>
                <a:spcPct val="90000"/>
              </a:lnSpc>
              <a:spcBef>
                <a:spcPts val="500"/>
              </a:spcBef>
              <a:spcAft>
                <a:spcPts val="0"/>
              </a:spcAft>
              <a:buClr>
                <a:srgbClr val="004A78"/>
              </a:buClr>
              <a:buSzPts val="1800"/>
              <a:buChar char="•"/>
              <a:defRPr sz="1800"/>
            </a:lvl3pPr>
            <a:lvl4pPr marL="1828800" lvl="3" indent="-342900" algn="l">
              <a:lnSpc>
                <a:spcPct val="90000"/>
              </a:lnSpc>
              <a:spcBef>
                <a:spcPts val="500"/>
              </a:spcBef>
              <a:spcAft>
                <a:spcPts val="0"/>
              </a:spcAft>
              <a:buClr>
                <a:srgbClr val="004A78"/>
              </a:buClr>
              <a:buSzPts val="1800"/>
              <a:buChar char="•"/>
              <a:defRPr sz="1800"/>
            </a:lvl4pPr>
            <a:lvl5pPr marL="2286000" lvl="4" indent="-342900" algn="l">
              <a:lnSpc>
                <a:spcPct val="90000"/>
              </a:lnSpc>
              <a:spcBef>
                <a:spcPts val="500"/>
              </a:spcBef>
              <a:spcAft>
                <a:spcPts val="0"/>
              </a:spcAft>
              <a:buClr>
                <a:srgbClr val="004A78"/>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80"/>
          <p:cNvSpPr txBox="1">
            <a:spLocks noGrp="1"/>
          </p:cNvSpPr>
          <p:nvPr>
            <p:ph type="body" idx="3"/>
          </p:nvPr>
        </p:nvSpPr>
        <p:spPr>
          <a:xfrm>
            <a:off x="4445799" y="1579015"/>
            <a:ext cx="3300402"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80"/>
          <p:cNvSpPr txBox="1">
            <a:spLocks noGrp="1"/>
          </p:cNvSpPr>
          <p:nvPr>
            <p:ph type="body" idx="4"/>
          </p:nvPr>
        </p:nvSpPr>
        <p:spPr>
          <a:xfrm>
            <a:off x="4445799" y="2202774"/>
            <a:ext cx="3300402"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None/>
              <a:defRPr sz="1800">
                <a:solidFill>
                  <a:srgbClr val="000000"/>
                </a:solidFill>
              </a:defRPr>
            </a:lvl1pPr>
            <a:lvl2pPr marL="914400" lvl="1" indent="-342900" algn="l">
              <a:lnSpc>
                <a:spcPct val="90000"/>
              </a:lnSpc>
              <a:spcBef>
                <a:spcPts val="500"/>
              </a:spcBef>
              <a:spcAft>
                <a:spcPts val="0"/>
              </a:spcAft>
              <a:buClr>
                <a:srgbClr val="004A78"/>
              </a:buClr>
              <a:buSzPts val="1800"/>
              <a:buFont typeface="Arial"/>
              <a:buChar char="‒"/>
              <a:defRPr sz="1800"/>
            </a:lvl2pPr>
            <a:lvl3pPr marL="1371600" lvl="2" indent="-342900" algn="l">
              <a:lnSpc>
                <a:spcPct val="90000"/>
              </a:lnSpc>
              <a:spcBef>
                <a:spcPts val="500"/>
              </a:spcBef>
              <a:spcAft>
                <a:spcPts val="0"/>
              </a:spcAft>
              <a:buClr>
                <a:srgbClr val="004A78"/>
              </a:buClr>
              <a:buSzPts val="1800"/>
              <a:buChar char="•"/>
              <a:defRPr sz="1800"/>
            </a:lvl3pPr>
            <a:lvl4pPr marL="1828800" lvl="3" indent="-342900" algn="l">
              <a:lnSpc>
                <a:spcPct val="90000"/>
              </a:lnSpc>
              <a:spcBef>
                <a:spcPts val="500"/>
              </a:spcBef>
              <a:spcAft>
                <a:spcPts val="0"/>
              </a:spcAft>
              <a:buClr>
                <a:srgbClr val="004A78"/>
              </a:buClr>
              <a:buSzPts val="1800"/>
              <a:buChar char="•"/>
              <a:defRPr sz="1800"/>
            </a:lvl4pPr>
            <a:lvl5pPr marL="2286000" lvl="4" indent="-342900" algn="l">
              <a:lnSpc>
                <a:spcPct val="90000"/>
              </a:lnSpc>
              <a:spcBef>
                <a:spcPts val="500"/>
              </a:spcBef>
              <a:spcAft>
                <a:spcPts val="0"/>
              </a:spcAft>
              <a:buClr>
                <a:srgbClr val="004A78"/>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80"/>
          <p:cNvSpPr txBox="1">
            <a:spLocks noGrp="1"/>
          </p:cNvSpPr>
          <p:nvPr>
            <p:ph type="body" idx="5"/>
          </p:nvPr>
        </p:nvSpPr>
        <p:spPr>
          <a:xfrm>
            <a:off x="8145953" y="1579015"/>
            <a:ext cx="3300402"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80"/>
          <p:cNvSpPr txBox="1">
            <a:spLocks noGrp="1"/>
          </p:cNvSpPr>
          <p:nvPr>
            <p:ph type="body" idx="6"/>
          </p:nvPr>
        </p:nvSpPr>
        <p:spPr>
          <a:xfrm>
            <a:off x="8154717" y="2202774"/>
            <a:ext cx="3300402"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None/>
              <a:defRPr sz="1800">
                <a:solidFill>
                  <a:srgbClr val="000000"/>
                </a:solidFill>
              </a:defRPr>
            </a:lvl1pPr>
            <a:lvl2pPr marL="914400" lvl="1" indent="-342900" algn="l">
              <a:lnSpc>
                <a:spcPct val="90000"/>
              </a:lnSpc>
              <a:spcBef>
                <a:spcPts val="500"/>
              </a:spcBef>
              <a:spcAft>
                <a:spcPts val="0"/>
              </a:spcAft>
              <a:buClr>
                <a:srgbClr val="004A78"/>
              </a:buClr>
              <a:buSzPts val="1800"/>
              <a:buFont typeface="Arial"/>
              <a:buChar char="‒"/>
              <a:defRPr sz="1800"/>
            </a:lvl2pPr>
            <a:lvl3pPr marL="1371600" lvl="2" indent="-342900" algn="l">
              <a:lnSpc>
                <a:spcPct val="90000"/>
              </a:lnSpc>
              <a:spcBef>
                <a:spcPts val="500"/>
              </a:spcBef>
              <a:spcAft>
                <a:spcPts val="0"/>
              </a:spcAft>
              <a:buClr>
                <a:srgbClr val="004A78"/>
              </a:buClr>
              <a:buSzPts val="1800"/>
              <a:buChar char="•"/>
              <a:defRPr sz="1800"/>
            </a:lvl3pPr>
            <a:lvl4pPr marL="1828800" lvl="3" indent="-342900" algn="l">
              <a:lnSpc>
                <a:spcPct val="90000"/>
              </a:lnSpc>
              <a:spcBef>
                <a:spcPts val="500"/>
              </a:spcBef>
              <a:spcAft>
                <a:spcPts val="0"/>
              </a:spcAft>
              <a:buClr>
                <a:srgbClr val="004A78"/>
              </a:buClr>
              <a:buSzPts val="1800"/>
              <a:buChar char="•"/>
              <a:defRPr sz="1800"/>
            </a:lvl4pPr>
            <a:lvl5pPr marL="2286000" lvl="4" indent="-342900" algn="l">
              <a:lnSpc>
                <a:spcPct val="90000"/>
              </a:lnSpc>
              <a:spcBef>
                <a:spcPts val="500"/>
              </a:spcBef>
              <a:spcAft>
                <a:spcPts val="0"/>
              </a:spcAft>
              <a:buClr>
                <a:srgbClr val="004A78"/>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80"/>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with Caption">
  <p:cSld name="Title and Content with Caption">
    <p:spTree>
      <p:nvGrpSpPr>
        <p:cNvPr id="1" name="Shape 77"/>
        <p:cNvGrpSpPr/>
        <p:nvPr/>
      </p:nvGrpSpPr>
      <p:grpSpPr>
        <a:xfrm>
          <a:off x="0" y="0"/>
          <a:ext cx="0" cy="0"/>
          <a:chOff x="0" y="0"/>
          <a:chExt cx="0" cy="0"/>
        </a:xfrm>
      </p:grpSpPr>
      <p:sp>
        <p:nvSpPr>
          <p:cNvPr id="78" name="Google Shape;78;p8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9" name="Google Shape;79;p81"/>
          <p:cNvSpPr txBox="1">
            <a:spLocks noGrp="1"/>
          </p:cNvSpPr>
          <p:nvPr>
            <p:ph type="body" idx="1"/>
          </p:nvPr>
        </p:nvSpPr>
        <p:spPr>
          <a:xfrm>
            <a:off x="743576" y="1289684"/>
            <a:ext cx="10711543" cy="2750053"/>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0000"/>
              </a:buClr>
              <a:buSzPts val="2400"/>
              <a:buFont typeface="Arial"/>
              <a:buNone/>
              <a:defRPr sz="2400" b="0" i="0">
                <a:solidFill>
                  <a:srgbClr val="000000"/>
                </a:solidFill>
                <a:latin typeface="Arial"/>
                <a:ea typeface="Arial"/>
                <a:cs typeface="Arial"/>
                <a:sym typeface="Arial"/>
              </a:defRPr>
            </a:lvl1pPr>
            <a:lvl2pPr marL="914400" lvl="1" indent="-228600" algn="l">
              <a:lnSpc>
                <a:spcPct val="90000"/>
              </a:lnSpc>
              <a:spcBef>
                <a:spcPts val="500"/>
              </a:spcBef>
              <a:spcAft>
                <a:spcPts val="0"/>
              </a:spcAft>
              <a:buClr>
                <a:srgbClr val="000000"/>
              </a:buClr>
              <a:buSzPts val="2400"/>
              <a:buFont typeface="Arial"/>
              <a:buNone/>
              <a:defRPr>
                <a:solidFill>
                  <a:srgbClr val="000000"/>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81"/>
          <p:cNvSpPr txBox="1">
            <a:spLocks noGrp="1"/>
          </p:cNvSpPr>
          <p:nvPr>
            <p:ph type="body" idx="2"/>
          </p:nvPr>
        </p:nvSpPr>
        <p:spPr>
          <a:xfrm>
            <a:off x="740228" y="4846655"/>
            <a:ext cx="10711543" cy="8255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rgbClr val="006298"/>
              </a:buClr>
              <a:buSzPts val="1800"/>
              <a:buFont typeface="Arial"/>
              <a:buNone/>
              <a:defRPr sz="1800">
                <a:solidFill>
                  <a:srgbClr val="006298"/>
                </a:solidFill>
                <a:latin typeface="Arial"/>
                <a:ea typeface="Arial"/>
                <a:cs typeface="Arial"/>
                <a:sym typeface="Arial"/>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81"/>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 and Caption">
  <p:cSld name="Image and Caption">
    <p:spTree>
      <p:nvGrpSpPr>
        <p:cNvPr id="1" name="Shape 82"/>
        <p:cNvGrpSpPr/>
        <p:nvPr/>
      </p:nvGrpSpPr>
      <p:grpSpPr>
        <a:xfrm>
          <a:off x="0" y="0"/>
          <a:ext cx="0" cy="0"/>
          <a:chOff x="0" y="0"/>
          <a:chExt cx="0" cy="0"/>
        </a:xfrm>
      </p:grpSpPr>
      <p:sp>
        <p:nvSpPr>
          <p:cNvPr id="83" name="Google Shape;83;p8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4" name="Google Shape;84;p82"/>
          <p:cNvSpPr>
            <a:spLocks noGrp="1"/>
          </p:cNvSpPr>
          <p:nvPr>
            <p:ph type="pic" idx="2"/>
          </p:nvPr>
        </p:nvSpPr>
        <p:spPr>
          <a:xfrm>
            <a:off x="733118" y="1619557"/>
            <a:ext cx="6477000" cy="4259263"/>
          </a:xfrm>
          <a:prstGeom prst="rect">
            <a:avLst/>
          </a:prstGeom>
          <a:noFill/>
          <a:ln>
            <a:noFill/>
          </a:ln>
        </p:spPr>
      </p:sp>
      <p:sp>
        <p:nvSpPr>
          <p:cNvPr id="85" name="Google Shape;85;p82"/>
          <p:cNvSpPr txBox="1">
            <a:spLocks noGrp="1"/>
          </p:cNvSpPr>
          <p:nvPr>
            <p:ph type="body" idx="1"/>
          </p:nvPr>
        </p:nvSpPr>
        <p:spPr>
          <a:xfrm>
            <a:off x="7478972" y="4070657"/>
            <a:ext cx="3976406" cy="1808163"/>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rgbClr val="006298"/>
              </a:buClr>
              <a:buSzPts val="1800"/>
              <a:buFont typeface="Arial"/>
              <a:buNone/>
              <a:defRPr sz="1800">
                <a:solidFill>
                  <a:srgbClr val="006298"/>
                </a:solidFill>
                <a:latin typeface="Arial"/>
                <a:ea typeface="Arial"/>
                <a:cs typeface="Arial"/>
                <a:sym typeface="Arial"/>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82"/>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ulleted List">
  <p:cSld name="Bulleted List">
    <p:spTree>
      <p:nvGrpSpPr>
        <p:cNvPr id="1" name="Shape 87"/>
        <p:cNvGrpSpPr/>
        <p:nvPr/>
      </p:nvGrpSpPr>
      <p:grpSpPr>
        <a:xfrm>
          <a:off x="0" y="0"/>
          <a:ext cx="0" cy="0"/>
          <a:chOff x="0" y="0"/>
          <a:chExt cx="0" cy="0"/>
        </a:xfrm>
      </p:grpSpPr>
      <p:sp>
        <p:nvSpPr>
          <p:cNvPr id="88" name="Google Shape;88;p8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9" name="Google Shape;89;p83"/>
          <p:cNvSpPr txBox="1">
            <a:spLocks noGrp="1"/>
          </p:cNvSpPr>
          <p:nvPr>
            <p:ph type="body" idx="1"/>
          </p:nvPr>
        </p:nvSpPr>
        <p:spPr>
          <a:xfrm>
            <a:off x="743576" y="1638300"/>
            <a:ext cx="10711543" cy="4394200"/>
          </a:xfrm>
          <a:prstGeom prst="rect">
            <a:avLst/>
          </a:prstGeom>
          <a:noFill/>
          <a:ln>
            <a:noFill/>
          </a:ln>
        </p:spPr>
        <p:txBody>
          <a:bodyPr spcFirstLastPara="1" wrap="square" lIns="0" tIns="0" rIns="0" bIns="0" anchor="t" anchorCtr="0">
            <a:normAutofit/>
          </a:bodyPr>
          <a:lstStyle>
            <a:lvl1pPr marL="457200" lvl="0" indent="-355600" algn="l">
              <a:lnSpc>
                <a:spcPct val="90000"/>
              </a:lnSpc>
              <a:spcBef>
                <a:spcPts val="1000"/>
              </a:spcBef>
              <a:spcAft>
                <a:spcPts val="0"/>
              </a:spcAft>
              <a:buClr>
                <a:srgbClr val="004A78"/>
              </a:buClr>
              <a:buSzPts val="2000"/>
              <a:buFont typeface="Arial"/>
              <a:buChar char="•"/>
              <a:defRPr sz="2000">
                <a:solidFill>
                  <a:srgbClr val="000000"/>
                </a:solidFill>
              </a:defRPr>
            </a:lvl1pPr>
            <a:lvl2pPr marL="914400" marR="0" lvl="1" indent="-355600" algn="l">
              <a:lnSpc>
                <a:spcPct val="90000"/>
              </a:lnSpc>
              <a:spcBef>
                <a:spcPts val="500"/>
              </a:spcBef>
              <a:spcAft>
                <a:spcPts val="0"/>
              </a:spcAft>
              <a:buClr>
                <a:srgbClr val="FF6300"/>
              </a:buClr>
              <a:buSzPts val="2000"/>
              <a:buFont typeface="Arial"/>
              <a:buChar char="•"/>
              <a:defRPr sz="2000"/>
            </a:lvl2pPr>
            <a:lvl3pPr marL="1371600" lvl="2" indent="-355600" algn="l">
              <a:lnSpc>
                <a:spcPct val="90000"/>
              </a:lnSpc>
              <a:spcBef>
                <a:spcPts val="500"/>
              </a:spcBef>
              <a:spcAft>
                <a:spcPts val="0"/>
              </a:spcAft>
              <a:buClr>
                <a:srgbClr val="000000"/>
              </a:buClr>
              <a:buSzPts val="2000"/>
              <a:buFont typeface="Arial"/>
              <a:buChar char="•"/>
              <a:defRPr sz="2000"/>
            </a:lvl3pPr>
            <a:lvl4pPr marL="1828800" lvl="3" indent="-292100" algn="l">
              <a:lnSpc>
                <a:spcPct val="90000"/>
              </a:lnSpc>
              <a:spcBef>
                <a:spcPts val="500"/>
              </a:spcBef>
              <a:spcAft>
                <a:spcPts val="0"/>
              </a:spcAft>
              <a:buClr>
                <a:srgbClr val="000000"/>
              </a:buClr>
              <a:buSzPts val="1000"/>
              <a:buFont typeface="Calibri"/>
              <a:buChar char="▶"/>
              <a:defRPr sz="2000"/>
            </a:lvl4pPr>
            <a:lvl5pPr marL="2286000" lvl="4" indent="-355600" algn="l">
              <a:lnSpc>
                <a:spcPct val="90000"/>
              </a:lnSpc>
              <a:spcBef>
                <a:spcPts val="500"/>
              </a:spcBef>
              <a:spcAft>
                <a:spcPts val="0"/>
              </a:spcAft>
              <a:buClr>
                <a:srgbClr val="000000"/>
              </a:buClr>
              <a:buSzPts val="2000"/>
              <a:buFont typeface="Helvetica Neue"/>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83"/>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umbered List">
  <p:cSld name="Numbered List">
    <p:spTree>
      <p:nvGrpSpPr>
        <p:cNvPr id="1" name="Shape 91"/>
        <p:cNvGrpSpPr/>
        <p:nvPr/>
      </p:nvGrpSpPr>
      <p:grpSpPr>
        <a:xfrm>
          <a:off x="0" y="0"/>
          <a:ext cx="0" cy="0"/>
          <a:chOff x="0" y="0"/>
          <a:chExt cx="0" cy="0"/>
        </a:xfrm>
      </p:grpSpPr>
      <p:sp>
        <p:nvSpPr>
          <p:cNvPr id="92" name="Google Shape;92;p8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3" name="Google Shape;93;p84"/>
          <p:cNvSpPr txBox="1">
            <a:spLocks noGrp="1"/>
          </p:cNvSpPr>
          <p:nvPr>
            <p:ph type="body" idx="1"/>
          </p:nvPr>
        </p:nvSpPr>
        <p:spPr>
          <a:xfrm>
            <a:off x="743576" y="1638300"/>
            <a:ext cx="10711543" cy="4394200"/>
          </a:xfrm>
          <a:prstGeom prst="rect">
            <a:avLst/>
          </a:prstGeom>
          <a:noFill/>
          <a:ln>
            <a:noFill/>
          </a:ln>
        </p:spPr>
        <p:txBody>
          <a:bodyPr spcFirstLastPara="1" wrap="square" lIns="0" tIns="0" rIns="0" bIns="0" anchor="t" anchorCtr="0">
            <a:normAutofit/>
          </a:bodyPr>
          <a:lstStyle>
            <a:lvl1pPr marL="457200" lvl="0" indent="-355600" algn="l">
              <a:lnSpc>
                <a:spcPct val="90000"/>
              </a:lnSpc>
              <a:spcBef>
                <a:spcPts val="1000"/>
              </a:spcBef>
              <a:spcAft>
                <a:spcPts val="0"/>
              </a:spcAft>
              <a:buClr>
                <a:srgbClr val="004A78"/>
              </a:buClr>
              <a:buSzPts val="2000"/>
              <a:buFont typeface="Calibri"/>
              <a:buAutoNum type="arabicPeriod"/>
              <a:defRPr sz="2000">
                <a:solidFill>
                  <a:srgbClr val="000000"/>
                </a:solidFill>
              </a:defRPr>
            </a:lvl1pPr>
            <a:lvl2pPr marL="914400" marR="0" lvl="1" indent="-228600" algn="l">
              <a:lnSpc>
                <a:spcPct val="90000"/>
              </a:lnSpc>
              <a:spcBef>
                <a:spcPts val="500"/>
              </a:spcBef>
              <a:spcAft>
                <a:spcPts val="0"/>
              </a:spcAft>
              <a:buClr>
                <a:srgbClr val="006298"/>
              </a:buClr>
              <a:buSzPts val="2000"/>
              <a:buFont typeface="Arial"/>
              <a:buNone/>
              <a:defRPr sz="2000"/>
            </a:lvl2pPr>
            <a:lvl3pPr marL="1371600" lvl="2" indent="-355600" algn="l">
              <a:lnSpc>
                <a:spcPct val="90000"/>
              </a:lnSpc>
              <a:spcBef>
                <a:spcPts val="500"/>
              </a:spcBef>
              <a:spcAft>
                <a:spcPts val="0"/>
              </a:spcAft>
              <a:buClr>
                <a:srgbClr val="000000"/>
              </a:buClr>
              <a:buSzPts val="2000"/>
              <a:buFont typeface="Arial"/>
              <a:buChar char="•"/>
              <a:defRPr sz="2000"/>
            </a:lvl3pPr>
            <a:lvl4pPr marL="1828800" lvl="3" indent="-292100" algn="l">
              <a:lnSpc>
                <a:spcPct val="90000"/>
              </a:lnSpc>
              <a:spcBef>
                <a:spcPts val="500"/>
              </a:spcBef>
              <a:spcAft>
                <a:spcPts val="0"/>
              </a:spcAft>
              <a:buClr>
                <a:srgbClr val="000000"/>
              </a:buClr>
              <a:buSzPts val="1000"/>
              <a:buFont typeface="Calibri"/>
              <a:buChar char="▶"/>
              <a:defRPr sz="2000"/>
            </a:lvl4pPr>
            <a:lvl5pPr marL="2286000" lvl="4" indent="-355600" algn="l">
              <a:lnSpc>
                <a:spcPct val="90000"/>
              </a:lnSpc>
              <a:spcBef>
                <a:spcPts val="500"/>
              </a:spcBef>
              <a:spcAft>
                <a:spcPts val="0"/>
              </a:spcAft>
              <a:buClr>
                <a:srgbClr val="000000"/>
              </a:buClr>
              <a:buSzPts val="2000"/>
              <a:buFont typeface="Helvetica Neue"/>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84"/>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ullets">
  <p:cSld name="Title and Bullets">
    <p:spTree>
      <p:nvGrpSpPr>
        <p:cNvPr id="1" name="Shape 95"/>
        <p:cNvGrpSpPr/>
        <p:nvPr/>
      </p:nvGrpSpPr>
      <p:grpSpPr>
        <a:xfrm>
          <a:off x="0" y="0"/>
          <a:ext cx="0" cy="0"/>
          <a:chOff x="0" y="0"/>
          <a:chExt cx="0" cy="0"/>
        </a:xfrm>
      </p:grpSpPr>
      <p:sp>
        <p:nvSpPr>
          <p:cNvPr id="96" name="Google Shape;96;p8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7" name="Google Shape;97;p85"/>
          <p:cNvSpPr txBox="1">
            <a:spLocks noGrp="1"/>
          </p:cNvSpPr>
          <p:nvPr>
            <p:ph type="body" idx="1"/>
          </p:nvPr>
        </p:nvSpPr>
        <p:spPr>
          <a:xfrm>
            <a:off x="743576" y="1638300"/>
            <a:ext cx="10711543" cy="4394200"/>
          </a:xfrm>
          <a:prstGeom prst="rect">
            <a:avLst/>
          </a:prstGeom>
          <a:noFill/>
          <a:ln>
            <a:noFill/>
          </a:ln>
        </p:spPr>
        <p:txBody>
          <a:bodyPr spcFirstLastPara="1" wrap="square" lIns="0" tIns="0" rIns="0" bIns="0" anchor="t" anchorCtr="0">
            <a:normAutofit/>
          </a:bodyPr>
          <a:lstStyle>
            <a:lvl1pPr marL="457200" lvl="0" indent="-355600" algn="l">
              <a:lnSpc>
                <a:spcPct val="90000"/>
              </a:lnSpc>
              <a:spcBef>
                <a:spcPts val="1000"/>
              </a:spcBef>
              <a:spcAft>
                <a:spcPts val="0"/>
              </a:spcAft>
              <a:buClr>
                <a:srgbClr val="004A78"/>
              </a:buClr>
              <a:buSzPts val="2000"/>
              <a:buFont typeface="Arial"/>
              <a:buChar char="•"/>
              <a:defRPr sz="2000">
                <a:solidFill>
                  <a:srgbClr val="004A78"/>
                </a:solidFill>
              </a:defRPr>
            </a:lvl1pPr>
            <a:lvl2pPr marL="914400" marR="0" lvl="1" indent="-355600" algn="l">
              <a:lnSpc>
                <a:spcPct val="90000"/>
              </a:lnSpc>
              <a:spcBef>
                <a:spcPts val="500"/>
              </a:spcBef>
              <a:spcAft>
                <a:spcPts val="0"/>
              </a:spcAft>
              <a:buClr>
                <a:srgbClr val="006298"/>
              </a:buClr>
              <a:buSzPts val="2000"/>
              <a:buFont typeface="Arial"/>
              <a:buChar char="•"/>
              <a:defRPr sz="2000"/>
            </a:lvl2pPr>
            <a:lvl3pPr marL="1371600" lvl="2" indent="-355600" algn="l">
              <a:lnSpc>
                <a:spcPct val="90000"/>
              </a:lnSpc>
              <a:spcBef>
                <a:spcPts val="500"/>
              </a:spcBef>
              <a:spcAft>
                <a:spcPts val="0"/>
              </a:spcAft>
              <a:buClr>
                <a:srgbClr val="000000"/>
              </a:buClr>
              <a:buSzPts val="2000"/>
              <a:buFont typeface="Arial"/>
              <a:buChar char="•"/>
              <a:defRPr sz="2000"/>
            </a:lvl3pPr>
            <a:lvl4pPr marL="1828800" lvl="3" indent="-292100" algn="l">
              <a:lnSpc>
                <a:spcPct val="90000"/>
              </a:lnSpc>
              <a:spcBef>
                <a:spcPts val="500"/>
              </a:spcBef>
              <a:spcAft>
                <a:spcPts val="0"/>
              </a:spcAft>
              <a:buClr>
                <a:srgbClr val="000000"/>
              </a:buClr>
              <a:buSzPts val="1000"/>
              <a:buFont typeface="Calibri"/>
              <a:buChar char="▶"/>
              <a:defRPr sz="2000"/>
            </a:lvl4pPr>
            <a:lvl5pPr marL="2286000" lvl="4" indent="-355600" algn="l">
              <a:lnSpc>
                <a:spcPct val="90000"/>
              </a:lnSpc>
              <a:spcBef>
                <a:spcPts val="500"/>
              </a:spcBef>
              <a:spcAft>
                <a:spcPts val="0"/>
              </a:spcAft>
              <a:buClr>
                <a:srgbClr val="000000"/>
              </a:buClr>
              <a:buSzPts val="2000"/>
              <a:buFont typeface="Helvetica Neue"/>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85"/>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Title and Table">
    <p:spTree>
      <p:nvGrpSpPr>
        <p:cNvPr id="1" name="Shape 99"/>
        <p:cNvGrpSpPr/>
        <p:nvPr/>
      </p:nvGrpSpPr>
      <p:grpSpPr>
        <a:xfrm>
          <a:off x="0" y="0"/>
          <a:ext cx="0" cy="0"/>
          <a:chOff x="0" y="0"/>
          <a:chExt cx="0" cy="0"/>
        </a:xfrm>
      </p:grpSpPr>
      <p:sp>
        <p:nvSpPr>
          <p:cNvPr id="100" name="Google Shape;100;p8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1" name="Google Shape;101;p86"/>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marR="0" lvl="0" algn="ctr" rtl="0">
              <a:lnSpc>
                <a:spcPct val="90000"/>
              </a:lnSpc>
              <a:spcBef>
                <a:spcPts val="0"/>
              </a:spcBef>
              <a:spcAft>
                <a:spcPts val="0"/>
              </a:spcAft>
              <a:buSzPts val="1400"/>
              <a:buNone/>
              <a:defRPr sz="3400" b="1" i="0" u="none" strike="noStrike" cap="none">
                <a:solidFill>
                  <a:srgbClr val="004A78"/>
                </a:solidFill>
                <a:latin typeface="Arial"/>
                <a:ea typeface="Arial"/>
                <a:cs typeface="Arial"/>
                <a:sym typeface="Arial"/>
              </a:defRPr>
            </a:lvl1pPr>
            <a:lvl2pPr marR="0" lvl="1"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2pPr>
            <a:lvl3pPr marR="0" lvl="2"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3pPr>
            <a:lvl4pPr marR="0" lvl="3"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4pPr>
            <a:lvl5pPr marR="0" lvl="4"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5pPr>
            <a:lvl6pPr marR="0" lvl="5"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6pPr>
            <a:lvl7pPr marR="0" lvl="6"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7pPr>
            <a:lvl8pPr marR="0" lvl="7"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8pPr>
            <a:lvl9pPr marR="0" lvl="8"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9pPr>
          </a:lstStyle>
          <a:p>
            <a:endParaRPr/>
          </a:p>
        </p:txBody>
      </p:sp>
      <p:sp>
        <p:nvSpPr>
          <p:cNvPr id="11" name="Google Shape;11;p71"/>
          <p:cNvSpPr txBox="1">
            <a:spLocks noGrp="1"/>
          </p:cNvSpPr>
          <p:nvPr>
            <p:ph type="body" idx="1"/>
          </p:nvPr>
        </p:nvSpPr>
        <p:spPr>
          <a:xfrm>
            <a:off x="838200" y="1825625"/>
            <a:ext cx="10515600" cy="4351338"/>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1pPr>
            <a:lvl2pPr marL="914400" marR="0" lvl="1" indent="-381000" algn="l" rtl="0">
              <a:lnSpc>
                <a:spcPct val="90000"/>
              </a:lnSpc>
              <a:spcBef>
                <a:spcPts val="500"/>
              </a:spcBef>
              <a:spcAft>
                <a:spcPts val="0"/>
              </a:spcAft>
              <a:buClr>
                <a:srgbClr val="004A78"/>
              </a:buClr>
              <a:buSzPts val="2400"/>
              <a:buFont typeface="Arial"/>
              <a:buChar char="•"/>
              <a:defRPr sz="2400" b="0" i="0" u="none" strike="noStrike" cap="none">
                <a:solidFill>
                  <a:srgbClr val="004A78"/>
                </a:solidFill>
                <a:latin typeface="Arial"/>
                <a:ea typeface="Arial"/>
                <a:cs typeface="Arial"/>
                <a:sym typeface="Arial"/>
              </a:defRPr>
            </a:lvl2pPr>
            <a:lvl3pPr marL="1371600" marR="0" lvl="2" indent="-355600" algn="l" rtl="0">
              <a:lnSpc>
                <a:spcPct val="90000"/>
              </a:lnSpc>
              <a:spcBef>
                <a:spcPts val="500"/>
              </a:spcBef>
              <a:spcAft>
                <a:spcPts val="0"/>
              </a:spcAft>
              <a:buClr>
                <a:srgbClr val="004A78"/>
              </a:buClr>
              <a:buSzPts val="2000"/>
              <a:buFont typeface="Arial"/>
              <a:buChar char="•"/>
              <a:defRPr sz="2000" b="0" i="0" u="none" strike="noStrike" cap="none">
                <a:solidFill>
                  <a:srgbClr val="004A78"/>
                </a:solidFill>
                <a:latin typeface="Arial"/>
                <a:ea typeface="Arial"/>
                <a:cs typeface="Arial"/>
                <a:sym typeface="Arial"/>
              </a:defRPr>
            </a:lvl3pPr>
            <a:lvl4pPr marL="1828800" marR="0" lvl="3" indent="-342900" algn="l" rtl="0">
              <a:lnSpc>
                <a:spcPct val="90000"/>
              </a:lnSpc>
              <a:spcBef>
                <a:spcPts val="500"/>
              </a:spcBef>
              <a:spcAft>
                <a:spcPts val="0"/>
              </a:spcAft>
              <a:buClr>
                <a:srgbClr val="004A78"/>
              </a:buClr>
              <a:buSzPts val="1800"/>
              <a:buFont typeface="Arial"/>
              <a:buChar char="•"/>
              <a:defRPr sz="1800" b="0" i="0" u="none" strike="noStrike" cap="none">
                <a:solidFill>
                  <a:srgbClr val="004A78"/>
                </a:solidFill>
                <a:latin typeface="Arial"/>
                <a:ea typeface="Arial"/>
                <a:cs typeface="Arial"/>
                <a:sym typeface="Arial"/>
              </a:defRPr>
            </a:lvl4pPr>
            <a:lvl5pPr marL="2286000" marR="0" lvl="4" indent="-342900" algn="l" rtl="0">
              <a:lnSpc>
                <a:spcPct val="90000"/>
              </a:lnSpc>
              <a:spcBef>
                <a:spcPts val="500"/>
              </a:spcBef>
              <a:spcAft>
                <a:spcPts val="0"/>
              </a:spcAft>
              <a:buClr>
                <a:srgbClr val="004A78"/>
              </a:buClr>
              <a:buSzPts val="1800"/>
              <a:buFont typeface="Arial"/>
              <a:buChar char="•"/>
              <a:defRPr sz="1800" b="0" i="0" u="none" strike="noStrike" cap="none">
                <a:solidFill>
                  <a:srgbClr val="004A78"/>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2" name="Google Shape;12;p71"/>
          <p:cNvPicPr preferRelativeResize="0"/>
          <p:nvPr/>
        </p:nvPicPr>
        <p:blipFill rotWithShape="1">
          <a:blip r:embed="rId17">
            <a:alphaModFix/>
          </a:blip>
          <a:srcRect/>
          <a:stretch/>
        </p:blipFill>
        <p:spPr>
          <a:xfrm>
            <a:off x="476843" y="6356350"/>
            <a:ext cx="1579562" cy="354013"/>
          </a:xfrm>
          <a:prstGeom prst="rect">
            <a:avLst/>
          </a:prstGeom>
          <a:noFill/>
          <a:ln>
            <a:noFill/>
          </a:ln>
        </p:spPr>
      </p:pic>
      <p:sp>
        <p:nvSpPr>
          <p:cNvPr id="13" name="Google Shape;13;p71"/>
          <p:cNvSpPr txBox="1">
            <a:spLocks noGrp="1"/>
          </p:cNvSpPr>
          <p:nvPr>
            <p:ph type="ftr" idx="11"/>
          </p:nvPr>
        </p:nvSpPr>
        <p:spPr>
          <a:xfrm>
            <a:off x="2934268" y="6356350"/>
            <a:ext cx="8801669"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400" b="0" i="0" u="none" strike="noStrike" cap="none">
                <a:solidFill>
                  <a:srgbClr val="00629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8.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9.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1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13.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16.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18.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20.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23.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tags" Target="../tags/tag28.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tags" Target="../tags/tag31.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tags" Target="../tags/tag33.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tags" Target="../tags/tag35.xm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tags" Target="../tags/tag37.xml"/><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xml"/><Relationship Id="rId1" Type="http://schemas.openxmlformats.org/officeDocument/2006/relationships/tags" Target="../tags/tag38.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3.xml"/><Relationship Id="rId1" Type="http://schemas.openxmlformats.org/officeDocument/2006/relationships/tags" Target="../tags/tag39.xm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tags" Target="../tags/tag40.xml"/><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41.xml"/><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xml"/><Relationship Id="rId1" Type="http://schemas.openxmlformats.org/officeDocument/2006/relationships/tags" Target="../tags/tag42.xml"/><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xml"/><Relationship Id="rId1" Type="http://schemas.openxmlformats.org/officeDocument/2006/relationships/tags" Target="../tags/tag44.xml"/><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3.xml"/><Relationship Id="rId1" Type="http://schemas.openxmlformats.org/officeDocument/2006/relationships/tags" Target="../tags/tag47.xml"/><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3.xml"/><Relationship Id="rId1" Type="http://schemas.openxmlformats.org/officeDocument/2006/relationships/tags" Target="../tags/tag49.xml"/><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3.xml"/><Relationship Id="rId1" Type="http://schemas.openxmlformats.org/officeDocument/2006/relationships/tags" Target="../tags/tag51.xml"/><Relationship Id="rId4" Type="http://schemas.openxmlformats.org/officeDocument/2006/relationships/image" Target="../media/image27.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3.xml"/><Relationship Id="rId1" Type="http://schemas.openxmlformats.org/officeDocument/2006/relationships/tags" Target="../tags/tag55.xml"/><Relationship Id="rId4" Type="http://schemas.openxmlformats.org/officeDocument/2006/relationships/image" Target="../media/image28.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3.xml"/><Relationship Id="rId1" Type="http://schemas.openxmlformats.org/officeDocument/2006/relationships/tags" Target="../tags/tag59.xml"/><Relationship Id="rId4" Type="http://schemas.openxmlformats.org/officeDocument/2006/relationships/image" Target="../media/image29.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3.xml"/><Relationship Id="rId1" Type="http://schemas.openxmlformats.org/officeDocument/2006/relationships/tags" Target="../tags/tag60.xml"/><Relationship Id="rId4" Type="http://schemas.openxmlformats.org/officeDocument/2006/relationships/image" Target="../media/image30.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3.xml"/><Relationship Id="rId1" Type="http://schemas.openxmlformats.org/officeDocument/2006/relationships/tags" Target="../tags/tag62.xml"/><Relationship Id="rId5" Type="http://schemas.openxmlformats.org/officeDocument/2006/relationships/image" Target="../media/image32.png"/><Relationship Id="rId4" Type="http://schemas.openxmlformats.org/officeDocument/2006/relationships/image" Target="../media/image31.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tags" Target="../tags/tag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
          <p:cNvSpPr txBox="1">
            <a:spLocks noGrp="1"/>
          </p:cNvSpPr>
          <p:nvPr>
            <p:ph type="title"/>
          </p:nvPr>
        </p:nvSpPr>
        <p:spPr>
          <a:xfrm>
            <a:off x="5892167" y="1805383"/>
            <a:ext cx="5550026" cy="1269698"/>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a:t>Chapter 3</a:t>
            </a:r>
            <a:endParaRPr/>
          </a:p>
        </p:txBody>
      </p:sp>
      <p:pic>
        <p:nvPicPr>
          <p:cNvPr id="107" name="Google Shape;107;p1" descr="Book Cover - Data Communications and Computer Networks: A Business User's Approach"/>
          <p:cNvPicPr preferRelativeResize="0">
            <a:picLocks noGrp="1"/>
          </p:cNvPicPr>
          <p:nvPr>
            <p:ph type="pic" idx="2"/>
          </p:nvPr>
        </p:nvPicPr>
        <p:blipFill rotWithShape="1">
          <a:blip r:embed="rId4">
            <a:alphaModFix/>
          </a:blip>
          <a:srcRect/>
          <a:stretch/>
        </p:blipFill>
        <p:spPr>
          <a:xfrm>
            <a:off x="0" y="0"/>
            <a:ext cx="4786645" cy="6125029"/>
          </a:xfrm>
          <a:prstGeom prst="rect">
            <a:avLst/>
          </a:prstGeom>
          <a:noFill/>
          <a:ln>
            <a:noFill/>
          </a:ln>
        </p:spPr>
      </p:pic>
      <p:sp>
        <p:nvSpPr>
          <p:cNvPr id="108" name="Google Shape;108;p1"/>
          <p:cNvSpPr txBox="1">
            <a:spLocks noGrp="1"/>
          </p:cNvSpPr>
          <p:nvPr>
            <p:ph type="body" idx="1"/>
          </p:nvPr>
        </p:nvSpPr>
        <p:spPr>
          <a:xfrm>
            <a:off x="5799657" y="3168913"/>
            <a:ext cx="5943394" cy="1343006"/>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Clr>
                <a:schemeClr val="lt1"/>
              </a:buClr>
              <a:buSzPts val="2800"/>
              <a:buFont typeface="Arial"/>
              <a:buNone/>
            </a:pPr>
            <a:r>
              <a:rPr lang="en-US" sz="2800"/>
              <a:t>Fundamentals of Data and Signals</a:t>
            </a:r>
            <a:endParaRPr/>
          </a:p>
        </p:txBody>
      </p:sp>
      <p:sp>
        <p:nvSpPr>
          <p:cNvPr id="109" name="Google Shape;109;p1"/>
          <p:cNvSpPr txBox="1">
            <a:spLocks noGrp="1"/>
          </p:cNvSpPr>
          <p:nvPr>
            <p:ph type="body" idx="3"/>
          </p:nvPr>
        </p:nvSpPr>
        <p:spPr>
          <a:xfrm>
            <a:off x="2615881" y="6423442"/>
            <a:ext cx="9456516" cy="3651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lt1"/>
              </a:buClr>
              <a:buSzPts val="1100"/>
              <a:buNone/>
            </a:pPr>
            <a:r>
              <a:rPr lang="en-US" sz="1100">
                <a:solidFill>
                  <a:schemeClr val="lt1"/>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
          <p:cNvSpPr txBox="1">
            <a:spLocks noGrp="1"/>
          </p:cNvSpPr>
          <p:nvPr>
            <p:ph type="title"/>
          </p:nvPr>
        </p:nvSpPr>
        <p:spPr>
          <a:xfrm>
            <a:off x="1316182" y="365125"/>
            <a:ext cx="9559636"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After reading this chapter, you should be able to:</a:t>
            </a:r>
            <a:endParaRPr dirty="0"/>
          </a:p>
        </p:txBody>
      </p:sp>
      <p:sp>
        <p:nvSpPr>
          <p:cNvPr id="115" name="Google Shape;115;p2"/>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624"/>
              </a:spcBef>
              <a:spcAft>
                <a:spcPts val="0"/>
              </a:spcAft>
              <a:buSzPts val="2600"/>
              <a:buChar char="•"/>
            </a:pPr>
            <a:r>
              <a:rPr lang="en-US" dirty="0"/>
              <a:t>Evaluate the features of analog and digital data and signals</a:t>
            </a:r>
            <a:endParaRPr dirty="0"/>
          </a:p>
          <a:p>
            <a:pPr marL="457200" lvl="0" indent="-457200" algn="l" rtl="0">
              <a:lnSpc>
                <a:spcPct val="100000"/>
              </a:lnSpc>
              <a:spcBef>
                <a:spcPts val="624"/>
              </a:spcBef>
              <a:spcAft>
                <a:spcPts val="0"/>
              </a:spcAft>
              <a:buSzPts val="2600"/>
              <a:buChar char="•"/>
            </a:pPr>
            <a:r>
              <a:rPr lang="en-US" dirty="0"/>
              <a:t>Compare techniques for converting analog and digital data for transmission by analog and digital signals</a:t>
            </a:r>
            <a:endParaRPr dirty="0"/>
          </a:p>
          <a:p>
            <a:pPr marL="457200" lvl="0" indent="-457200" algn="l" rtl="0">
              <a:lnSpc>
                <a:spcPct val="100000"/>
              </a:lnSpc>
              <a:spcBef>
                <a:spcPts val="624"/>
              </a:spcBef>
              <a:spcAft>
                <a:spcPts val="0"/>
              </a:spcAft>
              <a:buSzPts val="2600"/>
              <a:buChar char="•"/>
            </a:pPr>
            <a:r>
              <a:rPr lang="en-US" dirty="0"/>
              <a:t>Compare character encoding schemes for storing and transmitting textual data as bits</a:t>
            </a:r>
            <a:endParaRPr dirty="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5"/>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Introduction (1 of 2)</a:t>
            </a:r>
            <a:endParaRPr dirty="0"/>
          </a:p>
        </p:txBody>
      </p:sp>
      <p:sp>
        <p:nvSpPr>
          <p:cNvPr id="121" name="Google Shape;121;p5"/>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Data are entities that convey meaning (computer files, music on CD, results from a blood gas analysis machine)</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Signals are the electric or electromagnetic encoding of data (telephone conversation, web page download)</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Computer networks and data/voice communication systems transmit signals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Data and signals can be analog or digital</a:t>
            </a:r>
            <a:endParaRPr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Introduction (2 of 2)</a:t>
            </a:r>
            <a:endParaRPr dirty="0"/>
          </a:p>
        </p:txBody>
      </p:sp>
      <p:sp>
        <p:nvSpPr>
          <p:cNvPr id="4" name="Text Placeholder 3">
            <a:extLst>
              <a:ext uri="{FF2B5EF4-FFF2-40B4-BE49-F238E27FC236}">
                <a16:creationId xmlns:a16="http://schemas.microsoft.com/office/drawing/2014/main" id="{442AF737-8A99-49DC-B255-10885B82D473}"/>
              </a:ext>
            </a:extLst>
          </p:cNvPr>
          <p:cNvSpPr>
            <a:spLocks noGrp="1"/>
          </p:cNvSpPr>
          <p:nvPr>
            <p:ph type="body" idx="1"/>
          </p:nvPr>
        </p:nvSpPr>
        <p:spPr>
          <a:xfrm>
            <a:off x="743576" y="1289684"/>
            <a:ext cx="6093499" cy="509136"/>
          </a:xfrm>
        </p:spPr>
        <p:txBody>
          <a:bodyPr/>
          <a:lstStyle/>
          <a:p>
            <a:pPr marL="63500" indent="0">
              <a:buNone/>
            </a:pPr>
            <a:r>
              <a:rPr lang="en-IN" sz="2000" b="1" dirty="0"/>
              <a:t>Table 3-1 Four combinations of data and signals </a:t>
            </a:r>
          </a:p>
        </p:txBody>
      </p:sp>
      <p:graphicFrame>
        <p:nvGraphicFramePr>
          <p:cNvPr id="11" name="Table 12">
            <a:extLst>
              <a:ext uri="{FF2B5EF4-FFF2-40B4-BE49-F238E27FC236}">
                <a16:creationId xmlns:a16="http://schemas.microsoft.com/office/drawing/2014/main" id="{EF8E4D7F-6282-4EFE-ADE7-AC7F2FE9E3F1}"/>
              </a:ext>
            </a:extLst>
          </p:cNvPr>
          <p:cNvGraphicFramePr>
            <a:graphicFrameLocks noGrp="1"/>
          </p:cNvGraphicFramePr>
          <p:nvPr>
            <p:extLst>
              <p:ext uri="{D42A27DB-BD31-4B8C-83A1-F6EECF244321}">
                <p14:modId xmlns:p14="http://schemas.microsoft.com/office/powerpoint/2010/main" val="892413568"/>
              </p:ext>
            </p:extLst>
          </p:nvPr>
        </p:nvGraphicFramePr>
        <p:xfrm>
          <a:off x="838200" y="1768475"/>
          <a:ext cx="11106150" cy="4320227"/>
        </p:xfrm>
        <a:graphic>
          <a:graphicData uri="http://schemas.openxmlformats.org/drawingml/2006/table">
            <a:tbl>
              <a:tblPr firstRow="1" bandRow="1"/>
              <a:tblGrid>
                <a:gridCol w="1625600">
                  <a:extLst>
                    <a:ext uri="{9D8B030D-6E8A-4147-A177-3AD203B41FA5}">
                      <a16:colId xmlns:a16="http://schemas.microsoft.com/office/drawing/2014/main" val="4134482940"/>
                    </a:ext>
                  </a:extLst>
                </a:gridCol>
                <a:gridCol w="1625600">
                  <a:extLst>
                    <a:ext uri="{9D8B030D-6E8A-4147-A177-3AD203B41FA5}">
                      <a16:colId xmlns:a16="http://schemas.microsoft.com/office/drawing/2014/main" val="4100848770"/>
                    </a:ext>
                  </a:extLst>
                </a:gridCol>
                <a:gridCol w="3000693">
                  <a:extLst>
                    <a:ext uri="{9D8B030D-6E8A-4147-A177-3AD203B41FA5}">
                      <a16:colId xmlns:a16="http://schemas.microsoft.com/office/drawing/2014/main" val="4193523131"/>
                    </a:ext>
                  </a:extLst>
                </a:gridCol>
                <a:gridCol w="1625600">
                  <a:extLst>
                    <a:ext uri="{9D8B030D-6E8A-4147-A177-3AD203B41FA5}">
                      <a16:colId xmlns:a16="http://schemas.microsoft.com/office/drawing/2014/main" val="2966708821"/>
                    </a:ext>
                  </a:extLst>
                </a:gridCol>
                <a:gridCol w="3228657">
                  <a:extLst>
                    <a:ext uri="{9D8B030D-6E8A-4147-A177-3AD203B41FA5}">
                      <a16:colId xmlns:a16="http://schemas.microsoft.com/office/drawing/2014/main" val="2074533548"/>
                    </a:ext>
                  </a:extLst>
                </a:gridCol>
              </a:tblGrid>
              <a:tr h="383001">
                <a:tc>
                  <a:txBody>
                    <a:bodyPr/>
                    <a:lstStyle/>
                    <a:p>
                      <a:r>
                        <a:rPr lang="en-IN" b="1" dirty="0">
                          <a:solidFill>
                            <a:schemeClr val="tx2">
                              <a:lumMod val="10000"/>
                            </a:schemeClr>
                          </a:solidFill>
                        </a:rPr>
                        <a:t>Data</a:t>
                      </a:r>
                    </a:p>
                  </a:txBody>
                  <a:tcPr/>
                </a:tc>
                <a:tc>
                  <a:txBody>
                    <a:bodyPr/>
                    <a:lstStyle/>
                    <a:p>
                      <a:r>
                        <a:rPr lang="en-IN" b="1" dirty="0">
                          <a:solidFill>
                            <a:schemeClr val="tx2">
                              <a:lumMod val="10000"/>
                            </a:schemeClr>
                          </a:solidFill>
                        </a:rPr>
                        <a:t>Signal</a:t>
                      </a:r>
                    </a:p>
                  </a:txBody>
                  <a:tcPr/>
                </a:tc>
                <a:tc>
                  <a:txBody>
                    <a:bodyPr/>
                    <a:lstStyle/>
                    <a:p>
                      <a:r>
                        <a:rPr lang="en-IN" b="1" dirty="0">
                          <a:solidFill>
                            <a:schemeClr val="tx2">
                              <a:lumMod val="10000"/>
                            </a:schemeClr>
                          </a:solidFill>
                        </a:rPr>
                        <a:t>Encoding or Conversion Technique</a:t>
                      </a:r>
                    </a:p>
                  </a:txBody>
                  <a:tcPr/>
                </a:tc>
                <a:tc>
                  <a:txBody>
                    <a:bodyPr/>
                    <a:lstStyle/>
                    <a:p>
                      <a:r>
                        <a:rPr lang="en-IN" b="1" dirty="0">
                          <a:solidFill>
                            <a:schemeClr val="tx2">
                              <a:lumMod val="10000"/>
                            </a:schemeClr>
                          </a:solidFill>
                        </a:rPr>
                        <a:t>Common Devices </a:t>
                      </a:r>
                    </a:p>
                  </a:txBody>
                  <a:tcPr/>
                </a:tc>
                <a:tc>
                  <a:txBody>
                    <a:bodyPr/>
                    <a:lstStyle/>
                    <a:p>
                      <a:r>
                        <a:rPr lang="en-IN" b="1" dirty="0">
                          <a:solidFill>
                            <a:schemeClr val="tx2">
                              <a:lumMod val="10000"/>
                            </a:schemeClr>
                          </a:solidFill>
                        </a:rPr>
                        <a:t>Common Systems </a:t>
                      </a:r>
                    </a:p>
                  </a:txBody>
                  <a:tcPr/>
                </a:tc>
                <a:extLst>
                  <a:ext uri="{0D108BD9-81ED-4DB2-BD59-A6C34878D82A}">
                    <a16:rowId xmlns:a16="http://schemas.microsoft.com/office/drawing/2014/main" val="3543527885"/>
                  </a:ext>
                </a:extLst>
              </a:tr>
              <a:tr h="698413">
                <a:tc>
                  <a:txBody>
                    <a:bodyPr/>
                    <a:lstStyle/>
                    <a:p>
                      <a:r>
                        <a:rPr lang="en-IN" dirty="0">
                          <a:solidFill>
                            <a:schemeClr val="tx2">
                              <a:lumMod val="10000"/>
                            </a:schemeClr>
                          </a:solidFill>
                        </a:rPr>
                        <a:t> Analog</a:t>
                      </a:r>
                    </a:p>
                  </a:txBody>
                  <a:tcPr/>
                </a:tc>
                <a:tc>
                  <a:txBody>
                    <a:bodyPr/>
                    <a:lstStyle/>
                    <a:p>
                      <a:r>
                        <a:rPr lang="en-IN" dirty="0">
                          <a:solidFill>
                            <a:schemeClr val="tx2">
                              <a:lumMod val="10000"/>
                            </a:schemeClr>
                          </a:solidFill>
                        </a:rPr>
                        <a:t>Analog</a:t>
                      </a:r>
                    </a:p>
                  </a:txBody>
                  <a:tcPr/>
                </a:tc>
                <a:tc>
                  <a:txBody>
                    <a:bodyPr/>
                    <a:lstStyle/>
                    <a:p>
                      <a:r>
                        <a:rPr lang="en-IN" dirty="0">
                          <a:solidFill>
                            <a:schemeClr val="tx2">
                              <a:lumMod val="10000"/>
                            </a:schemeClr>
                          </a:solidFill>
                        </a:rPr>
                        <a:t>Amplitude modulation</a:t>
                      </a:r>
                    </a:p>
                    <a:p>
                      <a:r>
                        <a:rPr lang="en-IN" dirty="0">
                          <a:solidFill>
                            <a:schemeClr val="tx2">
                              <a:lumMod val="10000"/>
                            </a:schemeClr>
                          </a:solidFill>
                        </a:rPr>
                        <a:t>Frequency modulation</a:t>
                      </a:r>
                    </a:p>
                  </a:txBody>
                  <a:tcPr/>
                </a:tc>
                <a:tc>
                  <a:txBody>
                    <a:bodyPr/>
                    <a:lstStyle/>
                    <a:p>
                      <a:r>
                        <a:rPr lang="en-IN" dirty="0">
                          <a:solidFill>
                            <a:schemeClr val="tx2">
                              <a:lumMod val="10000"/>
                            </a:schemeClr>
                          </a:solidFill>
                        </a:rPr>
                        <a:t>Radio tuner</a:t>
                      </a:r>
                    </a:p>
                    <a:p>
                      <a:r>
                        <a:rPr lang="en-IN" dirty="0">
                          <a:solidFill>
                            <a:schemeClr val="tx2">
                              <a:lumMod val="10000"/>
                            </a:schemeClr>
                          </a:solidFill>
                        </a:rPr>
                        <a:t>TV tuner </a:t>
                      </a:r>
                    </a:p>
                  </a:txBody>
                  <a:tcPr/>
                </a:tc>
                <a:tc>
                  <a:txBody>
                    <a:bodyPr/>
                    <a:lstStyle/>
                    <a:p>
                      <a:r>
                        <a:rPr lang="en-IN" dirty="0">
                          <a:solidFill>
                            <a:schemeClr val="tx2">
                              <a:lumMod val="10000"/>
                            </a:schemeClr>
                          </a:solidFill>
                        </a:rPr>
                        <a:t>Telephone</a:t>
                      </a:r>
                    </a:p>
                    <a:p>
                      <a:r>
                        <a:rPr lang="en-IN" dirty="0">
                          <a:solidFill>
                            <a:schemeClr val="tx2">
                              <a:lumMod val="10000"/>
                            </a:schemeClr>
                          </a:solidFill>
                        </a:rPr>
                        <a:t>AM and FM radio</a:t>
                      </a:r>
                    </a:p>
                    <a:p>
                      <a:r>
                        <a:rPr lang="en-IN" dirty="0">
                          <a:solidFill>
                            <a:schemeClr val="tx2">
                              <a:lumMod val="10000"/>
                            </a:schemeClr>
                          </a:solidFill>
                        </a:rPr>
                        <a:t>Broadcast TV </a:t>
                      </a:r>
                    </a:p>
                    <a:p>
                      <a:r>
                        <a:rPr lang="en-IN" dirty="0">
                          <a:solidFill>
                            <a:schemeClr val="tx2">
                              <a:lumMod val="10000"/>
                            </a:schemeClr>
                          </a:solidFill>
                        </a:rPr>
                        <a:t>Cable TV</a:t>
                      </a:r>
                    </a:p>
                  </a:txBody>
                  <a:tcPr/>
                </a:tc>
                <a:extLst>
                  <a:ext uri="{0D108BD9-81ED-4DB2-BD59-A6C34878D82A}">
                    <a16:rowId xmlns:a16="http://schemas.microsoft.com/office/drawing/2014/main" val="2218789864"/>
                  </a:ext>
                </a:extLst>
              </a:tr>
              <a:tr h="1013825">
                <a:tc>
                  <a:txBody>
                    <a:bodyPr/>
                    <a:lstStyle/>
                    <a:p>
                      <a:r>
                        <a:rPr lang="en-IN" dirty="0">
                          <a:solidFill>
                            <a:schemeClr val="tx2">
                              <a:lumMod val="10000"/>
                            </a:schemeClr>
                          </a:solidFill>
                        </a:rPr>
                        <a:t>Digital</a:t>
                      </a:r>
                    </a:p>
                  </a:txBody>
                  <a:tcPr/>
                </a:tc>
                <a:tc>
                  <a:txBody>
                    <a:bodyPr/>
                    <a:lstStyle/>
                    <a:p>
                      <a:r>
                        <a:rPr lang="en-IN" dirty="0">
                          <a:solidFill>
                            <a:schemeClr val="tx2">
                              <a:lumMod val="10000"/>
                            </a:schemeClr>
                          </a:solidFill>
                        </a:rPr>
                        <a:t>(Square-wave) digital</a:t>
                      </a:r>
                    </a:p>
                  </a:txBody>
                  <a:tcPr/>
                </a:tc>
                <a:tc>
                  <a:txBody>
                    <a:bodyPr/>
                    <a:lstStyle/>
                    <a:p>
                      <a:r>
                        <a:rPr lang="en-IN" dirty="0">
                          <a:solidFill>
                            <a:schemeClr val="tx2">
                              <a:lumMod val="10000"/>
                            </a:schemeClr>
                          </a:solidFill>
                        </a:rPr>
                        <a:t>NRZ-L</a:t>
                      </a:r>
                    </a:p>
                    <a:p>
                      <a:r>
                        <a:rPr lang="en-IN" dirty="0">
                          <a:solidFill>
                            <a:schemeClr val="tx2">
                              <a:lumMod val="10000"/>
                            </a:schemeClr>
                          </a:solidFill>
                        </a:rPr>
                        <a:t>NRZI</a:t>
                      </a:r>
                    </a:p>
                    <a:p>
                      <a:r>
                        <a:rPr lang="en-IN" dirty="0">
                          <a:solidFill>
                            <a:schemeClr val="tx2">
                              <a:lumMod val="10000"/>
                            </a:schemeClr>
                          </a:solidFill>
                        </a:rPr>
                        <a:t>Manchester</a:t>
                      </a:r>
                    </a:p>
                    <a:p>
                      <a:r>
                        <a:rPr lang="en-IN" dirty="0">
                          <a:solidFill>
                            <a:schemeClr val="tx2">
                              <a:lumMod val="10000"/>
                            </a:schemeClr>
                          </a:solidFill>
                        </a:rPr>
                        <a:t>Differential Manchester</a:t>
                      </a:r>
                    </a:p>
                    <a:p>
                      <a:r>
                        <a:rPr lang="en-IN" dirty="0">
                          <a:solidFill>
                            <a:schemeClr val="tx2">
                              <a:lumMod val="10000"/>
                            </a:schemeClr>
                          </a:solidFill>
                        </a:rPr>
                        <a:t>Bipolar-AMI</a:t>
                      </a:r>
                    </a:p>
                    <a:p>
                      <a:r>
                        <a:rPr lang="en-IN" dirty="0">
                          <a:solidFill>
                            <a:schemeClr val="tx2">
                              <a:lumMod val="10000"/>
                            </a:schemeClr>
                          </a:solidFill>
                        </a:rPr>
                        <a:t>4B/5B </a:t>
                      </a:r>
                    </a:p>
                  </a:txBody>
                  <a:tcPr/>
                </a:tc>
                <a:tc>
                  <a:txBody>
                    <a:bodyPr/>
                    <a:lstStyle/>
                    <a:p>
                      <a:r>
                        <a:rPr lang="en-IN" dirty="0">
                          <a:solidFill>
                            <a:schemeClr val="tx2">
                              <a:lumMod val="10000"/>
                            </a:schemeClr>
                          </a:solidFill>
                        </a:rPr>
                        <a:t>Digital encoder </a:t>
                      </a:r>
                    </a:p>
                  </a:txBody>
                  <a:tcPr/>
                </a:tc>
                <a:tc>
                  <a:txBody>
                    <a:bodyPr/>
                    <a:lstStyle/>
                    <a:p>
                      <a:r>
                        <a:rPr lang="en-IN" dirty="0">
                          <a:solidFill>
                            <a:schemeClr val="tx2">
                              <a:lumMod val="10000"/>
                            </a:schemeClr>
                          </a:solidFill>
                        </a:rPr>
                        <a:t>Local area networks</a:t>
                      </a:r>
                    </a:p>
                    <a:p>
                      <a:r>
                        <a:rPr lang="en-IN" dirty="0">
                          <a:solidFill>
                            <a:schemeClr val="tx2">
                              <a:lumMod val="10000"/>
                            </a:schemeClr>
                          </a:solidFill>
                        </a:rPr>
                        <a:t>Telephone systems</a:t>
                      </a:r>
                    </a:p>
                  </a:txBody>
                  <a:tcPr/>
                </a:tc>
                <a:extLst>
                  <a:ext uri="{0D108BD9-81ED-4DB2-BD59-A6C34878D82A}">
                    <a16:rowId xmlns:a16="http://schemas.microsoft.com/office/drawing/2014/main" val="1086439377"/>
                  </a:ext>
                </a:extLst>
              </a:tr>
              <a:tr h="856119">
                <a:tc>
                  <a:txBody>
                    <a:bodyPr/>
                    <a:lstStyle/>
                    <a:p>
                      <a:r>
                        <a:rPr lang="en-IN" dirty="0">
                          <a:solidFill>
                            <a:schemeClr val="tx2">
                              <a:lumMod val="10000"/>
                            </a:schemeClr>
                          </a:solidFill>
                        </a:rPr>
                        <a:t>Digital</a:t>
                      </a:r>
                    </a:p>
                  </a:txBody>
                  <a:tcPr/>
                </a:tc>
                <a:tc>
                  <a:txBody>
                    <a:bodyPr/>
                    <a:lstStyle/>
                    <a:p>
                      <a:r>
                        <a:rPr lang="en-IN" dirty="0">
                          <a:solidFill>
                            <a:schemeClr val="tx2">
                              <a:lumMod val="10000"/>
                            </a:schemeClr>
                          </a:solidFill>
                        </a:rPr>
                        <a:t>(Discrete) </a:t>
                      </a:r>
                      <a:r>
                        <a:rPr lang="en-IN" dirty="0" err="1">
                          <a:solidFill>
                            <a:schemeClr val="tx2">
                              <a:lumMod val="10000"/>
                            </a:schemeClr>
                          </a:solidFill>
                        </a:rPr>
                        <a:t>analog</a:t>
                      </a:r>
                      <a:endParaRPr lang="en-IN" dirty="0">
                        <a:solidFill>
                          <a:schemeClr val="tx2">
                            <a:lumMod val="10000"/>
                          </a:schemeClr>
                        </a:solidFill>
                      </a:endParaRPr>
                    </a:p>
                  </a:txBody>
                  <a:tcPr/>
                </a:tc>
                <a:tc>
                  <a:txBody>
                    <a:bodyPr/>
                    <a:lstStyle/>
                    <a:p>
                      <a:r>
                        <a:rPr lang="en-IN" dirty="0">
                          <a:solidFill>
                            <a:schemeClr val="tx2">
                              <a:lumMod val="10000"/>
                            </a:schemeClr>
                          </a:solidFill>
                        </a:rPr>
                        <a:t>Amplitude shift keying</a:t>
                      </a:r>
                    </a:p>
                    <a:p>
                      <a:r>
                        <a:rPr lang="en-IN" dirty="0">
                          <a:solidFill>
                            <a:schemeClr val="tx2">
                              <a:lumMod val="10000"/>
                            </a:schemeClr>
                          </a:solidFill>
                        </a:rPr>
                        <a:t>Frequency shift keying</a:t>
                      </a:r>
                    </a:p>
                    <a:p>
                      <a:r>
                        <a:rPr lang="en-IN" dirty="0">
                          <a:solidFill>
                            <a:schemeClr val="tx2">
                              <a:lumMod val="10000"/>
                            </a:schemeClr>
                          </a:solidFill>
                        </a:rPr>
                        <a:t>Phase shift keying </a:t>
                      </a:r>
                    </a:p>
                  </a:txBody>
                  <a:tcPr/>
                </a:tc>
                <a:tc>
                  <a:txBody>
                    <a:bodyPr/>
                    <a:lstStyle/>
                    <a:p>
                      <a:r>
                        <a:rPr lang="en-IN" dirty="0">
                          <a:solidFill>
                            <a:schemeClr val="tx2">
                              <a:lumMod val="10000"/>
                            </a:schemeClr>
                          </a:solidFill>
                        </a:rPr>
                        <a:t>Modem</a:t>
                      </a:r>
                    </a:p>
                  </a:txBody>
                  <a:tcPr/>
                </a:tc>
                <a:tc>
                  <a:txBody>
                    <a:bodyPr/>
                    <a:lstStyle/>
                    <a:p>
                      <a:r>
                        <a:rPr lang="en-IN" dirty="0">
                          <a:solidFill>
                            <a:schemeClr val="tx2">
                              <a:lumMod val="10000"/>
                            </a:schemeClr>
                          </a:solidFill>
                        </a:rPr>
                        <a:t>Dial-up Internet access</a:t>
                      </a:r>
                    </a:p>
                    <a:p>
                      <a:r>
                        <a:rPr lang="en-IN" dirty="0">
                          <a:solidFill>
                            <a:schemeClr val="tx2">
                              <a:lumMod val="10000"/>
                            </a:schemeClr>
                          </a:solidFill>
                        </a:rPr>
                        <a:t>DSL modem</a:t>
                      </a:r>
                    </a:p>
                    <a:p>
                      <a:r>
                        <a:rPr lang="en-IN" dirty="0">
                          <a:solidFill>
                            <a:schemeClr val="tx2">
                              <a:lumMod val="10000"/>
                            </a:schemeClr>
                          </a:solidFill>
                        </a:rPr>
                        <a:t>Cable modems</a:t>
                      </a:r>
                    </a:p>
                    <a:p>
                      <a:r>
                        <a:rPr lang="en-IN" dirty="0">
                          <a:solidFill>
                            <a:schemeClr val="tx2">
                              <a:lumMod val="10000"/>
                            </a:schemeClr>
                          </a:solidFill>
                        </a:rPr>
                        <a:t>Digital broadcast TV </a:t>
                      </a:r>
                    </a:p>
                  </a:txBody>
                  <a:tcPr/>
                </a:tc>
                <a:extLst>
                  <a:ext uri="{0D108BD9-81ED-4DB2-BD59-A6C34878D82A}">
                    <a16:rowId xmlns:a16="http://schemas.microsoft.com/office/drawing/2014/main" val="228744255"/>
                  </a:ext>
                </a:extLst>
              </a:tr>
              <a:tr h="540707">
                <a:tc>
                  <a:txBody>
                    <a:bodyPr/>
                    <a:lstStyle/>
                    <a:p>
                      <a:r>
                        <a:rPr lang="en-IN" dirty="0">
                          <a:solidFill>
                            <a:schemeClr val="tx2">
                              <a:lumMod val="10000"/>
                            </a:schemeClr>
                          </a:solidFill>
                        </a:rPr>
                        <a:t>Analog</a:t>
                      </a:r>
                    </a:p>
                  </a:txBody>
                  <a:tcPr/>
                </a:tc>
                <a:tc>
                  <a:txBody>
                    <a:bodyPr/>
                    <a:lstStyle/>
                    <a:p>
                      <a:r>
                        <a:rPr lang="en-IN" dirty="0">
                          <a:solidFill>
                            <a:schemeClr val="tx2">
                              <a:lumMod val="10000"/>
                            </a:schemeClr>
                          </a:solidFill>
                        </a:rPr>
                        <a:t>Digital</a:t>
                      </a:r>
                    </a:p>
                  </a:txBody>
                  <a:tcPr/>
                </a:tc>
                <a:tc>
                  <a:txBody>
                    <a:bodyPr/>
                    <a:lstStyle/>
                    <a:p>
                      <a:r>
                        <a:rPr lang="en-IN" dirty="0">
                          <a:solidFill>
                            <a:schemeClr val="tx2">
                              <a:lumMod val="10000"/>
                            </a:schemeClr>
                          </a:solidFill>
                        </a:rPr>
                        <a:t>Pulse code modulation</a:t>
                      </a:r>
                    </a:p>
                    <a:p>
                      <a:r>
                        <a:rPr lang="en-IN" dirty="0">
                          <a:solidFill>
                            <a:schemeClr val="tx2">
                              <a:lumMod val="10000"/>
                            </a:schemeClr>
                          </a:solidFill>
                        </a:rPr>
                        <a:t>Delta modulation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rPr>
                        <a:t>Codec</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rPr>
                        <a:t>Telephone systems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rPr>
                        <a:t>Music systems </a:t>
                      </a:r>
                    </a:p>
                  </a:txBody>
                  <a:tcPr/>
                </a:tc>
                <a:extLst>
                  <a:ext uri="{0D108BD9-81ED-4DB2-BD59-A6C34878D82A}">
                    <a16:rowId xmlns:a16="http://schemas.microsoft.com/office/drawing/2014/main" val="763938895"/>
                  </a:ext>
                </a:extLst>
              </a:tr>
            </a:tbl>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Data and Signals</a:t>
            </a:r>
            <a:endParaRPr dirty="0"/>
          </a:p>
        </p:txBody>
      </p:sp>
      <p:sp>
        <p:nvSpPr>
          <p:cNvPr id="133" name="Google Shape;133;p7"/>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Data are entities that convey meaning within a computer or computer system</a:t>
            </a:r>
            <a:endParaRPr/>
          </a:p>
          <a:p>
            <a:pPr marL="457200" lvl="0" indent="-457200" algn="l" rtl="0">
              <a:lnSpc>
                <a:spcPct val="100000"/>
              </a:lnSpc>
              <a:spcBef>
                <a:spcPts val="624"/>
              </a:spcBef>
              <a:spcAft>
                <a:spcPts val="0"/>
              </a:spcAft>
              <a:buClr>
                <a:srgbClr val="004A78"/>
              </a:buClr>
              <a:buSzPts val="2600"/>
              <a:buFont typeface="Arial"/>
              <a:buChar char="•"/>
            </a:pPr>
            <a:r>
              <a:rPr lang="en-US"/>
              <a:t>Signals are the electric or electromagnetic impulses used to encode and transmit data</a:t>
            </a:r>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Analog vs. Digital (1 of 7)</a:t>
            </a:r>
            <a:endParaRPr dirty="0"/>
          </a:p>
        </p:txBody>
      </p:sp>
      <p:sp>
        <p:nvSpPr>
          <p:cNvPr id="139" name="Google Shape;139;p8"/>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SzPts val="2600"/>
              <a:buChar char="•"/>
            </a:pPr>
            <a:r>
              <a:rPr lang="en-US"/>
              <a:t>Data and signals can be either analog or digital</a:t>
            </a:r>
            <a:endParaRPr/>
          </a:p>
          <a:p>
            <a:pPr marL="457200" lvl="0" indent="-457200" algn="l" rtl="0">
              <a:lnSpc>
                <a:spcPct val="100000"/>
              </a:lnSpc>
              <a:spcBef>
                <a:spcPts val="2424"/>
              </a:spcBef>
              <a:spcAft>
                <a:spcPts val="0"/>
              </a:spcAft>
              <a:buClr>
                <a:srgbClr val="004A78"/>
              </a:buClr>
              <a:buSzPts val="2600"/>
              <a:buFont typeface="Arial"/>
              <a:buChar char="•"/>
            </a:pPr>
            <a:r>
              <a:rPr lang="en-US" i="1"/>
              <a:t>Analog</a:t>
            </a:r>
            <a:r>
              <a:rPr lang="en-US"/>
              <a:t> is a continuous waveform, with examples such as (naturally occurring) music and voice</a:t>
            </a:r>
            <a:endParaRPr/>
          </a:p>
          <a:p>
            <a:pPr marL="457200" lvl="0" indent="-457200" algn="l" rtl="0">
              <a:lnSpc>
                <a:spcPct val="100000"/>
              </a:lnSpc>
              <a:spcBef>
                <a:spcPts val="624"/>
              </a:spcBef>
              <a:spcAft>
                <a:spcPts val="0"/>
              </a:spcAft>
              <a:buClr>
                <a:srgbClr val="004A78"/>
              </a:buClr>
              <a:buSzPts val="2600"/>
              <a:buFont typeface="Arial"/>
              <a:buChar char="•"/>
            </a:pPr>
            <a:r>
              <a:rPr lang="en-US"/>
              <a:t>It is harder to separate noise from an analog signal than it is to separate noise from a digital signal (see the following two slides)</a:t>
            </a:r>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Analog vs. Digital (2 of 7)</a:t>
            </a:r>
            <a:endParaRPr dirty="0"/>
          </a:p>
        </p:txBody>
      </p:sp>
      <p:pic>
        <p:nvPicPr>
          <p:cNvPr id="10" name="Picture 9" descr="An analog waveform is graphed on a time voltage plane. The horizontal axis is labeled time, t with an arrow pointing horizontally to the right. The vertical axis is labeled voltage with an arrow pointing upward. A point A is marked on the negative vertical axis and a point B is marked on the positive vertical axis. The curve rises from a point in the horizontal axis very close to the origin, goes to a point close to the horizontal axis in the first quadrant, and then falls to a point in the fourth quadrant. The curve again rises to a point close to the horizontal axis in the first quadrant and then falls to a point in the fourth quadrant. Then the curve rises to a maximum value of B in the first quadrant, falls to another point in the first quadrant, then rises to a point in the first quadrant, and falls to a minimum in the fourth quadrant. The curve then continues to oscillate about the horizontal axis for several cycles, roughly between A and B.&#10;Figure 3-1 A simple example of an analog waveform">
            <a:extLst>
              <a:ext uri="{FF2B5EF4-FFF2-40B4-BE49-F238E27FC236}">
                <a16:creationId xmlns:a16="http://schemas.microsoft.com/office/drawing/2014/main" id="{E58F74B0-CD63-4C24-870C-0CF3845CAF23}"/>
              </a:ext>
            </a:extLst>
          </p:cNvPr>
          <p:cNvPicPr>
            <a:picLocks noChangeAspect="1"/>
          </p:cNvPicPr>
          <p:nvPr/>
        </p:nvPicPr>
        <p:blipFill>
          <a:blip r:embed="rId4"/>
          <a:stretch>
            <a:fillRect/>
          </a:stretch>
        </p:blipFill>
        <p:spPr>
          <a:xfrm>
            <a:off x="1840623" y="1688441"/>
            <a:ext cx="8510754" cy="3481118"/>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Analog vs. Digital (3 of 7)</a:t>
            </a:r>
            <a:endParaRPr dirty="0"/>
          </a:p>
        </p:txBody>
      </p:sp>
      <p:pic>
        <p:nvPicPr>
          <p:cNvPr id="3" name="Picture 2" descr="A waveform of the symphonic overture is graphed on a time voltage plane. The horizontal axis is labeled time and the vertical axis is labeled voltage. The graph contains several cycles of an oscillating curve where each cycle looks different, having different peak amplitudes. The curve initially rises from a point in the horizontal axis very close to the origin, goes to a point close to the horizontal axis in the first quadrant, and then falls to a point in the fourth quadrant. The curve again rises to a point in the first quadrant and then falls to a point in the fourth quadrant. The curve then rises to a maximum in the first quadrant, falls to another point in the first quadrant, then rises to a point in the first quadrant to the same height, and then falls to the fourth quadrant. The curve then rises to a point in the fourth quadrant and then falls to a point in the fourth quadrant and then rises to the first quadrant. The curve continues to oscillate about the horizontal axis with varying amplitude.&#10;Figure 3-2 The waveform of a symphonic overture with noise">
            <a:extLst>
              <a:ext uri="{FF2B5EF4-FFF2-40B4-BE49-F238E27FC236}">
                <a16:creationId xmlns:a16="http://schemas.microsoft.com/office/drawing/2014/main" id="{2480792D-1ADB-4982-8ED6-3E2DB9436F84}"/>
              </a:ext>
            </a:extLst>
          </p:cNvPr>
          <p:cNvPicPr>
            <a:picLocks noChangeAspect="1"/>
          </p:cNvPicPr>
          <p:nvPr/>
        </p:nvPicPr>
        <p:blipFill>
          <a:blip r:embed="rId4"/>
          <a:stretch>
            <a:fillRect/>
          </a:stretch>
        </p:blipFill>
        <p:spPr>
          <a:xfrm>
            <a:off x="1694306" y="1377518"/>
            <a:ext cx="8803387" cy="4102964"/>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Analog vs. Digital (4 of 7)</a:t>
            </a:r>
            <a:endParaRPr dirty="0"/>
          </a:p>
        </p:txBody>
      </p:sp>
      <p:sp>
        <p:nvSpPr>
          <p:cNvPr id="157" name="Google Shape;157;p11"/>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i="1" dirty="0"/>
              <a:t>Digital</a:t>
            </a:r>
            <a:r>
              <a:rPr lang="en-US" dirty="0"/>
              <a:t> is a discrete or non-continuous waveform</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Something about the signal makes it obvious that the signal can only appear in a fixed number of forms (see next slide)</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Noise in digital signal</a:t>
            </a:r>
            <a:endParaRPr dirty="0"/>
          </a:p>
          <a:p>
            <a:pPr marL="900113" lvl="1" indent="-442913" algn="l" rtl="0">
              <a:lnSpc>
                <a:spcPct val="100000"/>
              </a:lnSpc>
              <a:spcBef>
                <a:spcPts val="624"/>
              </a:spcBef>
              <a:spcAft>
                <a:spcPts val="0"/>
              </a:spcAft>
              <a:buSzPts val="2400"/>
              <a:buChar char="–"/>
            </a:pPr>
            <a:r>
              <a:rPr lang="en-US" dirty="0"/>
              <a:t>You can still discern a high voltage from a low voltage</a:t>
            </a:r>
            <a:endParaRPr dirty="0"/>
          </a:p>
          <a:p>
            <a:pPr marL="900113" lvl="1" indent="-442913" algn="l" rtl="0">
              <a:lnSpc>
                <a:spcPct val="100000"/>
              </a:lnSpc>
              <a:spcBef>
                <a:spcPts val="624"/>
              </a:spcBef>
              <a:spcAft>
                <a:spcPts val="0"/>
              </a:spcAft>
              <a:buSzPts val="2400"/>
              <a:buChar char="–"/>
            </a:pPr>
            <a:r>
              <a:rPr lang="en-US" dirty="0"/>
              <a:t>Too much noise – you cannot discern a high voltage from a low voltage</a:t>
            </a:r>
            <a:endParaRPr dirty="0"/>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Analog vs. Digital (5 of 7)</a:t>
            </a:r>
            <a:endParaRPr dirty="0"/>
          </a:p>
        </p:txBody>
      </p:sp>
      <p:pic>
        <p:nvPicPr>
          <p:cNvPr id="5" name="Picture 4" descr="A square wave is graphed on a time voltage plane. The horizontal axis is labeled time and the vertical axis is labeled voltage. A point A is marked on the negative vertical axis and a point B is marked on the positive vertical axis. The square wave starts from a point in the fourth quadrant, very close to the marking A and goes rightward to a point in the fourth quadrant and then rises vertically to a point with an amplitude B in the first quadrant. This wave then moves horizontally to the right and then drops down vertically to a point in the fourth quadrant. This pattern repeats as it oscillates along the time axis, for another two cycles. Then the wave drops vertically until the marking A in the fourth quadrant and moves rightward.&#10;Figure 3-3 A simple example of a digital waveform">
            <a:extLst>
              <a:ext uri="{FF2B5EF4-FFF2-40B4-BE49-F238E27FC236}">
                <a16:creationId xmlns:a16="http://schemas.microsoft.com/office/drawing/2014/main" id="{A72499BC-53CA-4907-B7A1-A7E608BFCF6B}"/>
              </a:ext>
            </a:extLst>
          </p:cNvPr>
          <p:cNvPicPr>
            <a:picLocks noChangeAspect="1"/>
          </p:cNvPicPr>
          <p:nvPr/>
        </p:nvPicPr>
        <p:blipFill>
          <a:blip r:embed="rId4"/>
          <a:stretch>
            <a:fillRect/>
          </a:stretch>
        </p:blipFill>
        <p:spPr>
          <a:xfrm>
            <a:off x="1468735" y="1596993"/>
            <a:ext cx="9254530" cy="3664014"/>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Analog vs. Digital (6 of 7)</a:t>
            </a:r>
            <a:endParaRPr dirty="0"/>
          </a:p>
        </p:txBody>
      </p:sp>
      <p:pic>
        <p:nvPicPr>
          <p:cNvPr id="2" name="Picture 1" descr="A waveform is graphed on a time voltage plane. The horizontal axis is labeled time and the vertical axis is labeled voltage. A point A is marked on the negative vertical axis and a point B is marked on the positive vertical axis. The waveform starts from a point in the fourth quadrant, very close to the marking A and the wave fluctuates with a very less amplitude about the marking A in the fourth quadrant as it goes rightward to a point in the fourth quadrant, and then rises vertically until the marking B in the first quadrant. This wave then fluctuates with a very less amplitude about the marking B in the first quadrant as it goes rightward to a point in the first quadrant, and then drops down vertically to a point in the fourth quadrant. This pattern repeats as it oscillates along the time axis for two more cycles. The wave finally drops vertically to a point in the fourth quadrant and moves rightward as it fluctuates with a very less amplitude in and around the marking A.&#10;Figure 3-4 A digital signal with some noise introduced">
            <a:extLst>
              <a:ext uri="{FF2B5EF4-FFF2-40B4-BE49-F238E27FC236}">
                <a16:creationId xmlns:a16="http://schemas.microsoft.com/office/drawing/2014/main" id="{D2DA0FFD-80BA-49BB-B486-3C583F937072}"/>
              </a:ext>
            </a:extLst>
          </p:cNvPr>
          <p:cNvPicPr>
            <a:picLocks noChangeAspect="1"/>
          </p:cNvPicPr>
          <p:nvPr/>
        </p:nvPicPr>
        <p:blipFill>
          <a:blip r:embed="rId4"/>
          <a:stretch>
            <a:fillRect/>
          </a:stretch>
        </p:blipFill>
        <p:spPr>
          <a:xfrm>
            <a:off x="1925974" y="1316553"/>
            <a:ext cx="8340051" cy="4224894"/>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Analog vs. Digital (7 of 7)</a:t>
            </a:r>
            <a:endParaRPr dirty="0"/>
          </a:p>
        </p:txBody>
      </p:sp>
      <p:pic>
        <p:nvPicPr>
          <p:cNvPr id="2" name="Picture 1" descr="A waveform is graphed on a time voltage plane. The horizontal axis is labeled time and the vertical axis is labeled voltage. A point A is marked on the negative vertical axis and a point B is marked on the positive vertical axis. The waveform starts from a point in the fourth quadrant, very close to the marking A and the wave fluctuates with a very less amplitude about the marking A in the fourth quadrant as it goes rightward to a point in the fourth quadrant, and then rises vertically until the marking B in the first quadrant. This wave then fluctuates with a very less amplitude about the marking B in the first quadrant as it goes rightward to a point in the first quadrant, and then drops down vertically to a point in the fourth quadrant. The waveform then has several sharp spikes that oscillate roughly between the marking A and the time axis, for a short period. This waveform further has several sharp spikes that oscillate roughly between the markings A and B, about the time axis. Then the waveform again has sharp spikes that oscillate roughly between the marking A and the time axis. The waveform then rises vertically until the marking B in the first quadrant and then fluctuates with a very less amplitude in and around the marking B as it moves horizontally to the right, and then drops to a point in the fourth quadrant, fluctuating with a very less amplitude about the marking A in the fourth quadrant.&#10;Figure 3-5 A digital waveform with noise so great that you can no longer recognize the original waveform">
            <a:extLst>
              <a:ext uri="{FF2B5EF4-FFF2-40B4-BE49-F238E27FC236}">
                <a16:creationId xmlns:a16="http://schemas.microsoft.com/office/drawing/2014/main" id="{F8BC969A-C7ED-430D-8F5C-D53134F92B97}"/>
              </a:ext>
            </a:extLst>
          </p:cNvPr>
          <p:cNvPicPr>
            <a:picLocks noChangeAspect="1"/>
          </p:cNvPicPr>
          <p:nvPr/>
        </p:nvPicPr>
        <p:blipFill>
          <a:blip r:embed="rId4"/>
          <a:stretch>
            <a:fillRect/>
          </a:stretch>
        </p:blipFill>
        <p:spPr>
          <a:xfrm>
            <a:off x="2334442" y="1304360"/>
            <a:ext cx="7523116" cy="4249280"/>
          </a:xfrm>
          <a:prstGeom prst="rect">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5"/>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Fundamentals of Signals</a:t>
            </a:r>
            <a:endParaRPr dirty="0"/>
          </a:p>
        </p:txBody>
      </p:sp>
      <p:sp>
        <p:nvSpPr>
          <p:cNvPr id="181" name="Google Shape;181;p15"/>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All signals have three components:</a:t>
            </a:r>
            <a:endParaRPr/>
          </a:p>
          <a:p>
            <a:pPr marL="900113" lvl="1" indent="-442913" algn="l" rtl="0">
              <a:lnSpc>
                <a:spcPct val="100000"/>
              </a:lnSpc>
              <a:spcBef>
                <a:spcPts val="624"/>
              </a:spcBef>
              <a:spcAft>
                <a:spcPts val="0"/>
              </a:spcAft>
              <a:buSzPts val="2400"/>
              <a:buChar char="–"/>
            </a:pPr>
            <a:r>
              <a:rPr lang="en-US"/>
              <a:t>Amplitude</a:t>
            </a:r>
            <a:endParaRPr/>
          </a:p>
          <a:p>
            <a:pPr marL="900113" lvl="1" indent="-442913" algn="l" rtl="0">
              <a:lnSpc>
                <a:spcPct val="100000"/>
              </a:lnSpc>
              <a:spcBef>
                <a:spcPts val="624"/>
              </a:spcBef>
              <a:spcAft>
                <a:spcPts val="0"/>
              </a:spcAft>
              <a:buSzPts val="2400"/>
              <a:buChar char="–"/>
            </a:pPr>
            <a:r>
              <a:rPr lang="en-US"/>
              <a:t>Frequency</a:t>
            </a:r>
            <a:endParaRPr/>
          </a:p>
          <a:p>
            <a:pPr marL="900113" lvl="1" indent="-442913" algn="l" rtl="0">
              <a:lnSpc>
                <a:spcPct val="100000"/>
              </a:lnSpc>
              <a:spcBef>
                <a:spcPts val="624"/>
              </a:spcBef>
              <a:spcAft>
                <a:spcPts val="0"/>
              </a:spcAft>
              <a:buSzPts val="2400"/>
              <a:buChar char="–"/>
            </a:pPr>
            <a:r>
              <a:rPr lang="en-US"/>
              <a:t>Phase</a:t>
            </a:r>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6"/>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Fundamentals of Signals – Amplitude (1 of 2)</a:t>
            </a:r>
            <a:endParaRPr dirty="0"/>
          </a:p>
        </p:txBody>
      </p:sp>
      <p:sp>
        <p:nvSpPr>
          <p:cNvPr id="187" name="Google Shape;187;p16"/>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Amplitude</a:t>
            </a:r>
            <a:endParaRPr/>
          </a:p>
          <a:p>
            <a:pPr marL="900113" lvl="1" indent="-442913" algn="l" rtl="0">
              <a:lnSpc>
                <a:spcPct val="100000"/>
              </a:lnSpc>
              <a:spcBef>
                <a:spcPts val="624"/>
              </a:spcBef>
              <a:spcAft>
                <a:spcPts val="0"/>
              </a:spcAft>
              <a:buSzPts val="2400"/>
              <a:buChar char="–"/>
            </a:pPr>
            <a:r>
              <a:rPr lang="en-US"/>
              <a:t>The height of the wave above or below a given reference point</a:t>
            </a:r>
            <a:endParaRPr/>
          </a:p>
          <a:p>
            <a:pPr marL="900113" lvl="1" indent="-442913" algn="l" rtl="0">
              <a:lnSpc>
                <a:spcPct val="100000"/>
              </a:lnSpc>
              <a:spcBef>
                <a:spcPts val="624"/>
              </a:spcBef>
              <a:spcAft>
                <a:spcPts val="0"/>
              </a:spcAft>
              <a:buSzPts val="2400"/>
              <a:buChar char="–"/>
            </a:pPr>
            <a:r>
              <a:rPr lang="en-US"/>
              <a:t>Amplitude is usually measured in volts</a:t>
            </a:r>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Fundamentals of Signals – Amplitude (2 of 2)</a:t>
            </a:r>
            <a:endParaRPr dirty="0"/>
          </a:p>
        </p:txBody>
      </p:sp>
      <p:pic>
        <p:nvPicPr>
          <p:cNvPr id="2" name="Picture 1" descr="A sine wave of varying amplitude is graphed on a time voltage plane. The horizontal axis is labeled time and the vertical axis is labeled voltage. The wave starts from a point very close to the origin and oscillates about the time axis for two cycles with low amplitude. The wave then oscillates for two cycles with high amplitude. The wave then finally oscillates for two cycles with low amplitude. &#10;Figure 3-6 A signal with two different &#10;amplitudes">
            <a:extLst>
              <a:ext uri="{FF2B5EF4-FFF2-40B4-BE49-F238E27FC236}">
                <a16:creationId xmlns:a16="http://schemas.microsoft.com/office/drawing/2014/main" id="{57FD3E6A-A07E-4EF7-B4E8-0BC30B3B4103}"/>
              </a:ext>
            </a:extLst>
          </p:cNvPr>
          <p:cNvPicPr>
            <a:picLocks noChangeAspect="1"/>
          </p:cNvPicPr>
          <p:nvPr/>
        </p:nvPicPr>
        <p:blipFill>
          <a:blip r:embed="rId4"/>
          <a:stretch>
            <a:fillRect/>
          </a:stretch>
        </p:blipFill>
        <p:spPr>
          <a:xfrm>
            <a:off x="2761199" y="1182429"/>
            <a:ext cx="6669602" cy="4493141"/>
          </a:xfrm>
          <a:prstGeom prst="rect">
            <a:avLst/>
          </a:prstGeom>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Fundamentals of Signals – Frequency (1 of 2)</a:t>
            </a:r>
            <a:endParaRPr dirty="0"/>
          </a:p>
        </p:txBody>
      </p:sp>
      <p:sp>
        <p:nvSpPr>
          <p:cNvPr id="199" name="Google Shape;199;p18"/>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Frequency</a:t>
            </a:r>
            <a:endParaRPr dirty="0"/>
          </a:p>
          <a:p>
            <a:pPr marL="900113" lvl="1" indent="-442913" algn="l" rtl="0">
              <a:lnSpc>
                <a:spcPct val="100000"/>
              </a:lnSpc>
              <a:spcBef>
                <a:spcPts val="624"/>
              </a:spcBef>
              <a:spcAft>
                <a:spcPts val="0"/>
              </a:spcAft>
              <a:buSzPts val="2400"/>
              <a:buChar char="–"/>
            </a:pPr>
            <a:r>
              <a:rPr lang="en-US" dirty="0"/>
              <a:t>The number of times a signal makes a complete cycle within a given time frame; frequency is measured in Hertz (Hz), or cycles per second (period = 1 / frequency)</a:t>
            </a:r>
            <a:endParaRPr dirty="0"/>
          </a:p>
          <a:p>
            <a:pPr marL="900113" lvl="1" indent="-442913" algn="l" rtl="0">
              <a:lnSpc>
                <a:spcPct val="100000"/>
              </a:lnSpc>
              <a:spcBef>
                <a:spcPts val="624"/>
              </a:spcBef>
              <a:spcAft>
                <a:spcPts val="0"/>
              </a:spcAft>
              <a:buSzPts val="2400"/>
              <a:buChar char="–"/>
            </a:pPr>
            <a:r>
              <a:rPr lang="en-US" dirty="0"/>
              <a:t>Spectrum – Range of frequencies that a signal spans from minimum to maximum</a:t>
            </a:r>
            <a:endParaRPr dirty="0"/>
          </a:p>
          <a:p>
            <a:pPr marL="900113" lvl="1" indent="-442913" algn="l" rtl="0">
              <a:lnSpc>
                <a:spcPct val="100000"/>
              </a:lnSpc>
              <a:spcBef>
                <a:spcPts val="624"/>
              </a:spcBef>
              <a:spcAft>
                <a:spcPts val="0"/>
              </a:spcAft>
              <a:buSzPts val="2400"/>
              <a:buChar char="–"/>
            </a:pPr>
            <a:r>
              <a:rPr lang="en-US" dirty="0"/>
              <a:t>Bandwidth – Absolute value of the difference between the lowest and highest frequencies of a signal</a:t>
            </a:r>
            <a:endParaRPr dirty="0"/>
          </a:p>
          <a:p>
            <a:pPr marL="900113" lvl="1" indent="-442913" algn="l" rtl="0">
              <a:lnSpc>
                <a:spcPct val="100000"/>
              </a:lnSpc>
              <a:spcBef>
                <a:spcPts val="624"/>
              </a:spcBef>
              <a:spcAft>
                <a:spcPts val="0"/>
              </a:spcAft>
              <a:buSzPts val="2400"/>
              <a:buChar char="–"/>
            </a:pPr>
            <a:r>
              <a:rPr lang="en-US" dirty="0"/>
              <a:t>For example, consider an average voice</a:t>
            </a:r>
            <a:endParaRPr dirty="0"/>
          </a:p>
          <a:p>
            <a:pPr marL="1350963" lvl="2" indent="-436563" algn="l" rtl="0">
              <a:lnSpc>
                <a:spcPct val="100000"/>
              </a:lnSpc>
              <a:spcBef>
                <a:spcPts val="624"/>
              </a:spcBef>
              <a:spcAft>
                <a:spcPts val="0"/>
              </a:spcAft>
              <a:buClr>
                <a:srgbClr val="000000"/>
              </a:buClr>
              <a:buSzPts val="2200"/>
              <a:buFont typeface="Arial" panose="020B0604020202020204" pitchFamily="34" charset="0"/>
              <a:buChar char="•"/>
            </a:pPr>
            <a:r>
              <a:rPr lang="en-US" dirty="0"/>
              <a:t>The average voice has a frequency range of roughly 300 Hz to 3100 Hz</a:t>
            </a:r>
            <a:endParaRPr dirty="0"/>
          </a:p>
          <a:p>
            <a:pPr marL="1350963" lvl="2" indent="-436563" algn="l" rtl="0">
              <a:lnSpc>
                <a:spcPct val="100000"/>
              </a:lnSpc>
              <a:spcBef>
                <a:spcPts val="624"/>
              </a:spcBef>
              <a:spcAft>
                <a:spcPts val="0"/>
              </a:spcAft>
              <a:buClr>
                <a:srgbClr val="000000"/>
              </a:buClr>
              <a:buSzPts val="2200"/>
              <a:buFont typeface="Arial" panose="020B0604020202020204" pitchFamily="34" charset="0"/>
              <a:buChar char="•"/>
            </a:pPr>
            <a:r>
              <a:rPr lang="en-US" dirty="0"/>
              <a:t>The spectrum would be 300 – 3100 Hz</a:t>
            </a:r>
            <a:endParaRPr dirty="0"/>
          </a:p>
          <a:p>
            <a:pPr marL="1350963" lvl="2" indent="-436563" algn="l" rtl="0">
              <a:lnSpc>
                <a:spcPct val="100000"/>
              </a:lnSpc>
              <a:spcBef>
                <a:spcPts val="624"/>
              </a:spcBef>
              <a:spcAft>
                <a:spcPts val="0"/>
              </a:spcAft>
              <a:buClr>
                <a:srgbClr val="000000"/>
              </a:buClr>
              <a:buSzPts val="2200"/>
              <a:buFont typeface="Arial" panose="020B0604020202020204" pitchFamily="34" charset="0"/>
              <a:buChar char="•"/>
            </a:pPr>
            <a:r>
              <a:rPr lang="en-US" dirty="0"/>
              <a:t>The bandwidth would be 2800 Hz</a:t>
            </a:r>
            <a:endParaRPr dirty="0"/>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Fundamentals of Signals – Frequency (2 of 2)</a:t>
            </a:r>
            <a:endParaRPr dirty="0"/>
          </a:p>
        </p:txBody>
      </p:sp>
      <p:pic>
        <p:nvPicPr>
          <p:cNvPr id="2" name="Picture 1" descr="Three graphs labeled a, b, and c from top to bottom, have time along the horizontal axis and voltage along the vertical axis. The topmost graph of 1 hertz has a sine curve of one cycle. The curve rises to a maximum in the first quadrant from the origin, falls to a minimum in the fourth quadrant, and then rises back to the horizontal axis when t equals 1 second. The second graph of 2 hertz has a similar sine curve that oscillates about the horizontal axis for two cycles in 1 second. The third graph of 3 hertz also has a sine curve that oscillates about the horizontal axis for three cycles in 1 second.&#10;Figure 3-7 Three signals of (a) 1 Hz, (b) 2 Hz, and (c) 3 Hz">
            <a:extLst>
              <a:ext uri="{FF2B5EF4-FFF2-40B4-BE49-F238E27FC236}">
                <a16:creationId xmlns:a16="http://schemas.microsoft.com/office/drawing/2014/main" id="{0E0AAB84-4BE4-4A6E-BDEB-27BA73317E3A}"/>
              </a:ext>
            </a:extLst>
          </p:cNvPr>
          <p:cNvPicPr>
            <a:picLocks noChangeAspect="1"/>
          </p:cNvPicPr>
          <p:nvPr/>
        </p:nvPicPr>
        <p:blipFill>
          <a:blip r:embed="rId4"/>
          <a:stretch>
            <a:fillRect/>
          </a:stretch>
        </p:blipFill>
        <p:spPr>
          <a:xfrm>
            <a:off x="3578134" y="1037230"/>
            <a:ext cx="5035732" cy="5090601"/>
          </a:xfrm>
          <a:prstGeom prst="rect">
            <a:avLst/>
          </a:prstGeom>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Fundamentals of Signals – Phase (1 of 2)</a:t>
            </a:r>
            <a:endParaRPr dirty="0"/>
          </a:p>
        </p:txBody>
      </p:sp>
      <p:sp>
        <p:nvSpPr>
          <p:cNvPr id="211" name="Google Shape;211;p20"/>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Phase</a:t>
            </a:r>
            <a:endParaRPr dirty="0"/>
          </a:p>
          <a:p>
            <a:pPr marL="900113" lvl="1" indent="-442913" algn="l" rtl="0">
              <a:lnSpc>
                <a:spcPct val="100000"/>
              </a:lnSpc>
              <a:spcBef>
                <a:spcPts val="624"/>
              </a:spcBef>
              <a:spcAft>
                <a:spcPts val="0"/>
              </a:spcAft>
              <a:buSzPts val="2400"/>
              <a:buChar char="–"/>
            </a:pPr>
            <a:r>
              <a:rPr lang="en-US" dirty="0"/>
              <a:t>The position of the waveform relative to a given moment of time or relative to time zero</a:t>
            </a:r>
            <a:endParaRPr dirty="0"/>
          </a:p>
          <a:p>
            <a:pPr marL="900113" lvl="1" indent="-442913" algn="l" rtl="0">
              <a:lnSpc>
                <a:spcPct val="100000"/>
              </a:lnSpc>
              <a:spcBef>
                <a:spcPts val="624"/>
              </a:spcBef>
              <a:spcAft>
                <a:spcPts val="0"/>
              </a:spcAft>
              <a:buSzPts val="2400"/>
              <a:buChar char="–"/>
            </a:pPr>
            <a:r>
              <a:rPr lang="en-US" dirty="0"/>
              <a:t>A change in phase can be any number of angles between 0 and 360 degrees</a:t>
            </a:r>
            <a:endParaRPr dirty="0"/>
          </a:p>
          <a:p>
            <a:pPr marL="900113" lvl="1" indent="-442913" algn="l" rtl="0">
              <a:lnSpc>
                <a:spcPct val="100000"/>
              </a:lnSpc>
              <a:spcBef>
                <a:spcPts val="624"/>
              </a:spcBef>
              <a:spcAft>
                <a:spcPts val="0"/>
              </a:spcAft>
              <a:buSzPts val="2400"/>
              <a:buChar char="–"/>
            </a:pPr>
            <a:r>
              <a:rPr lang="en-US" dirty="0"/>
              <a:t>Phase changes often occur on common angles, such as 45, 90, 135, etc.</a:t>
            </a:r>
            <a:endParaRPr dirty="0"/>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Fundamentals of Signals – Phase (2 of 2)</a:t>
            </a:r>
            <a:endParaRPr dirty="0"/>
          </a:p>
        </p:txBody>
      </p:sp>
      <p:pic>
        <p:nvPicPr>
          <p:cNvPr id="2" name="Picture 1" descr="Three graphs from top to bottom, labeled a, b, and c depict the phase change of a sine wave. The horizontal axis is labeled time and the vertical axis is labeled voltage. Graph ‘a’ with no phase change, has a sine wave that rises from the origin and oscillates about the horizontal axis for three cycles. Graph ‘b’ with 180 degree phase change, shows a sine wave that rises from the origin and oscillates about the horizontal axis for a cycle, after which the curve rises to the maximum in the first quadrant. A vertical dashed line labeled 180 degrees is drawn at this point between the first and the fourth quadrants crossing the horizontal axis. The wave then rises from a minimum point in the fourth quadrant to a point in the horizontal axis, and repeats another cycle of oscillation along the time axis. Graph ‘c’ with 90 degrees phase change, shows a sine wave that rises from the origin and oscillates about the horizontal axis for a cycle, after which the curve rises to the maximum in the first quadrant. A vertical dashed line labeled 90 degrees is drawn at this point between the first and the fourth quadrants crossing the time axis. The wave then falls from the point of intersection of the dashed line and the horizontal axis to a minimum, then rises to a point in the horizontal axis, and repeats another cycle of oscillation along the horizontal axis.&#10;Figure 3-8 A sine wave showing (a) no phase change, (b) a 180-degree phase change, and (c) a 90-degree phase change">
            <a:extLst>
              <a:ext uri="{FF2B5EF4-FFF2-40B4-BE49-F238E27FC236}">
                <a16:creationId xmlns:a16="http://schemas.microsoft.com/office/drawing/2014/main" id="{0134DC8B-A8E8-4B0A-8F06-6338F358F629}"/>
              </a:ext>
            </a:extLst>
          </p:cNvPr>
          <p:cNvPicPr>
            <a:picLocks noChangeAspect="1"/>
          </p:cNvPicPr>
          <p:nvPr/>
        </p:nvPicPr>
        <p:blipFill>
          <a:blip r:embed="rId4"/>
          <a:stretch>
            <a:fillRect/>
          </a:stretch>
        </p:blipFill>
        <p:spPr>
          <a:xfrm>
            <a:off x="3687871" y="1049930"/>
            <a:ext cx="4816257" cy="5084505"/>
          </a:xfrm>
          <a:prstGeom prst="rect">
            <a:avLst/>
          </a:prstGeom>
        </p:spPr>
      </p:pic>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Fundamentals of Signals - Phase (2 of 2)</a:t>
            </a:r>
            <a:endParaRPr dirty="0"/>
          </a:p>
        </p:txBody>
      </p:sp>
      <p:sp>
        <p:nvSpPr>
          <p:cNvPr id="223" name="Google Shape;223;p22"/>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Phase</a:t>
            </a:r>
            <a:endParaRPr dirty="0"/>
          </a:p>
          <a:p>
            <a:pPr marL="900113" lvl="1" indent="-442913" algn="l" rtl="0">
              <a:lnSpc>
                <a:spcPct val="100000"/>
              </a:lnSpc>
              <a:spcBef>
                <a:spcPts val="624"/>
              </a:spcBef>
              <a:spcAft>
                <a:spcPts val="0"/>
              </a:spcAft>
              <a:buSzPts val="2400"/>
              <a:buChar char="–"/>
            </a:pPr>
            <a:r>
              <a:rPr lang="en-US" dirty="0"/>
              <a:t>If a signal can experience two different phase angles, then 1 bit can be transmitted with each signal change (each baud)</a:t>
            </a:r>
            <a:endParaRPr dirty="0"/>
          </a:p>
          <a:p>
            <a:pPr marL="900113" lvl="1" indent="-442913" algn="l" rtl="0">
              <a:lnSpc>
                <a:spcPct val="100000"/>
              </a:lnSpc>
              <a:spcBef>
                <a:spcPts val="624"/>
              </a:spcBef>
              <a:spcAft>
                <a:spcPts val="0"/>
              </a:spcAft>
              <a:buSzPts val="2400"/>
              <a:buChar char="–"/>
            </a:pPr>
            <a:r>
              <a:rPr lang="en-US" dirty="0"/>
              <a:t>If a signal can experience four different phase angles, then 2 bits can be transmitted with each signal change (each baud)</a:t>
            </a:r>
            <a:endParaRPr dirty="0"/>
          </a:p>
          <a:p>
            <a:pPr marL="900113" lvl="1" indent="-442913" algn="l" rtl="0">
              <a:lnSpc>
                <a:spcPct val="100000"/>
              </a:lnSpc>
              <a:spcBef>
                <a:spcPts val="624"/>
              </a:spcBef>
              <a:spcAft>
                <a:spcPts val="0"/>
              </a:spcAft>
              <a:buSzPts val="2400"/>
              <a:buChar char="–"/>
            </a:pPr>
            <a:r>
              <a:rPr lang="en-US" dirty="0"/>
              <a:t>Note: number of bits transmitted with each signal change = log2 (number of different phase angles)</a:t>
            </a:r>
            <a:endParaRPr dirty="0"/>
          </a:p>
          <a:p>
            <a:pPr marL="900113" lvl="1" indent="-442913" algn="l" rtl="0">
              <a:lnSpc>
                <a:spcPct val="100000"/>
              </a:lnSpc>
              <a:spcBef>
                <a:spcPts val="624"/>
              </a:spcBef>
              <a:spcAft>
                <a:spcPts val="0"/>
              </a:spcAft>
              <a:buSzPts val="2400"/>
              <a:buChar char="–"/>
            </a:pPr>
            <a:r>
              <a:rPr lang="en-US" dirty="0"/>
              <a:t>(You can replace “phase angles” with “amplitude levels” or “frequency levels”)</a:t>
            </a:r>
            <a:endParaRPr dirty="0"/>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Loss of Signal Strength (1 of 4)</a:t>
            </a:r>
            <a:endParaRPr dirty="0"/>
          </a:p>
        </p:txBody>
      </p:sp>
      <p:sp>
        <p:nvSpPr>
          <p:cNvPr id="229" name="Google Shape;229;p23"/>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All signals experience loss (attenuation)</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Attenuation is denoted as a decibel (dB) loss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Decibel losses (and gains) are additive</a:t>
            </a:r>
            <a:endParaRPr dirty="0"/>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Loss of Signal Strength (2 of 4)</a:t>
            </a:r>
            <a:endParaRPr dirty="0"/>
          </a:p>
        </p:txBody>
      </p:sp>
      <p:pic>
        <p:nvPicPr>
          <p:cNvPr id="2" name="Picture 1" descr="An illustration depicts the communication line between three blocks, one at the left labeled A, the other at the right labeled C, and the third block in the middle labeled B, slightly above both the blocks. The block A is connected to block B through a line of negative 10 decibels. The block B has + 20 decibels and is connected to block C through a line of negative 15 decibels. &#10;Figure 3-10 Example demonstrating decibel loss and gain">
            <a:extLst>
              <a:ext uri="{FF2B5EF4-FFF2-40B4-BE49-F238E27FC236}">
                <a16:creationId xmlns:a16="http://schemas.microsoft.com/office/drawing/2014/main" id="{5E154799-8506-4319-9330-48257708B501}"/>
              </a:ext>
            </a:extLst>
          </p:cNvPr>
          <p:cNvPicPr>
            <a:picLocks noChangeAspect="1"/>
          </p:cNvPicPr>
          <p:nvPr/>
        </p:nvPicPr>
        <p:blipFill>
          <a:blip r:embed="rId4"/>
          <a:stretch>
            <a:fillRect/>
          </a:stretch>
        </p:blipFill>
        <p:spPr>
          <a:xfrm>
            <a:off x="2651461" y="1685393"/>
            <a:ext cx="6889077" cy="3487214"/>
          </a:xfrm>
          <a:prstGeom prst="rect">
            <a:avLst/>
          </a:prstGeom>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Loss of Signal Strength (3 of 4)</a:t>
            </a:r>
            <a:endParaRPr dirty="0"/>
          </a:p>
        </p:txBody>
      </p:sp>
      <p:sp>
        <p:nvSpPr>
          <p:cNvPr id="241" name="Google Shape;241;p25"/>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SzPts val="2600"/>
              <a:buChar char="•"/>
            </a:pPr>
            <a:r>
              <a:rPr lang="en-US" dirty="0"/>
              <a:t>Formula for decibel (dB): </a:t>
            </a:r>
            <a:endParaRPr dirty="0"/>
          </a:p>
          <a:p>
            <a:pPr marL="0" lvl="0" indent="0" algn="ctr" rtl="0">
              <a:lnSpc>
                <a:spcPct val="100000"/>
              </a:lnSpc>
              <a:spcBef>
                <a:spcPts val="2424"/>
              </a:spcBef>
              <a:spcAft>
                <a:spcPts val="0"/>
              </a:spcAft>
              <a:buSzPts val="2600"/>
              <a:buNone/>
            </a:pPr>
            <a:r>
              <a:rPr lang="en-US" dirty="0"/>
              <a:t>dB = 10 × log10 (P</a:t>
            </a:r>
            <a:r>
              <a:rPr lang="en-US" baseline="-25000" dirty="0"/>
              <a:t>2</a:t>
            </a:r>
            <a:r>
              <a:rPr lang="en-US" dirty="0"/>
              <a:t> / P</a:t>
            </a:r>
            <a:r>
              <a:rPr lang="en-US" baseline="-25000" dirty="0"/>
              <a:t>1</a:t>
            </a:r>
            <a:r>
              <a:rPr lang="en-US" dirty="0"/>
              <a:t>)</a:t>
            </a:r>
            <a:endParaRPr dirty="0"/>
          </a:p>
          <a:p>
            <a:pPr marL="0" lvl="0" indent="0" algn="l" rtl="0">
              <a:lnSpc>
                <a:spcPct val="100000"/>
              </a:lnSpc>
              <a:spcBef>
                <a:spcPts val="2424"/>
              </a:spcBef>
              <a:spcAft>
                <a:spcPts val="0"/>
              </a:spcAft>
              <a:buSzPts val="2600"/>
              <a:buNone/>
            </a:pPr>
            <a:r>
              <a:rPr lang="en-US" dirty="0"/>
              <a:t>where P</a:t>
            </a:r>
            <a:r>
              <a:rPr lang="en-US" baseline="-25000" dirty="0"/>
              <a:t>1</a:t>
            </a:r>
            <a:r>
              <a:rPr lang="en-US" dirty="0"/>
              <a:t> is the beginning power level and P</a:t>
            </a:r>
            <a:r>
              <a:rPr lang="en-US" baseline="-25000" dirty="0"/>
              <a:t>2</a:t>
            </a:r>
            <a:r>
              <a:rPr lang="en-US" dirty="0"/>
              <a:t> is the ending power level</a:t>
            </a:r>
            <a:endParaRPr dirty="0"/>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Loss of Signal Strength (4 of 4)</a:t>
            </a:r>
            <a:endParaRPr dirty="0"/>
          </a:p>
        </p:txBody>
      </p:sp>
      <p:sp>
        <p:nvSpPr>
          <p:cNvPr id="247" name="Google Shape;247;p26"/>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So, if a signal loses 3 dB, is that a lot?</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What if a signal starts at 100 watts and ends at 50 watts? What is dB loss?</a:t>
            </a:r>
            <a:endParaRPr dirty="0"/>
          </a:p>
          <a:p>
            <a:pPr marL="0" lvl="0" indent="541338" algn="l" rtl="0">
              <a:lnSpc>
                <a:spcPct val="100000"/>
              </a:lnSpc>
              <a:spcBef>
                <a:spcPts val="624"/>
              </a:spcBef>
              <a:spcAft>
                <a:spcPts val="0"/>
              </a:spcAft>
              <a:buSzPts val="2600"/>
              <a:buNone/>
            </a:pPr>
            <a:r>
              <a:rPr lang="en-US" dirty="0"/>
              <a:t>dB = 10 × log</a:t>
            </a:r>
            <a:r>
              <a:rPr lang="en-US" baseline="-25000" dirty="0"/>
              <a:t>10</a:t>
            </a:r>
            <a:r>
              <a:rPr lang="en-US" dirty="0"/>
              <a:t> (P</a:t>
            </a:r>
            <a:r>
              <a:rPr lang="en-US" baseline="-25000" dirty="0"/>
              <a:t>2</a:t>
            </a:r>
            <a:r>
              <a:rPr lang="en-US" dirty="0"/>
              <a:t> / P</a:t>
            </a:r>
            <a:r>
              <a:rPr lang="en-US" baseline="-25000" dirty="0"/>
              <a:t>1</a:t>
            </a:r>
            <a:r>
              <a:rPr lang="en-US" dirty="0"/>
              <a:t>)</a:t>
            </a:r>
            <a:endParaRPr dirty="0"/>
          </a:p>
          <a:p>
            <a:pPr marL="0" lvl="0" indent="541338" algn="l" rtl="0">
              <a:lnSpc>
                <a:spcPct val="100000"/>
              </a:lnSpc>
              <a:spcBef>
                <a:spcPts val="624"/>
              </a:spcBef>
              <a:spcAft>
                <a:spcPts val="0"/>
              </a:spcAft>
              <a:buSzPts val="2600"/>
              <a:buNone/>
            </a:pPr>
            <a:r>
              <a:rPr lang="en-US" dirty="0"/>
              <a:t>dB = 10 × log</a:t>
            </a:r>
            <a:r>
              <a:rPr lang="en-US" baseline="-25000" dirty="0"/>
              <a:t>10</a:t>
            </a:r>
            <a:r>
              <a:rPr lang="en-US" dirty="0"/>
              <a:t> (50 / 100)</a:t>
            </a:r>
            <a:endParaRPr dirty="0"/>
          </a:p>
          <a:p>
            <a:pPr marL="0" lvl="0" indent="541338" algn="l" rtl="0">
              <a:lnSpc>
                <a:spcPct val="100000"/>
              </a:lnSpc>
              <a:spcBef>
                <a:spcPts val="624"/>
              </a:spcBef>
              <a:spcAft>
                <a:spcPts val="0"/>
              </a:spcAft>
              <a:buSzPts val="2600"/>
              <a:buNone/>
            </a:pPr>
            <a:r>
              <a:rPr lang="en-US" dirty="0"/>
              <a:t>dB = 10 × log</a:t>
            </a:r>
            <a:r>
              <a:rPr lang="en-US" baseline="-25000" dirty="0"/>
              <a:t>10</a:t>
            </a:r>
            <a:r>
              <a:rPr lang="en-US" dirty="0"/>
              <a:t> (0.5)</a:t>
            </a:r>
            <a:endParaRPr dirty="0"/>
          </a:p>
          <a:p>
            <a:pPr marL="0" lvl="0" indent="541338" algn="l" rtl="0">
              <a:lnSpc>
                <a:spcPct val="100000"/>
              </a:lnSpc>
              <a:spcBef>
                <a:spcPts val="624"/>
              </a:spcBef>
              <a:spcAft>
                <a:spcPts val="0"/>
              </a:spcAft>
              <a:buSzPts val="2600"/>
              <a:buNone/>
            </a:pPr>
            <a:r>
              <a:rPr lang="en-US" dirty="0"/>
              <a:t>dB = 10 × </a:t>
            </a:r>
            <a:r>
              <a:rPr lang="en-US" dirty="0">
                <a:latin typeface="Times New Roman" panose="02020603050405020304" pitchFamily="18" charset="0"/>
                <a:cs typeface="Times New Roman" panose="02020603050405020304" pitchFamily="18" charset="0"/>
              </a:rPr>
              <a:t>−</a:t>
            </a:r>
            <a:r>
              <a:rPr lang="en-US" dirty="0"/>
              <a:t>0.3</a:t>
            </a:r>
            <a:endParaRPr dirty="0"/>
          </a:p>
          <a:p>
            <a:pPr marL="0" lvl="0" indent="541338" algn="l" rtl="0">
              <a:lnSpc>
                <a:spcPct val="100000"/>
              </a:lnSpc>
              <a:spcBef>
                <a:spcPts val="624"/>
              </a:spcBef>
              <a:spcAft>
                <a:spcPts val="0"/>
              </a:spcAft>
              <a:buSzPts val="2600"/>
              <a:buNone/>
            </a:pPr>
            <a:r>
              <a:rPr lang="en-US" dirty="0"/>
              <a:t>dB = </a:t>
            </a:r>
            <a:r>
              <a:rPr lang="en-US" dirty="0">
                <a:latin typeface="Times New Roman" panose="02020603050405020304" pitchFamily="18" charset="0"/>
                <a:cs typeface="Times New Roman" panose="02020603050405020304" pitchFamily="18" charset="0"/>
              </a:rPr>
              <a:t>−</a:t>
            </a:r>
            <a:r>
              <a:rPr lang="en-US" dirty="0"/>
              <a:t>3.0</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So, a 3.0 decibel loss corresponds to lose half of signal power</a:t>
            </a:r>
            <a:endParaRPr dirty="0"/>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Converting Data into Signals</a:t>
            </a:r>
            <a:endParaRPr dirty="0"/>
          </a:p>
        </p:txBody>
      </p:sp>
      <p:sp>
        <p:nvSpPr>
          <p:cNvPr id="253" name="Google Shape;253;p27"/>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There are four main combinations of data and signals:</a:t>
            </a:r>
            <a:endParaRPr dirty="0"/>
          </a:p>
          <a:p>
            <a:pPr marL="900113" lvl="1" indent="-442913" algn="l" rtl="0">
              <a:lnSpc>
                <a:spcPct val="100000"/>
              </a:lnSpc>
              <a:spcBef>
                <a:spcPts val="624"/>
              </a:spcBef>
              <a:spcAft>
                <a:spcPts val="0"/>
              </a:spcAft>
              <a:buSzPts val="2400"/>
              <a:buChar char="–"/>
            </a:pPr>
            <a:r>
              <a:rPr lang="en-US" dirty="0"/>
              <a:t> Analog data transmitted using analog signals</a:t>
            </a:r>
            <a:endParaRPr dirty="0"/>
          </a:p>
          <a:p>
            <a:pPr marL="900113" lvl="1" indent="-442913" algn="l" rtl="0">
              <a:lnSpc>
                <a:spcPct val="100000"/>
              </a:lnSpc>
              <a:spcBef>
                <a:spcPts val="624"/>
              </a:spcBef>
              <a:spcAft>
                <a:spcPts val="0"/>
              </a:spcAft>
              <a:buSzPts val="2400"/>
              <a:buChar char="–"/>
            </a:pPr>
            <a:r>
              <a:rPr lang="en-US" dirty="0"/>
              <a:t> Digital data transmitted using digital signals</a:t>
            </a:r>
            <a:endParaRPr dirty="0"/>
          </a:p>
          <a:p>
            <a:pPr marL="900113" lvl="1" indent="-442913" algn="l" rtl="0">
              <a:lnSpc>
                <a:spcPct val="100000"/>
              </a:lnSpc>
              <a:spcBef>
                <a:spcPts val="624"/>
              </a:spcBef>
              <a:spcAft>
                <a:spcPts val="0"/>
              </a:spcAft>
              <a:buSzPts val="2400"/>
              <a:buChar char="–"/>
            </a:pPr>
            <a:r>
              <a:rPr lang="en-US" dirty="0"/>
              <a:t> Digital data transmitted using discrete analog signals</a:t>
            </a:r>
            <a:endParaRPr dirty="0"/>
          </a:p>
          <a:p>
            <a:pPr marL="900113" lvl="1" indent="-442913" algn="l" rtl="0">
              <a:lnSpc>
                <a:spcPct val="100000"/>
              </a:lnSpc>
              <a:spcBef>
                <a:spcPts val="624"/>
              </a:spcBef>
              <a:spcAft>
                <a:spcPts val="0"/>
              </a:spcAft>
              <a:buSzPts val="2400"/>
              <a:buChar char="–"/>
            </a:pPr>
            <a:r>
              <a:rPr lang="en-US" dirty="0"/>
              <a:t> Analog data transmitted using digital signals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Let’s look at each of these</a:t>
            </a:r>
            <a:endParaRPr dirty="0"/>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8"/>
          <p:cNvSpPr txBox="1">
            <a:spLocks noGrp="1"/>
          </p:cNvSpPr>
          <p:nvPr>
            <p:ph type="title"/>
          </p:nvPr>
        </p:nvSpPr>
        <p:spPr>
          <a:xfrm>
            <a:off x="838200" y="365125"/>
            <a:ext cx="10515600" cy="9735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Transmitting Analog Data with Analog Signals (1 of 2)</a:t>
            </a:r>
            <a:endParaRPr dirty="0"/>
          </a:p>
        </p:txBody>
      </p:sp>
      <p:sp>
        <p:nvSpPr>
          <p:cNvPr id="259" name="Google Shape;259;p28"/>
          <p:cNvSpPr txBox="1">
            <a:spLocks noGrp="1"/>
          </p:cNvSpPr>
          <p:nvPr>
            <p:ph type="body" idx="1"/>
          </p:nvPr>
        </p:nvSpPr>
        <p:spPr>
          <a:xfrm>
            <a:off x="743575" y="1755551"/>
            <a:ext cx="10711500" cy="43356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In order to transmit analog data, you can modulate the data onto a set of analog signals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Broadcast radio and the older broadcast television are two very common examples of this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We modulate the data onto another set of frequencies so that all the different channels can coexist at different frequencies</a:t>
            </a:r>
            <a:endParaRPr dirty="0"/>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9"/>
          <p:cNvSpPr txBox="1">
            <a:spLocks noGrp="1"/>
          </p:cNvSpPr>
          <p:nvPr>
            <p:ph type="title"/>
          </p:nvPr>
        </p:nvSpPr>
        <p:spPr>
          <a:xfrm>
            <a:off x="838200" y="365125"/>
            <a:ext cx="10515600" cy="9105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Transmitting Analog Data with Analog Signals (2 of 2)</a:t>
            </a:r>
            <a:endParaRPr dirty="0"/>
          </a:p>
        </p:txBody>
      </p:sp>
      <p:pic>
        <p:nvPicPr>
          <p:cNvPr id="2" name="Picture 1" descr="Three graphs from top to bottom for the audio waveform are labeled a, b, and c. The horizontal axis is labeled time and the vertical axis is labeled voltage. Graph ‘a’ for the original audio waveform shows the waveform that alternates between two amplitudes. The curve rises from the origin to a point in the first quadrant and then falls to a point in the fourth quadrant. This waveform again rises up to the first quadrant with the same amplitude and then falls to a point in the fourth quadrant. This waveform then rises up with higher amplitude to a maximum in the first quadrant and then falls to a point in the fourth quadrant with a lesser amplitude. This waveform then rises to a point in the first quadrant with lesser amplitude and again falls to a point in the fourth quadrant, further rising to a maximum in the first quadrant with a higher amplitude. This waveform then falls to a point in the fourth quadrant and again rises to a point in the first quadrant with less amplitude and then finally falls to a point in the fourth quadrant and rises through the time axis. Graph ‘b’ for the carrier signal is a uniform sine wave that rises from the origin to a point in the first quadrant, then falls to a point in the fourth quadrant, and again rises to a point in the first quadrant. This wave then repeats in the same pattern for 18 cycles as it moves along the time axis. Graph ‘c’ for the composite signal shows the wave that rises from the origin to a point in the first quadrant and then falls to a point in the fourth quadrant again rises to a point in the first quadrant, slightly below the previous high point, and then falls to a point in the fourth quadrant. This wave then rises to a point in the first quadrant, slightly below the previous high point, and then falls to a point in the fourth quadrant. Similarly the curve repeats for another sixteen cycles with varying amplitudes as the waveform moves along the time axis. Another dashed waveform in the first quadrant resembles the original waveform in graph a, and touches the maximum points of the previous waveform in the first quadrant throughout the time axis. &#10;Figure 3-11 An audio waveform modulated onto a carrier frequency using amplitude modulation">
            <a:extLst>
              <a:ext uri="{FF2B5EF4-FFF2-40B4-BE49-F238E27FC236}">
                <a16:creationId xmlns:a16="http://schemas.microsoft.com/office/drawing/2014/main" id="{882EB22E-9F24-4FF2-9752-47DF3D1619E6}"/>
              </a:ext>
            </a:extLst>
          </p:cNvPr>
          <p:cNvPicPr>
            <a:picLocks noChangeAspect="1"/>
          </p:cNvPicPr>
          <p:nvPr/>
        </p:nvPicPr>
        <p:blipFill>
          <a:blip r:embed="rId4"/>
          <a:stretch>
            <a:fillRect/>
          </a:stretch>
        </p:blipFill>
        <p:spPr>
          <a:xfrm>
            <a:off x="3968311" y="1454705"/>
            <a:ext cx="4255377" cy="4761389"/>
          </a:xfrm>
          <a:prstGeom prst="rect">
            <a:avLst/>
          </a:prstGeom>
        </p:spPr>
      </p:pic>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0"/>
          <p:cNvSpPr txBox="1">
            <a:spLocks noGrp="1"/>
          </p:cNvSpPr>
          <p:nvPr>
            <p:ph type="title"/>
          </p:nvPr>
        </p:nvSpPr>
        <p:spPr>
          <a:xfrm>
            <a:off x="838200" y="365125"/>
            <a:ext cx="10515600" cy="9246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Transmitting Digital Data with Digital Signals: Digital Encoding Schemes</a:t>
            </a:r>
            <a:endParaRPr dirty="0"/>
          </a:p>
        </p:txBody>
      </p:sp>
      <p:sp>
        <p:nvSpPr>
          <p:cNvPr id="271" name="Google Shape;271;p30"/>
          <p:cNvSpPr txBox="1">
            <a:spLocks noGrp="1"/>
          </p:cNvSpPr>
          <p:nvPr>
            <p:ph type="body" idx="1"/>
          </p:nvPr>
        </p:nvSpPr>
        <p:spPr>
          <a:xfrm>
            <a:off x="743575" y="1490325"/>
            <a:ext cx="9941400" cy="43446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2400"/>
              </a:spcAft>
              <a:buClr>
                <a:srgbClr val="004A78"/>
              </a:buClr>
              <a:buSzPts val="2600"/>
              <a:buFont typeface="Arial"/>
              <a:buChar char="•"/>
            </a:pPr>
            <a:r>
              <a:rPr lang="en-US" dirty="0"/>
              <a:t>There are numerous techniques available to convert digital data into digital signals. Let’s examine five:</a:t>
            </a:r>
            <a:endParaRPr dirty="0"/>
          </a:p>
          <a:p>
            <a:pPr marL="900113" lvl="1" indent="-442913" algn="l" rtl="0">
              <a:lnSpc>
                <a:spcPct val="100000"/>
              </a:lnSpc>
              <a:spcBef>
                <a:spcPts val="624"/>
              </a:spcBef>
              <a:spcAft>
                <a:spcPts val="0"/>
              </a:spcAft>
              <a:buSzPts val="2400"/>
              <a:buChar char="–"/>
            </a:pPr>
            <a:r>
              <a:rPr lang="en-US" dirty="0"/>
              <a:t>NRZ-L</a:t>
            </a:r>
            <a:endParaRPr dirty="0"/>
          </a:p>
          <a:p>
            <a:pPr marL="900112" lvl="1" indent="-442912" algn="l" rtl="0">
              <a:lnSpc>
                <a:spcPct val="100000"/>
              </a:lnSpc>
              <a:spcBef>
                <a:spcPts val="624"/>
              </a:spcBef>
              <a:spcAft>
                <a:spcPts val="2400"/>
              </a:spcAft>
              <a:buSzPts val="2400"/>
              <a:buChar char="–"/>
            </a:pPr>
            <a:r>
              <a:rPr lang="en-US" dirty="0"/>
              <a:t>NRZI</a:t>
            </a:r>
            <a:endParaRPr dirty="0"/>
          </a:p>
          <a:p>
            <a:pPr marL="900113" lvl="1" indent="-442913" algn="l" rtl="0">
              <a:lnSpc>
                <a:spcPct val="100000"/>
              </a:lnSpc>
              <a:spcBef>
                <a:spcPts val="624"/>
              </a:spcBef>
              <a:spcAft>
                <a:spcPts val="0"/>
              </a:spcAft>
              <a:buSzPts val="2400"/>
              <a:buChar char="–"/>
            </a:pPr>
            <a:r>
              <a:rPr lang="en-US" dirty="0"/>
              <a:t>Manchester</a:t>
            </a:r>
            <a:endParaRPr dirty="0"/>
          </a:p>
          <a:p>
            <a:pPr marL="900112" lvl="1" indent="-442912" algn="l" rtl="0">
              <a:lnSpc>
                <a:spcPct val="100000"/>
              </a:lnSpc>
              <a:spcBef>
                <a:spcPts val="624"/>
              </a:spcBef>
              <a:spcAft>
                <a:spcPts val="2400"/>
              </a:spcAft>
              <a:buSzPts val="2400"/>
              <a:buChar char="–"/>
            </a:pPr>
            <a:r>
              <a:rPr lang="en-US" dirty="0"/>
              <a:t>Differential Manchester</a:t>
            </a:r>
            <a:endParaRPr dirty="0"/>
          </a:p>
          <a:p>
            <a:pPr marL="900112" lvl="1" indent="-442912" algn="l" rtl="0">
              <a:lnSpc>
                <a:spcPct val="100000"/>
              </a:lnSpc>
              <a:spcBef>
                <a:spcPts val="624"/>
              </a:spcBef>
              <a:spcAft>
                <a:spcPts val="0"/>
              </a:spcAft>
              <a:buSzPts val="2400"/>
              <a:buChar char="–"/>
            </a:pPr>
            <a:r>
              <a:rPr lang="en-US" dirty="0"/>
              <a:t>4B/5B</a:t>
            </a:r>
            <a:endParaRPr dirty="0"/>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2"/>
          <p:cNvSpPr txBox="1">
            <a:spLocks noGrp="1"/>
          </p:cNvSpPr>
          <p:nvPr>
            <p:ph type="title"/>
          </p:nvPr>
        </p:nvSpPr>
        <p:spPr>
          <a:xfrm>
            <a:off x="341000" y="365125"/>
            <a:ext cx="114048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Nonreturn to Zero Digital Encoding Schemes (1 of 2)</a:t>
            </a:r>
            <a:endParaRPr dirty="0"/>
          </a:p>
        </p:txBody>
      </p:sp>
      <p:sp>
        <p:nvSpPr>
          <p:cNvPr id="277" name="Google Shape;277;p32"/>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Nonreturn to zero-level (NRZ-L) transmits 1s as zero voltages and 0s as positive voltages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Nonreturn to zero inverted (NRZI) has a voltage change at the beginning of a 1 and no voltage change at the beginning of a 0</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Fundamental difference exists between NRZ-L and NRZI</a:t>
            </a:r>
            <a:endParaRPr dirty="0"/>
          </a:p>
          <a:p>
            <a:pPr marL="900113" lvl="1" indent="-442913" algn="l" rtl="0">
              <a:lnSpc>
                <a:spcPct val="100000"/>
              </a:lnSpc>
              <a:spcBef>
                <a:spcPts val="624"/>
              </a:spcBef>
              <a:spcAft>
                <a:spcPts val="0"/>
              </a:spcAft>
              <a:buSzPts val="2400"/>
              <a:buChar char="–"/>
            </a:pPr>
            <a:r>
              <a:rPr lang="en-US" dirty="0"/>
              <a:t>With NRZ-L, the receiver has to check the voltage level for each bit to determine whether the bit is a 0 or a 1, </a:t>
            </a:r>
            <a:endParaRPr dirty="0"/>
          </a:p>
          <a:p>
            <a:pPr marL="900113" lvl="1" indent="-442913" algn="l" rtl="0">
              <a:lnSpc>
                <a:spcPct val="100000"/>
              </a:lnSpc>
              <a:spcBef>
                <a:spcPts val="624"/>
              </a:spcBef>
              <a:spcAft>
                <a:spcPts val="0"/>
              </a:spcAft>
              <a:buSzPts val="2400"/>
              <a:buChar char="–"/>
            </a:pPr>
            <a:r>
              <a:rPr lang="en-US" dirty="0"/>
              <a:t>With NRZI, the receiver has to check whether there is a change at the </a:t>
            </a:r>
            <a:r>
              <a:rPr lang="en-US" i="1" dirty="0"/>
              <a:t>beginning</a:t>
            </a:r>
            <a:r>
              <a:rPr lang="en-US" dirty="0"/>
              <a:t> of the bit to determine if it is a 0 or a 1</a:t>
            </a:r>
            <a:endParaRPr dirty="0"/>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3" name="Google Shape;283;p31"/>
          <p:cNvSpPr txBox="1">
            <a:spLocks noGrp="1"/>
          </p:cNvSpPr>
          <p:nvPr>
            <p:ph type="title"/>
          </p:nvPr>
        </p:nvSpPr>
        <p:spPr>
          <a:xfrm>
            <a:off x="341000" y="365125"/>
            <a:ext cx="114048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Nonreturn to Zero Digital Encoding Schemes (2 of 2)</a:t>
            </a:r>
            <a:endParaRPr dirty="0"/>
          </a:p>
        </p:txBody>
      </p:sp>
      <p:pic>
        <p:nvPicPr>
          <p:cNvPr id="2" name="Picture 1" descr="Two graphs one below the other, labeled a and b, represent two types of encoding schemes. The horizontal axis is labeled time and the vertical axis is labeled voltage. Graph ‘a’ N R Z – L, represents a square waveform for the digital data 1 0 0 0 1 0 1 1. The waveform starts from a point in the vertical axis, moves rightward for a certain duration and then falls vertically to a point in the first quadrant. Value 1 is represented in this part of the waveform. This waveform then moves rightward for much more duration to a point in the first quadrant, representing the values 0, 0, 0. This waveform then rises vertically to a point in the first quadrant to the same height as the previous maximum, and moves rightward for certain duration, representing value 1. The waveform then falls vertically to a point in the first quadrant and then moves rightward to a point in the first quadrant representing value 0, and then rises to a point in the first quadrant. The waveform then moves rightward for more duration, representing the values 1 and 1. Graph ‘b’ N R Z I, represents a square waveform that starts from a point in the horizontal axis, moves vertically up to a point in the first quadrant, and then goes rightward for more duration, representing values 1, 0, 0, and 0. The waveform then falls vertically to a point in the first quadrant and goes rightward for some duration, representing the values 1 and 0. It then rises vertically to a point in the first quadrant. The waveform goes rightward for certain distance representing value 1, and then drops vertically to a point in the first quadrant. The waveform finally moves rightward representing the value 1.&#10;Figure 3-12 Comparison of NRZ-L and NRZI digital encoding schemes">
            <a:extLst>
              <a:ext uri="{FF2B5EF4-FFF2-40B4-BE49-F238E27FC236}">
                <a16:creationId xmlns:a16="http://schemas.microsoft.com/office/drawing/2014/main" id="{8F020174-3933-4F63-A794-A0334C57CDC4}"/>
              </a:ext>
            </a:extLst>
          </p:cNvPr>
          <p:cNvPicPr>
            <a:picLocks noChangeAspect="1"/>
          </p:cNvPicPr>
          <p:nvPr/>
        </p:nvPicPr>
        <p:blipFill>
          <a:blip r:embed="rId4"/>
          <a:stretch>
            <a:fillRect/>
          </a:stretch>
        </p:blipFill>
        <p:spPr>
          <a:xfrm>
            <a:off x="2438083" y="1702142"/>
            <a:ext cx="7315834" cy="3834716"/>
          </a:xfrm>
          <a:prstGeom prst="rect">
            <a:avLst/>
          </a:prstGeom>
        </p:spPr>
      </p:pic>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Manchester Digital Encoding Schemes (1 of 2)</a:t>
            </a:r>
            <a:endParaRPr dirty="0"/>
          </a:p>
        </p:txBody>
      </p:sp>
      <p:sp>
        <p:nvSpPr>
          <p:cNvPr id="289" name="Google Shape;289;p33"/>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Aft>
                <a:spcPts val="0"/>
              </a:spcAft>
              <a:buClr>
                <a:srgbClr val="004A78"/>
              </a:buClr>
              <a:buSzPts val="2600"/>
              <a:buFont typeface="Arial"/>
              <a:buChar char="•"/>
            </a:pPr>
            <a:r>
              <a:rPr lang="en-US" dirty="0"/>
              <a:t>In Manchester code encoding scheme:</a:t>
            </a:r>
            <a:endParaRPr dirty="0"/>
          </a:p>
          <a:p>
            <a:pPr marL="900112" lvl="1" indent="-455612" algn="l" rtl="0">
              <a:lnSpc>
                <a:spcPct val="100000"/>
              </a:lnSpc>
              <a:spcAft>
                <a:spcPts val="0"/>
              </a:spcAft>
              <a:buClr>
                <a:srgbClr val="004A78"/>
              </a:buClr>
              <a:buSzPts val="2600"/>
              <a:buFont typeface="Arial"/>
              <a:buChar char="–"/>
            </a:pPr>
            <a:r>
              <a:rPr lang="en-US" dirty="0"/>
              <a:t>to transmit a 1, the signal changes from low to high in the middle of the interval, and</a:t>
            </a:r>
            <a:endParaRPr dirty="0"/>
          </a:p>
          <a:p>
            <a:pPr marL="900112" lvl="1" indent="-455612" algn="l" rtl="0">
              <a:lnSpc>
                <a:spcPct val="100000"/>
              </a:lnSpc>
              <a:spcAft>
                <a:spcPts val="2400"/>
              </a:spcAft>
              <a:buClr>
                <a:srgbClr val="004A78"/>
              </a:buClr>
              <a:buSzPts val="2600"/>
              <a:buFont typeface="Arial"/>
              <a:buChar char="–"/>
            </a:pPr>
            <a:r>
              <a:rPr lang="en-US" dirty="0"/>
              <a:t>to transmit a 0, the signal changes from high to low in the middle of the interval</a:t>
            </a:r>
            <a:endParaRPr dirty="0"/>
          </a:p>
          <a:p>
            <a:pPr marL="457200" lvl="0" indent="-457200" algn="l" rtl="0">
              <a:lnSpc>
                <a:spcPct val="100000"/>
              </a:lnSpc>
              <a:spcAft>
                <a:spcPts val="0"/>
              </a:spcAft>
              <a:buClr>
                <a:srgbClr val="004A78"/>
              </a:buClr>
              <a:buSzPts val="2600"/>
              <a:buFont typeface="Arial"/>
              <a:buChar char="•"/>
            </a:pPr>
            <a:r>
              <a:rPr lang="en-US" dirty="0"/>
              <a:t>In Differential Manchester code, every bit has at least one significant change, some bits have two signal changes per bit (baud rate = twice bps)</a:t>
            </a:r>
            <a:endParaRPr dirty="0"/>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Manchester Digital Encoding Schemes (2 of 2)</a:t>
            </a:r>
            <a:endParaRPr dirty="0"/>
          </a:p>
        </p:txBody>
      </p:sp>
      <p:pic>
        <p:nvPicPr>
          <p:cNvPr id="2" name="Picture 1" descr="Two graphs one below the other, labeled a and b, represent two types of digital encoding schemes. The horizontal axis is labeled time and the vertical axis is labeled voltage. Graph (a) Manchester, represents a square waveform that starts from a point in the vertical axis, moves rightward, rises vertically to a point in the first quadrant, then moves rightward for a certain duration to a point in the first quadrant. This part of the waveform represents the value 1. The waveform then remains constant for certain duration, drops vertically to a point in the first quadrant, and then moves rightward for certain duration. This part of the waveform represents the value 0. In a similar way, the waveform continues to oscillate, rising from low to high for value 1 and falling from high to low for value 0. Eight vertical dashed lines are drawn through the curve, parallel to the vertical axis and are equally spaced, representing the values 1 0 0 0 1 0 1 1, from left to right. Graph ‘b’ Differential Manchester, represents a square waveform that starts from a point in the vertical axis, moves rightward, rises vertically to a point in the first quadrant, then moves rightward for a certain duration to a point in the first quadrant, and then drops vertically to a point in the first quadrant. This part of the waveform represents the value 1. The waveform then goes to the right for some duration to a point in the first quadrant, then rises to a point in the first quadrant, moves rightward to a point in the first quadrant, and falls to a point in the first quadrant, representing the value 0. In a similar pattern, the waveform rises from low to high for two more oscillations about the time axis, representing the values 0 and 0. Then, the waveform falls from high to low, representing the value 1, after which it again falls from high to low representing the value 0. Eight vertical dashed lines are drawn through the curve, parallel to the vertical axis and are equally spaced, representing the values 1 0 0 0 1 0 1 1.&#10;Figure 3-13 Comparison of Manchester digital encoding schemes">
            <a:extLst>
              <a:ext uri="{FF2B5EF4-FFF2-40B4-BE49-F238E27FC236}">
                <a16:creationId xmlns:a16="http://schemas.microsoft.com/office/drawing/2014/main" id="{B2AC5B78-743F-4960-985F-FE1BDD865939}"/>
              </a:ext>
            </a:extLst>
          </p:cNvPr>
          <p:cNvPicPr>
            <a:picLocks noChangeAspect="1"/>
          </p:cNvPicPr>
          <p:nvPr/>
        </p:nvPicPr>
        <p:blipFill>
          <a:blip r:embed="rId4"/>
          <a:stretch>
            <a:fillRect/>
          </a:stretch>
        </p:blipFill>
        <p:spPr>
          <a:xfrm>
            <a:off x="2078388" y="1500443"/>
            <a:ext cx="8035224" cy="4365114"/>
          </a:xfrm>
          <a:prstGeom prst="rect">
            <a:avLst/>
          </a:prstGeom>
        </p:spPr>
      </p:pic>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4B/5B Digital Encoding Scheme (1 of 2)</a:t>
            </a:r>
            <a:endParaRPr dirty="0"/>
          </a:p>
        </p:txBody>
      </p:sp>
      <p:sp>
        <p:nvSpPr>
          <p:cNvPr id="301" name="Google Shape;301;p36"/>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The 4B/5B scheme tries to satisfy the synchronization problem and avoid the “baud equals two times the bps” problem</a:t>
            </a:r>
            <a:endParaRPr dirty="0"/>
          </a:p>
          <a:p>
            <a:pPr marL="457200" lvl="0" indent="-457200" algn="l" rtl="0">
              <a:lnSpc>
                <a:spcPct val="100000"/>
              </a:lnSpc>
              <a:spcBef>
                <a:spcPts val="0"/>
              </a:spcBef>
              <a:spcAft>
                <a:spcPts val="0"/>
              </a:spcAft>
              <a:buClr>
                <a:srgbClr val="004A78"/>
              </a:buClr>
              <a:buSzPts val="2600"/>
              <a:buFont typeface="Arial"/>
              <a:buChar char="•"/>
            </a:pPr>
            <a:r>
              <a:rPr lang="en-US" dirty="0"/>
              <a:t>It converts four bits of data into five-bit quantities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The five-bit quantities are unique in that no five-bit code has more than 2 consecutive zeros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The five-bit code is then transmitted using an NRZI encoded signal</a:t>
            </a:r>
            <a:endParaRPr dirty="0"/>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g11491eafe5a_0_17"/>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dirty="0"/>
              <a:t>4B/5B Digital Encoding Scheme (2 of 2)</a:t>
            </a:r>
            <a:endParaRPr dirty="0"/>
          </a:p>
        </p:txBody>
      </p:sp>
      <p:pic>
        <p:nvPicPr>
          <p:cNvPr id="2" name="Picture 1" descr="A table at the top followed by a diagram represents the 4 B forward slash 5 B digital encoding scheme. A table headed, Valid data symbols has sixteen rows and two columns. The column headers are Original 4 bit data and new 5 bit code. The data in column 1 lists the 4 bit data such as 0 0 0 0, 0 0 0 1, and so on. The data in column 2 lists the new 5 bit code such as 1 1 1 1 0, 0 1 0 0 1, and so on, respectively. Beside the table, five invalid codes are listed vertically. The data are as follows: 0 0 0 0 1, 0 0 0 1 0, 0 0 0 1 1, 0 1 0 0 0, 1 0 0 0 0. The N R Z I encoded signal for the data is represented below the table. The original data 0 0 0 0 becomes the 5 bit encoded data 1 1 1 1 0; it is then transmitted as a square wave of two cycles representing N R Z I encoded signal. The square waveform rises vertically from low to high and remains constant, representing 1, then falls from high to low and remains constant representing 1, and again rises from low to high and remains constant representing 1. The waveform then falls vertically and remains constant, representing 1 and 0.&#10;Figure 3-15 The 4B/5B digital encoding scheme">
            <a:extLst>
              <a:ext uri="{FF2B5EF4-FFF2-40B4-BE49-F238E27FC236}">
                <a16:creationId xmlns:a16="http://schemas.microsoft.com/office/drawing/2014/main" id="{08BA39B6-7286-42F1-80C6-0FA234D19463}"/>
              </a:ext>
            </a:extLst>
          </p:cNvPr>
          <p:cNvPicPr>
            <a:picLocks noChangeAspect="1"/>
          </p:cNvPicPr>
          <p:nvPr/>
        </p:nvPicPr>
        <p:blipFill>
          <a:blip r:embed="rId4"/>
          <a:stretch>
            <a:fillRect/>
          </a:stretch>
        </p:blipFill>
        <p:spPr>
          <a:xfrm>
            <a:off x="3456203" y="1318047"/>
            <a:ext cx="5279594" cy="4907705"/>
          </a:xfrm>
          <a:prstGeom prst="rect">
            <a:avLst/>
          </a:prstGeom>
        </p:spPr>
      </p:pic>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8"/>
          <p:cNvSpPr txBox="1">
            <a:spLocks noGrp="1"/>
          </p:cNvSpPr>
          <p:nvPr>
            <p:ph type="title"/>
          </p:nvPr>
        </p:nvSpPr>
        <p:spPr>
          <a:xfrm>
            <a:off x="1750711" y="365125"/>
            <a:ext cx="8690578"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Transmitting Digital Data with Discrete Analog Signals</a:t>
            </a:r>
            <a:endParaRPr dirty="0"/>
          </a:p>
        </p:txBody>
      </p:sp>
      <p:sp>
        <p:nvSpPr>
          <p:cNvPr id="313" name="Google Shape;313;p38"/>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Aft>
                <a:spcPts val="0"/>
              </a:spcAft>
              <a:buClr>
                <a:srgbClr val="004A78"/>
              </a:buClr>
              <a:buSzPts val="2600"/>
              <a:buFont typeface="Arial"/>
              <a:buChar char="•"/>
            </a:pPr>
            <a:r>
              <a:rPr lang="en-US" dirty="0"/>
              <a:t>Three basic techniques:</a:t>
            </a:r>
            <a:endParaRPr dirty="0"/>
          </a:p>
          <a:p>
            <a:pPr marL="900113" lvl="1" indent="-442913" algn="l" rtl="0">
              <a:lnSpc>
                <a:spcPct val="100000"/>
              </a:lnSpc>
              <a:spcAft>
                <a:spcPts val="0"/>
              </a:spcAft>
              <a:buSzPts val="2400"/>
              <a:buChar char="–"/>
            </a:pPr>
            <a:r>
              <a:rPr lang="en-US" dirty="0"/>
              <a:t>Amplitude shift keying</a:t>
            </a:r>
            <a:endParaRPr dirty="0"/>
          </a:p>
          <a:p>
            <a:pPr marL="900113" lvl="1" indent="-442913" algn="l" rtl="0">
              <a:lnSpc>
                <a:spcPct val="100000"/>
              </a:lnSpc>
              <a:spcAft>
                <a:spcPts val="0"/>
              </a:spcAft>
              <a:buSzPts val="2400"/>
              <a:buChar char="–"/>
            </a:pPr>
            <a:r>
              <a:rPr lang="en-US" dirty="0"/>
              <a:t>Frequency shift keying</a:t>
            </a:r>
            <a:endParaRPr dirty="0"/>
          </a:p>
          <a:p>
            <a:pPr marL="900113" lvl="1" indent="-442913" algn="l" rtl="0">
              <a:lnSpc>
                <a:spcPct val="100000"/>
              </a:lnSpc>
              <a:spcAft>
                <a:spcPts val="0"/>
              </a:spcAft>
              <a:buSzPts val="2400"/>
              <a:buChar char="–"/>
            </a:pPr>
            <a:r>
              <a:rPr lang="en-US" dirty="0"/>
              <a:t>Phase shift keying</a:t>
            </a:r>
            <a:endParaRPr dirty="0"/>
          </a:p>
          <a:p>
            <a:pPr marL="457200" lvl="0" indent="-457200" algn="l" rtl="0">
              <a:lnSpc>
                <a:spcPct val="100000"/>
              </a:lnSpc>
              <a:spcAft>
                <a:spcPts val="0"/>
              </a:spcAft>
              <a:buClr>
                <a:srgbClr val="004A78"/>
              </a:buClr>
              <a:buSzPts val="2600"/>
              <a:buFont typeface="Arial"/>
              <a:buChar char="•"/>
            </a:pPr>
            <a:r>
              <a:rPr lang="en-US" dirty="0"/>
              <a:t>One can then combine two or more of these basic techniques to form more complex modulation techniques (such as quadrature amplitude modulation)</a:t>
            </a:r>
            <a:endParaRPr dirty="0"/>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ASK - Amplitude Shift Keying (1 of 2)</a:t>
            </a:r>
            <a:endParaRPr dirty="0"/>
          </a:p>
        </p:txBody>
      </p:sp>
      <p:sp>
        <p:nvSpPr>
          <p:cNvPr id="319" name="Google Shape;319;p39"/>
          <p:cNvSpPr txBox="1">
            <a:spLocks noGrp="1"/>
          </p:cNvSpPr>
          <p:nvPr>
            <p:ph type="body" idx="1"/>
          </p:nvPr>
        </p:nvSpPr>
        <p:spPr>
          <a:xfrm>
            <a:off x="743576" y="1289684"/>
            <a:ext cx="11074797" cy="961903"/>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One amplitude encodes a 0 while another amplitude encodes a 1 (a form of amplitude modulation)</a:t>
            </a:r>
            <a:endParaRPr/>
          </a:p>
        </p:txBody>
      </p:sp>
      <p:pic>
        <p:nvPicPr>
          <p:cNvPr id="2" name="Picture 1" descr="A waveform is graphed on a time voltage plane. The horizontal axis is labeled time and the vertical axis is labeled voltage. A waveform starts from the origin and oscillates with very less amplitude for two cycles, along the time axis and a dashed vertical line is drawn at the end of these two cycles, parallel to the vertical axis in the first quadrant. A data value 1 is represented above this part of the wave. This waveform then oscillates with high amplitude for two cycles, along the time axis and a dashed vertical line is drawn at the end of these two cycles, parallel to the vertical axis in the first quadrant. A data value 0 is represented above this part of the wave. This waveform then oscillates with very less amplitude for two cycles, along the time axis and a dashed vertical line is drawn at the end of these two cycles in the first quadrant. A data value 1 is represented above this part of the wave. This waveform then oscillates with high amplitude for two cycles, along the time axis and a dashed vertical line is drawn at the end of these two cycles in the first quadrant. A data value 0 is represented above this part of the wave.&#10;Figure 3-16 A simple example of amplitude shift keying">
            <a:extLst>
              <a:ext uri="{FF2B5EF4-FFF2-40B4-BE49-F238E27FC236}">
                <a16:creationId xmlns:a16="http://schemas.microsoft.com/office/drawing/2014/main" id="{97938D5F-16B3-4955-8F26-99E99F7ED2FA}"/>
              </a:ext>
            </a:extLst>
          </p:cNvPr>
          <p:cNvPicPr>
            <a:picLocks noChangeAspect="1"/>
          </p:cNvPicPr>
          <p:nvPr/>
        </p:nvPicPr>
        <p:blipFill>
          <a:blip r:embed="rId4"/>
          <a:stretch>
            <a:fillRect/>
          </a:stretch>
        </p:blipFill>
        <p:spPr>
          <a:xfrm>
            <a:off x="1566279" y="2504041"/>
            <a:ext cx="9059441" cy="2938527"/>
          </a:xfrm>
          <a:prstGeom prst="rect">
            <a:avLst/>
          </a:prstGeom>
        </p:spPr>
      </p:pic>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4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ASK - Amplitude Shift Keying (2 of 2)</a:t>
            </a:r>
            <a:endParaRPr dirty="0"/>
          </a:p>
        </p:txBody>
      </p:sp>
      <p:sp>
        <p:nvSpPr>
          <p:cNvPr id="326" name="Google Shape;326;p40"/>
          <p:cNvSpPr txBox="1">
            <a:spLocks noGrp="1"/>
          </p:cNvSpPr>
          <p:nvPr>
            <p:ph type="body" idx="1"/>
          </p:nvPr>
        </p:nvSpPr>
        <p:spPr>
          <a:xfrm>
            <a:off x="743576" y="4888301"/>
            <a:ext cx="11074797" cy="96190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600"/>
              <a:buNone/>
            </a:pPr>
            <a:r>
              <a:rPr lang="en-US" dirty="0"/>
              <a:t>Note: here we have four different amplitudes, so we can encode 2 bits</a:t>
            </a:r>
            <a:endParaRPr dirty="0"/>
          </a:p>
          <a:p>
            <a:pPr marL="0" lvl="0" indent="0" algn="l" rtl="0">
              <a:lnSpc>
                <a:spcPct val="100000"/>
              </a:lnSpc>
              <a:spcBef>
                <a:spcPts val="624"/>
              </a:spcBef>
              <a:spcAft>
                <a:spcPts val="0"/>
              </a:spcAft>
              <a:buSzPts val="2600"/>
              <a:buNone/>
            </a:pPr>
            <a:r>
              <a:rPr lang="en-US" dirty="0"/>
              <a:t>in each signal change (bits per signal change = log</a:t>
            </a:r>
            <a:r>
              <a:rPr lang="en-US" baseline="-25000" dirty="0"/>
              <a:t>2</a:t>
            </a:r>
            <a:r>
              <a:rPr lang="en-US" dirty="0"/>
              <a:t> (amplitude levels)).</a:t>
            </a:r>
            <a:endParaRPr dirty="0"/>
          </a:p>
        </p:txBody>
      </p:sp>
      <p:pic>
        <p:nvPicPr>
          <p:cNvPr id="2" name="Picture 1" descr="A waveform is graphed on a time voltage plane. The horizontal axis is labeled time and the vertical axis is labeled voltage. A waveform, starts from the origin, and oscillates with very less amplitude for two cycles, along the time axis and a dashed vertical line is drawn at the end of these two cycles, parallel to the vertical axis in the first quadrant. This part of the waveform is labeled, amplitude 1, data value 0 0. The waveform then oscillates with higher amplitude compared to the previous amplitude of the wave, for two cycles along the time axis and a dashed vertical line is drawn at the end of these two cycles in the first quadrant. This part of the waveform is labeled, amplitude 2, data value 0 1. The waveform then oscillates with higher amplitude compared to the previous amplitude of the wave, for two cycles along the time axis and a dashed vertical line is drawn at the end of these two cycles in the first quadrant. This part of the waveform is labeled, amplitude 3, data value 1 0. The waveform then oscillates with the highest amplitude, for two cycles along the time axis and a dashed vertical line is drawn at the end of the waveform in the first quadrant. This part of the waveform is labeled, amplitude 4, data value 1 1.&#10;Figure 3-17 Amplitude shift keying using four different amplitude levels">
            <a:extLst>
              <a:ext uri="{FF2B5EF4-FFF2-40B4-BE49-F238E27FC236}">
                <a16:creationId xmlns:a16="http://schemas.microsoft.com/office/drawing/2014/main" id="{E15793A5-DEE5-4E6F-A236-C903FAC07F2F}"/>
              </a:ext>
            </a:extLst>
          </p:cNvPr>
          <p:cNvPicPr>
            <a:picLocks noChangeAspect="1"/>
          </p:cNvPicPr>
          <p:nvPr/>
        </p:nvPicPr>
        <p:blipFill>
          <a:blip r:embed="rId4"/>
          <a:stretch>
            <a:fillRect/>
          </a:stretch>
        </p:blipFill>
        <p:spPr>
          <a:xfrm>
            <a:off x="2175932" y="1164289"/>
            <a:ext cx="7840136" cy="3596952"/>
          </a:xfrm>
          <a:prstGeom prst="rect">
            <a:avLst/>
          </a:prstGeom>
        </p:spPr>
      </p:pic>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4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FSK - Frequency Shift Keying</a:t>
            </a:r>
            <a:endParaRPr dirty="0"/>
          </a:p>
        </p:txBody>
      </p:sp>
      <p:sp>
        <p:nvSpPr>
          <p:cNvPr id="333" name="Google Shape;333;p41"/>
          <p:cNvSpPr txBox="1">
            <a:spLocks noGrp="1"/>
          </p:cNvSpPr>
          <p:nvPr>
            <p:ph type="body" idx="1"/>
          </p:nvPr>
        </p:nvSpPr>
        <p:spPr>
          <a:xfrm>
            <a:off x="743576" y="1289684"/>
            <a:ext cx="11074797" cy="961903"/>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One frequency encodes a 0 while another frequency encodes a 1 (a form of frequency modulation)</a:t>
            </a:r>
            <a:endParaRPr dirty="0"/>
          </a:p>
        </p:txBody>
      </p:sp>
      <p:pic>
        <p:nvPicPr>
          <p:cNvPr id="2" name="Picture 1" descr="A waveform is graphed on a time voltage plane. The horizontal axis is labeled time and the vertical axis is labeled voltage. A waveform starts from the origin, rises to a point in the first quadrant, and oscillates along the time axis for about one and a half cycle. A dashed vertical line is drawn parallel to the vertical axis at the end of this one and a half cycle and data value 1 is represented above the waveform. The waveform then oscillates with the same amplitude and greater frequency for about 3 cycles and a dashed vertical line is drawn at the end of these three cycles. This part of the waveform represents a data value 0. The waveform further oscillates about the time axis with a lower frequency representing 1 and a higher frequency representing 0. &#10;Figure 3-18 Simple example of frequency shift keying">
            <a:extLst>
              <a:ext uri="{FF2B5EF4-FFF2-40B4-BE49-F238E27FC236}">
                <a16:creationId xmlns:a16="http://schemas.microsoft.com/office/drawing/2014/main" id="{7BECDD47-FD04-4E71-9EC4-0FE98938F1FE}"/>
              </a:ext>
            </a:extLst>
          </p:cNvPr>
          <p:cNvPicPr>
            <a:picLocks noChangeAspect="1"/>
          </p:cNvPicPr>
          <p:nvPr/>
        </p:nvPicPr>
        <p:blipFill>
          <a:blip r:embed="rId4"/>
          <a:stretch>
            <a:fillRect/>
          </a:stretch>
        </p:blipFill>
        <p:spPr>
          <a:xfrm>
            <a:off x="996254" y="2504041"/>
            <a:ext cx="10199492" cy="3359187"/>
          </a:xfrm>
          <a:prstGeom prst="rect">
            <a:avLst/>
          </a:prstGeom>
        </p:spPr>
      </p:pic>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PSK - Phase Shift Keying (1 of 5)</a:t>
            </a:r>
            <a:endParaRPr dirty="0"/>
          </a:p>
        </p:txBody>
      </p:sp>
      <p:sp>
        <p:nvSpPr>
          <p:cNvPr id="340" name="Google Shape;340;p42"/>
          <p:cNvSpPr txBox="1">
            <a:spLocks noGrp="1"/>
          </p:cNvSpPr>
          <p:nvPr>
            <p:ph type="body" idx="1"/>
          </p:nvPr>
        </p:nvSpPr>
        <p:spPr>
          <a:xfrm>
            <a:off x="743576" y="1289684"/>
            <a:ext cx="11074797" cy="961903"/>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One phase change encodes a 0 while another phase change encodes a 1 (a form of phase modulation)</a:t>
            </a:r>
            <a:endParaRPr dirty="0"/>
          </a:p>
        </p:txBody>
      </p:sp>
      <p:pic>
        <p:nvPicPr>
          <p:cNvPr id="2" name="Picture 1" descr="A waveform is graphed on a time voltage plane. The horizontal axis is labeled time and the vertical axis is labeled voltage. The waveform oscillates about the time axis with uniform amplitude. The waveform starts from the origin, rises to a point in the first quadrant, then falls to a point in the fourth quadrant, again rises to a point in the first quadrant, then falls to a point in the fourth quadrant, and again rises to the time axis, where a dashed vertical line labeled phase change, is drawn parallel to the vertical axis from the first to fourth quadrants. A data value 0 is displayed just above the waveform. The wave then falls from the point on the time axis to a point in the fourth quadrant, again rises to a point in the first quadrant, and then falls down to a point in the fourth quadrant. This waveform then rises to a point in the first quadrant and then falls down to a point in the time axis, where a vertical dashed line is drawn parallel to the previous dashed line. This dashed line is marked no phase change. A data value 1 is displayed just above this part of the waveform. The waveform falls from the time axis to the fourth quadrant, then rises to a point in the first quadrant, and then falls to a point in the fourth quadrant. This waveform then rises to a point in the time axis, where a dashed vertical line is drawn parallel to the previous dashed line and labeled phase change. A data value 0 is represented above this part of the waveform. The waveform repeats for another two cycles, followed by a dashed vertical line, representing data value 1.&#10;Figure 3-19 Simple example of phase shift keying">
            <a:extLst>
              <a:ext uri="{FF2B5EF4-FFF2-40B4-BE49-F238E27FC236}">
                <a16:creationId xmlns:a16="http://schemas.microsoft.com/office/drawing/2014/main" id="{02FFEE95-CCC6-425D-88E9-DFFCEBE92C68}"/>
              </a:ext>
            </a:extLst>
          </p:cNvPr>
          <p:cNvPicPr>
            <a:picLocks noChangeAspect="1"/>
          </p:cNvPicPr>
          <p:nvPr/>
        </p:nvPicPr>
        <p:blipFill>
          <a:blip r:embed="rId4"/>
          <a:stretch>
            <a:fillRect/>
          </a:stretch>
        </p:blipFill>
        <p:spPr>
          <a:xfrm>
            <a:off x="1133426" y="2391287"/>
            <a:ext cx="9925148" cy="3407959"/>
          </a:xfrm>
          <a:prstGeom prst="rect">
            <a:avLst/>
          </a:prstGeom>
        </p:spPr>
      </p:pic>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PSK - Phase Shift Keying (2 of 5)</a:t>
            </a:r>
            <a:endParaRPr dirty="0"/>
          </a:p>
        </p:txBody>
      </p:sp>
      <p:sp>
        <p:nvSpPr>
          <p:cNvPr id="347" name="Google Shape;347;p43"/>
          <p:cNvSpPr txBox="1">
            <a:spLocks noGrp="1"/>
          </p:cNvSpPr>
          <p:nvPr>
            <p:ph type="body" idx="1"/>
          </p:nvPr>
        </p:nvSpPr>
        <p:spPr>
          <a:xfrm>
            <a:off x="743575" y="1289678"/>
            <a:ext cx="6203200" cy="30171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Quadrature Phase Shift Keying</a:t>
            </a:r>
            <a:endParaRPr dirty="0"/>
          </a:p>
          <a:p>
            <a:pPr marL="900113" lvl="1" indent="-442913" algn="l" rtl="0">
              <a:lnSpc>
                <a:spcPct val="100000"/>
              </a:lnSpc>
              <a:spcBef>
                <a:spcPts val="624"/>
              </a:spcBef>
              <a:spcAft>
                <a:spcPts val="0"/>
              </a:spcAft>
              <a:buSzPts val="2400"/>
              <a:buChar char="–"/>
            </a:pPr>
            <a:r>
              <a:rPr lang="en-US" dirty="0"/>
              <a:t>Four different phase angles used</a:t>
            </a:r>
            <a:endParaRPr dirty="0"/>
          </a:p>
          <a:p>
            <a:pPr marL="1255713" lvl="2" indent="-341313" algn="l" rtl="0">
              <a:lnSpc>
                <a:spcPct val="100000"/>
              </a:lnSpc>
              <a:spcBef>
                <a:spcPts val="624"/>
              </a:spcBef>
              <a:spcAft>
                <a:spcPts val="0"/>
              </a:spcAft>
              <a:buClr>
                <a:srgbClr val="000000"/>
              </a:buClr>
              <a:buSzPts val="2200"/>
              <a:buFont typeface="Wingdings" panose="05000000000000000000" pitchFamily="2" charset="2"/>
              <a:buChar char="§"/>
            </a:pPr>
            <a:r>
              <a:rPr lang="en-US" dirty="0"/>
              <a:t>45 degrees</a:t>
            </a:r>
            <a:endParaRPr dirty="0"/>
          </a:p>
          <a:p>
            <a:pPr marL="1255713" lvl="2" indent="-341313" algn="l" rtl="0">
              <a:lnSpc>
                <a:spcPct val="100000"/>
              </a:lnSpc>
              <a:spcBef>
                <a:spcPts val="624"/>
              </a:spcBef>
              <a:spcAft>
                <a:spcPts val="0"/>
              </a:spcAft>
              <a:buClr>
                <a:srgbClr val="000000"/>
              </a:buClr>
              <a:buSzPts val="2200"/>
              <a:buFont typeface="Wingdings" panose="05000000000000000000" pitchFamily="2" charset="2"/>
              <a:buChar char="§"/>
            </a:pPr>
            <a:r>
              <a:rPr lang="en-US" dirty="0"/>
              <a:t>135 degrees</a:t>
            </a:r>
            <a:endParaRPr dirty="0"/>
          </a:p>
          <a:p>
            <a:pPr marL="1255713" lvl="2" indent="-341313" algn="l" rtl="0">
              <a:lnSpc>
                <a:spcPct val="100000"/>
              </a:lnSpc>
              <a:spcBef>
                <a:spcPts val="624"/>
              </a:spcBef>
              <a:spcAft>
                <a:spcPts val="0"/>
              </a:spcAft>
              <a:buClr>
                <a:srgbClr val="000000"/>
              </a:buClr>
              <a:buSzPts val="2200"/>
              <a:buFont typeface="Wingdings" panose="05000000000000000000" pitchFamily="2" charset="2"/>
              <a:buChar char="§"/>
            </a:pPr>
            <a:r>
              <a:rPr lang="en-US" dirty="0"/>
              <a:t>225 degrees</a:t>
            </a:r>
            <a:endParaRPr dirty="0"/>
          </a:p>
          <a:p>
            <a:pPr marL="1255713" lvl="2" indent="-341313" algn="l" rtl="0">
              <a:lnSpc>
                <a:spcPct val="100000"/>
              </a:lnSpc>
              <a:spcBef>
                <a:spcPts val="624"/>
              </a:spcBef>
              <a:spcAft>
                <a:spcPts val="0"/>
              </a:spcAft>
              <a:buClr>
                <a:srgbClr val="000000"/>
              </a:buClr>
              <a:buSzPts val="2200"/>
              <a:buFont typeface="Wingdings" panose="05000000000000000000" pitchFamily="2" charset="2"/>
              <a:buChar char="§"/>
            </a:pPr>
            <a:r>
              <a:rPr lang="en-US" dirty="0"/>
              <a:t>315 degrees</a:t>
            </a:r>
            <a:endParaRPr dirty="0"/>
          </a:p>
        </p:txBody>
      </p:sp>
      <p:pic>
        <p:nvPicPr>
          <p:cNvPr id="2" name="Picture 1" descr="A graph depicts a phase shift keying technique. The horizontal axis is labeled 0 at the right end and 180 degrees at the left end. The vertical axis passes exactly in the middle and perpendicular to the horizontal axis. The top and bottom ends of the vertical axis are labeled 90 degrees and 270 degrees, respectively. Four lines extend from the origin to the four quadrants, perpendicular to each other, and have arrows pointing outward. The data values corresponding to the four lines are marked 1 1, 1 0, 0 1, and 0 0 in the first, second, third, and fourth quadrants, respectively.&#10;Figure 3-21 Phase changes at 90 degrees apart can represent four different data values">
            <a:extLst>
              <a:ext uri="{FF2B5EF4-FFF2-40B4-BE49-F238E27FC236}">
                <a16:creationId xmlns:a16="http://schemas.microsoft.com/office/drawing/2014/main" id="{513C456B-FD8D-461D-9446-08D7199C6FAD}"/>
              </a:ext>
            </a:extLst>
          </p:cNvPr>
          <p:cNvPicPr>
            <a:picLocks noChangeAspect="1"/>
          </p:cNvPicPr>
          <p:nvPr/>
        </p:nvPicPr>
        <p:blipFill>
          <a:blip r:embed="rId4"/>
          <a:stretch>
            <a:fillRect/>
          </a:stretch>
        </p:blipFill>
        <p:spPr>
          <a:xfrm>
            <a:off x="7116911" y="1359228"/>
            <a:ext cx="3901778" cy="4139543"/>
          </a:xfrm>
          <a:prstGeom prst="rect">
            <a:avLst/>
          </a:prstGeom>
        </p:spPr>
      </p:pic>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PSK - Phase Shift Keying (3 of 5)</a:t>
            </a:r>
            <a:endParaRPr dirty="0"/>
          </a:p>
        </p:txBody>
      </p:sp>
      <p:pic>
        <p:nvPicPr>
          <p:cNvPr id="2" name="Picture 1" descr="Four graphs one below the other represent the quadrature phase shift keying. The horizontal axis is labeled time and the vertical axis is labeled voltage. In all four graphs, the first part is a sine wave that rises from the origin and oscillates about the time axis for one and a half cycle. This part of the waveform is followed by a dashed vertical line parallel to the vertical axis from first to fourth quadrants. In the top most graph, the second part of the waveform, after the vertical line, starts from a point in the dashed vertical line just above the time axis and below the maximum of the curve, falls to a point in the fourth quadrant and again rises to a point in the first quadrant and then falls to a point in the time axis. An equation 45 degrees = 1 1 is mentioned by the side of the graph. In the second graph, the second part of the waveform starts just below the time axis and falls to a point in the fourth quadrant and then rises up to a point in the first quadrant and then falls to the fourth quadrant. An equation, 135 degrees = 1 0 is mentioned by the side of the graph. In the third graph, the second part of the waveform starts just below the time axis, rises up to a point in the first quadrant, then falls to the fourth quadrant, and again rises to the time axis. An equation, 225 degrees = 0 1 is mentioned by the side of the graph. In the last graph, the second part of the waveform starts from a point above the time axis and rises a little to a point in the first quadrant, then falls down to a point in the fourth quadrant, and again rises to a point in the first quadrant. An equation, 315 degrees equal to 0 0 is mentioned by the side of the graph. &#10;Figure 3-22 Four phase angles of 45, 135, 225, and 315 degrees, as seen in quadrature phase shift keying">
            <a:extLst>
              <a:ext uri="{FF2B5EF4-FFF2-40B4-BE49-F238E27FC236}">
                <a16:creationId xmlns:a16="http://schemas.microsoft.com/office/drawing/2014/main" id="{C508B32E-A182-4BA1-9E5C-137F6E5AB808}"/>
              </a:ext>
            </a:extLst>
          </p:cNvPr>
          <p:cNvPicPr>
            <a:picLocks noChangeAspect="1"/>
          </p:cNvPicPr>
          <p:nvPr/>
        </p:nvPicPr>
        <p:blipFill>
          <a:blip r:embed="rId4"/>
          <a:stretch>
            <a:fillRect/>
          </a:stretch>
        </p:blipFill>
        <p:spPr>
          <a:xfrm>
            <a:off x="3621343" y="1303820"/>
            <a:ext cx="4365114" cy="4986960"/>
          </a:xfrm>
          <a:prstGeom prst="rect">
            <a:avLst/>
          </a:prstGeom>
        </p:spPr>
      </p:pic>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4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PSK - Phase Shift Keying (4 of 5)</a:t>
            </a:r>
            <a:endParaRPr dirty="0"/>
          </a:p>
        </p:txBody>
      </p:sp>
      <p:sp>
        <p:nvSpPr>
          <p:cNvPr id="360" name="Google Shape;360;p45"/>
          <p:cNvSpPr txBox="1">
            <a:spLocks noGrp="1"/>
          </p:cNvSpPr>
          <p:nvPr>
            <p:ph type="body" idx="1"/>
          </p:nvPr>
        </p:nvSpPr>
        <p:spPr>
          <a:xfrm>
            <a:off x="743575" y="1289677"/>
            <a:ext cx="10711500" cy="35475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QAM - Quadrature amplitude modulation</a:t>
            </a:r>
            <a:endParaRPr dirty="0"/>
          </a:p>
          <a:p>
            <a:pPr marL="900113" lvl="1" indent="-442913" algn="l" rtl="0">
              <a:lnSpc>
                <a:spcPct val="100000"/>
              </a:lnSpc>
              <a:spcBef>
                <a:spcPts val="624"/>
              </a:spcBef>
              <a:spcAft>
                <a:spcPts val="0"/>
              </a:spcAft>
              <a:buSzPts val="2400"/>
              <a:buChar char="–"/>
            </a:pPr>
            <a:r>
              <a:rPr lang="en-US" dirty="0"/>
              <a:t>As an example of QAM, 12 different phases are combined with two different amplitudes</a:t>
            </a:r>
            <a:endParaRPr dirty="0"/>
          </a:p>
          <a:p>
            <a:pPr marL="900113" lvl="1" indent="-442913" algn="l" rtl="0">
              <a:lnSpc>
                <a:spcPct val="100000"/>
              </a:lnSpc>
              <a:spcBef>
                <a:spcPts val="624"/>
              </a:spcBef>
              <a:spcAft>
                <a:spcPts val="0"/>
              </a:spcAft>
              <a:buSzPts val="2400"/>
              <a:buChar char="–"/>
            </a:pPr>
            <a:r>
              <a:rPr lang="en-US" dirty="0"/>
              <a:t>Since only 4 phase angles have 2 different amplitudes, there are a total of 16 combinations</a:t>
            </a:r>
            <a:endParaRPr dirty="0"/>
          </a:p>
          <a:p>
            <a:pPr marL="900113" lvl="1" indent="-442913" algn="l" rtl="0">
              <a:lnSpc>
                <a:spcPct val="100000"/>
              </a:lnSpc>
              <a:spcBef>
                <a:spcPts val="624"/>
              </a:spcBef>
              <a:spcAft>
                <a:spcPts val="0"/>
              </a:spcAft>
              <a:buSzPts val="2400"/>
              <a:buChar char="–"/>
            </a:pPr>
            <a:r>
              <a:rPr lang="en-US" dirty="0"/>
              <a:t>With 16 signal combinations, each baud equals 4 bits of information (log2(16) = 4, or inversely, 2 ^ 4 = 16)</a:t>
            </a:r>
            <a:endParaRPr dirty="0"/>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PSK - Phase Shift Keying (5 of 5)</a:t>
            </a:r>
            <a:endParaRPr dirty="0"/>
          </a:p>
        </p:txBody>
      </p:sp>
      <p:sp>
        <p:nvSpPr>
          <p:cNvPr id="367" name="Google Shape;367;p46"/>
          <p:cNvSpPr txBox="1">
            <a:spLocks noGrp="1"/>
          </p:cNvSpPr>
          <p:nvPr>
            <p:ph type="body" idx="1"/>
          </p:nvPr>
        </p:nvSpPr>
        <p:spPr>
          <a:xfrm>
            <a:off x="1299300" y="1693800"/>
            <a:ext cx="2666400" cy="18552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None/>
            </a:pPr>
            <a:r>
              <a:rPr lang="en-US"/>
              <a:t>QAM</a:t>
            </a:r>
            <a:endParaRPr/>
          </a:p>
          <a:p>
            <a:pPr marL="0" lvl="0" indent="0" algn="ctr" rtl="0">
              <a:lnSpc>
                <a:spcPct val="100000"/>
              </a:lnSpc>
              <a:spcBef>
                <a:spcPts val="0"/>
              </a:spcBef>
              <a:spcAft>
                <a:spcPts val="0"/>
              </a:spcAft>
              <a:buNone/>
            </a:pPr>
            <a:r>
              <a:rPr lang="en-US"/>
              <a:t>Quadrature amplitude modulation</a:t>
            </a:r>
            <a:endParaRPr/>
          </a:p>
        </p:txBody>
      </p:sp>
      <p:pic>
        <p:nvPicPr>
          <p:cNvPr id="2" name="Picture 1" descr="Two graphs one below the other represent phase angles and phase change with amplitudes. Graph ‘a’ labeled twelve phase angles, represents a constellation diagram showing 12 different phase shift angles. The left and right ends of the horizontal axis are labeled 0 and 180 degrees, respectively. The top and bottom ends of the vertical axis are labeled 90 degrees and 270 degrees, respectively. There are twelve different phase angles lines representing 12 data values. Three lines start from the origin and extend outward, in each quadrant, with an arrow pointing outward. Three lines extend from the origin to the first quadrant, representing the data values 0 0 0 0, 0 0 1 1, and 0 0 1 0 in the counterclockwise direction. The second line is extended more in the first quadrant, representing data value 0 0 0 1 at the end of the line. The next three lines start from the origin and extend in the second quadrant, representing the data values 0 1 1 0, 0 1 0 1, and 0 1 0 0 in counterclockwise direction. The second line is extended more in the second quadrant, representing data value 0 1 1 1 at the end of the line. The next three lines start from the origin and extend in the third quadrant, representing the data values 1 1 0 0, 1 1 1 1, and 1 1 1 0 in the counterclockwise direction. The second line is extended more representing the data value 1 1 0 1 at the end of the line. Three lines start from the origin and extend in the fourth quadrant, representing the data values 1 0 1 0, 1 0 0 1, and 1 0 0 0 in the counterclockwise direction. The second line is extended more in the fourth quadrant, representing the data value 1 0 1 1 at the end of the line. Graph ‘b’ labeled phase change with two amplitudes has a waveform graphed on time voltage plane. The horizontal axis is labeled time and the vertical axis is labeled voltage. A waveform starts from the origin, rises to a point in the first quadrant and then falls down to a point in the fourth quadrant and then rises to a point in the first quadrant. A dashed vertical line is drawn at this point parallel to the vertical axis. The waveform falls from a point below the maximum of the curve and above the time axis, to a point in the fourth quadrant, again rises to a point in the first quadrant, and then falls down to a point in the fourth quadrant. The waveform oscillates with the same amplitude until this point. This part of the wave is labeled 45 degree phase change high amplitude. The waveform again rises to a point in the first quadrant with lesser amplitude and then falls down to a point in the fourth quadrant, and then finally rises to a point in the first quadrant. A dashed vertical line is drawn at this point parallel to the vertical axis. The waveform then falls to a point in the fourth quadrant and oscillates about the time axis with lesser amplitude. This part of the wave is labeled 45 degree phase change low amplitude.&#10;Figure 3-24 Figure (a) shows 12 different phases, while Figure (b) shows a phase change with two different &#10;amplitudes">
            <a:extLst>
              <a:ext uri="{FF2B5EF4-FFF2-40B4-BE49-F238E27FC236}">
                <a16:creationId xmlns:a16="http://schemas.microsoft.com/office/drawing/2014/main" id="{D5AA9550-10C1-45B8-8432-F5892618E6A7}"/>
              </a:ext>
            </a:extLst>
          </p:cNvPr>
          <p:cNvPicPr>
            <a:picLocks noChangeAspect="1"/>
          </p:cNvPicPr>
          <p:nvPr/>
        </p:nvPicPr>
        <p:blipFill>
          <a:blip r:embed="rId4"/>
          <a:stretch>
            <a:fillRect/>
          </a:stretch>
        </p:blipFill>
        <p:spPr>
          <a:xfrm>
            <a:off x="3803705" y="1037230"/>
            <a:ext cx="4584589" cy="5230821"/>
          </a:xfrm>
          <a:prstGeom prst="rect">
            <a:avLst/>
          </a:prstGeom>
        </p:spPr>
      </p:pic>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4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Transmitting Analog Data with Digital Signals</a:t>
            </a:r>
            <a:endParaRPr dirty="0"/>
          </a:p>
        </p:txBody>
      </p:sp>
      <p:sp>
        <p:nvSpPr>
          <p:cNvPr id="373" name="Google Shape;373;p47"/>
          <p:cNvSpPr txBox="1">
            <a:spLocks noGrp="1"/>
          </p:cNvSpPr>
          <p:nvPr>
            <p:ph type="body" idx="1"/>
          </p:nvPr>
        </p:nvSpPr>
        <p:spPr>
          <a:xfrm>
            <a:off x="743575" y="1289675"/>
            <a:ext cx="8034300" cy="22215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To convert analog data into a digital signal, there are two techniques:</a:t>
            </a:r>
            <a:endParaRPr/>
          </a:p>
          <a:p>
            <a:pPr marL="900113" lvl="1" indent="-442913" algn="l" rtl="0">
              <a:lnSpc>
                <a:spcPct val="100000"/>
              </a:lnSpc>
              <a:spcBef>
                <a:spcPts val="624"/>
              </a:spcBef>
              <a:spcAft>
                <a:spcPts val="0"/>
              </a:spcAft>
              <a:buSzPts val="2400"/>
              <a:buChar char="–"/>
            </a:pPr>
            <a:r>
              <a:rPr lang="en-US"/>
              <a:t>PCM - Pulse code modulation (the more common)</a:t>
            </a:r>
            <a:endParaRPr/>
          </a:p>
          <a:p>
            <a:pPr marL="900113" lvl="1" indent="-442913" algn="l" rtl="0">
              <a:lnSpc>
                <a:spcPct val="100000"/>
              </a:lnSpc>
              <a:spcBef>
                <a:spcPts val="624"/>
              </a:spcBef>
              <a:spcAft>
                <a:spcPts val="0"/>
              </a:spcAft>
              <a:buSzPts val="2400"/>
              <a:buChar char="–"/>
            </a:pPr>
            <a:r>
              <a:rPr lang="en-US"/>
              <a:t>Delta modulation</a:t>
            </a:r>
            <a:endParaRPr/>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4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PCM - Pulse Code Modulation (1 of 8)</a:t>
            </a:r>
            <a:endParaRPr dirty="0"/>
          </a:p>
        </p:txBody>
      </p:sp>
      <p:sp>
        <p:nvSpPr>
          <p:cNvPr id="379" name="Google Shape;379;p48"/>
          <p:cNvSpPr txBox="1">
            <a:spLocks noGrp="1"/>
          </p:cNvSpPr>
          <p:nvPr>
            <p:ph type="body" idx="1"/>
          </p:nvPr>
        </p:nvSpPr>
        <p:spPr>
          <a:xfrm>
            <a:off x="743575" y="1289678"/>
            <a:ext cx="10711500" cy="29412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The analog waveform is sampled at specific intervals and the “snapshots” are converted to binary values</a:t>
            </a:r>
            <a:endParaRPr dirty="0"/>
          </a:p>
          <a:p>
            <a:pPr marL="457200" lvl="0" indent="-457200" algn="l" rtl="0">
              <a:lnSpc>
                <a:spcPct val="100000"/>
              </a:lnSpc>
              <a:spcBef>
                <a:spcPts val="0"/>
              </a:spcBef>
              <a:spcAft>
                <a:spcPts val="0"/>
              </a:spcAft>
              <a:buSzPts val="2600"/>
              <a:buChar char="•"/>
            </a:pPr>
            <a:r>
              <a:rPr lang="en-US" dirty="0"/>
              <a:t>“Codec" hardware converts analog data into a digital signal</a:t>
            </a:r>
            <a:endParaRPr dirty="0"/>
          </a:p>
          <a:p>
            <a:pPr marL="457200" lvl="0" indent="-457200" algn="l" rtl="0">
              <a:lnSpc>
                <a:spcPct val="100000"/>
              </a:lnSpc>
              <a:spcBef>
                <a:spcPts val="0"/>
              </a:spcBef>
              <a:spcAft>
                <a:spcPts val="0"/>
              </a:spcAft>
              <a:buSzPts val="2600"/>
              <a:buChar char="•"/>
            </a:pPr>
            <a:r>
              <a:rPr lang="en-US" dirty="0"/>
              <a:t>Tracking an analog waveform and converting it to pulses that represent the wave’s height above or below a threshold</a:t>
            </a:r>
            <a:endParaRPr dirty="0"/>
          </a:p>
          <a:p>
            <a:pPr marL="900112" lvl="1" indent="-442912" algn="l" rtl="0">
              <a:lnSpc>
                <a:spcPct val="100000"/>
              </a:lnSpc>
              <a:spcBef>
                <a:spcPts val="0"/>
              </a:spcBef>
              <a:spcAft>
                <a:spcPts val="0"/>
              </a:spcAft>
              <a:buSzPts val="2400"/>
              <a:buChar char="–"/>
            </a:pPr>
            <a:r>
              <a:rPr lang="en-US" dirty="0"/>
              <a:t>PAM (pulse amplitude modulation)</a:t>
            </a:r>
            <a:endParaRPr dirty="0"/>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PCM - Pulse Code Modulation (2 of 8)</a:t>
            </a:r>
            <a:endParaRPr dirty="0"/>
          </a:p>
        </p:txBody>
      </p:sp>
      <p:pic>
        <p:nvPicPr>
          <p:cNvPr id="2" name="Picture 1" descr="An analog waveform is graphed on a time voltage plane. The horizontal axis, labeled time, ranges from 0 to 5 t in increments of t. The vertical axis, labeled voltage, ranges from 0 to 30 in increments of 2 units. The analog waveform starts from (0, 2), rises to (t, 14) in the first quadrant, and then falls to (2 t, 6). This waveform then rises to a maximum at (3.5 t, 26) and then falls to (5 t, 4). Vertical lines are drawn from each marking t, 2 t, 3, t, and 4 t on the horizontal axis, to the points on the waveform from which horizontal lines are drawn to the vertical axis. Snapshots of the waveform are taken at these points. All values are estimated. &#10;Figure 3-26 Example of taking “snapshots” of an analog waveform for conversion to a digital signal">
            <a:extLst>
              <a:ext uri="{FF2B5EF4-FFF2-40B4-BE49-F238E27FC236}">
                <a16:creationId xmlns:a16="http://schemas.microsoft.com/office/drawing/2014/main" id="{F1944FFA-5988-43B3-8949-19752C16AE89}"/>
              </a:ext>
            </a:extLst>
          </p:cNvPr>
          <p:cNvPicPr>
            <a:picLocks noChangeAspect="1"/>
          </p:cNvPicPr>
          <p:nvPr/>
        </p:nvPicPr>
        <p:blipFill>
          <a:blip r:embed="rId4"/>
          <a:stretch>
            <a:fillRect/>
          </a:stretch>
        </p:blipFill>
        <p:spPr>
          <a:xfrm>
            <a:off x="3456203" y="1309409"/>
            <a:ext cx="5279594" cy="4950381"/>
          </a:xfrm>
          <a:prstGeom prst="rect">
            <a:avLst/>
          </a:prstGeom>
        </p:spPr>
      </p:pic>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50"/>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PCM - Pulse Code Modulation (3 of 8)</a:t>
            </a:r>
            <a:endParaRPr dirty="0"/>
          </a:p>
        </p:txBody>
      </p:sp>
      <p:sp>
        <p:nvSpPr>
          <p:cNvPr id="391" name="Google Shape;391;p50"/>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After transmitting the digital signals (binary values), those are later converted back to an analog signal, in a way that a waveform similar to the original one is produced</a:t>
            </a:r>
            <a:endParaRPr dirty="0"/>
          </a:p>
          <a:p>
            <a:pPr marL="457200" lvl="0" indent="-457200" algn="l" rtl="0">
              <a:lnSpc>
                <a:spcPct val="100000"/>
              </a:lnSpc>
              <a:spcBef>
                <a:spcPts val="0"/>
              </a:spcBef>
              <a:spcAft>
                <a:spcPts val="0"/>
              </a:spcAft>
              <a:buSzPts val="2600"/>
              <a:buChar char="•"/>
            </a:pPr>
            <a:r>
              <a:rPr lang="en-US" dirty="0"/>
              <a:t>This reconstruction is based on digital "snapshots" (samples) and quantization levels </a:t>
            </a:r>
            <a:endParaRPr dirty="0"/>
          </a:p>
          <a:p>
            <a:pPr marL="457200" lvl="0" indent="-457200" algn="l" rtl="0">
              <a:lnSpc>
                <a:spcPct val="100000"/>
              </a:lnSpc>
              <a:spcBef>
                <a:spcPts val="0"/>
              </a:spcBef>
              <a:spcAft>
                <a:spcPts val="0"/>
              </a:spcAft>
              <a:buSzPts val="2600"/>
              <a:buChar char="•"/>
            </a:pPr>
            <a:r>
              <a:rPr lang="en-US" dirty="0"/>
              <a:t>The differences between the original and reconstructed waveform are called</a:t>
            </a:r>
            <a:endParaRPr dirty="0"/>
          </a:p>
          <a:p>
            <a:pPr marL="900112" lvl="1" indent="-442912" algn="l" rtl="0">
              <a:lnSpc>
                <a:spcPct val="100000"/>
              </a:lnSpc>
              <a:spcBef>
                <a:spcPts val="0"/>
              </a:spcBef>
              <a:spcAft>
                <a:spcPts val="0"/>
              </a:spcAft>
              <a:buSzPts val="2400"/>
              <a:buChar char="–"/>
            </a:pPr>
            <a:r>
              <a:rPr lang="en-US" dirty="0"/>
              <a:t>Quantizing error</a:t>
            </a:r>
            <a:endParaRPr dirty="0"/>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PCM - Pulse Code Modulation (4 of 8)</a:t>
            </a:r>
            <a:endParaRPr dirty="0"/>
          </a:p>
        </p:txBody>
      </p:sp>
      <p:pic>
        <p:nvPicPr>
          <p:cNvPr id="2" name="Picture 1" descr="An analog waveform is graphed on a time voltage plane. The horizontal axis, labeled time, ranges from 0 to 5 t in increments of t. The vertical axis, labeled voltage, ranges from 0 to 30 in increments of 2 units. The analog waveform labeled, original waveform, starts from (0, 2), rises to (t, 14) in the first quadrant and then falls down to (2 t, 6). This waveform then rises to a maximum at (3.5 t, 26) and then falls to (5 t, 4). A line labeled, reconstructed waveform, is drawn from (0, 1) through the points (t, 14), (2 t, 6), (3 t, 19), (4 t, 22), and then finally to the point (5 t, 6). An arc drawn between the original waveform and the reconstructed waveform is marked as quantizing error. All values are estimated. &#10;Figure 3-27 Reconstruction of the analog waveform from the digital “snapshots”">
            <a:extLst>
              <a:ext uri="{FF2B5EF4-FFF2-40B4-BE49-F238E27FC236}">
                <a16:creationId xmlns:a16="http://schemas.microsoft.com/office/drawing/2014/main" id="{D5B2BE05-B10F-4B8B-B4D2-4DF2830DE88D}"/>
              </a:ext>
            </a:extLst>
          </p:cNvPr>
          <p:cNvPicPr>
            <a:picLocks noChangeAspect="1"/>
          </p:cNvPicPr>
          <p:nvPr/>
        </p:nvPicPr>
        <p:blipFill>
          <a:blip r:embed="rId4"/>
          <a:stretch>
            <a:fillRect/>
          </a:stretch>
        </p:blipFill>
        <p:spPr>
          <a:xfrm>
            <a:off x="3425720" y="1311444"/>
            <a:ext cx="5340559" cy="4895512"/>
          </a:xfrm>
          <a:prstGeom prst="rect">
            <a:avLst/>
          </a:prstGeom>
        </p:spPr>
      </p:pic>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g11491eafe5a_0_35"/>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PCM - Pulse Code Modulation (5 of 8)</a:t>
            </a:r>
            <a:endParaRPr dirty="0"/>
          </a:p>
        </p:txBody>
      </p:sp>
      <p:sp>
        <p:nvSpPr>
          <p:cNvPr id="403" name="Google Shape;403;g11491eafe5a_0_35"/>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Aft>
                <a:spcPts val="0"/>
              </a:spcAft>
              <a:buSzPts val="2600"/>
              <a:buChar char="•"/>
            </a:pPr>
            <a:r>
              <a:rPr lang="en-US" dirty="0"/>
              <a:t>To reduce the quantizing error it is possible to:</a:t>
            </a:r>
            <a:endParaRPr dirty="0"/>
          </a:p>
          <a:p>
            <a:pPr marL="900112" lvl="1" indent="-442912" algn="l" rtl="0">
              <a:lnSpc>
                <a:spcPct val="100000"/>
              </a:lnSpc>
              <a:spcAft>
                <a:spcPts val="0"/>
              </a:spcAft>
              <a:buSzPts val="2400"/>
              <a:buChar char="–"/>
            </a:pPr>
            <a:r>
              <a:rPr lang="en-US" dirty="0"/>
              <a:t>Take more snapshots in the same amount of time (more frequent samples), or</a:t>
            </a:r>
            <a:endParaRPr dirty="0"/>
          </a:p>
          <a:p>
            <a:pPr marL="900112" lvl="1" indent="-442912" algn="l" rtl="0">
              <a:lnSpc>
                <a:spcPct val="100000"/>
              </a:lnSpc>
              <a:spcAft>
                <a:spcPts val="2400"/>
              </a:spcAft>
              <a:buSzPts val="2400"/>
              <a:buChar char="–"/>
            </a:pPr>
            <a:r>
              <a:rPr lang="en-US" dirty="0"/>
              <a:t>Increase the quantization levels</a:t>
            </a:r>
            <a:endParaRPr dirty="0"/>
          </a:p>
          <a:p>
            <a:pPr marL="457200" lvl="0" indent="-457200" algn="l" rtl="0">
              <a:lnSpc>
                <a:spcPct val="100000"/>
              </a:lnSpc>
              <a:spcAft>
                <a:spcPts val="0"/>
              </a:spcAft>
              <a:buSzPts val="2600"/>
              <a:buChar char="•"/>
            </a:pPr>
            <a:r>
              <a:rPr lang="en-US" dirty="0"/>
              <a:t>It results in a better resolution for the reconstructed waveform, thus less quantizing error</a:t>
            </a:r>
            <a:endParaRPr dirty="0"/>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5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PCM - Pulse Code Modulation (6 of 8)</a:t>
            </a:r>
            <a:endParaRPr dirty="0"/>
          </a:p>
        </p:txBody>
      </p:sp>
      <p:pic>
        <p:nvPicPr>
          <p:cNvPr id="2" name="Picture 1" descr="An analog waveform is graphed on a time voltage plane. The horizontal axis, labeled time, ranges from 0 to 10 t in increments of t. The vertical axis, labeled voltage, ranges from 0 to 30 in increments of 2 units. The analog waveform labeled, original waveform, starts from (0, 1), rises to (2 t, 14) in the first quadrant, and then falls to (4 t, 6). This waveform then rises to a maximum at (7 t, 25) and then falls to (10 t, 4). A line labeled, reconstructed waveform, is drawn from the point (0, 0), through the points (t, 11), (2 t, 14), (4 t, 7), (5 t, 11), (7 t, 25), (8 t, 20), (9 t, 7), and (10 t, 5). All values are estimated. &#10;Figure 3-28 A more accurate reconstruction of the original &#10;waveform using a higher sampling rate&#10;">
            <a:extLst>
              <a:ext uri="{FF2B5EF4-FFF2-40B4-BE49-F238E27FC236}">
                <a16:creationId xmlns:a16="http://schemas.microsoft.com/office/drawing/2014/main" id="{1348D218-3024-4940-9DDF-D18D0553F6EC}"/>
              </a:ext>
            </a:extLst>
          </p:cNvPr>
          <p:cNvPicPr>
            <a:picLocks noChangeAspect="1"/>
          </p:cNvPicPr>
          <p:nvPr/>
        </p:nvPicPr>
        <p:blipFill>
          <a:blip r:embed="rId4"/>
          <a:stretch>
            <a:fillRect/>
          </a:stretch>
        </p:blipFill>
        <p:spPr>
          <a:xfrm>
            <a:off x="3305831" y="1356147"/>
            <a:ext cx="5377138" cy="4907705"/>
          </a:xfrm>
          <a:prstGeom prst="rect">
            <a:avLst/>
          </a:prstGeom>
        </p:spPr>
      </p:pic>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54"/>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PCM - Pulse Code Modulation (7 of 8)</a:t>
            </a:r>
            <a:endParaRPr dirty="0"/>
          </a:p>
        </p:txBody>
      </p:sp>
      <p:sp>
        <p:nvSpPr>
          <p:cNvPr id="415" name="Google Shape;415;p54"/>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Aft>
                <a:spcPts val="0"/>
              </a:spcAft>
              <a:buClr>
                <a:srgbClr val="004A78"/>
              </a:buClr>
              <a:buSzPts val="2600"/>
              <a:buFont typeface="Arial"/>
              <a:buChar char="•"/>
            </a:pPr>
            <a:r>
              <a:rPr lang="en-US" dirty="0"/>
              <a:t>For example, digital telephone systems digitize human voice, and since the human voice has a fairly narrow bandwidth (3400 Hz), telephone systems can digitize voice (assuming a 4000 Hz range) into either 128 or 256 quantization levels:</a:t>
            </a:r>
            <a:endParaRPr dirty="0"/>
          </a:p>
          <a:p>
            <a:pPr marL="900112" lvl="1" indent="-455612" algn="l" rtl="0">
              <a:lnSpc>
                <a:spcPct val="100000"/>
              </a:lnSpc>
              <a:spcAft>
                <a:spcPts val="0"/>
              </a:spcAft>
              <a:buClr>
                <a:srgbClr val="004A78"/>
              </a:buClr>
              <a:buSzPts val="2600"/>
              <a:buFont typeface="Arial"/>
              <a:buChar char="–"/>
            </a:pPr>
            <a:r>
              <a:rPr lang="en-US" dirty="0"/>
              <a:t>If 128 levels, then each sample is 7 bits (2</a:t>
            </a:r>
            <a:r>
              <a:rPr lang="en-US" baseline="30000" dirty="0"/>
              <a:t>7</a:t>
            </a:r>
            <a:r>
              <a:rPr lang="en-US" dirty="0"/>
              <a:t> = 128)</a:t>
            </a:r>
            <a:endParaRPr dirty="0"/>
          </a:p>
          <a:p>
            <a:pPr marL="900112" lvl="1" indent="-455612" algn="l" rtl="0">
              <a:lnSpc>
                <a:spcPct val="100000"/>
              </a:lnSpc>
              <a:spcAft>
                <a:spcPts val="0"/>
              </a:spcAft>
              <a:buClr>
                <a:srgbClr val="004A78"/>
              </a:buClr>
              <a:buSzPts val="2600"/>
              <a:buFont typeface="Arial"/>
              <a:buChar char="–"/>
            </a:pPr>
            <a:r>
              <a:rPr lang="en-US" dirty="0"/>
              <a:t>If 256 levels, then each sample is 8 bits (2</a:t>
            </a:r>
            <a:r>
              <a:rPr lang="en-US" baseline="30000" dirty="0"/>
              <a:t>8</a:t>
            </a:r>
            <a:r>
              <a:rPr lang="en-US" dirty="0"/>
              <a:t> = 256)</a:t>
            </a:r>
            <a:endParaRPr dirty="0"/>
          </a:p>
          <a:p>
            <a:pPr marL="457200" lvl="0" indent="-457200" algn="l" rtl="0">
              <a:lnSpc>
                <a:spcPct val="100000"/>
              </a:lnSpc>
              <a:spcAft>
                <a:spcPts val="0"/>
              </a:spcAft>
              <a:buSzPts val="2600"/>
              <a:buChar char="•"/>
            </a:pPr>
            <a:r>
              <a:rPr lang="en-US" dirty="0"/>
              <a:t>For wider ranges than human voice, a higher number of quantization levels may be needed</a:t>
            </a:r>
            <a:endParaRPr dirty="0"/>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55"/>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PCM - Pulse Code Modulation (8 of 8)</a:t>
            </a:r>
            <a:endParaRPr dirty="0"/>
          </a:p>
        </p:txBody>
      </p:sp>
      <p:sp>
        <p:nvSpPr>
          <p:cNvPr id="421" name="Google Shape;421;p55"/>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Aft>
                <a:spcPts val="0"/>
              </a:spcAft>
              <a:buClr>
                <a:srgbClr val="004A78"/>
              </a:buClr>
              <a:buSzPts val="2600"/>
              <a:buFont typeface="Arial"/>
              <a:buChar char="•"/>
            </a:pPr>
            <a:r>
              <a:rPr lang="en-US" dirty="0"/>
              <a:t>Besides increasing the number of quantization levels, it is possible to increase the number of samples ("snapshots")</a:t>
            </a:r>
            <a:endParaRPr dirty="0"/>
          </a:p>
          <a:p>
            <a:pPr marL="457200" lvl="0" indent="-457200" algn="l" rtl="0">
              <a:lnSpc>
                <a:spcPct val="100000"/>
              </a:lnSpc>
              <a:spcAft>
                <a:spcPts val="0"/>
              </a:spcAft>
              <a:buClr>
                <a:srgbClr val="004A78"/>
              </a:buClr>
              <a:buSzPts val="2600"/>
              <a:buFont typeface="Arial"/>
              <a:buChar char="•"/>
            </a:pPr>
            <a:r>
              <a:rPr lang="en-US" dirty="0"/>
              <a:t>How fast do you have to sample an input source to get a fairly accurate representation?</a:t>
            </a:r>
            <a:endParaRPr dirty="0"/>
          </a:p>
          <a:p>
            <a:pPr marL="457200" lvl="0" indent="-457200" algn="l" rtl="0">
              <a:lnSpc>
                <a:spcPct val="100000"/>
              </a:lnSpc>
              <a:spcAft>
                <a:spcPts val="0"/>
              </a:spcAft>
              <a:buClr>
                <a:srgbClr val="004A78"/>
              </a:buClr>
              <a:buSzPts val="2600"/>
              <a:buFont typeface="Arial"/>
              <a:buChar char="•"/>
            </a:pPr>
            <a:r>
              <a:rPr lang="en-US" dirty="0"/>
              <a:t>According to Nyquist's communication theorem:</a:t>
            </a:r>
            <a:endParaRPr dirty="0"/>
          </a:p>
          <a:p>
            <a:pPr marL="900112" lvl="1" indent="-455612" algn="l" rtl="0">
              <a:lnSpc>
                <a:spcPct val="100000"/>
              </a:lnSpc>
              <a:spcAft>
                <a:spcPts val="0"/>
              </a:spcAft>
              <a:buClr>
                <a:srgbClr val="004A78"/>
              </a:buClr>
              <a:buSzPts val="2600"/>
              <a:buFont typeface="Arial"/>
              <a:buChar char="–"/>
            </a:pPr>
            <a:r>
              <a:rPr lang="en-US" dirty="0"/>
              <a:t>you need two times the highest frequency</a:t>
            </a:r>
            <a:endParaRPr dirty="0"/>
          </a:p>
          <a:p>
            <a:pPr marL="457200" lvl="0" indent="-457200" algn="l" rtl="0">
              <a:lnSpc>
                <a:spcPct val="100000"/>
              </a:lnSpc>
              <a:spcAft>
                <a:spcPts val="0"/>
              </a:spcAft>
              <a:buClr>
                <a:srgbClr val="004A78"/>
              </a:buClr>
              <a:buSzPts val="2600"/>
              <a:buFont typeface="Arial"/>
              <a:buChar char="•"/>
            </a:pPr>
            <a:r>
              <a:rPr lang="en-US" dirty="0"/>
              <a:t>Thus, if you want to digitize voice (4000 Hz), you need to sample at 8000 samples per second</a:t>
            </a:r>
            <a:endParaRPr dirty="0"/>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56"/>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Delta Modulation (1 of 2)</a:t>
            </a:r>
            <a:endParaRPr dirty="0"/>
          </a:p>
        </p:txBody>
      </p:sp>
      <p:sp>
        <p:nvSpPr>
          <p:cNvPr id="427" name="Google Shape;427;p56"/>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15000"/>
              </a:lnSpc>
              <a:spcBef>
                <a:spcPts val="0"/>
              </a:spcBef>
              <a:spcAft>
                <a:spcPts val="0"/>
              </a:spcAft>
              <a:buSzPts val="2600"/>
              <a:buChar char="•"/>
            </a:pPr>
            <a:r>
              <a:rPr lang="en-US" dirty="0"/>
              <a:t>The "codec" tracks the incoming analog data by assessing up or down “steps”</a:t>
            </a:r>
            <a:endParaRPr dirty="0"/>
          </a:p>
          <a:p>
            <a:pPr marL="457200" lvl="0" indent="-457200" algn="l" rtl="0">
              <a:lnSpc>
                <a:spcPct val="100000"/>
              </a:lnSpc>
              <a:spcBef>
                <a:spcPts val="0"/>
              </a:spcBef>
              <a:spcAft>
                <a:spcPts val="0"/>
              </a:spcAft>
              <a:buClr>
                <a:srgbClr val="004A78"/>
              </a:buClr>
              <a:buSzPts val="2600"/>
              <a:buFont typeface="Arial"/>
              <a:buChar char="•"/>
            </a:pPr>
            <a:r>
              <a:rPr lang="en-US" dirty="0"/>
              <a:t>The analog waveform is tracked, using a binary 1 to represent a rise in voltage, and a 0 to represent a drop in voltage</a:t>
            </a:r>
            <a:endParaRPr dirty="0"/>
          </a:p>
          <a:p>
            <a:pPr marL="900112" lvl="1" indent="-442912" algn="l" rtl="0">
              <a:lnSpc>
                <a:spcPct val="100000"/>
              </a:lnSpc>
              <a:spcBef>
                <a:spcPts val="0"/>
              </a:spcBef>
              <a:spcAft>
                <a:spcPts val="0"/>
              </a:spcAft>
              <a:buSzPts val="2400"/>
              <a:buChar char="–"/>
            </a:pPr>
            <a:r>
              <a:rPr lang="en-US" dirty="0"/>
              <a:t>Each analog value is first converted to a PAM value, and then converted to binary</a:t>
            </a:r>
            <a:endParaRPr dirty="0"/>
          </a:p>
          <a:p>
            <a:pPr marL="457200" lvl="0" indent="-457200" algn="l" rtl="0">
              <a:lnSpc>
                <a:spcPct val="100000"/>
              </a:lnSpc>
              <a:spcBef>
                <a:spcPts val="0"/>
              </a:spcBef>
              <a:spcAft>
                <a:spcPts val="0"/>
              </a:spcAft>
              <a:buSzPts val="2600"/>
              <a:buChar char="•"/>
            </a:pPr>
            <a:r>
              <a:rPr lang="en-US" dirty="0"/>
              <a:t>Only 1 bit per sample is generated, thus, delta modulation is quicker than with PCM</a:t>
            </a:r>
            <a:endParaRPr dirty="0"/>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5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Delta Modulation (2 of 2)</a:t>
            </a:r>
            <a:endParaRPr dirty="0"/>
          </a:p>
        </p:txBody>
      </p:sp>
      <p:pic>
        <p:nvPicPr>
          <p:cNvPr id="2" name="Picture 1" descr="A graph depicts the delta modulation method. The horizontal axis is labeled time with an arrow pointing to the right and the vertical axis is labeled voltage with an arrow pointing upward. The waveform starts from a point in the vertical axis, rises up to a point in the first quadrant, and then falls bulging down at a point in the first quadrant. This waveform then rises up to a maximum in the first quadrant and then falls to a point in the first quadrant and moves horizontally rightward. Delta step waveform with alternating high and low values, travels in and around the previous waveform. The delta step that slopes downward from the maximum to the right indicates the slope overload noise. The delta step at the end along the horizontal part of the waveform indicates quantizing noise.&#10;Figure 3-29 Example of delta modulation that is experiencing slope overload noise and quantizing noise">
            <a:extLst>
              <a:ext uri="{FF2B5EF4-FFF2-40B4-BE49-F238E27FC236}">
                <a16:creationId xmlns:a16="http://schemas.microsoft.com/office/drawing/2014/main" id="{1C759568-7143-4FE4-A598-070EF9212144}"/>
              </a:ext>
            </a:extLst>
          </p:cNvPr>
          <p:cNvPicPr>
            <a:picLocks noChangeAspect="1"/>
          </p:cNvPicPr>
          <p:nvPr/>
        </p:nvPicPr>
        <p:blipFill>
          <a:blip r:embed="rId4"/>
          <a:stretch>
            <a:fillRect/>
          </a:stretch>
        </p:blipFill>
        <p:spPr>
          <a:xfrm>
            <a:off x="2761199" y="1412550"/>
            <a:ext cx="6669602" cy="4566300"/>
          </a:xfrm>
          <a:prstGeom prst="rect">
            <a:avLst/>
          </a:prstGeom>
        </p:spPr>
      </p:pic>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58"/>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The Relationship Between Frequency and Bits Per Second (1 of 2)</a:t>
            </a:r>
            <a:endParaRPr dirty="0"/>
          </a:p>
        </p:txBody>
      </p:sp>
      <p:sp>
        <p:nvSpPr>
          <p:cNvPr id="439" name="Google Shape;439;p58"/>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Higher Data Transfer Rates</a:t>
            </a:r>
            <a:endParaRPr dirty="0"/>
          </a:p>
          <a:p>
            <a:pPr marL="900113" lvl="1" indent="-442913" algn="l" rtl="0">
              <a:lnSpc>
                <a:spcPct val="100000"/>
              </a:lnSpc>
              <a:spcBef>
                <a:spcPts val="624"/>
              </a:spcBef>
              <a:spcAft>
                <a:spcPts val="0"/>
              </a:spcAft>
              <a:buSzPts val="2400"/>
              <a:buChar char="–"/>
            </a:pPr>
            <a:r>
              <a:rPr lang="en-US" dirty="0"/>
              <a:t>How do you send data faster?</a:t>
            </a:r>
            <a:endParaRPr dirty="0"/>
          </a:p>
          <a:p>
            <a:pPr marL="1350963" lvl="2" indent="-436563" algn="l" rtl="0">
              <a:lnSpc>
                <a:spcPct val="100000"/>
              </a:lnSpc>
              <a:spcBef>
                <a:spcPts val="624"/>
              </a:spcBef>
              <a:spcAft>
                <a:spcPts val="0"/>
              </a:spcAft>
              <a:buClr>
                <a:srgbClr val="000000"/>
              </a:buClr>
              <a:buSzPts val="2200"/>
              <a:buFont typeface="Wingdings" panose="05000000000000000000" pitchFamily="2" charset="2"/>
              <a:buChar char="§"/>
            </a:pPr>
            <a:r>
              <a:rPr lang="en-US" dirty="0"/>
              <a:t>Use a higher frequency signal (make sure the medium can handle the higher frequency</a:t>
            </a:r>
            <a:endParaRPr dirty="0"/>
          </a:p>
          <a:p>
            <a:pPr marL="1350963" lvl="2" indent="-436563" algn="l" rtl="0">
              <a:lnSpc>
                <a:spcPct val="100000"/>
              </a:lnSpc>
              <a:spcBef>
                <a:spcPts val="624"/>
              </a:spcBef>
              <a:spcAft>
                <a:spcPts val="0"/>
              </a:spcAft>
              <a:buClr>
                <a:srgbClr val="000000"/>
              </a:buClr>
              <a:buSzPts val="2200"/>
              <a:buFont typeface="Wingdings" panose="05000000000000000000" pitchFamily="2" charset="2"/>
              <a:buChar char="§"/>
            </a:pPr>
            <a:r>
              <a:rPr lang="en-US" dirty="0"/>
              <a:t>Use a higher number of signal levels</a:t>
            </a:r>
            <a:endParaRPr dirty="0"/>
          </a:p>
          <a:p>
            <a:pPr marL="900113" lvl="1" indent="-442913" algn="l" rtl="0">
              <a:lnSpc>
                <a:spcPct val="100000"/>
              </a:lnSpc>
              <a:spcBef>
                <a:spcPts val="624"/>
              </a:spcBef>
              <a:spcAft>
                <a:spcPts val="0"/>
              </a:spcAft>
              <a:buSzPts val="2400"/>
              <a:buChar char="–"/>
            </a:pPr>
            <a:r>
              <a:rPr lang="en-US" dirty="0"/>
              <a:t>In both cases, noise can be a problem</a:t>
            </a:r>
            <a:endParaRPr dirty="0"/>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5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The Relationship Between Frequency and Bits Per Second (2 of 2)</a:t>
            </a:r>
            <a:endParaRPr dirty="0"/>
          </a:p>
        </p:txBody>
      </p:sp>
      <p:sp>
        <p:nvSpPr>
          <p:cNvPr id="445" name="Google Shape;445;p59"/>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Maximum Data Transfer Rates</a:t>
            </a:r>
            <a:endParaRPr dirty="0"/>
          </a:p>
          <a:p>
            <a:pPr marL="900113" lvl="1" indent="-442913" algn="l" rtl="0">
              <a:lnSpc>
                <a:spcPct val="100000"/>
              </a:lnSpc>
              <a:spcBef>
                <a:spcPts val="624"/>
              </a:spcBef>
              <a:spcAft>
                <a:spcPts val="0"/>
              </a:spcAft>
              <a:buSzPts val="2400"/>
              <a:buChar char="–"/>
            </a:pPr>
            <a:r>
              <a:rPr lang="en-US" dirty="0"/>
              <a:t>How do you calculate a maximum data rate?</a:t>
            </a:r>
            <a:endParaRPr dirty="0"/>
          </a:p>
          <a:p>
            <a:pPr marL="900113" lvl="1" indent="-442913" algn="l" rtl="0">
              <a:lnSpc>
                <a:spcPct val="100000"/>
              </a:lnSpc>
              <a:spcBef>
                <a:spcPts val="624"/>
              </a:spcBef>
              <a:spcAft>
                <a:spcPts val="0"/>
              </a:spcAft>
              <a:buSzPts val="2400"/>
              <a:buChar char="–"/>
            </a:pPr>
            <a:r>
              <a:rPr lang="en-US" dirty="0"/>
              <a:t>Use Shannon’s equation</a:t>
            </a:r>
            <a:endParaRPr dirty="0"/>
          </a:p>
          <a:p>
            <a:pPr marL="1350963" lvl="2" indent="-436563" algn="l" rtl="0">
              <a:lnSpc>
                <a:spcPct val="100000"/>
              </a:lnSpc>
              <a:spcBef>
                <a:spcPts val="624"/>
              </a:spcBef>
              <a:spcAft>
                <a:spcPts val="0"/>
              </a:spcAft>
              <a:buClr>
                <a:srgbClr val="000000"/>
              </a:buClr>
              <a:buSzPts val="2200"/>
              <a:buChar char="▪"/>
            </a:pPr>
            <a:r>
              <a:rPr lang="en-US" dirty="0"/>
              <a:t>S(f) = f × log</a:t>
            </a:r>
            <a:r>
              <a:rPr lang="en-US" baseline="-25000" dirty="0"/>
              <a:t>2</a:t>
            </a:r>
            <a:r>
              <a:rPr lang="en-US" dirty="0"/>
              <a:t> (1 + S/N)</a:t>
            </a:r>
            <a:endParaRPr dirty="0"/>
          </a:p>
          <a:p>
            <a:pPr marL="1790700" lvl="3" indent="-419100" algn="l" rtl="0">
              <a:lnSpc>
                <a:spcPct val="90000"/>
              </a:lnSpc>
              <a:spcBef>
                <a:spcPts val="500"/>
              </a:spcBef>
              <a:spcAft>
                <a:spcPts val="0"/>
              </a:spcAft>
              <a:buClr>
                <a:srgbClr val="000000"/>
              </a:buClr>
              <a:buSzPts val="2000"/>
              <a:buChar char="•"/>
            </a:pPr>
            <a:r>
              <a:rPr lang="en-US" sz="2000" dirty="0">
                <a:solidFill>
                  <a:srgbClr val="000000"/>
                </a:solidFill>
                <a:latin typeface="Arial"/>
                <a:ea typeface="Arial"/>
                <a:cs typeface="Arial"/>
                <a:sym typeface="Arial"/>
              </a:rPr>
              <a:t>Where f = signal frequency (bandwidth), S is the signal power in watts, and N is the noise power in watts</a:t>
            </a:r>
            <a:endParaRPr dirty="0"/>
          </a:p>
          <a:p>
            <a:pPr marL="900113" lvl="1" indent="-442913" algn="l" rtl="0">
              <a:lnSpc>
                <a:spcPct val="100000"/>
              </a:lnSpc>
              <a:spcBef>
                <a:spcPts val="624"/>
              </a:spcBef>
              <a:spcAft>
                <a:spcPts val="0"/>
              </a:spcAft>
              <a:buSzPts val="2400"/>
              <a:buChar char="–"/>
            </a:pPr>
            <a:r>
              <a:rPr lang="en-US" dirty="0"/>
              <a:t>For example, what is the data rate of a 3400 Hz signal with 0.2 watts of power and 0.0002 watts of noise?</a:t>
            </a:r>
            <a:endParaRPr dirty="0"/>
          </a:p>
          <a:p>
            <a:pPr marL="1350963" lvl="2" indent="-436563" algn="l" rtl="0">
              <a:lnSpc>
                <a:spcPct val="100000"/>
              </a:lnSpc>
              <a:spcBef>
                <a:spcPts val="624"/>
              </a:spcBef>
              <a:spcAft>
                <a:spcPts val="0"/>
              </a:spcAft>
              <a:buClr>
                <a:srgbClr val="000000"/>
              </a:buClr>
              <a:buSzPts val="2200"/>
              <a:buChar char="▪"/>
            </a:pPr>
            <a:r>
              <a:rPr lang="en-US" dirty="0"/>
              <a:t>S(f) = 3400 × log</a:t>
            </a:r>
            <a:r>
              <a:rPr lang="en-US" baseline="-25000" dirty="0"/>
              <a:t>2</a:t>
            </a:r>
            <a:r>
              <a:rPr lang="en-US" dirty="0"/>
              <a:t> (1 + 0.2/0.0002)</a:t>
            </a:r>
          </a:p>
          <a:p>
            <a:pPr marL="914400" lvl="2" indent="971550" algn="l" rtl="0">
              <a:lnSpc>
                <a:spcPct val="100000"/>
              </a:lnSpc>
              <a:spcBef>
                <a:spcPts val="624"/>
              </a:spcBef>
              <a:spcAft>
                <a:spcPts val="0"/>
              </a:spcAft>
              <a:buClr>
                <a:srgbClr val="000000"/>
              </a:buClr>
              <a:buSzPts val="2200"/>
              <a:buNone/>
            </a:pPr>
            <a:r>
              <a:rPr lang="en-US" dirty="0"/>
              <a:t>= 3400 × log</a:t>
            </a:r>
            <a:r>
              <a:rPr lang="en-US" baseline="-25000" dirty="0"/>
              <a:t>2</a:t>
            </a:r>
            <a:r>
              <a:rPr lang="en-US" dirty="0"/>
              <a:t> (1001)</a:t>
            </a:r>
          </a:p>
          <a:p>
            <a:pPr marL="914400" lvl="2" indent="971550" algn="l" rtl="0">
              <a:lnSpc>
                <a:spcPct val="100000"/>
              </a:lnSpc>
              <a:spcBef>
                <a:spcPts val="624"/>
              </a:spcBef>
              <a:spcAft>
                <a:spcPts val="0"/>
              </a:spcAft>
              <a:buClr>
                <a:srgbClr val="000000"/>
              </a:buClr>
              <a:buSzPts val="2200"/>
              <a:buNone/>
            </a:pPr>
            <a:r>
              <a:rPr lang="en-US" dirty="0"/>
              <a:t>= 3400 × 9.97</a:t>
            </a:r>
          </a:p>
          <a:p>
            <a:pPr marL="914400" lvl="2" indent="971550" algn="l" rtl="0">
              <a:lnSpc>
                <a:spcPct val="100000"/>
              </a:lnSpc>
              <a:spcBef>
                <a:spcPts val="624"/>
              </a:spcBef>
              <a:spcAft>
                <a:spcPts val="0"/>
              </a:spcAft>
              <a:buClr>
                <a:srgbClr val="000000"/>
              </a:buClr>
              <a:buSzPts val="2200"/>
              <a:buNone/>
            </a:pPr>
            <a:r>
              <a:rPr lang="en-US" dirty="0"/>
              <a:t>= 33898 bps</a:t>
            </a:r>
            <a:endParaRPr dirty="0"/>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6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Characters and Codes</a:t>
            </a:r>
            <a:endParaRPr dirty="0"/>
          </a:p>
        </p:txBody>
      </p:sp>
      <p:sp>
        <p:nvSpPr>
          <p:cNvPr id="451" name="Google Shape;451;p60"/>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Aft>
                <a:spcPts val="3000"/>
              </a:spcAft>
              <a:buClr>
                <a:srgbClr val="004A78"/>
              </a:buClr>
              <a:buSzPts val="2600"/>
              <a:buFont typeface="Arial"/>
              <a:buChar char="•"/>
            </a:pPr>
            <a:r>
              <a:rPr lang="en-US" dirty="0"/>
              <a:t>The set of all textual characters or symbols and their corresponding binary patterns is called a data code</a:t>
            </a:r>
            <a:endParaRPr dirty="0"/>
          </a:p>
          <a:p>
            <a:pPr marL="457200" lvl="0" indent="-457200" algn="l" rtl="0">
              <a:lnSpc>
                <a:spcPct val="100000"/>
              </a:lnSpc>
              <a:spcAft>
                <a:spcPts val="0"/>
              </a:spcAft>
              <a:buClr>
                <a:srgbClr val="004A78"/>
              </a:buClr>
              <a:buSzPts val="2600"/>
              <a:buFont typeface="Arial"/>
              <a:buChar char="•"/>
            </a:pPr>
            <a:r>
              <a:rPr lang="en-US" dirty="0"/>
              <a:t>The common data encoding schemes are:</a:t>
            </a:r>
            <a:endParaRPr dirty="0"/>
          </a:p>
          <a:p>
            <a:pPr marL="900112" lvl="1" indent="-442912" algn="l" rtl="0">
              <a:lnSpc>
                <a:spcPct val="100000"/>
              </a:lnSpc>
              <a:spcAft>
                <a:spcPts val="0"/>
              </a:spcAft>
              <a:buSzPts val="2400"/>
              <a:buChar char="–"/>
            </a:pPr>
            <a:r>
              <a:rPr lang="en-US" dirty="0"/>
              <a:t>ASCII - American Standard Code for Information Interchange</a:t>
            </a:r>
            <a:endParaRPr dirty="0"/>
          </a:p>
          <a:p>
            <a:pPr marL="1350962" lvl="2" indent="-436562" algn="l" rtl="0">
              <a:lnSpc>
                <a:spcPct val="100000"/>
              </a:lnSpc>
              <a:spcAft>
                <a:spcPts val="0"/>
              </a:spcAft>
              <a:buSzPts val="2200"/>
              <a:buFont typeface="Wingdings" panose="05000000000000000000" pitchFamily="2" charset="2"/>
              <a:buChar char="§"/>
            </a:pPr>
            <a:r>
              <a:rPr lang="en-US" dirty="0"/>
              <a:t>Simple 7-bit based - 128 possible values</a:t>
            </a:r>
            <a:endParaRPr dirty="0"/>
          </a:p>
          <a:p>
            <a:pPr marL="900112" lvl="1" indent="-442912" algn="l" rtl="0">
              <a:lnSpc>
                <a:spcPct val="100000"/>
              </a:lnSpc>
              <a:spcAft>
                <a:spcPts val="0"/>
              </a:spcAft>
              <a:buSzPts val="2400"/>
              <a:buChar char="–"/>
            </a:pPr>
            <a:r>
              <a:rPr lang="en-US" dirty="0"/>
              <a:t>Unicode - Universal Code</a:t>
            </a:r>
            <a:endParaRPr dirty="0"/>
          </a:p>
          <a:p>
            <a:pPr marL="1350962" lvl="2" indent="-436562" algn="l" rtl="0">
              <a:lnSpc>
                <a:spcPct val="100000"/>
              </a:lnSpc>
              <a:spcAft>
                <a:spcPts val="0"/>
              </a:spcAft>
              <a:buSzPts val="2200"/>
              <a:buFont typeface="Wingdings" panose="05000000000000000000" pitchFamily="2" charset="2"/>
              <a:buChar char="§"/>
            </a:pPr>
            <a:r>
              <a:rPr lang="en-US" dirty="0"/>
              <a:t>To include virtually all characters in every language</a:t>
            </a:r>
            <a:endParaRPr dirty="0"/>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6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ASCII (1 of 2)</a:t>
            </a:r>
            <a:endParaRPr dirty="0"/>
          </a:p>
        </p:txBody>
      </p:sp>
      <p:pic>
        <p:nvPicPr>
          <p:cNvPr id="2" name="Picture 1" descr="A table represents A S C I I character set in sixteen rows and eight columns. The column headers representing the high order bits (7, 6, 5) from left to right are as follows; 0 0 0, 0 0 1, 0 1 0, 0 1 1, 1 0 0, 1 0 1, 1 1 0, and 1 1 1. The row headers representing low order bits (4, 3, 2, 1) from top to bottom are as follows: 0 0 0 0, 0 0 0 1, 0 0 1 0, 0 0 1 1, 0 1 0 0, 0 1 0 1, 0 1 1 0, 0 1 1 1, 1 0 0 0, 1 0 0 1, 1 0 1 0, 1 0 1 1, 1 1 0 0, 1 1 0 1, 1 1 1 0, and 1 1 1 1. The row wise data in the seven columns from left to right are as follows: (row 1) N U L, D L E, SPACE, 0, at, uppercase P, apostrophe, lowercase p; (row 2) S O H, D C 1, exclamation mark, 1, uppercase A, uppercase Q, lowercase a, lowercase q; (row 3) S T X, D C 2, left double quotation mark, 2, uppercase B, uppercase R, lowercase b, lowercase r; (row 4) E T X, D C 3, hash, 3, uppercase C, uppercase S, lowercase c, lowercase s; (row 5) E O T, D C 4, dollar, 4, uppercase D, uppercase T, lowercase d, lowercase t; (row 6) E N Q, N A K, percent, 5, uppercase E, uppercase U, lowercase e, lowercase u; (row 7) A C K, S Y N, ampersand, 6, uppercase F, uppercase V, lowercase f, lowercase v; (row 8) B E L, E T B, left single quote, 7, uppercase G, uppercase W, lowercase g, lowercase w; (row 9) B S, C A N, left parenthesis, 8, uppercase H, uppercase X, lowercase h, lowercase x; (row 10) H T, E M, right parenthesis, 9, uppercase I, uppercase Y, lowercase i, lowercase y; (row 11) L F, S U B, asterisk, colon, uppercase J, uppercase Z, lowercase j, lowercase z; (row 12) V T, E S C, plus, semi colon, uppercase K, left bracket, lowercase k, left brace; (row 13) F F, F S, right single quote, less than, uppercase L, backslash, lowercase l, pipe; (row 14) C R, G S, dash, equals, uppercase M, right bracket, lowercase m, right brace; (row 15) S O, R S, period, greater than, uppercase N, caret, lowercase n, tilde; (row 16) S I, U S, forward slash, question mark, uppercase O, minus, lowercase o, D E L.&#10;Figure 3-32 The ASCII character set">
            <a:extLst>
              <a:ext uri="{FF2B5EF4-FFF2-40B4-BE49-F238E27FC236}">
                <a16:creationId xmlns:a16="http://schemas.microsoft.com/office/drawing/2014/main" id="{448CD81A-6876-45D8-8CFD-6FE615590A8B}"/>
              </a:ext>
            </a:extLst>
          </p:cNvPr>
          <p:cNvPicPr>
            <a:picLocks noChangeAspect="1"/>
          </p:cNvPicPr>
          <p:nvPr/>
        </p:nvPicPr>
        <p:blipFill>
          <a:blip r:embed="rId4"/>
          <a:stretch>
            <a:fillRect/>
          </a:stretch>
        </p:blipFill>
        <p:spPr>
          <a:xfrm>
            <a:off x="2407600" y="1253527"/>
            <a:ext cx="7376799" cy="5011346"/>
          </a:xfrm>
          <a:prstGeom prst="rect">
            <a:avLst/>
          </a:prstGeom>
        </p:spPr>
      </p:pic>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g11491eafe5a_0_48"/>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ASCII (2 of 2)</a:t>
            </a:r>
            <a:endParaRPr dirty="0"/>
          </a:p>
        </p:txBody>
      </p:sp>
      <p:pic>
        <p:nvPicPr>
          <p:cNvPr id="2" name="Picture 1" descr="A table represents the A S C I I bits for a message, in six rows and six columns. The second, fourth, and sixth rows show the characters of the message, transfer 1200.00 dollars, and the first, third, and fifth rows show the corresponding 7 bit code. The A S C I I 7 bit code for each character in the table are as follows: uppercase T, 1 0 1 0 1 0 0; lowercase r, 1 1 1 0 0 1 0; lowercase a, 1 1 0 0 0 0 1; lowercase n, 1 1 0 1 1 1 0; lowercase s, 1 1 1 0 0 1 1; lowercase f, 1 1 0 0 1 1 0; lowercase e, 1 1 0 0 1 0 1; lowercase r, 1 1 1 0 0 1 0; space, 0 1 0 0 0 0 0; dollar sign, 0 1 0 0 1 0 0; 1, 0 1 1 0 0 0 1; 2, 0 1 1 0 0 1 0; 0, 0 1 1 0 0 0 0; 0, 0 1 1 0 0 0 0; dot, 0 1 0 1 1 1 0; 0, 0 1 1 0 0 0 0; 0, 0 1 1 0 0 0 0.&#10;Figure 3-33 ASCII bits for the message “Transfer $1200.00”">
            <a:extLst>
              <a:ext uri="{FF2B5EF4-FFF2-40B4-BE49-F238E27FC236}">
                <a16:creationId xmlns:a16="http://schemas.microsoft.com/office/drawing/2014/main" id="{B36E7C45-AD02-455A-8490-8FC9DFEEB14F}"/>
              </a:ext>
            </a:extLst>
          </p:cNvPr>
          <p:cNvPicPr>
            <a:picLocks noChangeAspect="1"/>
          </p:cNvPicPr>
          <p:nvPr/>
        </p:nvPicPr>
        <p:blipFill>
          <a:blip r:embed="rId4"/>
          <a:stretch>
            <a:fillRect/>
          </a:stretch>
        </p:blipFill>
        <p:spPr>
          <a:xfrm>
            <a:off x="1980843" y="1709779"/>
            <a:ext cx="8230313" cy="3438442"/>
          </a:xfrm>
          <a:prstGeom prst="rect">
            <a:avLst/>
          </a:prstGeom>
        </p:spPr>
      </p:pic>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g11491eafe5a_0_54"/>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Unicode (1 of 2)</a:t>
            </a:r>
            <a:endParaRPr dirty="0"/>
          </a:p>
        </p:txBody>
      </p:sp>
      <p:sp>
        <p:nvSpPr>
          <p:cNvPr id="469" name="Google Shape;469;g11491eafe5a_0_54"/>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Currently supports 145,000 unique characters</a:t>
            </a:r>
            <a:endParaRPr dirty="0"/>
          </a:p>
          <a:p>
            <a:pPr marL="900112" lvl="1" indent="-455612" algn="l" rtl="0">
              <a:lnSpc>
                <a:spcPct val="100000"/>
              </a:lnSpc>
              <a:spcBef>
                <a:spcPts val="624"/>
              </a:spcBef>
              <a:spcAft>
                <a:spcPts val="0"/>
              </a:spcAft>
              <a:buClr>
                <a:srgbClr val="004A78"/>
              </a:buClr>
              <a:buSzPts val="2600"/>
              <a:buFont typeface="Arial"/>
              <a:buChar char="–"/>
            </a:pPr>
            <a:r>
              <a:rPr lang="en-US" dirty="0"/>
              <a:t>A large number of languages / character sets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Two currently available versions:</a:t>
            </a:r>
            <a:endParaRPr dirty="0"/>
          </a:p>
          <a:p>
            <a:pPr marL="900112" lvl="1" indent="-442912" algn="l" rtl="0">
              <a:lnSpc>
                <a:spcPct val="100000"/>
              </a:lnSpc>
              <a:spcBef>
                <a:spcPts val="624"/>
              </a:spcBef>
              <a:spcAft>
                <a:spcPts val="0"/>
              </a:spcAft>
              <a:buSzPts val="2400"/>
              <a:buChar char="–"/>
            </a:pPr>
            <a:r>
              <a:rPr lang="en-US" dirty="0"/>
              <a:t>UTF-8 - dedicates 1 to 4 8 bytes (8 bits) to encode each symbol</a:t>
            </a:r>
            <a:endParaRPr dirty="0"/>
          </a:p>
          <a:p>
            <a:pPr marL="1257300" lvl="2" indent="-342900">
              <a:buFont typeface="Wingdings" panose="05000000000000000000" pitchFamily="2" charset="2"/>
              <a:buChar char="§"/>
            </a:pPr>
            <a:r>
              <a:rPr lang="en-US" dirty="0"/>
              <a:t>now far more popular than UTF-16, an even ASCII</a:t>
            </a:r>
            <a:endParaRPr dirty="0"/>
          </a:p>
          <a:p>
            <a:pPr marL="900112" lvl="1" indent="-442912" algn="l" rtl="0">
              <a:lnSpc>
                <a:spcPct val="100000"/>
              </a:lnSpc>
              <a:spcBef>
                <a:spcPts val="624"/>
              </a:spcBef>
              <a:spcAft>
                <a:spcPts val="0"/>
              </a:spcAft>
              <a:buSzPts val="2400"/>
              <a:buChar char="–"/>
            </a:pPr>
            <a:r>
              <a:rPr lang="en-US" dirty="0"/>
              <a:t>UTF-16 - dedicates 2 to 4 bytes to encode each symbol</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Unicode is more robust than ASCII as it delivers character encoding no matter the platform</a:t>
            </a:r>
            <a:endParaRPr dirty="0"/>
          </a:p>
        </p:txBody>
      </p:sp>
    </p:spTree>
    <p:custDataLst>
      <p:tags r:id="rId1"/>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63"/>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Unicode (2 of 2)</a:t>
            </a:r>
            <a:endParaRPr dirty="0"/>
          </a:p>
        </p:txBody>
      </p:sp>
      <p:sp>
        <p:nvSpPr>
          <p:cNvPr id="2" name="Text Placeholder 1">
            <a:extLst>
              <a:ext uri="{FF2B5EF4-FFF2-40B4-BE49-F238E27FC236}">
                <a16:creationId xmlns:a16="http://schemas.microsoft.com/office/drawing/2014/main" id="{9AFDEF06-C34C-47BD-AFB3-A2CF5572D5C7}"/>
              </a:ext>
            </a:extLst>
          </p:cNvPr>
          <p:cNvSpPr>
            <a:spLocks noGrp="1"/>
          </p:cNvSpPr>
          <p:nvPr>
            <p:ph type="body" idx="1"/>
          </p:nvPr>
        </p:nvSpPr>
        <p:spPr>
          <a:xfrm>
            <a:off x="3062559" y="1540850"/>
            <a:ext cx="1085223" cy="585000"/>
          </a:xfrm>
        </p:spPr>
        <p:txBody>
          <a:bodyPr/>
          <a:lstStyle/>
          <a:p>
            <a:pPr marL="63500" indent="0" algn="ctr">
              <a:buNone/>
            </a:pPr>
            <a:r>
              <a:rPr lang="en-US" dirty="0"/>
              <a:t>ASCII</a:t>
            </a:r>
          </a:p>
        </p:txBody>
      </p:sp>
      <p:sp>
        <p:nvSpPr>
          <p:cNvPr id="4" name="Text Placeholder 3">
            <a:extLst>
              <a:ext uri="{FF2B5EF4-FFF2-40B4-BE49-F238E27FC236}">
                <a16:creationId xmlns:a16="http://schemas.microsoft.com/office/drawing/2014/main" id="{44636803-7C81-4C50-AD12-5C754CC39D33}"/>
              </a:ext>
            </a:extLst>
          </p:cNvPr>
          <p:cNvSpPr>
            <a:spLocks noGrp="1"/>
          </p:cNvSpPr>
          <p:nvPr>
            <p:ph type="body" idx="3"/>
          </p:nvPr>
        </p:nvSpPr>
        <p:spPr>
          <a:xfrm>
            <a:off x="8952756" y="422275"/>
            <a:ext cx="1131888" cy="557217"/>
          </a:xfrm>
        </p:spPr>
        <p:txBody>
          <a:bodyPr/>
          <a:lstStyle/>
          <a:p>
            <a:pPr marL="63500" indent="0" algn="ctr">
              <a:buNone/>
            </a:pPr>
            <a:r>
              <a:rPr lang="en-US" dirty="0"/>
              <a:t>UTF-8</a:t>
            </a:r>
          </a:p>
        </p:txBody>
      </p:sp>
      <p:pic>
        <p:nvPicPr>
          <p:cNvPr id="3" name="Picture 2" descr="A table represents the A S C I I bits for a message, in six rows and six columns. The second, fourth, and sixth rows show the characters of the message, transfer 1200.00 dollars, and the first, third, and fifth rows show the corresponding 7 bit code. The A S C I I 7 bit code for each character in the table are as follows: uppercase T, 1 0 1 0 1 0 0; lowercase r, 1 1 1 0 0 1 0; lowercase a, 1 1 0 0 0 0 1; lowercase n, 1 1 0 1 1 1 0; lowercase s, 1 1 1 0 0 1 1; lowercase f, 1 1 0 0 1 1 0; lowercase e, 1 1 0 0 1 0 1; lowercase r, 1 1 1 0 0 1 0; space, 0 1 0 0 0 0 0; dollar sign, 0 1 0 0 1 0 0; 1, 0 1 1 0 0 0 1; 2, 0 1 1 0 0 1 0; 0, 0 1 1 0 0 0 0; 0, 0 1 1 0 0 0 0; dot, 0 1 0 1 1 1 0; 0, 0 1 1 0 0 0 0; 0, 0 1 1 0 0 0 0.&#10;Figure 3-33 ASCII bits for the message “Transfer $1200.00”">
            <a:extLst>
              <a:ext uri="{FF2B5EF4-FFF2-40B4-BE49-F238E27FC236}">
                <a16:creationId xmlns:a16="http://schemas.microsoft.com/office/drawing/2014/main" id="{10C62991-2A5C-4BD1-9278-36417C6BB83C}"/>
              </a:ext>
            </a:extLst>
          </p:cNvPr>
          <p:cNvPicPr>
            <a:picLocks noChangeAspect="1"/>
          </p:cNvPicPr>
          <p:nvPr/>
        </p:nvPicPr>
        <p:blipFill>
          <a:blip r:embed="rId4"/>
          <a:stretch>
            <a:fillRect/>
          </a:stretch>
        </p:blipFill>
        <p:spPr>
          <a:xfrm>
            <a:off x="838200" y="2234080"/>
            <a:ext cx="5724640" cy="2389839"/>
          </a:xfrm>
          <a:prstGeom prst="rect">
            <a:avLst/>
          </a:prstGeom>
        </p:spPr>
      </p:pic>
      <p:pic>
        <p:nvPicPr>
          <p:cNvPr id="5" name="Picture 4" descr="A table depicts the Unicode bits for a message in seventeen rows and two columns. The second column lists the characters of the message as follows: uppercase T, lowercase r, lowercase a, lowercase n, lowercase s, lowercase f, lowercase e, lowercase r, space, dollar sign, 1, 2, 0, 0, dot, 0, and 0. The first column shows the corresponding Unicode bits for each character, that contains 16 digits, formed by a sequence of zeros and ones. For instance, the given Unicode bits for uppercase T is 0 0 0 0 0 0 0 0 0 1 0 1 0 1 0 0 and for lowercase r is 0 0 0 0 0 0 0 0 0 1 1 1 0 0 1 0.&#10;Figure 3-34 Unicode bits for the message “Transfer &#10;$1200.00”">
            <a:extLst>
              <a:ext uri="{FF2B5EF4-FFF2-40B4-BE49-F238E27FC236}">
                <a16:creationId xmlns:a16="http://schemas.microsoft.com/office/drawing/2014/main" id="{6D2AA686-51FC-4FF1-8961-5D0A9BB7A8FF}"/>
              </a:ext>
            </a:extLst>
          </p:cNvPr>
          <p:cNvPicPr>
            <a:picLocks noChangeAspect="1"/>
          </p:cNvPicPr>
          <p:nvPr/>
        </p:nvPicPr>
        <p:blipFill>
          <a:blip r:embed="rId5"/>
          <a:stretch>
            <a:fillRect/>
          </a:stretch>
        </p:blipFill>
        <p:spPr>
          <a:xfrm>
            <a:off x="7384960" y="1094380"/>
            <a:ext cx="3968840" cy="5163760"/>
          </a:xfrm>
          <a:prstGeom prst="rect">
            <a:avLst/>
          </a:prstGeom>
        </p:spPr>
      </p:pic>
    </p:spTree>
    <p:custDataLst>
      <p:tags r:id="rId1"/>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6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Summary (1 of 3)</a:t>
            </a:r>
            <a:endParaRPr dirty="0"/>
          </a:p>
        </p:txBody>
      </p:sp>
      <p:sp>
        <p:nvSpPr>
          <p:cNvPr id="484" name="Google Shape;484;p68"/>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Data and signals are two basic building blocks of computer networks</a:t>
            </a:r>
            <a:endParaRPr/>
          </a:p>
          <a:p>
            <a:pPr marL="900113" lvl="1" indent="-442913" algn="l" rtl="0">
              <a:lnSpc>
                <a:spcPct val="100000"/>
              </a:lnSpc>
              <a:spcBef>
                <a:spcPts val="624"/>
              </a:spcBef>
              <a:spcAft>
                <a:spcPts val="0"/>
              </a:spcAft>
              <a:buSzPts val="2400"/>
              <a:buChar char="–"/>
            </a:pPr>
            <a:r>
              <a:rPr lang="en-US"/>
              <a:t>All data transmitted is either digital or analog</a:t>
            </a:r>
            <a:endParaRPr/>
          </a:p>
          <a:p>
            <a:pPr marL="900113" lvl="1" indent="-442913" algn="l" rtl="0">
              <a:lnSpc>
                <a:spcPct val="100000"/>
              </a:lnSpc>
              <a:spcBef>
                <a:spcPts val="624"/>
              </a:spcBef>
              <a:spcAft>
                <a:spcPts val="0"/>
              </a:spcAft>
              <a:buSzPts val="2400"/>
              <a:buChar char="–"/>
            </a:pPr>
            <a:r>
              <a:rPr lang="en-US"/>
              <a:t>Data is transmitted with a signal that can be either digital or analog</a:t>
            </a:r>
            <a:endParaRPr/>
          </a:p>
          <a:p>
            <a:pPr marL="457200" lvl="0" indent="-457200" algn="l" rtl="0">
              <a:lnSpc>
                <a:spcPct val="100000"/>
              </a:lnSpc>
              <a:spcBef>
                <a:spcPts val="624"/>
              </a:spcBef>
              <a:spcAft>
                <a:spcPts val="0"/>
              </a:spcAft>
              <a:buClr>
                <a:srgbClr val="004A78"/>
              </a:buClr>
              <a:buSzPts val="2600"/>
              <a:buFont typeface="Arial"/>
              <a:buChar char="•"/>
            </a:pPr>
            <a:r>
              <a:rPr lang="en-US"/>
              <a:t>All signals consist of three basic components: amplitude, frequency, and phase</a:t>
            </a:r>
            <a:endParaRPr/>
          </a:p>
          <a:p>
            <a:pPr marL="457200" lvl="0" indent="-457200" algn="l" rtl="0">
              <a:lnSpc>
                <a:spcPct val="100000"/>
              </a:lnSpc>
              <a:spcBef>
                <a:spcPts val="624"/>
              </a:spcBef>
              <a:spcAft>
                <a:spcPts val="0"/>
              </a:spcAft>
              <a:buClr>
                <a:srgbClr val="004A78"/>
              </a:buClr>
              <a:buSzPts val="2600"/>
              <a:buFont typeface="Arial"/>
              <a:buChar char="•"/>
            </a:pPr>
            <a:r>
              <a:rPr lang="en-US"/>
              <a:t>Two important factors affecting the transfer of a signal over a medium are noise and attenuation</a:t>
            </a:r>
            <a:endParaRPr/>
          </a:p>
          <a:p>
            <a:pPr marL="457200" lvl="0" indent="-457200" algn="l" rtl="0">
              <a:lnSpc>
                <a:spcPct val="100000"/>
              </a:lnSpc>
              <a:spcBef>
                <a:spcPts val="624"/>
              </a:spcBef>
              <a:spcAft>
                <a:spcPts val="0"/>
              </a:spcAft>
              <a:buClr>
                <a:srgbClr val="004A78"/>
              </a:buClr>
              <a:buSzPts val="2600"/>
              <a:buFont typeface="Arial"/>
              <a:buChar char="•"/>
            </a:pPr>
            <a:r>
              <a:rPr lang="en-US"/>
              <a:t>Four basic combinations of data and signals are possible: analog data converted to an analog signal, digital data converted to a digital signal, digital data converted to a discrete analog signal, and analog data converted to a digital signal</a:t>
            </a:r>
            <a:endParaRPr/>
          </a:p>
        </p:txBody>
      </p:sp>
    </p:spTree>
    <p:custDataLst>
      <p:tags r:id="rId1"/>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6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Summary (2 of 3)</a:t>
            </a:r>
            <a:endParaRPr dirty="0"/>
          </a:p>
        </p:txBody>
      </p:sp>
      <p:sp>
        <p:nvSpPr>
          <p:cNvPr id="490" name="Google Shape;490;p69"/>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To transmit analog data over an analog signal, the analog waveform of the data is combined with another analog waveform in a process known as modulation</a:t>
            </a:r>
            <a:endParaRPr/>
          </a:p>
          <a:p>
            <a:pPr marL="457200" lvl="0" indent="-457200" algn="l" rtl="0">
              <a:lnSpc>
                <a:spcPct val="100000"/>
              </a:lnSpc>
              <a:spcBef>
                <a:spcPts val="624"/>
              </a:spcBef>
              <a:spcAft>
                <a:spcPts val="0"/>
              </a:spcAft>
              <a:buClr>
                <a:srgbClr val="004A78"/>
              </a:buClr>
              <a:buSzPts val="2600"/>
              <a:buFont typeface="Arial"/>
              <a:buChar char="•"/>
            </a:pPr>
            <a:r>
              <a:rPr lang="en-US"/>
              <a:t>Digital data carried by digital signals is represented by digital encoding formats</a:t>
            </a:r>
            <a:endParaRPr/>
          </a:p>
          <a:p>
            <a:pPr marL="457200" lvl="0" indent="-457200" algn="l" rtl="0">
              <a:lnSpc>
                <a:spcPct val="100000"/>
              </a:lnSpc>
              <a:spcBef>
                <a:spcPts val="624"/>
              </a:spcBef>
              <a:spcAft>
                <a:spcPts val="0"/>
              </a:spcAft>
              <a:buClr>
                <a:srgbClr val="004A78"/>
              </a:buClr>
              <a:buSzPts val="2600"/>
              <a:buFont typeface="Arial"/>
              <a:buChar char="•"/>
            </a:pPr>
            <a:r>
              <a:rPr lang="en-US"/>
              <a:t>For digital data to be transmitted using analog signals, digital data must first undergo a process called shift keying or modulation</a:t>
            </a:r>
            <a:endParaRPr/>
          </a:p>
          <a:p>
            <a:pPr marL="900113" lvl="1" indent="-442913" algn="l" rtl="0">
              <a:lnSpc>
                <a:spcPct val="100000"/>
              </a:lnSpc>
              <a:spcBef>
                <a:spcPts val="624"/>
              </a:spcBef>
              <a:spcAft>
                <a:spcPts val="0"/>
              </a:spcAft>
              <a:buSzPts val="2400"/>
              <a:buChar char="–"/>
            </a:pPr>
            <a:r>
              <a:rPr lang="en-US"/>
              <a:t>Three basic techniques of shift keying are amplitude shift keying, frequency shift keying, and phase shift keying</a:t>
            </a:r>
            <a:endParaRPr/>
          </a:p>
        </p:txBody>
      </p:sp>
    </p:spTree>
    <p:custDataLst>
      <p:tags r:id="rId1"/>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7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Summary (3 of 3)</a:t>
            </a:r>
            <a:endParaRPr dirty="0"/>
          </a:p>
        </p:txBody>
      </p:sp>
      <p:sp>
        <p:nvSpPr>
          <p:cNvPr id="496" name="Google Shape;496;p70"/>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Two common techniques for converting analog data so that it may be carried over digital signals are pulse code modulation and delta modulation</a:t>
            </a:r>
            <a:endParaRPr/>
          </a:p>
          <a:p>
            <a:pPr marL="457200" lvl="0" indent="-457200" algn="l" rtl="0">
              <a:lnSpc>
                <a:spcPct val="100000"/>
              </a:lnSpc>
              <a:spcBef>
                <a:spcPts val="624"/>
              </a:spcBef>
              <a:spcAft>
                <a:spcPts val="0"/>
              </a:spcAft>
              <a:buClr>
                <a:srgbClr val="004A78"/>
              </a:buClr>
              <a:buSzPts val="2600"/>
              <a:buFont typeface="Arial"/>
              <a:buChar char="•"/>
            </a:pPr>
            <a:r>
              <a:rPr lang="en-US"/>
              <a:t>Data codes are necessary to transmit the letters, numbers, symbols, and control characters found in text data</a:t>
            </a:r>
            <a:endParaRPr/>
          </a:p>
          <a:p>
            <a:pPr marL="900113" lvl="1" indent="-442913" algn="l" rtl="0">
              <a:lnSpc>
                <a:spcPct val="100000"/>
              </a:lnSpc>
              <a:spcBef>
                <a:spcPts val="624"/>
              </a:spcBef>
              <a:spcAft>
                <a:spcPts val="0"/>
              </a:spcAft>
              <a:buSzPts val="2400"/>
              <a:buChar char="–"/>
            </a:pPr>
            <a:r>
              <a:rPr lang="en-US"/>
              <a:t>Currently used data codes are ASCII and Unicode</a:t>
            </a:r>
            <a:endParaRP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6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2836</Words>
  <Application>Microsoft Office PowerPoint</Application>
  <PresentationFormat>Widescreen</PresentationFormat>
  <Paragraphs>286</Paragraphs>
  <Slides>64</Slides>
  <Notes>64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64</vt:i4>
      </vt:variant>
    </vt:vector>
  </HeadingPairs>
  <TitlesOfParts>
    <vt:vector size="73" baseType="lpstr">
      <vt:lpstr>Arial</vt:lpstr>
      <vt:lpstr>Arial</vt:lpstr>
      <vt:lpstr>Calibri</vt:lpstr>
      <vt:lpstr>Helvetica Neue</vt:lpstr>
      <vt:lpstr>Noto Sans Symbols</vt:lpstr>
      <vt:lpstr>Open Sans</vt:lpstr>
      <vt:lpstr>Times New Roman</vt:lpstr>
      <vt:lpstr>Wingdings</vt:lpstr>
      <vt:lpstr>Office Theme</vt:lpstr>
      <vt:lpstr>Chapter 3</vt:lpstr>
      <vt:lpstr>After reading this chapter, you should be able to:</vt:lpstr>
      <vt:lpstr>Introduction (1 of 2)</vt:lpstr>
      <vt:lpstr>Introduction (2 of 2)</vt:lpstr>
      <vt:lpstr>Data and Signals</vt:lpstr>
      <vt:lpstr>Analog vs. Digital (1 of 7)</vt:lpstr>
      <vt:lpstr>Analog vs. Digital (2 of 7)</vt:lpstr>
      <vt:lpstr>Analog vs. Digital (3 of 7)</vt:lpstr>
      <vt:lpstr>Analog vs. Digital (4 of 7)</vt:lpstr>
      <vt:lpstr>Analog vs. Digital (5 of 7)</vt:lpstr>
      <vt:lpstr>Analog vs. Digital (6 of 7)</vt:lpstr>
      <vt:lpstr>Analog vs. Digital (7 of 7)</vt:lpstr>
      <vt:lpstr>Fundamentals of Signals</vt:lpstr>
      <vt:lpstr>Fundamentals of Signals – Amplitude (1 of 2)</vt:lpstr>
      <vt:lpstr>Fundamentals of Signals – Amplitude (2 of 2)</vt:lpstr>
      <vt:lpstr>Fundamentals of Signals – Frequency (1 of 2)</vt:lpstr>
      <vt:lpstr>Fundamentals of Signals – Frequency (2 of 2)</vt:lpstr>
      <vt:lpstr>Fundamentals of Signals – Phase (1 of 2)</vt:lpstr>
      <vt:lpstr>Fundamentals of Signals – Phase (2 of 2)</vt:lpstr>
      <vt:lpstr>Fundamentals of Signals - Phase (2 of 2)</vt:lpstr>
      <vt:lpstr>Loss of Signal Strength (1 of 4)</vt:lpstr>
      <vt:lpstr>Loss of Signal Strength (2 of 4)</vt:lpstr>
      <vt:lpstr>Loss of Signal Strength (3 of 4)</vt:lpstr>
      <vt:lpstr>Loss of Signal Strength (4 of 4)</vt:lpstr>
      <vt:lpstr>Converting Data into Signals</vt:lpstr>
      <vt:lpstr>Transmitting Analog Data with Analog Signals (1 of 2)</vt:lpstr>
      <vt:lpstr>Transmitting Analog Data with Analog Signals (2 of 2)</vt:lpstr>
      <vt:lpstr>Transmitting Digital Data with Digital Signals: Digital Encoding Schemes</vt:lpstr>
      <vt:lpstr>Nonreturn to Zero Digital Encoding Schemes (1 of 2)</vt:lpstr>
      <vt:lpstr>Nonreturn to Zero Digital Encoding Schemes (2 of 2)</vt:lpstr>
      <vt:lpstr>Manchester Digital Encoding Schemes (1 of 2)</vt:lpstr>
      <vt:lpstr>Manchester Digital Encoding Schemes (2 of 2)</vt:lpstr>
      <vt:lpstr>4B/5B Digital Encoding Scheme (1 of 2)</vt:lpstr>
      <vt:lpstr>4B/5B Digital Encoding Scheme (2 of 2)</vt:lpstr>
      <vt:lpstr>Transmitting Digital Data with Discrete Analog Signals</vt:lpstr>
      <vt:lpstr>ASK - Amplitude Shift Keying (1 of 2)</vt:lpstr>
      <vt:lpstr>ASK - Amplitude Shift Keying (2 of 2)</vt:lpstr>
      <vt:lpstr>FSK - Frequency Shift Keying</vt:lpstr>
      <vt:lpstr>PSK - Phase Shift Keying (1 of 5)</vt:lpstr>
      <vt:lpstr>PSK - Phase Shift Keying (2 of 5)</vt:lpstr>
      <vt:lpstr>PSK - Phase Shift Keying (3 of 5)</vt:lpstr>
      <vt:lpstr>PSK - Phase Shift Keying (4 of 5)</vt:lpstr>
      <vt:lpstr>PSK - Phase Shift Keying (5 of 5)</vt:lpstr>
      <vt:lpstr>Transmitting Analog Data with Digital Signals</vt:lpstr>
      <vt:lpstr>PCM - Pulse Code Modulation (1 of 8)</vt:lpstr>
      <vt:lpstr>PCM - Pulse Code Modulation (2 of 8)</vt:lpstr>
      <vt:lpstr>PCM - Pulse Code Modulation (3 of 8)</vt:lpstr>
      <vt:lpstr>PCM - Pulse Code Modulation (4 of 8)</vt:lpstr>
      <vt:lpstr>PCM - Pulse Code Modulation (5 of 8)</vt:lpstr>
      <vt:lpstr>PCM - Pulse Code Modulation (6 of 8)</vt:lpstr>
      <vt:lpstr>PCM - Pulse Code Modulation (7 of 8)</vt:lpstr>
      <vt:lpstr>PCM - Pulse Code Modulation (8 of 8)</vt:lpstr>
      <vt:lpstr>Delta Modulation (1 of 2)</vt:lpstr>
      <vt:lpstr>Delta Modulation (2 of 2)</vt:lpstr>
      <vt:lpstr>The Relationship Between Frequency and Bits Per Second (1 of 2)</vt:lpstr>
      <vt:lpstr>The Relationship Between Frequency and Bits Per Second (2 of 2)</vt:lpstr>
      <vt:lpstr>Characters and Codes</vt:lpstr>
      <vt:lpstr>ASCII (1 of 2)</vt:lpstr>
      <vt:lpstr>ASCII (2 of 2)</vt:lpstr>
      <vt:lpstr>Unicode (1 of 2)</vt:lpstr>
      <vt:lpstr>Unicode (2 of 2)</vt:lpstr>
      <vt:lpstr>Summary (1 of 3)</vt:lpstr>
      <vt:lpstr>Summary (2 of 3)</vt:lpstr>
      <vt:lpstr>Summary (3 of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creator>Chris Parent</dc:creator>
  <cp:lastModifiedBy>LAVANYA K Kasirajan</cp:lastModifiedBy>
  <cp:revision>15</cp:revision>
  <dcterms:created xsi:type="dcterms:W3CDTF">2019-11-14T21:20:16Z</dcterms:created>
  <dcterms:modified xsi:type="dcterms:W3CDTF">2022-03-25T11:42:29Z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y fmtid="{D5CDD505-2E9C-101B-9397-08002B2CF9AE}" pid="18" name="ArticulateGUID">
    <vt:lpwstr>882B0A74-05E6-4282-870A-0E327D36BB85</vt:lpwstr>
  </property>
  <property fmtid="{D5CDD505-2E9C-101B-9397-08002B2CF9AE}" pid="19" name="ArticulatePath">
    <vt:lpwstr>Chapter 3 Slides_SME</vt:lpwstr>
  </property>
</Properties>
</file>