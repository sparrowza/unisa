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tags/tag66.xml" ContentType="application/vnd.openxmlformats-officedocument.presentationml.tags+xml"/>
  <Override PartName="/ppt/notesSlides/notesSlide65.xml" ContentType="application/vnd.openxmlformats-officedocument.presentationml.notesSlide+xml"/>
  <Override PartName="/ppt/tags/tag67.xml" ContentType="application/vnd.openxmlformats-officedocument.presentationml.tags+xml"/>
  <Override PartName="/ppt/notesSlides/notesSlide66.xml" ContentType="application/vnd.openxmlformats-officedocument.presentationml.notesSlide+xml"/>
  <Override PartName="/ppt/tags/tag68.xml" ContentType="application/vnd.openxmlformats-officedocument.presentationml.tags+xml"/>
  <Override PartName="/ppt/notesSlides/notesSlide6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2000" cy="6858000"/>
  <p:notesSz cx="7010400" cy="9296400"/>
  <p:custDataLst>
    <p:tags r:id="rId7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9" roundtripDataSignature="AMtx7miHboazXj18FFdWML0V+vf0yAwaH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F17678-C7F2-676A-DCC8-1D962A3A436B}" name="Chris Parent" initials="CP" userId="f0181f24f314237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0" autoAdjust="0"/>
    <p:restoredTop sz="89925" autoAdjust="0"/>
  </p:normalViewPr>
  <p:slideViewPr>
    <p:cSldViewPr snapToGrid="0">
      <p:cViewPr varScale="1">
        <p:scale>
          <a:sx n="88" d="100"/>
          <a:sy n="88" d="100"/>
        </p:scale>
        <p:origin x="84" y="198"/>
      </p:cViewPr>
      <p:guideLst/>
    </p:cSldViewPr>
  </p:slideViewPr>
  <p:outlineViewPr>
    <p:cViewPr>
      <p:scale>
        <a:sx n="33" d="100"/>
        <a:sy n="33" d="100"/>
      </p:scale>
      <p:origin x="0" y="-3321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9" Type="http://customschemas.google.com/relationships/presentationmetadata" Target="meta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6434"/>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6434"/>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6433"/>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05" name="Google Shape;105;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13" name="Google Shape;113;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19" name="Google Shape;119;p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25" name="Google Shape;125;p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175d4069c2_0_13: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1" name="Google Shape;131;g1175d4069c2_0_1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175d4069c2_0_1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7" name="Google Shape;137;g1175d4069c2_0_1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43" name="Google Shape;143;p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175d4069c2_0_27: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49" name="Google Shape;149;g1175d4069c2_0_2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175d4069c2_0_32: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55" name="Google Shape;155;g1175d4069c2_0_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175d4069c2_0_3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61" name="Google Shape;161;g1175d4069c2_0_3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175d4069c2_0_1: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67" name="Google Shape;167;g1175d4069c2_0_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175d4069c2_0_54: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73" name="Google Shape;173;g1175d4069c2_0_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175d4069c2_0_46: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79" name="Google Shape;179;g1175d4069c2_0_4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175d4069c2_0_6: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85" name="Google Shape;185;g1175d4069c2_0_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91" name="Google Shape;191;p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97" name="Google Shape;197;p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03" name="Google Shape;203;p1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09" name="Google Shape;209;p1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15" name="Google Shape;215;p1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21" name="Google Shape;221;p1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27" name="Google Shape;227;p1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33" name="Google Shape;233;p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39" name="Google Shape;239;p1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45" name="Google Shape;245;p1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51" name="Google Shape;251;p1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57" name="Google Shape;257;p2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63" name="Google Shape;263;p2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69" name="Google Shape;269;p2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75" name="Google Shape;275;p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81" name="Google Shape;281;p2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87" name="Google Shape;287;p2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93" name="Google Shape;293;p2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99" name="Google Shape;299;p2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05" name="Google Shape;305;p2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12" name="Google Shape;312;p2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3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18" name="Google Shape;318;p3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24" name="Google Shape;324;p3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30" name="Google Shape;330;p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36" name="Google Shape;336;p3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42" name="Google Shape;342;p3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48" name="Google Shape;348;p3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54" name="Google Shape;354;p3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60" name="Google Shape;360;p3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66" name="Google Shape;366;p3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72" name="Google Shape;372;p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78" name="Google Shape;378;p4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4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84" name="Google Shape;384;p4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4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90" name="Google Shape;390;p4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4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96" name="Google Shape;396;p4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4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02" name="Google Shape;402;p4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4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08" name="Google Shape;408;p4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4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14" name="Google Shape;414;p4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4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20" name="Google Shape;420;p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4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26" name="Google Shape;426;p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32" name="Google Shape;432;p4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5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38" name="Google Shape;438;p5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5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44" name="Google Shape;444;p5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5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50" name="Google Shape;450;p5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5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56" name="Google Shape;456;p5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5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62" name="Google Shape;462;p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5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68" name="Google Shape;468;p5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74" name="Google Shape;474;p5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5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80" name="Google Shape;480;p5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5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86" name="Google Shape;486;p5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175d4069c2_0_80: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92" name="Google Shape;492;g1175d4069c2_0_8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6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98" name="Google Shape;498;p6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6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504" name="Google Shape;504;p6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hapter Slide">
  <p:cSld name="1_Chapter Slide">
    <p:spTree>
      <p:nvGrpSpPr>
        <p:cNvPr id="1" name="Shape 14"/>
        <p:cNvGrpSpPr/>
        <p:nvPr/>
      </p:nvGrpSpPr>
      <p:grpSpPr>
        <a:xfrm>
          <a:off x="0" y="0"/>
          <a:ext cx="0" cy="0"/>
          <a:chOff x="0" y="0"/>
          <a:chExt cx="0" cy="0"/>
        </a:xfrm>
      </p:grpSpPr>
      <p:pic>
        <p:nvPicPr>
          <p:cNvPr id="15" name="Google Shape;15;p63"/>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16" name="Google Shape;16;p63"/>
          <p:cNvSpPr txBox="1">
            <a:spLocks noGrp="1"/>
          </p:cNvSpPr>
          <p:nvPr>
            <p:ph type="body" idx="1"/>
          </p:nvPr>
        </p:nvSpPr>
        <p:spPr>
          <a:xfrm>
            <a:off x="5158065" y="3083849"/>
            <a:ext cx="5943392" cy="1343006"/>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lt1"/>
              </a:buClr>
              <a:buSzPts val="3600"/>
              <a:buNone/>
              <a:defRPr sz="36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63"/>
          <p:cNvSpPr txBox="1">
            <a:spLocks noGrp="1"/>
          </p:cNvSpPr>
          <p:nvPr>
            <p:ph type="title"/>
          </p:nvPr>
        </p:nvSpPr>
        <p:spPr>
          <a:xfrm>
            <a:off x="5158065" y="2006622"/>
            <a:ext cx="5045478" cy="86722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sz="40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 name="Google Shape;18;p63"/>
          <p:cNvSpPr>
            <a:spLocks noGrp="1"/>
          </p:cNvSpPr>
          <p:nvPr>
            <p:ph type="pic" idx="2"/>
          </p:nvPr>
        </p:nvSpPr>
        <p:spPr>
          <a:xfrm>
            <a:off x="246063" y="314482"/>
            <a:ext cx="3343275" cy="4318000"/>
          </a:xfrm>
          <a:prstGeom prst="rect">
            <a:avLst/>
          </a:prstGeom>
          <a:noFill/>
          <a:ln>
            <a:noFill/>
          </a:ln>
        </p:spPr>
      </p:sp>
      <p:pic>
        <p:nvPicPr>
          <p:cNvPr id="19" name="Google Shape;19;p63"/>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20" name="Google Shape;20;p63"/>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3"/>
          <p:cNvSpPr txBox="1">
            <a:spLocks noGrp="1"/>
          </p:cNvSpPr>
          <p:nvPr>
            <p:ph type="body" idx="3"/>
          </p:nvPr>
        </p:nvSpPr>
        <p:spPr>
          <a:xfrm>
            <a:off x="2909661" y="6356350"/>
            <a:ext cx="8815898" cy="36512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1800"/>
              <a:buNone/>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2"/>
        <p:cNvGrpSpPr/>
        <p:nvPr/>
      </p:nvGrpSpPr>
      <p:grpSpPr>
        <a:xfrm>
          <a:off x="0" y="0"/>
          <a:ext cx="0" cy="0"/>
          <a:chOff x="0" y="0"/>
          <a:chExt cx="0" cy="0"/>
        </a:xfrm>
      </p:grpSpPr>
      <p:sp>
        <p:nvSpPr>
          <p:cNvPr id="23" name="Google Shape;23;p6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 name="Google Shape;24;p64"/>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b="0" i="0">
                <a:solidFill>
                  <a:srgbClr val="000000"/>
                </a:solidFill>
                <a:latin typeface="Arial"/>
                <a:ea typeface="Arial"/>
                <a:cs typeface="Arial"/>
                <a:sym typeface="Arial"/>
              </a:defRPr>
            </a:lvl1pPr>
            <a:lvl2pPr marL="914400" lvl="1" indent="-381000" algn="l">
              <a:lnSpc>
                <a:spcPct val="100000"/>
              </a:lnSpc>
              <a:spcBef>
                <a:spcPts val="624"/>
              </a:spcBef>
              <a:spcAft>
                <a:spcPts val="0"/>
              </a:spcAft>
              <a:buClr>
                <a:srgbClr val="004A78"/>
              </a:buClr>
              <a:buSzPts val="2400"/>
              <a:buFont typeface="Arial"/>
              <a:buChar char="–"/>
              <a:defRPr>
                <a:solidFill>
                  <a:srgbClr val="000000"/>
                </a:solidFill>
                <a:latin typeface="Arial"/>
                <a:ea typeface="Arial"/>
                <a:cs typeface="Arial"/>
                <a:sym typeface="Arial"/>
              </a:defRPr>
            </a:lvl2pPr>
            <a:lvl3pPr marL="1371600" lvl="2" indent="-368300" algn="l">
              <a:lnSpc>
                <a:spcPct val="100000"/>
              </a:lnSpc>
              <a:spcBef>
                <a:spcPts val="624"/>
              </a:spcBef>
              <a:spcAft>
                <a:spcPts val="0"/>
              </a:spcAft>
              <a:buClr>
                <a:srgbClr val="000000"/>
              </a:buClr>
              <a:buSzPts val="2200"/>
              <a:buFont typeface="Noto Sans Symbols"/>
              <a:buChar char="▪"/>
              <a:defRPr sz="2200">
                <a:solidFill>
                  <a:srgbClr val="000000"/>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4"/>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26"/>
        <p:cNvGrpSpPr/>
        <p:nvPr/>
      </p:nvGrpSpPr>
      <p:grpSpPr>
        <a:xfrm>
          <a:off x="0" y="0"/>
          <a:ext cx="0" cy="0"/>
          <a:chOff x="0" y="0"/>
          <a:chExt cx="0" cy="0"/>
        </a:xfrm>
      </p:grpSpPr>
      <p:sp>
        <p:nvSpPr>
          <p:cNvPr id="27" name="Google Shape;27;p6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8" name="Google Shape;28;p65"/>
          <p:cNvSpPr txBox="1">
            <a:spLocks noGrp="1"/>
          </p:cNvSpPr>
          <p:nvPr>
            <p:ph type="body" idx="1"/>
          </p:nvPr>
        </p:nvSpPr>
        <p:spPr>
          <a:xfrm>
            <a:off x="743577" y="1289684"/>
            <a:ext cx="4606346" cy="4469766"/>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b="0" i="0">
                <a:solidFill>
                  <a:srgbClr val="000000"/>
                </a:solidFill>
                <a:latin typeface="Arial"/>
                <a:ea typeface="Arial"/>
                <a:cs typeface="Arial"/>
                <a:sym typeface="Arial"/>
              </a:defRPr>
            </a:lvl1pPr>
            <a:lvl2pPr marL="914400" lvl="1" indent="-381000" algn="l">
              <a:lnSpc>
                <a:spcPct val="100000"/>
              </a:lnSpc>
              <a:spcBef>
                <a:spcPts val="624"/>
              </a:spcBef>
              <a:spcAft>
                <a:spcPts val="0"/>
              </a:spcAft>
              <a:buClr>
                <a:srgbClr val="004A78"/>
              </a:buClr>
              <a:buSzPts val="2400"/>
              <a:buFont typeface="Arial"/>
              <a:buChar char="–"/>
              <a:defRPr>
                <a:solidFill>
                  <a:srgbClr val="000000"/>
                </a:solidFill>
                <a:latin typeface="Arial"/>
                <a:ea typeface="Arial"/>
                <a:cs typeface="Arial"/>
                <a:sym typeface="Arial"/>
              </a:defRPr>
            </a:lvl2pPr>
            <a:lvl3pPr marL="1371600" lvl="2" indent="-368300" algn="l">
              <a:lnSpc>
                <a:spcPct val="100000"/>
              </a:lnSpc>
              <a:spcBef>
                <a:spcPts val="624"/>
              </a:spcBef>
              <a:spcAft>
                <a:spcPts val="0"/>
              </a:spcAft>
              <a:buClr>
                <a:srgbClr val="000000"/>
              </a:buClr>
              <a:buSzPts val="2200"/>
              <a:buFont typeface="Arial"/>
              <a:buChar char="•"/>
              <a:defRPr sz="2200">
                <a:solidFill>
                  <a:srgbClr val="000000"/>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65"/>
          <p:cNvSpPr>
            <a:spLocks noGrp="1"/>
          </p:cNvSpPr>
          <p:nvPr>
            <p:ph type="pic" idx="2"/>
          </p:nvPr>
        </p:nvSpPr>
        <p:spPr>
          <a:xfrm>
            <a:off x="5813425" y="1289050"/>
            <a:ext cx="2947988" cy="1044575"/>
          </a:xfrm>
          <a:prstGeom prst="rect">
            <a:avLst/>
          </a:prstGeom>
          <a:noFill/>
          <a:ln>
            <a:noFill/>
          </a:ln>
        </p:spPr>
      </p:sp>
      <p:sp>
        <p:nvSpPr>
          <p:cNvPr id="30" name="Google Shape;30;p65"/>
          <p:cNvSpPr txBox="1">
            <a:spLocks noGrp="1"/>
          </p:cNvSpPr>
          <p:nvPr>
            <p:ph type="body" idx="3"/>
          </p:nvPr>
        </p:nvSpPr>
        <p:spPr>
          <a:xfrm>
            <a:off x="5813425" y="2586038"/>
            <a:ext cx="5540375" cy="1466850"/>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a:lvl1pPr>
            <a:lvl2pPr marL="914400" lvl="1" indent="-381000" algn="l">
              <a:lnSpc>
                <a:spcPct val="100000"/>
              </a:lnSpc>
              <a:spcBef>
                <a:spcPts val="624"/>
              </a:spcBef>
              <a:spcAft>
                <a:spcPts val="0"/>
              </a:spcAft>
              <a:buClr>
                <a:srgbClr val="000000"/>
              </a:buClr>
              <a:buSzPts val="2400"/>
              <a:buFont typeface="Arial"/>
              <a:buChar char="–"/>
              <a:defRPr>
                <a:solidFill>
                  <a:srgbClr val="000000"/>
                </a:solidFill>
              </a:defRPr>
            </a:lvl2pPr>
            <a:lvl3pPr marL="1371600" lvl="2" indent="-368300" algn="l">
              <a:lnSpc>
                <a:spcPct val="100000"/>
              </a:lnSpc>
              <a:spcBef>
                <a:spcPts val="624"/>
              </a:spcBef>
              <a:spcAft>
                <a:spcPts val="0"/>
              </a:spcAft>
              <a:buClr>
                <a:srgbClr val="000000"/>
              </a:buClr>
              <a:buSzPts val="2200"/>
              <a:buFont typeface="Noto Sans Symbols"/>
              <a:buChar char="▪"/>
              <a:defRPr sz="2200"/>
            </a:lvl3pPr>
            <a:lvl4pPr marL="1828800" lvl="3" indent="-342900" algn="l">
              <a:lnSpc>
                <a:spcPct val="100000"/>
              </a:lnSpc>
              <a:spcBef>
                <a:spcPts val="624"/>
              </a:spcBef>
              <a:spcAft>
                <a:spcPts val="0"/>
              </a:spcAft>
              <a:buClr>
                <a:srgbClr val="004A78"/>
              </a:buClr>
              <a:buSzPts val="1800"/>
              <a:buChar char="•"/>
              <a:defRPr/>
            </a:lvl4pPr>
            <a:lvl5pPr marL="2286000" lvl="4" indent="-342900" algn="l">
              <a:lnSpc>
                <a:spcPct val="100000"/>
              </a:lnSpc>
              <a:spcBef>
                <a:spcPts val="624"/>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65"/>
          <p:cNvSpPr>
            <a:spLocks noGrp="1"/>
          </p:cNvSpPr>
          <p:nvPr>
            <p:ph type="pic" idx="4"/>
          </p:nvPr>
        </p:nvSpPr>
        <p:spPr>
          <a:xfrm>
            <a:off x="5813425" y="4421188"/>
            <a:ext cx="2947988" cy="1235075"/>
          </a:xfrm>
          <a:prstGeom prst="rect">
            <a:avLst/>
          </a:prstGeom>
          <a:noFill/>
          <a:ln>
            <a:noFill/>
          </a:ln>
        </p:spPr>
      </p:sp>
      <p:sp>
        <p:nvSpPr>
          <p:cNvPr id="32" name="Google Shape;32;p65"/>
          <p:cNvSpPr>
            <a:spLocks noGrp="1"/>
          </p:cNvSpPr>
          <p:nvPr>
            <p:ph type="pic" idx="5"/>
          </p:nvPr>
        </p:nvSpPr>
        <p:spPr>
          <a:xfrm>
            <a:off x="6327775" y="5427663"/>
            <a:ext cx="1060450" cy="842962"/>
          </a:xfrm>
          <a:prstGeom prst="rect">
            <a:avLst/>
          </a:prstGeom>
          <a:noFill/>
          <a:ln>
            <a:noFill/>
          </a:ln>
        </p:spPr>
      </p:sp>
      <p:sp>
        <p:nvSpPr>
          <p:cNvPr id="33" name="Google Shape;33;p65"/>
          <p:cNvSpPr>
            <a:spLocks noGrp="1"/>
          </p:cNvSpPr>
          <p:nvPr>
            <p:ph type="pic" idx="6"/>
          </p:nvPr>
        </p:nvSpPr>
        <p:spPr>
          <a:xfrm>
            <a:off x="7902575" y="5427663"/>
            <a:ext cx="1211263" cy="946150"/>
          </a:xfrm>
          <a:prstGeom prst="rect">
            <a:avLst/>
          </a:prstGeom>
          <a:noFill/>
          <a:ln>
            <a:noFill/>
          </a:ln>
        </p:spPr>
      </p:sp>
      <p:sp>
        <p:nvSpPr>
          <p:cNvPr id="34" name="Google Shape;34;p65"/>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
        <p:nvSpPr>
          <p:cNvPr id="35" name="Google Shape;35;p65"/>
          <p:cNvSpPr txBox="1">
            <a:spLocks noGrp="1"/>
          </p:cNvSpPr>
          <p:nvPr>
            <p:ph type="body" idx="7"/>
          </p:nvPr>
        </p:nvSpPr>
        <p:spPr>
          <a:xfrm>
            <a:off x="10296525" y="1828800"/>
            <a:ext cx="835025" cy="117792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1800"/>
              <a:buNone/>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6"/>
        <p:cNvGrpSpPr/>
        <p:nvPr/>
      </p:nvGrpSpPr>
      <p:grpSpPr>
        <a:xfrm>
          <a:off x="0" y="0"/>
          <a:ext cx="0" cy="0"/>
          <a:chOff x="0" y="0"/>
          <a:chExt cx="0" cy="0"/>
        </a:xfrm>
      </p:grpSpPr>
      <p:pic>
        <p:nvPicPr>
          <p:cNvPr id="37" name="Google Shape;37;p66"/>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38" name="Google Shape;38;p66"/>
          <p:cNvSpPr txBox="1">
            <a:spLocks noGrp="1"/>
          </p:cNvSpPr>
          <p:nvPr>
            <p:ph type="title"/>
          </p:nvPr>
        </p:nvSpPr>
        <p:spPr>
          <a:xfrm>
            <a:off x="838200" y="2291187"/>
            <a:ext cx="10515600" cy="684026"/>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9" name="Google Shape;39;p66"/>
          <p:cNvSpPr txBox="1">
            <a:spLocks noGrp="1"/>
          </p:cNvSpPr>
          <p:nvPr>
            <p:ph type="body" idx="1"/>
          </p:nvPr>
        </p:nvSpPr>
        <p:spPr>
          <a:xfrm>
            <a:off x="4867275" y="3619985"/>
            <a:ext cx="2457450" cy="597477"/>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0" name="Google Shape;40;p66"/>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41" name="Google Shape;41;p66"/>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Unit Slide">
  <p:cSld name="Unit Slide">
    <p:spTree>
      <p:nvGrpSpPr>
        <p:cNvPr id="1" name="Shape 42"/>
        <p:cNvGrpSpPr/>
        <p:nvPr/>
      </p:nvGrpSpPr>
      <p:grpSpPr>
        <a:xfrm>
          <a:off x="0" y="0"/>
          <a:ext cx="0" cy="0"/>
          <a:chOff x="0" y="0"/>
          <a:chExt cx="0" cy="0"/>
        </a:xfrm>
      </p:grpSpPr>
      <p:pic>
        <p:nvPicPr>
          <p:cNvPr id="43" name="Google Shape;43;p67"/>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44" name="Google Shape;44;p67"/>
          <p:cNvSpPr txBox="1">
            <a:spLocks noGrp="1"/>
          </p:cNvSpPr>
          <p:nvPr>
            <p:ph type="body" idx="1"/>
          </p:nvPr>
        </p:nvSpPr>
        <p:spPr>
          <a:xfrm>
            <a:off x="1274574" y="2193424"/>
            <a:ext cx="9642852" cy="618014"/>
          </a:xfrm>
          <a:prstGeom prst="rect">
            <a:avLst/>
          </a:prstGeom>
          <a:noFill/>
          <a:ln>
            <a:noFill/>
          </a:ln>
        </p:spPr>
        <p:txBody>
          <a:bodyPr spcFirstLastPara="1" wrap="square" lIns="0" tIns="0" rIns="0" bIns="0" anchor="b" anchorCtr="0">
            <a:noAutofit/>
          </a:bodyPr>
          <a:lstStyle>
            <a:lvl1pPr marL="457200" lvl="0" indent="-228600" algn="ctr">
              <a:lnSpc>
                <a:spcPct val="90000"/>
              </a:lnSpc>
              <a:spcBef>
                <a:spcPts val="1000"/>
              </a:spcBef>
              <a:spcAft>
                <a:spcPts val="0"/>
              </a:spcAft>
              <a:buClr>
                <a:schemeClr val="lt1"/>
              </a:buClr>
              <a:buSzPts val="5000"/>
              <a:buNone/>
              <a:defRPr sz="50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7"/>
          <p:cNvSpPr txBox="1">
            <a:spLocks noGrp="1"/>
          </p:cNvSpPr>
          <p:nvPr>
            <p:ph type="title"/>
          </p:nvPr>
        </p:nvSpPr>
        <p:spPr>
          <a:xfrm>
            <a:off x="838200" y="3096122"/>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pic>
        <p:nvPicPr>
          <p:cNvPr id="46" name="Google Shape;46;p67"/>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47" name="Google Shape;47;p67"/>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pter Slide">
  <p:cSld name="Chapter Slide">
    <p:spTree>
      <p:nvGrpSpPr>
        <p:cNvPr id="1" name="Shape 48"/>
        <p:cNvGrpSpPr/>
        <p:nvPr/>
      </p:nvGrpSpPr>
      <p:grpSpPr>
        <a:xfrm>
          <a:off x="0" y="0"/>
          <a:ext cx="0" cy="0"/>
          <a:chOff x="0" y="0"/>
          <a:chExt cx="0" cy="0"/>
        </a:xfrm>
      </p:grpSpPr>
      <p:pic>
        <p:nvPicPr>
          <p:cNvPr id="49" name="Google Shape;49;p68"/>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50" name="Google Shape;50;p68"/>
          <p:cNvSpPr txBox="1">
            <a:spLocks noGrp="1"/>
          </p:cNvSpPr>
          <p:nvPr>
            <p:ph type="body" idx="1"/>
          </p:nvPr>
        </p:nvSpPr>
        <p:spPr>
          <a:xfrm>
            <a:off x="3996910" y="3112899"/>
            <a:ext cx="3297426" cy="618014"/>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lt1"/>
              </a:buClr>
              <a:buSzPts val="3600"/>
              <a:buNone/>
              <a:defRPr sz="36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68"/>
          <p:cNvSpPr txBox="1">
            <a:spLocks noGrp="1"/>
          </p:cNvSpPr>
          <p:nvPr>
            <p:ph type="title"/>
          </p:nvPr>
        </p:nvSpPr>
        <p:spPr>
          <a:xfrm>
            <a:off x="3996910" y="4035474"/>
            <a:ext cx="6402684" cy="672105"/>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2" name="Google Shape;52;p68"/>
          <p:cNvSpPr>
            <a:spLocks noGrp="1"/>
          </p:cNvSpPr>
          <p:nvPr>
            <p:ph type="pic" idx="2"/>
          </p:nvPr>
        </p:nvSpPr>
        <p:spPr>
          <a:xfrm>
            <a:off x="246063" y="314482"/>
            <a:ext cx="3343275" cy="4318000"/>
          </a:xfrm>
          <a:prstGeom prst="rect">
            <a:avLst/>
          </a:prstGeom>
          <a:noFill/>
          <a:ln>
            <a:noFill/>
          </a:ln>
        </p:spPr>
      </p:sp>
      <p:pic>
        <p:nvPicPr>
          <p:cNvPr id="53" name="Google Shape;53;p68"/>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54" name="Google Shape;54;p68"/>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Sections and Content">
  <p:cSld name="Two Sections and Content">
    <p:spTree>
      <p:nvGrpSpPr>
        <p:cNvPr id="1" name="Shape 55"/>
        <p:cNvGrpSpPr/>
        <p:nvPr/>
      </p:nvGrpSpPr>
      <p:grpSpPr>
        <a:xfrm>
          <a:off x="0" y="0"/>
          <a:ext cx="0" cy="0"/>
          <a:chOff x="0" y="0"/>
          <a:chExt cx="0" cy="0"/>
        </a:xfrm>
      </p:grpSpPr>
      <p:sp>
        <p:nvSpPr>
          <p:cNvPr id="56" name="Google Shape;56;p6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7" name="Google Shape;57;p69"/>
          <p:cNvSpPr txBox="1">
            <a:spLocks noGrp="1"/>
          </p:cNvSpPr>
          <p:nvPr>
            <p:ph type="body" idx="1"/>
          </p:nvPr>
        </p:nvSpPr>
        <p:spPr>
          <a:xfrm>
            <a:off x="743574" y="1290690"/>
            <a:ext cx="10711543" cy="34804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6298"/>
              </a:buClr>
              <a:buSzPts val="2400"/>
              <a:buNone/>
              <a:defRPr sz="2400" b="1" i="0">
                <a:solidFill>
                  <a:srgbClr val="006298"/>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69"/>
          <p:cNvSpPr txBox="1">
            <a:spLocks noGrp="1"/>
          </p:cNvSpPr>
          <p:nvPr>
            <p:ph type="body" idx="2"/>
          </p:nvPr>
        </p:nvSpPr>
        <p:spPr>
          <a:xfrm>
            <a:off x="740228" y="1737343"/>
            <a:ext cx="10711543" cy="1462674"/>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rgbClr val="000000"/>
              </a:buClr>
              <a:buSzPts val="2400"/>
              <a:buFont typeface="Arial"/>
              <a:buChar char="•"/>
              <a:defRPr sz="2400" b="0" i="0">
                <a:solidFill>
                  <a:srgbClr val="000000"/>
                </a:solidFill>
                <a:latin typeface="Arial"/>
                <a:ea typeface="Arial"/>
                <a:cs typeface="Arial"/>
                <a:sym typeface="Arial"/>
              </a:defRPr>
            </a:lvl1pPr>
            <a:lvl2pPr marL="914400" lvl="1" indent="-228600" algn="l">
              <a:lnSpc>
                <a:spcPct val="90000"/>
              </a:lnSpc>
              <a:spcBef>
                <a:spcPts val="500"/>
              </a:spcBef>
              <a:spcAft>
                <a:spcPts val="0"/>
              </a:spcAft>
              <a:buClr>
                <a:srgbClr val="000000"/>
              </a:buClr>
              <a:buSzPts val="2400"/>
              <a:buFont typeface="Arial"/>
              <a:buNone/>
              <a:defRPr>
                <a:solidFill>
                  <a:srgbClr val="000000"/>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69"/>
          <p:cNvSpPr txBox="1">
            <a:spLocks noGrp="1"/>
          </p:cNvSpPr>
          <p:nvPr>
            <p:ph type="body" idx="3"/>
          </p:nvPr>
        </p:nvSpPr>
        <p:spPr>
          <a:xfrm>
            <a:off x="743573" y="3389727"/>
            <a:ext cx="10711543" cy="34804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6298"/>
              </a:buClr>
              <a:buSzPts val="2400"/>
              <a:buNone/>
              <a:defRPr sz="2400" b="1" i="0">
                <a:solidFill>
                  <a:srgbClr val="006298"/>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69"/>
          <p:cNvSpPr txBox="1">
            <a:spLocks noGrp="1"/>
          </p:cNvSpPr>
          <p:nvPr>
            <p:ph type="body" idx="4"/>
          </p:nvPr>
        </p:nvSpPr>
        <p:spPr>
          <a:xfrm>
            <a:off x="743572" y="3856204"/>
            <a:ext cx="10711543" cy="146267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2400"/>
              <a:buNone/>
              <a:defRPr sz="2400" b="0" i="0">
                <a:solidFill>
                  <a:srgbClr val="000000"/>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69"/>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Comparison">
  <p:cSld name="Two Content Comparison">
    <p:spTree>
      <p:nvGrpSpPr>
        <p:cNvPr id="1" name="Shape 62"/>
        <p:cNvGrpSpPr/>
        <p:nvPr/>
      </p:nvGrpSpPr>
      <p:grpSpPr>
        <a:xfrm>
          <a:off x="0" y="0"/>
          <a:ext cx="0" cy="0"/>
          <a:chOff x="0" y="0"/>
          <a:chExt cx="0" cy="0"/>
        </a:xfrm>
      </p:grpSpPr>
      <p:sp>
        <p:nvSpPr>
          <p:cNvPr id="63" name="Google Shape;63;p7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4" name="Google Shape;64;p70"/>
          <p:cNvSpPr txBox="1">
            <a:spLocks noGrp="1"/>
          </p:cNvSpPr>
          <p:nvPr>
            <p:ph type="body" idx="1"/>
          </p:nvPr>
        </p:nvSpPr>
        <p:spPr>
          <a:xfrm>
            <a:off x="743576" y="1579015"/>
            <a:ext cx="5084468"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70"/>
          <p:cNvSpPr txBox="1">
            <a:spLocks noGrp="1"/>
          </p:cNvSpPr>
          <p:nvPr>
            <p:ph type="body" idx="2"/>
          </p:nvPr>
        </p:nvSpPr>
        <p:spPr>
          <a:xfrm>
            <a:off x="743576" y="2202774"/>
            <a:ext cx="5084468"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Font typeface="Arial"/>
              <a:buNone/>
              <a:defRPr sz="1800">
                <a:solidFill>
                  <a:srgbClr val="000000"/>
                </a:solidFill>
              </a:defRPr>
            </a:lvl1pPr>
            <a:lvl2pPr marL="914400" lvl="1" indent="-228600" algn="l">
              <a:lnSpc>
                <a:spcPct val="90000"/>
              </a:lnSpc>
              <a:spcBef>
                <a:spcPts val="500"/>
              </a:spcBef>
              <a:spcAft>
                <a:spcPts val="0"/>
              </a:spcAft>
              <a:buClr>
                <a:srgbClr val="004A78"/>
              </a:buClr>
              <a:buSzPts val="1800"/>
              <a:buFont typeface="Arial"/>
              <a:buNone/>
              <a:defRPr sz="1800">
                <a:solidFill>
                  <a:srgbClr val="000000"/>
                </a:solidFill>
              </a:defRPr>
            </a:lvl2pPr>
            <a:lvl3pPr marL="1371600" lvl="2" indent="-342900" algn="l">
              <a:lnSpc>
                <a:spcPct val="90000"/>
              </a:lnSpc>
              <a:spcBef>
                <a:spcPts val="500"/>
              </a:spcBef>
              <a:spcAft>
                <a:spcPts val="0"/>
              </a:spcAft>
              <a:buClr>
                <a:srgbClr val="004A78"/>
              </a:buClr>
              <a:buSzPts val="1800"/>
              <a:buFont typeface="Arial"/>
              <a:buChar char="•"/>
              <a:defRPr sz="1800">
                <a:solidFill>
                  <a:srgbClr val="000000"/>
                </a:solidFill>
              </a:defRPr>
            </a:lvl3pPr>
            <a:lvl4pPr marL="1828800" lvl="3" indent="-342900" algn="l">
              <a:lnSpc>
                <a:spcPct val="90000"/>
              </a:lnSpc>
              <a:spcBef>
                <a:spcPts val="500"/>
              </a:spcBef>
              <a:spcAft>
                <a:spcPts val="0"/>
              </a:spcAft>
              <a:buClr>
                <a:srgbClr val="004A78"/>
              </a:buClr>
              <a:buSzPts val="1800"/>
              <a:buFont typeface="Arial"/>
              <a:buChar char="•"/>
              <a:defRPr sz="1800">
                <a:solidFill>
                  <a:srgbClr val="000000"/>
                </a:solidFill>
              </a:defRPr>
            </a:lvl4pPr>
            <a:lvl5pPr marL="2286000" lvl="4" indent="-342900" algn="l">
              <a:lnSpc>
                <a:spcPct val="90000"/>
              </a:lnSpc>
              <a:spcBef>
                <a:spcPts val="500"/>
              </a:spcBef>
              <a:spcAft>
                <a:spcPts val="0"/>
              </a:spcAft>
              <a:buClr>
                <a:srgbClr val="004A78"/>
              </a:buClr>
              <a:buSzPts val="1800"/>
              <a:buFont typeface="Arial"/>
              <a:buChar char="•"/>
              <a:defRPr sz="1800">
                <a:solidFill>
                  <a:srgbClr val="00000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70"/>
          <p:cNvSpPr txBox="1">
            <a:spLocks noGrp="1"/>
          </p:cNvSpPr>
          <p:nvPr>
            <p:ph type="body" idx="3"/>
          </p:nvPr>
        </p:nvSpPr>
        <p:spPr>
          <a:xfrm>
            <a:off x="6370651" y="1579015"/>
            <a:ext cx="5084468"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70"/>
          <p:cNvSpPr txBox="1">
            <a:spLocks noGrp="1"/>
          </p:cNvSpPr>
          <p:nvPr>
            <p:ph type="body" idx="4"/>
          </p:nvPr>
        </p:nvSpPr>
        <p:spPr>
          <a:xfrm>
            <a:off x="6370651" y="2202774"/>
            <a:ext cx="5084468"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solidFill>
                  <a:srgbClr val="000000"/>
                </a:solidFill>
              </a:defRPr>
            </a:lvl2pPr>
            <a:lvl3pPr marL="1371600" lvl="2" indent="-342900" algn="l">
              <a:lnSpc>
                <a:spcPct val="90000"/>
              </a:lnSpc>
              <a:spcBef>
                <a:spcPts val="500"/>
              </a:spcBef>
              <a:spcAft>
                <a:spcPts val="0"/>
              </a:spcAft>
              <a:buClr>
                <a:srgbClr val="004A78"/>
              </a:buClr>
              <a:buSzPts val="1800"/>
              <a:buChar char="•"/>
              <a:defRPr sz="1800">
                <a:solidFill>
                  <a:srgbClr val="000000"/>
                </a:solidFill>
              </a:defRPr>
            </a:lvl3pPr>
            <a:lvl4pPr marL="1828800" lvl="3" indent="-342900" algn="l">
              <a:lnSpc>
                <a:spcPct val="90000"/>
              </a:lnSpc>
              <a:spcBef>
                <a:spcPts val="500"/>
              </a:spcBef>
              <a:spcAft>
                <a:spcPts val="0"/>
              </a:spcAft>
              <a:buClr>
                <a:srgbClr val="004A78"/>
              </a:buClr>
              <a:buSzPts val="1800"/>
              <a:buChar char="•"/>
              <a:defRPr sz="1800">
                <a:solidFill>
                  <a:srgbClr val="000000"/>
                </a:solidFill>
              </a:defRPr>
            </a:lvl4pPr>
            <a:lvl5pPr marL="2286000" lvl="4" indent="-342900" algn="l">
              <a:lnSpc>
                <a:spcPct val="90000"/>
              </a:lnSpc>
              <a:spcBef>
                <a:spcPts val="500"/>
              </a:spcBef>
              <a:spcAft>
                <a:spcPts val="0"/>
              </a:spcAft>
              <a:buClr>
                <a:srgbClr val="004A78"/>
              </a:buClr>
              <a:buSzPts val="1800"/>
              <a:buChar char="•"/>
              <a:defRPr sz="1800">
                <a:solidFill>
                  <a:srgbClr val="00000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70"/>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Comparison">
  <p:cSld name="Three Content Comparison">
    <p:spTree>
      <p:nvGrpSpPr>
        <p:cNvPr id="1" name="Shape 69"/>
        <p:cNvGrpSpPr/>
        <p:nvPr/>
      </p:nvGrpSpPr>
      <p:grpSpPr>
        <a:xfrm>
          <a:off x="0" y="0"/>
          <a:ext cx="0" cy="0"/>
          <a:chOff x="0" y="0"/>
          <a:chExt cx="0" cy="0"/>
        </a:xfrm>
      </p:grpSpPr>
      <p:sp>
        <p:nvSpPr>
          <p:cNvPr id="70" name="Google Shape;70;p7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1" name="Google Shape;71;p71"/>
          <p:cNvSpPr txBox="1">
            <a:spLocks noGrp="1"/>
          </p:cNvSpPr>
          <p:nvPr>
            <p:ph type="body" idx="1"/>
          </p:nvPr>
        </p:nvSpPr>
        <p:spPr>
          <a:xfrm>
            <a:off x="743576"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71"/>
          <p:cNvSpPr txBox="1">
            <a:spLocks noGrp="1"/>
          </p:cNvSpPr>
          <p:nvPr>
            <p:ph type="body" idx="2"/>
          </p:nvPr>
        </p:nvSpPr>
        <p:spPr>
          <a:xfrm>
            <a:off x="743576"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Font typeface="Arial"/>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71"/>
          <p:cNvSpPr txBox="1">
            <a:spLocks noGrp="1"/>
          </p:cNvSpPr>
          <p:nvPr>
            <p:ph type="body" idx="3"/>
          </p:nvPr>
        </p:nvSpPr>
        <p:spPr>
          <a:xfrm>
            <a:off x="4445799"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71"/>
          <p:cNvSpPr txBox="1">
            <a:spLocks noGrp="1"/>
          </p:cNvSpPr>
          <p:nvPr>
            <p:ph type="body" idx="4"/>
          </p:nvPr>
        </p:nvSpPr>
        <p:spPr>
          <a:xfrm>
            <a:off x="4445799"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71"/>
          <p:cNvSpPr txBox="1">
            <a:spLocks noGrp="1"/>
          </p:cNvSpPr>
          <p:nvPr>
            <p:ph type="body" idx="5"/>
          </p:nvPr>
        </p:nvSpPr>
        <p:spPr>
          <a:xfrm>
            <a:off x="8145953"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71"/>
          <p:cNvSpPr txBox="1">
            <a:spLocks noGrp="1"/>
          </p:cNvSpPr>
          <p:nvPr>
            <p:ph type="body" idx="6"/>
          </p:nvPr>
        </p:nvSpPr>
        <p:spPr>
          <a:xfrm>
            <a:off x="8154717"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1"/>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with Caption">
  <p:cSld name="Title and Content with Caption">
    <p:spTree>
      <p:nvGrpSpPr>
        <p:cNvPr id="1" name="Shape 78"/>
        <p:cNvGrpSpPr/>
        <p:nvPr/>
      </p:nvGrpSpPr>
      <p:grpSpPr>
        <a:xfrm>
          <a:off x="0" y="0"/>
          <a:ext cx="0" cy="0"/>
          <a:chOff x="0" y="0"/>
          <a:chExt cx="0" cy="0"/>
        </a:xfrm>
      </p:grpSpPr>
      <p:sp>
        <p:nvSpPr>
          <p:cNvPr id="79" name="Google Shape;79;p7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72"/>
          <p:cNvSpPr txBox="1">
            <a:spLocks noGrp="1"/>
          </p:cNvSpPr>
          <p:nvPr>
            <p:ph type="body" idx="1"/>
          </p:nvPr>
        </p:nvSpPr>
        <p:spPr>
          <a:xfrm>
            <a:off x="743576" y="1289684"/>
            <a:ext cx="10711543" cy="2750053"/>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2400"/>
              <a:buFont typeface="Arial"/>
              <a:buNone/>
              <a:defRPr sz="2400" b="0" i="0">
                <a:solidFill>
                  <a:srgbClr val="000000"/>
                </a:solidFill>
                <a:latin typeface="Arial"/>
                <a:ea typeface="Arial"/>
                <a:cs typeface="Arial"/>
                <a:sym typeface="Arial"/>
              </a:defRPr>
            </a:lvl1pPr>
            <a:lvl2pPr marL="914400" lvl="1" indent="-228600" algn="l">
              <a:lnSpc>
                <a:spcPct val="90000"/>
              </a:lnSpc>
              <a:spcBef>
                <a:spcPts val="500"/>
              </a:spcBef>
              <a:spcAft>
                <a:spcPts val="0"/>
              </a:spcAft>
              <a:buClr>
                <a:srgbClr val="000000"/>
              </a:buClr>
              <a:buSzPts val="2400"/>
              <a:buFont typeface="Arial"/>
              <a:buNone/>
              <a:defRPr>
                <a:solidFill>
                  <a:srgbClr val="000000"/>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72"/>
          <p:cNvSpPr txBox="1">
            <a:spLocks noGrp="1"/>
          </p:cNvSpPr>
          <p:nvPr>
            <p:ph type="body" idx="2"/>
          </p:nvPr>
        </p:nvSpPr>
        <p:spPr>
          <a:xfrm>
            <a:off x="740228" y="4846655"/>
            <a:ext cx="10711543" cy="8255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rgbClr val="006298"/>
              </a:buClr>
              <a:buSzPts val="1800"/>
              <a:buFont typeface="Arial"/>
              <a:buNone/>
              <a:defRPr sz="1800">
                <a:solidFill>
                  <a:srgbClr val="006298"/>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72"/>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 and Caption">
  <p:cSld name="Image and Caption">
    <p:spTree>
      <p:nvGrpSpPr>
        <p:cNvPr id="1" name="Shape 83"/>
        <p:cNvGrpSpPr/>
        <p:nvPr/>
      </p:nvGrpSpPr>
      <p:grpSpPr>
        <a:xfrm>
          <a:off x="0" y="0"/>
          <a:ext cx="0" cy="0"/>
          <a:chOff x="0" y="0"/>
          <a:chExt cx="0" cy="0"/>
        </a:xfrm>
      </p:grpSpPr>
      <p:sp>
        <p:nvSpPr>
          <p:cNvPr id="84" name="Google Shape;84;p7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5" name="Google Shape;85;p73"/>
          <p:cNvSpPr>
            <a:spLocks noGrp="1"/>
          </p:cNvSpPr>
          <p:nvPr>
            <p:ph type="pic" idx="2"/>
          </p:nvPr>
        </p:nvSpPr>
        <p:spPr>
          <a:xfrm>
            <a:off x="733118" y="1619557"/>
            <a:ext cx="6477000" cy="4259263"/>
          </a:xfrm>
          <a:prstGeom prst="rect">
            <a:avLst/>
          </a:prstGeom>
          <a:noFill/>
          <a:ln>
            <a:noFill/>
          </a:ln>
        </p:spPr>
      </p:sp>
      <p:sp>
        <p:nvSpPr>
          <p:cNvPr id="86" name="Google Shape;86;p73"/>
          <p:cNvSpPr txBox="1">
            <a:spLocks noGrp="1"/>
          </p:cNvSpPr>
          <p:nvPr>
            <p:ph type="body" idx="1"/>
          </p:nvPr>
        </p:nvSpPr>
        <p:spPr>
          <a:xfrm>
            <a:off x="7478972" y="4070657"/>
            <a:ext cx="3976406" cy="180816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rgbClr val="006298"/>
              </a:buClr>
              <a:buSzPts val="1800"/>
              <a:buFont typeface="Arial"/>
              <a:buNone/>
              <a:defRPr sz="1800">
                <a:solidFill>
                  <a:srgbClr val="006298"/>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73"/>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ulleted List">
  <p:cSld name="Bulleted List">
    <p:spTree>
      <p:nvGrpSpPr>
        <p:cNvPr id="1" name="Shape 88"/>
        <p:cNvGrpSpPr/>
        <p:nvPr/>
      </p:nvGrpSpPr>
      <p:grpSpPr>
        <a:xfrm>
          <a:off x="0" y="0"/>
          <a:ext cx="0" cy="0"/>
          <a:chOff x="0" y="0"/>
          <a:chExt cx="0" cy="0"/>
        </a:xfrm>
      </p:grpSpPr>
      <p:sp>
        <p:nvSpPr>
          <p:cNvPr id="89" name="Google Shape;89;p7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0" name="Google Shape;90;p74"/>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Arial"/>
              <a:buChar char="•"/>
              <a:defRPr sz="2000">
                <a:solidFill>
                  <a:srgbClr val="000000"/>
                </a:solidFill>
              </a:defRPr>
            </a:lvl1pPr>
            <a:lvl2pPr marL="914400" marR="0" lvl="1" indent="-355600" algn="l">
              <a:lnSpc>
                <a:spcPct val="90000"/>
              </a:lnSpc>
              <a:spcBef>
                <a:spcPts val="500"/>
              </a:spcBef>
              <a:spcAft>
                <a:spcPts val="0"/>
              </a:spcAft>
              <a:buClr>
                <a:srgbClr val="FF6300"/>
              </a:buClr>
              <a:buSzPts val="2000"/>
              <a:buFont typeface="Arial"/>
              <a:buChar char="•"/>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74"/>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ed List">
  <p:cSld name="Numbered List">
    <p:spTree>
      <p:nvGrpSpPr>
        <p:cNvPr id="1" name="Shape 92"/>
        <p:cNvGrpSpPr/>
        <p:nvPr/>
      </p:nvGrpSpPr>
      <p:grpSpPr>
        <a:xfrm>
          <a:off x="0" y="0"/>
          <a:ext cx="0" cy="0"/>
          <a:chOff x="0" y="0"/>
          <a:chExt cx="0" cy="0"/>
        </a:xfrm>
      </p:grpSpPr>
      <p:sp>
        <p:nvSpPr>
          <p:cNvPr id="93" name="Google Shape;93;p7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4" name="Google Shape;94;p75"/>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Calibri"/>
              <a:buAutoNum type="arabicPeriod"/>
              <a:defRPr sz="2000">
                <a:solidFill>
                  <a:srgbClr val="000000"/>
                </a:solidFill>
              </a:defRPr>
            </a:lvl1pPr>
            <a:lvl2pPr marL="914400" marR="0" lvl="1" indent="-228600" algn="l">
              <a:lnSpc>
                <a:spcPct val="90000"/>
              </a:lnSpc>
              <a:spcBef>
                <a:spcPts val="500"/>
              </a:spcBef>
              <a:spcAft>
                <a:spcPts val="0"/>
              </a:spcAft>
              <a:buClr>
                <a:srgbClr val="006298"/>
              </a:buClr>
              <a:buSzPts val="2000"/>
              <a:buFont typeface="Arial"/>
              <a:buNone/>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75"/>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ullets">
  <p:cSld name="Title and Bullets">
    <p:spTree>
      <p:nvGrpSpPr>
        <p:cNvPr id="1" name="Shape 96"/>
        <p:cNvGrpSpPr/>
        <p:nvPr/>
      </p:nvGrpSpPr>
      <p:grpSpPr>
        <a:xfrm>
          <a:off x="0" y="0"/>
          <a:ext cx="0" cy="0"/>
          <a:chOff x="0" y="0"/>
          <a:chExt cx="0" cy="0"/>
        </a:xfrm>
      </p:grpSpPr>
      <p:sp>
        <p:nvSpPr>
          <p:cNvPr id="97" name="Google Shape;97;p7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76"/>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Arial"/>
              <a:buChar char="•"/>
              <a:defRPr sz="2000">
                <a:solidFill>
                  <a:srgbClr val="004A78"/>
                </a:solidFill>
              </a:defRPr>
            </a:lvl1pPr>
            <a:lvl2pPr marL="914400" marR="0" lvl="1" indent="-355600" algn="l">
              <a:lnSpc>
                <a:spcPct val="90000"/>
              </a:lnSpc>
              <a:spcBef>
                <a:spcPts val="500"/>
              </a:spcBef>
              <a:spcAft>
                <a:spcPts val="0"/>
              </a:spcAft>
              <a:buClr>
                <a:srgbClr val="006298"/>
              </a:buClr>
              <a:buSzPts val="2000"/>
              <a:buFont typeface="Arial"/>
              <a:buChar char="•"/>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76"/>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100"/>
        <p:cNvGrpSpPr/>
        <p:nvPr/>
      </p:nvGrpSpPr>
      <p:grpSpPr>
        <a:xfrm>
          <a:off x="0" y="0"/>
          <a:ext cx="0" cy="0"/>
          <a:chOff x="0" y="0"/>
          <a:chExt cx="0" cy="0"/>
        </a:xfrm>
      </p:grpSpPr>
      <p:sp>
        <p:nvSpPr>
          <p:cNvPr id="101" name="Google Shape;101;p7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2" name="Google Shape;102;p77"/>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marR="0" lvl="0" algn="ctr" rtl="0">
              <a:lnSpc>
                <a:spcPct val="90000"/>
              </a:lnSpc>
              <a:spcBef>
                <a:spcPts val="0"/>
              </a:spcBef>
              <a:spcAft>
                <a:spcPts val="0"/>
              </a:spcAft>
              <a:buSzPts val="1400"/>
              <a:buNone/>
              <a:defRPr sz="3400" b="1" i="0" u="none" strike="noStrike" cap="none">
                <a:solidFill>
                  <a:srgbClr val="004A78"/>
                </a:solidFill>
                <a:latin typeface="Arial"/>
                <a:ea typeface="Arial"/>
                <a:cs typeface="Arial"/>
                <a:sym typeface="Arial"/>
              </a:defRPr>
            </a:lvl1pPr>
            <a:lvl2pPr marR="0" lvl="1"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2pPr>
            <a:lvl3pPr marR="0" lvl="2"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3pPr>
            <a:lvl4pPr marR="0" lvl="3"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4pPr>
            <a:lvl5pPr marR="0" lvl="4"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5pPr>
            <a:lvl6pPr marR="0" lvl="5"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6pPr>
            <a:lvl7pPr marR="0" lvl="6"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7pPr>
            <a:lvl8pPr marR="0" lvl="7"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8pPr>
            <a:lvl9pPr marR="0" lvl="8"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9pPr>
          </a:lstStyle>
          <a:p>
            <a:endParaRPr/>
          </a:p>
        </p:txBody>
      </p:sp>
      <p:sp>
        <p:nvSpPr>
          <p:cNvPr id="11" name="Google Shape;11;p62"/>
          <p:cNvSpPr txBox="1">
            <a:spLocks noGrp="1"/>
          </p:cNvSpPr>
          <p:nvPr>
            <p:ph type="body" idx="1"/>
          </p:nvPr>
        </p:nvSpPr>
        <p:spPr>
          <a:xfrm>
            <a:off x="838200" y="1825625"/>
            <a:ext cx="10515600" cy="4351338"/>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L="914400" marR="0" lvl="1" indent="-381000" algn="l" rtl="0">
              <a:lnSpc>
                <a:spcPct val="90000"/>
              </a:lnSpc>
              <a:spcBef>
                <a:spcPts val="500"/>
              </a:spcBef>
              <a:spcAft>
                <a:spcPts val="0"/>
              </a:spcAft>
              <a:buClr>
                <a:srgbClr val="004A78"/>
              </a:buClr>
              <a:buSzPts val="2400"/>
              <a:buFont typeface="Arial"/>
              <a:buChar char="•"/>
              <a:defRPr sz="2400" b="0" i="0" u="none" strike="noStrike" cap="none">
                <a:solidFill>
                  <a:srgbClr val="004A78"/>
                </a:solidFill>
                <a:latin typeface="Arial"/>
                <a:ea typeface="Arial"/>
                <a:cs typeface="Arial"/>
                <a:sym typeface="Arial"/>
              </a:defRPr>
            </a:lvl2pPr>
            <a:lvl3pPr marL="1371600" marR="0" lvl="2" indent="-355600" algn="l" rtl="0">
              <a:lnSpc>
                <a:spcPct val="90000"/>
              </a:lnSpc>
              <a:spcBef>
                <a:spcPts val="500"/>
              </a:spcBef>
              <a:spcAft>
                <a:spcPts val="0"/>
              </a:spcAft>
              <a:buClr>
                <a:srgbClr val="004A78"/>
              </a:buClr>
              <a:buSzPts val="2000"/>
              <a:buFont typeface="Arial"/>
              <a:buChar char="•"/>
              <a:defRPr sz="2000" b="0" i="0" u="none" strike="noStrike" cap="none">
                <a:solidFill>
                  <a:srgbClr val="004A78"/>
                </a:solidFill>
                <a:latin typeface="Arial"/>
                <a:ea typeface="Arial"/>
                <a:cs typeface="Arial"/>
                <a:sym typeface="Arial"/>
              </a:defRPr>
            </a:lvl3pPr>
            <a:lvl4pPr marL="1828800" marR="0" lvl="3" indent="-342900" algn="l" rtl="0">
              <a:lnSpc>
                <a:spcPct val="90000"/>
              </a:lnSpc>
              <a:spcBef>
                <a:spcPts val="500"/>
              </a:spcBef>
              <a:spcAft>
                <a:spcPts val="0"/>
              </a:spcAft>
              <a:buClr>
                <a:srgbClr val="004A78"/>
              </a:buClr>
              <a:buSzPts val="1800"/>
              <a:buFont typeface="Arial"/>
              <a:buChar char="•"/>
              <a:defRPr sz="1800" b="0" i="0" u="none" strike="noStrike" cap="none">
                <a:solidFill>
                  <a:srgbClr val="004A78"/>
                </a:solidFill>
                <a:latin typeface="Arial"/>
                <a:ea typeface="Arial"/>
                <a:cs typeface="Arial"/>
                <a:sym typeface="Arial"/>
              </a:defRPr>
            </a:lvl4pPr>
            <a:lvl5pPr marL="2286000" marR="0" lvl="4" indent="-342900" algn="l" rtl="0">
              <a:lnSpc>
                <a:spcPct val="90000"/>
              </a:lnSpc>
              <a:spcBef>
                <a:spcPts val="500"/>
              </a:spcBef>
              <a:spcAft>
                <a:spcPts val="0"/>
              </a:spcAft>
              <a:buClr>
                <a:srgbClr val="004A78"/>
              </a:buClr>
              <a:buSzPts val="1800"/>
              <a:buFont typeface="Arial"/>
              <a:buChar char="•"/>
              <a:defRPr sz="1800" b="0" i="0" u="none" strike="noStrike" cap="none">
                <a:solidFill>
                  <a:srgbClr val="004A78"/>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2" name="Google Shape;12;p62"/>
          <p:cNvPicPr preferRelativeResize="0"/>
          <p:nvPr/>
        </p:nvPicPr>
        <p:blipFill rotWithShape="1">
          <a:blip r:embed="rId17">
            <a:alphaModFix/>
          </a:blip>
          <a:srcRect/>
          <a:stretch/>
        </p:blipFill>
        <p:spPr>
          <a:xfrm>
            <a:off x="476843" y="6356350"/>
            <a:ext cx="1579562" cy="354013"/>
          </a:xfrm>
          <a:prstGeom prst="rect">
            <a:avLst/>
          </a:prstGeom>
          <a:noFill/>
          <a:ln>
            <a:noFill/>
          </a:ln>
        </p:spPr>
      </p:pic>
      <p:sp>
        <p:nvSpPr>
          <p:cNvPr id="13" name="Google Shape;13;p62"/>
          <p:cNvSpPr txBox="1">
            <a:spLocks noGrp="1"/>
          </p:cNvSpPr>
          <p:nvPr>
            <p:ph type="ftr" idx="11"/>
          </p:nvPr>
        </p:nvSpPr>
        <p:spPr>
          <a:xfrm>
            <a:off x="2934268" y="6356350"/>
            <a:ext cx="880166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rgbClr val="00629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19.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31.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32.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xml"/><Relationship Id="rId1" Type="http://schemas.openxmlformats.org/officeDocument/2006/relationships/tags" Target="../tags/tag45.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3.xml"/><Relationship Id="rId1" Type="http://schemas.openxmlformats.org/officeDocument/2006/relationships/tags" Target="../tags/tag47.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xml"/><Relationship Id="rId1" Type="http://schemas.openxmlformats.org/officeDocument/2006/relationships/tags" Target="../tags/tag49.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xml"/><Relationship Id="rId1" Type="http://schemas.openxmlformats.org/officeDocument/2006/relationships/tags" Target="../tags/tag50.xm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tags" Target="../tags/tag53.xml"/><Relationship Id="rId4" Type="http://schemas.openxmlformats.org/officeDocument/2006/relationships/image" Target="../media/image21.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xml"/><Relationship Id="rId1" Type="http://schemas.openxmlformats.org/officeDocument/2006/relationships/tags" Target="../tags/tag55.xml"/><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3.xml"/><Relationship Id="rId1" Type="http://schemas.openxmlformats.org/officeDocument/2006/relationships/tags" Target="../tags/tag57.xml"/><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3.xml"/><Relationship Id="rId1" Type="http://schemas.openxmlformats.org/officeDocument/2006/relationships/tags" Target="../tags/tag61.xml"/><Relationship Id="rId4" Type="http://schemas.openxmlformats.org/officeDocument/2006/relationships/image" Target="../media/image24.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
          <p:cNvSpPr txBox="1">
            <a:spLocks noGrp="1"/>
          </p:cNvSpPr>
          <p:nvPr>
            <p:ph type="title"/>
          </p:nvPr>
        </p:nvSpPr>
        <p:spPr>
          <a:xfrm>
            <a:off x="5892167" y="1805383"/>
            <a:ext cx="5550026" cy="1269698"/>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a:t>Chapter 4</a:t>
            </a:r>
            <a:endParaRPr/>
          </a:p>
        </p:txBody>
      </p:sp>
      <p:pic>
        <p:nvPicPr>
          <p:cNvPr id="108" name="Google Shape;108;p1" descr="Book Cover - Data Communications and Computer Networks: A Business User's Approach"/>
          <p:cNvPicPr preferRelativeResize="0">
            <a:picLocks noGrp="1"/>
          </p:cNvPicPr>
          <p:nvPr>
            <p:ph type="pic" idx="2"/>
          </p:nvPr>
        </p:nvPicPr>
        <p:blipFill rotWithShape="1">
          <a:blip r:embed="rId4">
            <a:alphaModFix/>
          </a:blip>
          <a:srcRect/>
          <a:stretch/>
        </p:blipFill>
        <p:spPr>
          <a:xfrm>
            <a:off x="0" y="0"/>
            <a:ext cx="4786645" cy="6125029"/>
          </a:xfrm>
          <a:prstGeom prst="rect">
            <a:avLst/>
          </a:prstGeom>
          <a:noFill/>
          <a:ln>
            <a:noFill/>
          </a:ln>
        </p:spPr>
      </p:pic>
      <p:sp>
        <p:nvSpPr>
          <p:cNvPr id="109" name="Google Shape;109;p1"/>
          <p:cNvSpPr txBox="1">
            <a:spLocks noGrp="1"/>
          </p:cNvSpPr>
          <p:nvPr>
            <p:ph type="body" idx="1"/>
          </p:nvPr>
        </p:nvSpPr>
        <p:spPr>
          <a:xfrm>
            <a:off x="5799657" y="3168913"/>
            <a:ext cx="5943394" cy="1343006"/>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chemeClr val="lt1"/>
              </a:buClr>
              <a:buSzPts val="2800"/>
              <a:buFont typeface="Arial"/>
              <a:buNone/>
            </a:pPr>
            <a:r>
              <a:rPr lang="en-US" sz="2800"/>
              <a:t>Frames and Errors</a:t>
            </a:r>
            <a:endParaRPr/>
          </a:p>
        </p:txBody>
      </p:sp>
      <p:sp>
        <p:nvSpPr>
          <p:cNvPr id="110" name="Google Shape;110;p1"/>
          <p:cNvSpPr txBox="1">
            <a:spLocks noGrp="1"/>
          </p:cNvSpPr>
          <p:nvPr>
            <p:ph type="body" idx="3"/>
          </p:nvPr>
        </p:nvSpPr>
        <p:spPr>
          <a:xfrm>
            <a:off x="2615881" y="6423442"/>
            <a:ext cx="9456516" cy="3651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lt1"/>
              </a:buClr>
              <a:buSzPts val="1100"/>
              <a:buNone/>
            </a:pPr>
            <a:r>
              <a:rPr lang="en-US" sz="1100">
                <a:solidFill>
                  <a:schemeClr val="lt1"/>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
          <p:cNvSpPr txBox="1">
            <a:spLocks noGrp="1"/>
          </p:cNvSpPr>
          <p:nvPr>
            <p:ph type="title"/>
          </p:nvPr>
        </p:nvSpPr>
        <p:spPr>
          <a:xfrm>
            <a:off x="1750711" y="365125"/>
            <a:ext cx="8690578"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After reading this chapter, you should be able to:</a:t>
            </a:r>
            <a:endParaRPr dirty="0"/>
          </a:p>
        </p:txBody>
      </p:sp>
      <p:sp>
        <p:nvSpPr>
          <p:cNvPr id="116" name="Google Shape;116;p2"/>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SzPts val="2600"/>
              <a:buChar char="•"/>
            </a:pPr>
            <a:r>
              <a:rPr lang="en-US"/>
              <a:t>Explain the components of data link layer frames</a:t>
            </a:r>
            <a:endParaRPr/>
          </a:p>
          <a:p>
            <a:pPr marL="457200" lvl="0" indent="-457200" algn="l" rtl="0">
              <a:lnSpc>
                <a:spcPct val="100000"/>
              </a:lnSpc>
              <a:spcBef>
                <a:spcPts val="624"/>
              </a:spcBef>
              <a:spcAft>
                <a:spcPts val="0"/>
              </a:spcAft>
              <a:buSzPts val="2600"/>
              <a:buChar char="•"/>
            </a:pPr>
            <a:r>
              <a:rPr lang="en-US"/>
              <a:t>Identify types of network noise that cause transmission errors</a:t>
            </a:r>
            <a:endParaRPr/>
          </a:p>
          <a:p>
            <a:pPr marL="457200" lvl="0" indent="-457200" algn="l" rtl="0">
              <a:lnSpc>
                <a:spcPct val="100000"/>
              </a:lnSpc>
              <a:spcBef>
                <a:spcPts val="624"/>
              </a:spcBef>
              <a:spcAft>
                <a:spcPts val="0"/>
              </a:spcAft>
              <a:buSzPts val="2600"/>
              <a:buChar char="•"/>
            </a:pPr>
            <a:r>
              <a:rPr lang="en-US"/>
              <a:t>Describe the strengths and limitations of various error detection techniques</a:t>
            </a:r>
            <a:endParaRPr/>
          </a:p>
          <a:p>
            <a:pPr marL="457200" lvl="0" indent="-457200" algn="l" rtl="0">
              <a:lnSpc>
                <a:spcPct val="100000"/>
              </a:lnSpc>
              <a:spcBef>
                <a:spcPts val="624"/>
              </a:spcBef>
              <a:spcAft>
                <a:spcPts val="0"/>
              </a:spcAft>
              <a:buSzPts val="2600"/>
              <a:buChar char="•"/>
            </a:pPr>
            <a:r>
              <a:rPr lang="en-US"/>
              <a:t>Compare error control techniques and appropriate uses of each type</a:t>
            </a:r>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a:t>Introduction</a:t>
            </a:r>
            <a:endParaRPr/>
          </a:p>
        </p:txBody>
      </p:sp>
      <p:sp>
        <p:nvSpPr>
          <p:cNvPr id="122" name="Google Shape;122;p4"/>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Interface standards define the physical connection between devices, a.k.a., data link connections</a:t>
            </a:r>
            <a:endParaRPr dirty="0"/>
          </a:p>
          <a:p>
            <a:pPr marL="457200" lvl="0" indent="-457200" algn="l" rtl="0">
              <a:lnSpc>
                <a:spcPct val="100000"/>
              </a:lnSpc>
              <a:spcBef>
                <a:spcPts val="0"/>
              </a:spcBef>
              <a:spcAft>
                <a:spcPts val="0"/>
              </a:spcAft>
              <a:buClr>
                <a:srgbClr val="004A78"/>
              </a:buClr>
              <a:buSzPts val="2600"/>
              <a:buFont typeface="Arial"/>
              <a:buChar char="•"/>
            </a:pPr>
            <a:r>
              <a:rPr lang="en-US" dirty="0"/>
              <a:t>Data link connections are defined through the specification of </a:t>
            </a:r>
            <a:r>
              <a:rPr lang="en-US" b="1" dirty="0"/>
              <a:t>Data Link Frames</a:t>
            </a:r>
            <a:endParaRPr b="1" dirty="0"/>
          </a:p>
          <a:p>
            <a:pPr marL="457200" lvl="0" indent="-457200" algn="l" rtl="0">
              <a:lnSpc>
                <a:spcPct val="100000"/>
              </a:lnSpc>
              <a:spcBef>
                <a:spcPts val="0"/>
              </a:spcBef>
              <a:spcAft>
                <a:spcPts val="0"/>
              </a:spcAft>
              <a:buClr>
                <a:srgbClr val="004A78"/>
              </a:buClr>
              <a:buSzPts val="2600"/>
              <a:buFont typeface="Arial"/>
              <a:buChar char="•"/>
            </a:pPr>
            <a:r>
              <a:rPr lang="en-US" dirty="0"/>
              <a:t>Every time a data link frame is transmitted, </a:t>
            </a:r>
            <a:r>
              <a:rPr lang="en-US" b="1" dirty="0"/>
              <a:t>errors</a:t>
            </a:r>
            <a:r>
              <a:rPr lang="en-US" dirty="0"/>
              <a:t> can occur (frequently due to </a:t>
            </a:r>
            <a:r>
              <a:rPr lang="en-US" b="1" dirty="0"/>
              <a:t>noise)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Communication systems should perform checks to </a:t>
            </a:r>
            <a:r>
              <a:rPr lang="en-US" b="1" dirty="0"/>
              <a:t>detect</a:t>
            </a:r>
            <a:r>
              <a:rPr lang="en-US" dirty="0"/>
              <a:t> transmission errors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Once an error is detected, a system may perform some form of error </a:t>
            </a:r>
            <a:r>
              <a:rPr lang="en-US" b="1" dirty="0"/>
              <a:t>control</a:t>
            </a:r>
            <a:endParaRPr b="1"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a:t>Data Link Responsibilities</a:t>
            </a:r>
            <a:endParaRPr/>
          </a:p>
        </p:txBody>
      </p:sp>
      <p:sp>
        <p:nvSpPr>
          <p:cNvPr id="128" name="Google Shape;128;p5"/>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A data link frame is like an "envelope" for the transmitted data</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Given the protocol, the data link frame has to inform</a:t>
            </a:r>
            <a:endParaRPr dirty="0"/>
          </a:p>
          <a:p>
            <a:pPr marL="900112" lvl="1" indent="-442912" algn="l" rtl="0">
              <a:lnSpc>
                <a:spcPct val="100000"/>
              </a:lnSpc>
              <a:spcBef>
                <a:spcPts val="624"/>
              </a:spcBef>
              <a:spcAft>
                <a:spcPts val="0"/>
              </a:spcAft>
              <a:buSzPts val="2400"/>
              <a:buChar char="–"/>
            </a:pPr>
            <a:r>
              <a:rPr lang="en-US" dirty="0"/>
              <a:t>which device the message is intended for</a:t>
            </a:r>
            <a:endParaRPr dirty="0"/>
          </a:p>
          <a:p>
            <a:pPr marL="900112" lvl="1" indent="-442912" algn="l" rtl="0">
              <a:lnSpc>
                <a:spcPct val="100000"/>
              </a:lnSpc>
              <a:spcBef>
                <a:spcPts val="624"/>
              </a:spcBef>
              <a:spcAft>
                <a:spcPts val="0"/>
              </a:spcAft>
              <a:buSzPts val="2400"/>
              <a:buChar char="–"/>
            </a:pPr>
            <a:r>
              <a:rPr lang="en-US" dirty="0"/>
              <a:t>what is the basic form of the data frame</a:t>
            </a:r>
            <a:endParaRPr dirty="0"/>
          </a:p>
          <a:p>
            <a:pPr marL="900112" lvl="1" indent="-442912" algn="l" rtl="0">
              <a:lnSpc>
                <a:spcPct val="100000"/>
              </a:lnSpc>
              <a:spcBef>
                <a:spcPts val="624"/>
              </a:spcBef>
              <a:spcAft>
                <a:spcPts val="0"/>
              </a:spcAft>
              <a:buSzPts val="2400"/>
              <a:buChar char="–"/>
            </a:pPr>
            <a:r>
              <a:rPr lang="en-US" dirty="0"/>
              <a:t>when the data can/will be sent </a:t>
            </a:r>
            <a:r>
              <a:rPr lang="en-US" sz="2600" dirty="0"/>
              <a:t>along the medium to avoid overlapping signals interfering with each other</a:t>
            </a:r>
            <a:endParaRPr sz="2600" dirty="0"/>
          </a:p>
          <a:p>
            <a:pPr marL="900112" lvl="1" indent="-455612" algn="l" rtl="0">
              <a:lnSpc>
                <a:spcPct val="100000"/>
              </a:lnSpc>
              <a:spcBef>
                <a:spcPts val="624"/>
              </a:spcBef>
              <a:spcAft>
                <a:spcPts val="0"/>
              </a:spcAft>
              <a:buSzPts val="2600"/>
              <a:buChar char="–"/>
            </a:pPr>
            <a:r>
              <a:rPr lang="en-US" sz="2600" dirty="0"/>
              <a:t>information to be able to detect/correct errors</a:t>
            </a:r>
            <a:endParaRPr sz="2600" dirty="0"/>
          </a:p>
          <a:p>
            <a:pPr marL="457200" lvl="0" indent="-457200" algn="l" rtl="0">
              <a:lnSpc>
                <a:spcPct val="100000"/>
              </a:lnSpc>
              <a:spcBef>
                <a:spcPts val="624"/>
              </a:spcBef>
              <a:spcAft>
                <a:spcPts val="0"/>
              </a:spcAft>
              <a:buSzPts val="2600"/>
              <a:buChar char="•"/>
            </a:pPr>
            <a:r>
              <a:rPr lang="en-US" dirty="0"/>
              <a:t>Protocols are provided within the TCP/IP protocol suite</a:t>
            </a:r>
            <a:endParaRPr dirty="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g1175d4069c2_0_13"/>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a:t>Frame Components (1 of 6)</a:t>
            </a:r>
            <a:endParaRPr/>
          </a:p>
        </p:txBody>
      </p:sp>
      <p:sp>
        <p:nvSpPr>
          <p:cNvPr id="134" name="Google Shape;134;g1175d4069c2_0_13"/>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SzPts val="2600"/>
              <a:buChar char="•"/>
            </a:pPr>
            <a:r>
              <a:rPr lang="en-US" dirty="0"/>
              <a:t>A frame contains:</a:t>
            </a:r>
            <a:endParaRPr dirty="0"/>
          </a:p>
          <a:p>
            <a:pPr marL="900112" lvl="1" indent="-455612" algn="l" rtl="0">
              <a:lnSpc>
                <a:spcPct val="100000"/>
              </a:lnSpc>
              <a:spcBef>
                <a:spcPts val="624"/>
              </a:spcBef>
              <a:spcAft>
                <a:spcPts val="0"/>
              </a:spcAft>
              <a:buSzPts val="2600"/>
              <a:buChar char="–"/>
            </a:pPr>
            <a:r>
              <a:rPr lang="en-US" dirty="0"/>
              <a:t>the data to be transmitted, called </a:t>
            </a:r>
            <a:r>
              <a:rPr lang="en-US" b="1" dirty="0"/>
              <a:t>payload</a:t>
            </a:r>
            <a:endParaRPr dirty="0"/>
          </a:p>
          <a:p>
            <a:pPr marL="900112" lvl="1" indent="-442912" algn="l" rtl="0">
              <a:lnSpc>
                <a:spcPct val="100000"/>
              </a:lnSpc>
              <a:spcBef>
                <a:spcPts val="624"/>
              </a:spcBef>
              <a:spcAft>
                <a:spcPts val="0"/>
              </a:spcAft>
              <a:buSzPts val="2400"/>
              <a:buChar char="–"/>
            </a:pPr>
            <a:r>
              <a:rPr lang="en-US" dirty="0"/>
              <a:t>extra bits are added as</a:t>
            </a:r>
            <a:endParaRPr dirty="0"/>
          </a:p>
          <a:p>
            <a:pPr marL="1257300" lvl="2" indent="-342900">
              <a:buFont typeface="Wingdings" panose="05000000000000000000" pitchFamily="2" charset="2"/>
              <a:buChar char="§"/>
            </a:pPr>
            <a:r>
              <a:rPr lang="en-US" dirty="0"/>
              <a:t>synchronization bits</a:t>
            </a:r>
            <a:endParaRPr dirty="0"/>
          </a:p>
          <a:p>
            <a:pPr marL="1257300" lvl="2" indent="-342900">
              <a:buFont typeface="Wingdings" panose="05000000000000000000" pitchFamily="2" charset="2"/>
              <a:buChar char="§"/>
            </a:pPr>
            <a:r>
              <a:rPr lang="en-US" dirty="0"/>
              <a:t>headers for each TCP/IP layer (including addresses, error detection/control)</a:t>
            </a:r>
            <a:endParaRPr dirty="0"/>
          </a:p>
          <a:p>
            <a:pPr marL="1257300" lvl="2" indent="-342900">
              <a:buFont typeface="Wingdings" panose="05000000000000000000" pitchFamily="2" charset="2"/>
              <a:buChar char="§"/>
            </a:pPr>
            <a:r>
              <a:rPr lang="en-US" dirty="0"/>
              <a:t>optional trailers for each TCP/IP layer</a:t>
            </a:r>
            <a:endParaRPr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1175d4069c2_0_18"/>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Frame Components (2 of 6)</a:t>
            </a:r>
            <a:endParaRPr dirty="0"/>
          </a:p>
        </p:txBody>
      </p:sp>
      <p:sp>
        <p:nvSpPr>
          <p:cNvPr id="140" name="Google Shape;140;g1175d4069c2_0_18"/>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SzPts val="2600"/>
              <a:buChar char="•"/>
            </a:pPr>
            <a:r>
              <a:rPr lang="en-US" dirty="0"/>
              <a:t>The TCP/IP layers covered are:</a:t>
            </a:r>
            <a:endParaRPr dirty="0"/>
          </a:p>
          <a:p>
            <a:pPr marL="900112" lvl="1" indent="-442912" algn="l" rtl="0">
              <a:lnSpc>
                <a:spcPct val="100000"/>
              </a:lnSpc>
              <a:spcBef>
                <a:spcPts val="624"/>
              </a:spcBef>
              <a:spcAft>
                <a:spcPts val="0"/>
              </a:spcAft>
              <a:buSzPts val="2400"/>
              <a:buChar char="–"/>
            </a:pPr>
            <a:r>
              <a:rPr lang="en-US" dirty="0"/>
              <a:t>The transport layer contains the port number that identifies which application on the receiving device</a:t>
            </a:r>
            <a:endParaRPr dirty="0"/>
          </a:p>
          <a:p>
            <a:pPr marL="900112" lvl="1" indent="-430212" algn="l" rtl="0">
              <a:lnSpc>
                <a:spcPct val="100000"/>
              </a:lnSpc>
              <a:spcBef>
                <a:spcPts val="624"/>
              </a:spcBef>
              <a:spcAft>
                <a:spcPts val="0"/>
              </a:spcAft>
              <a:buSzPts val="2200"/>
              <a:buChar char="–"/>
            </a:pPr>
            <a:r>
              <a:rPr lang="en-US" dirty="0"/>
              <a:t>The network layer contains the IP address that identifies the destination computer uniquely across multiple networks</a:t>
            </a:r>
            <a:endParaRPr dirty="0"/>
          </a:p>
          <a:p>
            <a:pPr marL="900112" lvl="1" indent="-430212" algn="l" rtl="0">
              <a:lnSpc>
                <a:spcPct val="100000"/>
              </a:lnSpc>
              <a:spcBef>
                <a:spcPts val="624"/>
              </a:spcBef>
              <a:spcAft>
                <a:spcPts val="0"/>
              </a:spcAft>
              <a:buSzPts val="2200"/>
              <a:buChar char="–"/>
            </a:pPr>
            <a:r>
              <a:rPr lang="en-US" dirty="0"/>
              <a:t>The data link layer contains the MAC (media access control) address that identifies each device’s network port uniquely on its local network</a:t>
            </a:r>
            <a:endParaRPr sz="2200"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a:t>Frame Components (3 of 6)</a:t>
            </a:r>
            <a:endParaRPr/>
          </a:p>
        </p:txBody>
      </p:sp>
      <p:pic>
        <p:nvPicPr>
          <p:cNvPr id="2" name="Picture 1" descr="A data in a row shows a network packet with six layers of the header bits. The six layers in the row from left to right are as follows: synchronization bits, data link layer header(s), network layer header(s), transport layer header(s), original data (payload), and data link layer trailer.&#10;Figure 4-1 Example of network packet with layers of header bits">
            <a:extLst>
              <a:ext uri="{FF2B5EF4-FFF2-40B4-BE49-F238E27FC236}">
                <a16:creationId xmlns:a16="http://schemas.microsoft.com/office/drawing/2014/main" id="{74F84F28-FF85-48AA-8058-96C9FA655F4B}"/>
              </a:ext>
            </a:extLst>
          </p:cNvPr>
          <p:cNvPicPr>
            <a:picLocks noChangeAspect="1"/>
          </p:cNvPicPr>
          <p:nvPr/>
        </p:nvPicPr>
        <p:blipFill>
          <a:blip r:embed="rId4"/>
          <a:stretch>
            <a:fillRect/>
          </a:stretch>
        </p:blipFill>
        <p:spPr>
          <a:xfrm>
            <a:off x="798117" y="2578534"/>
            <a:ext cx="10595766" cy="1700931"/>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1175d4069c2_0_27"/>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Frame Components (4 of 6)</a:t>
            </a:r>
            <a:endParaRPr dirty="0"/>
          </a:p>
        </p:txBody>
      </p:sp>
      <p:sp>
        <p:nvSpPr>
          <p:cNvPr id="152" name="Google Shape;152;g1175d4069c2_0_27"/>
          <p:cNvSpPr txBox="1">
            <a:spLocks noGrp="1"/>
          </p:cNvSpPr>
          <p:nvPr>
            <p:ph type="body" idx="1"/>
          </p:nvPr>
        </p:nvSpPr>
        <p:spPr>
          <a:xfrm>
            <a:off x="974775" y="1275125"/>
            <a:ext cx="103791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SzPts val="2600"/>
              <a:buChar char="•"/>
            </a:pPr>
            <a:r>
              <a:rPr lang="en-US" dirty="0"/>
              <a:t>A packet sniffer, like Wireshark, can </a:t>
            </a:r>
            <a:r>
              <a:rPr lang="en-US" dirty="0" err="1"/>
              <a:t>can</a:t>
            </a:r>
            <a:r>
              <a:rPr lang="en-US" dirty="0"/>
              <a:t> capture packets as they traverse a network</a:t>
            </a:r>
            <a:endParaRPr dirty="0"/>
          </a:p>
          <a:p>
            <a:pPr marL="457200" lvl="0" indent="-457200" algn="l" rtl="0">
              <a:lnSpc>
                <a:spcPct val="100000"/>
              </a:lnSpc>
              <a:spcBef>
                <a:spcPts val="624"/>
              </a:spcBef>
              <a:spcAft>
                <a:spcPts val="0"/>
              </a:spcAft>
              <a:buSzPts val="2600"/>
              <a:buChar char="•"/>
            </a:pPr>
            <a:r>
              <a:rPr lang="en-US" dirty="0"/>
              <a:t>The analysis of the bits' package shows which protocol is adding header bits and where these headers are located</a:t>
            </a:r>
            <a:endParaRPr dirty="0"/>
          </a:p>
          <a:p>
            <a:pPr marL="900112" lvl="1" indent="-442912" algn="l" rtl="0">
              <a:lnSpc>
                <a:spcPct val="100000"/>
              </a:lnSpc>
              <a:spcBef>
                <a:spcPts val="624"/>
              </a:spcBef>
              <a:spcAft>
                <a:spcPts val="0"/>
              </a:spcAft>
              <a:buSzPts val="2400"/>
              <a:buChar char="–"/>
            </a:pPr>
            <a:r>
              <a:rPr lang="en-US" dirty="0"/>
              <a:t>The transport layer follows the TCP (Transport Control Protocol)</a:t>
            </a:r>
            <a:endParaRPr dirty="0"/>
          </a:p>
          <a:p>
            <a:pPr marL="1350962" lvl="2" indent="-436562" algn="l" rtl="0">
              <a:lnSpc>
                <a:spcPct val="100000"/>
              </a:lnSpc>
              <a:spcBef>
                <a:spcPts val="624"/>
              </a:spcBef>
              <a:spcAft>
                <a:spcPts val="0"/>
              </a:spcAft>
              <a:buSzPts val="2200"/>
              <a:buFont typeface="Wingdings" panose="05000000000000000000" pitchFamily="2" charset="2"/>
              <a:buChar char="§"/>
            </a:pPr>
            <a:r>
              <a:rPr lang="en-US" dirty="0"/>
              <a:t>Port address</a:t>
            </a:r>
            <a:endParaRPr dirty="0"/>
          </a:p>
          <a:p>
            <a:pPr marL="900112" lvl="1" indent="-442912" algn="l" rtl="0">
              <a:lnSpc>
                <a:spcPct val="100000"/>
              </a:lnSpc>
              <a:spcBef>
                <a:spcPts val="624"/>
              </a:spcBef>
              <a:spcAft>
                <a:spcPts val="0"/>
              </a:spcAft>
              <a:buSzPts val="2400"/>
              <a:buChar char="–"/>
            </a:pPr>
            <a:r>
              <a:rPr lang="en-US" dirty="0"/>
              <a:t>The Network layer follows the IP (Internet Protocol)</a:t>
            </a:r>
            <a:endParaRPr dirty="0"/>
          </a:p>
          <a:p>
            <a:pPr marL="1350962" lvl="2" indent="-436562" algn="l" rtl="0">
              <a:lnSpc>
                <a:spcPct val="100000"/>
              </a:lnSpc>
              <a:spcBef>
                <a:spcPts val="624"/>
              </a:spcBef>
              <a:spcAft>
                <a:spcPts val="0"/>
              </a:spcAft>
              <a:buSzPts val="2200"/>
              <a:buFont typeface="Wingdings" panose="05000000000000000000" pitchFamily="2" charset="2"/>
              <a:buChar char="§"/>
            </a:pPr>
            <a:r>
              <a:rPr lang="en-US" dirty="0"/>
              <a:t>IP address</a:t>
            </a:r>
            <a:endParaRPr dirty="0"/>
          </a:p>
          <a:p>
            <a:pPr marL="900112" lvl="1" indent="-442912" algn="l" rtl="0">
              <a:lnSpc>
                <a:spcPct val="100000"/>
              </a:lnSpc>
              <a:spcBef>
                <a:spcPts val="624"/>
              </a:spcBef>
              <a:spcAft>
                <a:spcPts val="0"/>
              </a:spcAft>
              <a:buSzPts val="2400"/>
              <a:buChar char="–"/>
            </a:pPr>
            <a:r>
              <a:rPr lang="en-US" dirty="0"/>
              <a:t>The Data Link layer follows the Ethernet protocol</a:t>
            </a:r>
            <a:endParaRPr dirty="0"/>
          </a:p>
          <a:p>
            <a:pPr marL="1350962" lvl="2" indent="-436562" algn="l" rtl="0">
              <a:lnSpc>
                <a:spcPct val="100000"/>
              </a:lnSpc>
              <a:spcBef>
                <a:spcPts val="624"/>
              </a:spcBef>
              <a:spcAft>
                <a:spcPts val="0"/>
              </a:spcAft>
              <a:buSzPts val="2200"/>
              <a:buFont typeface="Wingdings" panose="05000000000000000000" pitchFamily="2" charset="2"/>
              <a:buChar char="§"/>
            </a:pPr>
            <a:r>
              <a:rPr lang="en-US" dirty="0"/>
              <a:t>MAC address</a:t>
            </a:r>
            <a:endParaRPr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1175d4069c2_0_32"/>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dirty="0"/>
              <a:t>Frame Components (5 of 6)</a:t>
            </a:r>
            <a:endParaRPr dirty="0"/>
          </a:p>
        </p:txBody>
      </p:sp>
      <p:pic>
        <p:nvPicPr>
          <p:cNvPr id="2" name="Picture 1" descr="A screenshot shows a window titled, Ethernet. The Menu and Tool bars are displayed at the top of the window, below which the filter box is displayed. The filter box consists of a clear filter option at the right end of the filter box. Below the filter box, a series of data is displayed in seven columns and nine rows. The column headers are as follows: Number, time, source, destination, protocol, length, and info. The data in the first row is highlighted. Below these series of data, four lines of data are displayed and reads as follows: Line 1: Frame 589 colon 1484 bytes on wire left parenthesis 11872 bits right parenthesis comma 1484 bytes captured left parenthesis 11872 bits right parenthesis on interface backslash device backslash N P F underscore left brace F 494 A E 33 minus D 44 A. Line 2 labeled Data link layer: Ethernet I I comma S r c colon T p hyphen link T underscore 47 colon 92 colon 70 left parenthesis 50 colon c 7 colon b f colon 47 colon 9 b colon 70 right parenthesis comma D s t ASUS T e k C underscore 6 d colon 6 d colon d 7 left parenthesis 40 colon 16 colon 7 e colon 6 d colon 6 d colon d 7 right parenthesis. The term “left parenthesis 40 colon 16 colon 7 e colon 6 d colon 6 d colon d 7 right parenthesis” in this line is labeled, the local computer M A C address. Line 3: Internet Protocol Version 4 comma s r c colon 74 dot 125 dot 136 dot 95 comma D s t colon 192 dot 168 dot 2 dot 120. The term “S r c colon 74 dot 125 dot 136 dot 95” in this line is labeled as the google server’s public I P address. The term “D s t colon 192 dot 168 dot 2 dot 120” in this line is labeled as the local computer’s private I P address. Line 4 labeled, transport layer: Transmission control protocol comma S r c port colon 443 comma D s t port colon 50866 comma S e q colon 1431 comma A c k colon 518 comma L e n colon 1430. The number 443 in this line is the port number for the web browser. &#10;Figure 4-2 Wireshark capture of a network packet">
            <a:extLst>
              <a:ext uri="{FF2B5EF4-FFF2-40B4-BE49-F238E27FC236}">
                <a16:creationId xmlns:a16="http://schemas.microsoft.com/office/drawing/2014/main" id="{171C5D94-7D23-4AFD-9FE6-0B7BEF3E63FF}"/>
              </a:ext>
            </a:extLst>
          </p:cNvPr>
          <p:cNvPicPr>
            <a:picLocks noChangeAspect="1"/>
          </p:cNvPicPr>
          <p:nvPr/>
        </p:nvPicPr>
        <p:blipFill>
          <a:blip r:embed="rId4"/>
          <a:stretch>
            <a:fillRect/>
          </a:stretch>
        </p:blipFill>
        <p:spPr>
          <a:xfrm>
            <a:off x="505483" y="1408001"/>
            <a:ext cx="11181033" cy="4041998"/>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1175d4069c2_0_38"/>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dirty="0"/>
              <a:t>Frame Components (6 of 6)</a:t>
            </a:r>
            <a:endParaRPr dirty="0"/>
          </a:p>
        </p:txBody>
      </p:sp>
      <p:pic>
        <p:nvPicPr>
          <p:cNvPr id="2" name="Picture 1" descr="A table with seven columns and a row depicts the fields of an Ethernet header. The column headers are as follows: preamble, S F D (Start Frame Delimiter), destination address, source address, Ether Type, Data (including important protocol information), and F C S (frame check sequence). The first two columns are labeled as physical layer and the other five layers are labeled as data link layers. The data corresponding to these fields are as follows: 7 bytes of 1 0 1 0 1 0 1 0, 1 0 1 0 1 0 1 1 underscore, 6 bytes, 6 bytes, 2 bytes, 46 to 1500 bytes, and 4 bytes.&#10;Figure 4-3 Fields of an Ethernet header">
            <a:extLst>
              <a:ext uri="{FF2B5EF4-FFF2-40B4-BE49-F238E27FC236}">
                <a16:creationId xmlns:a16="http://schemas.microsoft.com/office/drawing/2014/main" id="{793228B6-8F5D-40A6-BAF2-95A513A9529F}"/>
              </a:ext>
            </a:extLst>
          </p:cNvPr>
          <p:cNvPicPr>
            <a:picLocks noChangeAspect="1"/>
          </p:cNvPicPr>
          <p:nvPr/>
        </p:nvPicPr>
        <p:blipFill>
          <a:blip r:embed="rId4"/>
          <a:stretch>
            <a:fillRect/>
          </a:stretch>
        </p:blipFill>
        <p:spPr>
          <a:xfrm>
            <a:off x="1645534" y="2182260"/>
            <a:ext cx="8900931" cy="2493480"/>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1175d4069c2_0_1"/>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Noise and Errors (1 of 2)</a:t>
            </a:r>
            <a:endParaRPr dirty="0"/>
          </a:p>
        </p:txBody>
      </p:sp>
      <p:sp>
        <p:nvSpPr>
          <p:cNvPr id="170" name="Google Shape;170;g1175d4069c2_0_1"/>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Noise is unavoidable, something will invariably alter the form of the original data</a:t>
            </a:r>
            <a:endParaRPr/>
          </a:p>
          <a:p>
            <a:pPr marL="457200" lvl="0" indent="-457200" algn="l" rtl="0">
              <a:lnSpc>
                <a:spcPct val="100000"/>
              </a:lnSpc>
              <a:spcBef>
                <a:spcPts val="0"/>
              </a:spcBef>
              <a:spcAft>
                <a:spcPts val="0"/>
              </a:spcAft>
              <a:buSzPts val="2600"/>
              <a:buChar char="•"/>
            </a:pPr>
            <a:r>
              <a:rPr lang="en-US"/>
              <a:t>More harmful in high transmission speed</a:t>
            </a:r>
            <a:endParaRPr/>
          </a:p>
          <a:p>
            <a:pPr marL="457200" lvl="0" indent="-457200" algn="l" rtl="0">
              <a:lnSpc>
                <a:spcPct val="100000"/>
              </a:lnSpc>
              <a:spcBef>
                <a:spcPts val="0"/>
              </a:spcBef>
              <a:spcAft>
                <a:spcPts val="0"/>
              </a:spcAft>
              <a:buSzPts val="2600"/>
              <a:buChar char="•"/>
            </a:pPr>
            <a:r>
              <a:rPr lang="en-US"/>
              <a:t>Kinds of noise and errors:</a:t>
            </a:r>
            <a:endParaRPr/>
          </a:p>
          <a:p>
            <a:pPr marL="900112" lvl="1" indent="-455612" algn="l" rtl="0">
              <a:lnSpc>
                <a:spcPct val="100000"/>
              </a:lnSpc>
              <a:spcBef>
                <a:spcPts val="624"/>
              </a:spcBef>
              <a:spcAft>
                <a:spcPts val="0"/>
              </a:spcAft>
              <a:buClr>
                <a:srgbClr val="004A78"/>
              </a:buClr>
              <a:buSzPts val="2600"/>
              <a:buFont typeface="Arial"/>
              <a:buChar char="–"/>
            </a:pPr>
            <a:r>
              <a:rPr lang="en-US"/>
              <a:t>Gaussian (white) noise</a:t>
            </a:r>
            <a:endParaRPr/>
          </a:p>
          <a:p>
            <a:pPr marL="900112" lvl="1" indent="-442912" algn="l" rtl="0">
              <a:lnSpc>
                <a:spcPct val="100000"/>
              </a:lnSpc>
              <a:spcBef>
                <a:spcPts val="624"/>
              </a:spcBef>
              <a:spcAft>
                <a:spcPts val="0"/>
              </a:spcAft>
              <a:buSzPts val="2400"/>
              <a:buChar char="–"/>
            </a:pPr>
            <a:r>
              <a:rPr lang="en-US"/>
              <a:t>Impulse noise</a:t>
            </a:r>
            <a:endParaRPr/>
          </a:p>
          <a:p>
            <a:pPr marL="900112" lvl="1" indent="-442912" algn="l" rtl="0">
              <a:lnSpc>
                <a:spcPct val="100000"/>
              </a:lnSpc>
              <a:spcBef>
                <a:spcPts val="624"/>
              </a:spcBef>
              <a:spcAft>
                <a:spcPts val="0"/>
              </a:spcAft>
              <a:buSzPts val="2400"/>
              <a:buChar char="–"/>
            </a:pPr>
            <a:r>
              <a:rPr lang="en-US"/>
              <a:t>Crosstalk</a:t>
            </a:r>
            <a:endParaRPr/>
          </a:p>
          <a:p>
            <a:pPr marL="900112" lvl="1" indent="-442912" algn="l" rtl="0">
              <a:lnSpc>
                <a:spcPct val="100000"/>
              </a:lnSpc>
              <a:spcBef>
                <a:spcPts val="624"/>
              </a:spcBef>
              <a:spcAft>
                <a:spcPts val="0"/>
              </a:spcAft>
              <a:buSzPts val="2400"/>
              <a:buChar char="–"/>
            </a:pPr>
            <a:r>
              <a:rPr lang="en-US"/>
              <a:t>Echo</a:t>
            </a:r>
            <a:endParaRPr/>
          </a:p>
          <a:p>
            <a:pPr marL="900112" lvl="1" indent="-442912" algn="l" rtl="0">
              <a:lnSpc>
                <a:spcPct val="100000"/>
              </a:lnSpc>
              <a:spcBef>
                <a:spcPts val="624"/>
              </a:spcBef>
              <a:spcAft>
                <a:spcPts val="0"/>
              </a:spcAft>
              <a:buSzPts val="2400"/>
              <a:buChar char="–"/>
            </a:pPr>
            <a:r>
              <a:rPr lang="en-US"/>
              <a:t>Jitter</a:t>
            </a:r>
            <a:endParaRPr/>
          </a:p>
          <a:p>
            <a:pPr marL="900112" lvl="1" indent="-442912" algn="l" rtl="0">
              <a:lnSpc>
                <a:spcPct val="100000"/>
              </a:lnSpc>
              <a:spcBef>
                <a:spcPts val="624"/>
              </a:spcBef>
              <a:spcAft>
                <a:spcPts val="0"/>
              </a:spcAft>
              <a:buSzPts val="2400"/>
              <a:buChar char="–"/>
            </a:pPr>
            <a:r>
              <a:rPr lang="en-US"/>
              <a:t>Attenuation</a:t>
            </a:r>
            <a:endParaRPr/>
          </a:p>
          <a:p>
            <a:pPr marL="457200" lvl="0" indent="-457200" algn="l" rtl="0">
              <a:lnSpc>
                <a:spcPct val="100000"/>
              </a:lnSpc>
              <a:spcBef>
                <a:spcPts val="624"/>
              </a:spcBef>
              <a:spcAft>
                <a:spcPts val="0"/>
              </a:spcAft>
              <a:buSzPts val="2600"/>
              <a:buChar char="•"/>
            </a:pPr>
            <a:r>
              <a:rPr lang="en-US"/>
              <a:t>Error prevention</a:t>
            </a:r>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1175d4069c2_0_54"/>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Noise and Errors (2 of 2)</a:t>
            </a:r>
            <a:endParaRPr dirty="0"/>
          </a:p>
        </p:txBody>
      </p:sp>
      <p:pic>
        <p:nvPicPr>
          <p:cNvPr id="2" name="Picture 1" descr="An illustration shows a digital signal transmission at a relatively slow speed and at a relatively high speed. In the slower speed, the signal forms two cycles of an irregular fuzzy square wave. The signal initially moves rightward as it fluctuates around a minimum value, then rises to a maximum with mild fluctuations, further moves rightward as it fluctuates around the maximum value, falls to the minimum value, and moves rightward as it fluctuates around the minimum value, completing one cycle. A noise occurs as an irregular peak between two cycles of the signal. In the faster speed, the signal forms several cycles of a square wave with uniform amplitude. The noise occurs as an irregular peak in the middle of the square waveform. Multiple bits are lost due to noise in the faster speed.&#10;Figure 4-4 Transmission speed and its relationship to noise in a digital signal">
            <a:extLst>
              <a:ext uri="{FF2B5EF4-FFF2-40B4-BE49-F238E27FC236}">
                <a16:creationId xmlns:a16="http://schemas.microsoft.com/office/drawing/2014/main" id="{D5FDDCAC-5B86-4214-9C89-555D8462FB3C}"/>
              </a:ext>
            </a:extLst>
          </p:cNvPr>
          <p:cNvPicPr>
            <a:picLocks noChangeAspect="1"/>
          </p:cNvPicPr>
          <p:nvPr/>
        </p:nvPicPr>
        <p:blipFill>
          <a:blip r:embed="rId4"/>
          <a:stretch>
            <a:fillRect/>
          </a:stretch>
        </p:blipFill>
        <p:spPr>
          <a:xfrm>
            <a:off x="2236897" y="1359228"/>
            <a:ext cx="7718205" cy="4139543"/>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1175d4069c2_0_46"/>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Gaussian Noise (1 of 2)</a:t>
            </a:r>
            <a:endParaRPr dirty="0"/>
          </a:p>
        </p:txBody>
      </p:sp>
      <p:sp>
        <p:nvSpPr>
          <p:cNvPr id="182" name="Google Shape;182;g1175d4069c2_0_46"/>
          <p:cNvSpPr txBox="1">
            <a:spLocks noGrp="1"/>
          </p:cNvSpPr>
          <p:nvPr>
            <p:ph type="body" idx="1"/>
          </p:nvPr>
        </p:nvSpPr>
        <p:spPr>
          <a:xfrm>
            <a:off x="743576" y="1289684"/>
            <a:ext cx="107115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Also known as thermal or white noise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Relatively constant and can be reduced</a:t>
            </a:r>
            <a:endParaRPr dirty="0"/>
          </a:p>
          <a:p>
            <a:pPr marL="457200" lvl="0" indent="-457200" algn="l" rtl="0">
              <a:lnSpc>
                <a:spcPct val="100000"/>
              </a:lnSpc>
              <a:spcBef>
                <a:spcPts val="624"/>
              </a:spcBef>
              <a:spcAft>
                <a:spcPts val="0"/>
              </a:spcAft>
              <a:buSzPts val="2600"/>
              <a:buChar char="•"/>
            </a:pPr>
            <a:r>
              <a:rPr lang="en-US" dirty="0"/>
              <a:t>It affects transmission speed</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If white noise gets too strong, it can completely disrupt the signal</a:t>
            </a:r>
            <a:endParaRPr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1175d4069c2_0_6"/>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White Noise (2 of 2)</a:t>
            </a:r>
            <a:endParaRPr dirty="0"/>
          </a:p>
        </p:txBody>
      </p:sp>
      <p:pic>
        <p:nvPicPr>
          <p:cNvPr id="2" name="Picture 1" descr="Three graphs show the interference of the Gaussian noise with a digital signal. First graph a, shows three cycles of a square waveform with uniform amplitude in the first quadrant. The wave moves rightward from a point on the vertical axis, very close to the origin, then rises vertically in the first quadrant, then moves rightward, falls vertically to a point close to the horizontal axis, and then continues to repeat the same pattern. The noise is null in this condition. Second graph b, shows three cycles of a similar square wave with little fuzziness, in the first quadrant. The signal initially moves rightward as it fluctuates around a minimum value, then rises to a maximum with mild fluctuations, further moves rightward as it fluctuates around the maximum value, falls to the minimum value, moves rightward as it fluctuates around the minimum value, and continues to oscillate in the same pattern. The noise is little in this condition. Third graph c, shows the same waveform with more fuzziness. The fluctuations in the waveform increase on moving rightward. The noise is more in this condition.&#10;Figure 4-5 Gaussian noise as it interferes with a digital signal">
            <a:extLst>
              <a:ext uri="{FF2B5EF4-FFF2-40B4-BE49-F238E27FC236}">
                <a16:creationId xmlns:a16="http://schemas.microsoft.com/office/drawing/2014/main" id="{6712C0B0-744C-435B-8A1C-5BB41EA27FB7}"/>
              </a:ext>
            </a:extLst>
          </p:cNvPr>
          <p:cNvPicPr>
            <a:picLocks noChangeAspect="1"/>
          </p:cNvPicPr>
          <p:nvPr/>
        </p:nvPicPr>
        <p:blipFill>
          <a:blip r:embed="rId4"/>
          <a:stretch>
            <a:fillRect/>
          </a:stretch>
        </p:blipFill>
        <p:spPr>
          <a:xfrm>
            <a:off x="3279404" y="1133637"/>
            <a:ext cx="5633192" cy="5047926"/>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Impulse Noise (1 of 2)</a:t>
            </a:r>
            <a:endParaRPr dirty="0"/>
          </a:p>
        </p:txBody>
      </p:sp>
      <p:sp>
        <p:nvSpPr>
          <p:cNvPr id="194" name="Google Shape;194;p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spcBef>
                <a:spcPts val="0"/>
              </a:spcBef>
              <a:spcAft>
                <a:spcPts val="0"/>
              </a:spcAft>
              <a:buSzPts val="2600"/>
              <a:buChar char="•"/>
            </a:pPr>
            <a:r>
              <a:rPr lang="en-US" dirty="0"/>
              <a:t>Also known as noise spike</a:t>
            </a:r>
            <a:endParaRPr dirty="0"/>
          </a:p>
          <a:p>
            <a:pPr marL="457200" lvl="0" indent="-457200" algn="l" rtl="0">
              <a:lnSpc>
                <a:spcPct val="100000"/>
              </a:lnSpc>
              <a:spcBef>
                <a:spcPts val="0"/>
              </a:spcBef>
              <a:spcAft>
                <a:spcPts val="0"/>
              </a:spcAft>
              <a:buClr>
                <a:srgbClr val="004A78"/>
              </a:buClr>
              <a:buSzPts val="2600"/>
              <a:buFont typeface="Arial"/>
              <a:buChar char="•"/>
            </a:pPr>
            <a:r>
              <a:rPr lang="en-US" dirty="0"/>
              <a:t>One of the most disruptive forms of noise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Random spikes of power that can destroy one or more bits of information</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Difficult to remove from an analog signal because it may be hard to distinguish from the original signal</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Impulse noise can damage more bits if the bits are closer together (transmitted at a faster rate)</a:t>
            </a:r>
            <a:endParaRPr dirty="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Impulse Noise (2 of 2)</a:t>
            </a:r>
            <a:endParaRPr dirty="0"/>
          </a:p>
        </p:txBody>
      </p:sp>
      <p:pic>
        <p:nvPicPr>
          <p:cNvPr id="2" name="Picture 1" descr="A diagram depicts the effect of impulse noise with respect to time on a digital signal. The signal initially moves rightward as it fluctuates around a minimum value, then rises to a maximum with mild fluctuations, further moves rightward as it fluctuates around the maximum value, falls to the minimum value, and moves rightward as it fluctuates around the minimum value, completing one cycle. The signal thus forms a square wave with fuzziness in the first three cycles and then becomes irregular with multiple sharp spikes in the fourth cycle.&#10;Figure 4-6 The effect of impulse noise on a digital signal">
            <a:extLst>
              <a:ext uri="{FF2B5EF4-FFF2-40B4-BE49-F238E27FC236}">
                <a16:creationId xmlns:a16="http://schemas.microsoft.com/office/drawing/2014/main" id="{7F20E5E3-96DF-4E86-838D-7CD4E7619473}"/>
              </a:ext>
            </a:extLst>
          </p:cNvPr>
          <p:cNvPicPr>
            <a:picLocks noChangeAspect="1"/>
          </p:cNvPicPr>
          <p:nvPr/>
        </p:nvPicPr>
        <p:blipFill>
          <a:blip r:embed="rId4"/>
          <a:stretch>
            <a:fillRect/>
          </a:stretch>
        </p:blipFill>
        <p:spPr>
          <a:xfrm>
            <a:off x="2127160" y="2151777"/>
            <a:ext cx="7937680" cy="2554445"/>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Crosstalk (1 of 2)</a:t>
            </a:r>
            <a:endParaRPr dirty="0"/>
          </a:p>
        </p:txBody>
      </p:sp>
      <p:sp>
        <p:nvSpPr>
          <p:cNvPr id="206" name="Google Shape;206;p1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Unwanted coupling between two different signal paths</a:t>
            </a:r>
            <a:endParaRPr/>
          </a:p>
          <a:p>
            <a:pPr marL="900113" lvl="1" indent="-442913" algn="l" rtl="0">
              <a:lnSpc>
                <a:spcPct val="100000"/>
              </a:lnSpc>
              <a:spcBef>
                <a:spcPts val="624"/>
              </a:spcBef>
              <a:spcAft>
                <a:spcPts val="0"/>
              </a:spcAft>
              <a:buSzPts val="2400"/>
              <a:buChar char="–"/>
            </a:pPr>
            <a:r>
              <a:rPr lang="en-US"/>
              <a:t>For example, hearing another conversation while talking on the telephone</a:t>
            </a:r>
            <a:endParaRPr/>
          </a:p>
          <a:p>
            <a:pPr marL="457200" lvl="0" indent="-457200" algn="l" rtl="0">
              <a:lnSpc>
                <a:spcPct val="100000"/>
              </a:lnSpc>
              <a:spcBef>
                <a:spcPts val="624"/>
              </a:spcBef>
              <a:spcAft>
                <a:spcPts val="0"/>
              </a:spcAft>
              <a:buClr>
                <a:srgbClr val="004A78"/>
              </a:buClr>
              <a:buSzPts val="2600"/>
              <a:buFont typeface="Arial"/>
              <a:buChar char="•"/>
            </a:pPr>
            <a:r>
              <a:rPr lang="en-US"/>
              <a:t>Relatively constant and can be reduced with proper measures</a:t>
            </a:r>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Crosstalk (2 of 2)</a:t>
            </a:r>
            <a:endParaRPr dirty="0"/>
          </a:p>
        </p:txBody>
      </p:sp>
      <p:pic>
        <p:nvPicPr>
          <p:cNvPr id="2" name="Picture 1" descr="An illustration depicts three telephone circuits experiencing crosstalk. Three telephones are displayed on the left. A line extends rightward from each of the telephone. The lines of the first and the third telephone are in use and are indicated by dashed lines. A circular concentric ring is displayed at the first and the third telephone lines, which coincides with the second telephone line, resulting in crosstalk.&#10;Figure 4-7 Three telephone circuits experiencing crosstalk">
            <a:extLst>
              <a:ext uri="{FF2B5EF4-FFF2-40B4-BE49-F238E27FC236}">
                <a16:creationId xmlns:a16="http://schemas.microsoft.com/office/drawing/2014/main" id="{36362A85-0AE0-410C-BDCC-AC5C9E1D612F}"/>
              </a:ext>
            </a:extLst>
          </p:cNvPr>
          <p:cNvPicPr>
            <a:picLocks noChangeAspect="1"/>
          </p:cNvPicPr>
          <p:nvPr/>
        </p:nvPicPr>
        <p:blipFill>
          <a:blip r:embed="rId4"/>
          <a:stretch>
            <a:fillRect/>
          </a:stretch>
        </p:blipFill>
        <p:spPr>
          <a:xfrm>
            <a:off x="1596762" y="1401904"/>
            <a:ext cx="8998476" cy="4054191"/>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Echo (1 of 2)</a:t>
            </a:r>
            <a:endParaRPr dirty="0"/>
          </a:p>
        </p:txBody>
      </p:sp>
      <p:sp>
        <p:nvSpPr>
          <p:cNvPr id="218" name="Google Shape;218;p12"/>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The reflective feedback of a transmitted signal as the signal moves through a medium</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Most often occurs on coaxial cable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If echo bad enough, it could interfere with original signal</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Relatively constant, and can be significantly reduced</a:t>
            </a:r>
            <a:endParaRPr dirty="0"/>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Echo (2 of 2)</a:t>
            </a:r>
            <a:endParaRPr dirty="0"/>
          </a:p>
        </p:txBody>
      </p:sp>
      <p:pic>
        <p:nvPicPr>
          <p:cNvPr id="2" name="Picture 1" descr="An illustration depicts the original signal and the echo formed in a coaxial cable. A horizontal coaxial cable is displayed at the center with the original signal flowing in it. The original signal is wave shaped with uniform amplitude. Three computer systems are connected to the coaxial cable, one at the top center, the other at the bottom left, and the third one at the bottom right. The signal on reaching the right end of the cable, bounces back, and moves leftward. This wave shaped signal represented in dashed lines oscillates with uniform amplitude, and represents the echo. The wave reaches the device connected at the right end and the device experiences the echo. &#10;Figure 4-8 A signal bouncing back at the end of a coaxial cable and causing echo">
            <a:extLst>
              <a:ext uri="{FF2B5EF4-FFF2-40B4-BE49-F238E27FC236}">
                <a16:creationId xmlns:a16="http://schemas.microsoft.com/office/drawing/2014/main" id="{15D98827-4516-4D1D-9410-63E714463343}"/>
              </a:ext>
            </a:extLst>
          </p:cNvPr>
          <p:cNvPicPr>
            <a:picLocks noChangeAspect="1"/>
          </p:cNvPicPr>
          <p:nvPr/>
        </p:nvPicPr>
        <p:blipFill>
          <a:blip r:embed="rId4"/>
          <a:stretch>
            <a:fillRect/>
          </a:stretch>
        </p:blipFill>
        <p:spPr>
          <a:xfrm>
            <a:off x="1865009" y="1401371"/>
            <a:ext cx="8461981" cy="4639458"/>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Jitter (1 of 2)</a:t>
            </a:r>
            <a:endParaRPr dirty="0"/>
          </a:p>
        </p:txBody>
      </p:sp>
      <p:sp>
        <p:nvSpPr>
          <p:cNvPr id="230" name="Google Shape;230;p14"/>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The result of small timing irregularities during the transmission of digital signals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Occurs when a digital signal is repeated over and over</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If serious enough, jitter forces systems to slow down their transmission</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Steps can be taken to reduce jitter</a:t>
            </a:r>
            <a:endParaRPr dirty="0"/>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Jitter (2 of 2)</a:t>
            </a:r>
            <a:endParaRPr dirty="0"/>
          </a:p>
        </p:txBody>
      </p:sp>
      <p:pic>
        <p:nvPicPr>
          <p:cNvPr id="2" name="Picture 1" descr="A diagram shows a simplified example of a digital signal experiencing jitter. Two signals are displayed. The digital signal at the top with no jitter is a square waveform with uniform amplitude. The wave starts with a minimum value, moves rightward, then rises vertically in the first quadrant, reaches a maximum, then moves rightward, falls vertically to the minimum, and then continues to repeat the same pattern. The digital signal at the bottom with jitter is a different shaped waveform with equal amplitude. The wave moves rightward, then slopes upward to the right, reaches a maximum, then moves rightward, slopes downward to the right, reaches the minimum, and then continues to oscillate. The wave shows five cycles, where each cycle is different.&#10;Figure 4-9 Original digital signal and a digital signal with jitter">
            <a:extLst>
              <a:ext uri="{FF2B5EF4-FFF2-40B4-BE49-F238E27FC236}">
                <a16:creationId xmlns:a16="http://schemas.microsoft.com/office/drawing/2014/main" id="{A531E571-8F58-4DD5-A941-7B3D27250AD2}"/>
              </a:ext>
            </a:extLst>
          </p:cNvPr>
          <p:cNvPicPr>
            <a:picLocks noChangeAspect="1"/>
          </p:cNvPicPr>
          <p:nvPr/>
        </p:nvPicPr>
        <p:blipFill>
          <a:blip r:embed="rId4"/>
          <a:stretch>
            <a:fillRect/>
          </a:stretch>
        </p:blipFill>
        <p:spPr>
          <a:xfrm>
            <a:off x="1822333" y="1572607"/>
            <a:ext cx="8547333" cy="3712786"/>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7"/>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Attenuation</a:t>
            </a:r>
            <a:endParaRPr dirty="0"/>
          </a:p>
        </p:txBody>
      </p:sp>
      <p:sp>
        <p:nvSpPr>
          <p:cNvPr id="242" name="Google Shape;242;p17"/>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Aft>
                <a:spcPts val="0"/>
              </a:spcAft>
              <a:buClr>
                <a:srgbClr val="004A78"/>
              </a:buClr>
              <a:buSzPts val="2600"/>
              <a:buFont typeface="Arial"/>
              <a:buChar char="•"/>
            </a:pPr>
            <a:r>
              <a:rPr lang="en-US" dirty="0"/>
              <a:t>The continuous loss of a signal’s strength as it travels through a medium</a:t>
            </a:r>
            <a:endParaRPr dirty="0"/>
          </a:p>
          <a:p>
            <a:pPr marL="457200" lvl="0" indent="-457200" algn="l" rtl="0">
              <a:lnSpc>
                <a:spcPct val="100000"/>
              </a:lnSpc>
              <a:spcAft>
                <a:spcPts val="0"/>
              </a:spcAft>
              <a:buSzPts val="2600"/>
              <a:buChar char="•"/>
            </a:pPr>
            <a:r>
              <a:rPr lang="en-US" dirty="0"/>
              <a:t>It can be remediated by the use of:</a:t>
            </a:r>
            <a:endParaRPr dirty="0"/>
          </a:p>
          <a:p>
            <a:pPr marL="900112" lvl="1" indent="-442912" algn="l" rtl="0">
              <a:lnSpc>
                <a:spcPct val="100000"/>
              </a:lnSpc>
              <a:spcAft>
                <a:spcPts val="0"/>
              </a:spcAft>
              <a:buSzPts val="2400"/>
              <a:buChar char="–"/>
            </a:pPr>
            <a:r>
              <a:rPr lang="en-US" dirty="0"/>
              <a:t>amplifiers for analog systems</a:t>
            </a:r>
            <a:endParaRPr dirty="0"/>
          </a:p>
          <a:p>
            <a:pPr marL="900112" lvl="1" indent="-442912" algn="l" rtl="0">
              <a:lnSpc>
                <a:spcPct val="100000"/>
              </a:lnSpc>
              <a:spcAft>
                <a:spcPts val="0"/>
              </a:spcAft>
              <a:buSzPts val="2400"/>
              <a:buChar char="–"/>
            </a:pPr>
            <a:r>
              <a:rPr lang="en-US" dirty="0"/>
              <a:t>repeaters for digital systems </a:t>
            </a:r>
            <a:endParaRPr dirty="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Error Prevention (1 of 2)</a:t>
            </a:r>
            <a:endParaRPr dirty="0"/>
          </a:p>
        </p:txBody>
      </p:sp>
      <p:sp>
        <p:nvSpPr>
          <p:cNvPr id="248" name="Google Shape;248;p18"/>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To prevent errors from happening, several techniques may be applied:</a:t>
            </a:r>
            <a:endParaRPr dirty="0"/>
          </a:p>
          <a:p>
            <a:pPr marL="900113" lvl="1" indent="-442913" algn="l" rtl="0">
              <a:lnSpc>
                <a:spcPct val="100000"/>
              </a:lnSpc>
              <a:spcBef>
                <a:spcPts val="624"/>
              </a:spcBef>
              <a:spcAft>
                <a:spcPts val="0"/>
              </a:spcAft>
              <a:buSzPts val="2400"/>
              <a:buChar char="–"/>
            </a:pPr>
            <a:r>
              <a:rPr lang="en-US" dirty="0"/>
              <a:t>Proper shielding of cables to reduce interference</a:t>
            </a:r>
            <a:endParaRPr dirty="0"/>
          </a:p>
          <a:p>
            <a:pPr marL="900113" lvl="1" indent="-442913" algn="l" rtl="0">
              <a:lnSpc>
                <a:spcPct val="100000"/>
              </a:lnSpc>
              <a:spcBef>
                <a:spcPts val="624"/>
              </a:spcBef>
              <a:spcAft>
                <a:spcPts val="0"/>
              </a:spcAft>
              <a:buSzPts val="2400"/>
              <a:buChar char="–"/>
            </a:pPr>
            <a:r>
              <a:rPr lang="en-US" dirty="0"/>
              <a:t>Telephone line conditioning or equalization </a:t>
            </a:r>
            <a:endParaRPr dirty="0"/>
          </a:p>
          <a:p>
            <a:pPr marL="900113" lvl="1" indent="-442913" algn="l" rtl="0">
              <a:lnSpc>
                <a:spcPct val="100000"/>
              </a:lnSpc>
              <a:spcBef>
                <a:spcPts val="624"/>
              </a:spcBef>
              <a:spcAft>
                <a:spcPts val="0"/>
              </a:spcAft>
              <a:buSzPts val="2400"/>
              <a:buChar char="–"/>
            </a:pPr>
            <a:r>
              <a:rPr lang="en-US" dirty="0"/>
              <a:t>Replacing older media and equipment with new, possibly digital components</a:t>
            </a:r>
            <a:endParaRPr dirty="0"/>
          </a:p>
          <a:p>
            <a:pPr marL="900113" lvl="1" indent="-442913" algn="l" rtl="0">
              <a:lnSpc>
                <a:spcPct val="100000"/>
              </a:lnSpc>
              <a:spcBef>
                <a:spcPts val="624"/>
              </a:spcBef>
              <a:spcAft>
                <a:spcPts val="0"/>
              </a:spcAft>
              <a:buSzPts val="2400"/>
              <a:buChar char="–"/>
            </a:pPr>
            <a:r>
              <a:rPr lang="en-US" dirty="0"/>
              <a:t>Proper use of digital repeaters and analog amplifiers</a:t>
            </a:r>
            <a:endParaRPr dirty="0"/>
          </a:p>
          <a:p>
            <a:pPr marL="900113" lvl="1" indent="-442913" algn="l" rtl="0">
              <a:lnSpc>
                <a:spcPct val="100000"/>
              </a:lnSpc>
              <a:spcBef>
                <a:spcPts val="624"/>
              </a:spcBef>
              <a:spcAft>
                <a:spcPts val="0"/>
              </a:spcAft>
              <a:buSzPts val="2400"/>
              <a:buChar char="–"/>
            </a:pPr>
            <a:r>
              <a:rPr lang="en-US" dirty="0"/>
              <a:t>Observe the stated capacities of the media</a:t>
            </a:r>
            <a:endParaRPr dirty="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9"/>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Error Prevention (2 of 2)</a:t>
            </a:r>
            <a:endParaRPr dirty="0"/>
          </a:p>
        </p:txBody>
      </p:sp>
      <p:sp>
        <p:nvSpPr>
          <p:cNvPr id="2" name="Text Placeholder 1">
            <a:extLst>
              <a:ext uri="{FF2B5EF4-FFF2-40B4-BE49-F238E27FC236}">
                <a16:creationId xmlns:a16="http://schemas.microsoft.com/office/drawing/2014/main" id="{17AC605E-A48A-4390-9B1D-988E6298CC6C}"/>
              </a:ext>
            </a:extLst>
          </p:cNvPr>
          <p:cNvSpPr>
            <a:spLocks noGrp="1"/>
          </p:cNvSpPr>
          <p:nvPr>
            <p:ph type="body" idx="1"/>
          </p:nvPr>
        </p:nvSpPr>
        <p:spPr>
          <a:xfrm>
            <a:off x="743576" y="1289684"/>
            <a:ext cx="7094137" cy="364945"/>
          </a:xfrm>
        </p:spPr>
        <p:txBody>
          <a:bodyPr/>
          <a:lstStyle/>
          <a:p>
            <a:pPr marL="63500" indent="0">
              <a:buNone/>
            </a:pPr>
            <a:r>
              <a:rPr lang="en-IN" sz="1800" b="1" dirty="0"/>
              <a:t>Table 4-1 Summary of Errors and Error-Prevention Techniques</a:t>
            </a:r>
          </a:p>
        </p:txBody>
      </p:sp>
      <p:graphicFrame>
        <p:nvGraphicFramePr>
          <p:cNvPr id="10" name="Table 10">
            <a:extLst>
              <a:ext uri="{FF2B5EF4-FFF2-40B4-BE49-F238E27FC236}">
                <a16:creationId xmlns:a16="http://schemas.microsoft.com/office/drawing/2014/main" id="{745780AF-3A21-43B3-A808-A38385DD1998}"/>
              </a:ext>
            </a:extLst>
          </p:cNvPr>
          <p:cNvGraphicFramePr>
            <a:graphicFrameLocks noGrp="1"/>
          </p:cNvGraphicFramePr>
          <p:nvPr>
            <p:extLst>
              <p:ext uri="{D42A27DB-BD31-4B8C-83A1-F6EECF244321}">
                <p14:modId xmlns:p14="http://schemas.microsoft.com/office/powerpoint/2010/main" val="2338375487"/>
              </p:ext>
            </p:extLst>
          </p:nvPr>
        </p:nvGraphicFramePr>
        <p:xfrm>
          <a:off x="743576" y="1799662"/>
          <a:ext cx="10827535" cy="3764280"/>
        </p:xfrm>
        <a:graphic>
          <a:graphicData uri="http://schemas.openxmlformats.org/drawingml/2006/table">
            <a:tbl>
              <a:tblPr firstRow="1" bandRow="1"/>
              <a:tblGrid>
                <a:gridCol w="4926330">
                  <a:extLst>
                    <a:ext uri="{9D8B030D-6E8A-4147-A177-3AD203B41FA5}">
                      <a16:colId xmlns:a16="http://schemas.microsoft.com/office/drawing/2014/main" val="331203805"/>
                    </a:ext>
                  </a:extLst>
                </a:gridCol>
                <a:gridCol w="5901205">
                  <a:extLst>
                    <a:ext uri="{9D8B030D-6E8A-4147-A177-3AD203B41FA5}">
                      <a16:colId xmlns:a16="http://schemas.microsoft.com/office/drawing/2014/main" val="1306242249"/>
                    </a:ext>
                  </a:extLst>
                </a:gridCol>
              </a:tblGrid>
              <a:tr h="370840">
                <a:tc>
                  <a:txBody>
                    <a:bodyPr/>
                    <a:lstStyle/>
                    <a:p>
                      <a:r>
                        <a:rPr lang="en-IN" sz="1600" b="1" dirty="0">
                          <a:solidFill>
                            <a:schemeClr val="tx2">
                              <a:lumMod val="10000"/>
                            </a:schemeClr>
                          </a:solidFill>
                          <a:latin typeface="Arial" panose="020B0604020202020204" pitchFamily="34" charset="0"/>
                          <a:cs typeface="Arial" panose="020B0604020202020204" pitchFamily="34" charset="0"/>
                        </a:rPr>
                        <a:t>Type of Error</a:t>
                      </a:r>
                    </a:p>
                  </a:txBody>
                  <a:tcPr/>
                </a:tc>
                <a:tc>
                  <a:txBody>
                    <a:bodyPr/>
                    <a:lstStyle/>
                    <a:p>
                      <a:r>
                        <a:rPr lang="en-IN" sz="1600" b="1" dirty="0">
                          <a:solidFill>
                            <a:schemeClr val="tx2">
                              <a:lumMod val="10000"/>
                            </a:schemeClr>
                          </a:solidFill>
                          <a:latin typeface="Arial" panose="020B0604020202020204" pitchFamily="34" charset="0"/>
                          <a:cs typeface="Arial" panose="020B0604020202020204" pitchFamily="34" charset="0"/>
                        </a:rPr>
                        <a:t>Error Prevention Technique</a:t>
                      </a:r>
                    </a:p>
                  </a:txBody>
                  <a:tcPr/>
                </a:tc>
                <a:extLst>
                  <a:ext uri="{0D108BD9-81ED-4DB2-BD59-A6C34878D82A}">
                    <a16:rowId xmlns:a16="http://schemas.microsoft.com/office/drawing/2014/main" val="2846704160"/>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Gaussian noise</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Install special filters for analog signals; implement digital signal regeneration for digital signals</a:t>
                      </a:r>
                    </a:p>
                  </a:txBody>
                  <a:tcPr/>
                </a:tc>
                <a:extLst>
                  <a:ext uri="{0D108BD9-81ED-4DB2-BD59-A6C34878D82A}">
                    <a16:rowId xmlns:a16="http://schemas.microsoft.com/office/drawing/2014/main" val="545027369"/>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Impulse noise</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Install special filters for analog signals; implement digital signal processing for digital signals </a:t>
                      </a:r>
                    </a:p>
                  </a:txBody>
                  <a:tcPr/>
                </a:tc>
                <a:extLst>
                  <a:ext uri="{0D108BD9-81ED-4DB2-BD59-A6C34878D82A}">
                    <a16:rowId xmlns:a16="http://schemas.microsoft.com/office/drawing/2014/main" val="4129908238"/>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Crosstalk</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Install proper shielding on cables</a:t>
                      </a:r>
                    </a:p>
                  </a:txBody>
                  <a:tcPr/>
                </a:tc>
                <a:extLst>
                  <a:ext uri="{0D108BD9-81ED-4DB2-BD59-A6C34878D82A}">
                    <a16:rowId xmlns:a16="http://schemas.microsoft.com/office/drawing/2014/main" val="1806629205"/>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Echo</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Install proper termination on cables </a:t>
                      </a:r>
                    </a:p>
                  </a:txBody>
                  <a:tcPr/>
                </a:tc>
                <a:extLst>
                  <a:ext uri="{0D108BD9-81ED-4DB2-BD59-A6C34878D82A}">
                    <a16:rowId xmlns:a16="http://schemas.microsoft.com/office/drawing/2014/main" val="4003497151"/>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Jitter</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Use better-quality electronic circuitry; use fewer repeaters; slow the transmission speed </a:t>
                      </a:r>
                    </a:p>
                  </a:txBody>
                  <a:tcPr/>
                </a:tc>
                <a:extLst>
                  <a:ext uri="{0D108BD9-81ED-4DB2-BD59-A6C34878D82A}">
                    <a16:rowId xmlns:a16="http://schemas.microsoft.com/office/drawing/2014/main" val="2034563705"/>
                  </a:ext>
                </a:extLst>
              </a:tr>
              <a:tr h="43698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solidFill>
                            <a:schemeClr val="tx2">
                              <a:lumMod val="10000"/>
                            </a:schemeClr>
                          </a:solidFill>
                          <a:latin typeface="Arial" panose="020B0604020202020204" pitchFamily="34" charset="0"/>
                          <a:cs typeface="Arial" panose="020B0604020202020204" pitchFamily="34" charset="0"/>
                        </a:rPr>
                        <a:t>Attenuation*</a:t>
                      </a:r>
                    </a:p>
                  </a:txBody>
                  <a:tcPr>
                    <a:lnB w="12700" cap="flat" cmpd="sng" algn="ctr">
                      <a:solidFill>
                        <a:schemeClr val="tx2">
                          <a:lumMod val="10000"/>
                        </a:schemeClr>
                      </a:solidFill>
                      <a:prstDash val="solid"/>
                      <a:round/>
                      <a:headEnd type="none" w="med" len="med"/>
                      <a:tailEnd type="none" w="med" len="med"/>
                    </a:lnB>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Install device that amplifies analog signals; implement digital signal regeneration of digital signals </a:t>
                      </a:r>
                    </a:p>
                  </a:txBody>
                  <a:tcPr>
                    <a:lnB w="12700" cap="flat" cmpd="sng" algn="ctr">
                      <a:solidFill>
                        <a:schemeClr val="tx2">
                          <a:lumMod val="10000"/>
                        </a:schemeClr>
                      </a:solidFill>
                      <a:prstDash val="solid"/>
                      <a:round/>
                      <a:headEnd type="none" w="med" len="med"/>
                      <a:tailEnd type="none" w="med" len="med"/>
                    </a:lnB>
                  </a:tcPr>
                </a:tc>
                <a:extLst>
                  <a:ext uri="{0D108BD9-81ED-4DB2-BD59-A6C34878D82A}">
                    <a16:rowId xmlns:a16="http://schemas.microsoft.com/office/drawing/2014/main" val="1607682063"/>
                  </a:ext>
                </a:extLst>
              </a:tr>
              <a:tr h="24032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solidFill>
                            <a:schemeClr val="tx2">
                              <a:lumMod val="10000"/>
                            </a:schemeClr>
                          </a:solidFill>
                          <a:latin typeface="Arial" panose="020B0604020202020204" pitchFamily="34" charset="0"/>
                          <a:cs typeface="Arial" panose="020B0604020202020204" pitchFamily="34" charset="0"/>
                        </a:rPr>
                        <a:t>*Not a type of error, but indirectly affects error rates </a:t>
                      </a:r>
                    </a:p>
                  </a:txBody>
                  <a:tcPr>
                    <a:lnL w="12700" cmpd="sng">
                      <a:noFill/>
                      <a:prstDash val="solid"/>
                    </a:lnL>
                    <a:lnR w="12700" cmpd="sng">
                      <a:noFill/>
                      <a:prstDash val="solid"/>
                    </a:lnR>
                    <a:lnT w="12700" cap="flat" cmpd="sng" algn="ctr">
                      <a:solidFill>
                        <a:schemeClr val="tx2">
                          <a:lumMod val="10000"/>
                        </a:schemeClr>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endParaRPr lang="en-IN" sz="1600" dirty="0">
                        <a:solidFill>
                          <a:schemeClr val="tx2">
                            <a:lumMod val="10000"/>
                          </a:schemeClr>
                        </a:solidFill>
                        <a:latin typeface="Arial" panose="020B0604020202020204" pitchFamily="34" charset="0"/>
                        <a:cs typeface="Arial" panose="020B0604020202020204" pitchFamily="34" charset="0"/>
                      </a:endParaRPr>
                    </a:p>
                  </a:txBody>
                  <a:tcPr>
                    <a:lnL w="12700" cmpd="sng">
                      <a:noFill/>
                      <a:prstDash val="solid"/>
                    </a:lnL>
                    <a:lnR w="12700" cmpd="sng">
                      <a:noFill/>
                      <a:prstDash val="solid"/>
                    </a:lnR>
                    <a:lnT w="12700" cap="flat" cmpd="sng" algn="ctr">
                      <a:solidFill>
                        <a:schemeClr val="tx2">
                          <a:lumMod val="10000"/>
                        </a:schemeClr>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993903646"/>
                  </a:ext>
                </a:extLst>
              </a:tr>
            </a:tbl>
          </a:graphicData>
        </a:graphic>
      </p:graphicFrame>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0"/>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Error Detection</a:t>
            </a:r>
            <a:endParaRPr dirty="0"/>
          </a:p>
        </p:txBody>
      </p:sp>
      <p:sp>
        <p:nvSpPr>
          <p:cNvPr id="260" name="Google Shape;260;p20"/>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Despite the best prevention techniques, errors may still happen</a:t>
            </a:r>
            <a:endParaRPr/>
          </a:p>
          <a:p>
            <a:pPr marL="457200" lvl="0" indent="-457200" algn="l" rtl="0">
              <a:lnSpc>
                <a:spcPct val="100000"/>
              </a:lnSpc>
              <a:spcBef>
                <a:spcPts val="624"/>
              </a:spcBef>
              <a:spcAft>
                <a:spcPts val="0"/>
              </a:spcAft>
              <a:buClr>
                <a:srgbClr val="004A78"/>
              </a:buClr>
              <a:buSzPts val="2600"/>
              <a:buFont typeface="Arial"/>
              <a:buChar char="•"/>
            </a:pPr>
            <a:r>
              <a:rPr lang="en-US"/>
              <a:t>To detect an error, something extra has to be added to the data/signal  </a:t>
            </a:r>
            <a:endParaRPr/>
          </a:p>
          <a:p>
            <a:pPr marL="900113" lvl="1" indent="-442913" algn="l" rtl="0">
              <a:lnSpc>
                <a:spcPct val="100000"/>
              </a:lnSpc>
              <a:spcBef>
                <a:spcPts val="624"/>
              </a:spcBef>
              <a:spcAft>
                <a:spcPts val="0"/>
              </a:spcAft>
              <a:buSzPts val="2400"/>
              <a:buChar char="–"/>
            </a:pPr>
            <a:r>
              <a:rPr lang="en-US"/>
              <a:t>This extra is an error detection code</a:t>
            </a:r>
            <a:endParaRPr/>
          </a:p>
          <a:p>
            <a:pPr marL="457200" lvl="0" indent="-457200" algn="l" rtl="0">
              <a:lnSpc>
                <a:spcPct val="100000"/>
              </a:lnSpc>
              <a:spcBef>
                <a:spcPts val="624"/>
              </a:spcBef>
              <a:spcAft>
                <a:spcPts val="0"/>
              </a:spcAft>
              <a:buClr>
                <a:srgbClr val="004A78"/>
              </a:buClr>
              <a:buSzPts val="2600"/>
              <a:buFont typeface="Arial"/>
              <a:buChar char="•"/>
            </a:pPr>
            <a:r>
              <a:rPr lang="en-US"/>
              <a:t>Three basic techniques for detecting errors:</a:t>
            </a:r>
            <a:endParaRPr/>
          </a:p>
          <a:p>
            <a:pPr marL="900112" lvl="1" indent="-455612" algn="l" rtl="0">
              <a:lnSpc>
                <a:spcPct val="100000"/>
              </a:lnSpc>
              <a:spcBef>
                <a:spcPts val="624"/>
              </a:spcBef>
              <a:spcAft>
                <a:spcPts val="0"/>
              </a:spcAft>
              <a:buClr>
                <a:srgbClr val="004A78"/>
              </a:buClr>
              <a:buSzPts val="2600"/>
              <a:buFont typeface="Arial"/>
              <a:buChar char="–"/>
            </a:pPr>
            <a:r>
              <a:rPr lang="en-US"/>
              <a:t>parity checking</a:t>
            </a:r>
            <a:endParaRPr/>
          </a:p>
          <a:p>
            <a:pPr marL="900112" lvl="1" indent="-455612" algn="l" rtl="0">
              <a:lnSpc>
                <a:spcPct val="100000"/>
              </a:lnSpc>
              <a:spcBef>
                <a:spcPts val="624"/>
              </a:spcBef>
              <a:spcAft>
                <a:spcPts val="0"/>
              </a:spcAft>
              <a:buClr>
                <a:srgbClr val="004A78"/>
              </a:buClr>
              <a:buSzPts val="2600"/>
              <a:buFont typeface="Arial"/>
              <a:buChar char="–"/>
            </a:pPr>
            <a:r>
              <a:rPr lang="en-US"/>
              <a:t>arithmetic checksum</a:t>
            </a:r>
            <a:endParaRPr/>
          </a:p>
          <a:p>
            <a:pPr marL="900112" lvl="1" indent="-455612" algn="l" rtl="0">
              <a:lnSpc>
                <a:spcPct val="100000"/>
              </a:lnSpc>
              <a:spcBef>
                <a:spcPts val="624"/>
              </a:spcBef>
              <a:spcAft>
                <a:spcPts val="0"/>
              </a:spcAft>
              <a:buClr>
                <a:srgbClr val="004A78"/>
              </a:buClr>
              <a:buSzPts val="2600"/>
              <a:buFont typeface="Arial"/>
              <a:buChar char="–"/>
            </a:pPr>
            <a:r>
              <a:rPr lang="en-US"/>
              <a:t>cyclic redundancy checksum</a:t>
            </a:r>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1"/>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Parity Checks (1 of 6)</a:t>
            </a:r>
            <a:endParaRPr dirty="0"/>
          </a:p>
        </p:txBody>
      </p:sp>
      <p:sp>
        <p:nvSpPr>
          <p:cNvPr id="266" name="Google Shape;266;p21"/>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Simple parity</a:t>
            </a:r>
            <a:endParaRPr/>
          </a:p>
          <a:p>
            <a:pPr marL="900113" lvl="1" indent="-442913" algn="l" rtl="0">
              <a:lnSpc>
                <a:spcPct val="100000"/>
              </a:lnSpc>
              <a:spcBef>
                <a:spcPts val="624"/>
              </a:spcBef>
              <a:spcAft>
                <a:spcPts val="0"/>
              </a:spcAft>
              <a:buSzPts val="2400"/>
              <a:buChar char="–"/>
            </a:pPr>
            <a:r>
              <a:rPr lang="en-US"/>
              <a:t>If performing even parity, add a parity bit such that an even number of 1s are maintained</a:t>
            </a:r>
            <a:endParaRPr/>
          </a:p>
          <a:p>
            <a:pPr marL="900113" lvl="1" indent="-442913" algn="l" rtl="0">
              <a:lnSpc>
                <a:spcPct val="100000"/>
              </a:lnSpc>
              <a:spcBef>
                <a:spcPts val="624"/>
              </a:spcBef>
              <a:spcAft>
                <a:spcPts val="0"/>
              </a:spcAft>
              <a:buSzPts val="2400"/>
              <a:buChar char="–"/>
            </a:pPr>
            <a:r>
              <a:rPr lang="en-US"/>
              <a:t>If performing odd parity, add a parity bit such that an odd number of 1s are maintained</a:t>
            </a:r>
            <a:endParaRPr/>
          </a:p>
          <a:p>
            <a:pPr marL="900113" lvl="1" indent="-442913" algn="l" rtl="0">
              <a:lnSpc>
                <a:spcPct val="100000"/>
              </a:lnSpc>
              <a:spcBef>
                <a:spcPts val="624"/>
              </a:spcBef>
              <a:spcAft>
                <a:spcPts val="0"/>
              </a:spcAft>
              <a:buSzPts val="2400"/>
              <a:buChar char="–"/>
            </a:pPr>
            <a:r>
              <a:rPr lang="en-US"/>
              <a:t>For example, send 1001010 using even parity</a:t>
            </a:r>
            <a:endParaRPr/>
          </a:p>
          <a:p>
            <a:pPr marL="900113" lvl="1" indent="-442913" algn="l" rtl="0">
              <a:lnSpc>
                <a:spcPct val="100000"/>
              </a:lnSpc>
              <a:spcBef>
                <a:spcPts val="624"/>
              </a:spcBef>
              <a:spcAft>
                <a:spcPts val="0"/>
              </a:spcAft>
              <a:buSzPts val="2400"/>
              <a:buChar char="–"/>
            </a:pPr>
            <a:r>
              <a:rPr lang="en-US"/>
              <a:t>For example, send 1001011 using even parity</a:t>
            </a:r>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Parity Checks (2 of 6)</a:t>
            </a:r>
            <a:endParaRPr dirty="0"/>
          </a:p>
        </p:txBody>
      </p:sp>
      <p:sp>
        <p:nvSpPr>
          <p:cNvPr id="272" name="Google Shape;272;p22"/>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Simple parity (continued)</a:t>
            </a:r>
            <a:endParaRPr dirty="0"/>
          </a:p>
          <a:p>
            <a:pPr marL="900113" lvl="1" indent="-442913" algn="l" rtl="0">
              <a:lnSpc>
                <a:spcPct val="100000"/>
              </a:lnSpc>
              <a:spcBef>
                <a:spcPts val="624"/>
              </a:spcBef>
              <a:spcAft>
                <a:spcPts val="0"/>
              </a:spcAft>
              <a:buSzPts val="2400"/>
              <a:buChar char="–"/>
            </a:pPr>
            <a:r>
              <a:rPr lang="en-US" dirty="0"/>
              <a:t>What happens if the character 10010101 is sent and the first two 0s accidentally become two 1s?</a:t>
            </a:r>
            <a:endParaRPr dirty="0"/>
          </a:p>
          <a:p>
            <a:pPr marL="1350963" lvl="2" indent="-436563" algn="l" rtl="0">
              <a:lnSpc>
                <a:spcPct val="100000"/>
              </a:lnSpc>
              <a:spcBef>
                <a:spcPts val="624"/>
              </a:spcBef>
              <a:spcAft>
                <a:spcPts val="0"/>
              </a:spcAft>
              <a:buClr>
                <a:srgbClr val="000000"/>
              </a:buClr>
              <a:buSzPts val="2200"/>
              <a:buFont typeface="Arial" panose="020B0604020202020204" pitchFamily="34" charset="0"/>
              <a:buChar char="•"/>
            </a:pPr>
            <a:r>
              <a:rPr lang="en-US" dirty="0"/>
              <a:t>Thus, the following character is received: 11110101</a:t>
            </a:r>
            <a:endParaRPr dirty="0"/>
          </a:p>
          <a:p>
            <a:pPr marL="1350963" lvl="2" indent="-436563" algn="l" rtl="0">
              <a:lnSpc>
                <a:spcPct val="100000"/>
              </a:lnSpc>
              <a:spcBef>
                <a:spcPts val="624"/>
              </a:spcBef>
              <a:spcAft>
                <a:spcPts val="0"/>
              </a:spcAft>
              <a:buClr>
                <a:srgbClr val="000000"/>
              </a:buClr>
              <a:buSzPts val="2200"/>
              <a:buFont typeface="Arial" panose="020B0604020202020204" pitchFamily="34" charset="0"/>
              <a:buChar char="•"/>
            </a:pPr>
            <a:r>
              <a:rPr lang="en-US" dirty="0"/>
              <a:t>Will there be a parity error?</a:t>
            </a:r>
            <a:endParaRPr dirty="0"/>
          </a:p>
          <a:p>
            <a:pPr marL="1790700" lvl="3" indent="-419100" algn="l" rtl="0">
              <a:lnSpc>
                <a:spcPct val="100000"/>
              </a:lnSpc>
              <a:spcBef>
                <a:spcPts val="500"/>
              </a:spcBef>
              <a:spcAft>
                <a:spcPts val="0"/>
              </a:spcAft>
              <a:buClr>
                <a:srgbClr val="000000"/>
              </a:buClr>
              <a:buSzPts val="2000"/>
              <a:buChar char="•"/>
            </a:pPr>
            <a:r>
              <a:rPr lang="en-US" sz="2000" dirty="0">
                <a:solidFill>
                  <a:srgbClr val="000000"/>
                </a:solidFill>
                <a:latin typeface="Arial"/>
                <a:ea typeface="Arial"/>
                <a:cs typeface="Arial"/>
                <a:sym typeface="Arial"/>
              </a:rPr>
              <a:t>Problem: Simple parity only detects odd numbers of bits in error</a:t>
            </a:r>
            <a:endParaRPr dirty="0">
              <a:solidFill>
                <a:srgbClr val="000000"/>
              </a:solidFill>
              <a:latin typeface="Arial"/>
              <a:ea typeface="Arial"/>
              <a:cs typeface="Arial"/>
              <a:sym typeface="Arial"/>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Parity Checks (3 of 6)</a:t>
            </a:r>
            <a:endParaRPr dirty="0"/>
          </a:p>
        </p:txBody>
      </p:sp>
      <p:sp>
        <p:nvSpPr>
          <p:cNvPr id="278" name="Google Shape;278;p2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Longitudinal parity </a:t>
            </a:r>
            <a:endParaRPr/>
          </a:p>
          <a:p>
            <a:pPr marL="900113" lvl="1" indent="-442913" algn="l" rtl="0">
              <a:lnSpc>
                <a:spcPct val="100000"/>
              </a:lnSpc>
              <a:spcBef>
                <a:spcPts val="624"/>
              </a:spcBef>
              <a:spcAft>
                <a:spcPts val="0"/>
              </a:spcAft>
              <a:buSzPts val="2400"/>
              <a:buChar char="–"/>
            </a:pPr>
            <a:r>
              <a:rPr lang="en-US"/>
              <a:t>Adds a parity bit to each character then adds a row of parity bits after a block of characters</a:t>
            </a:r>
            <a:endParaRPr/>
          </a:p>
          <a:p>
            <a:pPr marL="900113" lvl="1" indent="-442913" algn="l" rtl="0">
              <a:lnSpc>
                <a:spcPct val="100000"/>
              </a:lnSpc>
              <a:spcBef>
                <a:spcPts val="624"/>
              </a:spcBef>
              <a:spcAft>
                <a:spcPts val="0"/>
              </a:spcAft>
              <a:buSzPts val="2400"/>
              <a:buChar char="–"/>
            </a:pPr>
            <a:r>
              <a:rPr lang="en-US"/>
              <a:t>The row of parity bits is actually a parity bit for each “column” of characters</a:t>
            </a:r>
            <a:endParaRPr/>
          </a:p>
          <a:p>
            <a:pPr marL="900113" lvl="1" indent="-442913" algn="l" rtl="0">
              <a:lnSpc>
                <a:spcPct val="100000"/>
              </a:lnSpc>
              <a:spcBef>
                <a:spcPts val="624"/>
              </a:spcBef>
              <a:spcAft>
                <a:spcPts val="0"/>
              </a:spcAft>
              <a:buSzPts val="2400"/>
              <a:buChar char="–"/>
            </a:pPr>
            <a:r>
              <a:rPr lang="en-US"/>
              <a:t>The row of parity bits plus the column parity bits add a great amount of redundancy to a block of characters</a:t>
            </a:r>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Parity Checks (4 of 6)</a:t>
            </a:r>
            <a:endParaRPr dirty="0"/>
          </a:p>
        </p:txBody>
      </p:sp>
      <p:pic>
        <p:nvPicPr>
          <p:cNvPr id="2" name="Picture 1" descr="A table depicting the example of longitudinal parity has eight columns and five rows. The row wise entries are as follows: Row 1: 1, 1, 0, 1, 0, 1, 1, 1; Row 2: 1, 1, 1, 1, 1, 1, 1, 1; Row 3: 0, 1, 0, 1, 0, 1, 0, 1; Row 4: 0, 0, 1, 1, 0, 0, 1, 1; and Row 5 labeled, Parity row: 0, 1, 0, 0, 1, 1, 1, 0. The data in row 5 and column 8 are highlighted, and column 8 is labeled, parity bit. The data in other rows and columns are labeled, data.&#10;Figure 4-10 Simple example of longitudinal parity">
            <a:extLst>
              <a:ext uri="{FF2B5EF4-FFF2-40B4-BE49-F238E27FC236}">
                <a16:creationId xmlns:a16="http://schemas.microsoft.com/office/drawing/2014/main" id="{DC367CB6-D24D-4FD3-8C41-5681D8F80F12}"/>
              </a:ext>
            </a:extLst>
          </p:cNvPr>
          <p:cNvPicPr>
            <a:picLocks noChangeAspect="1"/>
          </p:cNvPicPr>
          <p:nvPr/>
        </p:nvPicPr>
        <p:blipFill>
          <a:blip r:embed="rId4"/>
          <a:stretch>
            <a:fillRect/>
          </a:stretch>
        </p:blipFill>
        <p:spPr>
          <a:xfrm>
            <a:off x="2431986" y="1655897"/>
            <a:ext cx="7328027" cy="4206605"/>
          </a:xfrm>
          <a:prstGeom prst="rect">
            <a:avLst/>
          </a:prstGeom>
        </p:spPr>
      </p:pic>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Parity Checks (5 of 6)</a:t>
            </a:r>
            <a:endParaRPr dirty="0"/>
          </a:p>
        </p:txBody>
      </p:sp>
      <p:pic>
        <p:nvPicPr>
          <p:cNvPr id="2" name="Picture 1" descr="A table depicting the example of longitudinal parity has eight columns and five rows. The row wise entries are as follows: Row 1: 1, 0, 1, 1, 0, 1, 1, 1; Row 2: 1, 0, 0, 1, 1, 1, 1, 1; Row 3: 0, 1, 0, 1, 0, 1, 0, 1; Row 4: 0, 0, 1, 1, 0, 0, 1, 1; and Row 5 labeled, Parity row: 0, 1, 0, 0, 1, 1, 1, 0. The data in row 5 and column 8 are highlighted, and column 8 is labeled, parity bit. The data in other rows and columns are labeled, data. The following four cells are highlighted in the table. Row 1: the entry 1 is struck through and changed to 0 in column 2, the entry 0 is struck through and changed to 1 in column 3; Row 2: the entry 1 is changed to 0 in column 2; the entry 1 is changed to 0 in column 3.&#10;Figure 4-11 The second and third bits in Rows 1 and 2 have errors, but longitudinal parity does not detect the errors">
            <a:extLst>
              <a:ext uri="{FF2B5EF4-FFF2-40B4-BE49-F238E27FC236}">
                <a16:creationId xmlns:a16="http://schemas.microsoft.com/office/drawing/2014/main" id="{03434511-DE55-49BF-A86A-962C57FA9583}"/>
              </a:ext>
            </a:extLst>
          </p:cNvPr>
          <p:cNvPicPr>
            <a:picLocks noChangeAspect="1"/>
          </p:cNvPicPr>
          <p:nvPr/>
        </p:nvPicPr>
        <p:blipFill>
          <a:blip r:embed="rId4"/>
          <a:stretch>
            <a:fillRect/>
          </a:stretch>
        </p:blipFill>
        <p:spPr>
          <a:xfrm>
            <a:off x="2633172" y="1330760"/>
            <a:ext cx="6925656" cy="4602879"/>
          </a:xfrm>
          <a:prstGeom prst="rect">
            <a:avLst/>
          </a:prstGeom>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Parity Checks (6 of 6)</a:t>
            </a:r>
            <a:endParaRPr dirty="0"/>
          </a:p>
        </p:txBody>
      </p:sp>
      <p:sp>
        <p:nvSpPr>
          <p:cNvPr id="296" name="Google Shape;296;p2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Both simple parity and longitudinal parity do not catch all errors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Simple parity only catches odd numbers of bit errors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Longitudinal parity is better at catching errors but requires too many check bits added to a block of data</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We need a better error detection method</a:t>
            </a:r>
            <a:endParaRPr dirty="0"/>
          </a:p>
          <a:p>
            <a:pPr marL="900113" lvl="1" indent="-442913" algn="l" rtl="0">
              <a:lnSpc>
                <a:spcPct val="100000"/>
              </a:lnSpc>
              <a:spcBef>
                <a:spcPts val="624"/>
              </a:spcBef>
              <a:spcAft>
                <a:spcPts val="0"/>
              </a:spcAft>
              <a:buSzPts val="2400"/>
              <a:buChar char="–"/>
            </a:pPr>
            <a:r>
              <a:rPr lang="en-US" dirty="0"/>
              <a:t>What about arithmetic checksum?</a:t>
            </a:r>
            <a:endParaRPr dirty="0"/>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Arithmetic Checksum (1 of 3)</a:t>
            </a:r>
            <a:endParaRPr dirty="0"/>
          </a:p>
        </p:txBody>
      </p:sp>
      <p:sp>
        <p:nvSpPr>
          <p:cNvPr id="302" name="Google Shape;302;p2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Used in TCP and IP on the Internet</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Characters to be transmitted are converted to numeric form and summed</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Sum is placed in some form at the end of the transmission</a:t>
            </a:r>
            <a:endParaRPr dirty="0"/>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Arithmetic Checksum (2 of 3)</a:t>
            </a:r>
            <a:endParaRPr dirty="0"/>
          </a:p>
        </p:txBody>
      </p:sp>
      <p:sp>
        <p:nvSpPr>
          <p:cNvPr id="308" name="Google Shape;308;p28"/>
          <p:cNvSpPr txBox="1">
            <a:spLocks noGrp="1"/>
          </p:cNvSpPr>
          <p:nvPr>
            <p:ph type="body" idx="1"/>
          </p:nvPr>
        </p:nvSpPr>
        <p:spPr>
          <a:xfrm>
            <a:off x="743574" y="1289682"/>
            <a:ext cx="4460603" cy="29730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For example, the message "This is cool."</a:t>
            </a:r>
            <a:endParaRPr dirty="0"/>
          </a:p>
          <a:p>
            <a:pPr marL="457200" lvl="0" indent="0" algn="l" rtl="0">
              <a:lnSpc>
                <a:spcPct val="100000"/>
              </a:lnSpc>
              <a:spcBef>
                <a:spcPts val="0"/>
              </a:spcBef>
              <a:spcAft>
                <a:spcPts val="0"/>
              </a:spcAft>
              <a:buNone/>
            </a:pPr>
            <a:endParaRPr dirty="0"/>
          </a:p>
          <a:p>
            <a:pPr marL="457200" lvl="0" indent="-457200" algn="l" rtl="0">
              <a:lnSpc>
                <a:spcPct val="100000"/>
              </a:lnSpc>
              <a:spcBef>
                <a:spcPts val="0"/>
              </a:spcBef>
              <a:spcAft>
                <a:spcPts val="0"/>
              </a:spcAft>
              <a:buSzPts val="2600"/>
              <a:buChar char="•"/>
            </a:pPr>
            <a:r>
              <a:rPr lang="en-US" dirty="0"/>
              <a:t>The value 1167 is added at the end of the message</a:t>
            </a:r>
            <a:endParaRPr dirty="0"/>
          </a:p>
        </p:txBody>
      </p:sp>
      <p:pic>
        <p:nvPicPr>
          <p:cNvPr id="2" name="Picture 1" descr="A table has three columns and fourteen rows. The column headers are as follows: Character, binary value, and decimal value. The row wise entries are as follows: Row 1: T, 1 0 1 0 1 0 0, 84; Row 2: h, 1 1 0 1 0 0 0, 104; Row 3: i, 1 1 0 1 0 0 1, 105; Row 4: s, 1 1 1 0 0 1 1, 115; Row 5: space, 0 1 0 0 0 0 0, 32; Row 6: i, 1 1 0 1 0 0 1, 105; Row 7: s, 1 1 1 0 0 1 1, 115; Row 8: space, 0 1 0 0 0 0 0, 32; Row 9: c, 1 1 0 0 0 1 1, 99; Row 10: o, 1 1 0 1 1 1 1; 111; Row 11: o, 1 1 0 1 1 1 1; 111; Row 12: l, 1 1 0 1 1 0 0, 108; Row 13: blank, 0 1 0 1 1 1 0, 46; and Row 14: blank, total in decimal, 1167.&#10;Figure 4-12 Binary values are converted &#10;to decimal and then added together">
            <a:extLst>
              <a:ext uri="{FF2B5EF4-FFF2-40B4-BE49-F238E27FC236}">
                <a16:creationId xmlns:a16="http://schemas.microsoft.com/office/drawing/2014/main" id="{484A1095-12A9-4AAC-A3AF-E2B01E3BFACE}"/>
              </a:ext>
            </a:extLst>
          </p:cNvPr>
          <p:cNvPicPr>
            <a:picLocks noChangeAspect="1"/>
          </p:cNvPicPr>
          <p:nvPr/>
        </p:nvPicPr>
        <p:blipFill>
          <a:blip r:embed="rId4"/>
          <a:stretch>
            <a:fillRect/>
          </a:stretch>
        </p:blipFill>
        <p:spPr>
          <a:xfrm>
            <a:off x="6708463" y="1037230"/>
            <a:ext cx="4261473" cy="5194242"/>
          </a:xfrm>
          <a:prstGeom prst="rect">
            <a:avLst/>
          </a:prstGeom>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Arithmetic Checksum (3 of 3)</a:t>
            </a:r>
            <a:endParaRPr dirty="0"/>
          </a:p>
        </p:txBody>
      </p:sp>
      <p:sp>
        <p:nvSpPr>
          <p:cNvPr id="315" name="Google Shape;315;p2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Receiver performs same conversion and summing and compares new sum with sent sum</a:t>
            </a:r>
            <a:endParaRPr/>
          </a:p>
          <a:p>
            <a:pPr marL="457200" lvl="0" indent="-457200" algn="l" rtl="0">
              <a:lnSpc>
                <a:spcPct val="100000"/>
              </a:lnSpc>
              <a:spcBef>
                <a:spcPts val="624"/>
              </a:spcBef>
              <a:spcAft>
                <a:spcPts val="0"/>
              </a:spcAft>
              <a:buClr>
                <a:srgbClr val="004A78"/>
              </a:buClr>
              <a:buSzPts val="2600"/>
              <a:buFont typeface="Arial"/>
              <a:buChar char="•"/>
            </a:pPr>
            <a:r>
              <a:rPr lang="en-US"/>
              <a:t>TCP and IP processes a little more complex but idea is the same</a:t>
            </a:r>
            <a:endParaRPr/>
          </a:p>
          <a:p>
            <a:pPr marL="457200" lvl="0" indent="-457200" algn="l" rtl="0">
              <a:lnSpc>
                <a:spcPct val="100000"/>
              </a:lnSpc>
              <a:spcBef>
                <a:spcPts val="624"/>
              </a:spcBef>
              <a:spcAft>
                <a:spcPts val="0"/>
              </a:spcAft>
              <a:buClr>
                <a:srgbClr val="004A78"/>
              </a:buClr>
              <a:buSzPts val="2600"/>
              <a:buFont typeface="Arial"/>
              <a:buChar char="•"/>
            </a:pPr>
            <a:r>
              <a:rPr lang="en-US"/>
              <a:t>But even arithmetic checksum can let errors slip through</a:t>
            </a:r>
            <a:endParaRPr/>
          </a:p>
          <a:p>
            <a:pPr marL="457200" lvl="0" indent="-457200" algn="l" rtl="0">
              <a:lnSpc>
                <a:spcPct val="100000"/>
              </a:lnSpc>
              <a:spcBef>
                <a:spcPts val="624"/>
              </a:spcBef>
              <a:spcAft>
                <a:spcPts val="0"/>
              </a:spcAft>
              <a:buClr>
                <a:srgbClr val="004A78"/>
              </a:buClr>
              <a:buSzPts val="2600"/>
              <a:buFont typeface="Arial"/>
              <a:buChar char="•"/>
            </a:pPr>
            <a:r>
              <a:rPr lang="en-US"/>
              <a:t>Is there something more powerful yet?</a:t>
            </a:r>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Cyclic Redundancy Checksum (1 of 4)</a:t>
            </a:r>
            <a:endParaRPr dirty="0"/>
          </a:p>
        </p:txBody>
      </p:sp>
      <p:sp>
        <p:nvSpPr>
          <p:cNvPr id="321" name="Google Shape;321;p3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CRC error detection method treats the packet of data to be transmitted as a large polynomial</a:t>
            </a:r>
            <a:endParaRPr/>
          </a:p>
          <a:p>
            <a:pPr marL="457200" lvl="0" indent="-457200" algn="l" rtl="0">
              <a:lnSpc>
                <a:spcPct val="100000"/>
              </a:lnSpc>
              <a:spcBef>
                <a:spcPts val="624"/>
              </a:spcBef>
              <a:spcAft>
                <a:spcPts val="0"/>
              </a:spcAft>
              <a:buClr>
                <a:srgbClr val="004A78"/>
              </a:buClr>
              <a:buSzPts val="2600"/>
              <a:buFont typeface="Arial"/>
              <a:buChar char="•"/>
            </a:pPr>
            <a:r>
              <a:rPr lang="en-US"/>
              <a:t>Transmitter takes the message polynomial and using polynomial arithmetic, divides it by a given generating polynomial</a:t>
            </a:r>
            <a:endParaRPr/>
          </a:p>
          <a:p>
            <a:pPr marL="457200" lvl="0" indent="-457200" algn="l" rtl="0">
              <a:lnSpc>
                <a:spcPct val="100000"/>
              </a:lnSpc>
              <a:spcBef>
                <a:spcPts val="624"/>
              </a:spcBef>
              <a:spcAft>
                <a:spcPts val="0"/>
              </a:spcAft>
              <a:buClr>
                <a:srgbClr val="004A78"/>
              </a:buClr>
              <a:buSzPts val="2600"/>
              <a:buFont typeface="Arial"/>
              <a:buChar char="•"/>
            </a:pPr>
            <a:r>
              <a:rPr lang="en-US"/>
              <a:t>Quotient is discarded but the remainder is “attached” to the end of the message</a:t>
            </a:r>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Cyclic Redundancy Checksum (2 of 4)</a:t>
            </a:r>
            <a:endParaRPr dirty="0"/>
          </a:p>
        </p:txBody>
      </p:sp>
      <p:sp>
        <p:nvSpPr>
          <p:cNvPr id="327" name="Google Shape;327;p3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The message (with the remainder) is transmitted to the receiver</a:t>
            </a:r>
            <a:endParaRPr/>
          </a:p>
          <a:p>
            <a:pPr marL="457200" lvl="0" indent="-457200" algn="l" rtl="0">
              <a:lnSpc>
                <a:spcPct val="100000"/>
              </a:lnSpc>
              <a:spcBef>
                <a:spcPts val="624"/>
              </a:spcBef>
              <a:spcAft>
                <a:spcPts val="0"/>
              </a:spcAft>
              <a:buClr>
                <a:srgbClr val="004A78"/>
              </a:buClr>
              <a:buSzPts val="2600"/>
              <a:buFont typeface="Arial"/>
              <a:buChar char="•"/>
            </a:pPr>
            <a:r>
              <a:rPr lang="en-US"/>
              <a:t>The receiver divides the message and remainder by the same generating polynomial</a:t>
            </a:r>
            <a:endParaRPr/>
          </a:p>
          <a:p>
            <a:pPr marL="457200" lvl="0" indent="-457200" algn="l" rtl="0">
              <a:lnSpc>
                <a:spcPct val="100000"/>
              </a:lnSpc>
              <a:spcBef>
                <a:spcPts val="624"/>
              </a:spcBef>
              <a:spcAft>
                <a:spcPts val="0"/>
              </a:spcAft>
              <a:buClr>
                <a:srgbClr val="004A78"/>
              </a:buClr>
              <a:buSzPts val="2600"/>
              <a:buFont typeface="Arial"/>
              <a:buChar char="•"/>
            </a:pPr>
            <a:r>
              <a:rPr lang="en-US"/>
              <a:t>If a remainder not equal to zero results, there was an error during transmission</a:t>
            </a:r>
            <a:endParaRPr/>
          </a:p>
          <a:p>
            <a:pPr marL="457200" lvl="0" indent="-457200" algn="l" rtl="0">
              <a:lnSpc>
                <a:spcPct val="100000"/>
              </a:lnSpc>
              <a:spcBef>
                <a:spcPts val="624"/>
              </a:spcBef>
              <a:spcAft>
                <a:spcPts val="0"/>
              </a:spcAft>
              <a:buClr>
                <a:srgbClr val="004A78"/>
              </a:buClr>
              <a:buSzPts val="2600"/>
              <a:buFont typeface="Arial"/>
              <a:buChar char="•"/>
            </a:pPr>
            <a:r>
              <a:rPr lang="en-US"/>
              <a:t>If a remainder of zero results, there was no error during transmission</a:t>
            </a:r>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2"/>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Cyclic Redundancy Checksum (3 of 4)</a:t>
            </a:r>
            <a:endParaRPr dirty="0"/>
          </a:p>
        </p:txBody>
      </p:sp>
      <p:sp>
        <p:nvSpPr>
          <p:cNvPr id="2" name="Text Placeholder 1">
            <a:extLst>
              <a:ext uri="{FF2B5EF4-FFF2-40B4-BE49-F238E27FC236}">
                <a16:creationId xmlns:a16="http://schemas.microsoft.com/office/drawing/2014/main" id="{0344769E-0A2D-43AA-8647-A89C97B56223}"/>
              </a:ext>
            </a:extLst>
          </p:cNvPr>
          <p:cNvSpPr>
            <a:spLocks noGrp="1"/>
          </p:cNvSpPr>
          <p:nvPr>
            <p:ph type="body" idx="1"/>
          </p:nvPr>
        </p:nvSpPr>
        <p:spPr>
          <a:xfrm>
            <a:off x="743577" y="1289684"/>
            <a:ext cx="7558594" cy="452030"/>
          </a:xfrm>
        </p:spPr>
        <p:txBody>
          <a:bodyPr/>
          <a:lstStyle/>
          <a:p>
            <a:pPr marL="63500" indent="0">
              <a:buNone/>
            </a:pPr>
            <a:r>
              <a:rPr lang="en-IN" sz="2000" b="1" dirty="0"/>
              <a:t>Table 4-2 Generator polynomials for common CRC methods </a:t>
            </a:r>
          </a:p>
        </p:txBody>
      </p:sp>
      <p:graphicFrame>
        <p:nvGraphicFramePr>
          <p:cNvPr id="10" name="Table 11">
            <a:extLst>
              <a:ext uri="{FF2B5EF4-FFF2-40B4-BE49-F238E27FC236}">
                <a16:creationId xmlns:a16="http://schemas.microsoft.com/office/drawing/2014/main" id="{04F2757A-12EB-4335-9010-D1A5D5CB8EB2}"/>
              </a:ext>
            </a:extLst>
          </p:cNvPr>
          <p:cNvGraphicFramePr>
            <a:graphicFrameLocks noGrp="1"/>
          </p:cNvGraphicFramePr>
          <p:nvPr>
            <p:extLst>
              <p:ext uri="{D42A27DB-BD31-4B8C-83A1-F6EECF244321}">
                <p14:modId xmlns:p14="http://schemas.microsoft.com/office/powerpoint/2010/main" val="2579093642"/>
              </p:ext>
            </p:extLst>
          </p:nvPr>
        </p:nvGraphicFramePr>
        <p:xfrm>
          <a:off x="838200" y="1880809"/>
          <a:ext cx="10387330" cy="2519680"/>
        </p:xfrm>
        <a:graphic>
          <a:graphicData uri="http://schemas.openxmlformats.org/drawingml/2006/table">
            <a:tbl>
              <a:tblPr firstRow="1" bandRow="1"/>
              <a:tblGrid>
                <a:gridCol w="2187222">
                  <a:extLst>
                    <a:ext uri="{9D8B030D-6E8A-4147-A177-3AD203B41FA5}">
                      <a16:colId xmlns:a16="http://schemas.microsoft.com/office/drawing/2014/main" val="242934197"/>
                    </a:ext>
                  </a:extLst>
                </a:gridCol>
                <a:gridCol w="3984978">
                  <a:extLst>
                    <a:ext uri="{9D8B030D-6E8A-4147-A177-3AD203B41FA5}">
                      <a16:colId xmlns:a16="http://schemas.microsoft.com/office/drawing/2014/main" val="2268077574"/>
                    </a:ext>
                  </a:extLst>
                </a:gridCol>
                <a:gridCol w="2183130">
                  <a:extLst>
                    <a:ext uri="{9D8B030D-6E8A-4147-A177-3AD203B41FA5}">
                      <a16:colId xmlns:a16="http://schemas.microsoft.com/office/drawing/2014/main" val="4208572112"/>
                    </a:ext>
                  </a:extLst>
                </a:gridCol>
                <a:gridCol w="2032000">
                  <a:extLst>
                    <a:ext uri="{9D8B030D-6E8A-4147-A177-3AD203B41FA5}">
                      <a16:colId xmlns:a16="http://schemas.microsoft.com/office/drawing/2014/main" val="847077837"/>
                    </a:ext>
                  </a:extLst>
                </a:gridCol>
              </a:tblGrid>
              <a:tr h="370840">
                <a:tc>
                  <a:txBody>
                    <a:bodyPr/>
                    <a:lstStyle/>
                    <a:p>
                      <a:r>
                        <a:rPr lang="en-IN" b="1" dirty="0">
                          <a:solidFill>
                            <a:schemeClr val="tx2">
                              <a:lumMod val="10000"/>
                            </a:schemeClr>
                          </a:solidFill>
                          <a:latin typeface="Arial" panose="020B0604020202020204" pitchFamily="34" charset="0"/>
                          <a:cs typeface="Arial" panose="020B0604020202020204" pitchFamily="34" charset="0"/>
                        </a:rPr>
                        <a:t>CRC Method</a:t>
                      </a:r>
                    </a:p>
                  </a:txBody>
                  <a:tcPr/>
                </a:tc>
                <a:tc>
                  <a:txBody>
                    <a:bodyPr/>
                    <a:lstStyle/>
                    <a:p>
                      <a:r>
                        <a:rPr lang="en-IN" b="1" dirty="0">
                          <a:solidFill>
                            <a:schemeClr val="tx2">
                              <a:lumMod val="10000"/>
                            </a:schemeClr>
                          </a:solidFill>
                          <a:latin typeface="Arial" panose="020B0604020202020204" pitchFamily="34" charset="0"/>
                          <a:cs typeface="Arial" panose="020B0604020202020204" pitchFamily="34" charset="0"/>
                        </a:rPr>
                        <a:t>Generator Polynomial</a:t>
                      </a:r>
                    </a:p>
                  </a:txBody>
                  <a:tcPr/>
                </a:tc>
                <a:tc>
                  <a:txBody>
                    <a:bodyPr/>
                    <a:lstStyle/>
                    <a:p>
                      <a:r>
                        <a:rPr lang="en-IN" b="1" dirty="0">
                          <a:solidFill>
                            <a:schemeClr val="tx2">
                              <a:lumMod val="10000"/>
                            </a:schemeClr>
                          </a:solidFill>
                          <a:latin typeface="Arial" panose="020B0604020202020204" pitchFamily="34" charset="0"/>
                          <a:cs typeface="Arial" panose="020B0604020202020204" pitchFamily="34" charset="0"/>
                        </a:rPr>
                        <a:t>Normal Representation</a:t>
                      </a:r>
                    </a:p>
                  </a:txBody>
                  <a:tcPr/>
                </a:tc>
                <a:tc>
                  <a:txBody>
                    <a:bodyPr/>
                    <a:lstStyle/>
                    <a:p>
                      <a:r>
                        <a:rPr lang="en-IN" b="1" dirty="0">
                          <a:solidFill>
                            <a:schemeClr val="tx2">
                              <a:lumMod val="10000"/>
                            </a:schemeClr>
                          </a:solidFill>
                          <a:latin typeface="Arial" panose="020B0604020202020204" pitchFamily="34" charset="0"/>
                          <a:cs typeface="Arial" panose="020B0604020202020204" pitchFamily="34" charset="0"/>
                        </a:rPr>
                        <a:t>Common Use</a:t>
                      </a:r>
                    </a:p>
                  </a:txBody>
                  <a:tcPr/>
                </a:tc>
                <a:extLst>
                  <a:ext uri="{0D108BD9-81ED-4DB2-BD59-A6C34878D82A}">
                    <a16:rowId xmlns:a16="http://schemas.microsoft.com/office/drawing/2014/main" val="2341349380"/>
                  </a:ext>
                </a:extLst>
              </a:tr>
              <a:tr h="370840">
                <a:tc>
                  <a:txBody>
                    <a:bodyPr/>
                    <a:lstStyle/>
                    <a:p>
                      <a:r>
                        <a:rPr lang="en-IN" dirty="0">
                          <a:solidFill>
                            <a:schemeClr val="tx2">
                              <a:lumMod val="10000"/>
                            </a:schemeClr>
                          </a:solidFill>
                          <a:latin typeface="Arial" panose="020B0604020202020204" pitchFamily="34" charset="0"/>
                          <a:cs typeface="Arial" panose="020B0604020202020204" pitchFamily="34" charset="0"/>
                        </a:rPr>
                        <a:t>CRC-8</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x</a:t>
                      </a:r>
                      <a:r>
                        <a:rPr lang="en-IN" baseline="30000" dirty="0">
                          <a:solidFill>
                            <a:schemeClr val="tx2">
                              <a:lumMod val="10000"/>
                            </a:schemeClr>
                          </a:solidFill>
                          <a:latin typeface="Arial" panose="020B0604020202020204" pitchFamily="34" charset="0"/>
                          <a:cs typeface="Arial" panose="020B0604020202020204" pitchFamily="34" charset="0"/>
                        </a:rPr>
                        <a:t>8</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7</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6</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4</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2 </a:t>
                      </a:r>
                      <a:r>
                        <a:rPr lang="en-IN" dirty="0">
                          <a:solidFill>
                            <a:schemeClr val="tx2">
                              <a:lumMod val="10000"/>
                            </a:schemeClr>
                          </a:solidFill>
                          <a:latin typeface="Arial" panose="020B0604020202020204" pitchFamily="34" charset="0"/>
                          <a:cs typeface="Arial" panose="020B0604020202020204" pitchFamily="34" charset="0"/>
                        </a:rPr>
                        <a:t>+ 1</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OxD5</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Digital satellite TV </a:t>
                      </a:r>
                    </a:p>
                  </a:txBody>
                  <a:tcPr/>
                </a:tc>
                <a:extLst>
                  <a:ext uri="{0D108BD9-81ED-4DB2-BD59-A6C34878D82A}">
                    <a16:rowId xmlns:a16="http://schemas.microsoft.com/office/drawing/2014/main" val="1931821175"/>
                  </a:ext>
                </a:extLst>
              </a:tr>
              <a:tr h="370840">
                <a:tc>
                  <a:txBody>
                    <a:bodyPr/>
                    <a:lstStyle/>
                    <a:p>
                      <a:r>
                        <a:rPr lang="en-IN" dirty="0">
                          <a:solidFill>
                            <a:schemeClr val="tx2">
                              <a:lumMod val="10000"/>
                            </a:schemeClr>
                          </a:solidFill>
                          <a:latin typeface="Arial" panose="020B0604020202020204" pitchFamily="34" charset="0"/>
                          <a:cs typeface="Arial" panose="020B0604020202020204" pitchFamily="34" charset="0"/>
                        </a:rPr>
                        <a:t>CRC-12</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x</a:t>
                      </a:r>
                      <a:r>
                        <a:rPr lang="en-IN" baseline="30000" dirty="0">
                          <a:solidFill>
                            <a:schemeClr val="tx2">
                              <a:lumMod val="10000"/>
                            </a:schemeClr>
                          </a:solidFill>
                          <a:latin typeface="Arial" panose="020B0604020202020204" pitchFamily="34" charset="0"/>
                          <a:cs typeface="Arial" panose="020B0604020202020204" pitchFamily="34" charset="0"/>
                        </a:rPr>
                        <a:t>12</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11</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3</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2</a:t>
                      </a:r>
                      <a:r>
                        <a:rPr lang="en-IN" dirty="0">
                          <a:solidFill>
                            <a:schemeClr val="tx2">
                              <a:lumMod val="10000"/>
                            </a:schemeClr>
                          </a:solidFill>
                          <a:latin typeface="Arial" panose="020B0604020202020204" pitchFamily="34" charset="0"/>
                          <a:cs typeface="Arial" panose="020B0604020202020204" pitchFamily="34" charset="0"/>
                        </a:rPr>
                        <a:t> + x + 1</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Ox8OF</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Telecom</a:t>
                      </a:r>
                    </a:p>
                  </a:txBody>
                  <a:tcPr/>
                </a:tc>
                <a:extLst>
                  <a:ext uri="{0D108BD9-81ED-4DB2-BD59-A6C34878D82A}">
                    <a16:rowId xmlns:a16="http://schemas.microsoft.com/office/drawing/2014/main" val="1335660276"/>
                  </a:ext>
                </a:extLst>
              </a:tr>
              <a:tr h="370840">
                <a:tc>
                  <a:txBody>
                    <a:bodyPr/>
                    <a:lstStyle/>
                    <a:p>
                      <a:r>
                        <a:rPr lang="en-IN" dirty="0">
                          <a:solidFill>
                            <a:schemeClr val="tx2">
                              <a:lumMod val="10000"/>
                            </a:schemeClr>
                          </a:solidFill>
                          <a:latin typeface="Arial" panose="020B0604020202020204" pitchFamily="34" charset="0"/>
                          <a:cs typeface="Arial" panose="020B0604020202020204" pitchFamily="34" charset="0"/>
                        </a:rPr>
                        <a:t>CRC-16</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x</a:t>
                      </a:r>
                      <a:r>
                        <a:rPr lang="en-IN" baseline="30000" dirty="0">
                          <a:solidFill>
                            <a:schemeClr val="tx2">
                              <a:lumMod val="10000"/>
                            </a:schemeClr>
                          </a:solidFill>
                          <a:latin typeface="Arial" panose="020B0604020202020204" pitchFamily="34" charset="0"/>
                          <a:cs typeface="Arial" panose="020B0604020202020204" pitchFamily="34" charset="0"/>
                        </a:rPr>
                        <a:t>16</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15</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2</a:t>
                      </a:r>
                      <a:r>
                        <a:rPr lang="en-IN" dirty="0">
                          <a:solidFill>
                            <a:schemeClr val="tx2">
                              <a:lumMod val="10000"/>
                            </a:schemeClr>
                          </a:solidFill>
                          <a:latin typeface="Arial" panose="020B0604020202020204" pitchFamily="34" charset="0"/>
                          <a:cs typeface="Arial" panose="020B0604020202020204" pitchFamily="34" charset="0"/>
                        </a:rPr>
                        <a:t> + 1</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0x8005</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USB</a:t>
                      </a:r>
                    </a:p>
                  </a:txBody>
                  <a:tcPr/>
                </a:tc>
                <a:extLst>
                  <a:ext uri="{0D108BD9-81ED-4DB2-BD59-A6C34878D82A}">
                    <a16:rowId xmlns:a16="http://schemas.microsoft.com/office/drawing/2014/main" val="429834683"/>
                  </a:ext>
                </a:extLst>
              </a:tr>
              <a:tr h="370840">
                <a:tc>
                  <a:txBody>
                    <a:bodyPr/>
                    <a:lstStyle/>
                    <a:p>
                      <a:r>
                        <a:rPr lang="en-IN" dirty="0">
                          <a:solidFill>
                            <a:schemeClr val="tx2">
                              <a:lumMod val="10000"/>
                            </a:schemeClr>
                          </a:solidFill>
                          <a:latin typeface="Arial" panose="020B0604020202020204" pitchFamily="34" charset="0"/>
                          <a:cs typeface="Arial" panose="020B0604020202020204" pitchFamily="34" charset="0"/>
                        </a:rPr>
                        <a:t>CRC-CCITT (also known as CRC-16-CCITT)</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x</a:t>
                      </a:r>
                      <a:r>
                        <a:rPr lang="en-IN" baseline="30000" dirty="0">
                          <a:solidFill>
                            <a:schemeClr val="tx2">
                              <a:lumMod val="10000"/>
                            </a:schemeClr>
                          </a:solidFill>
                          <a:latin typeface="Arial" panose="020B0604020202020204" pitchFamily="34" charset="0"/>
                          <a:cs typeface="Arial" panose="020B0604020202020204" pitchFamily="34" charset="0"/>
                        </a:rPr>
                        <a:t>16</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12</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5</a:t>
                      </a:r>
                      <a:r>
                        <a:rPr lang="en-IN" dirty="0">
                          <a:solidFill>
                            <a:schemeClr val="tx2">
                              <a:lumMod val="10000"/>
                            </a:schemeClr>
                          </a:solidFill>
                          <a:latin typeface="Arial" panose="020B0604020202020204" pitchFamily="34" charset="0"/>
                          <a:cs typeface="Arial" panose="020B0604020202020204" pitchFamily="34" charset="0"/>
                        </a:rPr>
                        <a:t> + 1</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Ox1021</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Bluetooth </a:t>
                      </a:r>
                    </a:p>
                  </a:txBody>
                  <a:tcPr/>
                </a:tc>
                <a:extLst>
                  <a:ext uri="{0D108BD9-81ED-4DB2-BD59-A6C34878D82A}">
                    <a16:rowId xmlns:a16="http://schemas.microsoft.com/office/drawing/2014/main" val="66829209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latin typeface="Arial" panose="020B0604020202020204" pitchFamily="34" charset="0"/>
                          <a:cs typeface="Arial" panose="020B0604020202020204" pitchFamily="34" charset="0"/>
                        </a:rPr>
                        <a:t>CRC-32</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solidFill>
                            <a:schemeClr val="tx2">
                              <a:lumMod val="10000"/>
                            </a:schemeClr>
                          </a:solidFill>
                          <a:latin typeface="Arial" panose="020B0604020202020204" pitchFamily="34" charset="0"/>
                          <a:cs typeface="Arial" panose="020B0604020202020204" pitchFamily="34" charset="0"/>
                        </a:rPr>
                        <a:t>x</a:t>
                      </a:r>
                      <a:r>
                        <a:rPr lang="en-IN" baseline="30000" dirty="0">
                          <a:solidFill>
                            <a:schemeClr val="tx2">
                              <a:lumMod val="10000"/>
                            </a:schemeClr>
                          </a:solidFill>
                          <a:latin typeface="Arial" panose="020B0604020202020204" pitchFamily="34" charset="0"/>
                          <a:cs typeface="Arial" panose="020B0604020202020204" pitchFamily="34" charset="0"/>
                        </a:rPr>
                        <a:t>32</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26</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23</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22</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16</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12</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11</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10 </a:t>
                      </a:r>
                      <a:r>
                        <a:rPr lang="en-IN" dirty="0">
                          <a:solidFill>
                            <a:schemeClr val="tx2">
                              <a:lumMod val="10000"/>
                            </a:schemeClr>
                          </a:solidFill>
                          <a:latin typeface="Arial" panose="020B0604020202020204" pitchFamily="34" charset="0"/>
                          <a:cs typeface="Arial" panose="020B0604020202020204" pitchFamily="34" charset="0"/>
                        </a:rPr>
                        <a:t>+ x</a:t>
                      </a:r>
                      <a:r>
                        <a:rPr lang="en-IN" baseline="30000" dirty="0">
                          <a:solidFill>
                            <a:schemeClr val="tx2">
                              <a:lumMod val="10000"/>
                            </a:schemeClr>
                          </a:solidFill>
                          <a:latin typeface="Arial" panose="020B0604020202020204" pitchFamily="34" charset="0"/>
                          <a:cs typeface="Arial" panose="020B0604020202020204" pitchFamily="34" charset="0"/>
                        </a:rPr>
                        <a:t>8</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7</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5</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4</a:t>
                      </a:r>
                      <a:r>
                        <a:rPr lang="en-IN" dirty="0">
                          <a:solidFill>
                            <a:schemeClr val="tx2">
                              <a:lumMod val="10000"/>
                            </a:schemeClr>
                          </a:solidFill>
                          <a:latin typeface="Arial" panose="020B0604020202020204" pitchFamily="34" charset="0"/>
                          <a:cs typeface="Arial" panose="020B0604020202020204" pitchFamily="34" charset="0"/>
                        </a:rPr>
                        <a:t> + x</a:t>
                      </a:r>
                      <a:r>
                        <a:rPr lang="en-IN" baseline="30000" dirty="0">
                          <a:solidFill>
                            <a:schemeClr val="tx2">
                              <a:lumMod val="10000"/>
                            </a:schemeClr>
                          </a:solidFill>
                          <a:latin typeface="Arial" panose="020B0604020202020204" pitchFamily="34" charset="0"/>
                          <a:cs typeface="Arial" panose="020B0604020202020204" pitchFamily="34" charset="0"/>
                        </a:rPr>
                        <a:t>2</a:t>
                      </a:r>
                      <a:r>
                        <a:rPr lang="en-IN" dirty="0">
                          <a:solidFill>
                            <a:schemeClr val="tx2">
                              <a:lumMod val="10000"/>
                            </a:schemeClr>
                          </a:solidFill>
                          <a:latin typeface="Arial" panose="020B0604020202020204" pitchFamily="34" charset="0"/>
                          <a:cs typeface="Arial" panose="020B0604020202020204" pitchFamily="34" charset="0"/>
                        </a:rPr>
                        <a:t> + x + 1</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Ox04C11DB7</a:t>
                      </a:r>
                    </a:p>
                  </a:txBody>
                  <a:tcPr/>
                </a:tc>
                <a:tc>
                  <a:txBody>
                    <a:bodyPr/>
                    <a:lstStyle/>
                    <a:p>
                      <a:r>
                        <a:rPr lang="en-IN" dirty="0">
                          <a:solidFill>
                            <a:schemeClr val="tx2">
                              <a:lumMod val="10000"/>
                            </a:schemeClr>
                          </a:solidFill>
                          <a:latin typeface="Arial" panose="020B0604020202020204" pitchFamily="34" charset="0"/>
                          <a:cs typeface="Arial" panose="020B0604020202020204" pitchFamily="34" charset="0"/>
                        </a:rPr>
                        <a:t>Ethernet</a:t>
                      </a:r>
                    </a:p>
                  </a:txBody>
                  <a:tcPr/>
                </a:tc>
                <a:extLst>
                  <a:ext uri="{0D108BD9-81ED-4DB2-BD59-A6C34878D82A}">
                    <a16:rowId xmlns:a16="http://schemas.microsoft.com/office/drawing/2014/main" val="3206988287"/>
                  </a:ext>
                </a:extLst>
              </a:tr>
            </a:tbl>
          </a:graphicData>
        </a:graphic>
      </p:graphicFrame>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3"/>
          <p:cNvSpPr txBox="1">
            <a:spLocks noGrp="1"/>
          </p:cNvSpPr>
          <p:nvPr>
            <p:ph type="title"/>
          </p:nvPr>
        </p:nvSpPr>
        <p:spPr>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Cyclic Redundancy Checksum (4 of 4)</a:t>
            </a:r>
            <a:endParaRPr dirty="0"/>
          </a:p>
        </p:txBody>
      </p:sp>
      <p:sp>
        <p:nvSpPr>
          <p:cNvPr id="2" name="Text Placeholder 1">
            <a:extLst>
              <a:ext uri="{FF2B5EF4-FFF2-40B4-BE49-F238E27FC236}">
                <a16:creationId xmlns:a16="http://schemas.microsoft.com/office/drawing/2014/main" id="{28B45150-BDE7-427B-9E35-832523BBF7D7}"/>
              </a:ext>
            </a:extLst>
          </p:cNvPr>
          <p:cNvSpPr>
            <a:spLocks noGrp="1"/>
          </p:cNvSpPr>
          <p:nvPr>
            <p:ph type="body" idx="1"/>
          </p:nvPr>
        </p:nvSpPr>
        <p:spPr>
          <a:xfrm>
            <a:off x="743577" y="1289684"/>
            <a:ext cx="5715280" cy="408487"/>
          </a:xfrm>
        </p:spPr>
        <p:txBody>
          <a:bodyPr/>
          <a:lstStyle/>
          <a:p>
            <a:pPr marL="63500" indent="0">
              <a:buNone/>
            </a:pPr>
            <a:r>
              <a:rPr lang="en-IN" sz="2000" b="1" dirty="0"/>
              <a:t>Table 4-3 Error-detection performance of CRC </a:t>
            </a:r>
          </a:p>
        </p:txBody>
      </p:sp>
      <p:graphicFrame>
        <p:nvGraphicFramePr>
          <p:cNvPr id="10" name="Table 11">
            <a:extLst>
              <a:ext uri="{FF2B5EF4-FFF2-40B4-BE49-F238E27FC236}">
                <a16:creationId xmlns:a16="http://schemas.microsoft.com/office/drawing/2014/main" id="{903A9E97-1065-4B6E-AD74-44BE53469AD4}"/>
              </a:ext>
            </a:extLst>
          </p:cNvPr>
          <p:cNvGraphicFramePr>
            <a:graphicFrameLocks noGrp="1"/>
          </p:cNvGraphicFramePr>
          <p:nvPr>
            <p:extLst>
              <p:ext uri="{D42A27DB-BD31-4B8C-83A1-F6EECF244321}">
                <p14:modId xmlns:p14="http://schemas.microsoft.com/office/powerpoint/2010/main" val="4115440921"/>
              </p:ext>
            </p:extLst>
          </p:nvPr>
        </p:nvGraphicFramePr>
        <p:xfrm>
          <a:off x="823686" y="1828488"/>
          <a:ext cx="9163686" cy="3012440"/>
        </p:xfrm>
        <a:graphic>
          <a:graphicData uri="http://schemas.openxmlformats.org/drawingml/2006/table">
            <a:tbl>
              <a:tblPr firstRow="1" bandRow="1"/>
              <a:tblGrid>
                <a:gridCol w="2968943">
                  <a:extLst>
                    <a:ext uri="{9D8B030D-6E8A-4147-A177-3AD203B41FA5}">
                      <a16:colId xmlns:a16="http://schemas.microsoft.com/office/drawing/2014/main" val="2525754301"/>
                    </a:ext>
                  </a:extLst>
                </a:gridCol>
                <a:gridCol w="6194743">
                  <a:extLst>
                    <a:ext uri="{9D8B030D-6E8A-4147-A177-3AD203B41FA5}">
                      <a16:colId xmlns:a16="http://schemas.microsoft.com/office/drawing/2014/main" val="3192477724"/>
                    </a:ext>
                  </a:extLst>
                </a:gridCol>
              </a:tblGrid>
              <a:tr h="370840">
                <a:tc>
                  <a:txBody>
                    <a:bodyPr/>
                    <a:lstStyle/>
                    <a:p>
                      <a:r>
                        <a:rPr lang="en-IN" sz="1600" b="1" dirty="0">
                          <a:solidFill>
                            <a:schemeClr val="tx2">
                              <a:lumMod val="10000"/>
                            </a:schemeClr>
                          </a:solidFill>
                          <a:latin typeface="Arial" panose="020B0604020202020204" pitchFamily="34" charset="0"/>
                          <a:cs typeface="Arial" panose="020B0604020202020204" pitchFamily="34" charset="0"/>
                        </a:rPr>
                        <a:t>Type of Error</a:t>
                      </a:r>
                    </a:p>
                  </a:txBody>
                  <a:tcPr/>
                </a:tc>
                <a:tc>
                  <a:txBody>
                    <a:bodyPr/>
                    <a:lstStyle/>
                    <a:p>
                      <a:r>
                        <a:rPr lang="en-IN" sz="1600" b="1" dirty="0">
                          <a:solidFill>
                            <a:schemeClr val="tx2">
                              <a:lumMod val="10000"/>
                            </a:schemeClr>
                          </a:solidFill>
                          <a:latin typeface="Arial" panose="020B0604020202020204" pitchFamily="34" charset="0"/>
                          <a:cs typeface="Arial" panose="020B0604020202020204" pitchFamily="34" charset="0"/>
                        </a:rPr>
                        <a:t>Error-Detection Performance </a:t>
                      </a:r>
                    </a:p>
                  </a:txBody>
                  <a:tcPr/>
                </a:tc>
                <a:extLst>
                  <a:ext uri="{0D108BD9-81ED-4DB2-BD59-A6C34878D82A}">
                    <a16:rowId xmlns:a16="http://schemas.microsoft.com/office/drawing/2014/main" val="3709472288"/>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Single-bit errors</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100 percent</a:t>
                      </a:r>
                    </a:p>
                  </a:txBody>
                  <a:tcPr/>
                </a:tc>
                <a:extLst>
                  <a:ext uri="{0D108BD9-81ED-4DB2-BD59-A6C34878D82A}">
                    <a16:rowId xmlns:a16="http://schemas.microsoft.com/office/drawing/2014/main" val="3394794317"/>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Double-bit errors</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100 percent if the generating polynomial has at least three 1s (they all do)</a:t>
                      </a:r>
                    </a:p>
                  </a:txBody>
                  <a:tcPr/>
                </a:tc>
                <a:extLst>
                  <a:ext uri="{0D108BD9-81ED-4DB2-BD59-A6C34878D82A}">
                    <a16:rowId xmlns:a16="http://schemas.microsoft.com/office/drawing/2014/main" val="1515407755"/>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Odd number of bits in error</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100 percent if the generating polynomial contains a factor x + 1 (they all do) </a:t>
                      </a:r>
                    </a:p>
                  </a:txBody>
                  <a:tcPr/>
                </a:tc>
                <a:extLst>
                  <a:ext uri="{0D108BD9-81ED-4DB2-BD59-A6C34878D82A}">
                    <a16:rowId xmlns:a16="http://schemas.microsoft.com/office/drawing/2014/main" val="3066961614"/>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An error burst of length &lt; r + 1</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100 percent </a:t>
                      </a:r>
                    </a:p>
                  </a:txBody>
                  <a:tcPr/>
                </a:tc>
                <a:extLst>
                  <a:ext uri="{0D108BD9-81ED-4DB2-BD59-A6C34878D82A}">
                    <a16:rowId xmlns:a16="http://schemas.microsoft.com/office/drawing/2014/main" val="1164669925"/>
                  </a:ext>
                </a:extLst>
              </a:tr>
              <a:tr h="370840">
                <a:tc>
                  <a:txBody>
                    <a:bodyPr/>
                    <a:lstStyle/>
                    <a:p>
                      <a:r>
                        <a:rPr lang="en-IN" sz="1600" dirty="0">
                          <a:solidFill>
                            <a:schemeClr val="tx2">
                              <a:lumMod val="10000"/>
                            </a:schemeClr>
                          </a:solidFill>
                          <a:latin typeface="Arial" panose="020B0604020202020204" pitchFamily="34" charset="0"/>
                          <a:cs typeface="Arial" panose="020B0604020202020204" pitchFamily="34" charset="0"/>
                        </a:rPr>
                        <a:t>An error burst of length = r + 1</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Probability = 1 </a:t>
                      </a:r>
                      <a:r>
                        <a:rPr lang="en-IN" sz="1600" dirty="0">
                          <a:solidFill>
                            <a:schemeClr val="tx2">
                              <a:lumMod val="10000"/>
                            </a:schemeClr>
                          </a:solidFill>
                          <a:latin typeface="Times New Roman" panose="02020603050405020304" pitchFamily="18" charset="0"/>
                          <a:cs typeface="Times New Roman" panose="02020603050405020304" pitchFamily="18" charset="0"/>
                        </a:rPr>
                        <a:t>−</a:t>
                      </a:r>
                      <a:r>
                        <a:rPr lang="en-IN" sz="1600" dirty="0">
                          <a:solidFill>
                            <a:schemeClr val="tx2">
                              <a:lumMod val="10000"/>
                            </a:schemeClr>
                          </a:solidFill>
                          <a:latin typeface="Arial" panose="020B0604020202020204" pitchFamily="34" charset="0"/>
                          <a:cs typeface="Arial" panose="020B0604020202020204" pitchFamily="34" charset="0"/>
                        </a:rPr>
                        <a:t> (1/2)</a:t>
                      </a:r>
                      <a:r>
                        <a:rPr lang="en-IN" sz="1600" baseline="30000" dirty="0">
                          <a:solidFill>
                            <a:schemeClr val="tx2">
                              <a:lumMod val="10000"/>
                            </a:schemeClr>
                          </a:solidFill>
                          <a:latin typeface="Arial" panose="020B0604020202020204" pitchFamily="34" charset="0"/>
                          <a:cs typeface="Arial" panose="020B0604020202020204" pitchFamily="34" charset="0"/>
                        </a:rPr>
                        <a:t>(</a:t>
                      </a:r>
                      <a:r>
                        <a:rPr lang="en-IN" sz="1600" i="0" baseline="30000" dirty="0">
                          <a:solidFill>
                            <a:schemeClr val="tx2">
                              <a:lumMod val="10000"/>
                            </a:schemeClr>
                          </a:solidFill>
                          <a:latin typeface="Arial" panose="020B0604020202020204" pitchFamily="34" charset="0"/>
                          <a:cs typeface="Arial" panose="020B0604020202020204" pitchFamily="34" charset="0"/>
                        </a:rPr>
                        <a:t>r</a:t>
                      </a:r>
                      <a:r>
                        <a:rPr lang="en-IN" sz="1600" baseline="30000" dirty="0">
                          <a:solidFill>
                            <a:schemeClr val="tx2">
                              <a:lumMod val="10000"/>
                            </a:schemeClr>
                          </a:solidFill>
                          <a:latin typeface="Arial" panose="020B0604020202020204" pitchFamily="34" charset="0"/>
                          <a:cs typeface="Arial" panose="020B0604020202020204" pitchFamily="34" charset="0"/>
                        </a:rPr>
                        <a:t>−1)</a:t>
                      </a:r>
                      <a:r>
                        <a:rPr lang="en-IN" sz="1600" dirty="0">
                          <a:solidFill>
                            <a:schemeClr val="tx2">
                              <a:lumMod val="10000"/>
                            </a:schemeClr>
                          </a:solidFill>
                          <a:latin typeface="Arial" panose="020B0604020202020204" pitchFamily="34" charset="0"/>
                          <a:cs typeface="Arial" panose="020B0604020202020204" pitchFamily="34" charset="0"/>
                        </a:rPr>
                        <a:t> (very near 100%) </a:t>
                      </a:r>
                    </a:p>
                  </a:txBody>
                  <a:tcPr/>
                </a:tc>
                <a:extLst>
                  <a:ext uri="{0D108BD9-81ED-4DB2-BD59-A6C34878D82A}">
                    <a16:rowId xmlns:a16="http://schemas.microsoft.com/office/drawing/2014/main" val="4036315531"/>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solidFill>
                            <a:schemeClr val="tx2">
                              <a:lumMod val="10000"/>
                            </a:schemeClr>
                          </a:solidFill>
                          <a:latin typeface="Arial" panose="020B0604020202020204" pitchFamily="34" charset="0"/>
                          <a:cs typeface="Arial" panose="020B0604020202020204" pitchFamily="34" charset="0"/>
                        </a:rPr>
                        <a:t>An error burst of length &gt; r + 1</a:t>
                      </a:r>
                    </a:p>
                  </a:txBody>
                  <a:tcPr/>
                </a:tc>
                <a:tc>
                  <a:txBody>
                    <a:bodyPr/>
                    <a:lstStyle/>
                    <a:p>
                      <a:r>
                        <a:rPr lang="en-IN" sz="1600" dirty="0">
                          <a:solidFill>
                            <a:schemeClr val="tx2">
                              <a:lumMod val="10000"/>
                            </a:schemeClr>
                          </a:solidFill>
                          <a:latin typeface="Arial" panose="020B0604020202020204" pitchFamily="34" charset="0"/>
                          <a:cs typeface="Arial" panose="020B0604020202020204" pitchFamily="34" charset="0"/>
                        </a:rPr>
                        <a:t>Probability = 1 </a:t>
                      </a:r>
                      <a:r>
                        <a:rPr lang="en-IN" sz="1600" dirty="0">
                          <a:solidFill>
                            <a:schemeClr val="tx2">
                              <a:lumMod val="10000"/>
                            </a:schemeClr>
                          </a:solidFill>
                          <a:latin typeface="Times New Roman" panose="02020603050405020304" pitchFamily="18" charset="0"/>
                          <a:cs typeface="Times New Roman" panose="02020603050405020304" pitchFamily="18" charset="0"/>
                        </a:rPr>
                        <a:t>−</a:t>
                      </a:r>
                      <a:r>
                        <a:rPr lang="en-IN" sz="1600" dirty="0">
                          <a:solidFill>
                            <a:schemeClr val="tx2">
                              <a:lumMod val="10000"/>
                            </a:schemeClr>
                          </a:solidFill>
                          <a:latin typeface="Arial" panose="020B0604020202020204" pitchFamily="34" charset="0"/>
                          <a:cs typeface="Arial" panose="020B0604020202020204" pitchFamily="34" charset="0"/>
                        </a:rPr>
                        <a:t> (1 /2)</a:t>
                      </a:r>
                      <a:r>
                        <a:rPr lang="en-IN" sz="1600" i="0" baseline="30000" dirty="0">
                          <a:solidFill>
                            <a:schemeClr val="tx2">
                              <a:lumMod val="10000"/>
                            </a:schemeClr>
                          </a:solidFill>
                          <a:latin typeface="Arial" panose="020B0604020202020204" pitchFamily="34" charset="0"/>
                          <a:cs typeface="Arial" panose="020B0604020202020204" pitchFamily="34" charset="0"/>
                        </a:rPr>
                        <a:t>r</a:t>
                      </a:r>
                      <a:r>
                        <a:rPr lang="en-IN" sz="1600" dirty="0">
                          <a:solidFill>
                            <a:schemeClr val="tx2">
                              <a:lumMod val="10000"/>
                            </a:schemeClr>
                          </a:solidFill>
                          <a:latin typeface="Arial" panose="020B0604020202020204" pitchFamily="34" charset="0"/>
                          <a:cs typeface="Arial" panose="020B0604020202020204" pitchFamily="34" charset="0"/>
                        </a:rPr>
                        <a:t> (very near 100%)</a:t>
                      </a:r>
                    </a:p>
                  </a:txBody>
                  <a:tcPr/>
                </a:tc>
                <a:extLst>
                  <a:ext uri="{0D108BD9-81ED-4DB2-BD59-A6C34878D82A}">
                    <a16:rowId xmlns:a16="http://schemas.microsoft.com/office/drawing/2014/main" val="831955655"/>
                  </a:ext>
                </a:extLst>
              </a:tr>
            </a:tbl>
          </a:graphicData>
        </a:graphic>
      </p:graphicFrame>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Error Control</a:t>
            </a:r>
            <a:endParaRPr dirty="0"/>
          </a:p>
        </p:txBody>
      </p:sp>
      <p:sp>
        <p:nvSpPr>
          <p:cNvPr id="345" name="Google Shape;345;p34"/>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Once an error is detected, what is the receiver going to do?</a:t>
            </a:r>
            <a:endParaRPr/>
          </a:p>
          <a:p>
            <a:pPr marL="900113" lvl="1" indent="-442913" algn="l" rtl="0">
              <a:lnSpc>
                <a:spcPct val="100000"/>
              </a:lnSpc>
              <a:spcBef>
                <a:spcPts val="624"/>
              </a:spcBef>
              <a:spcAft>
                <a:spcPts val="0"/>
              </a:spcAft>
              <a:buSzPts val="2400"/>
              <a:buChar char="–"/>
            </a:pPr>
            <a:r>
              <a:rPr lang="en-US"/>
              <a:t>Do nothing (simply toss the frame or packet)</a:t>
            </a:r>
            <a:endParaRPr/>
          </a:p>
          <a:p>
            <a:pPr marL="900113" lvl="1" indent="-442913" algn="l" rtl="0">
              <a:lnSpc>
                <a:spcPct val="100000"/>
              </a:lnSpc>
              <a:spcBef>
                <a:spcPts val="624"/>
              </a:spcBef>
              <a:spcAft>
                <a:spcPts val="0"/>
              </a:spcAft>
              <a:buSzPts val="2400"/>
              <a:buChar char="–"/>
            </a:pPr>
            <a:r>
              <a:rPr lang="en-US"/>
              <a:t>Return an error message to the transmitter</a:t>
            </a:r>
            <a:endParaRPr/>
          </a:p>
          <a:p>
            <a:pPr marL="900113" lvl="1" indent="-442913" algn="l" rtl="0">
              <a:lnSpc>
                <a:spcPct val="100000"/>
              </a:lnSpc>
              <a:spcBef>
                <a:spcPts val="624"/>
              </a:spcBef>
              <a:spcAft>
                <a:spcPts val="0"/>
              </a:spcAft>
              <a:buSzPts val="2400"/>
              <a:buChar char="–"/>
            </a:pPr>
            <a:r>
              <a:rPr lang="en-US"/>
              <a:t>Fix the error with no further help from the transmitter</a:t>
            </a:r>
            <a:endParaRP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Toss the Frame/Packet (do nothing)</a:t>
            </a:r>
            <a:endParaRPr dirty="0"/>
          </a:p>
        </p:txBody>
      </p:sp>
      <p:sp>
        <p:nvSpPr>
          <p:cNvPr id="351" name="Google Shape;351;p3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Seems like a strange way to control errors but some lower-layer protocols such as frame relay perform this type of error control</a:t>
            </a:r>
            <a:endParaRPr/>
          </a:p>
          <a:p>
            <a:pPr marL="457200" lvl="0" indent="-457200" algn="l" rtl="0">
              <a:lnSpc>
                <a:spcPct val="100000"/>
              </a:lnSpc>
              <a:spcBef>
                <a:spcPts val="624"/>
              </a:spcBef>
              <a:spcAft>
                <a:spcPts val="0"/>
              </a:spcAft>
              <a:buClr>
                <a:srgbClr val="004A78"/>
              </a:buClr>
              <a:buSzPts val="2600"/>
              <a:buFont typeface="Arial"/>
              <a:buChar char="•"/>
            </a:pPr>
            <a:r>
              <a:rPr lang="en-US"/>
              <a:t>For example, if frame relay detects an error, it simply tosses the frame </a:t>
            </a:r>
            <a:endParaRPr/>
          </a:p>
          <a:p>
            <a:pPr marL="900113" lvl="1" indent="-442913" algn="l" rtl="0">
              <a:lnSpc>
                <a:spcPct val="100000"/>
              </a:lnSpc>
              <a:spcBef>
                <a:spcPts val="624"/>
              </a:spcBef>
              <a:spcAft>
                <a:spcPts val="0"/>
              </a:spcAft>
              <a:buSzPts val="2400"/>
              <a:buChar char="–"/>
            </a:pPr>
            <a:r>
              <a:rPr lang="en-US"/>
              <a:t>No message is returned</a:t>
            </a:r>
            <a:endParaRPr/>
          </a:p>
          <a:p>
            <a:pPr marL="457200" lvl="0" indent="-457200" algn="l" rtl="0">
              <a:lnSpc>
                <a:spcPct val="100000"/>
              </a:lnSpc>
              <a:spcBef>
                <a:spcPts val="624"/>
              </a:spcBef>
              <a:spcAft>
                <a:spcPts val="0"/>
              </a:spcAft>
              <a:buClr>
                <a:srgbClr val="004A78"/>
              </a:buClr>
              <a:buSzPts val="2600"/>
              <a:buFont typeface="Arial"/>
              <a:buChar char="•"/>
            </a:pPr>
            <a:r>
              <a:rPr lang="en-US"/>
              <a:t>Frame relay assumes a higher protocol (such as TCP/IP) will detect the tossed frame and ask for retransmission</a:t>
            </a:r>
            <a:endParaRP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Return the Message</a:t>
            </a:r>
            <a:endParaRPr dirty="0"/>
          </a:p>
        </p:txBody>
      </p:sp>
      <p:sp>
        <p:nvSpPr>
          <p:cNvPr id="357" name="Google Shape;357;p3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Once an error is detected, an error message is returned to the transmitter</a:t>
            </a:r>
            <a:endParaRPr/>
          </a:p>
          <a:p>
            <a:pPr marL="457200" lvl="0" indent="-457200" algn="l" rtl="0">
              <a:lnSpc>
                <a:spcPct val="100000"/>
              </a:lnSpc>
              <a:spcBef>
                <a:spcPts val="624"/>
              </a:spcBef>
              <a:spcAft>
                <a:spcPts val="0"/>
              </a:spcAft>
              <a:buClr>
                <a:srgbClr val="004A78"/>
              </a:buClr>
              <a:buSzPts val="2600"/>
              <a:buFont typeface="Arial"/>
              <a:buChar char="•"/>
            </a:pPr>
            <a:r>
              <a:rPr lang="en-US"/>
              <a:t>Two basic forms:</a:t>
            </a:r>
            <a:endParaRPr/>
          </a:p>
          <a:p>
            <a:pPr marL="900113" lvl="1" indent="-442913" algn="l" rtl="0">
              <a:lnSpc>
                <a:spcPct val="100000"/>
              </a:lnSpc>
              <a:spcBef>
                <a:spcPts val="624"/>
              </a:spcBef>
              <a:spcAft>
                <a:spcPts val="0"/>
              </a:spcAft>
              <a:buSzPts val="2400"/>
              <a:buChar char="–"/>
            </a:pPr>
            <a:r>
              <a:rPr lang="en-US"/>
              <a:t>Stop-and-wait error control</a:t>
            </a:r>
            <a:endParaRPr/>
          </a:p>
          <a:p>
            <a:pPr marL="900113" lvl="1" indent="-442913" algn="l" rtl="0">
              <a:lnSpc>
                <a:spcPct val="100000"/>
              </a:lnSpc>
              <a:spcBef>
                <a:spcPts val="624"/>
              </a:spcBef>
              <a:spcAft>
                <a:spcPts val="0"/>
              </a:spcAft>
              <a:buSzPts val="2400"/>
              <a:buChar char="–"/>
            </a:pPr>
            <a:r>
              <a:rPr lang="en-US"/>
              <a:t>Sliding window error control</a:t>
            </a:r>
            <a:endParaRP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Stop-and-Wait Error Control (1 of 2)</a:t>
            </a:r>
            <a:endParaRPr dirty="0"/>
          </a:p>
        </p:txBody>
      </p:sp>
      <p:sp>
        <p:nvSpPr>
          <p:cNvPr id="363" name="Google Shape;363;p3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Stop-and-wait is the simplest of the error control protocols</a:t>
            </a:r>
            <a:endParaRPr/>
          </a:p>
          <a:p>
            <a:pPr marL="457200" lvl="0" indent="-457200" algn="l" rtl="0">
              <a:lnSpc>
                <a:spcPct val="100000"/>
              </a:lnSpc>
              <a:spcBef>
                <a:spcPts val="624"/>
              </a:spcBef>
              <a:spcAft>
                <a:spcPts val="0"/>
              </a:spcAft>
              <a:buClr>
                <a:srgbClr val="004A78"/>
              </a:buClr>
              <a:buSzPts val="2600"/>
              <a:buFont typeface="Arial"/>
              <a:buChar char="•"/>
            </a:pPr>
            <a:r>
              <a:rPr lang="en-US"/>
              <a:t>A transmitter sends a frame then stops and waits for an acknowledgment</a:t>
            </a:r>
            <a:endParaRPr/>
          </a:p>
          <a:p>
            <a:pPr marL="900113" lvl="1" indent="-442913" algn="l" rtl="0">
              <a:lnSpc>
                <a:spcPct val="100000"/>
              </a:lnSpc>
              <a:spcBef>
                <a:spcPts val="624"/>
              </a:spcBef>
              <a:spcAft>
                <a:spcPts val="0"/>
              </a:spcAft>
              <a:buSzPts val="2400"/>
              <a:buChar char="–"/>
            </a:pPr>
            <a:r>
              <a:rPr lang="en-US"/>
              <a:t>If a positive acknowledgment (ACK) is received, the next frame is sent</a:t>
            </a:r>
            <a:endParaRPr/>
          </a:p>
          <a:p>
            <a:pPr marL="900113" lvl="1" indent="-442913" algn="l" rtl="0">
              <a:lnSpc>
                <a:spcPct val="100000"/>
              </a:lnSpc>
              <a:spcBef>
                <a:spcPts val="624"/>
              </a:spcBef>
              <a:spcAft>
                <a:spcPts val="0"/>
              </a:spcAft>
              <a:buSzPts val="2400"/>
              <a:buChar char="–"/>
            </a:pPr>
            <a:r>
              <a:rPr lang="en-US"/>
              <a:t>If a negative acknowledgment (NAK) is received, the same frame is transmitted again</a:t>
            </a:r>
            <a:endParaRP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Stop-and-Wait Error Control (2 of 2)</a:t>
            </a:r>
            <a:endParaRPr dirty="0"/>
          </a:p>
        </p:txBody>
      </p:sp>
      <p:pic>
        <p:nvPicPr>
          <p:cNvPr id="2" name="Picture 1" descr="An illustration depicts sample dialog using stop-and-wait error control. Two vertical lines are displayed. The line on the left is labeled, station A and the line on the right is labeled, station B. Initially, station A sends data to station B, where the data arrives without errors. Station B sends A C K to station A. A C K arrives at station A, after which station A again sends data to station B. This data arrives with error at station B. Station B sends N A K to station A. N A K arrives at station A, after which the data is resent from station A to station B. &#10;Figure 4-19 Sample dialog using stop-and-wait error control">
            <a:extLst>
              <a:ext uri="{FF2B5EF4-FFF2-40B4-BE49-F238E27FC236}">
                <a16:creationId xmlns:a16="http://schemas.microsoft.com/office/drawing/2014/main" id="{F87D6B9A-8CA8-4826-A533-1BA05F28C512}"/>
              </a:ext>
            </a:extLst>
          </p:cNvPr>
          <p:cNvPicPr>
            <a:picLocks noChangeAspect="1"/>
          </p:cNvPicPr>
          <p:nvPr/>
        </p:nvPicPr>
        <p:blipFill>
          <a:blip r:embed="rId4"/>
          <a:stretch>
            <a:fillRect/>
          </a:stretch>
        </p:blipFill>
        <p:spPr>
          <a:xfrm>
            <a:off x="3907346" y="1037230"/>
            <a:ext cx="4377307" cy="5224725"/>
          </a:xfrm>
          <a:prstGeom prst="rect">
            <a:avLst/>
          </a:prstGeom>
        </p:spPr>
      </p:pic>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(1 of 12)</a:t>
            </a:r>
            <a:endParaRPr dirty="0"/>
          </a:p>
        </p:txBody>
      </p:sp>
      <p:sp>
        <p:nvSpPr>
          <p:cNvPr id="375" name="Google Shape;375;p3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These techniques assume that multiple frames are in transmission at one time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A sliding window protocol allows the transmitter to send a number of data packets at one time before receiving any acknowledgments</a:t>
            </a:r>
            <a:endParaRPr dirty="0"/>
          </a:p>
          <a:p>
            <a:pPr marL="900113" lvl="1" indent="-442913" algn="l" rtl="0">
              <a:lnSpc>
                <a:spcPct val="100000"/>
              </a:lnSpc>
              <a:spcBef>
                <a:spcPts val="624"/>
              </a:spcBef>
              <a:spcAft>
                <a:spcPts val="0"/>
              </a:spcAft>
              <a:buSzPts val="2400"/>
              <a:buChar char="–"/>
            </a:pPr>
            <a:r>
              <a:rPr lang="en-US" dirty="0"/>
              <a:t>Depends on window size</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When a receiver does acknowledge receipt, the returned ACK contains the number of the frame expected next</a:t>
            </a:r>
            <a:endParaRPr dirty="0"/>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(2 of 12)</a:t>
            </a:r>
            <a:endParaRPr dirty="0"/>
          </a:p>
        </p:txBody>
      </p:sp>
      <p:pic>
        <p:nvPicPr>
          <p:cNvPr id="2" name="Picture 1" descr="An illustration shows a sample sliding window. Two vertical lines are displayed. The line on the left is labeled, station A and the line on the right is labeled, station B. Station A sends data to station B, in three packets numbered 0, 1, and 2. The data arrives at station B without error. A C K is returned from station B to station A as A C K 3.&#10;Figure 4-20 Example of a sliding window">
            <a:extLst>
              <a:ext uri="{FF2B5EF4-FFF2-40B4-BE49-F238E27FC236}">
                <a16:creationId xmlns:a16="http://schemas.microsoft.com/office/drawing/2014/main" id="{C2327B67-E9AF-4B4C-8044-EF96C2675D8A}"/>
              </a:ext>
            </a:extLst>
          </p:cNvPr>
          <p:cNvPicPr>
            <a:picLocks noChangeAspect="1"/>
          </p:cNvPicPr>
          <p:nvPr/>
        </p:nvPicPr>
        <p:blipFill>
          <a:blip r:embed="rId4"/>
          <a:stretch>
            <a:fillRect/>
          </a:stretch>
        </p:blipFill>
        <p:spPr>
          <a:xfrm>
            <a:off x="2846550" y="1450676"/>
            <a:ext cx="6498899" cy="3956647"/>
          </a:xfrm>
          <a:prstGeom prst="rect">
            <a:avLst/>
          </a:prstGeom>
        </p:spPr>
      </p:pic>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(3 of 12)</a:t>
            </a:r>
            <a:endParaRPr dirty="0"/>
          </a:p>
        </p:txBody>
      </p:sp>
      <p:sp>
        <p:nvSpPr>
          <p:cNvPr id="387" name="Google Shape;387;p4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Older sliding window protocols numbered each frame or packet that was transmitted</a:t>
            </a:r>
            <a:endParaRPr/>
          </a:p>
          <a:p>
            <a:pPr marL="457200" lvl="0" indent="-457200" algn="l" rtl="0">
              <a:lnSpc>
                <a:spcPct val="100000"/>
              </a:lnSpc>
              <a:spcBef>
                <a:spcPts val="624"/>
              </a:spcBef>
              <a:spcAft>
                <a:spcPts val="0"/>
              </a:spcAft>
              <a:buClr>
                <a:srgbClr val="004A78"/>
              </a:buClr>
              <a:buSzPts val="2600"/>
              <a:buFont typeface="Arial"/>
              <a:buChar char="•"/>
            </a:pPr>
            <a:r>
              <a:rPr lang="en-US"/>
              <a:t>More modern sliding window protocols number each byte within a frame</a:t>
            </a:r>
            <a:endParaRPr/>
          </a:p>
          <a:p>
            <a:pPr marL="457200" lvl="0" indent="-457200" algn="l" rtl="0">
              <a:lnSpc>
                <a:spcPct val="100000"/>
              </a:lnSpc>
              <a:spcBef>
                <a:spcPts val="624"/>
              </a:spcBef>
              <a:spcAft>
                <a:spcPts val="0"/>
              </a:spcAft>
              <a:buClr>
                <a:srgbClr val="004A78"/>
              </a:buClr>
              <a:buSzPts val="2600"/>
              <a:buFont typeface="Arial"/>
              <a:buChar char="•"/>
            </a:pPr>
            <a:r>
              <a:rPr lang="en-US"/>
              <a:t>An example in which the packets are numbered, followed by an example in which the bytes are numbered:</a:t>
            </a:r>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4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(4 of 12)</a:t>
            </a:r>
            <a:endParaRPr dirty="0"/>
          </a:p>
        </p:txBody>
      </p:sp>
      <p:pic>
        <p:nvPicPr>
          <p:cNvPr id="2" name="Picture 1" descr="An illustration depicts the normal transfer of data between two stations with numbering of the packets. Two vertical lines are displayed. The line on the left is labeled, station A and the line on the right is labeled, station B. Station A sends data to station B, in four packets numbered 2, 3, 4, and 5 and then station B returns A C K 6 to station A. Station A again sends data to station B, in five packets numbered 6, 7, 0, 1, and 2 and station B returns A C K 3 to station A.&#10;Figure 4-21 Normal transfer of data &#10;between two stations with numbering of &#10;the packets">
            <a:extLst>
              <a:ext uri="{FF2B5EF4-FFF2-40B4-BE49-F238E27FC236}">
                <a16:creationId xmlns:a16="http://schemas.microsoft.com/office/drawing/2014/main" id="{BEA0B381-9212-48B0-AD92-55E8B28C7BE0}"/>
              </a:ext>
            </a:extLst>
          </p:cNvPr>
          <p:cNvPicPr>
            <a:picLocks noChangeAspect="1"/>
          </p:cNvPicPr>
          <p:nvPr/>
        </p:nvPicPr>
        <p:blipFill>
          <a:blip r:embed="rId4"/>
          <a:stretch>
            <a:fillRect/>
          </a:stretch>
        </p:blipFill>
        <p:spPr>
          <a:xfrm>
            <a:off x="3998794" y="1199171"/>
            <a:ext cx="4194412" cy="4993057"/>
          </a:xfrm>
          <a:prstGeom prst="rect">
            <a:avLst/>
          </a:prstGeom>
        </p:spPr>
      </p:pic>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(5 of 12)</a:t>
            </a:r>
            <a:endParaRPr dirty="0"/>
          </a:p>
        </p:txBody>
      </p:sp>
      <p:pic>
        <p:nvPicPr>
          <p:cNvPr id="2" name="Picture 1" descr="An illustration depicts the normal transfer of data between two stations with numbering of the bytes. Two vertical lines are displayed. The line on the left is labeled, station A and the line on the right is labeled, station B. Station A sends data to station B, in one packet with 0 to 400 bytes. Then, station A again sends data to station B, in one packet with 401 to 800 bytes. Station B returns A C K 801 to station A. &#10;Figure 4-22 Normal transfer of data &#10;between two stations with numbering of &#10;the bytes">
            <a:extLst>
              <a:ext uri="{FF2B5EF4-FFF2-40B4-BE49-F238E27FC236}">
                <a16:creationId xmlns:a16="http://schemas.microsoft.com/office/drawing/2014/main" id="{38042BCB-4B1E-4711-B53B-79623425DCAE}"/>
              </a:ext>
            </a:extLst>
          </p:cNvPr>
          <p:cNvPicPr>
            <a:picLocks noChangeAspect="1"/>
          </p:cNvPicPr>
          <p:nvPr/>
        </p:nvPicPr>
        <p:blipFill>
          <a:blip r:embed="rId4"/>
          <a:stretch>
            <a:fillRect/>
          </a:stretch>
        </p:blipFill>
        <p:spPr>
          <a:xfrm>
            <a:off x="3785415" y="1440485"/>
            <a:ext cx="4621169" cy="4688230"/>
          </a:xfrm>
          <a:prstGeom prst="rect">
            <a:avLst/>
          </a:prstGeom>
        </p:spPr>
      </p:pic>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(6 of 12)</a:t>
            </a:r>
            <a:endParaRPr dirty="0"/>
          </a:p>
        </p:txBody>
      </p:sp>
      <p:sp>
        <p:nvSpPr>
          <p:cNvPr id="405" name="Google Shape;405;p44"/>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Notice that an ACK is not always sent after each frame is received  </a:t>
            </a:r>
            <a:endParaRPr/>
          </a:p>
          <a:p>
            <a:pPr marL="900113" lvl="1" indent="-442913" algn="l" rtl="0">
              <a:lnSpc>
                <a:spcPct val="100000"/>
              </a:lnSpc>
              <a:spcBef>
                <a:spcPts val="624"/>
              </a:spcBef>
              <a:spcAft>
                <a:spcPts val="0"/>
              </a:spcAft>
              <a:buSzPts val="2400"/>
              <a:buChar char="–"/>
            </a:pPr>
            <a:r>
              <a:rPr lang="en-US"/>
              <a:t>It is more efficient to wait for a few received frames before returning an ACK</a:t>
            </a:r>
            <a:endParaRPr/>
          </a:p>
          <a:p>
            <a:pPr marL="457200" lvl="0" indent="-457200" algn="l" rtl="0">
              <a:lnSpc>
                <a:spcPct val="100000"/>
              </a:lnSpc>
              <a:spcBef>
                <a:spcPts val="624"/>
              </a:spcBef>
              <a:spcAft>
                <a:spcPts val="0"/>
              </a:spcAft>
              <a:buClr>
                <a:srgbClr val="004A78"/>
              </a:buClr>
              <a:buSzPts val="2600"/>
              <a:buFont typeface="Arial"/>
              <a:buChar char="•"/>
            </a:pPr>
            <a:r>
              <a:rPr lang="en-US"/>
              <a:t>How long should you wait until you return an ACK?</a:t>
            </a:r>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(7 of 12)</a:t>
            </a:r>
            <a:endParaRPr dirty="0"/>
          </a:p>
        </p:txBody>
      </p:sp>
      <p:sp>
        <p:nvSpPr>
          <p:cNvPr id="411" name="Google Shape;411;p4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Using TCP/IP, there are some basic rules concerning ACKs:</a:t>
            </a:r>
            <a:endParaRPr dirty="0"/>
          </a:p>
          <a:p>
            <a:pPr marL="900113" lvl="1" indent="-442913" algn="l" rtl="0">
              <a:lnSpc>
                <a:spcPct val="100000"/>
              </a:lnSpc>
              <a:spcBef>
                <a:spcPts val="624"/>
              </a:spcBef>
              <a:spcAft>
                <a:spcPts val="0"/>
              </a:spcAft>
              <a:buSzPts val="2400"/>
              <a:buChar char="–"/>
            </a:pPr>
            <a:r>
              <a:rPr lang="en-US" dirty="0"/>
              <a:t>Rule 1: If a receiver just received data and wants to send its own data, piggyback an ACK along with that data</a:t>
            </a:r>
            <a:endParaRPr dirty="0"/>
          </a:p>
          <a:p>
            <a:pPr marL="900113" lvl="1" indent="-442913" algn="l" rtl="0">
              <a:lnSpc>
                <a:spcPct val="100000"/>
              </a:lnSpc>
              <a:spcBef>
                <a:spcPts val="624"/>
              </a:spcBef>
              <a:spcAft>
                <a:spcPts val="0"/>
              </a:spcAft>
              <a:buSzPts val="2400"/>
              <a:buChar char="–"/>
            </a:pPr>
            <a:r>
              <a:rPr lang="en-US" dirty="0"/>
              <a:t>Rule 2: If a receiver has no data to return and has just </a:t>
            </a:r>
            <a:r>
              <a:rPr lang="en-US" dirty="0" err="1"/>
              <a:t>ACKed</a:t>
            </a:r>
            <a:r>
              <a:rPr lang="en-US" dirty="0"/>
              <a:t> the last packet, receiver waits 500 </a:t>
            </a:r>
            <a:r>
              <a:rPr lang="en-US" dirty="0" err="1"/>
              <a:t>ms</a:t>
            </a:r>
            <a:r>
              <a:rPr lang="en-US" dirty="0"/>
              <a:t> for another packet</a:t>
            </a:r>
            <a:endParaRPr dirty="0"/>
          </a:p>
          <a:p>
            <a:pPr marL="1350963" lvl="2" indent="-436563" algn="l" rtl="0">
              <a:lnSpc>
                <a:spcPct val="100000"/>
              </a:lnSpc>
              <a:spcBef>
                <a:spcPts val="624"/>
              </a:spcBef>
              <a:spcAft>
                <a:spcPts val="0"/>
              </a:spcAft>
              <a:buClr>
                <a:srgbClr val="000000"/>
              </a:buClr>
              <a:buSzPts val="2200"/>
              <a:buFont typeface="Arial" panose="020B0604020202020204" pitchFamily="34" charset="0"/>
              <a:buChar char="•"/>
            </a:pPr>
            <a:r>
              <a:rPr lang="en-US" dirty="0"/>
              <a:t>If while waiting, another packet arrives, send the ACK immediately</a:t>
            </a:r>
            <a:endParaRPr dirty="0"/>
          </a:p>
          <a:p>
            <a:pPr marL="900113" lvl="1" indent="-442913" algn="l" rtl="0">
              <a:lnSpc>
                <a:spcPct val="100000"/>
              </a:lnSpc>
              <a:spcBef>
                <a:spcPts val="624"/>
              </a:spcBef>
              <a:spcAft>
                <a:spcPts val="0"/>
              </a:spcAft>
              <a:buSzPts val="2400"/>
              <a:buChar char="–"/>
            </a:pPr>
            <a:r>
              <a:rPr lang="en-US" dirty="0"/>
              <a:t>Rule 3: If a receiver has no data to return and has just </a:t>
            </a:r>
            <a:r>
              <a:rPr lang="en-US" dirty="0" err="1"/>
              <a:t>ACKed</a:t>
            </a:r>
            <a:r>
              <a:rPr lang="en-US" dirty="0"/>
              <a:t> the last packet, receiver waits 500 </a:t>
            </a:r>
            <a:r>
              <a:rPr lang="en-US" dirty="0" err="1"/>
              <a:t>ms</a:t>
            </a:r>
            <a:endParaRPr dirty="0"/>
          </a:p>
          <a:p>
            <a:pPr marL="1350963" lvl="2" indent="-436563" algn="l" rtl="0">
              <a:lnSpc>
                <a:spcPct val="100000"/>
              </a:lnSpc>
              <a:spcBef>
                <a:spcPts val="624"/>
              </a:spcBef>
              <a:spcAft>
                <a:spcPts val="0"/>
              </a:spcAft>
              <a:buClr>
                <a:srgbClr val="000000"/>
              </a:buClr>
              <a:buSzPts val="2200"/>
              <a:buFont typeface="Arial" panose="020B0604020202020204" pitchFamily="34" charset="0"/>
              <a:buChar char="•"/>
            </a:pPr>
            <a:r>
              <a:rPr lang="en-US" dirty="0"/>
              <a:t>No packet, send ACK</a:t>
            </a:r>
            <a:endParaRPr dirty="0"/>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(8 of 12)</a:t>
            </a:r>
            <a:endParaRPr dirty="0"/>
          </a:p>
        </p:txBody>
      </p:sp>
      <p:pic>
        <p:nvPicPr>
          <p:cNvPr id="2" name="Picture 1" descr="An illustration depicts the three rules of returning an acknowledgment in T C P. Two vertical lines are displayed. The line on the left is labeled, station A and the line on the right is labeled, station B. Station A sends data to station B, in one packet that contains bytes 201 to 350 and A C K 1201. Then, station B returns one packet with bytes 1201-1500 and A C K 351. This is an example of rule 1. Station A then sends data to station B, in one packet that contains bytes 351 to 500 and A C K 1501. Station A again sends data to station B, in one packet with 501 to 700 bytes and A C K 1501. Station B returns A C K 701 to station A. This represents rule 2. Station A then sends data to station B, in one packet that contains bytes 701 to 900 and A C K 1501. After 500 milliseconds, station B returns one packet with A C K 901. This is an example of rule 3. &#10;Figure 4-23 Three examples of returning an acknowledgment in TCP">
            <a:extLst>
              <a:ext uri="{FF2B5EF4-FFF2-40B4-BE49-F238E27FC236}">
                <a16:creationId xmlns:a16="http://schemas.microsoft.com/office/drawing/2014/main" id="{64FDF55B-DDBC-40A3-907E-51CB1658FBF0}"/>
              </a:ext>
            </a:extLst>
          </p:cNvPr>
          <p:cNvPicPr>
            <a:picLocks noChangeAspect="1"/>
          </p:cNvPicPr>
          <p:nvPr/>
        </p:nvPicPr>
        <p:blipFill>
          <a:blip r:embed="rId4"/>
          <a:stretch>
            <a:fillRect/>
          </a:stretch>
        </p:blipFill>
        <p:spPr>
          <a:xfrm>
            <a:off x="4826813" y="1370182"/>
            <a:ext cx="2538373" cy="4794088"/>
          </a:xfrm>
          <a:prstGeom prst="rect">
            <a:avLst/>
          </a:prstGeom>
        </p:spPr>
      </p:pic>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4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(9 of 12)</a:t>
            </a:r>
            <a:endParaRPr dirty="0"/>
          </a:p>
        </p:txBody>
      </p:sp>
      <p:sp>
        <p:nvSpPr>
          <p:cNvPr id="423" name="Google Shape;423;p4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What happens when a packet is lost?</a:t>
            </a:r>
            <a:endParaRPr dirty="0"/>
          </a:p>
          <a:p>
            <a:pPr marL="900113" lvl="1" indent="-442913" algn="l" rtl="0">
              <a:lnSpc>
                <a:spcPct val="100000"/>
              </a:lnSpc>
              <a:spcBef>
                <a:spcPts val="624"/>
              </a:spcBef>
              <a:spcAft>
                <a:spcPts val="0"/>
              </a:spcAft>
              <a:buSzPts val="2400"/>
              <a:buChar char="–"/>
            </a:pPr>
            <a:r>
              <a:rPr lang="en-US" dirty="0"/>
              <a:t>As shown in the next slide, if a frame is lost, the following frame will be “out of sequence”</a:t>
            </a:r>
            <a:endParaRPr dirty="0"/>
          </a:p>
          <a:p>
            <a:pPr marL="1350963" lvl="2" indent="-436563" algn="l" rtl="0">
              <a:lnSpc>
                <a:spcPct val="100000"/>
              </a:lnSpc>
              <a:spcBef>
                <a:spcPts val="624"/>
              </a:spcBef>
              <a:spcAft>
                <a:spcPts val="0"/>
              </a:spcAft>
              <a:buClr>
                <a:srgbClr val="000000"/>
              </a:buClr>
              <a:buSzPts val="2200"/>
              <a:buFont typeface="Wingdings" panose="05000000000000000000" pitchFamily="2" charset="2"/>
              <a:buChar char="§"/>
            </a:pPr>
            <a:r>
              <a:rPr lang="en-US" dirty="0"/>
              <a:t>The receiver will hold the out of sequence bytes in a buffer and request the sender to retransmit the missing frame</a:t>
            </a:r>
            <a:endParaRPr dirty="0"/>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4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(10 of 12)</a:t>
            </a:r>
            <a:endParaRPr dirty="0"/>
          </a:p>
        </p:txBody>
      </p:sp>
      <p:pic>
        <p:nvPicPr>
          <p:cNvPr id="2" name="Picture 1" descr="An illustration depicts the lost packet and the response of the stations. Two vertical lines are displayed. The line on the left is labeled, station A and the line on the right is labeled, station B. Station A sends data to station B, in one packet that contains bytes 2001 to 2400. Station A again sends data in one packet that contains bytes 2401 to 2600. This data is lost on the way, before reaching station B. Station A sends the next data to station B, in one packet that contains bytes 2601 to 2800. The bytes 2601 to 2800 is held in buffer at station B. Station B returns A C K 2401. Station A then sends data to station B, in one packet that contains bytes 2401 to 2600 and station B returns A C K 2801 to station A. &#10;Figure 4-24 A lost packet and Station B’s response">
            <a:extLst>
              <a:ext uri="{FF2B5EF4-FFF2-40B4-BE49-F238E27FC236}">
                <a16:creationId xmlns:a16="http://schemas.microsoft.com/office/drawing/2014/main" id="{3A92683E-6B04-4479-9D3A-C603A3FD7434}"/>
              </a:ext>
            </a:extLst>
          </p:cNvPr>
          <p:cNvPicPr>
            <a:picLocks noChangeAspect="1"/>
          </p:cNvPicPr>
          <p:nvPr/>
        </p:nvPicPr>
        <p:blipFill>
          <a:blip r:embed="rId4"/>
          <a:stretch>
            <a:fillRect/>
          </a:stretch>
        </p:blipFill>
        <p:spPr>
          <a:xfrm>
            <a:off x="3956118" y="1037230"/>
            <a:ext cx="4279763" cy="5249111"/>
          </a:xfrm>
          <a:prstGeom prst="rect">
            <a:avLst/>
          </a:prstGeom>
        </p:spPr>
      </p:pic>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(11 of 12)</a:t>
            </a:r>
            <a:endParaRPr dirty="0"/>
          </a:p>
        </p:txBody>
      </p:sp>
      <p:sp>
        <p:nvSpPr>
          <p:cNvPr id="435" name="Google Shape;435;p4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What happens when an ACK is lost?</a:t>
            </a:r>
            <a:endParaRPr dirty="0"/>
          </a:p>
          <a:p>
            <a:pPr marL="900113" lvl="1" indent="-442913" algn="l" rtl="0">
              <a:lnSpc>
                <a:spcPct val="100000"/>
              </a:lnSpc>
              <a:spcBef>
                <a:spcPts val="624"/>
              </a:spcBef>
              <a:spcAft>
                <a:spcPts val="0"/>
              </a:spcAft>
              <a:buSzPts val="2400"/>
              <a:buChar char="–"/>
            </a:pPr>
            <a:r>
              <a:rPr lang="en-US" dirty="0"/>
              <a:t>As shown in the next slide, if an ACK is lost, the sender will wait for the ACK to arrive and eventually time out</a:t>
            </a:r>
            <a:endParaRPr dirty="0"/>
          </a:p>
          <a:p>
            <a:pPr marL="1350963" lvl="2" indent="-436563" algn="l" rtl="0">
              <a:lnSpc>
                <a:spcPct val="100000"/>
              </a:lnSpc>
              <a:spcBef>
                <a:spcPts val="624"/>
              </a:spcBef>
              <a:spcAft>
                <a:spcPts val="0"/>
              </a:spcAft>
              <a:buClr>
                <a:srgbClr val="000000"/>
              </a:buClr>
              <a:buSzPts val="2200"/>
              <a:buFont typeface="Wingdings" panose="05000000000000000000" pitchFamily="2" charset="2"/>
              <a:buChar char="§"/>
            </a:pPr>
            <a:r>
              <a:rPr lang="en-US" dirty="0"/>
              <a:t>When the time-out occurs, the sender will resend the last frame</a:t>
            </a:r>
            <a:endParaRPr dirty="0"/>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Sliding Window Error Control (12 of 12)</a:t>
            </a:r>
            <a:endParaRPr dirty="0"/>
          </a:p>
        </p:txBody>
      </p:sp>
      <p:pic>
        <p:nvPicPr>
          <p:cNvPr id="2" name="Picture 1" descr="An illustration depicts the lost acknowledgment and the retransmission of a packet. Two vertical lines are displayed. The line on the left is labeled, station A and the line on the right is labeled, station B. Station A sends data to station B, in one packet that contains bytes 620 to 720. Station B returns ACK 721, which gets lost on the way, before reaching station A. Station A again sends the same data with bytes 620 to 720 to station B and station B returns A C K 721 to station A. The distance between the first and second transmission of data in station A is labeled, timeout. &#10;Figure 4-25 A lost acknowledgment and the retransmission of a packet">
            <a:extLst>
              <a:ext uri="{FF2B5EF4-FFF2-40B4-BE49-F238E27FC236}">
                <a16:creationId xmlns:a16="http://schemas.microsoft.com/office/drawing/2014/main" id="{3EB3322F-ED58-42BA-A9F8-30814DD8282B}"/>
              </a:ext>
            </a:extLst>
          </p:cNvPr>
          <p:cNvPicPr>
            <a:picLocks noChangeAspect="1"/>
          </p:cNvPicPr>
          <p:nvPr/>
        </p:nvPicPr>
        <p:blipFill>
          <a:blip r:embed="rId4"/>
          <a:stretch>
            <a:fillRect/>
          </a:stretch>
        </p:blipFill>
        <p:spPr>
          <a:xfrm>
            <a:off x="3815898" y="1236251"/>
            <a:ext cx="4560203" cy="5096698"/>
          </a:xfrm>
          <a:prstGeom prst="rect">
            <a:avLst/>
          </a:prstGeom>
        </p:spPr>
      </p:pic>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Correct the Error (1 of 7)</a:t>
            </a:r>
            <a:endParaRPr dirty="0"/>
          </a:p>
        </p:txBody>
      </p:sp>
      <p:sp>
        <p:nvSpPr>
          <p:cNvPr id="447" name="Google Shape;447;p5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For a receiver to correct the error with no further help from the transmitter requires a large amount of redundant information to accompany the original data</a:t>
            </a:r>
            <a:endParaRPr/>
          </a:p>
          <a:p>
            <a:pPr marL="900113" lvl="1" indent="-442913" algn="l" rtl="0">
              <a:lnSpc>
                <a:spcPct val="100000"/>
              </a:lnSpc>
              <a:spcBef>
                <a:spcPts val="624"/>
              </a:spcBef>
              <a:spcAft>
                <a:spcPts val="0"/>
              </a:spcAft>
              <a:buSzPts val="2400"/>
              <a:buChar char="–"/>
            </a:pPr>
            <a:r>
              <a:rPr lang="en-US"/>
              <a:t>This redundant information allows the receiver to determine the error and make corrections</a:t>
            </a:r>
            <a:endParaRPr/>
          </a:p>
          <a:p>
            <a:pPr marL="457200" lvl="0" indent="-457200" algn="l" rtl="0">
              <a:lnSpc>
                <a:spcPct val="100000"/>
              </a:lnSpc>
              <a:spcBef>
                <a:spcPts val="624"/>
              </a:spcBef>
              <a:spcAft>
                <a:spcPts val="0"/>
              </a:spcAft>
              <a:buClr>
                <a:srgbClr val="004A78"/>
              </a:buClr>
              <a:buSzPts val="2600"/>
              <a:buFont typeface="Arial"/>
              <a:buChar char="•"/>
            </a:pPr>
            <a:r>
              <a:rPr lang="en-US"/>
              <a:t>This type of error control is often called forward error correction and involves codes called Hamming codes</a:t>
            </a:r>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5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Correct the Error (2 of 7)</a:t>
            </a:r>
            <a:endParaRPr dirty="0"/>
          </a:p>
        </p:txBody>
      </p:sp>
      <p:sp>
        <p:nvSpPr>
          <p:cNvPr id="453" name="Google Shape;453;p52"/>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Hamming codes add additional check bits to a character</a:t>
            </a:r>
            <a:endParaRPr dirty="0"/>
          </a:p>
          <a:p>
            <a:pPr marL="900113" lvl="1" indent="-442913" algn="l" rtl="0">
              <a:lnSpc>
                <a:spcPct val="100000"/>
              </a:lnSpc>
              <a:spcBef>
                <a:spcPts val="624"/>
              </a:spcBef>
              <a:spcAft>
                <a:spcPts val="0"/>
              </a:spcAft>
              <a:buSzPts val="2400"/>
              <a:buChar char="–"/>
            </a:pPr>
            <a:r>
              <a:rPr lang="en-US" dirty="0"/>
              <a:t>These check bits perform parity checks on various bits</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Example: One could create a Hamming code in which 4 check bits are added to an 8-bit character</a:t>
            </a:r>
            <a:endParaRPr dirty="0"/>
          </a:p>
          <a:p>
            <a:pPr marL="900113" lvl="1" indent="-442913" algn="l" rtl="0">
              <a:lnSpc>
                <a:spcPct val="100000"/>
              </a:lnSpc>
              <a:spcBef>
                <a:spcPts val="624"/>
              </a:spcBef>
              <a:spcAft>
                <a:spcPts val="0"/>
              </a:spcAft>
              <a:buSzPts val="2400"/>
              <a:buChar char="–"/>
            </a:pPr>
            <a:r>
              <a:rPr lang="en-US" dirty="0"/>
              <a:t>We can number the check bits c8, c4, c2 and c1</a:t>
            </a:r>
            <a:endParaRPr dirty="0"/>
          </a:p>
          <a:p>
            <a:pPr marL="900113" lvl="1" indent="-442913" algn="l" rtl="0">
              <a:lnSpc>
                <a:spcPct val="100000"/>
              </a:lnSpc>
              <a:spcBef>
                <a:spcPts val="624"/>
              </a:spcBef>
              <a:spcAft>
                <a:spcPts val="0"/>
              </a:spcAft>
              <a:buSzPts val="2400"/>
              <a:buChar char="–"/>
            </a:pPr>
            <a:r>
              <a:rPr lang="en-US" dirty="0"/>
              <a:t>We will number the data bits b12, b11, b10, b9, b7, b6, b5, and b3</a:t>
            </a:r>
            <a:endParaRPr dirty="0"/>
          </a:p>
          <a:p>
            <a:pPr marL="900113" lvl="1" indent="-442913" algn="l" rtl="0">
              <a:lnSpc>
                <a:spcPct val="100000"/>
              </a:lnSpc>
              <a:spcBef>
                <a:spcPts val="624"/>
              </a:spcBef>
              <a:spcAft>
                <a:spcPts val="0"/>
              </a:spcAft>
              <a:buSzPts val="2400"/>
              <a:buChar char="–"/>
            </a:pPr>
            <a:r>
              <a:rPr lang="en-US" dirty="0"/>
              <a:t>Place the bits in the following order: b12, b11, b10, b9, c8, b7, b6, b5, c4, b3, c2, c1</a:t>
            </a:r>
            <a:endParaRPr dirty="0"/>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5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Correct the Error (3 of 7)</a:t>
            </a:r>
            <a:endParaRPr dirty="0"/>
          </a:p>
        </p:txBody>
      </p:sp>
      <p:sp>
        <p:nvSpPr>
          <p:cNvPr id="459" name="Google Shape;459;p5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Example (continued): </a:t>
            </a:r>
            <a:endParaRPr dirty="0"/>
          </a:p>
          <a:p>
            <a:pPr marL="900113" lvl="1" indent="-442913" algn="l" rtl="0">
              <a:lnSpc>
                <a:spcPct val="100000"/>
              </a:lnSpc>
              <a:spcBef>
                <a:spcPts val="624"/>
              </a:spcBef>
              <a:spcAft>
                <a:spcPts val="0"/>
              </a:spcAft>
              <a:buSzPts val="2400"/>
              <a:buChar char="–"/>
            </a:pPr>
            <a:r>
              <a:rPr lang="en-US" dirty="0"/>
              <a:t>c8 will perform a parity check on bits b12, b11, b10, and b9</a:t>
            </a:r>
            <a:endParaRPr dirty="0"/>
          </a:p>
          <a:p>
            <a:pPr marL="900113" lvl="1" indent="-442913" algn="l" rtl="0">
              <a:lnSpc>
                <a:spcPct val="100000"/>
              </a:lnSpc>
              <a:spcBef>
                <a:spcPts val="624"/>
              </a:spcBef>
              <a:spcAft>
                <a:spcPts val="0"/>
              </a:spcAft>
              <a:buSzPts val="2400"/>
              <a:buChar char="–"/>
            </a:pPr>
            <a:r>
              <a:rPr lang="en-US" dirty="0"/>
              <a:t>c4 will perform a parity check on bits b12, b7, b6, and b5</a:t>
            </a:r>
            <a:endParaRPr dirty="0"/>
          </a:p>
          <a:p>
            <a:pPr marL="900113" lvl="1" indent="-442913" algn="l" rtl="0">
              <a:lnSpc>
                <a:spcPct val="100000"/>
              </a:lnSpc>
              <a:spcBef>
                <a:spcPts val="624"/>
              </a:spcBef>
              <a:spcAft>
                <a:spcPts val="0"/>
              </a:spcAft>
              <a:buSzPts val="2400"/>
              <a:buChar char="–"/>
            </a:pPr>
            <a:r>
              <a:rPr lang="en-US" dirty="0"/>
              <a:t>c2 will perform a parity check on bits b11, b10, b7, b6, and b3</a:t>
            </a:r>
            <a:endParaRPr dirty="0"/>
          </a:p>
          <a:p>
            <a:pPr marL="900113" lvl="1" indent="-442913" algn="l" rtl="0">
              <a:lnSpc>
                <a:spcPct val="100000"/>
              </a:lnSpc>
              <a:spcBef>
                <a:spcPts val="624"/>
              </a:spcBef>
              <a:spcAft>
                <a:spcPts val="0"/>
              </a:spcAft>
              <a:buSzPts val="2400"/>
              <a:buChar char="–"/>
            </a:pPr>
            <a:r>
              <a:rPr lang="en-US" dirty="0"/>
              <a:t>c1 will perform a parity check on bits b11, b9, b7, b5, and b3</a:t>
            </a:r>
            <a:endParaRPr dirty="0"/>
          </a:p>
          <a:p>
            <a:pPr marL="457200" lvl="0" indent="-457200" algn="l" rtl="0">
              <a:lnSpc>
                <a:spcPct val="100000"/>
              </a:lnSpc>
              <a:spcBef>
                <a:spcPts val="624"/>
              </a:spcBef>
              <a:spcAft>
                <a:spcPts val="0"/>
              </a:spcAft>
              <a:buClr>
                <a:srgbClr val="004A78"/>
              </a:buClr>
              <a:buSzPts val="2600"/>
              <a:buFont typeface="Arial"/>
              <a:buChar char="•"/>
            </a:pPr>
            <a:r>
              <a:rPr lang="en-US" dirty="0"/>
              <a:t>The next slide shows the check bits and their values</a:t>
            </a:r>
            <a:endParaRPr dirty="0"/>
          </a:p>
        </p:txBody>
      </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5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Correct the Error (4 of 7)</a:t>
            </a:r>
            <a:endParaRPr dirty="0"/>
          </a:p>
        </p:txBody>
      </p:sp>
      <p:pic>
        <p:nvPicPr>
          <p:cNvPr id="2" name="Picture 1" descr="A diagram shows hamming code check bits generated from the data 01010101. A series of values is displayed in two rows and twelve columns. The first row representing the bits reads, 0, 1, 0, 1, 0, 0, 1, 0, 1, 1, 1, 1, from left to right. The second row shows the labels, b 12, b 11, b 10, b 9, c 8, b 7, b 6, b 5, c 4, b 3, c 2, c 1, respectively. The check bits labeled c 8, c 4, c 2, and c 1, which are added in columns 5, 9, 11, and 12, are highlighted. Two horizontal lines are displayed below the series of values. From the first line, five arrows point to the first five columns, that corresponds to b 12, b 11, b 10, b 9, and c 8, respectively. From the second line, six arrows point to columns 2, 3, 6, 7, 10, and 11, that corresponds to b 11, b 10, b 7, b 6, b 3, and c 2, respectively. Another two horizontal lines are displayed above the series of values. From the first line, five arrows point to the columns 1, 6, 7, 8, and 9, that corresponds to b 12, b 7, b 6, b 5, and c 4, respectively. From the second line, six arrows point to columns 2, 4, 6, 8, 10, and 12, that corresponds to b 11, b 9, b 7, b 5, b 3, and c 1, respectively.&#10;Figure 4-26 Hamming code check bits generated from the data 01010101">
            <a:extLst>
              <a:ext uri="{FF2B5EF4-FFF2-40B4-BE49-F238E27FC236}">
                <a16:creationId xmlns:a16="http://schemas.microsoft.com/office/drawing/2014/main" id="{3133D7DD-A566-4CE3-A493-0FACE042415C}"/>
              </a:ext>
            </a:extLst>
          </p:cNvPr>
          <p:cNvPicPr>
            <a:picLocks noChangeAspect="1"/>
          </p:cNvPicPr>
          <p:nvPr/>
        </p:nvPicPr>
        <p:blipFill>
          <a:blip r:embed="rId4"/>
          <a:stretch>
            <a:fillRect/>
          </a:stretch>
        </p:blipFill>
        <p:spPr>
          <a:xfrm>
            <a:off x="2285670" y="1722966"/>
            <a:ext cx="7620660" cy="3920068"/>
          </a:xfrm>
          <a:prstGeom prst="rect">
            <a:avLst/>
          </a:prstGeom>
        </p:spPr>
      </p:pic>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Correct the Error (5 of 7)</a:t>
            </a:r>
            <a:endParaRPr dirty="0"/>
          </a:p>
        </p:txBody>
      </p:sp>
      <p:sp>
        <p:nvSpPr>
          <p:cNvPr id="471" name="Google Shape;471;p5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The sender will take the 8-bit character and generate the 4 check bits as described</a:t>
            </a:r>
            <a:endParaRPr/>
          </a:p>
          <a:p>
            <a:pPr marL="900113" lvl="1" indent="-442913" algn="l" rtl="0">
              <a:lnSpc>
                <a:spcPct val="100000"/>
              </a:lnSpc>
              <a:spcBef>
                <a:spcPts val="624"/>
              </a:spcBef>
              <a:spcAft>
                <a:spcPts val="0"/>
              </a:spcAft>
              <a:buSzPts val="2400"/>
              <a:buChar char="–"/>
            </a:pPr>
            <a:r>
              <a:rPr lang="en-US"/>
              <a:t>The 4 check bits are then added to the 8 data bits in the sequence as shown and then transmitted</a:t>
            </a:r>
            <a:endParaRPr/>
          </a:p>
          <a:p>
            <a:pPr marL="457200" lvl="0" indent="-457200" algn="l" rtl="0">
              <a:lnSpc>
                <a:spcPct val="100000"/>
              </a:lnSpc>
              <a:spcBef>
                <a:spcPts val="624"/>
              </a:spcBef>
              <a:spcAft>
                <a:spcPts val="0"/>
              </a:spcAft>
              <a:buClr>
                <a:srgbClr val="004A78"/>
              </a:buClr>
              <a:buSzPts val="2600"/>
              <a:buFont typeface="Arial"/>
              <a:buChar char="•"/>
            </a:pPr>
            <a:r>
              <a:rPr lang="en-US"/>
              <a:t>The receiver will perform the 4 parity checks using the 4 check bits</a:t>
            </a:r>
            <a:endParaRPr/>
          </a:p>
          <a:p>
            <a:pPr marL="900113" lvl="1" indent="-442913" algn="l" rtl="0">
              <a:lnSpc>
                <a:spcPct val="100000"/>
              </a:lnSpc>
              <a:spcBef>
                <a:spcPts val="624"/>
              </a:spcBef>
              <a:spcAft>
                <a:spcPts val="0"/>
              </a:spcAft>
              <a:buSzPts val="2400"/>
              <a:buChar char="–"/>
            </a:pPr>
            <a:r>
              <a:rPr lang="en-US"/>
              <a:t>If no bits flipped during transmission, then there should be no parity errors</a:t>
            </a:r>
            <a:endParaRPr/>
          </a:p>
          <a:p>
            <a:pPr marL="457200" lvl="0" indent="-457200" algn="l" rtl="0">
              <a:lnSpc>
                <a:spcPct val="100000"/>
              </a:lnSpc>
              <a:spcBef>
                <a:spcPts val="624"/>
              </a:spcBef>
              <a:spcAft>
                <a:spcPts val="0"/>
              </a:spcAft>
              <a:buClr>
                <a:srgbClr val="004A78"/>
              </a:buClr>
              <a:buSzPts val="2600"/>
              <a:buFont typeface="Arial"/>
              <a:buChar char="•"/>
            </a:pPr>
            <a:r>
              <a:rPr lang="en-US"/>
              <a:t>What happens if one of the bits flipped during transmission?</a:t>
            </a:r>
            <a:endParaRP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Correct the Error (6 of 7)</a:t>
            </a:r>
            <a:endParaRPr dirty="0"/>
          </a:p>
        </p:txBody>
      </p:sp>
      <p:sp>
        <p:nvSpPr>
          <p:cNvPr id="477" name="Google Shape;477;p5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For example, what if bit b9 flips?</a:t>
            </a:r>
            <a:endParaRPr dirty="0"/>
          </a:p>
          <a:p>
            <a:pPr marL="900113" lvl="1" indent="-442913" algn="l" rtl="0">
              <a:lnSpc>
                <a:spcPct val="100000"/>
              </a:lnSpc>
              <a:spcBef>
                <a:spcPts val="624"/>
              </a:spcBef>
              <a:spcAft>
                <a:spcPts val="0"/>
              </a:spcAft>
              <a:buSzPts val="2400"/>
              <a:buChar char="–"/>
            </a:pPr>
            <a:r>
              <a:rPr lang="en-US" dirty="0"/>
              <a:t>The c8 check bit checks bits b12, b11, b10, b9 and c8 (01000)</a:t>
            </a:r>
            <a:endParaRPr dirty="0"/>
          </a:p>
          <a:p>
            <a:pPr marL="1350963" lvl="2" indent="-436563" algn="l" rtl="0">
              <a:lnSpc>
                <a:spcPct val="100000"/>
              </a:lnSpc>
              <a:spcBef>
                <a:spcPts val="624"/>
              </a:spcBef>
              <a:spcAft>
                <a:spcPts val="0"/>
              </a:spcAft>
              <a:buClr>
                <a:srgbClr val="000000"/>
              </a:buClr>
              <a:buSzPts val="2200"/>
              <a:buFont typeface="Wingdings" panose="05000000000000000000" pitchFamily="2" charset="2"/>
              <a:buChar char="§"/>
            </a:pPr>
            <a:r>
              <a:rPr lang="en-US" dirty="0"/>
              <a:t>This would cause a parity error</a:t>
            </a:r>
            <a:endParaRPr dirty="0"/>
          </a:p>
          <a:p>
            <a:pPr marL="900113" lvl="1" indent="-442913" algn="l" rtl="0">
              <a:lnSpc>
                <a:spcPct val="100000"/>
              </a:lnSpc>
              <a:spcBef>
                <a:spcPts val="624"/>
              </a:spcBef>
              <a:spcAft>
                <a:spcPts val="0"/>
              </a:spcAft>
              <a:buSzPts val="2400"/>
              <a:buChar char="–"/>
            </a:pPr>
            <a:r>
              <a:rPr lang="en-US" dirty="0"/>
              <a:t>The c4 check bit checks bits b12, b7, b6, b5, and c4 (00101)</a:t>
            </a:r>
            <a:endParaRPr dirty="0"/>
          </a:p>
          <a:p>
            <a:pPr marL="1350963" lvl="2" indent="-436563" algn="l" rtl="0">
              <a:lnSpc>
                <a:spcPct val="100000"/>
              </a:lnSpc>
              <a:spcBef>
                <a:spcPts val="624"/>
              </a:spcBef>
              <a:spcAft>
                <a:spcPts val="0"/>
              </a:spcAft>
              <a:buClr>
                <a:srgbClr val="000000"/>
              </a:buClr>
              <a:buSzPts val="2200"/>
              <a:buFont typeface="Wingdings" panose="05000000000000000000" pitchFamily="2" charset="2"/>
              <a:buChar char="§"/>
            </a:pPr>
            <a:r>
              <a:rPr lang="en-US" dirty="0"/>
              <a:t>This would not cause a parity error (even number of 1s)</a:t>
            </a:r>
            <a:endParaRPr dirty="0"/>
          </a:p>
          <a:p>
            <a:pPr marL="900113" lvl="1" indent="-442913" algn="l" rtl="0">
              <a:lnSpc>
                <a:spcPct val="100000"/>
              </a:lnSpc>
              <a:spcBef>
                <a:spcPts val="624"/>
              </a:spcBef>
              <a:spcAft>
                <a:spcPts val="0"/>
              </a:spcAft>
              <a:buSzPts val="2400"/>
              <a:buChar char="–"/>
            </a:pPr>
            <a:r>
              <a:rPr lang="en-US" dirty="0"/>
              <a:t>The c2 check bit checks bits b11, b10, b7, b6, b3, and c2 (100111)</a:t>
            </a:r>
            <a:endParaRPr dirty="0"/>
          </a:p>
          <a:p>
            <a:pPr marL="1350963" lvl="2" indent="-436563" algn="l" rtl="0">
              <a:lnSpc>
                <a:spcPct val="100000"/>
              </a:lnSpc>
              <a:spcBef>
                <a:spcPts val="624"/>
              </a:spcBef>
              <a:spcAft>
                <a:spcPts val="0"/>
              </a:spcAft>
              <a:buClr>
                <a:srgbClr val="000000"/>
              </a:buClr>
              <a:buSzPts val="2200"/>
              <a:buFont typeface="Wingdings" panose="05000000000000000000" pitchFamily="2" charset="2"/>
              <a:buChar char="§"/>
            </a:pPr>
            <a:r>
              <a:rPr lang="en-US" dirty="0"/>
              <a:t>This would not cause a parity error</a:t>
            </a:r>
            <a:endParaRPr dirty="0"/>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Correct the Error (7 of 7)</a:t>
            </a:r>
            <a:endParaRPr dirty="0"/>
          </a:p>
        </p:txBody>
      </p:sp>
      <p:sp>
        <p:nvSpPr>
          <p:cNvPr id="483" name="Google Shape;483;p5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t>For example, what if bit b9 flips? (continued)</a:t>
            </a:r>
            <a:endParaRPr dirty="0"/>
          </a:p>
          <a:p>
            <a:pPr marL="900113" lvl="1" indent="-442913" algn="l" rtl="0">
              <a:lnSpc>
                <a:spcPct val="100000"/>
              </a:lnSpc>
              <a:spcBef>
                <a:spcPts val="624"/>
              </a:spcBef>
              <a:spcAft>
                <a:spcPts val="0"/>
              </a:spcAft>
              <a:buSzPts val="2400"/>
              <a:buChar char="–"/>
            </a:pPr>
            <a:r>
              <a:rPr lang="en-US" dirty="0"/>
              <a:t>The c1 check bit checks b11, b9, b7, b5, b3, and c1 (100011)</a:t>
            </a:r>
            <a:endParaRPr dirty="0"/>
          </a:p>
          <a:p>
            <a:pPr marL="1350963" lvl="2" indent="-436563" algn="l" rtl="0">
              <a:lnSpc>
                <a:spcPct val="100000"/>
              </a:lnSpc>
              <a:spcBef>
                <a:spcPts val="624"/>
              </a:spcBef>
              <a:spcAft>
                <a:spcPts val="0"/>
              </a:spcAft>
              <a:buClr>
                <a:srgbClr val="000000"/>
              </a:buClr>
              <a:buSzPts val="2200"/>
              <a:buFont typeface="Wingdings" panose="05000000000000000000" pitchFamily="2" charset="2"/>
              <a:buChar char="§"/>
            </a:pPr>
            <a:r>
              <a:rPr lang="en-US" dirty="0"/>
              <a:t>This would cause a parity error</a:t>
            </a:r>
            <a:endParaRPr dirty="0"/>
          </a:p>
          <a:p>
            <a:pPr marL="900113" lvl="1" indent="-442913" algn="l" rtl="0">
              <a:lnSpc>
                <a:spcPct val="100000"/>
              </a:lnSpc>
              <a:spcBef>
                <a:spcPts val="624"/>
              </a:spcBef>
              <a:spcAft>
                <a:spcPts val="0"/>
              </a:spcAft>
              <a:buSzPts val="2400"/>
              <a:buChar char="–"/>
            </a:pPr>
            <a:r>
              <a:rPr lang="en-US" dirty="0"/>
              <a:t>Writing the parity errors in sequence gives us 1001, which is binary for the value 9</a:t>
            </a:r>
            <a:endParaRPr dirty="0"/>
          </a:p>
          <a:p>
            <a:pPr marL="1350963" lvl="2" indent="-436563" algn="l" rtl="0">
              <a:lnSpc>
                <a:spcPct val="100000"/>
              </a:lnSpc>
              <a:spcBef>
                <a:spcPts val="624"/>
              </a:spcBef>
              <a:spcAft>
                <a:spcPts val="0"/>
              </a:spcAft>
              <a:buClr>
                <a:srgbClr val="000000"/>
              </a:buClr>
              <a:buSzPts val="2200"/>
              <a:buFont typeface="Wingdings" panose="05000000000000000000" pitchFamily="2" charset="2"/>
              <a:buChar char="§"/>
            </a:pPr>
            <a:r>
              <a:rPr lang="en-US" dirty="0"/>
              <a:t>Thus, the bit error occurred in the 9th position</a:t>
            </a:r>
            <a:endParaRPr dirty="0"/>
          </a:p>
        </p:txBody>
      </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5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(1 of 4)</a:t>
            </a:r>
            <a:endParaRPr dirty="0"/>
          </a:p>
        </p:txBody>
      </p:sp>
      <p:sp>
        <p:nvSpPr>
          <p:cNvPr id="489" name="Google Shape;489;p5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The two functions of the data link layer are:</a:t>
            </a:r>
            <a:endParaRPr/>
          </a:p>
          <a:p>
            <a:pPr marL="900112" lvl="1" indent="-455612" algn="l" rtl="0">
              <a:lnSpc>
                <a:spcPct val="100000"/>
              </a:lnSpc>
              <a:spcBef>
                <a:spcPts val="0"/>
              </a:spcBef>
              <a:spcAft>
                <a:spcPts val="0"/>
              </a:spcAft>
              <a:buClr>
                <a:srgbClr val="004A78"/>
              </a:buClr>
              <a:buSzPts val="2600"/>
              <a:buFont typeface="Arial"/>
              <a:buChar char="–"/>
            </a:pPr>
            <a:r>
              <a:rPr lang="en-US"/>
              <a:t>to create a frame of data for transmission between sender and receiver</a:t>
            </a:r>
            <a:endParaRPr/>
          </a:p>
          <a:p>
            <a:pPr marL="900112" lvl="1" indent="-455612" algn="l" rtl="0">
              <a:lnSpc>
                <a:spcPct val="100000"/>
              </a:lnSpc>
              <a:spcBef>
                <a:spcPts val="0"/>
              </a:spcBef>
              <a:spcAft>
                <a:spcPts val="0"/>
              </a:spcAft>
              <a:buClr>
                <a:srgbClr val="004A78"/>
              </a:buClr>
              <a:buSzPts val="2600"/>
              <a:buFont typeface="Arial"/>
              <a:buChar char="–"/>
            </a:pPr>
            <a:r>
              <a:rPr lang="en-US"/>
              <a:t>to provide some way of checking for errors during transmission</a:t>
            </a:r>
            <a:endParaRPr/>
          </a:p>
          <a:p>
            <a:pPr marL="457200" lvl="0" indent="-457200" algn="l" rtl="0">
              <a:lnSpc>
                <a:spcPct val="100000"/>
              </a:lnSpc>
              <a:spcBef>
                <a:spcPts val="624"/>
              </a:spcBef>
              <a:spcAft>
                <a:spcPts val="0"/>
              </a:spcAft>
              <a:buClr>
                <a:srgbClr val="004A78"/>
              </a:buClr>
              <a:buSzPts val="2600"/>
              <a:buFont typeface="Arial"/>
              <a:buChar char="•"/>
            </a:pPr>
            <a:r>
              <a:rPr lang="en-US"/>
              <a:t>A data link layer frame consists of a header and a trailer surrounding the payload</a:t>
            </a:r>
            <a:endParaRPr/>
          </a:p>
          <a:p>
            <a:pPr marL="457200" lvl="0" indent="-457200" algn="l" rtl="0">
              <a:lnSpc>
                <a:spcPct val="100000"/>
              </a:lnSpc>
              <a:spcBef>
                <a:spcPts val="624"/>
              </a:spcBef>
              <a:spcAft>
                <a:spcPts val="0"/>
              </a:spcAft>
              <a:buSzPts val="2600"/>
              <a:buChar char="•"/>
            </a:pPr>
            <a:r>
              <a:rPr lang="en-US"/>
              <a:t>The fields of each header vary depending on the protocol that creates the header</a:t>
            </a:r>
            <a:endParaRPr/>
          </a:p>
          <a:p>
            <a:pPr marL="457200" lvl="0" indent="-457200" algn="l" rtl="0">
              <a:lnSpc>
                <a:spcPct val="100000"/>
              </a:lnSpc>
              <a:spcBef>
                <a:spcPts val="624"/>
              </a:spcBef>
              <a:spcAft>
                <a:spcPts val="0"/>
              </a:spcAft>
              <a:buSzPts val="2600"/>
              <a:buChar char="•"/>
            </a:pPr>
            <a:r>
              <a:rPr lang="en-US"/>
              <a:t>The trailer is almost always some form of error detection and correction information</a:t>
            </a:r>
            <a:endParaRPr/>
          </a:p>
        </p:txBody>
      </p:sp>
    </p:spTree>
    <p:custDataLst>
      <p:tags r:id="rId1"/>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g1175d4069c2_0_80"/>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(2 of 4)</a:t>
            </a:r>
            <a:endParaRPr dirty="0"/>
          </a:p>
        </p:txBody>
      </p:sp>
      <p:sp>
        <p:nvSpPr>
          <p:cNvPr id="495" name="Google Shape;495;g1175d4069c2_0_80"/>
          <p:cNvSpPr txBox="1">
            <a:spLocks noGrp="1"/>
          </p:cNvSpPr>
          <p:nvPr>
            <p:ph type="body" idx="1"/>
          </p:nvPr>
        </p:nvSpPr>
        <p:spPr>
          <a:xfrm>
            <a:off x="743576" y="1289684"/>
            <a:ext cx="107115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Noise is always present in computer networks, and if the noise level is too high, errors will be introduced during the transmission of data</a:t>
            </a:r>
            <a:endParaRPr/>
          </a:p>
          <a:p>
            <a:pPr marL="900112" lvl="1" indent="-442912" algn="l" rtl="0">
              <a:lnSpc>
                <a:spcPct val="100000"/>
              </a:lnSpc>
              <a:spcBef>
                <a:spcPts val="624"/>
              </a:spcBef>
              <a:spcAft>
                <a:spcPts val="0"/>
              </a:spcAft>
              <a:buSzPts val="2400"/>
              <a:buChar char="–"/>
            </a:pPr>
            <a:r>
              <a:rPr lang="en-US"/>
              <a:t>Types of noise include white noise, impulse noise, crosstalk, echo, jitter, and attenuation</a:t>
            </a:r>
            <a:endParaRPr/>
          </a:p>
          <a:p>
            <a:pPr marL="457200" lvl="0" indent="-457200" algn="l" rtl="0">
              <a:lnSpc>
                <a:spcPct val="100000"/>
              </a:lnSpc>
              <a:spcBef>
                <a:spcPts val="624"/>
              </a:spcBef>
              <a:spcAft>
                <a:spcPts val="0"/>
              </a:spcAft>
              <a:buClr>
                <a:srgbClr val="004A78"/>
              </a:buClr>
              <a:buSzPts val="2600"/>
              <a:buFont typeface="Arial"/>
              <a:buChar char="•"/>
            </a:pPr>
            <a:r>
              <a:rPr lang="en-US"/>
              <a:t>Among the techniques for reducing noise are proper shielding of cables, telephone line conditioning or equalization, using modern digital equipment, using digital repeaters and analog amplifiers, and observing the stated capacities of media</a:t>
            </a:r>
            <a:endParaRPr/>
          </a:p>
        </p:txBody>
      </p:sp>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6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(3 of 4)</a:t>
            </a:r>
            <a:endParaRPr dirty="0"/>
          </a:p>
        </p:txBody>
      </p:sp>
      <p:sp>
        <p:nvSpPr>
          <p:cNvPr id="501" name="Google Shape;501;p6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Three basic forms of error detection are parity, arithmetic checksum, and cyclic redundancy checksum</a:t>
            </a:r>
            <a:endParaRPr/>
          </a:p>
          <a:p>
            <a:pPr marL="457200" lvl="0" indent="-457200" algn="l" rtl="0">
              <a:lnSpc>
                <a:spcPct val="100000"/>
              </a:lnSpc>
              <a:spcBef>
                <a:spcPts val="624"/>
              </a:spcBef>
              <a:spcAft>
                <a:spcPts val="0"/>
              </a:spcAft>
              <a:buClr>
                <a:srgbClr val="004A78"/>
              </a:buClr>
              <a:buSzPts val="2600"/>
              <a:buFont typeface="Arial"/>
              <a:buChar char="•"/>
            </a:pPr>
            <a:r>
              <a:rPr lang="en-US"/>
              <a:t>Cyclic redundancy checksum is a superior error-detection scheme with almost 100 percent capability of recognizing corrupted data packets</a:t>
            </a:r>
            <a:endParaRPr/>
          </a:p>
          <a:p>
            <a:pPr marL="457200" lvl="0" indent="-457200" algn="l" rtl="0">
              <a:lnSpc>
                <a:spcPct val="100000"/>
              </a:lnSpc>
              <a:spcBef>
                <a:spcPts val="624"/>
              </a:spcBef>
              <a:spcAft>
                <a:spcPts val="0"/>
              </a:spcAft>
              <a:buClr>
                <a:srgbClr val="004A78"/>
              </a:buClr>
              <a:buSzPts val="2600"/>
              <a:buFont typeface="Arial"/>
              <a:buChar char="•"/>
            </a:pPr>
            <a:r>
              <a:rPr lang="en-US"/>
              <a:t>Once an error has been detected, there are three possible options: do nothing, return an error message, and correct the error</a:t>
            </a:r>
            <a:endParaRPr/>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t>Summary (4 of 4)</a:t>
            </a:r>
            <a:endParaRPr dirty="0"/>
          </a:p>
        </p:txBody>
      </p:sp>
      <p:sp>
        <p:nvSpPr>
          <p:cNvPr id="507" name="Google Shape;507;p6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t>Stop-and-wait protocol allows only one packet to be sent at a time</a:t>
            </a:r>
            <a:endParaRPr/>
          </a:p>
          <a:p>
            <a:pPr marL="457200" lvl="0" indent="-457200" algn="l" rtl="0">
              <a:lnSpc>
                <a:spcPct val="100000"/>
              </a:lnSpc>
              <a:spcBef>
                <a:spcPts val="624"/>
              </a:spcBef>
              <a:spcAft>
                <a:spcPts val="0"/>
              </a:spcAft>
              <a:buClr>
                <a:srgbClr val="004A78"/>
              </a:buClr>
              <a:buSzPts val="2600"/>
              <a:buFont typeface="Arial"/>
              <a:buChar char="•"/>
            </a:pPr>
            <a:r>
              <a:rPr lang="en-US"/>
              <a:t>Sliding window protocol allows multiple packets to be sent at one time</a:t>
            </a:r>
            <a:endParaRPr/>
          </a:p>
          <a:p>
            <a:pPr marL="457200" lvl="0" indent="-457200" algn="l" rtl="0">
              <a:lnSpc>
                <a:spcPct val="100000"/>
              </a:lnSpc>
              <a:spcBef>
                <a:spcPts val="624"/>
              </a:spcBef>
              <a:spcAft>
                <a:spcPts val="0"/>
              </a:spcAft>
              <a:buClr>
                <a:srgbClr val="004A78"/>
              </a:buClr>
              <a:buSzPts val="2600"/>
              <a:buFont typeface="Arial"/>
              <a:buChar char="•"/>
            </a:pPr>
            <a:r>
              <a:rPr lang="en-US"/>
              <a:t>Error correction is a possibility if the transmitted data contains enough redundant information so that the receiver can properly correct the error without asking the transmitter for additional information</a:t>
            </a:r>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3244</Words>
  <Application>Microsoft Office PowerPoint</Application>
  <PresentationFormat>Widescreen</PresentationFormat>
  <Paragraphs>327</Paragraphs>
  <Slides>67</Slides>
  <Notes>67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67</vt:i4>
      </vt:variant>
    </vt:vector>
  </HeadingPairs>
  <TitlesOfParts>
    <vt:vector size="76" baseType="lpstr">
      <vt:lpstr>Arial</vt:lpstr>
      <vt:lpstr>Arial</vt:lpstr>
      <vt:lpstr>Calibri</vt:lpstr>
      <vt:lpstr>Helvetica Neue</vt:lpstr>
      <vt:lpstr>Noto Sans Symbols</vt:lpstr>
      <vt:lpstr>Open Sans</vt:lpstr>
      <vt:lpstr>Times New Roman</vt:lpstr>
      <vt:lpstr>Wingdings</vt:lpstr>
      <vt:lpstr>Office Theme</vt:lpstr>
      <vt:lpstr>Chapter 4</vt:lpstr>
      <vt:lpstr>After reading this chapter, you should be able to:</vt:lpstr>
      <vt:lpstr>Introduction</vt:lpstr>
      <vt:lpstr>Data Link Responsibilities</vt:lpstr>
      <vt:lpstr>Frame Components (1 of 6)</vt:lpstr>
      <vt:lpstr>Frame Components (2 of 6)</vt:lpstr>
      <vt:lpstr>Frame Components (3 of 6)</vt:lpstr>
      <vt:lpstr>Frame Components (4 of 6)</vt:lpstr>
      <vt:lpstr>Frame Components (5 of 6)</vt:lpstr>
      <vt:lpstr>Frame Components (6 of 6)</vt:lpstr>
      <vt:lpstr>Noise and Errors (1 of 2)</vt:lpstr>
      <vt:lpstr>Noise and Errors (2 of 2)</vt:lpstr>
      <vt:lpstr>Gaussian Noise (1 of 2)</vt:lpstr>
      <vt:lpstr>White Noise (2 of 2)</vt:lpstr>
      <vt:lpstr>Impulse Noise (1 of 2)</vt:lpstr>
      <vt:lpstr>Impulse Noise (2 of 2)</vt:lpstr>
      <vt:lpstr>Crosstalk (1 of 2)</vt:lpstr>
      <vt:lpstr>Crosstalk (2 of 2)</vt:lpstr>
      <vt:lpstr>Echo (1 of 2)</vt:lpstr>
      <vt:lpstr>Echo (2 of 2)</vt:lpstr>
      <vt:lpstr>Jitter (1 of 2)</vt:lpstr>
      <vt:lpstr>Jitter (2 of 2)</vt:lpstr>
      <vt:lpstr>Attenuation</vt:lpstr>
      <vt:lpstr>Error Prevention (1 of 2)</vt:lpstr>
      <vt:lpstr>Error Prevention (2 of 2)</vt:lpstr>
      <vt:lpstr>Error Detection</vt:lpstr>
      <vt:lpstr>Parity Checks (1 of 6)</vt:lpstr>
      <vt:lpstr>Parity Checks (2 of 6)</vt:lpstr>
      <vt:lpstr>Parity Checks (3 of 6)</vt:lpstr>
      <vt:lpstr>Parity Checks (4 of 6)</vt:lpstr>
      <vt:lpstr>Parity Checks (5 of 6)</vt:lpstr>
      <vt:lpstr>Parity Checks (6 of 6)</vt:lpstr>
      <vt:lpstr>Arithmetic Checksum (1 of 3)</vt:lpstr>
      <vt:lpstr>Arithmetic Checksum (2 of 3)</vt:lpstr>
      <vt:lpstr>Arithmetic Checksum (3 of 3)</vt:lpstr>
      <vt:lpstr>Cyclic Redundancy Checksum (1 of 4)</vt:lpstr>
      <vt:lpstr>Cyclic Redundancy Checksum (2 of 4)</vt:lpstr>
      <vt:lpstr>Cyclic Redundancy Checksum (3 of 4)</vt:lpstr>
      <vt:lpstr>Cyclic Redundancy Checksum (4 of 4)</vt:lpstr>
      <vt:lpstr>Error Control</vt:lpstr>
      <vt:lpstr>Toss the Frame/Packet (do nothing)</vt:lpstr>
      <vt:lpstr>Return the Message</vt:lpstr>
      <vt:lpstr>Stop-and-Wait Error Control (1 of 2)</vt:lpstr>
      <vt:lpstr>Stop-and-Wait Error Control (2 of 2)</vt:lpstr>
      <vt:lpstr>Sliding Window Error Control (1 of 12)</vt:lpstr>
      <vt:lpstr>Sliding Window Error Control (2 of 12)</vt:lpstr>
      <vt:lpstr>Sliding Window Error Control (3 of 12)</vt:lpstr>
      <vt:lpstr>Sliding Window Error Control (4 of 12)</vt:lpstr>
      <vt:lpstr>Sliding Window Error Control (5 of 12)</vt:lpstr>
      <vt:lpstr>Sliding Window Error Control (6 of 12)</vt:lpstr>
      <vt:lpstr>Sliding Window Error Control (7 of 12)</vt:lpstr>
      <vt:lpstr>Sliding Window Error Control (8 of 12)</vt:lpstr>
      <vt:lpstr>Sliding Window Error Control (9 of 12)</vt:lpstr>
      <vt:lpstr>Sliding Window Error Control (10 of 12)</vt:lpstr>
      <vt:lpstr>Sliding Window Error Control (11 of 12)</vt:lpstr>
      <vt:lpstr>Sliding Window Error Control (12 of 12)</vt:lpstr>
      <vt:lpstr>Correct the Error (1 of 7)</vt:lpstr>
      <vt:lpstr>Correct the Error (2 of 7)</vt:lpstr>
      <vt:lpstr>Correct the Error (3 of 7)</vt:lpstr>
      <vt:lpstr>Correct the Error (4 of 7)</vt:lpstr>
      <vt:lpstr>Correct the Error (5 of 7)</vt:lpstr>
      <vt:lpstr>Correct the Error (6 of 7)</vt:lpstr>
      <vt:lpstr>Correct the Error (7 of 7)</vt:lpstr>
      <vt:lpstr>Summary (1 of 4)</vt:lpstr>
      <vt:lpstr>Summary (2 of 4)</vt:lpstr>
      <vt:lpstr>Summary (3 of 4)</vt:lpstr>
      <vt:lpstr>Summary (4 of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Chris Parent</dc:creator>
  <cp:lastModifiedBy>LAVANYA K Kasirajan</cp:lastModifiedBy>
  <cp:revision>18</cp:revision>
  <dcterms:created xsi:type="dcterms:W3CDTF">2019-11-14T21:20:16Z</dcterms:created>
  <dcterms:modified xsi:type="dcterms:W3CDTF">2022-03-25T11:55:36Z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y fmtid="{D5CDD505-2E9C-101B-9397-08002B2CF9AE}" pid="18" name="ArticulateGUID">
    <vt:lpwstr>3296F317-2F11-4456-8814-136288C8DD5B</vt:lpwstr>
  </property>
  <property fmtid="{D5CDD505-2E9C-101B-9397-08002B2CF9AE}" pid="19" name="ArticulatePath">
    <vt:lpwstr>Chapter 4 Slides_SME</vt:lpwstr>
  </property>
</Properties>
</file>